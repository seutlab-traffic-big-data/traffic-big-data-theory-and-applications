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sldIdLst>
    <p:sldId id="315" r:id="rId2"/>
    <p:sldId id="316" r:id="rId3"/>
    <p:sldId id="317" r:id="rId4"/>
    <p:sldId id="375" r:id="rId5"/>
    <p:sldId id="360" r:id="rId6"/>
    <p:sldId id="361" r:id="rId7"/>
    <p:sldId id="363" r:id="rId8"/>
    <p:sldId id="364" r:id="rId9"/>
    <p:sldId id="420" r:id="rId10"/>
    <p:sldId id="365" r:id="rId11"/>
    <p:sldId id="370" r:id="rId12"/>
    <p:sldId id="371" r:id="rId13"/>
    <p:sldId id="372" r:id="rId14"/>
    <p:sldId id="373" r:id="rId15"/>
    <p:sldId id="376" r:id="rId16"/>
    <p:sldId id="377" r:id="rId17"/>
    <p:sldId id="378" r:id="rId18"/>
    <p:sldId id="383" r:id="rId19"/>
    <p:sldId id="406" r:id="rId20"/>
    <p:sldId id="380" r:id="rId21"/>
    <p:sldId id="381" r:id="rId22"/>
    <p:sldId id="484" r:id="rId23"/>
    <p:sldId id="485" r:id="rId24"/>
    <p:sldId id="486" r:id="rId25"/>
    <p:sldId id="487" r:id="rId26"/>
    <p:sldId id="379" r:id="rId27"/>
    <p:sldId id="385" r:id="rId28"/>
    <p:sldId id="384" r:id="rId29"/>
    <p:sldId id="387" r:id="rId30"/>
    <p:sldId id="389" r:id="rId31"/>
    <p:sldId id="390" r:id="rId32"/>
    <p:sldId id="391" r:id="rId33"/>
    <p:sldId id="392" r:id="rId34"/>
    <p:sldId id="393" r:id="rId35"/>
    <p:sldId id="394" r:id="rId36"/>
    <p:sldId id="395" r:id="rId37"/>
    <p:sldId id="396" r:id="rId38"/>
    <p:sldId id="398" r:id="rId39"/>
    <p:sldId id="400" r:id="rId40"/>
    <p:sldId id="401" r:id="rId41"/>
    <p:sldId id="402" r:id="rId42"/>
    <p:sldId id="441" r:id="rId43"/>
    <p:sldId id="449" r:id="rId44"/>
    <p:sldId id="442" r:id="rId45"/>
    <p:sldId id="443" r:id="rId46"/>
    <p:sldId id="444" r:id="rId47"/>
    <p:sldId id="445" r:id="rId48"/>
    <p:sldId id="446" r:id="rId49"/>
    <p:sldId id="447" r:id="rId50"/>
    <p:sldId id="448" r:id="rId51"/>
    <p:sldId id="403" r:id="rId52"/>
    <p:sldId id="494" r:id="rId53"/>
    <p:sldId id="405" r:id="rId54"/>
    <p:sldId id="427" r:id="rId55"/>
    <p:sldId id="428" r:id="rId56"/>
    <p:sldId id="488" r:id="rId57"/>
    <p:sldId id="489" r:id="rId58"/>
    <p:sldId id="490" r:id="rId59"/>
    <p:sldId id="491" r:id="rId60"/>
    <p:sldId id="492" r:id="rId61"/>
    <p:sldId id="493" r:id="rId62"/>
    <p:sldId id="407" r:id="rId63"/>
    <p:sldId id="409" r:id="rId64"/>
    <p:sldId id="408" r:id="rId65"/>
    <p:sldId id="439" r:id="rId66"/>
    <p:sldId id="440" r:id="rId67"/>
    <p:sldId id="410" r:id="rId68"/>
    <p:sldId id="421" r:id="rId69"/>
    <p:sldId id="414" r:id="rId70"/>
    <p:sldId id="415" r:id="rId71"/>
    <p:sldId id="417" r:id="rId72"/>
    <p:sldId id="418" r:id="rId73"/>
    <p:sldId id="419" r:id="rId74"/>
  </p:sldIdLst>
  <p:sldSz cx="9144000" cy="6858000" type="screen4x3"/>
  <p:notesSz cx="6858000" cy="9144000"/>
  <p:custDataLst>
    <p:tags r:id="rId7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7" autoAdjust="0"/>
    <p:restoredTop sz="74660" autoAdjust="0"/>
  </p:normalViewPr>
  <p:slideViewPr>
    <p:cSldViewPr snapToGrid="0" showGuides="1">
      <p:cViewPr varScale="1">
        <p:scale>
          <a:sx n="81" d="100"/>
          <a:sy n="81" d="100"/>
        </p:scale>
        <p:origin x="69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6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7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00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0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BF%80%E6%B4%BB%E5%87%BD%E6%95%B0/2520792?fromModule=lemma_inlink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807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神经元解剖学家</a:t>
            </a:r>
            <a:r>
              <a:rPr lang="en-US" altLang="zh-CN" dirty="0"/>
              <a:t>McCulloch</a:t>
            </a:r>
            <a:r>
              <a:rPr lang="zh-CN" altLang="en-US" dirty="0"/>
              <a:t>和数学家</a:t>
            </a:r>
            <a:r>
              <a:rPr lang="en-US" altLang="zh-CN" dirty="0"/>
              <a:t>Pitt[7]</a:t>
            </a:r>
            <a:r>
              <a:rPr lang="zh-CN" altLang="en-US" dirty="0"/>
              <a:t>提出的</a:t>
            </a:r>
            <a:r>
              <a:rPr lang="en-US" altLang="zh-CN" dirty="0"/>
              <a:t>M-P</a:t>
            </a:r>
            <a:r>
              <a:rPr lang="zh-CN" altLang="en-US" dirty="0"/>
              <a:t>神经元模型</a:t>
            </a:r>
            <a:endParaRPr lang="en-US" altLang="zh-CN" dirty="0"/>
          </a:p>
          <a:p>
            <a:r>
              <a:rPr lang="zh-CN" altLang="en-US" dirty="0"/>
              <a:t>阶跃激活函数的</a:t>
            </a:r>
            <a:endParaRPr lang="en-US" altLang="zh-CN" dirty="0"/>
          </a:p>
          <a:p>
            <a:r>
              <a:rPr lang="zh-CN" altLang="en-US" dirty="0"/>
              <a:t>优点：和生物神经网络相似，非</a:t>
            </a:r>
            <a:r>
              <a:rPr lang="en-US" altLang="zh-CN" dirty="0"/>
              <a:t>1</a:t>
            </a:r>
            <a:r>
              <a:rPr lang="zh-CN" altLang="en-US" dirty="0"/>
              <a:t>即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缺点：不连续，对于数学模型的处理会造成一定的问题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下图给出了一个全连接的神经网络模型，其包含</a:t>
            </a:r>
            <a:r>
              <a:rPr lang="en-US" altLang="zh-CN" dirty="0"/>
              <a:t>4</a:t>
            </a:r>
            <a:r>
              <a:rPr lang="zh-CN" altLang="en-US" dirty="0"/>
              <a:t>层，第一层为输入层，每个神经元代表一个输入变量；最后一层为输出层，表示输出变量；中间两层被称为隐藏层，表示中间变量，本章用符号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zh-CN" altLang="en-US" dirty="0"/>
              <a:t>表示中间变量的取值（即该神经元的输出值）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：如果激活函数是线性的话，神经网络将失去强大的拟合能力，</a:t>
            </a:r>
            <a:r>
              <a:rPr lang="en-US" altLang="zh-CN" dirty="0"/>
              <a:t>f(x) = activation(W(x))</a:t>
            </a:r>
            <a:r>
              <a:rPr lang="zh-CN" altLang="en-US" dirty="0"/>
              <a:t>，若</a:t>
            </a:r>
            <a:r>
              <a:rPr lang="en-US" altLang="zh-CN" dirty="0"/>
              <a:t>activation</a:t>
            </a:r>
            <a:r>
              <a:rPr lang="zh-CN" altLang="en-US" dirty="0"/>
              <a:t>是线性的，</a:t>
            </a:r>
            <a:r>
              <a:rPr lang="en-US" altLang="zh-CN" dirty="0"/>
              <a:t>W(x)</a:t>
            </a:r>
            <a:r>
              <a:rPr lang="zh-CN" altLang="en-US" dirty="0"/>
              <a:t>本质也是线性关系，那</a:t>
            </a:r>
            <a:r>
              <a:rPr lang="en-US" altLang="zh-CN" dirty="0"/>
              <a:t>f(x)</a:t>
            </a:r>
            <a:r>
              <a:rPr lang="zh-CN" altLang="en-US" dirty="0"/>
              <a:t>完全在拟合线性关系。没有激活函数的话就是线性模型。</a:t>
            </a:r>
            <a:endParaRPr lang="en-US" altLang="zh-CN" dirty="0"/>
          </a:p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：且不管建立多少层 </a:t>
            </a:r>
            <a:r>
              <a:rPr lang="en-US" altLang="zh-CN" dirty="0"/>
              <a:t>f(f(f(x)))</a:t>
            </a:r>
            <a:r>
              <a:rPr lang="zh-CN" altLang="en-US" dirty="0"/>
              <a:t>，永远只能刻画线性关系，如果没有激活函数 或者 激活函数是线性的。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在不引入激活函数的情况下，前馈神经网络始终只能拟合线性关系（矩阵乘法</a:t>
            </a:r>
            <a:r>
              <a:rPr lang="en-US" altLang="zh-CN" dirty="0"/>
              <a:t>+bias</a:t>
            </a:r>
            <a:r>
              <a:rPr lang="zh-CN" altLang="en-US" dirty="0"/>
              <a:t>），即线性分类器。</a:t>
            </a:r>
            <a:endParaRPr lang="en-US" altLang="zh-CN" dirty="0"/>
          </a:p>
          <a:p>
            <a:r>
              <a:rPr lang="zh-CN" altLang="en-US" dirty="0"/>
              <a:t>例如这个例子中，左侧的散点无论如何都无法用线性分类器高准确率地划分，通过非线性激活函数转化，能够映射到右侧的散点分布，这时线性分类器才具有准确分类能力。（功能上有点类似于</a:t>
            </a:r>
            <a:r>
              <a:rPr lang="en-US" altLang="zh-CN" dirty="0"/>
              <a:t>SVM</a:t>
            </a:r>
            <a:r>
              <a:rPr lang="zh-CN" altLang="en-US" dirty="0"/>
              <a:t>的核函数）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真正让神经网络具有强大的拟合能力的</a:t>
            </a:r>
            <a:r>
              <a:rPr lang="en-US" altLang="zh-CN" dirty="0"/>
              <a:t>module</a:t>
            </a:r>
            <a:r>
              <a:rPr lang="zh-CN" altLang="en-US" dirty="0"/>
              <a:t>在于非线性激活函数，使其神经网络具备拟合非线性关系的能力。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tanh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函数是研究早期被广泛使用的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种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激活函数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。两者都为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型饱和函数。 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函数输入的值趋于正无穷或负无穷时，梯度会趋近零，从而发生梯度弥散现象。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函数的输出恒为正值，不是以零为中心的，这会导致权值更新时只能朝一个方向更新，从而影响收敛速度。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双曲正切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tanh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读作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/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tæntʃ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双曲正切函数是双曲函数的一种。双曲正切函数在数学语言上一般写作 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tanh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。它解决了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Sigmoid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函数的不以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0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为中心输出问题，然而，梯度消失的问题和幂运算的问题仍然存在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Rectified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改正的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Softmax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从字面上来说，可以分成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soft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max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两个部分。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max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故名思议就是最大值的意思。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Softmax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的核心在于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soft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，而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soft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有软的含义，与之相对的是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hard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硬。很多场景中需要我们找出数组所有元素中值最大的元素，实质上都是求的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hardmax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。下面使用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Numpy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模块以及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TensorFlow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深度学习框架实现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hardmax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负梯度方向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：损失函数下降最快的方向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由于神经网络模型的复杂性，</a:t>
                </a:r>
                <a:r>
                  <a:rPr lang="zh-CN" altLang="en-US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一般一个模型的求解对应的迭代次数很高，若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学习率使用一维搜索算法来更新，其计算</a:t>
                </a:r>
                <a:r>
                  <a:rPr lang="zh-CN" altLang="en-US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成本太高</a:t>
                </a:r>
                <a:r>
                  <a:rPr lang="zh-CN" altLang="zh-CN" sz="18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采用和前向传播部分相同的案例，进行反向传播的代码实现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可以发现，训练过程中，随着反向传播逐步往前传递，梯度迅速变小，在第三个隐层就已经变为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梯度消失，△</a:t>
            </a:r>
            <a:r>
              <a:rPr lang="en-US" altLang="zh-CN" dirty="0"/>
              <a:t>w</a:t>
            </a:r>
            <a:r>
              <a:rPr lang="zh-CN" altLang="en-US" dirty="0"/>
              <a:t>趋近于</a:t>
            </a:r>
            <a:r>
              <a:rPr lang="en-US" altLang="zh-CN" dirty="0"/>
              <a:t>0</a:t>
            </a:r>
            <a:r>
              <a:rPr lang="zh-CN" altLang="en-US" dirty="0"/>
              <a:t>，在学习率</a:t>
            </a:r>
            <a:r>
              <a:rPr lang="en-US" altLang="zh-CN" dirty="0"/>
              <a:t>alpha</a:t>
            </a:r>
            <a:r>
              <a:rPr lang="zh-CN" altLang="en-US" dirty="0"/>
              <a:t>一定的情况下，从当前点更新至最优点会经历更多的训练步数，从而会导致收敛速度大大降低。</a:t>
            </a:r>
            <a:endParaRPr lang="en-US" altLang="zh-CN" dirty="0"/>
          </a:p>
          <a:p>
            <a:r>
              <a:rPr lang="zh-CN" altLang="en-US" dirty="0"/>
              <a:t>梯度爆炸，△</a:t>
            </a:r>
            <a:r>
              <a:rPr lang="en-US" altLang="zh-CN" dirty="0"/>
              <a:t>w</a:t>
            </a:r>
            <a:r>
              <a:rPr lang="zh-CN" altLang="en-US" dirty="0"/>
              <a:t>较大，在学习率</a:t>
            </a:r>
            <a:r>
              <a:rPr lang="en-US" altLang="zh-CN" dirty="0"/>
              <a:t>alpha</a:t>
            </a:r>
            <a:r>
              <a:rPr lang="zh-CN" altLang="en-US" dirty="0"/>
              <a:t>一定的情况下，更新非常“激进”，更容易错过最优点，不利于训练。从损失函数上看，虽然每次更新都是梯度下降的方向，但是更新后损失反而可能上升，出现频繁震荡，不容易收敛。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A12F08-2C51-4761-8379-7BF5B777E4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中间的最好，</a:t>
            </a:r>
            <a:r>
              <a:rPr lang="en-US" altLang="zh-CN" dirty="0"/>
              <a:t>20</a:t>
            </a:r>
            <a:r>
              <a:rPr lang="zh-CN" altLang="en-US" dirty="0"/>
              <a:t>个神经元的模型过于复杂容易产生过拟合的问题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λ</a:t>
            </a:r>
            <a:r>
              <a:rPr lang="zh-CN" altLang="en-US" dirty="0"/>
              <a:t>是超参数，分母的</a:t>
            </a:r>
            <a:r>
              <a:rPr lang="en-US" altLang="zh-CN" dirty="0"/>
              <a:t>2</a:t>
            </a:r>
            <a:r>
              <a:rPr lang="zh-CN" altLang="en-US" dirty="0"/>
              <a:t>是为了方便求导的时候能够和平方项的导数消掉，</a:t>
            </a:r>
            <a:r>
              <a:rPr lang="en-US" altLang="zh-CN" dirty="0"/>
              <a:t>m</a:t>
            </a:r>
            <a:r>
              <a:rPr lang="zh-CN" altLang="en-US" dirty="0"/>
              <a:t>应该意义不大，有的公式没有</a:t>
            </a:r>
            <a:r>
              <a:rPr lang="en-US" altLang="zh-CN" dirty="0"/>
              <a:t>m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||w||^2</a:t>
            </a:r>
            <a:r>
              <a:rPr lang="zh-CN" altLang="en-US" dirty="0"/>
              <a:t>的计算其实等价于</a:t>
            </a:r>
            <a:r>
              <a:rPr lang="en-US" altLang="zh-CN" dirty="0" err="1"/>
              <a:t>np.sum</a:t>
            </a:r>
            <a:r>
              <a:rPr lang="en-US" altLang="zh-CN" dirty="0"/>
              <a:t>(</a:t>
            </a:r>
            <a:r>
              <a:rPr lang="en-US" altLang="zh-CN" dirty="0" err="1"/>
              <a:t>np.square</a:t>
            </a:r>
            <a:r>
              <a:rPr lang="en-US" altLang="zh-CN" dirty="0"/>
              <a:t>(</a:t>
            </a:r>
            <a:r>
              <a:rPr lang="en-US" altLang="zh-CN" dirty="0" err="1"/>
              <a:t>Wl</a:t>
            </a:r>
            <a:r>
              <a:rPr lang="en-US" altLang="zh-CN" dirty="0"/>
              <a:t>))</a:t>
            </a:r>
            <a:r>
              <a:rPr lang="zh-CN" altLang="en-US" dirty="0"/>
              <a:t>，即对</a:t>
            </a:r>
            <a:r>
              <a:rPr lang="en-US" altLang="zh-CN" dirty="0"/>
              <a:t>l</a:t>
            </a:r>
            <a:r>
              <a:rPr lang="zh-CN" altLang="en-US" dirty="0"/>
              <a:t>层的可学习参数都取平方项，然后加和。在</a:t>
            </a:r>
            <a:r>
              <a:rPr lang="en-US" altLang="zh-CN" dirty="0"/>
              <a:t>BP</a:t>
            </a:r>
            <a:r>
              <a:rPr lang="zh-CN" altLang="en-US" dirty="0"/>
              <a:t>算法下，模型倾向于更简单（参数值不高）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验证神经网络代码实现的是否正确。</a:t>
            </a:r>
            <a:endParaRPr lang="en-US" altLang="zh-CN" dirty="0"/>
          </a:p>
          <a:p>
            <a:r>
              <a:rPr lang="zh-CN" altLang="en-US" dirty="0"/>
              <a:t>因为神经网络拟合能力强大，在很小的数据集上多轮训练可以实现</a:t>
            </a:r>
            <a:r>
              <a:rPr lang="en-US" altLang="zh-CN" dirty="0"/>
              <a:t>loss</a:t>
            </a:r>
            <a:r>
              <a:rPr lang="zh-CN" altLang="en-US" dirty="0"/>
              <a:t>趋近于</a:t>
            </a:r>
            <a:r>
              <a:rPr lang="en-US" altLang="zh-CN" dirty="0"/>
              <a:t>0</a:t>
            </a:r>
            <a:r>
              <a:rPr lang="zh-CN" altLang="en-US" dirty="0"/>
              <a:t>，即把训练集背下来了。说明梯度传递正常，模型具备拟合至收敛的能力，即代码没问题。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因此，若正确模型能够过拟合，否则需要查找检查代码中存在的问题。</a:t>
            </a:r>
            <a:endParaRPr lang="en-US" altLang="zh-CN" dirty="0"/>
          </a:p>
          <a:p>
            <a:r>
              <a:rPr lang="zh-CN" altLang="en-US" dirty="0"/>
              <a:t>这也可以作为大家在写模型时的小</a:t>
            </a:r>
            <a:r>
              <a:rPr lang="en-US" altLang="zh-CN" dirty="0"/>
              <a:t>trick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5/7/2025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刘志远教授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880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2155" lvl="2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355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GI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png"/><Relationship Id="rId11" Type="http://schemas.openxmlformats.org/officeDocument/2006/relationships/image" Target="../media/image15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png"/><Relationship Id="rId11" Type="http://schemas.openxmlformats.org/officeDocument/2006/relationships/image" Target="../media/image19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png"/><Relationship Id="rId11" Type="http://schemas.openxmlformats.org/officeDocument/2006/relationships/image" Target="../media/image23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7.tif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2.png"/><Relationship Id="rId12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png"/><Relationship Id="rId11" Type="http://schemas.openxmlformats.org/officeDocument/2006/relationships/image" Target="../media/image22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notesSlide" Target="../notesSlides/notesSlide40.xml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notesSlide" Target="../notesSlides/notesSlide41.xml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notesSlide" Target="../notesSlides/notesSlide42.xml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8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84.png"/><Relationship Id="rId9" Type="http://schemas.openxmlformats.org/officeDocument/2006/relationships/image" Target="../media/image78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9.wmf"/><Relationship Id="rId11" Type="http://schemas.openxmlformats.org/officeDocument/2006/relationships/image" Target="../media/image81.wmf"/><Relationship Id="rId5" Type="http://schemas.openxmlformats.org/officeDocument/2006/relationships/oleObject" Target="../embeddings/oleObject37.bin"/><Relationship Id="rId10" Type="http://schemas.openxmlformats.org/officeDocument/2006/relationships/oleObject" Target="../embeddings/oleObject39.bin"/><Relationship Id="rId4" Type="http://schemas.openxmlformats.org/officeDocument/2006/relationships/image" Target="../media/image88.png"/><Relationship Id="rId9" Type="http://schemas.openxmlformats.org/officeDocument/2006/relationships/image" Target="../media/image80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notesSlide" Target="../notesSlides/notesSlide45.xml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9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notesSlide" Target="../notesSlides/notesSlide47.xml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76.wmf"/><Relationship Id="rId4" Type="http://schemas.openxmlformats.org/officeDocument/2006/relationships/image" Target="../media/image97.png"/><Relationship Id="rId9" Type="http://schemas.openxmlformats.org/officeDocument/2006/relationships/oleObject" Target="../embeddings/oleObject45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8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7" Type="http://schemas.openxmlformats.org/officeDocument/2006/relationships/image" Target="../media/image8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86.wmf"/><Relationship Id="rId4" Type="http://schemas.openxmlformats.org/officeDocument/2006/relationships/oleObject" Target="../embeddings/oleObject47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49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9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10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98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1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2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3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4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5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101.png"/><Relationship Id="rId4" Type="http://schemas.openxmlformats.org/officeDocument/2006/relationships/image" Target="../media/image11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notesSlide" Target="../notesSlides/notesSlide62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114.png"/><Relationship Id="rId4" Type="http://schemas.openxmlformats.org/officeDocument/2006/relationships/image" Target="../media/image101.png"/><Relationship Id="rId9" Type="http://schemas.openxmlformats.org/officeDocument/2006/relationships/image" Target="../media/image15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notesSlide" Target="../notesSlides/notesSlide63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115.png"/><Relationship Id="rId4" Type="http://schemas.openxmlformats.org/officeDocument/2006/relationships/image" Target="../media/image101.png"/><Relationship Id="rId9" Type="http://schemas.openxmlformats.org/officeDocument/2006/relationships/image" Target="../media/image15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</a:t>
            </a:fld>
            <a:endParaRPr lang="en-US" altLang="zh-CN" dirty="0"/>
          </a:p>
        </p:txBody>
      </p:sp>
      <p:sp>
        <p:nvSpPr>
          <p:cNvPr id="18" name="Straight Connector 7"/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/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1" name="TextBox 3"/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/>
          <p:cNvSpPr txBox="1">
            <a:spLocks noChangeArrowheads="1"/>
          </p:cNvSpPr>
          <p:nvPr/>
        </p:nvSpPr>
        <p:spPr bwMode="auto">
          <a:xfrm>
            <a:off x="1905000" y="2922168"/>
            <a:ext cx="533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defRPr/>
            </a:pPr>
            <a:r>
              <a:rPr lang="zh-CN" altLang="en-US" sz="3600" b="1" ker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人工神经网络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Subtitle 2"/>
          <p:cNvSpPr txBox="1">
            <a:spLocks noChangeArrowheads="1"/>
          </p:cNvSpPr>
          <p:nvPr/>
        </p:nvSpPr>
        <p:spPr bwMode="auto">
          <a:xfrm>
            <a:off x="2606040" y="4521199"/>
            <a:ext cx="4251960" cy="101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182880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2155" lvl="2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355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9pPr>
          </a:lstStyle>
          <a:p>
            <a:pPr defTabSz="914400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刘志远教授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defTabSz="914400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zhiyuanl@seu.edu.cn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人工神经网络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学习神经网络的基本结构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神经元模型的基本概念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神经元模型的通用表示形式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多层神经网络模型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激活函数的类型与作用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掌握神经网络模型的前向传播与后向传播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掌握神经网络中常见问题的解决方法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掌握应用简单的人工神经网络模型解决实际问题的方法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11.1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神经网络的基本结构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生物神经网络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通过突触结构，当由上游神经元输入信号电位超过某个阈值时，神经元才会进入兴奋状态，从而产生输出信号。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</a:t>
            </a:fld>
            <a:endParaRPr lang="en-US" altLang="zh-CN" dirty="0"/>
          </a:p>
        </p:txBody>
      </p:sp>
      <p:pic>
        <p:nvPicPr>
          <p:cNvPr id="1026" name="Picture 2" descr="图片包含 烟花, 星星, 游戏机&#10;&#10;描述已自动生成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708" y="3154016"/>
            <a:ext cx="4068417" cy="3051313"/>
          </a:xfrm>
          <a:prstGeom prst="rect">
            <a:avLst/>
          </a:prstGeom>
          <a:noFill/>
        </p:spPr>
      </p:pic>
      <p:pic>
        <p:nvPicPr>
          <p:cNvPr id="2050" name="Picture 2" descr="黑暗里有星球&#10;&#10;低可信度描述已自动生成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" y="3154016"/>
            <a:ext cx="4554199" cy="3051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656515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M-P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神经元模型（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1943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step 1.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输入信号计算：输入信号用向量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表示，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，连接权重用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表示，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，则总输入信号为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step 2.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激活：</a:t>
                </a:r>
                <a:r>
                  <a:rPr lang="en-US" altLang="zh-CN" sz="2000" b="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与阈值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进行比较，若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&gt;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，则输出激活信号（神经元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兴奋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），否则不输出信号（神经元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抑制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 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656515"/>
                <a:ext cx="8382000" cy="4876800"/>
              </a:xfrm>
              <a:blipFill rotWithShape="1">
                <a:blip r:embed="rId3"/>
                <a:stretch>
                  <a:fillRect t="-1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2" y="3272752"/>
            <a:ext cx="5387807" cy="3337849"/>
          </a:xfrm>
          <a:prstGeom prst="rect">
            <a:avLst/>
          </a:prstGeom>
        </p:spPr>
      </p:pic>
      <p:pic>
        <p:nvPicPr>
          <p:cNvPr id="2062" name="图片 20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639" y="3920509"/>
            <a:ext cx="2133785" cy="1021168"/>
          </a:xfrm>
          <a:prstGeom prst="rect">
            <a:avLst/>
          </a:prstGeom>
        </p:spPr>
      </p:pic>
      <p:sp>
        <p:nvSpPr>
          <p:cNvPr id="2064" name="文本框 2063"/>
          <p:cNvSpPr txBox="1"/>
          <p:nvPr/>
        </p:nvSpPr>
        <p:spPr>
          <a:xfrm>
            <a:off x="6637679" y="4972489"/>
            <a:ext cx="14898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阶跃激活函数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66" name="文本框 2065"/>
          <p:cNvSpPr txBox="1"/>
          <p:nvPr/>
        </p:nvSpPr>
        <p:spPr>
          <a:xfrm>
            <a:off x="5355980" y="6175158"/>
            <a:ext cx="3594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思考：阶跃激活函数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优缺点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656515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神经元模型的通用表示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为了方便后续的数学模型分析，我们将阈值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也作为一个输入值来处理，此时定义符号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，可以将阈值看作为一个输入恒为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、权重为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的值。此处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也被称作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偏差或偏置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bias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656515"/>
                <a:ext cx="8382000" cy="4876800"/>
              </a:xfrm>
              <a:blipFill rotWithShape="1">
                <a:blip r:embed="rId4"/>
                <a:stretch>
                  <a:fillRect t="-1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08344" y="2529411"/>
            <a:ext cx="4123842" cy="4328589"/>
            <a:chOff x="708344" y="2529411"/>
            <a:chExt cx="4123842" cy="432858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7"/>
            <a:srcRect r="1217"/>
            <a:stretch>
              <a:fillRect/>
            </a:stretch>
          </p:blipFill>
          <p:spPr>
            <a:xfrm>
              <a:off x="708344" y="2529411"/>
              <a:ext cx="4123842" cy="4328589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57503" y="3682784"/>
              <a:ext cx="1874683" cy="461665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10363" y="3910889"/>
              <a:ext cx="909237" cy="46166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3715145" y="3647830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145" y="3647830"/>
                <a:ext cx="4572000" cy="461665"/>
              </a:xfrm>
              <a:prstGeom prst="rect">
                <a:avLst/>
              </a:prstGeom>
              <a:blipFill rotWithShape="1">
                <a:blip r:embed="rId9"/>
                <a:stretch>
                  <a:fillRect l="-9" t="-84" r="9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656515"/>
            <a:ext cx="8382000" cy="2015563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多层神经网络模型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现实中使用的复杂神经网络是由许多层神经元模型组成的，每层存在多个神经元（神经元数量不一定相等）。神经网络的结构（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architecture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）定义了网络中的变量和它们的拓扑关系。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1020" y="2812084"/>
            <a:ext cx="5082980" cy="388653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03829" y="4779818"/>
            <a:ext cx="482600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前馈神经网络：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每层神经元与下一层神经元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全连接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不存在同层连接、不存在跨层连接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537088" y="2889490"/>
            <a:ext cx="1422012" cy="1492614"/>
            <a:chOff x="708344" y="2529411"/>
            <a:chExt cx="4123842" cy="4328589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7"/>
            <a:srcRect r="1217"/>
            <a:stretch>
              <a:fillRect/>
            </a:stretch>
          </p:blipFill>
          <p:spPr>
            <a:xfrm>
              <a:off x="708344" y="2529411"/>
              <a:ext cx="4123842" cy="4328589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57503" y="3682784"/>
              <a:ext cx="1874683" cy="461665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10363" y="3910889"/>
              <a:ext cx="909237" cy="461665"/>
            </a:xfrm>
            <a:prstGeom prst="rect">
              <a:avLst/>
            </a:prstGeom>
          </p:spPr>
        </p:pic>
      </p:grpSp>
      <p:sp>
        <p:nvSpPr>
          <p:cNvPr id="22" name="矩形 21"/>
          <p:cNvSpPr/>
          <p:nvPr/>
        </p:nvSpPr>
        <p:spPr>
          <a:xfrm>
            <a:off x="5537200" y="2672078"/>
            <a:ext cx="792480" cy="756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365030" y="2826294"/>
            <a:ext cx="1594070" cy="1644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endCxn id="26" idx="3"/>
          </p:cNvCxnSpPr>
          <p:nvPr/>
        </p:nvCxnSpPr>
        <p:spPr>
          <a:xfrm flipH="1">
            <a:off x="2959100" y="3069792"/>
            <a:ext cx="2537460" cy="578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656515"/>
            <a:ext cx="8382000" cy="2015563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神经网络模型的计算过程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输入数据由输入层进入隐藏层，隐藏层的神经元通过权重和偏差对数据进行线性计算，又通过激活函数完成非线性计算，通过多个隐藏层的处理，将最终的结果传递到输出层，这个计算过程被称为</a:t>
            </a:r>
            <a:r>
              <a:rPr lang="zh-CN" altLang="en-US" sz="20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前向传播</a:t>
            </a:r>
            <a:r>
              <a:rPr lang="zh-CN" altLang="en-US" sz="20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867145" y="2980930"/>
            <a:ext cx="5082980" cy="3588009"/>
            <a:chOff x="2193070" y="2895600"/>
            <a:chExt cx="5082980" cy="358800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6"/>
            <a:srcRect b="14329"/>
            <a:stretch>
              <a:fillRect/>
            </a:stretch>
          </p:blipFill>
          <p:spPr>
            <a:xfrm>
              <a:off x="2193070" y="3153967"/>
              <a:ext cx="5082980" cy="3329642"/>
            </a:xfrm>
            <a:prstGeom prst="rect">
              <a:avLst/>
            </a:prstGeom>
          </p:spPr>
        </p:pic>
        <p:sp>
          <p:nvSpPr>
            <p:cNvPr id="2" name="箭头: 右 1"/>
            <p:cNvSpPr/>
            <p:nvPr/>
          </p:nvSpPr>
          <p:spPr>
            <a:xfrm>
              <a:off x="2717055" y="2895600"/>
              <a:ext cx="4035010" cy="2583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箭头: 右 2"/>
            <p:cNvSpPr/>
            <p:nvPr/>
          </p:nvSpPr>
          <p:spPr>
            <a:xfrm>
              <a:off x="2988148" y="4709904"/>
              <a:ext cx="687382" cy="2177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箭头: 右 6"/>
            <p:cNvSpPr/>
            <p:nvPr/>
          </p:nvSpPr>
          <p:spPr>
            <a:xfrm>
              <a:off x="4470608" y="4709903"/>
              <a:ext cx="687382" cy="2177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箭头: 右 8"/>
            <p:cNvSpPr/>
            <p:nvPr/>
          </p:nvSpPr>
          <p:spPr>
            <a:xfrm>
              <a:off x="5785137" y="4709902"/>
              <a:ext cx="687382" cy="2177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1" r="13323"/>
          <a:stretch>
            <a:fillRect/>
          </a:stretch>
        </p:blipFill>
        <p:spPr>
          <a:xfrm>
            <a:off x="351913" y="3255085"/>
            <a:ext cx="3563695" cy="29464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575468" y="5546630"/>
            <a:ext cx="388757" cy="470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656515"/>
            <a:ext cx="8382000" cy="2015563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神经网络模型的训练过程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模型的训练过程就是寻找神经网络中最优的模型参数（权重和偏差）的过程，被称为“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”。其基本原理是通过从输出层到输入层，逐层反向计算参数的梯度，对参数进行更新，直到获得</a:t>
            </a:r>
            <a:r>
              <a:rPr lang="zh-CN" altLang="en-US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最优值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8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184105" y="2828106"/>
            <a:ext cx="5082980" cy="3588009"/>
            <a:chOff x="2193070" y="4934812"/>
            <a:chExt cx="5082980" cy="358800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6"/>
            <a:srcRect b="14329"/>
            <a:stretch>
              <a:fillRect/>
            </a:stretch>
          </p:blipFill>
          <p:spPr>
            <a:xfrm>
              <a:off x="2193070" y="5193179"/>
              <a:ext cx="5082980" cy="3329642"/>
            </a:xfrm>
            <a:prstGeom prst="rect">
              <a:avLst/>
            </a:prstGeom>
          </p:spPr>
        </p:pic>
        <p:sp>
          <p:nvSpPr>
            <p:cNvPr id="2" name="箭头: 右 1"/>
            <p:cNvSpPr/>
            <p:nvPr/>
          </p:nvSpPr>
          <p:spPr>
            <a:xfrm rot="10800000">
              <a:off x="2717055" y="4934812"/>
              <a:ext cx="4035010" cy="2583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箭头: 右 2"/>
            <p:cNvSpPr/>
            <p:nvPr/>
          </p:nvSpPr>
          <p:spPr>
            <a:xfrm rot="10800000">
              <a:off x="2988148" y="6749116"/>
              <a:ext cx="687382" cy="2177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箭头: 右 9"/>
            <p:cNvSpPr/>
            <p:nvPr/>
          </p:nvSpPr>
          <p:spPr>
            <a:xfrm rot="10800000">
              <a:off x="4444717" y="6749116"/>
              <a:ext cx="687382" cy="2177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箭头: 右 12"/>
            <p:cNvSpPr/>
            <p:nvPr/>
          </p:nvSpPr>
          <p:spPr>
            <a:xfrm rot="10800000">
              <a:off x="5810221" y="6749116"/>
              <a:ext cx="687382" cy="21776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3515255" y="64085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Update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902095" y="64085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Update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！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11.2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激活函数与前向传递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激活函数对输入信息进行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非线性计算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，然后将计算后的值传递至下一层神经元。没有激活函数的神经元模型</a:t>
            </a:r>
            <a:r>
              <a:rPr lang="zh-CN" altLang="en-US" sz="20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等价于线性模型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，激活函数对数据进行非线性计算，是神经网络能够拟合各类复杂关系，具有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强大表征能力的重要基础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9</a:t>
            </a:fld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554878" y="4435594"/>
            <a:ext cx="357317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激活函数为什么是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非线性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如果没有激活函数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会发生什么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25725" y="3621286"/>
            <a:ext cx="4572000" cy="2946400"/>
            <a:chOff x="457200" y="2702560"/>
            <a:chExt cx="4572000" cy="2946400"/>
          </a:xfrm>
        </p:grpSpPr>
        <p:pic>
          <p:nvPicPr>
            <p:cNvPr id="3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2702560"/>
              <a:ext cx="4572000" cy="29464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040867" y="2702560"/>
              <a:ext cx="812676" cy="2946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881742"/>
            <a:ext cx="8382000" cy="564475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为什么激活函数是非线性的？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10</a:t>
            </a:fld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07" y="1763627"/>
            <a:ext cx="8881185" cy="267774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7200" y="4942940"/>
            <a:ext cx="2279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线性分类模型无法区分红色点与蓝色点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476472" y="4942939"/>
            <a:ext cx="253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通过特征转换，线性分类器具有了分类能力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245264" y="583994"/>
            <a:ext cx="8382000" cy="2015563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常用激活函数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Sigmoid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存在问题：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Sigmoid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函数的输出恒为正值，不是以零为中心的，这会导致权值更新时只能朝一个方向更新，从而影响收敛速度。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输入非常大或非常小时，函数导数接近于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，易造成梯度值过小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（梯度消失）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，进一步导致参数训练算法的收敛速度过慢，甚至无法收敛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11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86348" y="1538427"/>
            <a:ext cx="7254317" cy="2832330"/>
            <a:chOff x="1086348" y="1839368"/>
            <a:chExt cx="7254317" cy="2832330"/>
          </a:xfrm>
        </p:grpSpPr>
        <p:pic>
          <p:nvPicPr>
            <p:cNvPr id="7" name="图片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6348" y="1909775"/>
              <a:ext cx="3326675" cy="21423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7824" y="1909774"/>
              <a:ext cx="3426142" cy="2212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2105423" y="4122491"/>
            <a:ext cx="1288524" cy="549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r:id="rId8" imgW="786765" imgH="355600" progId="Equation.DSMT4">
                    <p:embed/>
                  </p:oleObj>
                </mc:Choice>
                <mc:Fallback>
                  <p:oleObj r:id="rId8" imgW="786765" imgH="355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423" y="4122491"/>
                          <a:ext cx="1288524" cy="54920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5379025" y="4280087"/>
            <a:ext cx="2325190" cy="391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r:id="rId10" imgW="1219200" imgH="190500" progId="Equation.DSMT4">
                    <p:embed/>
                  </p:oleObj>
                </mc:Choice>
                <mc:Fallback>
                  <p:oleObj r:id="rId10" imgW="1219200" imgH="1905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9025" y="4280087"/>
                          <a:ext cx="2325190" cy="39161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/>
            <p:nvPr/>
          </p:nvSpPr>
          <p:spPr>
            <a:xfrm>
              <a:off x="3702550" y="1839368"/>
              <a:ext cx="792480" cy="4059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110978" y="3625772"/>
              <a:ext cx="792480" cy="4059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659675" y="3595295"/>
              <a:ext cx="792480" cy="4059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7548185" y="3625772"/>
              <a:ext cx="792480" cy="4059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910515"/>
            <a:ext cx="8382000" cy="2015563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Tanh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（双曲正切）函数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Tanh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的形状相似，但输出值域为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[-1,1]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，均值为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Tanh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函数的梯度变化更陡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；但仍存在梯度消失的问题。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12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8898" y="3153967"/>
            <a:ext cx="3169044" cy="1944000"/>
          </a:xfrm>
          <a:prstGeom prst="rect">
            <a:avLst/>
          </a:prstGeom>
        </p:spPr>
      </p:pic>
      <p:pic>
        <p:nvPicPr>
          <p:cNvPr id="3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941" y="3153967"/>
            <a:ext cx="2828628" cy="1944000"/>
          </a:xfrm>
          <a:prstGeom prst="rect">
            <a:avLst/>
          </a:prstGeom>
        </p:spPr>
      </p:pic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2393901" y="5329251"/>
          <a:ext cx="1323871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r:id="rId8" imgW="965200" imgH="368300" progId="Equation.DSMT4">
                  <p:embed/>
                </p:oleObj>
              </mc:Choice>
              <mc:Fallback>
                <p:oleObj r:id="rId8" imgW="965200" imgH="368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01" y="5329251"/>
                        <a:ext cx="1323871" cy="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5075740" y="5466837"/>
          <a:ext cx="2432148" cy="333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r:id="rId10" imgW="1282700" imgH="215900" progId="Equation.DSMT4">
                  <p:embed/>
                </p:oleObj>
              </mc:Choice>
              <mc:Fallback>
                <p:oleObj r:id="rId10" imgW="1282700" imgH="215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740" y="5466837"/>
                        <a:ext cx="2432148" cy="3338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656515"/>
            <a:ext cx="8382000" cy="2015563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 algn="just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Rectified Linear Unit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）函数能够克服梯度消失问题，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是目前深度神经网络中使用最为广泛的激活函数，之后有学者在其基础上提出了新的激活函数，如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Leaky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 algn="just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函数有两个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：①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函数形式更加简单，易于计算 ② 采用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函数训练得到的网络具有一定的稀疏性，只对少量的输入值（正值）产生响应。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13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7957" y="4078066"/>
            <a:ext cx="3276342" cy="2605309"/>
            <a:chOff x="4814411" y="4083528"/>
            <a:chExt cx="3276342" cy="2605309"/>
          </a:xfrm>
        </p:grpSpPr>
        <p:pic>
          <p:nvPicPr>
            <p:cNvPr id="7" name="图片 4"/>
            <p:cNvPicPr/>
            <p:nvPr/>
          </p:nvPicPr>
          <p:blipFill rotWithShape="1">
            <a:blip r:embed="rId6"/>
            <a:srcRect l="2860" r="2755"/>
            <a:stretch>
              <a:fillRect/>
            </a:stretch>
          </p:blipFill>
          <p:spPr bwMode="auto">
            <a:xfrm>
              <a:off x="4814411" y="4083528"/>
              <a:ext cx="3276342" cy="1860159"/>
            </a:xfrm>
            <a:prstGeom prst="rect">
              <a:avLst/>
            </a:prstGeom>
            <a:ln>
              <a:noFill/>
            </a:ln>
          </p:spPr>
        </p:pic>
        <p:graphicFrame>
          <p:nvGraphicFramePr>
            <p:cNvPr id="13" name="Object 4"/>
            <p:cNvGraphicFramePr>
              <a:graphicFrameLocks noChangeAspect="1"/>
            </p:cNvGraphicFramePr>
            <p:nvPr/>
          </p:nvGraphicFramePr>
          <p:xfrm>
            <a:off x="5595523" y="5994877"/>
            <a:ext cx="1889113" cy="693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3" r:id="rId7" imgW="1244600" imgH="457200" progId="Equation.DSMT4">
                    <p:embed/>
                  </p:oleObj>
                </mc:Choice>
                <mc:Fallback>
                  <p:oleObj r:id="rId7" imgW="1244600" imgH="457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5523" y="5994877"/>
                          <a:ext cx="1889113" cy="69396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4572000" y="4024304"/>
            <a:ext cx="3360682" cy="2659071"/>
            <a:chOff x="968909" y="4029767"/>
            <a:chExt cx="3360682" cy="2659071"/>
          </a:xfrm>
        </p:grpSpPr>
        <p:pic>
          <p:nvPicPr>
            <p:cNvPr id="9" name="图片 5"/>
            <p:cNvPicPr/>
            <p:nvPr/>
          </p:nvPicPr>
          <p:blipFill rotWithShape="1">
            <a:blip r:embed="rId9"/>
            <a:srcRect l="1945" r="921"/>
            <a:stretch>
              <a:fillRect/>
            </a:stretch>
          </p:blipFill>
          <p:spPr bwMode="auto">
            <a:xfrm>
              <a:off x="968909" y="4029767"/>
              <a:ext cx="3360682" cy="1916796"/>
            </a:xfrm>
            <a:prstGeom prst="rect">
              <a:avLst/>
            </a:prstGeom>
            <a:ln>
              <a:noFill/>
            </a:ln>
          </p:spPr>
        </p:pic>
        <p:graphicFrame>
          <p:nvGraphicFramePr>
            <p:cNvPr id="14" name="Object 11"/>
            <p:cNvGraphicFramePr>
              <a:graphicFrameLocks noChangeAspect="1"/>
            </p:cNvGraphicFramePr>
            <p:nvPr/>
          </p:nvGraphicFramePr>
          <p:xfrm>
            <a:off x="1659364" y="5994877"/>
            <a:ext cx="1985499" cy="6939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r:id="rId10" imgW="1270000" imgH="457200" progId="Equation.DSMT4">
                    <p:embed/>
                  </p:oleObj>
                </mc:Choice>
                <mc:Fallback>
                  <p:oleObj r:id="rId10" imgW="1270000" imgH="4572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364" y="5994877"/>
                          <a:ext cx="1985499" cy="69396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81000" y="656515"/>
            <a:ext cx="8382000" cy="2015563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常用激活函数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函数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 algn="just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函数为分类问题的每一个类别都提供一个输出，得到一个输出向量；同时将输出向量进行归一化，从而获得各类的相对概率，因此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函数也称作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归一化指数函数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8"/>
          <p:cNvPicPr>
            <a:picLocks noChangeAspect="1"/>
          </p:cNvPicPr>
          <p:nvPr/>
        </p:nvPicPr>
        <p:blipFill rotWithShape="1">
          <a:blip r:embed="rId4"/>
          <a:srcRect b="21945"/>
          <a:stretch>
            <a:fillRect/>
          </a:stretch>
        </p:blipFill>
        <p:spPr>
          <a:xfrm>
            <a:off x="-89508" y="3584580"/>
            <a:ext cx="9323016" cy="32543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14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440623" y="3055258"/>
          <a:ext cx="4262753" cy="1018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7" imgW="2628900" imgH="609600" progId="Equation.DSMT4">
                  <p:embed/>
                </p:oleObj>
              </mc:Choice>
              <mc:Fallback>
                <p:oleObj r:id="rId7" imgW="2628900" imgH="609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0623" y="3055258"/>
                        <a:ext cx="4262753" cy="10189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-78935" y="485555"/>
            <a:ext cx="9080573" cy="2015563"/>
          </a:xfrm>
        </p:spPr>
        <p:txBody>
          <a:bodyPr/>
          <a:lstStyle/>
          <a:p>
            <a:pPr marL="274320" lvl="1" indent="0"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以拥堵分类问题为例，存在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畅通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缓行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拥堵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类，那么相应的神经网络结构中，输出层应包含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个神经元，对应输出一个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维向量 ，分别为样本属于畅通、缓行、拥堵的相对概率。假设在进入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layer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之前，畅通、缓行、拥堵三类对应的输出得分分别为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10, 6, 8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，那么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函数的计算结果如下：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31520" lvl="1" indent="-457200">
              <a:buFont typeface="+mj-ea"/>
              <a:buAutoNum type="circleNumDbPlain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15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01960" y="2639010"/>
            <a:ext cx="4184611" cy="1103031"/>
            <a:chOff x="2061449" y="5835343"/>
            <a:chExt cx="4234992" cy="1103031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647674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566690" y="6253954"/>
              <a:ext cx="3729751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计算每类的相对概率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1934952" y="4033146"/>
                <a:ext cx="5274095" cy="196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畅通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=0.867</m:t>
                      </m:r>
                    </m:oMath>
                  </m:oMathPara>
                </a14:m>
                <a:endParaRPr lang="en-US" altLang="zh-C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缓行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=0.016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拥堵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=0.117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952" y="4033146"/>
                <a:ext cx="5274095" cy="1960537"/>
              </a:xfrm>
              <a:prstGeom prst="rect">
                <a:avLst/>
              </a:prstGeom>
              <a:blipFill rotWithShape="1">
                <a:blip r:embed="rId6"/>
                <a:stretch>
                  <a:fillRect l="-2" t="-13" r="10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4413529" y="2725740"/>
          <a:ext cx="4262753" cy="1018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r:id="rId7" imgW="2628900" imgH="609600" progId="Equation.DSMT4">
                  <p:embed/>
                </p:oleObj>
              </mc:Choice>
              <mc:Fallback>
                <p:oleObj r:id="rId7" imgW="2628900" imgH="609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529" y="2725740"/>
                        <a:ext cx="4262753" cy="10189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656515"/>
                <a:ext cx="8382000" cy="1710764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前向传播本质上是从输入层开始，逐渐计算每层每个神经元的输出值，直至输出层的过程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bSup>
                    <m:r>
                      <a:rPr lang="zh-CN" altLang="en-US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这</m:t>
                    </m:r>
                  </m:oMath>
                </a14:m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单个神经元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为例，展示其前向传播过程。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buNone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74320" lvl="1" indent="0">
                  <a:lnSpc>
                    <a:spcPct val="150000"/>
                  </a:lnSpc>
                  <a:buNone/>
                </a:pPr>
                <a:endPara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656515"/>
                <a:ext cx="8382000" cy="1710764"/>
              </a:xfrm>
              <a:blipFill rotWithShape="1">
                <a:blip r:embed="rId4"/>
                <a:stretch>
                  <a:fillRect t="-33" b="-30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16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372" y="2454590"/>
            <a:ext cx="5531576" cy="37468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823948" y="2461594"/>
                <a:ext cx="3228612" cy="3827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确定广义输入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bSup>
                  </m:oMath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31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0">
                  <a:lnSpc>
                    <a:spcPct val="150000"/>
                  </a:lnSpc>
                  <a:buNone/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计算输出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altLang="zh-CN" sz="18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8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1800" b="0" i="0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18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48" y="2461594"/>
                <a:ext cx="3228612" cy="3827202"/>
              </a:xfrm>
              <a:prstGeom prst="rect">
                <a:avLst/>
              </a:prstGeom>
              <a:blipFill rotWithShape="1">
                <a:blip r:embed="rId8"/>
                <a:stretch>
                  <a:fillRect l="-11" t="-9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656514"/>
                <a:ext cx="8382000" cy="5713805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重复上述计算过程，我们可以逐一计算第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层的其他四个神经元，及第三层、第四层的每个神经元的输出值。 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全连接层之间的计算能够转化为“矩阵”之间的运算：其中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代表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激活函数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+1)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656514"/>
                <a:ext cx="8382000" cy="5713805"/>
              </a:xfrm>
              <a:blipFill rotWithShape="1">
                <a:blip r:embed="rId4"/>
                <a:stretch>
                  <a:fillRect t="-1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17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63244" y="3276577"/>
                <a:ext cx="3228612" cy="3281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4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50000"/>
                  </a:lnSpc>
                  <a:buNone/>
                </a:pP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44" y="3276577"/>
                <a:ext cx="3228612" cy="3281732"/>
              </a:xfrm>
              <a:prstGeom prst="rect">
                <a:avLst/>
              </a:prstGeom>
              <a:blipFill rotWithShape="1">
                <a:blip r:embed="rId7"/>
                <a:stretch>
                  <a:fillRect l="-1" t="-19" r="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95040" y="4339340"/>
                <a:ext cx="4572000" cy="119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4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040" y="4339340"/>
                <a:ext cx="4572000" cy="1192249"/>
              </a:xfrm>
              <a:prstGeom prst="rect">
                <a:avLst/>
              </a:prstGeom>
              <a:blipFill rotWithShape="1">
                <a:blip r:embed="rId8"/>
                <a:stretch>
                  <a:fillRect t="-32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072754" y="4332806"/>
                <a:ext cx="4572000" cy="1465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754" y="4332806"/>
                <a:ext cx="4572000" cy="1465338"/>
              </a:xfrm>
              <a:prstGeom prst="rect">
                <a:avLst/>
              </a:prstGeom>
              <a:blipFill rotWithShape="1">
                <a:blip r:embed="rId9"/>
                <a:stretch>
                  <a:fillRect l="-11" t="-14" r="11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4266448" y="5649970"/>
            <a:ext cx="4184611" cy="1103031"/>
            <a:chOff x="2061449" y="5835343"/>
            <a:chExt cx="4234992" cy="1103031"/>
          </a:xfrm>
        </p:grpSpPr>
        <p:sp>
          <p:nvSpPr>
            <p:cNvPr id="14" name="矩形 13"/>
            <p:cNvSpPr/>
            <p:nvPr/>
          </p:nvSpPr>
          <p:spPr>
            <a:xfrm>
              <a:off x="2061449" y="6006303"/>
              <a:ext cx="3647674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Content Placeholder 2"/>
            <p:cNvSpPr txBox="1"/>
            <p:nvPr/>
          </p:nvSpPr>
          <p:spPr bwMode="auto">
            <a:xfrm>
              <a:off x="2566690" y="6253954"/>
              <a:ext cx="3729751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动手试一试展开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656514"/>
                <a:ext cx="8382000" cy="5713805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(2)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656514"/>
                <a:ext cx="8382000" cy="5713805"/>
              </a:xfrm>
              <a:blipFill rotWithShape="1">
                <a:blip r:embed="rId4"/>
                <a:stretch>
                  <a:fillRect t="-1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18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605321" y="1738431"/>
                <a:ext cx="8686648" cy="1974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e>
                        </m:eqArr>
                      </m:e>
                    </m:d>
                  </m:oMath>
                </a14:m>
                <a:r>
                  <a:rPr lang="en-US" altLang="zh-CN" sz="18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18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=</a:t>
                </a: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21" y="1738431"/>
                <a:ext cx="8686648" cy="1974195"/>
              </a:xfrm>
              <a:prstGeom prst="rect">
                <a:avLst/>
              </a:prstGeom>
              <a:blipFill rotWithShape="1">
                <a:blip r:embed="rId7"/>
                <a:stretch>
                  <a:fillRect l="-2" t="-2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228676" y="4396124"/>
                <a:ext cx="8686648" cy="1974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dirty="0"/>
                  <a:t>=</a:t>
                </a: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76" y="4396124"/>
                <a:ext cx="8686648" cy="1974195"/>
              </a:xfrm>
              <a:prstGeom prst="rect">
                <a:avLst/>
              </a:prstGeom>
              <a:blipFill rotWithShape="1">
                <a:blip r:embed="rId8"/>
                <a:stretch>
                  <a:fillRect l="-1" t="-1" r="6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19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627918" y="2418581"/>
                <a:ext cx="3228612" cy="1598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45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50000"/>
                  </a:lnSpc>
                  <a:buNone/>
                </a:pP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18" y="2418581"/>
                <a:ext cx="3228612" cy="1598930"/>
              </a:xfrm>
              <a:prstGeom prst="rect">
                <a:avLst/>
              </a:prstGeom>
              <a:blipFill rotWithShape="1">
                <a:blip r:embed="rId6"/>
                <a:stretch>
                  <a:fillRect l="-9" t="-31" r="1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532601" y="4049524"/>
                <a:ext cx="4572000" cy="1360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18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01" y="4049524"/>
                <a:ext cx="4572000" cy="1360805"/>
              </a:xfrm>
              <a:prstGeom prst="rect">
                <a:avLst/>
              </a:prstGeom>
              <a:blipFill rotWithShape="1">
                <a:blip r:embed="rId7"/>
                <a:stretch>
                  <a:fillRect l="-8" t="-9" r="8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157787" y="503288"/>
            <a:ext cx="8598344" cy="1135802"/>
            <a:chOff x="1925236" y="5835343"/>
            <a:chExt cx="5090470" cy="1135802"/>
          </a:xfrm>
        </p:grpSpPr>
        <p:sp>
          <p:nvSpPr>
            <p:cNvPr id="14" name="矩形 13"/>
            <p:cNvSpPr/>
            <p:nvPr/>
          </p:nvSpPr>
          <p:spPr>
            <a:xfrm>
              <a:off x="2061448" y="6006303"/>
              <a:ext cx="4849030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2"/>
                <p:cNvSpPr txBox="1"/>
                <p:nvPr/>
              </p:nvSpPr>
              <p:spPr bwMode="auto">
                <a:xfrm>
                  <a:off x="1925236" y="6286725"/>
                  <a:ext cx="5090470" cy="6844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lvl1pPr marL="182880" indent="-1828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" panose="05000000000000000000" pitchFamily="2" charset="2"/>
                    <a:buChar char="q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1pPr>
                  <a:lvl2pPr marL="457200" lvl="1" indent="-1828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85000"/>
                    <a:buFont typeface="Wingdings" panose="05000000000000000000" pitchFamily="2" charset="2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2pPr>
                  <a:lvl3pPr marL="732155" lvl="2" indent="-1828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90000"/>
                    <a:buFont typeface="Wingdings" panose="05000000000000000000" pitchFamily="2" charset="2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3pPr>
                  <a:lvl4pPr marL="1006475" lvl="3" indent="-1828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90000"/>
                    <a:buFont typeface="Wingdings" panose="05000000000000000000" pitchFamily="2" charset="2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4pPr>
                  <a:lvl5pPr marL="1189355" lvl="4" indent="-13652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anose="05000000000000000000" pitchFamily="2" charset="2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5pPr>
                  <a:lvl6pPr marL="2514600" lvl="5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anose="05000000000000000000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6pPr>
                  <a:lvl7pPr marL="2971800" lvl="6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anose="05000000000000000000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7pPr>
                  <a:lvl8pPr marL="3429000" lvl="7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anose="05000000000000000000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8pPr>
                  <a:lvl9pPr marL="3886200" lvl="8" indent="-228600" algn="l" defTabSz="914400" eaLnBrk="1" fontAlgn="base" latinLnBrk="0" hangingPunct="1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Wingdings" panose="05000000000000000000" pitchFamily="2" charset="2"/>
                    <a:buChar char="•"/>
                    <a:defRPr sz="1400" b="0" i="0" u="non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 panose="020B0604020202020204" pitchFamily="34" charset="0"/>
                    </a:defRPr>
                  </a:lvl9pPr>
                </a:lstStyle>
                <a:p>
                  <a:pPr marL="274320" lvl="1" indent="0">
                    <a:buNone/>
                  </a:pPr>
                  <a:r>
                    <a:rPr lang="zh-CN" altLang="en-US" sz="18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计算将样本</a:t>
                  </a:r>
                  <a14:m>
                    <m:oMath xmlns:m="http://schemas.openxmlformats.org/officeDocument/2006/math"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(1,−1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18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输入</m:t>
                      </m:r>
                    </m:oMath>
                  </a14:m>
                  <a:r>
                    <a:rPr lang="zh-CN" altLang="en-US" sz="18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如下网络后产生的输出，其中激活函数采用</a:t>
                  </a:r>
                  <a:r>
                    <a:rPr lang="en-US" altLang="zh-CN" sz="1800" dirty="0" err="1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ReLU</a:t>
                  </a:r>
                  <a:endPara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Content Placeholder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5236" y="6286725"/>
                  <a:ext cx="5090470" cy="684420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18247" y="2287037"/>
            <a:ext cx="2457626" cy="3329642"/>
            <a:chOff x="233323" y="2140515"/>
            <a:chExt cx="2457626" cy="332964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9"/>
            <a:srcRect l="3591" r="59402" b="14329"/>
            <a:stretch>
              <a:fillRect/>
            </a:stretch>
          </p:blipFill>
          <p:spPr>
            <a:xfrm>
              <a:off x="233323" y="2140515"/>
              <a:ext cx="1881052" cy="3329642"/>
            </a:xfrm>
            <a:prstGeom prst="rect">
              <a:avLst/>
            </a:prstGeom>
          </p:spPr>
        </p:pic>
        <p:cxnSp>
          <p:nvCxnSpPr>
            <p:cNvPr id="21" name="直接箭头连接符 20"/>
            <p:cNvCxnSpPr/>
            <p:nvPr/>
          </p:nvCxnSpPr>
          <p:spPr>
            <a:xfrm>
              <a:off x="2114375" y="2438400"/>
              <a:ext cx="5765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2114375" y="3130731"/>
              <a:ext cx="5765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2114375" y="3805336"/>
              <a:ext cx="5765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2114375" y="4515394"/>
              <a:ext cx="5765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2100408" y="5212670"/>
              <a:ext cx="5765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6689277" y="1725174"/>
          <a:ext cx="1889113" cy="69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r:id="rId10" imgW="1244600" imgH="457200" progId="Equation.DSMT4">
                  <p:embed/>
                </p:oleObj>
              </mc:Choice>
              <mc:Fallback>
                <p:oleObj r:id="rId10" imgW="1244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277" y="1725174"/>
                        <a:ext cx="1889113" cy="6939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5727623" y="3091241"/>
                <a:ext cx="3415983" cy="2905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1)</m:t>
                        </m:r>
                      </m:sup>
                    </m:sSup>
                  </m:oMath>
                </a14:m>
                <a:r>
                  <a:rPr lang="en-US" altLang="zh-CN" dirty="0"/>
                  <a:t>=</a:t>
                </a:r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−8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−4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𝑅𝑒𝐿𝑈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2)</m:t>
                            </m:r>
                          </m:sup>
                        </m:sSup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623" y="3091241"/>
                <a:ext cx="3415983" cy="2905125"/>
              </a:xfrm>
              <a:prstGeom prst="rect">
                <a:avLst/>
              </a:prstGeom>
              <a:blipFill rotWithShape="1">
                <a:blip r:embed="rId12"/>
                <a:stretch>
                  <a:fillRect l="-16" t="-2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572097"/>
            <a:ext cx="8382000" cy="5713805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前向传播代码实现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解决问题：交通状态的预测（三分类）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特征工程：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aveSpeed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平均车速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gridAcc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平均加速度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volume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speed_std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速度标准差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stopNum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平均停车次数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个神经元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两个隐藏层使用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输出层使用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20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 l="2491" t="894" r="6374" b="13732"/>
          <a:stretch>
            <a:fillRect/>
          </a:stretch>
        </p:blipFill>
        <p:spPr>
          <a:xfrm>
            <a:off x="4291841" y="2285677"/>
            <a:ext cx="4477909" cy="30394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两个激活函数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21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5312" y="4124666"/>
            <a:ext cx="8320938" cy="1894404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1384" y="4265218"/>
            <a:ext cx="7894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Sigmoid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sigmoid (z):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1 / (1 +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np.exp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(-z))  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Softmax</a:t>
            </a:r>
            <a:endParaRPr lang="zh-CN" altLang="en-U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softmax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(z):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np.exp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(z) /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np.sum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np.exp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(z), axis=0)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48811" y="2392120"/>
            <a:ext cx="32183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Sigmoid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z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为输入值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float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sigmoid (z):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pass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Softmax</a:t>
            </a:r>
            <a:endParaRPr lang="zh-CN" altLang="en-US" sz="1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softmax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(z):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pass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实现前馈神经网络层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22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48812" y="2557851"/>
            <a:ext cx="7495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定义前馈神经网络层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fc_layer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(a, w, b,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act_func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a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为输入值，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bias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w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为权重，</a:t>
            </a:r>
            <a:r>
              <a:rPr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act_func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为损失函数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4250" y="3970709"/>
            <a:ext cx="8320938" cy="1465941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0322" y="4114675"/>
            <a:ext cx="789442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>
                <a:latin typeface="Consolas" panose="020B0609020204030204" pitchFamily="49" charset="0"/>
              </a:rPr>
              <a:t>import numpy as np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def</a:t>
            </a:r>
            <a:r>
              <a:rPr sz="1600">
                <a:latin typeface="Consolas" panose="020B0609020204030204" pitchFamily="49" charset="0"/>
              </a:rPr>
              <a:t> fc_layer(a, w, b, act_func):</a:t>
            </a:r>
          </a:p>
          <a:p>
            <a:r>
              <a:rPr sz="1600">
                <a:latin typeface="Consolas" panose="020B0609020204030204" pitchFamily="49" charset="0"/>
              </a:rPr>
              <a:t>    z = np.dot(w, a) + b  </a:t>
            </a:r>
          </a:p>
          <a:p>
            <a:r>
              <a:rPr sz="1600">
                <a:latin typeface="Consolas" panose="020B0609020204030204" pitchFamily="49" charset="0"/>
              </a:rPr>
              <a:t>    a_out = act_func(z)</a:t>
            </a:r>
          </a:p>
          <a:p>
            <a:r>
              <a:rPr sz="1600"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return </a:t>
            </a:r>
            <a:r>
              <a:rPr sz="1600">
                <a:latin typeface="Consolas" panose="020B0609020204030204" pitchFamily="49" charset="0"/>
              </a:rPr>
              <a:t>z, a_out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实现神经网络模型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23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48812" y="2557851"/>
            <a:ext cx="7495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前向传递过程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 </a:t>
            </a:r>
            <a:r>
              <a:rPr lang="en-US" altLang="zh-CN" sz="1600" dirty="0">
                <a:latin typeface="Consolas" panose="020B0609020204030204" pitchFamily="49" charset="0"/>
              </a:rPr>
              <a:t>forward(x, w, b):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x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为输入值，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为每层的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bias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w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为每层的权重</a:t>
            </a:r>
            <a:endParaRPr lang="en-US" altLang="zh-CN" sz="1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750" y="3878112"/>
            <a:ext cx="8320938" cy="2712666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3822" y="4095103"/>
            <a:ext cx="789442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前向传递过程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def </a:t>
            </a:r>
            <a:r>
              <a:rPr lang="en-US" altLang="zh-CN" sz="1600" dirty="0">
                <a:latin typeface="Consolas" panose="020B0609020204030204" pitchFamily="49" charset="0"/>
              </a:rPr>
              <a:t>forward(x, w, b):   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第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层，使用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Sigmoid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激活函数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latin typeface="Consolas" panose="020B0609020204030204" pitchFamily="49" charset="0"/>
              </a:rPr>
              <a:t>z2, a2 = </a:t>
            </a:r>
            <a:r>
              <a:rPr lang="en-US" altLang="zh-CN" sz="1600" dirty="0" err="1">
                <a:latin typeface="Consolas" panose="020B0609020204030204" pitchFamily="49" charset="0"/>
              </a:rPr>
              <a:t>fc_layer</a:t>
            </a:r>
            <a:r>
              <a:rPr lang="en-US" altLang="zh-CN" sz="1600" dirty="0">
                <a:latin typeface="Consolas" panose="020B0609020204030204" pitchFamily="49" charset="0"/>
              </a:rPr>
              <a:t>(x, w[0], b[0], sigmoid)   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第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3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层，使用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Sigmoid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激活函数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latin typeface="Consolas" panose="020B0609020204030204" pitchFamily="49" charset="0"/>
              </a:rPr>
              <a:t>z3, a3 = </a:t>
            </a:r>
            <a:r>
              <a:rPr lang="en-US" altLang="zh-CN" sz="1600" dirty="0" err="1">
                <a:latin typeface="Consolas" panose="020B0609020204030204" pitchFamily="49" charset="0"/>
              </a:rPr>
              <a:t>fc_layer</a:t>
            </a:r>
            <a:r>
              <a:rPr lang="en-US" altLang="zh-CN" sz="1600" dirty="0">
                <a:latin typeface="Consolas" panose="020B0609020204030204" pitchFamily="49" charset="0"/>
              </a:rPr>
              <a:t>(a2, w[1], b[1], sigmoid)     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第四层，输出层，使用</a:t>
            </a:r>
            <a:r>
              <a:rPr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Softmax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激活函数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latin typeface="Consolas" panose="020B0609020204030204" pitchFamily="49" charset="0"/>
              </a:rPr>
              <a:t>z4, a4 = </a:t>
            </a:r>
            <a:r>
              <a:rPr lang="en-US" altLang="zh-CN" sz="1600" dirty="0" err="1">
                <a:latin typeface="Consolas" panose="020B0609020204030204" pitchFamily="49" charset="0"/>
              </a:rPr>
              <a:t>fc_layer</a:t>
            </a:r>
            <a:r>
              <a:rPr lang="en-US" altLang="zh-CN" sz="1600" dirty="0">
                <a:latin typeface="Consolas" panose="020B0609020204030204" pitchFamily="49" charset="0"/>
              </a:rPr>
              <a:t>(a3, w[2], b[2], </a:t>
            </a:r>
            <a:r>
              <a:rPr lang="en-US" altLang="zh-CN" sz="1600" dirty="0" err="1">
                <a:latin typeface="Consolas" panose="020B0609020204030204" pitchFamily="49" charset="0"/>
              </a:rPr>
              <a:t>softmax</a:t>
            </a:r>
            <a:r>
              <a:rPr lang="en-US" altLang="zh-CN" sz="1600" dirty="0">
                <a:latin typeface="Consolas" panose="020B0609020204030204" pitchFamily="49" charset="0"/>
              </a:rPr>
              <a:t>)  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    return </a:t>
            </a:r>
            <a:r>
              <a:rPr lang="en-US" altLang="zh-CN" sz="1600" dirty="0">
                <a:latin typeface="Consolas" panose="020B0609020204030204" pitchFamily="49" charset="0"/>
              </a:rPr>
              <a:t>z2, a2, z3, a3, z4, a4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/>
          <a:srcRect l="2491" t="894" r="6374" b="13732"/>
          <a:stretch>
            <a:fillRect/>
          </a:stretch>
        </p:blipFill>
        <p:spPr>
          <a:xfrm>
            <a:off x="5452812" y="1512604"/>
            <a:ext cx="3378000" cy="229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74015" y="4951730"/>
            <a:ext cx="8321040" cy="1619885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前向传播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24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74250" y="2315020"/>
            <a:ext cx="8320938" cy="2481361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5082" y="2430907"/>
            <a:ext cx="789442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随机初始化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def</a:t>
            </a:r>
            <a:r>
              <a:rPr lang="en-US" altLang="zh-CN" sz="1600">
                <a:latin typeface="Consolas" panose="020B0609020204030204" pitchFamily="49" charset="0"/>
              </a:rPr>
              <a:t> init_params(shape_w, shape_b):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    w = [np.random.randn(*x) for x in shape_w]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    b = [np.random.randn(*x) for x in shape_b]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return</a:t>
            </a:r>
            <a:r>
              <a:rPr lang="en-US" altLang="zh-CN" sz="1600">
                <a:latin typeface="Consolas" panose="020B0609020204030204" pitchFamily="49" charset="0"/>
              </a:rPr>
              <a:t> w, b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np.random.seed(42)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shape_w = [(4, 5), (3, 4), (3, 3)]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shape_b = [(4, 1), (3, 1), (3, 1)]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w, b = init_params(shape_w, shape_b)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18581" y="5101257"/>
            <a:ext cx="789442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展示前向传播效果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x = np.random.randn(5, 1)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for idx, a in enumerate(forward(x, w, b)[1::2]):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    print(f'Layer {idx + 2}:')</a:t>
            </a:r>
          </a:p>
          <a:p>
            <a:r>
              <a:rPr lang="en-US" altLang="zh-CN" sz="1600">
                <a:latin typeface="Consolas" panose="020B0609020204030204" pitchFamily="49" charset="0"/>
              </a:rPr>
              <a:t>    print(a)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输出结果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25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295650" y="2315020"/>
            <a:ext cx="1847850" cy="3966775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87708" y="2430907"/>
            <a:ext cx="2114318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Layer 2: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[[0.86081109]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[0.35346999]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[0.03774752]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[0.06688258]]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Layer 3: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[[0.59127908]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[0.28733531]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[0.63138266]]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Layer 4: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[[0.61434866]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[0.00909127]</a:t>
            </a:r>
          </a:p>
          <a:p>
            <a:pPr lvl="0" algn="l">
              <a:tabLst>
                <a:tab pos="457200" algn="l"/>
              </a:tabLst>
            </a:pPr>
            <a:r>
              <a:rPr lang="en-US" altLang="zh-CN" sz="1800" kern="0" dirty="0">
                <a:solidFill>
                  <a:srgbClr val="0082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[0.37656007]]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前向传播与反向传播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基于给定的权重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与偏差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前向传播都可以得到一个样本输入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对应的输出值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。对于一个带标签的样本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降低预测值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与真值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之间的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误差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，提高模型的拟合能力，我们需要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调整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训练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出最优的权重与偏差。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反向传播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就是为了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实现权重与偏差动态调整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的过程。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对于输出值和真值之间的误差可以用第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章中介绍过的损失函数来量化计算，比如对于回归问题常用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MSE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损失，分类问题常用交叉熵损失。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  <a:blipFill rotWithShape="1">
                <a:blip r:embed="rId2"/>
                <a:stretch>
                  <a:fillRect t="-11" b="-20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286000" y="5479534"/>
                <a:ext cx="4572000" cy="1100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𝐶𝑟𝑜𝑠𝑠𝐸𝑛𝑡𝑟𝑜𝑝𝑦𝐿𝑜𝑠𝑠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479534"/>
                <a:ext cx="4572000" cy="1100686"/>
              </a:xfrm>
              <a:prstGeom prst="rect">
                <a:avLst/>
              </a:prstGeom>
              <a:blipFill rotWithShape="1">
                <a:blip r:embed="rId3"/>
                <a:stretch>
                  <a:fillRect t="-11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286000" y="4976022"/>
                <a:ext cx="4572000" cy="769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𝑀𝑆𝐸𝑙𝑜𝑠𝑠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976022"/>
                <a:ext cx="4572000" cy="769313"/>
              </a:xfrm>
              <a:prstGeom prst="rect">
                <a:avLst/>
              </a:prstGeom>
              <a:blipFill rotWithShape="1">
                <a:blip r:embed="rId4"/>
                <a:stretch>
                  <a:fillRect t="-21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神经网络模型的训练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神经网络训练过程本质上是一个以“损失函数最小化”为目标方程，以权重和偏差为未知变量的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非线性优化问题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。神经网络结构复杂，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无法得到解析解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，因此最优解只能通过优化算法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有限次迭代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来求得最优解。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back-propagation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BP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）算法是一种以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负梯度方向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为迭代方向的梯度下降法，从输出层往前传递，传至每一个可学习参数。以权重矩阵的更新为例，每次迭代的更新公式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为</m:t>
                    </m:r>
                  </m:oMath>
                </a14:m>
                <a:endParaRPr lang="en-US" altLang="zh-CN" sz="2000" b="0" i="1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l-GR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sz="2000" b="1" dirty="0">
                  <a:latin typeface="微软雅黑" panose="020B0503020204020204" pitchFamily="34" charset="-12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代表学习率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步长，在神经模型模型的求解中通常取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固定值</a:t>
                </a:r>
                <a:endPara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  <a:blipFill rotWithShape="1">
                <a:blip r:embed="rId3"/>
                <a:stretch>
                  <a:fillRect t="-11" b="-1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27</a:t>
            </a:fld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558800" y="5754562"/>
            <a:ext cx="357317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思考：为什么是负梯度方向？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为什么步长通常取固定值？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-180871" y="2137841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871" y="2137841"/>
                <a:ext cx="4572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12" t="-82" r="2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387" y="3198936"/>
            <a:ext cx="5183710" cy="240453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7200" y="1495820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我们先用一个简单的例子说明反向传播算法的数学原理：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求导函数的链式法则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29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2154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2154436"/>
              </a:xfrm>
              <a:prstGeom prst="rect">
                <a:avLst/>
              </a:prstGeom>
              <a:blipFill rotWithShape="1">
                <a:blip r:embed="rId3"/>
                <a:stretch>
                  <a:fillRect t="-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645" y="619455"/>
            <a:ext cx="5163650" cy="24356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3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644" y="605344"/>
            <a:ext cx="5193009" cy="3447367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933" y="656146"/>
            <a:ext cx="5192674" cy="3509456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7817340" y="4165602"/>
                <a:ext cx="45720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340" y="4165602"/>
                <a:ext cx="4572000" cy="553998"/>
              </a:xfrm>
              <a:prstGeom prst="rect">
                <a:avLst/>
              </a:prstGeom>
              <a:blipFill rotWithShape="1">
                <a:blip r:embed="rId5"/>
                <a:stretch>
                  <a:fillRect l="-11" r="1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209" y="668650"/>
            <a:ext cx="5262150" cy="3625281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7817340" y="4165602"/>
                <a:ext cx="45720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=−4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340" y="4165602"/>
                <a:ext cx="4572000" cy="553998"/>
              </a:xfrm>
              <a:prstGeom prst="rect">
                <a:avLst/>
              </a:prstGeom>
              <a:blipFill rotWithShape="1">
                <a:blip r:embed="rId5"/>
                <a:stretch>
                  <a:fillRect l="-11" r="1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778" y="751870"/>
            <a:ext cx="5214450" cy="3391154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5673882" y="4213812"/>
                <a:ext cx="3387346" cy="2150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思考：如何求解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梯度？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复习：高数中的链式法则！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882" y="4213812"/>
                <a:ext cx="3387346" cy="2150845"/>
              </a:xfrm>
              <a:prstGeom prst="rect">
                <a:avLst/>
              </a:prstGeom>
              <a:blipFill rotWithShape="1">
                <a:blip r:embed="rId5"/>
                <a:stretch>
                  <a:fillRect l="-5" t="-27" r="12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5904545" y="6031273"/>
            <a:ext cx="1280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Upstream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gradient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7093424" y="6031273"/>
            <a:ext cx="1280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Local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gradient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778" y="769688"/>
            <a:ext cx="5214450" cy="3419914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6775228" y="4165602"/>
                <a:ext cx="4572000" cy="1048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228" y="4165602"/>
                <a:ext cx="4572000" cy="1048942"/>
              </a:xfrm>
              <a:prstGeom prst="rect">
                <a:avLst/>
              </a:prstGeom>
              <a:blipFill rotWithShape="1">
                <a:blip r:embed="rId5"/>
                <a:stretch>
                  <a:fillRect l="-9" r="9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778" y="754354"/>
            <a:ext cx="5169622" cy="3411247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 Sample 1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e.g.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若存在一个样本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=−2,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=5,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=−4)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=1,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51596"/>
                <a:ext cx="4572000" cy="4447628"/>
              </a:xfrm>
              <a:prstGeom prst="rect">
                <a:avLst/>
              </a:prstGeom>
              <a:blipFill rotWithShape="1"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338667" y="3206046"/>
            <a:ext cx="4690533" cy="95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38666" y="4316509"/>
            <a:ext cx="4690533" cy="9595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6775228" y="4165602"/>
                <a:ext cx="4572000" cy="1048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228" y="4165602"/>
                <a:ext cx="4572000" cy="1048942"/>
              </a:xfrm>
              <a:prstGeom prst="rect">
                <a:avLst/>
              </a:prstGeom>
              <a:blipFill rotWithShape="1">
                <a:blip r:embed="rId5"/>
                <a:stretch>
                  <a:fillRect l="-9" r="9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：单个神经元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37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36" y="1455249"/>
            <a:ext cx="7940728" cy="394750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：单个神经元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38</a:t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22" y="1582237"/>
            <a:ext cx="8024555" cy="422184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：单个神经元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39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8" y="1299025"/>
            <a:ext cx="7879763" cy="425994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：单个神经元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40</a:t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02" y="1272353"/>
            <a:ext cx="8481795" cy="431329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699911"/>
            <a:ext cx="8382000" cy="1230489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：单个神经元</a:t>
            </a:r>
            <a:endParaRPr lang="en-US" altLang="zh-CN" sz="2800" b="0" i="1" dirty="0">
              <a:latin typeface="Cambria Math" panose="020405030504060302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41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02" y="1245681"/>
            <a:ext cx="8481795" cy="436663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62560" y="1143674"/>
                <a:ext cx="870712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反向传播主要是为了计算损失函数对于各层权重和偏差的梯度，为其更新做准备。由于损失函数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ℒ</m:t>
                    </m:r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是定义在输出层上的，故各层的梯度需要从最后一层逐渐往前推算。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首先，我们回顾一下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前向传播过程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：第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层的广义输入为向量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，神经元的输出为向量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，权重矩阵为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偏差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前向传播的矩阵形式表达为：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560" y="1143674"/>
                <a:ext cx="8707120" cy="4876800"/>
              </a:xfrm>
              <a:blipFill rotWithShape="1">
                <a:blip r:embed="rId3"/>
                <a:stretch>
                  <a:fillRect t="-1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42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" y="4083445"/>
            <a:ext cx="3804920" cy="2577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4409440" y="4719706"/>
                <a:ext cx="4572000" cy="852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45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+1)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440" y="4719706"/>
                <a:ext cx="4572000" cy="852669"/>
              </a:xfrm>
              <a:prstGeom prst="rect">
                <a:avLst/>
              </a:prstGeom>
              <a:blipFill rotWithShape="1">
                <a:blip r:embed="rId5"/>
                <a:stretch>
                  <a:fillRect t="-45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62560" y="1143674"/>
                <a:ext cx="870712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前向传播：</a:t>
                </a:r>
                <a:endParaRPr lang="en-US" altLang="zh-CN" sz="2000" b="0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0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+1)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00" dirty="0"/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根据链式法则，损失函数对于该层权重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和偏差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的梯度为：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已知。计算上述梯度的难点在于计算                 ，这一项也被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称为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US" altLang="zh-CN" sz="2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层的误差项，记为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560" y="1143674"/>
                <a:ext cx="8707120" cy="4876800"/>
              </a:xfrm>
              <a:blipFill>
                <a:blip r:embed="rId4"/>
                <a:stretch>
                  <a:fillRect l="-980" t="-1375" b="-3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43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00764" y="3511331"/>
          <a:ext cx="4101636" cy="1548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5" imgW="2108200" imgH="800100" progId="Equation.DSMT4">
                  <p:embed/>
                </p:oleObj>
              </mc:Choice>
              <mc:Fallback>
                <p:oleObj name="Equation" r:id="rId5" imgW="2108200" imgH="8001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764" y="3511331"/>
                        <a:ext cx="4101636" cy="1548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66404" y="5186937"/>
          <a:ext cx="1260232" cy="475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7" imgW="13716000" imgH="5181600" progId="Equation.DSMT4">
                  <p:embed/>
                </p:oleObj>
              </mc:Choice>
              <mc:Fallback>
                <p:oleObj name="Equation" r:id="rId7" imgW="13716000" imgH="5181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6404" y="5186937"/>
                        <a:ext cx="1260232" cy="4754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=1,…,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层参数的梯度因此可以写作：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由于复杂的层级结构，对于中间的隐层，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值（广义输入）与损失函数的关系非常复杂，因此其误差项的值也无法直接求得。而对于输出层，损失函数与其输入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之间的函数关系是确定且简单的，如下式：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为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表示损失函数的映射关系，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表示激活函数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  <a:blipFill rotWithShape="1">
                <a:blip r:embed="rId4"/>
                <a:stretch>
                  <a:fillRect t="-4" b="-9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44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630546" y="2236062"/>
          <a:ext cx="2004923" cy="148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5" imgW="23164800" imgH="17373600" progId="Equation.DSMT4">
                  <p:embed/>
                </p:oleObj>
              </mc:Choice>
              <mc:Fallback>
                <p:oleObj name="Equation" r:id="rId5" imgW="23164800" imgH="173736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546" y="2236062"/>
                        <a:ext cx="2004923" cy="1481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176051" y="5253742"/>
          <a:ext cx="3024170" cy="420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7" imgW="1447165" imgH="215900" progId="Equation.DSMT4">
                  <p:embed/>
                </p:oleObj>
              </mc:Choice>
              <mc:Fallback>
                <p:oleObj name="Equation" r:id="rId7" imgW="1447165" imgH="21590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051" y="5253742"/>
                        <a:ext cx="3024170" cy="4209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⊙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表示哈达玛积（即逐元素相乘），那么第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层的误差项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可以写作：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将误差项代入下式，可以得到我们能够容易得到最后一个隐层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层到输出层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层的权重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和偏差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的梯度。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哈达玛积（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Hadamard Product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）：两个结构一样的矩阵，对应元素相乘，构成的一个新矩阵（结构不变）。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  <a:blipFill rotWithShape="1">
                <a:blip r:embed="rId4"/>
                <a:stretch>
                  <a:fillRect t="-4" b="-9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62560" y="0"/>
            <a:ext cx="2895600" cy="328613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67288" y="2418561"/>
          <a:ext cx="5809424" cy="74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5" imgW="2755900" imgH="355600" progId="Equation.DSMT4">
                  <p:embed/>
                </p:oleObj>
              </mc:Choice>
              <mc:Fallback>
                <p:oleObj name="Equation" r:id="rId5" imgW="2755900" imgH="355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288" y="2418561"/>
                        <a:ext cx="5809424" cy="7458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569538" y="4160637"/>
          <a:ext cx="2004923" cy="148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7" imgW="23164800" imgH="17373600" progId="Equation.DSMT4">
                  <p:embed/>
                </p:oleObj>
              </mc:Choice>
              <mc:Fallback>
                <p:oleObj name="Equation" r:id="rId7" imgW="23164800" imgH="173736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538" y="4160637"/>
                        <a:ext cx="2004923" cy="1481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为了继续获得损失函数对于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层参数的梯度，同样的，我们只需计算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zh-CN" altLang="en-US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根据链式法则：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上式中            可以通过下式计算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20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均为已知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  <a:blipFill rotWithShape="1">
                <a:blip r:embed="rId4"/>
                <a:stretch>
                  <a:fillRect t="-4" b="-72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62560" y="0"/>
            <a:ext cx="2895600" cy="328613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46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591702" y="2618160"/>
          <a:ext cx="3608904" cy="81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5" imgW="42062400" imgH="8839200" progId="Equation.DSMT4">
                  <p:embed/>
                </p:oleObj>
              </mc:Choice>
              <mc:Fallback>
                <p:oleObj name="Equation" r:id="rId5" imgW="42062400" imgH="8839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702" y="2618160"/>
                        <a:ext cx="3608904" cy="810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1610360" y="3669572"/>
                <a:ext cx="799518" cy="630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CN" alt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zh-CN" altLang="en-US" i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60" y="3669572"/>
                <a:ext cx="799518" cy="630814"/>
              </a:xfrm>
              <a:prstGeom prst="rect">
                <a:avLst/>
              </a:prstGeom>
              <a:blipFill rotWithShape="1">
                <a:blip r:embed="rId7"/>
                <a:stretch>
                  <a:fillRect t="-86" r="-1105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915287" y="4618773"/>
          <a:ext cx="5510081" cy="776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8" imgW="66141600" imgH="8839200" progId="Equation.DSMT4">
                  <p:embed/>
                </p:oleObj>
              </mc:Choice>
              <mc:Fallback>
                <p:oleObj name="Equation" r:id="rId8" imgW="66141600" imgH="88392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5287" y="4618773"/>
                        <a:ext cx="5510081" cy="7762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0" y="3621883"/>
            <a:ext cx="914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为了继续获得损失函数对于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层参数的梯度，同样的，我们只需计算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zh-CN" altLang="en-US" sz="20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根据链式法则：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上式中            为激活函数的导数：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根据以上推导，得到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  <a:blipFill rotWithShape="1">
                <a:blip r:embed="rId4"/>
                <a:stretch>
                  <a:fillRect t="-4" b="-47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62560" y="0"/>
            <a:ext cx="2895600" cy="328613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47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591702" y="2618160"/>
          <a:ext cx="3608904" cy="81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5" imgW="42062400" imgH="8839200" progId="Equation.DSMT4">
                  <p:embed/>
                </p:oleObj>
              </mc:Choice>
              <mc:Fallback>
                <p:oleObj name="Equation" r:id="rId5" imgW="42062400" imgH="88392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702" y="2618160"/>
                        <a:ext cx="3608904" cy="810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493340" y="3698485"/>
                <a:ext cx="1041550" cy="6793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CN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zh-CN" altLang="en-US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𝐿</m:t>
                                  </m:r>
                                  <m:r>
                                    <a:rPr kumimoji="0" lang="zh-CN" alt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kumimoji="0" lang="zh-CN" alt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0" lang="zh-CN" alt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zh-CN" altLang="en-US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zh-CN" alt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𝐿</m:t>
                                  </m:r>
                                  <m:r>
                                    <a:rPr kumimoji="0" lang="zh-CN" alt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340" y="3698485"/>
                <a:ext cx="1041550" cy="679353"/>
              </a:xfrm>
              <a:prstGeom prst="rect">
                <a:avLst/>
              </a:prstGeom>
              <a:blipFill rotWithShape="1">
                <a:blip r:embed="rId7"/>
                <a:stretch>
                  <a:fillRect l="-44" t="-36" r="58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586003" y="4377838"/>
          <a:ext cx="2199902" cy="81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Equation" r:id="rId8" imgW="24688800" imgH="8839200" progId="Equation.DSMT4">
                  <p:embed/>
                </p:oleObj>
              </mc:Choice>
              <mc:Fallback>
                <p:oleObj name="Equation" r:id="rId8" imgW="24688800" imgH="88392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003" y="4377838"/>
                        <a:ext cx="2199902" cy="810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55465" y="5909268"/>
          <a:ext cx="6380380" cy="81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10" imgW="3048000" imgH="355600" progId="Equation.DSMT4">
                  <p:embed/>
                </p:oleObj>
              </mc:Choice>
              <mc:Fallback>
                <p:oleObj name="Equation" r:id="rId10" imgW="3048000" imgH="355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465" y="5909268"/>
                        <a:ext cx="6380380" cy="810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0" y="3621883"/>
            <a:ext cx="914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导出负梯度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计算得到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后，将其代入下式，即可获得损失函数对于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层参数的梯度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𝜹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的推导可以拓展至任意相邻两层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  <a:blipFill rotWithShape="1">
                <a:blip r:embed="rId4"/>
                <a:stretch>
                  <a:fillRect t="-4" b="-73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62560" y="0"/>
            <a:ext cx="2895600" cy="328613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48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715625" y="2506800"/>
          <a:ext cx="2004923" cy="148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5" imgW="23164800" imgH="17373600" progId="Equation.DSMT4">
                  <p:embed/>
                </p:oleObj>
              </mc:Choice>
              <mc:Fallback>
                <p:oleObj name="Equation" r:id="rId5" imgW="23164800" imgH="17373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625" y="2506800"/>
                        <a:ext cx="2004923" cy="1481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05592" y="5244318"/>
          <a:ext cx="5132816" cy="426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7" imgW="2425700" imgH="215900" progId="Equation.DSMT4">
                  <p:embed/>
                </p:oleObj>
              </mc:Choice>
              <mc:Fallback>
                <p:oleObj name="Equation" r:id="rId7" imgW="2425700" imgH="2159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592" y="5244318"/>
                        <a:ext cx="5132816" cy="4260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1000" y="347663"/>
            <a:ext cx="8229600" cy="990600"/>
          </a:xfrm>
        </p:spPr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参数更新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在计算得到各层的误差项之后，可以基于误差项和负梯度信息对各层参数进行更新，将学习率（即步长）记为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，参数更新方式如下：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29229"/>
                <a:ext cx="8382000" cy="4876800"/>
              </a:xfrm>
              <a:blipFill rotWithShape="1">
                <a:blip r:embed="rId4"/>
                <a:stretch>
                  <a:fillRect t="-4" b="-17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62560" y="0"/>
            <a:ext cx="2895600" cy="328613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49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56628" y="2753490"/>
          <a:ext cx="3473639" cy="1000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5" imgW="1384300" imgH="393700" progId="Equation.DSMT4">
                  <p:embed/>
                </p:oleObj>
              </mc:Choice>
              <mc:Fallback>
                <p:oleObj name="Equation" r:id="rId5" imgW="1384300" imgH="3937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628" y="2753490"/>
                        <a:ext cx="3473639" cy="10003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BP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算法流程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假设神经网络层数为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输入：训练集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，学习率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。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输出：权重及偏差确定的神经网络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）对各层权重矩阵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及偏差向量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进行初始化；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）对样本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根据下式进行前向传播计算，得到估计值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；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）计算损失函数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𝐿𝑜𝑠𝑠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，及输出层误差项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  <a:blipFill rotWithShape="1">
                <a:blip r:embed="rId4"/>
                <a:stretch>
                  <a:fillRect t="-1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50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97644" y="4042230"/>
          <a:ext cx="4130429" cy="38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Equation" r:id="rId5" imgW="2057400" imgH="203200" progId="Equation.DSMT4">
                  <p:embed/>
                </p:oleObj>
              </mc:Choice>
              <mc:Fallback>
                <p:oleObj name="Equation" r:id="rId5" imgW="2057400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644" y="4042230"/>
                        <a:ext cx="4130429" cy="3834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81245" y="4425725"/>
          <a:ext cx="3581510" cy="433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Equation" r:id="rId7" imgW="1752600" imgH="215900" progId="Equation.DSMT4">
                  <p:embed/>
                </p:oleObj>
              </mc:Choice>
              <mc:Fallback>
                <p:oleObj name="Equation" r:id="rId7" imgW="1752600" imgH="215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245" y="4425725"/>
                        <a:ext cx="3581510" cy="4335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554150" y="5376536"/>
          <a:ext cx="4979135" cy="63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Equation" r:id="rId9" imgW="2755900" imgH="355600" progId="Equation.DSMT4">
                  <p:embed/>
                </p:oleObj>
              </mc:Choice>
              <mc:Fallback>
                <p:oleObj name="Equation" r:id="rId9" imgW="2755900" imgH="355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150" y="5376536"/>
                        <a:ext cx="4979135" cy="639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BP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算法流程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假设神经网络层数为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输入：训练集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，学习率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。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输出：权重及偏差确定的神经网络</a:t>
                </a:r>
              </a:p>
              <a:p>
                <a:pPr marL="360045" indent="0">
                  <a:lnSpc>
                    <a:spcPct val="125000"/>
                  </a:lnSpc>
                  <a:buNone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）逐层计算各层误差项；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360045" indent="0">
                  <a:lnSpc>
                    <a:spcPct val="125000"/>
                  </a:lnSpc>
                  <a:buNone/>
                </a:pPr>
                <a:endParaRPr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  <a:blipFill>
                <a:blip r:embed="rId4"/>
                <a:stretch>
                  <a:fillRect l="-945" t="-1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51</a:t>
            </a:fld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57350" y="3623986"/>
          <a:ext cx="5956300" cy="494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5" imgW="2425700" imgH="215900" progId="Equation.DSMT4">
                  <p:embed/>
                </p:oleObj>
              </mc:Choice>
              <mc:Fallback>
                <p:oleObj name="Equation" r:id="rId5" imgW="2425700" imgH="2159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3623986"/>
                        <a:ext cx="5956300" cy="4943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261792-1ED9-B714-1586-A6E2C48CC65C}"/>
                  </a:ext>
                </a:extLst>
              </p:cNvPr>
              <p:cNvSpPr txBox="1"/>
              <p:nvPr/>
            </p:nvSpPr>
            <p:spPr>
              <a:xfrm>
                <a:off x="1459737" y="4324280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对于最后一层即输出层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，误差项为：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E261792-1ED9-B714-1586-A6E2C48CC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737" y="4324280"/>
                <a:ext cx="4572000" cy="400110"/>
              </a:xfrm>
              <a:prstGeom prst="rect">
                <a:avLst/>
              </a:prstGeom>
              <a:blipFill>
                <a:blip r:embed="rId7"/>
                <a:stretch>
                  <a:fillRect l="-1333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D3386FB-5616-7F89-1420-B1FBAD6B6C80}"/>
                  </a:ext>
                </a:extLst>
              </p:cNvPr>
              <p:cNvSpPr txBox="1"/>
              <p:nvPr/>
            </p:nvSpPr>
            <p:spPr>
              <a:xfrm>
                <a:off x="1109359" y="4911738"/>
                <a:ext cx="5563312" cy="48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D3386FB-5616-7F89-1420-B1FBAD6B6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59" y="4911738"/>
                <a:ext cx="5563312" cy="486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D6E8A9-F4F3-5760-1208-9A77AC3661BB}"/>
                  </a:ext>
                </a:extLst>
              </p:cNvPr>
              <p:cNvSpPr txBox="1"/>
              <p:nvPr/>
            </p:nvSpPr>
            <p:spPr>
              <a:xfrm>
                <a:off x="1459737" y="5585758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为真实标签值。</a:t>
                </a:r>
                <a:endParaRPr lang="zh-CN" altLang="en-US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D6E8A9-F4F3-5760-1208-9A77AC366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737" y="5585758"/>
                <a:ext cx="4572000" cy="400110"/>
              </a:xfrm>
              <a:prstGeom prst="rect">
                <a:avLst/>
              </a:prstGeom>
              <a:blipFill>
                <a:blip r:embed="rId9"/>
                <a:stretch>
                  <a:fillRect l="-1333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算法流程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）逐层计算各层权重及偏差的梯度；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）对权重及偏差进行更新；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45" indent="0">
              <a:lnSpc>
                <a:spcPct val="125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）对新的样本重复上面的第（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）到（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）步。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52</a:t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32100" y="2573738"/>
          <a:ext cx="34798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4" imgW="40233600" imgH="8534400" progId="Equation.DSMT4">
                  <p:embed/>
                </p:oleObj>
              </mc:Choice>
              <mc:Fallback>
                <p:oleObj name="Equation" r:id="rId4" imgW="40233600" imgH="85344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573738"/>
                        <a:ext cx="3479800" cy="727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59776" y="4506655"/>
          <a:ext cx="5727700" cy="479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6" imgW="59131200" imgH="4876800" progId="Equation.DSMT4">
                  <p:embed/>
                </p:oleObj>
              </mc:Choice>
              <mc:Fallback>
                <p:oleObj name="Equation" r:id="rId6" imgW="59131200" imgH="48768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776" y="4506655"/>
                        <a:ext cx="5727700" cy="4792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11.3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53</a:t>
            </a:fld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457199" y="3429000"/>
            <a:ext cx="8229600" cy="322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通过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多次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前向传播与反向传播，对参数进行更新，获得最优参数值。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神经网络内参数的更新过程，就是神经网络的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“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学习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”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过程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神经网络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“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学习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”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到的知识，就蕴含在模型训练后得到的所有参数中。一旦模型训练完成，神经网络的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各项参数就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固定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下来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。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在神经网络的预测过程中，权重和偏差项将保持不变，仅通过对输入值的前向传播就可以得到对应的预测值。</a:t>
            </a: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CF6BFC-51FF-47E0-A4C0-8FB7F9C07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81" y="1422942"/>
            <a:ext cx="8437595" cy="184115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572097"/>
            <a:ext cx="8382000" cy="5713805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反向传播代码实现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解决问题：交通状态的预测（三分类），和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前向传播案例一致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特征工程：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aveSpeed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平均车速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gridAcc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平均加速度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volume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speed_std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速度标准差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stopNum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平均停车次数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个神经元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两个隐藏层使用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输出层使用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54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 l="2491" t="894" r="6374" b="13732"/>
          <a:stretch>
            <a:fillRect/>
          </a:stretch>
        </p:blipFill>
        <p:spPr>
          <a:xfrm>
            <a:off x="4291841" y="2285677"/>
            <a:ext cx="4477909" cy="303943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74250" y="1828226"/>
                <a:ext cx="8382000" cy="44576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Step 1.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sigmoid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函数的导数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250" y="1828226"/>
                <a:ext cx="8382000" cy="4457676"/>
              </a:xfrm>
              <a:blipFill rotWithShape="1">
                <a:blip r:embed="rId4"/>
                <a:stretch>
                  <a:fillRect l="-3" t="-1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55</a:t>
            </a:fld>
            <a:endParaRPr lang="en-US" altLang="zh-CN" dirty="0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1531" y="4448174"/>
            <a:ext cx="8320938" cy="1235075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9380" y="4773323"/>
            <a:ext cx="7894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sigmoid_grad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(z):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sigmoid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激活函数的导数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return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np.multiply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(sigmoid(z), (1 - sigmoid(z)))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823729" y="3270271"/>
            <a:ext cx="7894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sigmoid_grad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(z):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sigmoid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激活函数的导数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pass</a:t>
            </a:r>
            <a:endParaRPr lang="en-US" altLang="zh-CN" sz="1600" kern="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74250" y="1828226"/>
                <a:ext cx="8382000" cy="44576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Step 2.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定义计算各层误差项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(4)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(4)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250" y="1828226"/>
                <a:ext cx="8382000" cy="4457676"/>
              </a:xfrm>
              <a:blipFill rotWithShape="1">
                <a:blip r:embed="rId4"/>
                <a:stretch>
                  <a:fillRect l="-3" t="-1" r="3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56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5312" y="4476749"/>
            <a:ext cx="8320938" cy="2315666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570" y="4572753"/>
            <a:ext cx="7894421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def</a:t>
            </a: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delta_output(a, y):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计算输出层误差项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 </a:t>
            </a:r>
            <a:endParaRPr altLang="zh-CN" sz="1600" kern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def</a:t>
            </a: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onehot(y, n_class):</a:t>
            </a:r>
          </a:p>
          <a:p>
            <a:pPr marL="342900" lvl="0" indent="-342900">
              <a:tabLst>
                <a:tab pos="457200" algn="l"/>
              </a:tabLst>
            </a:pP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       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return</a:t>
            </a: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np.array([np.eye(n_class)[yi] for yi in y])</a:t>
            </a:r>
          </a:p>
          <a:p>
            <a:pPr marL="342900" lvl="0" indent="-342900">
              <a:tabLst>
                <a:tab pos="457200" algn="l"/>
              </a:tabLst>
            </a:pP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   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return</a:t>
            </a:r>
            <a:r>
              <a:rPr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a - onehot(y, 3)</a:t>
            </a:r>
            <a:r>
              <a:rPr lang="en-US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.T</a:t>
            </a:r>
            <a:endParaRPr altLang="zh-CN" sz="1600" kern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endParaRPr altLang="zh-CN" sz="1600" kern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delta_hidden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w, z,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act_grad_func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):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计算隐藏层误差项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act_grad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= 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act_grad_func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(z)   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激活函数的导数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  <a:sym typeface="+mn-ea"/>
              </a:rPr>
              <a:t>return</a:t>
            </a:r>
            <a:r>
              <a:rPr lang="en-US" altLang="zh-CN" sz="1600" kern="0"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np.multiply(w.T @ delta, act_grad)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9" name="矩形 8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648570" y="2652086"/>
            <a:ext cx="78944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delta_output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(a, y):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计算输出层误差项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pass</a:t>
            </a:r>
          </a:p>
          <a:p>
            <a:pPr marL="342900" lvl="0" indent="-342900">
              <a:tabLst>
                <a:tab pos="457200" algn="l"/>
              </a:tabLst>
            </a:pPr>
            <a:endParaRPr lang="en-US" altLang="zh-CN" sz="1600" b="1" kern="0" dirty="0">
              <a:solidFill>
                <a:srgbClr val="006699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endParaRPr lang="en-US" altLang="zh-CN" sz="1600" b="1" kern="0" dirty="0">
              <a:solidFill>
                <a:srgbClr val="006699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delta_hidden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w, z,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act_grad_func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):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计算隐藏层误差项</a:t>
            </a:r>
            <a:endParaRPr lang="en-US" altLang="zh-CN" sz="1600" kern="0" dirty="0">
              <a:solidFill>
                <a:srgbClr val="008200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		# </a:t>
            </a:r>
            <a:r>
              <a:rPr lang="en-US" altLang="zh-CN" sz="1600" kern="0" dirty="0" err="1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act_grad_func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zh-CN" altLang="en-US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激活函数的导数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pass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1494" y="3164571"/>
            <a:ext cx="4228571" cy="5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定义隐藏层梯度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57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8812" y="4727684"/>
            <a:ext cx="8320938" cy="1569660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0461" y="4881309"/>
            <a:ext cx="789442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en-US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隐藏层梯度</a:t>
            </a:r>
            <a:endParaRPr lang="en-US" altLang="zh-CN" sz="1600" kern="0" dirty="0">
              <a:solidFill>
                <a:srgbClr val="008200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hidden_grad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a, alpha):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计算隐藏层权重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w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return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alpha * (delta @ a.T)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  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hidden_bias_grad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alpha):  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偏差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b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return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alpha *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np.mean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 axis=1, 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keepdims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=True)  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9" name="矩形 8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2952" y="2222961"/>
            <a:ext cx="2638095" cy="78095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24789" y="3161037"/>
            <a:ext cx="78944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hidden_grad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a, alpha):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计算隐藏层权重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w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pass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  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hidden_bias_grad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alpha):  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偏差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b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pass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实现反向传播过程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58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74250" y="4337712"/>
            <a:ext cx="7495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backward(x, y, w,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a_list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z_list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 alpha=0.02):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pass 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/>
          <a:srcRect l="2491" t="894" r="6374" b="13732"/>
          <a:stretch>
            <a:fillRect/>
          </a:stretch>
        </p:blipFill>
        <p:spPr>
          <a:xfrm>
            <a:off x="4750905" y="3783240"/>
            <a:ext cx="4389598" cy="297949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74250" y="2403748"/>
            <a:ext cx="8356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US" altLang="zh-CN" sz="18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8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delta_output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(a, y)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计算输出层误差项</a:t>
            </a:r>
            <a:endParaRPr lang="en-US" altLang="zh-CN" sz="1800" kern="0" dirty="0">
              <a:solidFill>
                <a:srgbClr val="008200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indent="-342900">
              <a:tabLst>
                <a:tab pos="457200" algn="l"/>
              </a:tabLst>
            </a:pPr>
            <a:r>
              <a:rPr lang="en-US" altLang="zh-CN" sz="18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8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delta_hidden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w, z, </a:t>
            </a:r>
            <a:r>
              <a:rPr lang="en-US" altLang="zh-CN" sz="18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act_grad_func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)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计算隐藏层误差项</a:t>
            </a:r>
            <a:endParaRPr lang="en-US" altLang="zh-CN" b="1" kern="0" dirty="0">
              <a:solidFill>
                <a:srgbClr val="006699"/>
              </a:solidFill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8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8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hidden_grad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a, alpha)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计算隐藏层权重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w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梯度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   </a:t>
            </a:r>
            <a:endParaRPr lang="zh-CN" altLang="zh-CN" sz="24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8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def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8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hidden_bias_grad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(delta, alpha)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# 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计算隐藏层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p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偏差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b</a:t>
            </a:r>
            <a:r>
              <a:rPr lang="zh-CN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梯度</a:t>
            </a:r>
            <a:r>
              <a:rPr lang="en-US" altLang="zh-CN" sz="18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alibri" panose="020F0502020204030204" pitchFamily="34" charset="0"/>
              </a:rPr>
              <a:t>  </a:t>
            </a:r>
            <a:endParaRPr lang="zh-CN" altLang="zh-CN" sz="2400" kern="100" dirty="0">
              <a:latin typeface="Consolas" panose="020B0609020204030204" pitchFamily="49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实现反向传播过程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59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411531" y="2432205"/>
            <a:ext cx="8320938" cy="3586865"/>
          </a:xfrm>
          <a:prstGeom prst="rect">
            <a:avLst/>
          </a:prstGeom>
          <a:solidFill>
            <a:schemeClr val="bg1">
              <a:lumMod val="7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8145" y="2572385"/>
            <a:ext cx="8273415" cy="3962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backward(x, y, w, 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a_list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z_list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 alpha=0.02):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delta4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delta_Output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a_list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[2], y) 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层，输出层误差项</a:t>
            </a:r>
            <a:endParaRPr lang="en-US" altLang="zh-CN" sz="1600" kern="0" dirty="0">
              <a:solidFill>
                <a:srgbClr val="00820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		#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3/2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层误差项　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delta3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delta_hidden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(delta4, w[2],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z_list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[1],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sigmoid_grad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delta2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delta_hidden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(delta3, w[1],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z_list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sigmoid_grad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# </a:t>
            </a:r>
            <a:r>
              <a:rPr lang="zh-CN" altLang="en-US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参数更新量的计算</a:t>
            </a:r>
            <a:endParaRPr lang="en-US" altLang="zh-CN" sz="1600" kern="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	 w_grad_3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hidden_grad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(delta4,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a_list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[1], alpha)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层权重梯度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endParaRPr lang="en-US" altLang="zh-CN" sz="1600" kern="0" dirty="0">
              <a:solidFill>
                <a:srgbClr val="00820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b_grad_3 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hidden_bias_grad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(delta4, alpha)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层偏置梯度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w_grad_2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hidden_grad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(delta3,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alist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[0], alpha)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层权重梯度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b_grad_2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hidden_bias_grad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(delta3, alpha) 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层偏置梯度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w_grad_1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hidden_grad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(delta2, x, alpha)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层权重梯度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b_grad_1 = </a:t>
            </a:r>
            <a:r>
              <a:rPr lang="en-US" altLang="zh-CN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hidden_bias_grad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(delta2, alpha) 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 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层偏置梯度</a:t>
            </a:r>
            <a:r>
              <a:rPr lang="en-US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1600" kern="0" dirty="0">
                <a:solidFill>
                  <a:srgbClr val="0082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学习率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de-DE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</a:t>
            </a:r>
            <a:r>
              <a:rPr lang="de-DE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de-DE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[w_grad_1, w_grad_2, w_grad_3], [b_grad_1, b_grad_2, b_grad_3]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5.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优化步骤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60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1480" y="4057015"/>
            <a:ext cx="8321040" cy="1784350"/>
            <a:chOff x="411531" y="3671125"/>
            <a:chExt cx="8320938" cy="2347945"/>
          </a:xfrm>
        </p:grpSpPr>
        <p:sp>
          <p:nvSpPr>
            <p:cNvPr id="10" name="矩形 9"/>
            <p:cNvSpPr/>
            <p:nvPr/>
          </p:nvSpPr>
          <p:spPr>
            <a:xfrm>
              <a:off x="411531" y="3671125"/>
              <a:ext cx="8320938" cy="2347945"/>
            </a:xfrm>
            <a:prstGeom prst="rect">
              <a:avLst/>
            </a:prstGeom>
            <a:solidFill>
              <a:schemeClr val="bg1">
                <a:lumMod val="75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20155" y="3844162"/>
              <a:ext cx="7976145" cy="1739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tabLst>
                  <a:tab pos="457200" algn="l"/>
                </a:tabLst>
              </a:pPr>
              <a:r>
                <a:rPr lang="de-DE" altLang="zh-CN" sz="1600" b="1" kern="0" dirty="0">
                  <a:solidFill>
                    <a:srgbClr val="006699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def</a:t>
              </a:r>
              <a:r>
                <a:rPr lang="de-DE" altLang="zh-CN" sz="1600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optimize(w, b, w_grad, b_grad):</a:t>
              </a:r>
            </a:p>
            <a:p>
              <a:pPr marL="342900" lvl="0" indent="-342900">
                <a:tabLst>
                  <a:tab pos="457200" algn="l"/>
                </a:tabLst>
              </a:pPr>
              <a:r>
                <a:rPr lang="de-DE" altLang="zh-CN" sz="1600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for i in range(len(w)):</a:t>
              </a:r>
            </a:p>
            <a:p>
              <a:pPr marL="342900" lvl="0" indent="-342900">
                <a:tabLst>
                  <a:tab pos="457200" algn="l"/>
                </a:tabLst>
              </a:pPr>
              <a:r>
                <a:rPr lang="de-DE" altLang="zh-CN" sz="1600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w[i] -= w_grad[i]</a:t>
              </a:r>
            </a:p>
            <a:p>
              <a:pPr marL="342900" lvl="0" indent="-342900">
                <a:tabLst>
                  <a:tab pos="457200" algn="l"/>
                </a:tabLst>
              </a:pPr>
              <a:r>
                <a:rPr lang="de-DE" altLang="zh-CN" sz="1600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b[i] -= b_grad[i]</a:t>
              </a:r>
            </a:p>
            <a:p>
              <a:pPr marL="342900" lvl="0" indent="-342900">
                <a:tabLst>
                  <a:tab pos="457200" algn="l"/>
                </a:tabLst>
              </a:pPr>
              <a:r>
                <a:rPr lang="de-DE" altLang="zh-CN" sz="1600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sz="1600" b="1" kern="0" dirty="0">
                  <a:solidFill>
                    <a:srgbClr val="006699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return</a:t>
              </a:r>
              <a:r>
                <a:rPr lang="de-DE" altLang="zh-CN" sz="1600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w, b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20154" y="2721796"/>
            <a:ext cx="7976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de-DE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de-DE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optimize(w, b, w_grad, b_grad): 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de-DE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pass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   </a:t>
            </a:r>
            <a:r>
              <a:rPr lang="en-US" altLang="zh-CN" sz="1600" b="1" kern="0" dirty="0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sz="16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w, b </a:t>
            </a:r>
            <a:endParaRPr lang="zh-CN" altLang="zh-CN" sz="20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74250" y="1828226"/>
            <a:ext cx="8382000" cy="445767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6.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61</a:t>
            </a:fld>
            <a:endParaRPr lang="en-US" altLang="zh-CN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0"/>
          <a:ext cx="13652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4" imgW="114300" imgH="165100" progId="Equation.DSMT4">
                  <p:embed/>
                </p:oleObj>
              </mc:Choice>
              <mc:Fallback>
                <p:oleObj name="Equation" r:id="rId4" imgW="114300" imgH="1651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6525" cy="174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17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8812" y="405245"/>
            <a:ext cx="6986790" cy="1118105"/>
            <a:chOff x="2061449" y="5835343"/>
            <a:chExt cx="4136383" cy="1118105"/>
          </a:xfrm>
        </p:grpSpPr>
        <p:sp>
          <p:nvSpPr>
            <p:cNvPr id="7" name="矩形 6"/>
            <p:cNvSpPr/>
            <p:nvPr/>
          </p:nvSpPr>
          <p:spPr>
            <a:xfrm>
              <a:off x="2061449" y="6006303"/>
              <a:ext cx="3846349" cy="850442"/>
            </a:xfrm>
            <a:prstGeom prst="rect">
              <a:avLst/>
            </a:prstGeom>
            <a:noFill/>
            <a:ln>
              <a:solidFill>
                <a:srgbClr val="1F497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2061449" y="6269028"/>
              <a:ext cx="4136383" cy="684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lvl1pPr marL="182880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q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1pPr>
              <a:lvl2pPr marL="457200" lvl="1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2pPr>
              <a:lvl3pPr marL="732155" lvl="2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3pPr>
              <a:lvl4pPr marL="1006475" lvl="3" indent="-182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Wingdings" panose="05000000000000000000" pitchFamily="2" charset="2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4pPr>
              <a:lvl5pPr marL="1189355" lvl="4" indent="-1365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lvl="5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6pPr>
              <a:lvl7pPr marL="2971800" lvl="6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7pPr>
              <a:lvl8pPr marL="3429000" lvl="7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8pPr>
              <a:lvl9pPr marL="3886200" lvl="8" indent="-228600" algn="l" defTabSz="914400" eaLnBrk="1" fontAlgn="base" latinLnBrk="0" hangingPunct="1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•"/>
                <a:defRPr sz="14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9pPr>
            </a:lstStyle>
            <a:p>
              <a:pPr marL="274320" lvl="1" indent="0"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试仅基于</a:t>
              </a:r>
              <a:r>
                <a:rPr lang="en-US" altLang="zh-CN" sz="18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numpy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库，一步一步实现该模型反向传播过程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71234" y="5835343"/>
              <a:ext cx="844334" cy="341919"/>
            </a:xfrm>
            <a:prstGeom prst="rect">
              <a:avLst/>
            </a:prstGeom>
            <a:solidFill>
              <a:srgbClr val="1F497D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试一试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1531" y="2227727"/>
            <a:ext cx="8320938" cy="3594157"/>
            <a:chOff x="411531" y="3671125"/>
            <a:chExt cx="8320938" cy="3497157"/>
          </a:xfrm>
        </p:grpSpPr>
        <p:sp>
          <p:nvSpPr>
            <p:cNvPr id="10" name="矩形 9"/>
            <p:cNvSpPr/>
            <p:nvPr/>
          </p:nvSpPr>
          <p:spPr>
            <a:xfrm>
              <a:off x="411531" y="3671125"/>
              <a:ext cx="8320938" cy="3497157"/>
            </a:xfrm>
            <a:prstGeom prst="rect">
              <a:avLst/>
            </a:prstGeom>
            <a:solidFill>
              <a:schemeClr val="bg1">
                <a:lumMod val="75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20155" y="3844162"/>
              <a:ext cx="8212314" cy="3053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 = 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np.array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([[4, 0, 2, 3, 3]]).T </a:t>
              </a: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 = 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np.array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([1])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 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输入层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(5)-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隐藏层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(4)-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输出层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shape_w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= [(5, 4), (4, 3), (3, 3)]     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 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各层权重矩阵大小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shape_b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= [(4, 1), (3, 1), (3, 1)]     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 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各层偏差矩阵大小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w, b = 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init_params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shape_w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 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shape_b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   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初始化权重和偏差</a:t>
              </a:r>
              <a:endParaRPr lang="en-US" altLang="zh-CN" sz="1800" kern="0" dirty="0">
                <a:solidFill>
                  <a:srgbClr val="0082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kern="0" dirty="0">
                  <a:solidFill>
                    <a:srgbClr val="0082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 </a:t>
              </a:r>
              <a:r>
                <a:rPr lang="zh-CN" altLang="en-US" kern="0" dirty="0">
                  <a:solidFill>
                    <a:srgbClr val="0082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更新</a:t>
              </a:r>
              <a:r>
                <a:rPr lang="en-US" altLang="zh-CN" kern="0" dirty="0">
                  <a:solidFill>
                    <a:srgbClr val="0082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r>
                <a:rPr lang="zh-CN" altLang="en-US" kern="0" dirty="0">
                  <a:solidFill>
                    <a:srgbClr val="0082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步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b="1" kern="0" dirty="0">
                  <a:solidFill>
                    <a:srgbClr val="006699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for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_ </a:t>
              </a:r>
              <a:r>
                <a:rPr lang="en-US" altLang="zh-CN" sz="1800" b="1" kern="0" dirty="0">
                  <a:solidFill>
                    <a:srgbClr val="006699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range(50):  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  a, z = forward(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w, b)  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  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w_grad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 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b_grad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= backward(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y, w, a, z, 0.01) 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反向传播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tabLst>
                  <a:tab pos="457200" algn="l"/>
                </a:tabLst>
              </a:pP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    w, b = optimize(w, b, 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w_grad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1800" kern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b_grad</a:t>
              </a:r>
              <a:r>
                <a:rPr lang="en-US" altLang="zh-CN" sz="1800" kern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           </a:t>
              </a:r>
              <a:r>
                <a:rPr lang="en-US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 </a:t>
              </a:r>
              <a:r>
                <a:rPr lang="zh-CN" altLang="zh-CN" sz="1800" kern="0" dirty="0">
                  <a:solidFill>
                    <a:srgbClr val="008200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优化参数</a:t>
              </a:r>
              <a:endParaRPr lang="zh-CN" altLang="zh-CN" sz="1800" kern="100" dirty="0"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48812" y="5845009"/>
            <a:ext cx="4572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迭代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50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次后，各类的预测值如下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342900" lvl="0" indent="-342900" algn="l">
              <a:lnSpc>
                <a:spcPct val="150000"/>
              </a:lnSpc>
              <a:tabLst>
                <a:tab pos="457200" algn="l"/>
              </a:tabLst>
            </a:pP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[[0.45860661] [0.08641333][0.37609855]]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62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梯度消失与梯度爆炸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梯度消失：在反向传播的过程中，参数关于损失函数的梯度，可能会随着神经网络层数增加，而逐渐减少至零。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121" y="2870200"/>
            <a:ext cx="5043757" cy="36220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63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梯度消失与梯度爆炸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梯度爆炸：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在实际案例中，反向传播中的梯度变化是不稳定的，在计算过程中，梯度不仅可能会逐渐消失，也有可能会激增，这被称为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梯度爆炸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梯度的不稳定变化是深度学习中的重要瓶颈。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640" y="4044095"/>
            <a:ext cx="558800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梯度消失对于模型训练的影响是什么？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梯度爆炸呢？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286000" y="5334000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sz="2400" b="1" dirty="0">
                  <a:latin typeface="微软雅黑" panose="020B0503020204020204" pitchFamily="34" charset="-12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334000"/>
                <a:ext cx="4572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64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382000" cy="501904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梯度消失与梯度爆炸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None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例子：如下所示的简单神经网络，采用的激活函数为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Sigmoid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None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None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4F81BD"/>
                  </a:buClr>
                  <a:buNone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和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表示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层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的可学习权重与偏差，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表示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层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的广义输入，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表示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zh-CN" alt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层</m:t>
                    </m:r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的输出，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+1)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，且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+1)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𝑙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+1)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，则有：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None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None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None/>
                  <a:defRPr/>
                </a:pP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4F81BD"/>
                  </a:buClr>
                  <a:buNone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382000" cy="5019040"/>
              </a:xfrm>
              <a:blipFill rotWithShape="1">
                <a:blip r:embed="rId4"/>
                <a:stretch>
                  <a:fillRect b="-12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78" y="2667593"/>
            <a:ext cx="8316244" cy="910618"/>
          </a:xfrm>
          <a:prstGeom prst="rect">
            <a:avLst/>
          </a:prstGeom>
        </p:spPr>
      </p:pic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964117" y="5280977"/>
          <a:ext cx="5215766" cy="592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Equation" r:id="rId6" imgW="69799200" imgH="8534400" progId="Equation.DSMT4">
                  <p:embed/>
                </p:oleObj>
              </mc:Choice>
              <mc:Fallback>
                <p:oleObj name="Equation" r:id="rId6" imgW="69799200" imgH="853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117" y="5280977"/>
                        <a:ext cx="5215766" cy="592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65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1904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梯度消失与梯度爆炸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例子：如下所示的简单神经网络，采用的激活函数为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函数：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78" y="2667593"/>
            <a:ext cx="8316244" cy="910618"/>
          </a:xfrm>
          <a:prstGeom prst="rect">
            <a:avLst/>
          </a:prstGeom>
        </p:spPr>
      </p:pic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964117" y="3441337"/>
          <a:ext cx="5215766" cy="592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Equation" r:id="rId5" imgW="69799200" imgH="8534400" progId="Equation.DSMT4">
                  <p:embed/>
                </p:oleObj>
              </mc:Choice>
              <mc:Fallback>
                <p:oleObj name="Equation" r:id="rId5" imgW="69799200" imgH="853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117" y="3441337"/>
                        <a:ext cx="5215766" cy="592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62560" y="4351955"/>
            <a:ext cx="2912998" cy="2348262"/>
            <a:chOff x="4717824" y="1909774"/>
            <a:chExt cx="3426142" cy="2761924"/>
          </a:xfrm>
        </p:grpSpPr>
        <p:pic>
          <p:nvPicPr>
            <p:cNvPr id="3" name="图片 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7824" y="1909774"/>
              <a:ext cx="3426142" cy="2212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Object 14"/>
            <p:cNvGraphicFramePr>
              <a:graphicFrameLocks noChangeAspect="1"/>
            </p:cNvGraphicFramePr>
            <p:nvPr/>
          </p:nvGraphicFramePr>
          <p:xfrm>
            <a:off x="5379025" y="4280087"/>
            <a:ext cx="2325190" cy="391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47" r:id="rId8" imgW="1219200" imgH="190500" progId="Equation.DSMT4">
                    <p:embed/>
                  </p:oleObj>
                </mc:Choice>
                <mc:Fallback>
                  <p:oleObj r:id="rId8" imgW="1219200" imgH="1905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9025" y="4280087"/>
                          <a:ext cx="2325190" cy="39161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671378" y="4417462"/>
                <a:ext cx="5084872" cy="2182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如左图所示，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Sigmoid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函数的导数最大值仅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0.25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。在初始化参数值时，若服从均值为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且标准差为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的正态分布，则</a:t>
                </a:r>
                <a14:m>
                  <m:oMath xmlns:m="http://schemas.openxmlformats.org/officeDocument/2006/math">
                    <m:r>
                      <a:rPr lang="zh-CN" altLang="en-US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往往</m:t>
                    </m:r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en-US" altLang="zh-CN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kumimoji="0" lang="en-US" altLang="zh-C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|&lt;1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，随着层数的增加，这些导数乘积会越来越小，最终趋近于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，导致梯度消失。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378" y="4417462"/>
                <a:ext cx="5084872" cy="2182200"/>
              </a:xfrm>
              <a:prstGeom prst="rect">
                <a:avLst/>
              </a:prstGeom>
              <a:blipFill rotWithShape="1">
                <a:blip r:embed="rId10"/>
                <a:stretch>
                  <a:fillRect l="-9" t="-18" r="5" b="-3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E2D4AB0-441C-42B1-813F-D0D36EDB80B8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5/7/2025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37DA7A-EB76-4203-8E69-29EB9F37D3B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66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1904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梯度消失与梯度爆炸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例子：如下所示的简单神经网络，采用的激活函数为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函数：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78" y="2667593"/>
            <a:ext cx="8316244" cy="910618"/>
          </a:xfrm>
          <a:prstGeom prst="rect">
            <a:avLst/>
          </a:prstGeom>
        </p:spPr>
      </p:pic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964117" y="3441337"/>
          <a:ext cx="5215766" cy="592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5" imgW="69799200" imgH="8534400" progId="Equation.DSMT4">
                  <p:embed/>
                </p:oleObj>
              </mc:Choice>
              <mc:Fallback>
                <p:oleObj name="Equation" r:id="rId5" imgW="69799200" imgH="853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117" y="3441337"/>
                        <a:ext cx="5215766" cy="592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62560" y="4351955"/>
            <a:ext cx="2912998" cy="2348262"/>
            <a:chOff x="4717824" y="1909774"/>
            <a:chExt cx="3426142" cy="2761924"/>
          </a:xfrm>
        </p:grpSpPr>
        <p:pic>
          <p:nvPicPr>
            <p:cNvPr id="3" name="图片 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7824" y="1909774"/>
              <a:ext cx="3426142" cy="2212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Object 14"/>
            <p:cNvGraphicFramePr>
              <a:graphicFrameLocks noChangeAspect="1"/>
            </p:cNvGraphicFramePr>
            <p:nvPr/>
          </p:nvGraphicFramePr>
          <p:xfrm>
            <a:off x="5379025" y="4280087"/>
            <a:ext cx="2325190" cy="391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1" r:id="rId8" imgW="1219200" imgH="190500" progId="Equation.DSMT4">
                    <p:embed/>
                  </p:oleObj>
                </mc:Choice>
                <mc:Fallback>
                  <p:oleObj r:id="rId8" imgW="1219200" imgH="1905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9025" y="4280087"/>
                          <a:ext cx="2325190" cy="39161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500438" y="4417462"/>
                <a:ext cx="5386706" cy="1766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defTabSz="9144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4F81BD"/>
                  </a:buClr>
                  <a:buSzPct val="85000"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但权重取值也可能会比较大，即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en-US" altLang="zh-CN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kumimoji="0" lang="en-US" altLang="zh-C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|&gt;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kumimoji="0" lang="en-US" altLang="zh-CN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，如果多个权重较大的数值相乘，会导致导数越来越大，</a:t>
                </a: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造成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梯度爆炸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，但（从概率上判断）此种情况较为少见。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438" y="4417462"/>
                <a:ext cx="5386706" cy="1766702"/>
              </a:xfrm>
              <a:prstGeom prst="rect">
                <a:avLst/>
              </a:prstGeom>
              <a:blipFill rotWithShape="1">
                <a:blip r:embed="rId10"/>
                <a:stretch>
                  <a:fillRect l="-6" t="-23" r="6" b="-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67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332230"/>
            <a:ext cx="8382000" cy="501904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梯度消失与梯度爆炸的解决方案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更换激活函数：比如使用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替代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Sigmoid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函数。由于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对于输入小于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时输出也为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，会舍弃一部分神经元，因此可以采用改进的激活函数如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Leaky ReLU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，使得负区间也有梯度传播。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梯度剪切：设定一定阈值， 更新梯度的时候，如果梯度超过这个阈值，那么就将其强制限制在阈值以下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权重正则化：正则化可以降低网络中各层权重值。如果发生梯度爆炸，那么权值就会变的非常大，反过来，通过正则化项来限制权重的大小，也可以在一定程度上防止梯度爆炸的发生。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936750" y="5584220"/>
                <a:ext cx="4572000" cy="604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50" y="5584220"/>
                <a:ext cx="4572000" cy="604461"/>
              </a:xfrm>
              <a:prstGeom prst="rect">
                <a:avLst/>
              </a:prstGeom>
              <a:blipFill rotWithShape="1">
                <a:blip r:embed="rId3"/>
                <a:stretch>
                  <a:fillRect t="-5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304800" y="6074013"/>
                <a:ext cx="8115300" cy="652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上式给出的是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正则化，由两部分构成，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是任务原本的损失函数，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是所有可学习参数的模的平方和，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是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正则化系数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074013"/>
                <a:ext cx="8115300" cy="652166"/>
              </a:xfrm>
              <a:prstGeom prst="rect">
                <a:avLst/>
              </a:prstGeom>
              <a:blipFill rotWithShape="1">
                <a:blip r:embed="rId4"/>
                <a:stretch>
                  <a:fillRect t="-36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68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过拟合问题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4592" y="1807138"/>
            <a:ext cx="5919108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神经网络模型的泛化能力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是否随着神经元数量的提升而提升？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6" y="3086505"/>
            <a:ext cx="8466667" cy="32380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2160" y="6324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上面三个模型哪个表现最好？</a:t>
            </a:r>
            <a:endParaRPr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69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过拟合问题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神经网络模型因为其结构的复杂性，能够对训练数据进行很好的拟合，在数据量不足的情况下，模型更倾向于“背”数据，随着训练次数的增长，模型对训练数据的学习效果过好，容易产生过拟合的情况</a:t>
            </a:r>
            <a:r>
              <a:rPr 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317115" y="3357245"/>
            <a:ext cx="4456430" cy="3313430"/>
            <a:chOff x="2561992" y="3394996"/>
            <a:chExt cx="4130628" cy="28917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4" t="8126" r="9122" b="8315"/>
            <a:stretch>
              <a:fillRect/>
            </a:stretch>
          </p:blipFill>
          <p:spPr bwMode="auto">
            <a:xfrm>
              <a:off x="2561992" y="3394996"/>
              <a:ext cx="4020015" cy="289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矩形 4"/>
            <p:cNvSpPr/>
            <p:nvPr/>
          </p:nvSpPr>
          <p:spPr>
            <a:xfrm>
              <a:off x="5176684" y="3768213"/>
              <a:ext cx="1515936" cy="190254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过拟合区域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70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过拟合问题的解决方法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4F81BD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增加数据量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质量数据量提升总是利于模型训练的。参数较多的模型被认为具有较高的容量，为了获得对未知测试数据的泛化能力，模型需要更多的数据。增加数据量的方法包括使用额外引入的数据集、或通过数据增强等方式生成新数据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正则化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将模型复杂度的指标加到损失函数中，以一定程度上限制模型变得过于复杂，从而避免过拟合。正则化会使模型倾向于更简单（参数值不高）。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651" y="5828840"/>
            <a:ext cx="4056698" cy="72585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631180" y="5829300"/>
            <a:ext cx="982980" cy="70866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64125" y="60038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正则化</a:t>
            </a:r>
            <a:endParaRPr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71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457200" y="1314966"/>
            <a:ext cx="83820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过拟合问题的解决方法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4F81BD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早停机制（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early-stopping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4F81BD"/>
              </a:buClr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验证集误差已经达到最小值时，继续训练模型误差虽会继续减小，但是会导致过拟合。因此，我们可以在验证集误差由最小值开始变大时，提前停止训练的策略（即增加一个停止判定规则），即“早停”。早停能够有效防止过拟合，但不适当的使用也会导致模型的训练不充分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85000"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4" t="8126" r="9122" b="8315"/>
          <a:stretch>
            <a:fillRect/>
          </a:stretch>
        </p:blipFill>
        <p:spPr bwMode="auto">
          <a:xfrm>
            <a:off x="2730427" y="4183885"/>
            <a:ext cx="3683146" cy="264938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椭圆 4"/>
          <p:cNvSpPr/>
          <p:nvPr/>
        </p:nvSpPr>
        <p:spPr>
          <a:xfrm>
            <a:off x="4754880" y="5379655"/>
            <a:ext cx="191589" cy="1741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11.4 </a:t>
            </a: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神经网络中的常见问题解决方案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</p:spPr>
            <p:txBody>
              <a:bodyPr/>
              <a:lstStyle/>
              <a:p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过拟合问题的解决方法</a:t>
                </a:r>
                <a:endPara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4F81BD"/>
                  </a:buClr>
                  <a:buFont typeface="Wingdings" panose="05000000000000000000" pitchFamily="2" charset="2"/>
                  <a:buChar char="ü"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dropout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策略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4F81BD"/>
                  </a:buClr>
                  <a:buNone/>
                  <a:defRPr/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Dropout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在训练过程中按照给定的概率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随机删除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一些隐藏层的神经元（输入层和输出层的神经元不变），只更新没有被删除的神经元参数，通过减少神经元个数的方式防止过拟合，随机性的引入提高模型鲁棒性。</a:t>
                </a:r>
                <a:endPara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14966"/>
                <a:ext cx="8382000" cy="4876800"/>
              </a:xfrm>
              <a:blipFill rotWithShape="1">
                <a:blip r:embed="rId3"/>
                <a:stretch>
                  <a:fillRect t="-11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360" y="3991725"/>
            <a:ext cx="2398613" cy="252643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035" y="3953624"/>
            <a:ext cx="2185447" cy="252643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362200" y="650598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标准神经网络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162133" y="650598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dropout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的神经网络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5/7/2025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t>73</a:t>
            </a:fld>
            <a:endParaRPr lang="en-US" altLang="zh-CN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381000" y="603766"/>
            <a:ext cx="8382000" cy="5695434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过拟合问题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4F81BD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一个有经验的算法工程师通常在模型的正式训练之前，会在一个很小的数据集上进行多轮训练直至过拟合。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1500" y="2084262"/>
            <a:ext cx="487680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为什么有些时候算法工程师在“寻求”过拟合？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BmZjU3MDQ3N2JmNmFkOTIxMTM4NGI0N2ViNmFiMjUifQ=="/>
</p:tagLst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7108</Words>
  <Application>Microsoft Office PowerPoint</Application>
  <PresentationFormat>全屏显示(4:3)</PresentationFormat>
  <Paragraphs>957</Paragraphs>
  <Slides>73</Slides>
  <Notes>70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73</vt:i4>
      </vt:variant>
    </vt:vector>
  </HeadingPairs>
  <TitlesOfParts>
    <vt:vector size="86" baseType="lpstr">
      <vt:lpstr>-apple-system</vt:lpstr>
      <vt:lpstr>Arial (Headings)</vt:lpstr>
      <vt:lpstr>Helvetica Neue</vt:lpstr>
      <vt:lpstr>等线</vt:lpstr>
      <vt:lpstr>微软雅黑</vt:lpstr>
      <vt:lpstr>Arial</vt:lpstr>
      <vt:lpstr>Cambria Math</vt:lpstr>
      <vt:lpstr>Consolas</vt:lpstr>
      <vt:lpstr>Times New Roman</vt:lpstr>
      <vt:lpstr>Wingdings</vt:lpstr>
      <vt:lpstr>Clarity</vt:lpstr>
      <vt:lpstr>Equation</vt:lpstr>
      <vt:lpstr>MathType 7.0 Equation</vt:lpstr>
      <vt:lpstr>PowerPoint 演示文稿</vt:lpstr>
      <vt:lpstr>人工神经网络</vt:lpstr>
      <vt:lpstr>11.1 神经网络的基本结构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11.2 激活函数与前向传递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11.3 反向传播</vt:lpstr>
      <vt:lpstr>11.3 反向传播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11.3 反向传播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11.4 神经网络中的常见问题解决方案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Chantry Liu</cp:lastModifiedBy>
  <cp:revision>418</cp:revision>
  <dcterms:created xsi:type="dcterms:W3CDTF">2016-02-16T07:55:00Z</dcterms:created>
  <dcterms:modified xsi:type="dcterms:W3CDTF">2025-05-07T01:59:47Z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09F63302E9E54994A57B8693020E1528_12</vt:lpwstr>
  </property>
  <property fmtid="{D5CDD505-2E9C-101B-9397-08002B2CF9AE}" pid="3" name="KSOProductBuildVer">
    <vt:lpwstr>2052-12.1.0.16729</vt:lpwstr>
  </property>
</Properties>
</file>