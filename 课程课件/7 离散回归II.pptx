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98" r:id="rId2"/>
    <p:sldId id="301" r:id="rId3"/>
    <p:sldId id="300" r:id="rId4"/>
    <p:sldId id="304" r:id="rId5"/>
    <p:sldId id="302" r:id="rId6"/>
    <p:sldId id="306" r:id="rId7"/>
    <p:sldId id="305" r:id="rId8"/>
    <p:sldId id="307" r:id="rId9"/>
    <p:sldId id="309" r:id="rId10"/>
    <p:sldId id="308" r:id="rId11"/>
    <p:sldId id="310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21" autoAdjust="0"/>
    <p:restoredTop sz="94672" autoAdjust="0"/>
  </p:normalViewPr>
  <p:slideViewPr>
    <p:cSldViewPr snapToGrid="0">
      <p:cViewPr varScale="1">
        <p:scale>
          <a:sx n="82" d="100"/>
          <a:sy n="82" d="100"/>
        </p:scale>
        <p:origin x="628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9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3875B-5461-4E88-BAB9-4D73D3881FC5}" type="datetimeFigureOut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AC041-8114-4A48-8C7E-42A4F3F99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376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5AC041-8114-4A48-8C7E-42A4F3F9974D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974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B6BE-69A9-4DCC-9CBF-D770C886B29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2023/3/27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17E49-4A81-4299-BC2A-F1C5AFD9149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08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B6BE-69A9-4DCC-9CBF-D770C886B29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2023/3/27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17E49-4A81-4299-BC2A-F1C5AFD9149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183087" y="325157"/>
            <a:ext cx="93847" cy="46037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9832" y="6743524"/>
            <a:ext cx="9144000" cy="11911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61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B6BE-69A9-4DCC-9CBF-D770C886B29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2023/3/27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17E49-4A81-4299-BC2A-F1C5AFD9149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574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B6BE-69A9-4DCC-9CBF-D770C886B29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2023/3/27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17E49-4A81-4299-BC2A-F1C5AFD9149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126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B6BE-69A9-4DCC-9CBF-D770C886B29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2023/3/27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17E49-4A81-4299-BC2A-F1C5AFD9149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687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B6BE-69A9-4DCC-9CBF-D770C886B29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2023/3/27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17E49-4A81-4299-BC2A-F1C5AFD9149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31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B6BE-69A9-4DCC-9CBF-D770C886B29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2023/3/27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17E49-4A81-4299-BC2A-F1C5AFD9149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708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B6BE-69A9-4DCC-9CBF-D770C886B29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2023/3/27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17E49-4A81-4299-BC2A-F1C5AFD9149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37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B6BE-69A9-4DCC-9CBF-D770C886B29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2023/3/27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17E49-4A81-4299-BC2A-F1C5AFD9149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723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B6BE-69A9-4DCC-9CBF-D770C886B29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2023/3/27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17E49-4A81-4299-BC2A-F1C5AFD9149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758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B6BE-69A9-4DCC-9CBF-D770C886B29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2023/3/27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17E49-4A81-4299-BC2A-F1C5AFD9149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399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B6BE-69A9-4DCC-9CBF-D770C886B29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2023/3/27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17E49-4A81-4299-BC2A-F1C5AFD9149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183087" y="325157"/>
            <a:ext cx="93847" cy="46037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9832" y="6743524"/>
            <a:ext cx="9144000" cy="11911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346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ctrTitle"/>
          </p:nvPr>
        </p:nvSpPr>
        <p:spPr>
          <a:xfrm>
            <a:off x="0" y="2260061"/>
            <a:ext cx="9144000" cy="1965670"/>
          </a:xfrm>
        </p:spPr>
        <p:txBody>
          <a:bodyPr>
            <a:normAutofit/>
          </a:bodyPr>
          <a:lstStyle/>
          <a:p>
            <a:r>
              <a:rPr lang="zh-CN" altLang="en-US" sz="495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离散回归</a:t>
            </a:r>
            <a:r>
              <a:rPr lang="en-US" altLang="zh-CN" sz="4950" b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</a:t>
            </a:r>
            <a:r>
              <a:rPr lang="en-US" altLang="zh-CN" sz="49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49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3975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50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531225" cy="990600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Ordered </a:t>
            </a:r>
            <a:r>
              <a:rPr lang="en-US" altLang="zh-CN" b="1" dirty="0" err="1" smtClean="0">
                <a:latin typeface="Times New Roman" pitchFamily="18" charset="0"/>
                <a:cs typeface="Times New Roman" pitchFamily="18" charset="0"/>
              </a:rPr>
              <a:t>Probit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 Model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53" y="1139301"/>
            <a:ext cx="8554930" cy="532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1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531225" cy="990600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Ordered </a:t>
            </a:r>
            <a:r>
              <a:rPr lang="en-US" altLang="zh-CN" b="1" dirty="0" err="1" smtClean="0">
                <a:latin typeface="Times New Roman" pitchFamily="18" charset="0"/>
                <a:cs typeface="Times New Roman" pitchFamily="18" charset="0"/>
              </a:rPr>
              <a:t>Probit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 Model</a:t>
            </a:r>
          </a:p>
        </p:txBody>
      </p:sp>
      <p:sp>
        <p:nvSpPr>
          <p:cNvPr id="46083" name="Rectangle 2"/>
          <p:cNvSpPr txBox="1">
            <a:spLocks noChangeArrowheads="1"/>
          </p:cNvSpPr>
          <p:nvPr/>
        </p:nvSpPr>
        <p:spPr bwMode="auto">
          <a:xfrm>
            <a:off x="486593" y="1492790"/>
            <a:ext cx="8229600" cy="1436841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marL="319088" indent="-319088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12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en-US" altLang="zh-CN" sz="2800" dirty="0"/>
              <a:t>Ordered </a:t>
            </a:r>
            <a:r>
              <a:rPr lang="en-US" altLang="zh-CN" sz="2800" dirty="0" smtClean="0"/>
              <a:t>probability models </a:t>
            </a:r>
            <a:r>
              <a:rPr lang="en-US" altLang="zh-CN" sz="2800" dirty="0"/>
              <a:t>are derived by </a:t>
            </a:r>
            <a:r>
              <a:rPr lang="en-US" altLang="zh-CN" sz="2800" dirty="0" smtClean="0"/>
              <a:t>defining </a:t>
            </a:r>
            <a:r>
              <a:rPr lang="en-US" altLang="zh-CN" sz="2800" dirty="0"/>
              <a:t>an unobserved variable z that is used as </a:t>
            </a:r>
            <a:r>
              <a:rPr lang="en-US" altLang="zh-CN" sz="2800" dirty="0" smtClean="0"/>
              <a:t>a basis </a:t>
            </a:r>
            <a:r>
              <a:rPr lang="en-US" altLang="zh-CN" sz="2800" dirty="0"/>
              <a:t>for modeling the ordinal ranking of data.</a:t>
            </a:r>
            <a:endParaRPr lang="en-US" altLang="zh-CN" sz="28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4968" y="3039306"/>
            <a:ext cx="2698569" cy="71594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3" y="3943209"/>
            <a:ext cx="9144000" cy="67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68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531225" cy="990600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Ordered </a:t>
            </a:r>
            <a:r>
              <a:rPr lang="en-US" altLang="zh-CN" b="1" dirty="0" err="1" smtClean="0">
                <a:latin typeface="Times New Roman" pitchFamily="18" charset="0"/>
                <a:cs typeface="Times New Roman" pitchFamily="18" charset="0"/>
              </a:rPr>
              <a:t>Probit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 Model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9144000" cy="27109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2727757"/>
            <a:ext cx="952500" cy="781050"/>
          </a:xfrm>
          <a:prstGeom prst="rect">
            <a:avLst/>
          </a:prstGeom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33165" y="4122428"/>
            <a:ext cx="8673484" cy="1596639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marL="319088" indent="-319088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/>
            <a:r>
              <a:rPr lang="en-US" altLang="zh-CN" sz="2800" dirty="0"/>
              <a:t>w</a:t>
            </a:r>
            <a:r>
              <a:rPr lang="en-US" altLang="zh-CN" sz="2800" dirty="0" smtClean="0"/>
              <a:t>here </a:t>
            </a:r>
            <a:r>
              <a:rPr lang="en-US" altLang="zh-CN" sz="2800" i="1" dirty="0"/>
              <a:t>μ </a:t>
            </a:r>
            <a:r>
              <a:rPr lang="en-US" altLang="zh-CN" sz="2800" dirty="0"/>
              <a:t>are estimable parameters (referred to as </a:t>
            </a:r>
            <a:r>
              <a:rPr lang="en-US" altLang="zh-CN" sz="2800" dirty="0" smtClean="0"/>
              <a:t>thresholds</a:t>
            </a:r>
            <a:r>
              <a:rPr lang="en-US" altLang="zh-CN" sz="2800" dirty="0"/>
              <a:t>) that </a:t>
            </a:r>
            <a:r>
              <a:rPr lang="en-US" altLang="zh-CN" sz="2800" dirty="0" smtClean="0"/>
              <a:t>define </a:t>
            </a:r>
            <a:r>
              <a:rPr lang="en-US" altLang="zh-CN" sz="2800" i="1" dirty="0" smtClean="0"/>
              <a:t>y</a:t>
            </a:r>
            <a:r>
              <a:rPr lang="en-US" altLang="zh-CN" sz="2800" dirty="0" smtClean="0"/>
              <a:t>, which corresponds to integer ordering, and </a:t>
            </a:r>
            <a:r>
              <a:rPr lang="en-US" altLang="zh-CN" sz="2800" i="1" dirty="0" smtClean="0"/>
              <a:t>I </a:t>
            </a:r>
            <a:r>
              <a:rPr lang="en-US" altLang="zh-CN" sz="2800" dirty="0" smtClean="0"/>
              <a:t>is the highest integer ordered response</a:t>
            </a:r>
            <a:r>
              <a:rPr lang="en-US" altLang="zh-CN" sz="2800" dirty="0"/>
              <a:t>.</a:t>
            </a:r>
            <a:endParaRPr lang="en-US" altLang="zh-CN" sz="28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07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531225" cy="990600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Ordered </a:t>
            </a:r>
            <a:r>
              <a:rPr lang="en-US" altLang="zh-CN" b="1" dirty="0" err="1" smtClean="0">
                <a:latin typeface="Times New Roman" pitchFamily="18" charset="0"/>
                <a:cs typeface="Times New Roman" pitchFamily="18" charset="0"/>
              </a:rPr>
              <a:t>Probit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 Model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2727757"/>
            <a:ext cx="952500" cy="781050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57451" y="1279723"/>
            <a:ext cx="8762261" cy="1596639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marL="319088" indent="-319088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sz="2800" dirty="0"/>
              <a:t>The </a:t>
            </a:r>
            <a:r>
              <a:rPr lang="en-US" altLang="zh-CN" sz="2800" i="1" dirty="0"/>
              <a:t>μ </a:t>
            </a:r>
            <a:r>
              <a:rPr lang="en-US" altLang="zh-CN" sz="2800" dirty="0"/>
              <a:t>are parameters that are estimated jointly with the model </a:t>
            </a:r>
            <a:r>
              <a:rPr lang="en-US" altLang="zh-CN" sz="2800" dirty="0" smtClean="0"/>
              <a:t>parameters.</a:t>
            </a: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sz="2800" dirty="0"/>
              <a:t>If </a:t>
            </a:r>
            <a:r>
              <a:rPr lang="en-US" altLang="zh-CN" sz="2800" i="1" dirty="0"/>
              <a:t>ε </a:t>
            </a:r>
            <a:r>
              <a:rPr lang="en-US" altLang="zh-CN" sz="2800" dirty="0"/>
              <a:t>are assumed </a:t>
            </a:r>
            <a:r>
              <a:rPr lang="en-US" altLang="zh-CN" sz="2800" dirty="0" smtClean="0"/>
              <a:t>to be </a:t>
            </a:r>
            <a:r>
              <a:rPr lang="en-US" altLang="zh-CN" sz="2800" dirty="0"/>
              <a:t>normally distributed across </a:t>
            </a:r>
            <a:r>
              <a:rPr lang="en-US" altLang="zh-CN" sz="2800" dirty="0" smtClean="0"/>
              <a:t>observations </a:t>
            </a:r>
            <a:r>
              <a:rPr lang="en-US" altLang="zh-CN" sz="2800" dirty="0"/>
              <a:t>with mean = 0 and variance = 1, </a:t>
            </a:r>
            <a:r>
              <a:rPr lang="en-US" altLang="zh-CN" sz="2800" dirty="0" smtClean="0"/>
              <a:t>an ordered </a:t>
            </a:r>
            <a:r>
              <a:rPr lang="en-US" altLang="zh-CN" sz="2800" dirty="0" err="1"/>
              <a:t>probit</a:t>
            </a:r>
            <a:r>
              <a:rPr lang="en-US" altLang="zh-CN" sz="2800" dirty="0"/>
              <a:t> model results with the ordered selection </a:t>
            </a:r>
            <a:r>
              <a:rPr lang="en-US" altLang="zh-CN" sz="2800" dirty="0" smtClean="0"/>
              <a:t>probabilities </a:t>
            </a:r>
            <a:r>
              <a:rPr lang="en-US" altLang="zh-CN" sz="2800" dirty="0"/>
              <a:t>being</a:t>
            </a:r>
            <a:endParaRPr lang="en-US" altLang="zh-CN" sz="28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149" y="4063498"/>
            <a:ext cx="4562475" cy="17145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361" y="5771248"/>
            <a:ext cx="4210050" cy="82867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306635" y="4000500"/>
            <a:ext cx="5143501" cy="26606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531225" cy="990600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Ordered </a:t>
            </a:r>
            <a:r>
              <a:rPr lang="en-US" altLang="zh-CN" b="1" dirty="0" err="1" smtClean="0">
                <a:latin typeface="Times New Roman" pitchFamily="18" charset="0"/>
                <a:cs typeface="Times New Roman" pitchFamily="18" charset="0"/>
              </a:rPr>
              <a:t>Probit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 Model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2727757"/>
            <a:ext cx="952500" cy="7810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9498"/>
            <a:ext cx="9144000" cy="55190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409" y="6133633"/>
            <a:ext cx="67722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118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531225" cy="990600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Ordered </a:t>
            </a:r>
            <a:r>
              <a:rPr lang="en-US" altLang="zh-CN" b="1" dirty="0" err="1" smtClean="0">
                <a:latin typeface="Times New Roman" pitchFamily="18" charset="0"/>
                <a:cs typeface="Times New Roman" pitchFamily="18" charset="0"/>
              </a:rPr>
              <a:t>Probit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 Model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2727757"/>
            <a:ext cx="952500" cy="781050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57451" y="1279723"/>
            <a:ext cx="8762261" cy="1596639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marL="319088" indent="-319088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sz="2800" dirty="0" smtClean="0"/>
              <a:t>Threshold </a:t>
            </a:r>
            <a:r>
              <a:rPr lang="en-US" altLang="zh-CN" sz="2800" i="1" dirty="0"/>
              <a:t>μ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 is set equal </a:t>
            </a:r>
            <a:r>
              <a:rPr lang="en-US" altLang="zh-CN" sz="2800" dirty="0" smtClean="0"/>
              <a:t>to 0.</a:t>
            </a: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sz="2800" dirty="0"/>
              <a:t>For estimation</a:t>
            </a:r>
            <a:r>
              <a:rPr lang="en-US" altLang="zh-CN" sz="2800" dirty="0" smtClean="0"/>
              <a:t>, the above is </a:t>
            </a:r>
            <a:r>
              <a:rPr lang="en-US" altLang="zh-CN" sz="2800" dirty="0"/>
              <a:t>written as</a:t>
            </a:r>
            <a:endParaRPr lang="en-US" altLang="zh-CN" sz="28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501" y="2278184"/>
            <a:ext cx="4171950" cy="609600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57450" y="2837478"/>
            <a:ext cx="8762261" cy="9532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marL="319088" indent="-319088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sz="2800" dirty="0" smtClean="0"/>
              <a:t>The likelihood </a:t>
            </a:r>
            <a:r>
              <a:rPr lang="en-US" altLang="zh-CN" sz="2800" dirty="0"/>
              <a:t>function is (over the population of </a:t>
            </a:r>
            <a:r>
              <a:rPr lang="en-US" altLang="zh-CN" sz="2800" i="1" dirty="0" smtClean="0"/>
              <a:t>N  </a:t>
            </a:r>
            <a:r>
              <a:rPr lang="en-US" altLang="zh-CN" sz="2800" dirty="0"/>
              <a:t>observations)</a:t>
            </a:r>
            <a:endParaRPr lang="en-US" altLang="zh-CN" sz="28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5" y="3790766"/>
            <a:ext cx="8181975" cy="8763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617" y="4609920"/>
            <a:ext cx="6257925" cy="971550"/>
          </a:xfrm>
          <a:prstGeom prst="rect">
            <a:avLst/>
          </a:prstGeom>
        </p:spPr>
      </p:pic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57448" y="5609580"/>
            <a:ext cx="8762261" cy="9532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marL="319088" indent="-319088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2800" dirty="0"/>
              <a:t>where </a:t>
            </a:r>
            <a:r>
              <a:rPr lang="en-US" altLang="zh-CN" sz="2800" i="1" dirty="0" err="1"/>
              <a:t>δ</a:t>
            </a:r>
            <a:r>
              <a:rPr lang="en-US" altLang="zh-CN" sz="2800" i="1" baseline="-25000" dirty="0" err="1"/>
              <a:t>in</a:t>
            </a:r>
            <a:r>
              <a:rPr lang="en-US" altLang="zh-CN" sz="2800" i="1" dirty="0"/>
              <a:t> </a:t>
            </a:r>
            <a:r>
              <a:rPr lang="en-US" altLang="zh-CN" sz="2800" dirty="0"/>
              <a:t>is equal to 1 if the observed discrete outcome </a:t>
            </a:r>
            <a:r>
              <a:rPr lang="en-US" altLang="zh-CN" sz="2800" dirty="0" smtClean="0"/>
              <a:t>for observation </a:t>
            </a:r>
            <a:r>
              <a:rPr lang="en-US" altLang="zh-CN" sz="2800" i="1" dirty="0"/>
              <a:t>n </a:t>
            </a:r>
            <a:r>
              <a:rPr lang="en-US" altLang="zh-CN" sz="2800" dirty="0"/>
              <a:t>is </a:t>
            </a:r>
            <a:r>
              <a:rPr lang="en-US" altLang="zh-CN" sz="2800" i="1" dirty="0" err="1"/>
              <a:t>i</a:t>
            </a:r>
            <a:r>
              <a:rPr lang="en-US" altLang="zh-CN" sz="2800" dirty="0" smtClean="0"/>
              <a:t>, and </a:t>
            </a:r>
            <a:r>
              <a:rPr lang="en-US" altLang="zh-CN" sz="2800" dirty="0"/>
              <a:t>zero otherwise.</a:t>
            </a:r>
            <a:endParaRPr lang="en-US" altLang="zh-CN" sz="28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33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531225" cy="990600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Ordered </a:t>
            </a:r>
            <a:r>
              <a:rPr lang="en-US" altLang="zh-CN" b="1" dirty="0" err="1" smtClean="0">
                <a:latin typeface="Times New Roman" pitchFamily="18" charset="0"/>
                <a:cs typeface="Times New Roman" pitchFamily="18" charset="0"/>
              </a:rPr>
              <a:t>Probit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 Model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5790"/>
            <a:ext cx="9144000" cy="548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78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531225" cy="990600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Ordered </a:t>
            </a:r>
            <a:r>
              <a:rPr lang="en-US" altLang="zh-CN" b="1" dirty="0" err="1" smtClean="0">
                <a:latin typeface="Times New Roman" pitchFamily="18" charset="0"/>
                <a:cs typeface="Times New Roman" pitchFamily="18" charset="0"/>
              </a:rPr>
              <a:t>Probit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 Model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57451" y="1279723"/>
            <a:ext cx="8762261" cy="1596639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marL="319088" indent="-319088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sz="2800" dirty="0"/>
              <a:t>To obtain a sense of the direction of the effects on the interior categories</a:t>
            </a:r>
            <a:r>
              <a:rPr lang="en-US" altLang="zh-CN" sz="2800" dirty="0" smtClean="0"/>
              <a:t>, marginal </a:t>
            </a:r>
            <a:r>
              <a:rPr lang="en-US" altLang="zh-CN" sz="2800" dirty="0"/>
              <a:t>effects are computed for each category</a:t>
            </a:r>
            <a:endParaRPr lang="en-US" altLang="zh-CN" sz="28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215" y="2876362"/>
            <a:ext cx="3941179" cy="13329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215" y="4252376"/>
            <a:ext cx="3941179" cy="195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97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531225" cy="990600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Ordered </a:t>
            </a:r>
            <a:r>
              <a:rPr lang="en-US" altLang="zh-CN" b="1" dirty="0" err="1" smtClean="0">
                <a:latin typeface="Times New Roman" pitchFamily="18" charset="0"/>
                <a:cs typeface="Times New Roman" pitchFamily="18" charset="0"/>
              </a:rPr>
              <a:t>Probit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 Model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30" y="0"/>
            <a:ext cx="8251854" cy="667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157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531225" cy="990600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Ordered </a:t>
            </a:r>
            <a:r>
              <a:rPr lang="en-US" altLang="zh-CN" b="1" dirty="0" err="1" smtClean="0">
                <a:latin typeface="Times New Roman" pitchFamily="18" charset="0"/>
                <a:cs typeface="Times New Roman" pitchFamily="18" charset="0"/>
              </a:rPr>
              <a:t>Probit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 Model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15" y="0"/>
            <a:ext cx="85908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10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4049</TotalTime>
  <Words>206</Words>
  <Application>Microsoft Office PowerPoint</Application>
  <PresentationFormat>全屏显示(4:3)</PresentationFormat>
  <Paragraphs>21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黑体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1_Office 主题</vt:lpstr>
      <vt:lpstr>离散回归II </vt:lpstr>
      <vt:lpstr>Ordered Probit Model</vt:lpstr>
      <vt:lpstr>Ordered Probit Model</vt:lpstr>
      <vt:lpstr>Ordered Probit Model</vt:lpstr>
      <vt:lpstr>Ordered Probit Model</vt:lpstr>
      <vt:lpstr>Ordered Probit Model</vt:lpstr>
      <vt:lpstr>Ordered Probit Model</vt:lpstr>
      <vt:lpstr>Ordered Probit Model</vt:lpstr>
      <vt:lpstr>Ordered Probit Model</vt:lpstr>
      <vt:lpstr>Ordered Probit Model</vt:lpstr>
      <vt:lpstr>Ordered Probit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交通数据分析</dc:title>
  <dc:creator>Lily</dc:creator>
  <cp:lastModifiedBy>徐铖铖</cp:lastModifiedBy>
  <cp:revision>266</cp:revision>
  <dcterms:created xsi:type="dcterms:W3CDTF">2016-02-16T08:28:56Z</dcterms:created>
  <dcterms:modified xsi:type="dcterms:W3CDTF">2023-03-27T15:34:22Z</dcterms:modified>
</cp:coreProperties>
</file>