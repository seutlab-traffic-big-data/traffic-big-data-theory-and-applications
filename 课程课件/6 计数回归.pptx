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4"/>
  </p:notesMasterIdLst>
  <p:sldIdLst>
    <p:sldId id="315" r:id="rId2"/>
    <p:sldId id="316" r:id="rId3"/>
    <p:sldId id="558" r:id="rId4"/>
    <p:sldId id="510" r:id="rId5"/>
    <p:sldId id="559" r:id="rId6"/>
    <p:sldId id="560" r:id="rId7"/>
    <p:sldId id="561" r:id="rId8"/>
    <p:sldId id="508" r:id="rId9"/>
    <p:sldId id="511" r:id="rId10"/>
    <p:sldId id="564" r:id="rId11"/>
    <p:sldId id="563" r:id="rId12"/>
    <p:sldId id="513" r:id="rId13"/>
    <p:sldId id="565" r:id="rId14"/>
    <p:sldId id="566" r:id="rId15"/>
    <p:sldId id="567" r:id="rId16"/>
    <p:sldId id="515" r:id="rId17"/>
    <p:sldId id="568" r:id="rId18"/>
    <p:sldId id="569" r:id="rId19"/>
    <p:sldId id="517" r:id="rId20"/>
    <p:sldId id="570" r:id="rId21"/>
    <p:sldId id="571" r:id="rId22"/>
    <p:sldId id="518" r:id="rId23"/>
    <p:sldId id="572" r:id="rId24"/>
    <p:sldId id="520" r:id="rId25"/>
    <p:sldId id="573" r:id="rId26"/>
    <p:sldId id="575" r:id="rId27"/>
    <p:sldId id="574" r:id="rId28"/>
    <p:sldId id="521" r:id="rId29"/>
    <p:sldId id="576" r:id="rId30"/>
    <p:sldId id="577" r:id="rId31"/>
    <p:sldId id="522" r:id="rId32"/>
    <p:sldId id="579" r:id="rId33"/>
    <p:sldId id="580" r:id="rId34"/>
    <p:sldId id="524" r:id="rId35"/>
    <p:sldId id="581" r:id="rId36"/>
    <p:sldId id="525" r:id="rId37"/>
    <p:sldId id="582" r:id="rId38"/>
    <p:sldId id="583" r:id="rId39"/>
    <p:sldId id="584" r:id="rId40"/>
    <p:sldId id="526" r:id="rId41"/>
    <p:sldId id="585" r:id="rId42"/>
    <p:sldId id="557" r:id="rId43"/>
    <p:sldId id="587" r:id="rId44"/>
    <p:sldId id="588" r:id="rId45"/>
    <p:sldId id="528" r:id="rId46"/>
    <p:sldId id="589" r:id="rId47"/>
    <p:sldId id="590" r:id="rId48"/>
    <p:sldId id="612" r:id="rId49"/>
    <p:sldId id="591" r:id="rId50"/>
    <p:sldId id="592" r:id="rId51"/>
    <p:sldId id="593" r:id="rId52"/>
    <p:sldId id="531" r:id="rId53"/>
    <p:sldId id="594" r:id="rId54"/>
    <p:sldId id="535" r:id="rId55"/>
    <p:sldId id="536" r:id="rId56"/>
    <p:sldId id="537" r:id="rId57"/>
    <p:sldId id="595" r:id="rId58"/>
    <p:sldId id="538" r:id="rId59"/>
    <p:sldId id="596" r:id="rId60"/>
    <p:sldId id="539" r:id="rId61"/>
    <p:sldId id="597" r:id="rId62"/>
    <p:sldId id="598" r:id="rId63"/>
    <p:sldId id="599" r:id="rId64"/>
    <p:sldId id="540" r:id="rId65"/>
    <p:sldId id="543" r:id="rId66"/>
    <p:sldId id="600" r:id="rId67"/>
    <p:sldId id="550" r:id="rId68"/>
    <p:sldId id="603" r:id="rId69"/>
    <p:sldId id="602" r:id="rId70"/>
    <p:sldId id="601" r:id="rId71"/>
    <p:sldId id="604" r:id="rId72"/>
    <p:sldId id="605" r:id="rId73"/>
    <p:sldId id="551" r:id="rId74"/>
    <p:sldId id="607" r:id="rId75"/>
    <p:sldId id="608" r:id="rId76"/>
    <p:sldId id="552" r:id="rId77"/>
    <p:sldId id="553" r:id="rId78"/>
    <p:sldId id="609" r:id="rId79"/>
    <p:sldId id="610" r:id="rId80"/>
    <p:sldId id="611" r:id="rId81"/>
    <p:sldId id="556" r:id="rId82"/>
    <p:sldId id="606" r:id="rId8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2" autoAdjust="0"/>
    <p:restoredTop sz="90717" autoAdjust="0"/>
  </p:normalViewPr>
  <p:slideViewPr>
    <p:cSldViewPr snapToGrid="0" showGuides="1">
      <p:cViewPr varScale="1">
        <p:scale>
          <a:sx n="96" d="100"/>
          <a:sy n="96" d="100"/>
        </p:scale>
        <p:origin x="44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6BBA7-2751-4186-92D7-BAFE14A83317}" type="datetimeFigureOut">
              <a:rPr lang="zh-CN" altLang="en-US" smtClean="0"/>
              <a:t>2024/3/10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12F08-2C51-4761-8379-7BF5B777E4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该分布的期望定义为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/>
                  <a:t>，目的是估计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/>
                  <a:t>，通常不涉及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zh-CN" altLang="en-US" dirty="0"/>
                  <a:t>（线性回归不涉及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CN" altLang="en-US" dirty="0"/>
                  <a:t>）</a:t>
                </a:r>
                <a:endParaRPr 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170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154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二项分布（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binomial distribution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）实验次数等于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的特例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433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556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434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伯努利分布：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logit link vs. 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probit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link</a:t>
                </a:r>
                <a:r>
                  <a:rPr lang="zh-CN" altLang="en-US" baseline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  <m:sup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</m:d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9872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006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6682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1806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9915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2080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9203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1004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3668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弹性和边际效应本质相同，前者是变化率比变化率，后者是变量化比变化量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弹性和边际效应本质相同，前者是变化率比变化率，后者是变量化比变化量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0826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1375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486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1338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5122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4201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4242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可以是参数集的一个子集，也可以是参数集的一个元素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7561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通常情况下，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9482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175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76584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Statistical and Econometric Methods for Transportation Data Analysis</a:t>
            </a: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286-287</a:t>
            </a: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5213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Statistical and Econometric Methods for Transportation Data Analysis</a:t>
            </a: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286-287</a:t>
            </a: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581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Statistical and Econometric Methods for Transportation Data Analysis</a:t>
            </a: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286-287</a:t>
            </a: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负二项分布定义不唯一：出现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次成功，失败的次数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9621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75163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97158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07837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56693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70238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77016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29783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77218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67423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8751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57176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75542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72788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33001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39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t>‹#›</a:t>
            </a:fld>
            <a:endParaRPr lang="en-US" altLang="zh-CN" dirty="0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863" y="6150864"/>
            <a:ext cx="632774" cy="6278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8327" y="6021054"/>
            <a:ext cx="836946" cy="836946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E55C9-70B6-49A9-B285-7B6B9329A27F}" type="datetime1">
              <a:rPr lang="en-US" altLang="zh-CN" smtClean="0"/>
              <a:t>3/10/2024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5E73D-1069-4824-94AF-7FF34A7BE33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C70DC-E5E3-476E-B719-7C406A24E276}" type="datetime1">
              <a:rPr lang="en-US" altLang="zh-CN" smtClean="0"/>
              <a:t>3/10/2024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10F76-1A24-4AF4-8A91-362659113F1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8E72B-6C0E-4F25-B3EF-88ADA2D92673}" type="datetime1">
              <a:rPr lang="en-US" altLang="zh-CN" smtClean="0"/>
              <a:t>3/10/2024</a:t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8051D9-6CDB-4A19-9498-B1F31800CB7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FD39B-8021-4531-8CE2-8D21302A74ED}" type="datetime1">
              <a:rPr lang="en-US" altLang="zh-CN" smtClean="0"/>
              <a:t>3/10/2024</a:t>
            </a:fld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2B37D-33B6-4C69-9BD0-32187E70694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5701F-746E-469B-BDDA-F93B22D4DB72}" type="datetime1">
              <a:rPr lang="en-US" altLang="zh-CN" smtClean="0"/>
              <a:t>3/10/2024</a:t>
            </a:fld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09943-BA82-4F6A-BD7C-764069224CD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7B1553-8BA7-4889-BEC6-891C13E10B98}" type="datetime1">
              <a:rPr lang="en-US" altLang="zh-CN" smtClean="0"/>
              <a:t>3/10/2024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CF26E5-2ED2-4F85-94A6-41EA43600B3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62BEB2-F18B-4C21-9638-A76426A31BD0}" type="datetime1">
              <a:rPr lang="en-US" altLang="zh-CN" smtClean="0"/>
              <a:t>3/10/2024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C9128-8DD9-4172-A865-72B9B18E9A1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3C754-25BE-4F5C-AB68-D771A03BCC90}" type="datetime1">
              <a:rPr lang="en-US" altLang="zh-CN" smtClean="0"/>
              <a:t>3/10/2024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5748A-C05D-4102-BCCF-66D346F7008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33400"/>
            <a:ext cx="2057400" cy="59436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52930" cy="59436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" y="19050"/>
            <a:ext cx="929393" cy="328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3D20E-ACC7-4DDD-AC28-33869E6ABE9A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>
              <a:defRPr/>
            </a:pPr>
            <a:r>
              <a:rPr lang="en-US" altLang="zh-CN" dirty="0"/>
              <a:t>Modelling Transportation Systems · Southeast University · </a:t>
            </a:r>
            <a:r>
              <a:rPr lang="en-US" altLang="zh-CN" dirty="0" err="1"/>
              <a:t>Zhiyuan</a:t>
            </a:r>
            <a:r>
              <a:rPr lang="en-US" altLang="zh-CN" dirty="0"/>
              <a:t>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0738" y="19050"/>
            <a:ext cx="416560" cy="328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8EEBC-8FFF-48D5-BA20-8C9570EB2408}" type="slidenum">
              <a:rPr lang="zh-CN" altLang="en-US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/>
        </p:nvSpPr>
        <p:spPr bwMode="auto">
          <a:xfrm>
            <a:off x="0" y="220663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027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>
                <a:sym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>
                <a:sym typeface="Arial" panose="020B0604020202020204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Arial" panose="020B0604020202020204" pitchFamily="34" charset="0"/>
              </a:rPr>
              <a:t>Second level</a:t>
            </a:r>
          </a:p>
          <a:p>
            <a:pPr lvl="2"/>
            <a:r>
              <a:rPr lang="en-US" altLang="zh-CN">
                <a:sym typeface="Arial" panose="020B0604020202020204" pitchFamily="34" charset="0"/>
              </a:rPr>
              <a:t>Third level</a:t>
            </a:r>
          </a:p>
          <a:p>
            <a:pPr lvl="3"/>
            <a:r>
              <a:rPr lang="en-US" altLang="zh-CN">
                <a:sym typeface="Arial" panose="020B0604020202020204" pitchFamily="34" charset="0"/>
              </a:rPr>
              <a:t>Fourth level</a:t>
            </a:r>
          </a:p>
          <a:p>
            <a:pPr lvl="4"/>
            <a:r>
              <a:rPr lang="en-US" altLang="zh-CN">
                <a:sym typeface="Arial" panose="020B0604020202020204" pitchFamily="34" charset="0"/>
              </a:rPr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0" y="0"/>
            <a:ext cx="9144000" cy="365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13716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18288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22860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27432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182880" indent="-1828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457200" lvl="1" indent="-1828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732155" lvl="2" indent="-1828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006475" lvl="3" indent="-1828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189355" lvl="4" indent="-1365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0.png"/><Relationship Id="rId5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79.png"/><Relationship Id="rId4" Type="http://schemas.openxmlformats.org/officeDocument/2006/relationships/image" Target="../media/image7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3.png"/><Relationship Id="rId4" Type="http://schemas.openxmlformats.org/officeDocument/2006/relationships/image" Target="../media/image10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</a:t>
            </a:fld>
            <a:endParaRPr lang="en-US" altLang="zh-CN" dirty="0"/>
          </a:p>
        </p:txBody>
      </p:sp>
      <p:sp>
        <p:nvSpPr>
          <p:cNvPr id="18" name="Straight Connector 7"/>
          <p:cNvSpPr>
            <a:spLocks noChangeShapeType="1"/>
          </p:cNvSpPr>
          <p:nvPr/>
        </p:nvSpPr>
        <p:spPr bwMode="auto">
          <a:xfrm>
            <a:off x="685800" y="1827213"/>
            <a:ext cx="7848600" cy="15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TextBox 8"/>
          <p:cNvSpPr>
            <a:spLocks noChangeArrowheads="1"/>
          </p:cNvSpPr>
          <p:nvPr/>
        </p:nvSpPr>
        <p:spPr bwMode="auto">
          <a:xfrm>
            <a:off x="838200" y="99060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(Headings)" charset="0"/>
                <a:ea typeface="宋体" panose="02010600030101010101" pitchFamily="2" charset="-122"/>
                <a:sym typeface="Arial (Headings)" charset="0"/>
              </a:rPr>
              <a:t> </a:t>
            </a:r>
          </a:p>
        </p:txBody>
      </p:sp>
      <p:sp>
        <p:nvSpPr>
          <p:cNvPr id="21" name="TextBox 3"/>
          <p:cNvSpPr>
            <a:spLocks noChangeArrowheads="1"/>
          </p:cNvSpPr>
          <p:nvPr/>
        </p:nvSpPr>
        <p:spPr bwMode="auto">
          <a:xfrm>
            <a:off x="279400" y="990600"/>
            <a:ext cx="863092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交通大数据</a:t>
            </a:r>
          </a:p>
        </p:txBody>
      </p:sp>
      <p:sp>
        <p:nvSpPr>
          <p:cNvPr id="22" name="文本框 1"/>
          <p:cNvSpPr txBox="1">
            <a:spLocks noChangeArrowheads="1"/>
          </p:cNvSpPr>
          <p:nvPr/>
        </p:nvSpPr>
        <p:spPr bwMode="auto">
          <a:xfrm>
            <a:off x="1722044" y="2851834"/>
            <a:ext cx="56999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计数回归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BF49DBA-48B4-4B59-8EDA-83EBDE4F8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8060" y="4138034"/>
            <a:ext cx="4627880" cy="1016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marL="0" indent="0" algn="ctr" defTabSz="914400" eaLnBrk="1" hangingPunct="1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顾子渊，副研究员、博导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0" indent="0" algn="ctr" defTabSz="914400" eaLnBrk="1" hangingPunct="1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复杂交通网络研究中心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0" indent="0" algn="ctr" defTabSz="914400" eaLnBrk="1" hangingPunct="1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ziyuangu@seu.edu.cn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计数回归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计数数据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泊松回归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负二项回归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零膨胀泊松回归、负二项回归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计数回归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计数数据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泊松回归</a:t>
            </a:r>
            <a:endParaRPr lang="en-US" altLang="zh-CN" sz="2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负二项回归</a:t>
            </a:r>
            <a:endParaRPr lang="en-US" altLang="zh-CN" sz="2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零膨胀泊松回归、负二项回归</a:t>
            </a:r>
            <a:endParaRPr lang="en-US" altLang="zh-CN" sz="2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23099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计数数据（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count data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什么是计数数据？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不能连续取值，只能是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0,1,2,3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非负整数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不合格数：二项分布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事故数：泊松分布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计数数据（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count data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什么是计数数据？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不能连续取值，只能是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0,1,2,3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非负整数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不合格数：二项分布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事故数：泊松分布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二分类或多分类变量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计数数据？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属于离散数据，不属于计数数据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分类：名义变量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计数：物理意义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12092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计数回归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计数数据</a:t>
            </a:r>
            <a:endParaRPr lang="en-US" altLang="zh-CN" sz="2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泊松回归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负二项回归</a:t>
            </a:r>
            <a:endParaRPr lang="en-US" altLang="zh-CN" sz="2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零膨胀泊松回归、负二项回归</a:t>
            </a:r>
            <a:endParaRPr lang="en-US" altLang="zh-CN" sz="2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94311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广义线性模型（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generalized linear model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线性回归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仅考虑因变量服从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正态分布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7</a:t>
            </a:fld>
            <a:endParaRPr lang="en-US" altLang="zh-CN" dirty="0"/>
          </a:p>
        </p:txBody>
      </p:sp>
      <p:pic>
        <p:nvPicPr>
          <p:cNvPr id="9" name="Picture 1"/>
          <p:cNvPicPr>
            <a:picLocks noChangeAspect="1"/>
          </p:cNvPicPr>
          <p:nvPr/>
        </p:nvPicPr>
        <p:blipFill rotWithShape="1">
          <a:blip r:embed="rId2"/>
          <a:srcRect l="8742" t="3127" r="1816" b="10312"/>
          <a:stretch/>
        </p:blipFill>
        <p:spPr>
          <a:xfrm>
            <a:off x="689837" y="3804600"/>
            <a:ext cx="3882163" cy="252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6256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广义线性模型（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generalized linear model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线性回归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仅考虑因变量服从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正态分布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GLM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考虑因变量服从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指数族（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exponential family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）分布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包括正态分布、泊松分布、二项分布等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8</a:t>
            </a:fld>
            <a:endParaRPr lang="en-US" altLang="zh-CN" dirty="0"/>
          </a:p>
        </p:txBody>
      </p:sp>
      <p:pic>
        <p:nvPicPr>
          <p:cNvPr id="9" name="Picture 1"/>
          <p:cNvPicPr>
            <a:picLocks noChangeAspect="1"/>
          </p:cNvPicPr>
          <p:nvPr/>
        </p:nvPicPr>
        <p:blipFill rotWithShape="1">
          <a:blip r:embed="rId2"/>
          <a:srcRect l="8742" t="3127" r="1816" b="10312"/>
          <a:stretch/>
        </p:blipFill>
        <p:spPr>
          <a:xfrm>
            <a:off x="689837" y="3804600"/>
            <a:ext cx="3882163" cy="2520000"/>
          </a:xfrm>
          <a:prstGeom prst="rect">
            <a:avLst/>
          </a:prstGeom>
          <a:ln>
            <a:noFill/>
          </a:ln>
        </p:spPr>
      </p:pic>
      <p:pic>
        <p:nvPicPr>
          <p:cNvPr id="10" name="Picture 2"/>
          <p:cNvPicPr>
            <a:picLocks noChangeAspect="1"/>
          </p:cNvPicPr>
          <p:nvPr/>
        </p:nvPicPr>
        <p:blipFill rotWithShape="1">
          <a:blip r:embed="rId3"/>
          <a:srcRect l="6755" t="3127" r="2630" b="7667"/>
          <a:stretch/>
        </p:blipFill>
        <p:spPr>
          <a:xfrm>
            <a:off x="4592833" y="3804600"/>
            <a:ext cx="3861330" cy="252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给定观测数据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GLM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定义如下三个组成部分：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549275" lvl="2" indent="0">
                  <a:lnSpc>
                    <a:spcPct val="150000"/>
                  </a:lnSpc>
                  <a:buClrTx/>
                  <a:buNone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① 随机部分（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random component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𝑌</m:t>
                    </m:r>
                    <m:d>
                      <m:dPr>
                        <m:begChr m:val="|"/>
                        <m:endChr m:val=""/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</m:d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的分布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线性回归假设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𝑌</m:t>
                    </m:r>
                    <m:d>
                      <m:dPr>
                        <m:begChr m:val="|"/>
                        <m:endChr m:val=""/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~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GLM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假设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4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：自然参数（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natural parameter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），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：离散参数（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dispersion parameter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4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是函数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4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任何概率密度满足以上形式，属于指数族分布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4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正态分布：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EFF3F08-A46F-AC55-7E20-A3628BDCEF9A}"/>
                  </a:ext>
                </a:extLst>
              </p:cNvPr>
              <p:cNvSpPr txBox="1"/>
              <p:nvPr/>
            </p:nvSpPr>
            <p:spPr>
              <a:xfrm>
                <a:off x="2146433" y="3969379"/>
                <a:ext cx="4851133" cy="79547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EFF3F08-A46F-AC55-7E20-A3628BDCE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433" y="3969379"/>
                <a:ext cx="4851133" cy="7954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给定观测数据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GLM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定义如下三个组成部分：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549275" lvl="2" indent="0">
                  <a:lnSpc>
                    <a:spcPct val="150000"/>
                  </a:lnSpc>
                  <a:buClrTx/>
                  <a:buNone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② 系统部分（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systematic component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）：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参数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与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的数学关系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10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EFF3F08-A46F-AC55-7E20-A3628BDCEF9A}"/>
                  </a:ext>
                </a:extLst>
              </p:cNvPr>
              <p:cNvSpPr txBox="1"/>
              <p:nvPr/>
            </p:nvSpPr>
            <p:spPr>
              <a:xfrm>
                <a:off x="2249224" y="3429000"/>
                <a:ext cx="4851133" cy="3132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𝜂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zh-CN" alt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𝜷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EFF3F08-A46F-AC55-7E20-A3628BDCE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224" y="3429000"/>
                <a:ext cx="4851133" cy="313291"/>
              </a:xfrm>
              <a:prstGeom prst="rect">
                <a:avLst/>
              </a:prstGeom>
              <a:blipFill>
                <a:blip r:embed="rId4"/>
                <a:stretch>
                  <a:fillRect b="-26786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8849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给定观测数据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GLM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定义如下三个组成部分：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549275" lvl="2" indent="0">
                  <a:lnSpc>
                    <a:spcPct val="150000"/>
                  </a:lnSpc>
                  <a:buClrTx/>
                  <a:buNone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② 系统部分（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systematic component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）：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参数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与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的数学关系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549275" lvl="2" indent="0">
                  <a:lnSpc>
                    <a:spcPct val="150000"/>
                  </a:lnSpc>
                  <a:buClrTx/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549275" lvl="2" indent="0">
                  <a:lnSpc>
                    <a:spcPct val="150000"/>
                  </a:lnSpc>
                  <a:buClrTx/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549275" lvl="2" indent="0">
                  <a:lnSpc>
                    <a:spcPct val="150000"/>
                  </a:lnSpc>
                  <a:buClrTx/>
                  <a:buNone/>
                </a:pPr>
                <a:r>
                  <a:rPr lang="zh-CN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③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连接函数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link function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）：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把随机部分和系统部分联系起来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549275" lvl="2" indent="0">
                  <a:lnSpc>
                    <a:spcPct val="150000"/>
                  </a:lnSpc>
                  <a:buClrTx/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549275" lvl="2" indent="0">
                  <a:lnSpc>
                    <a:spcPct val="150000"/>
                  </a:lnSpc>
                  <a:buClrTx/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𝑌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</m:d>
                      </m:e>
                    </m:d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线性回归：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549275" lvl="2" indent="0">
                  <a:lnSpc>
                    <a:spcPct val="150000"/>
                  </a:lnSpc>
                  <a:buClrTx/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EFF3F08-A46F-AC55-7E20-A3628BDCEF9A}"/>
                  </a:ext>
                </a:extLst>
              </p:cNvPr>
              <p:cNvSpPr txBox="1"/>
              <p:nvPr/>
            </p:nvSpPr>
            <p:spPr>
              <a:xfrm>
                <a:off x="2249224" y="3429000"/>
                <a:ext cx="4851133" cy="3132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𝜂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zh-CN" alt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𝜷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EFF3F08-A46F-AC55-7E20-A3628BDCE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224" y="3429000"/>
                <a:ext cx="4851133" cy="313291"/>
              </a:xfrm>
              <a:prstGeom prst="rect">
                <a:avLst/>
              </a:prstGeom>
              <a:blipFill>
                <a:blip r:embed="rId4"/>
                <a:stretch>
                  <a:fillRect b="-26786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0429858-158D-7E90-1222-112AB8E8868E}"/>
                  </a:ext>
                </a:extLst>
              </p:cNvPr>
              <p:cNvSpPr txBox="1"/>
              <p:nvPr/>
            </p:nvSpPr>
            <p:spPr>
              <a:xfrm>
                <a:off x="2249224" y="4794773"/>
                <a:ext cx="4851133" cy="4001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3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𝜂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0429858-158D-7E90-1222-112AB8E88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224" y="4794773"/>
                <a:ext cx="4851133" cy="400110"/>
              </a:xfrm>
              <a:prstGeom prst="rect">
                <a:avLst/>
              </a:prstGeom>
              <a:blipFill>
                <a:blip r:embed="rId5"/>
                <a:stretch>
                  <a:fillRect b="-4286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5139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四个参数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，梳理一下！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估计对象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，即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𝑌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</m:d>
                      </m:e>
                    </m:d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2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12</a:t>
            </a:fld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四个参数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，梳理一下！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估计对象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，即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𝑌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</m:d>
                      </m:e>
                    </m:d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概率密度函数的自然参数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，影响分布的位置，所以 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依赖于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2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1708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四个参数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，梳理一下！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估计对象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，即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𝑌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</m:d>
                      </m:e>
                    </m:d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概率密度函数的自然参数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，影响分布的位置，所以 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依赖于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概率密度函数的离散参数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，估计 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不需要知道 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2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64162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四个参数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，梳理一下！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估计对象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，即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𝑌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</m:d>
                      </m:e>
                    </m:d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概率密度函数的自然参数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，影响分布的位置，所以 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依赖于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概率密度函数的离散参数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，估计 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不需要知道 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观测自变量的线性组合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linear combination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2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29922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正态分布（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normal distribution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320" lvl="1" indent="0">
                  <a:lnSpc>
                    <a:spcPct val="150000"/>
                  </a:lnSpc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2"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b="0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𝑏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CN" altLang="en-US" b="0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𝑎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CN" altLang="en-US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zh-CN" altLang="en-US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</m:func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ad>
                          <m:radPr>
                            <m:degHide m:val="on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zh-CN" altLang="en-US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</m:rad>
                      </m:e>
                    </m:func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 b="-2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B122735-27B2-C40F-8724-8957B0A808D4}"/>
                  </a:ext>
                </a:extLst>
              </p:cNvPr>
              <p:cNvSpPr txBox="1"/>
              <p:nvPr/>
            </p:nvSpPr>
            <p:spPr>
              <a:xfrm>
                <a:off x="1798220" y="2824200"/>
                <a:ext cx="5547559" cy="69769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B122735-27B2-C40F-8724-8957B0A8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220" y="2824200"/>
                <a:ext cx="5547559" cy="6976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86FE232-6303-9FFF-8DC2-7294B579F76E}"/>
                  </a:ext>
                </a:extLst>
              </p:cNvPr>
              <p:cNvSpPr txBox="1"/>
              <p:nvPr/>
            </p:nvSpPr>
            <p:spPr>
              <a:xfrm>
                <a:off x="1798220" y="4038600"/>
                <a:ext cx="5547559" cy="8391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0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num>
                            <m:den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altLang="en-US" sz="20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func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0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86FE232-6303-9FFF-8DC2-7294B579F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220" y="4038600"/>
                <a:ext cx="5547559" cy="8391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4425307-5790-C641-046B-8FA51BB8F2E7}"/>
                  </a:ext>
                </a:extLst>
              </p:cNvPr>
              <p:cNvSpPr txBox="1"/>
              <p:nvPr/>
            </p:nvSpPr>
            <p:spPr>
              <a:xfrm>
                <a:off x="4098992" y="630963"/>
                <a:ext cx="4851133" cy="79547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4425307-5790-C641-046B-8FA51BB8F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992" y="630963"/>
                <a:ext cx="4851133" cy="7954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DCF3F7D-D4F4-221B-ED2F-F94D8E2BED93}"/>
              </a:ext>
            </a:extLst>
          </p:cNvPr>
          <p:cNvCxnSpPr>
            <a:stCxn id="2" idx="2"/>
          </p:cNvCxnSpPr>
          <p:nvPr/>
        </p:nvCxnSpPr>
        <p:spPr>
          <a:xfrm flipH="1">
            <a:off x="4571999" y="3521892"/>
            <a:ext cx="1" cy="51670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B23ED463-480E-A720-C3A3-47F7E77C0F56}"/>
              </a:ext>
            </a:extLst>
          </p:cNvPr>
          <p:cNvCxnSpPr/>
          <p:nvPr/>
        </p:nvCxnSpPr>
        <p:spPr>
          <a:xfrm rot="5400000" flipH="1" flipV="1">
            <a:off x="6324762" y="2447455"/>
            <a:ext cx="3031733" cy="989699"/>
          </a:xfrm>
          <a:prstGeom prst="bentConnector3">
            <a:avLst>
              <a:gd name="adj1" fmla="val -2"/>
            </a:avLst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伯努利分布（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Bernoulli distribution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320" lvl="1" indent="0">
                  <a:lnSpc>
                    <a:spcPct val="150000"/>
                  </a:lnSpc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，或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i="1" dirty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𝑏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</m:d>
                      </m:e>
                    </m:func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𝑎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 b="-1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B122735-27B2-C40F-8724-8957B0A808D4}"/>
                  </a:ext>
                </a:extLst>
              </p:cNvPr>
              <p:cNvSpPr txBox="1"/>
              <p:nvPr/>
            </p:nvSpPr>
            <p:spPr>
              <a:xfrm>
                <a:off x="1798220" y="2824200"/>
                <a:ext cx="5547559" cy="30777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B122735-27B2-C40F-8724-8957B0A8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220" y="2824200"/>
                <a:ext cx="5547559" cy="307777"/>
              </a:xfrm>
              <a:prstGeom prst="rect">
                <a:avLst/>
              </a:prstGeom>
              <a:blipFill>
                <a:blip r:embed="rId4"/>
                <a:stretch>
                  <a:fillRect b="-339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86FE232-6303-9FFF-8DC2-7294B579F76E}"/>
                  </a:ext>
                </a:extLst>
              </p:cNvPr>
              <p:cNvSpPr txBox="1"/>
              <p:nvPr/>
            </p:nvSpPr>
            <p:spPr>
              <a:xfrm>
                <a:off x="1798220" y="4038600"/>
                <a:ext cx="5547559" cy="69153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86FE232-6303-9FFF-8DC2-7294B579F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220" y="4038600"/>
                <a:ext cx="5547559" cy="6915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4425307-5790-C641-046B-8FA51BB8F2E7}"/>
                  </a:ext>
                </a:extLst>
              </p:cNvPr>
              <p:cNvSpPr txBox="1"/>
              <p:nvPr/>
            </p:nvSpPr>
            <p:spPr>
              <a:xfrm>
                <a:off x="4098992" y="630963"/>
                <a:ext cx="4851133" cy="79547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4425307-5790-C641-046B-8FA51BB8F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992" y="630963"/>
                <a:ext cx="4851133" cy="7954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DCF3F7D-D4F4-221B-ED2F-F94D8E2BED93}"/>
              </a:ext>
            </a:extLst>
          </p:cNvPr>
          <p:cNvCxnSpPr>
            <a:stCxn id="2" idx="2"/>
          </p:cNvCxnSpPr>
          <p:nvPr/>
        </p:nvCxnSpPr>
        <p:spPr>
          <a:xfrm flipH="1">
            <a:off x="4571999" y="3131977"/>
            <a:ext cx="1" cy="90662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B23ED463-480E-A720-C3A3-47F7E77C0F56}"/>
              </a:ext>
            </a:extLst>
          </p:cNvPr>
          <p:cNvCxnSpPr/>
          <p:nvPr/>
        </p:nvCxnSpPr>
        <p:spPr>
          <a:xfrm rot="5400000" flipH="1" flipV="1">
            <a:off x="6324762" y="2447455"/>
            <a:ext cx="3031733" cy="989699"/>
          </a:xfrm>
          <a:prstGeom prst="bentConnector3">
            <a:avLst>
              <a:gd name="adj1" fmla="val -2"/>
            </a:avLst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639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泊松分布（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Poisson distribution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320" lvl="1" indent="0">
                  <a:lnSpc>
                    <a:spcPct val="150000"/>
                  </a:lnSpc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</m:func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，或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𝜃</m:t>
                        </m:r>
                      </m:sup>
                    </m:sSup>
                  </m:oMath>
                </a14:m>
                <a:endParaRPr lang="en-US" altLang="zh-CN" i="1" dirty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𝑏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𝜃</m:t>
                        </m:r>
                      </m:sup>
                    </m:sSup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𝑎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!</m:t>
                        </m:r>
                      </m:e>
                    </m:func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B122735-27B2-C40F-8724-8957B0A808D4}"/>
                  </a:ext>
                </a:extLst>
              </p:cNvPr>
              <p:cNvSpPr txBox="1"/>
              <p:nvPr/>
            </p:nvSpPr>
            <p:spPr>
              <a:xfrm>
                <a:off x="1798220" y="2824200"/>
                <a:ext cx="5547559" cy="64992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B122735-27B2-C40F-8724-8957B0A8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220" y="2824200"/>
                <a:ext cx="5547559" cy="6499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86FE232-6303-9FFF-8DC2-7294B579F76E}"/>
                  </a:ext>
                </a:extLst>
              </p:cNvPr>
              <p:cNvSpPr txBox="1"/>
              <p:nvPr/>
            </p:nvSpPr>
            <p:spPr>
              <a:xfrm>
                <a:off x="1798219" y="4278744"/>
                <a:ext cx="5547559" cy="30777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func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86FE232-6303-9FFF-8DC2-7294B579F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219" y="4278744"/>
                <a:ext cx="5547559" cy="307777"/>
              </a:xfrm>
              <a:prstGeom prst="rect">
                <a:avLst/>
              </a:prstGeom>
              <a:blipFill>
                <a:blip r:embed="rId5"/>
                <a:stretch>
                  <a:fillRect b="-3461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4425307-5790-C641-046B-8FA51BB8F2E7}"/>
                  </a:ext>
                </a:extLst>
              </p:cNvPr>
              <p:cNvSpPr txBox="1"/>
              <p:nvPr/>
            </p:nvSpPr>
            <p:spPr>
              <a:xfrm>
                <a:off x="4098992" y="630963"/>
                <a:ext cx="4851133" cy="79547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4425307-5790-C641-046B-8FA51BB8F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992" y="630963"/>
                <a:ext cx="4851133" cy="7954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DCF3F7D-D4F4-221B-ED2F-F94D8E2BED93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flipH="1">
            <a:off x="4571999" y="3474122"/>
            <a:ext cx="1" cy="80462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B23ED463-480E-A720-C3A3-47F7E77C0F56}"/>
              </a:ext>
            </a:extLst>
          </p:cNvPr>
          <p:cNvCxnSpPr/>
          <p:nvPr/>
        </p:nvCxnSpPr>
        <p:spPr>
          <a:xfrm rot="5400000" flipH="1" flipV="1">
            <a:off x="6324762" y="2447455"/>
            <a:ext cx="3031733" cy="989699"/>
          </a:xfrm>
          <a:prstGeom prst="bentConnector3">
            <a:avLst>
              <a:gd name="adj1" fmla="val -2"/>
            </a:avLst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725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连接函数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如何选择？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正态分布：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  <m:r>
                      <a:rPr lang="zh-CN" alt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endParaRPr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泊松分布？指数族分布？什么是“正确的”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？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19</a:t>
            </a:fld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连接函数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如何选择？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正态分布：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  <m:r>
                      <a:rPr lang="zh-CN" alt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endParaRPr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泊松分布？指数族分布？什么是“正确的”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？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标准连接函数（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canonical link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设定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18968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连接函数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如何选择？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正态分布：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  <m:r>
                      <a:rPr lang="zh-CN" alt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endParaRPr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泊松分布？指数族分布？什么是“正确的”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？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标准连接函数（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canonical link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设定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因此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23595" lvl="3" indent="0">
                  <a:lnSpc>
                    <a:spcPct val="150000"/>
                  </a:lnSpc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23595" lvl="3" indent="0">
                  <a:lnSpc>
                    <a:spcPct val="150000"/>
                  </a:lnSpc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23595" lvl="3" indent="0">
                  <a:lnSpc>
                    <a:spcPct val="150000"/>
                  </a:lnSpc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标准连接函数并非唯一“正确的”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！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E3B09BC-5F40-831E-373D-293455885482}"/>
                  </a:ext>
                </a:extLst>
              </p:cNvPr>
              <p:cNvSpPr txBox="1"/>
              <p:nvPr/>
            </p:nvSpPr>
            <p:spPr>
              <a:xfrm>
                <a:off x="1662112" y="5181600"/>
                <a:ext cx="5819775" cy="888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3" indent="0" algn="ctr"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伯努利分布：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3" indent="0" algn="ctr"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泊松分布：</a:t>
                </a:r>
                <a:r>
                  <a:rPr lang="en-US" altLang="zh-CN" sz="2000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</m:func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E3B09BC-5F40-831E-373D-293455885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112" y="5181600"/>
                <a:ext cx="5819775" cy="888000"/>
              </a:xfrm>
              <a:prstGeom prst="rect">
                <a:avLst/>
              </a:prstGeom>
              <a:blipFill>
                <a:blip r:embed="rId4"/>
                <a:stretch>
                  <a:fillRect b="-8609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64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广义线性模型（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generalized linear model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buClrTx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如何估计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GLM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22</a:t>
            </a:fld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ClrTx/>
                  <a:buNone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如何估计 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GLM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：最大似然估计！</a:t>
                </a:r>
                <a:endParaRPr lang="en-US" altLang="zh-CN" b="1" i="1" dirty="0">
                  <a:solidFill>
                    <a:srgbClr val="C00000"/>
                  </a:solidFill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0" dirty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假设独立样本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=1,2,…,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b="0" dirty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，每个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|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b="0" dirty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0" dirty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均服从指数族分布</a:t>
                </a:r>
                <a:endParaRPr lang="en-US" altLang="zh-CN" b="0" dirty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b="0" dirty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b="0" i="1" dirty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b="0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随样本变化，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不变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线性回归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|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b="0" dirty="0">
                  <a:latin typeface="微软雅黑" panose="020B0503020204020204" pitchFamily="34" charset="-122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因为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bSup>
                    <m:r>
                      <a:rPr lang="zh-CN" alt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，所以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sup>
                        </m:sSubSup>
                        <m:acc>
                          <m:accPr>
                            <m:chr m:val="̂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𝜷</m:t>
                            </m:r>
                          </m:e>
                        </m:acc>
                      </m:e>
                    </m:d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23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B52D7B6-FE34-1EB5-C856-FFCAE2303F82}"/>
                  </a:ext>
                </a:extLst>
              </p:cNvPr>
              <p:cNvSpPr txBox="1"/>
              <p:nvPr/>
            </p:nvSpPr>
            <p:spPr>
              <a:xfrm>
                <a:off x="857249" y="3352800"/>
                <a:ext cx="7429501" cy="79547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B52D7B6-FE34-1EB5-C856-FFCAE2303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49" y="3352800"/>
                <a:ext cx="7429501" cy="7954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5181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广义线性模型（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generalized linear model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构建似然函数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24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42ACA1-EA83-8B14-507F-02F79AA1D095}"/>
                  </a:ext>
                </a:extLst>
              </p:cNvPr>
              <p:cNvSpPr txBox="1"/>
              <p:nvPr/>
            </p:nvSpPr>
            <p:spPr>
              <a:xfrm>
                <a:off x="2055871" y="2700473"/>
                <a:ext cx="5032258" cy="8402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42ACA1-EA83-8B14-507F-02F79AA1D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871" y="2700473"/>
                <a:ext cx="5032258" cy="8402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925FE85-1481-C685-0A70-E177B7F43CB3}"/>
                  </a:ext>
                </a:extLst>
              </p:cNvPr>
              <p:cNvSpPr txBox="1"/>
              <p:nvPr/>
            </p:nvSpPr>
            <p:spPr>
              <a:xfrm>
                <a:off x="4098992" y="630963"/>
                <a:ext cx="4851133" cy="79547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925FE85-1481-C685-0A70-E177B7F43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992" y="630963"/>
                <a:ext cx="4851133" cy="7954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广义线性模型（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generalized linear model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构建似然函数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转化为对数似然函数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25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42ACA1-EA83-8B14-507F-02F79AA1D095}"/>
                  </a:ext>
                </a:extLst>
              </p:cNvPr>
              <p:cNvSpPr txBox="1"/>
              <p:nvPr/>
            </p:nvSpPr>
            <p:spPr>
              <a:xfrm>
                <a:off x="2055871" y="2700473"/>
                <a:ext cx="5032258" cy="8402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42ACA1-EA83-8B14-507F-02F79AA1D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871" y="2700473"/>
                <a:ext cx="5032258" cy="8402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836D6ED-D3FA-57FF-BC52-E5A5AE3010A3}"/>
                  </a:ext>
                </a:extLst>
              </p:cNvPr>
              <p:cNvSpPr txBox="1"/>
              <p:nvPr/>
            </p:nvSpPr>
            <p:spPr>
              <a:xfrm>
                <a:off x="2055871" y="4263227"/>
                <a:ext cx="5032258" cy="8402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𝐿𝐿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836D6ED-D3FA-57FF-BC52-E5A5AE301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871" y="4263227"/>
                <a:ext cx="5032258" cy="8402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925FE85-1481-C685-0A70-E177B7F43CB3}"/>
                  </a:ext>
                </a:extLst>
              </p:cNvPr>
              <p:cNvSpPr txBox="1"/>
              <p:nvPr/>
            </p:nvSpPr>
            <p:spPr>
              <a:xfrm>
                <a:off x="4098992" y="630963"/>
                <a:ext cx="4851133" cy="79547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925FE85-1481-C685-0A70-E177B7F43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992" y="630963"/>
                <a:ext cx="4851133" cy="7954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AA9FDC35-4537-54CF-2F1B-1C9DAABECF57}"/>
              </a:ext>
            </a:extLst>
          </p:cNvPr>
          <p:cNvCxnSpPr>
            <a:endCxn id="3" idx="3"/>
          </p:cNvCxnSpPr>
          <p:nvPr/>
        </p:nvCxnSpPr>
        <p:spPr>
          <a:xfrm rot="5400000">
            <a:off x="6039921" y="2474646"/>
            <a:ext cx="3256938" cy="1160521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23B912C-F8BE-D7B8-5AA1-331B312ECDA7}"/>
              </a:ext>
            </a:extLst>
          </p:cNvPr>
          <p:cNvCxnSpPr>
            <a:stCxn id="2" idx="2"/>
          </p:cNvCxnSpPr>
          <p:nvPr/>
        </p:nvCxnSpPr>
        <p:spPr>
          <a:xfrm>
            <a:off x="4572000" y="3540768"/>
            <a:ext cx="0" cy="72245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310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构建似然函数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转化为对数似然函数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最大化对数似然函数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和 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有关吗？</a:t>
                </a: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42ACA1-EA83-8B14-507F-02F79AA1D095}"/>
                  </a:ext>
                </a:extLst>
              </p:cNvPr>
              <p:cNvSpPr txBox="1"/>
              <p:nvPr/>
            </p:nvSpPr>
            <p:spPr>
              <a:xfrm>
                <a:off x="2055871" y="2700473"/>
                <a:ext cx="5032258" cy="8402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42ACA1-EA83-8B14-507F-02F79AA1D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871" y="2700473"/>
                <a:ext cx="5032258" cy="8402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836D6ED-D3FA-57FF-BC52-E5A5AE3010A3}"/>
                  </a:ext>
                </a:extLst>
              </p:cNvPr>
              <p:cNvSpPr txBox="1"/>
              <p:nvPr/>
            </p:nvSpPr>
            <p:spPr>
              <a:xfrm>
                <a:off x="2055871" y="4263227"/>
                <a:ext cx="5032258" cy="8402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𝐿𝐿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836D6ED-D3FA-57FF-BC52-E5A5AE301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871" y="4263227"/>
                <a:ext cx="5032258" cy="8402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925FE85-1481-C685-0A70-E177B7F43CB3}"/>
                  </a:ext>
                </a:extLst>
              </p:cNvPr>
              <p:cNvSpPr txBox="1"/>
              <p:nvPr/>
            </p:nvSpPr>
            <p:spPr>
              <a:xfrm>
                <a:off x="4098992" y="630963"/>
                <a:ext cx="4851133" cy="79547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925FE85-1481-C685-0A70-E177B7F43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992" y="630963"/>
                <a:ext cx="4851133" cy="7954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AA9FDC35-4537-54CF-2F1B-1C9DAABECF57}"/>
              </a:ext>
            </a:extLst>
          </p:cNvPr>
          <p:cNvCxnSpPr>
            <a:endCxn id="3" idx="3"/>
          </p:cNvCxnSpPr>
          <p:nvPr/>
        </p:nvCxnSpPr>
        <p:spPr>
          <a:xfrm rot="5400000">
            <a:off x="6039921" y="2474646"/>
            <a:ext cx="3256938" cy="1160521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23B912C-F8BE-D7B8-5AA1-331B312ECDA7}"/>
              </a:ext>
            </a:extLst>
          </p:cNvPr>
          <p:cNvCxnSpPr>
            <a:stCxn id="2" idx="2"/>
          </p:cNvCxnSpPr>
          <p:nvPr/>
        </p:nvCxnSpPr>
        <p:spPr>
          <a:xfrm>
            <a:off x="4572000" y="3540768"/>
            <a:ext cx="0" cy="72245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341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构建似然函数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转化为对数似然函数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最大化对数似然函数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和 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有关：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标准连接函数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  <m:r>
                      <a:rPr lang="zh-CN" alt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endParaRPr lang="en-US" altLang="zh-CN" i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42ACA1-EA83-8B14-507F-02F79AA1D095}"/>
                  </a:ext>
                </a:extLst>
              </p:cNvPr>
              <p:cNvSpPr txBox="1"/>
              <p:nvPr/>
            </p:nvSpPr>
            <p:spPr>
              <a:xfrm>
                <a:off x="2055871" y="2700473"/>
                <a:ext cx="5032258" cy="8402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42ACA1-EA83-8B14-507F-02F79AA1D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871" y="2700473"/>
                <a:ext cx="5032258" cy="8402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836D6ED-D3FA-57FF-BC52-E5A5AE3010A3}"/>
                  </a:ext>
                </a:extLst>
              </p:cNvPr>
              <p:cNvSpPr txBox="1"/>
              <p:nvPr/>
            </p:nvSpPr>
            <p:spPr>
              <a:xfrm>
                <a:off x="2055871" y="4263227"/>
                <a:ext cx="5032258" cy="8402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𝐿𝐿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836D6ED-D3FA-57FF-BC52-E5A5AE301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871" y="4263227"/>
                <a:ext cx="5032258" cy="8402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925FE85-1481-C685-0A70-E177B7F43CB3}"/>
                  </a:ext>
                </a:extLst>
              </p:cNvPr>
              <p:cNvSpPr txBox="1"/>
              <p:nvPr/>
            </p:nvSpPr>
            <p:spPr>
              <a:xfrm>
                <a:off x="4098992" y="630963"/>
                <a:ext cx="4851133" cy="79547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925FE85-1481-C685-0A70-E177B7F43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992" y="630963"/>
                <a:ext cx="4851133" cy="7954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AA9FDC35-4537-54CF-2F1B-1C9DAABECF57}"/>
              </a:ext>
            </a:extLst>
          </p:cNvPr>
          <p:cNvCxnSpPr>
            <a:endCxn id="3" idx="3"/>
          </p:cNvCxnSpPr>
          <p:nvPr/>
        </p:nvCxnSpPr>
        <p:spPr>
          <a:xfrm rot="5400000">
            <a:off x="6039921" y="2474646"/>
            <a:ext cx="3256938" cy="1160521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23B912C-F8BE-D7B8-5AA1-331B312ECDA7}"/>
              </a:ext>
            </a:extLst>
          </p:cNvPr>
          <p:cNvCxnSpPr>
            <a:stCxn id="2" idx="2"/>
          </p:cNvCxnSpPr>
          <p:nvPr/>
        </p:nvCxnSpPr>
        <p:spPr>
          <a:xfrm>
            <a:off x="4572000" y="3540768"/>
            <a:ext cx="0" cy="72245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960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广义线性模型（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generalized linear model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最大化对数似然函数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16B8E95-A46D-08F9-B069-9D09BC30827E}"/>
                  </a:ext>
                </a:extLst>
              </p:cNvPr>
              <p:cNvSpPr txBox="1"/>
              <p:nvPr/>
            </p:nvSpPr>
            <p:spPr>
              <a:xfrm>
                <a:off x="2055870" y="2707098"/>
                <a:ext cx="5032258" cy="8402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𝐿𝐿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16B8E95-A46D-08F9-B069-9D09BC308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870" y="2707098"/>
                <a:ext cx="5032258" cy="8402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28B34DA2-B538-24FA-66C6-CE9D28BFB205}"/>
              </a:ext>
            </a:extLst>
          </p:cNvPr>
          <p:cNvSpPr/>
          <p:nvPr/>
        </p:nvSpPr>
        <p:spPr>
          <a:xfrm>
            <a:off x="5400675" y="2707098"/>
            <a:ext cx="1285875" cy="8402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6E63F4-4622-0224-A7FB-E28D4AD322D3}"/>
              </a:ext>
            </a:extLst>
          </p:cNvPr>
          <p:cNvSpPr/>
          <p:nvPr/>
        </p:nvSpPr>
        <p:spPr>
          <a:xfrm>
            <a:off x="4175760" y="3169921"/>
            <a:ext cx="617220" cy="3124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E9D645-DDB9-A226-2A5F-10FC5D4EB16E}"/>
              </a:ext>
            </a:extLst>
          </p:cNvPr>
          <p:cNvSpPr txBox="1"/>
          <p:nvPr/>
        </p:nvSpPr>
        <p:spPr>
          <a:xfrm>
            <a:off x="4674792" y="3666541"/>
            <a:ext cx="877163" cy="369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常数！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广义线性模型（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generalized linear model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最大化对数似然函数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等价于最大化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16B8E95-A46D-08F9-B069-9D09BC30827E}"/>
                  </a:ext>
                </a:extLst>
              </p:cNvPr>
              <p:cNvSpPr txBox="1"/>
              <p:nvPr/>
            </p:nvSpPr>
            <p:spPr>
              <a:xfrm>
                <a:off x="2055870" y="2707098"/>
                <a:ext cx="5032258" cy="8402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𝐿𝐿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16B8E95-A46D-08F9-B069-9D09BC308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870" y="2707098"/>
                <a:ext cx="5032258" cy="8402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28B34DA2-B538-24FA-66C6-CE9D28BFB205}"/>
              </a:ext>
            </a:extLst>
          </p:cNvPr>
          <p:cNvSpPr/>
          <p:nvPr/>
        </p:nvSpPr>
        <p:spPr>
          <a:xfrm>
            <a:off x="5400675" y="2707098"/>
            <a:ext cx="1285875" cy="8402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6E63F4-4622-0224-A7FB-E28D4AD322D3}"/>
              </a:ext>
            </a:extLst>
          </p:cNvPr>
          <p:cNvSpPr/>
          <p:nvPr/>
        </p:nvSpPr>
        <p:spPr>
          <a:xfrm>
            <a:off x="4175760" y="3169921"/>
            <a:ext cx="617220" cy="3124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E9D645-DDB9-A226-2A5F-10FC5D4EB16E}"/>
              </a:ext>
            </a:extLst>
          </p:cNvPr>
          <p:cNvSpPr txBox="1"/>
          <p:nvPr/>
        </p:nvSpPr>
        <p:spPr>
          <a:xfrm>
            <a:off x="4674792" y="3666541"/>
            <a:ext cx="877163" cy="369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常数！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1AA8E52-27B4-92B5-A5A2-A44637DBF4E9}"/>
                  </a:ext>
                </a:extLst>
              </p:cNvPr>
              <p:cNvSpPr txBox="1"/>
              <p:nvPr/>
            </p:nvSpPr>
            <p:spPr>
              <a:xfrm>
                <a:off x="2055870" y="4290849"/>
                <a:ext cx="5032258" cy="8402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𝐿𝐿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1AA8E52-27B4-92B5-A5A2-A44637DBF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870" y="4290849"/>
                <a:ext cx="5032258" cy="8402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63795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最大化对数似然函数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等价于最大化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在标准连接函数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bSup>
                    <m:r>
                      <a:rPr lang="zh-CN" alt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的条件下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30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16B8E95-A46D-08F9-B069-9D09BC30827E}"/>
                  </a:ext>
                </a:extLst>
              </p:cNvPr>
              <p:cNvSpPr txBox="1"/>
              <p:nvPr/>
            </p:nvSpPr>
            <p:spPr>
              <a:xfrm>
                <a:off x="2055870" y="2707098"/>
                <a:ext cx="5032258" cy="8402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𝐿𝐿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16B8E95-A46D-08F9-B069-9D09BC308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870" y="2707098"/>
                <a:ext cx="5032258" cy="8402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28B34DA2-B538-24FA-66C6-CE9D28BFB205}"/>
              </a:ext>
            </a:extLst>
          </p:cNvPr>
          <p:cNvSpPr/>
          <p:nvPr/>
        </p:nvSpPr>
        <p:spPr>
          <a:xfrm>
            <a:off x="5400675" y="2707098"/>
            <a:ext cx="1285875" cy="8402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6E63F4-4622-0224-A7FB-E28D4AD322D3}"/>
              </a:ext>
            </a:extLst>
          </p:cNvPr>
          <p:cNvSpPr/>
          <p:nvPr/>
        </p:nvSpPr>
        <p:spPr>
          <a:xfrm>
            <a:off x="4175760" y="3169921"/>
            <a:ext cx="617220" cy="3124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E9D645-DDB9-A226-2A5F-10FC5D4EB16E}"/>
              </a:ext>
            </a:extLst>
          </p:cNvPr>
          <p:cNvSpPr txBox="1"/>
          <p:nvPr/>
        </p:nvSpPr>
        <p:spPr>
          <a:xfrm>
            <a:off x="4674792" y="3666541"/>
            <a:ext cx="877163" cy="369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常数！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1AA8E52-27B4-92B5-A5A2-A44637DBF4E9}"/>
                  </a:ext>
                </a:extLst>
              </p:cNvPr>
              <p:cNvSpPr txBox="1"/>
              <p:nvPr/>
            </p:nvSpPr>
            <p:spPr>
              <a:xfrm>
                <a:off x="2055870" y="4290849"/>
                <a:ext cx="5032258" cy="8402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𝐿𝐿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1AA8E52-27B4-92B5-A5A2-A44637DBF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870" y="4290849"/>
                <a:ext cx="5032258" cy="8402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1C3AD60-E98F-88E2-5AA8-AB6BC6C0E8C9}"/>
                  </a:ext>
                </a:extLst>
              </p:cNvPr>
              <p:cNvSpPr txBox="1"/>
              <p:nvPr/>
            </p:nvSpPr>
            <p:spPr>
              <a:xfrm>
                <a:off x="2055870" y="5874600"/>
                <a:ext cx="5032258" cy="8402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𝐿𝐿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𝜷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1C3AD60-E98F-88E2-5AA8-AB6BC6C0E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870" y="5874600"/>
                <a:ext cx="5032258" cy="8402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3249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ClrTx/>
                  <a:buNone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① 正态分布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𝑏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与线性回归最小化误差平方和等价吗？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97346D8-9CB8-D436-91FD-763C2AD1781C}"/>
                  </a:ext>
                </a:extLst>
              </p:cNvPr>
              <p:cNvSpPr txBox="1"/>
              <p:nvPr/>
            </p:nvSpPr>
            <p:spPr>
              <a:xfrm>
                <a:off x="3860128" y="608552"/>
                <a:ext cx="5032258" cy="8402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𝐿𝐿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𝜷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97346D8-9CB8-D436-91FD-763C2AD17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128" y="608552"/>
                <a:ext cx="5032258" cy="8402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1442081-D3C4-0421-B0FC-FF047CC60601}"/>
                  </a:ext>
                </a:extLst>
              </p:cNvPr>
              <p:cNvSpPr txBox="1"/>
              <p:nvPr/>
            </p:nvSpPr>
            <p:spPr>
              <a:xfrm>
                <a:off x="2594265" y="3003146"/>
                <a:ext cx="3955465" cy="8517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𝐿𝐿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nary>
                            <m:naryPr>
                              <m:chr m:val="∑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200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T</m:t>
                                              </m:r>
                                            </m:sup>
                                          </m:sSubSup>
                                          <m:r>
                                            <a:rPr lang="zh-CN" alt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1442081-D3C4-0421-B0FC-FF047CC60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265" y="3003146"/>
                <a:ext cx="3955465" cy="8517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2415DDBD-102E-F1A8-528A-99E31130649A}"/>
              </a:ext>
            </a:extLst>
          </p:cNvPr>
          <p:cNvCxnSpPr>
            <a:cxnSpLocks/>
            <a:endCxn id="10" idx="3"/>
          </p:cNvCxnSpPr>
          <p:nvPr/>
        </p:nvCxnSpPr>
        <p:spPr>
          <a:xfrm rot="5400000">
            <a:off x="6418640" y="1579939"/>
            <a:ext cx="1980151" cy="1717970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ClrTx/>
                  <a:buNone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① 正态分布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𝑏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与线性回归最小化误差平方和等价！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32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97346D8-9CB8-D436-91FD-763C2AD1781C}"/>
                  </a:ext>
                </a:extLst>
              </p:cNvPr>
              <p:cNvSpPr txBox="1"/>
              <p:nvPr/>
            </p:nvSpPr>
            <p:spPr>
              <a:xfrm>
                <a:off x="3860128" y="608552"/>
                <a:ext cx="5032258" cy="8402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𝐿𝐿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𝜷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97346D8-9CB8-D436-91FD-763C2AD17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128" y="608552"/>
                <a:ext cx="5032258" cy="8402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1442081-D3C4-0421-B0FC-FF047CC60601}"/>
                  </a:ext>
                </a:extLst>
              </p:cNvPr>
              <p:cNvSpPr txBox="1"/>
              <p:nvPr/>
            </p:nvSpPr>
            <p:spPr>
              <a:xfrm>
                <a:off x="2594265" y="3003146"/>
                <a:ext cx="3955465" cy="8517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𝐿𝐿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nary>
                            <m:naryPr>
                              <m:chr m:val="∑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200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T</m:t>
                                              </m:r>
                                            </m:sup>
                                          </m:sSubSup>
                                          <m:r>
                                            <a:rPr lang="zh-CN" alt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1442081-D3C4-0421-B0FC-FF047CC60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265" y="3003146"/>
                <a:ext cx="3955465" cy="8517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2415DDBD-102E-F1A8-528A-99E31130649A}"/>
              </a:ext>
            </a:extLst>
          </p:cNvPr>
          <p:cNvCxnSpPr>
            <a:cxnSpLocks/>
            <a:endCxn id="10" idx="3"/>
          </p:cNvCxnSpPr>
          <p:nvPr/>
        </p:nvCxnSpPr>
        <p:spPr>
          <a:xfrm rot="5400000">
            <a:off x="6418640" y="1579939"/>
            <a:ext cx="1980151" cy="1717970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A25C1A5-7662-E8D8-AD17-BBA4435563FE}"/>
                  </a:ext>
                </a:extLst>
              </p:cNvPr>
              <p:cNvSpPr txBox="1"/>
              <p:nvPr/>
            </p:nvSpPr>
            <p:spPr>
              <a:xfrm>
                <a:off x="2594265" y="4744835"/>
                <a:ext cx="3955465" cy="8517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T</m:t>
                                      </m:r>
                                    </m:sup>
                                  </m:sSubSup>
                                  <m:r>
                                    <a:rPr lang="zh-CN" alt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𝜷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A25C1A5-7662-E8D8-AD17-BBA443556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265" y="4744835"/>
                <a:ext cx="3955465" cy="8517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85BC5BC-4BBD-C3A2-CF37-C0AEB67DCA9D}"/>
              </a:ext>
            </a:extLst>
          </p:cNvPr>
          <p:cNvCxnSpPr/>
          <p:nvPr/>
        </p:nvCxnSpPr>
        <p:spPr>
          <a:xfrm>
            <a:off x="5562600" y="3854854"/>
            <a:ext cx="0" cy="889981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9C276C6-ECBB-752E-6895-6C1175E0FC25}"/>
              </a:ext>
            </a:extLst>
          </p:cNvPr>
          <p:cNvSpPr txBox="1"/>
          <p:nvPr/>
        </p:nvSpPr>
        <p:spPr>
          <a:xfrm>
            <a:off x="1969580" y="3003146"/>
            <a:ext cx="877163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最大化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FF4650-23CD-0B2E-8B3C-2BC11A0F4394}"/>
              </a:ext>
            </a:extLst>
          </p:cNvPr>
          <p:cNvSpPr txBox="1"/>
          <p:nvPr/>
        </p:nvSpPr>
        <p:spPr>
          <a:xfrm>
            <a:off x="1969579" y="4738059"/>
            <a:ext cx="877163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最小化</a:t>
            </a:r>
          </a:p>
        </p:txBody>
      </p:sp>
    </p:spTree>
    <p:extLst>
      <p:ext uri="{BB962C8B-B14F-4D97-AF65-F5344CB8AC3E}">
        <p14:creationId xmlns:p14="http://schemas.microsoft.com/office/powerpoint/2010/main" val="22170332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广义线性模型（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generalized linear model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ClrTx/>
                  <a:buNone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② 泊松分布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𝑏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𝜃</m:t>
                        </m:r>
                      </m:sup>
                    </m:sSup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ClrTx/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ClrTx/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ClrTx/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560705" lvl="2" indent="-285750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泊松回归参数估计的对数似然函数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33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97346D8-9CB8-D436-91FD-763C2AD1781C}"/>
                  </a:ext>
                </a:extLst>
              </p:cNvPr>
              <p:cNvSpPr txBox="1"/>
              <p:nvPr/>
            </p:nvSpPr>
            <p:spPr>
              <a:xfrm>
                <a:off x="3860128" y="608552"/>
                <a:ext cx="5032258" cy="8402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𝐿𝐿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𝜷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97346D8-9CB8-D436-91FD-763C2AD17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128" y="608552"/>
                <a:ext cx="5032258" cy="8402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1442081-D3C4-0421-B0FC-FF047CC60601}"/>
                  </a:ext>
                </a:extLst>
              </p:cNvPr>
              <p:cNvSpPr txBox="1"/>
              <p:nvPr/>
            </p:nvSpPr>
            <p:spPr>
              <a:xfrm>
                <a:off x="2594267" y="3003041"/>
                <a:ext cx="3955465" cy="8517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𝐿𝐿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nary>
                            <m:naryPr>
                              <m:chr m:val="∑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exp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T</m:t>
                                      </m:r>
                                    </m:sup>
                                  </m:sSubSup>
                                  <m:r>
                                    <a:rPr lang="zh-CN" alt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𝜷</m:t>
                                  </m:r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1442081-D3C4-0421-B0FC-FF047CC60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267" y="3003041"/>
                <a:ext cx="3955465" cy="8517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2415DDBD-102E-F1A8-528A-99E31130649A}"/>
              </a:ext>
            </a:extLst>
          </p:cNvPr>
          <p:cNvCxnSpPr>
            <a:cxnSpLocks/>
            <a:endCxn id="10" idx="3"/>
          </p:cNvCxnSpPr>
          <p:nvPr/>
        </p:nvCxnSpPr>
        <p:spPr>
          <a:xfrm rot="5400000">
            <a:off x="6418692" y="1579887"/>
            <a:ext cx="1980048" cy="1717968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4108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如何定量分析自变量的变化对因变量的影响？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弹性（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elasticity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自变量变化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1%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，因变量变化百分率（无量纲）：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弹性值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-1.32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增加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1%</a:t>
                </a: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减少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1.32%</a:t>
                </a: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>
                <a:blip r:embed="rId3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34</a:t>
            </a:fld>
            <a:endParaRPr lang="en-US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如何定量分析自变量的变化对因变量的影响？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弹性（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elasticity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自变量变化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1%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，因变量变化百分率（无量纲）：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弹性值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-1.32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增加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1%</a:t>
                </a:r>
                <a:r>
                  <a:rPr lang="zh-CN" altLang="en-US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减少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1.32%</a:t>
                </a: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边际效应（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marginal effect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自变量变化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个单位，因变量变化量（有量纲）：</a:t>
                </a:r>
                <a:r>
                  <a:rPr lang="en-US" altLang="zh-CN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u="sng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吃一斤饭，长半斤肉 </a:t>
                </a:r>
                <a:r>
                  <a:rPr lang="en-US" altLang="zh-CN" u="sng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vs. </a:t>
                </a:r>
                <a:r>
                  <a:rPr lang="zh-CN" altLang="en-US" u="sng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吃一公斤饭，长一斤肉（</a:t>
                </a:r>
                <a:r>
                  <a:rPr lang="zh-CN" altLang="en-US" b="1" u="sng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计量单位的“陷阱”</a:t>
                </a:r>
                <a:r>
                  <a:rPr lang="zh-CN" altLang="en-US" u="sng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u="sng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>
                <a:blip r:embed="rId3"/>
                <a:stretch>
                  <a:fillRect l="-963" t="-1375" r="-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309466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320939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如何定量分析自变量的变化对因变量的影响？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弹性分析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92175" lvl="2" indent="-342900">
              <a:lnSpc>
                <a:spcPct val="150000"/>
              </a:lnSpc>
              <a:buClrTx/>
              <a:buFont typeface="+mj-ea"/>
              <a:buAutoNum type="circleNumDbPlai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连续变量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C7407A0-BEEB-C2E4-0EA6-6956E5CA4CBB}"/>
                  </a:ext>
                </a:extLst>
              </p:cNvPr>
              <p:cNvSpPr txBox="1"/>
              <p:nvPr/>
            </p:nvSpPr>
            <p:spPr>
              <a:xfrm>
                <a:off x="1602607" y="3217403"/>
                <a:ext cx="5938785" cy="4231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bSup>
                    <m:r>
                      <a:rPr lang="zh-CN" alt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C7407A0-BEEB-C2E4-0EA6-6956E5CA4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07" y="3217403"/>
                <a:ext cx="5938785" cy="423193"/>
              </a:xfrm>
              <a:prstGeom prst="rect">
                <a:avLst/>
              </a:prstGeom>
              <a:blipFill>
                <a:blip r:embed="rId3"/>
                <a:stretch>
                  <a:fillRect b="-126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3B28E4B9-FE70-B5FD-E210-BD1CC8FD8D4E}"/>
              </a:ext>
            </a:extLst>
          </p:cNvPr>
          <p:cNvSpPr txBox="1"/>
          <p:nvPr/>
        </p:nvSpPr>
        <p:spPr>
          <a:xfrm>
            <a:off x="641294" y="3217403"/>
            <a:ext cx="1187506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连接函数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320939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如何定量分析自变量的变化对因变量的影响？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弹性分析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92175" lvl="2" indent="-342900">
              <a:lnSpc>
                <a:spcPct val="150000"/>
              </a:lnSpc>
              <a:buClrTx/>
              <a:buFont typeface="+mj-ea"/>
              <a:buAutoNum type="circleNumDbPlai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连续变量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C7407A0-BEEB-C2E4-0EA6-6956E5CA4CBB}"/>
                  </a:ext>
                </a:extLst>
              </p:cNvPr>
              <p:cNvSpPr txBox="1"/>
              <p:nvPr/>
            </p:nvSpPr>
            <p:spPr>
              <a:xfrm>
                <a:off x="1602607" y="3217403"/>
                <a:ext cx="5938785" cy="4231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bSup>
                    <m:r>
                      <a:rPr lang="zh-CN" alt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C7407A0-BEEB-C2E4-0EA6-6956E5CA4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07" y="3217403"/>
                <a:ext cx="5938785" cy="423193"/>
              </a:xfrm>
              <a:prstGeom prst="rect">
                <a:avLst/>
              </a:prstGeom>
              <a:blipFill>
                <a:blip r:embed="rId3"/>
                <a:stretch>
                  <a:fillRect b="-126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5B8E152-A5F9-8D1D-F809-C4218402FBC3}"/>
                  </a:ext>
                </a:extLst>
              </p:cNvPr>
              <p:cNvSpPr txBox="1"/>
              <p:nvPr/>
            </p:nvSpPr>
            <p:spPr>
              <a:xfrm>
                <a:off x="1602607" y="3891841"/>
                <a:ext cx="5938786" cy="46615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5B8E152-A5F9-8D1D-F809-C4218402F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07" y="3891841"/>
                <a:ext cx="5938786" cy="4661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E94CD43-9288-6640-826D-C11F124A07DF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4572000" y="3640596"/>
            <a:ext cx="0" cy="25124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81ECD6B-1862-76D9-A6A4-38EF601755E7}"/>
              </a:ext>
            </a:extLst>
          </p:cNvPr>
          <p:cNvSpPr txBox="1"/>
          <p:nvPr/>
        </p:nvSpPr>
        <p:spPr>
          <a:xfrm>
            <a:off x="641294" y="3217403"/>
            <a:ext cx="1187506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连接函数</a:t>
            </a:r>
          </a:p>
        </p:txBody>
      </p:sp>
    </p:spTree>
    <p:extLst>
      <p:ext uri="{BB962C8B-B14F-4D97-AF65-F5344CB8AC3E}">
        <p14:creationId xmlns:p14="http://schemas.microsoft.com/office/powerpoint/2010/main" val="6627617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320939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如何定量分析自变量的变化对因变量的影响？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弹性分析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92175" lvl="2" indent="-342900">
              <a:lnSpc>
                <a:spcPct val="150000"/>
              </a:lnSpc>
              <a:buClrTx/>
              <a:buFont typeface="+mj-ea"/>
              <a:buAutoNum type="circleNumDbPlai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连续变量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C7407A0-BEEB-C2E4-0EA6-6956E5CA4CBB}"/>
                  </a:ext>
                </a:extLst>
              </p:cNvPr>
              <p:cNvSpPr txBox="1"/>
              <p:nvPr/>
            </p:nvSpPr>
            <p:spPr>
              <a:xfrm>
                <a:off x="1602607" y="3217403"/>
                <a:ext cx="5938785" cy="4231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bSup>
                    <m:r>
                      <a:rPr lang="zh-CN" alt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C7407A0-BEEB-C2E4-0EA6-6956E5CA4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07" y="3217403"/>
                <a:ext cx="5938785" cy="423193"/>
              </a:xfrm>
              <a:prstGeom prst="rect">
                <a:avLst/>
              </a:prstGeom>
              <a:blipFill>
                <a:blip r:embed="rId3"/>
                <a:stretch>
                  <a:fillRect b="-126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5B8E152-A5F9-8D1D-F809-C4218402FBC3}"/>
                  </a:ext>
                </a:extLst>
              </p:cNvPr>
              <p:cNvSpPr txBox="1"/>
              <p:nvPr/>
            </p:nvSpPr>
            <p:spPr>
              <a:xfrm>
                <a:off x="1602607" y="3891841"/>
                <a:ext cx="5938786" cy="46615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5B8E152-A5F9-8D1D-F809-C4218402F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07" y="3891841"/>
                <a:ext cx="5938786" cy="4661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15A8FB9-9723-20ED-0EC6-3C00329B08F7}"/>
                  </a:ext>
                </a:extLst>
              </p:cNvPr>
              <p:cNvSpPr txBox="1"/>
              <p:nvPr/>
            </p:nvSpPr>
            <p:spPr>
              <a:xfrm>
                <a:off x="1602606" y="4604010"/>
                <a:ext cx="5938786" cy="123636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𝑖𝑘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bSup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𝑖𝑘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𝑖𝑘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𝑖𝑘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𝑖𝑘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15A8FB9-9723-20ED-0EC6-3C00329B0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06" y="4604010"/>
                <a:ext cx="5938786" cy="12363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E94CD43-9288-6640-826D-C11F124A07DF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4572000" y="3640596"/>
            <a:ext cx="0" cy="25124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833A087-B126-04CD-2960-DDCF2D46B36D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4571999" y="4357994"/>
            <a:ext cx="1" cy="24601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ABF20F92-B32C-AA0B-1808-E901728A4752}"/>
              </a:ext>
            </a:extLst>
          </p:cNvPr>
          <p:cNvSpPr txBox="1"/>
          <p:nvPr/>
        </p:nvSpPr>
        <p:spPr>
          <a:xfrm>
            <a:off x="641294" y="3217403"/>
            <a:ext cx="1187506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连接函数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EC0E27-712D-4261-7F56-DF0723CB605C}"/>
              </a:ext>
            </a:extLst>
          </p:cNvPr>
          <p:cNvSpPr txBox="1"/>
          <p:nvPr/>
        </p:nvSpPr>
        <p:spPr>
          <a:xfrm>
            <a:off x="641294" y="4611810"/>
            <a:ext cx="1187506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弹性定义</a:t>
            </a:r>
          </a:p>
        </p:txBody>
      </p:sp>
    </p:spTree>
    <p:extLst>
      <p:ext uri="{BB962C8B-B14F-4D97-AF65-F5344CB8AC3E}">
        <p14:creationId xmlns:p14="http://schemas.microsoft.com/office/powerpoint/2010/main" val="13648368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320939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如何定量分析自变量的变化对因变量的影响？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弹性分析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92175" lvl="2" indent="-342900">
              <a:lnSpc>
                <a:spcPct val="150000"/>
              </a:lnSpc>
              <a:buClrTx/>
              <a:buFont typeface="+mj-ea"/>
              <a:buAutoNum type="circleNumDbPlai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连续变量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C7407A0-BEEB-C2E4-0EA6-6956E5CA4CBB}"/>
                  </a:ext>
                </a:extLst>
              </p:cNvPr>
              <p:cNvSpPr txBox="1"/>
              <p:nvPr/>
            </p:nvSpPr>
            <p:spPr>
              <a:xfrm>
                <a:off x="1602607" y="3217403"/>
                <a:ext cx="5938785" cy="4231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bSup>
                    <m:r>
                      <a:rPr lang="zh-CN" alt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C7407A0-BEEB-C2E4-0EA6-6956E5CA4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07" y="3217403"/>
                <a:ext cx="5938785" cy="423193"/>
              </a:xfrm>
              <a:prstGeom prst="rect">
                <a:avLst/>
              </a:prstGeom>
              <a:blipFill>
                <a:blip r:embed="rId3"/>
                <a:stretch>
                  <a:fillRect b="-126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5B8E152-A5F9-8D1D-F809-C4218402FBC3}"/>
                  </a:ext>
                </a:extLst>
              </p:cNvPr>
              <p:cNvSpPr txBox="1"/>
              <p:nvPr/>
            </p:nvSpPr>
            <p:spPr>
              <a:xfrm>
                <a:off x="1602607" y="3891841"/>
                <a:ext cx="5938786" cy="46615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5B8E152-A5F9-8D1D-F809-C4218402F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07" y="3891841"/>
                <a:ext cx="5938786" cy="4661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15A8FB9-9723-20ED-0EC6-3C00329B08F7}"/>
                  </a:ext>
                </a:extLst>
              </p:cNvPr>
              <p:cNvSpPr txBox="1"/>
              <p:nvPr/>
            </p:nvSpPr>
            <p:spPr>
              <a:xfrm>
                <a:off x="1602606" y="4604010"/>
                <a:ext cx="5938786" cy="123636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𝑖𝑘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bSup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𝑖𝑘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𝑖𝑘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𝑖𝑘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𝑖𝑘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15A8FB9-9723-20ED-0EC6-3C00329B0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06" y="4604010"/>
                <a:ext cx="5938786" cy="12363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D245B11-B633-0E44-2F77-D1A14FFF452A}"/>
                  </a:ext>
                </a:extLst>
              </p:cNvPr>
              <p:cNvSpPr txBox="1"/>
              <p:nvPr/>
            </p:nvSpPr>
            <p:spPr>
              <a:xfrm>
                <a:off x="1602606" y="6094190"/>
                <a:ext cx="5938786" cy="5848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𝑖𝑘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b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𝑖𝑘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zh-CN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D245B11-B633-0E44-2F77-D1A14FFF4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06" y="6094190"/>
                <a:ext cx="5938786" cy="5848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E94CD43-9288-6640-826D-C11F124A07DF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4572000" y="3640596"/>
            <a:ext cx="0" cy="25124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833A087-B126-04CD-2960-DDCF2D46B36D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4571999" y="4357994"/>
            <a:ext cx="1" cy="24601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1669013-B5A9-979B-3301-353727C4D027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4571999" y="5840374"/>
            <a:ext cx="0" cy="25381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C7BB452-F1F3-423E-ADA5-ED93EC9A2EC8}"/>
              </a:ext>
            </a:extLst>
          </p:cNvPr>
          <p:cNvSpPr txBox="1"/>
          <p:nvPr/>
        </p:nvSpPr>
        <p:spPr>
          <a:xfrm>
            <a:off x="641294" y="3217403"/>
            <a:ext cx="1187506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连接函数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DD950C-CAC8-3CA6-F4CA-2A3B5392A4C5}"/>
              </a:ext>
            </a:extLst>
          </p:cNvPr>
          <p:cNvSpPr txBox="1"/>
          <p:nvPr/>
        </p:nvSpPr>
        <p:spPr>
          <a:xfrm>
            <a:off x="641294" y="4611810"/>
            <a:ext cx="1187506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弹性定义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26DEE6-E984-99E9-1156-9CF2A12CCCCB}"/>
              </a:ext>
            </a:extLst>
          </p:cNvPr>
          <p:cNvSpPr txBox="1"/>
          <p:nvPr/>
        </p:nvSpPr>
        <p:spPr>
          <a:xfrm>
            <a:off x="641294" y="6085324"/>
            <a:ext cx="1187506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链式法则</a:t>
            </a:r>
          </a:p>
        </p:txBody>
      </p:sp>
    </p:spTree>
    <p:extLst>
      <p:ext uri="{BB962C8B-B14F-4D97-AF65-F5344CB8AC3E}">
        <p14:creationId xmlns:p14="http://schemas.microsoft.com/office/powerpoint/2010/main" val="15233865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320939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如何定量分析自变量的变化对因变量的影响？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弹性分析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92175" lvl="2" indent="-342900">
              <a:lnSpc>
                <a:spcPct val="150000"/>
              </a:lnSpc>
              <a:buClrTx/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名义尺度变量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49275" lvl="2" indent="0">
              <a:lnSpc>
                <a:spcPct val="15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把名义尺度变量转化为哑元变量，计算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伪弹性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pseudo-elasticity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 algn="ctr">
              <a:lnSpc>
                <a:spcPct val="150000"/>
              </a:lnSpc>
              <a:buNone/>
            </a:pPr>
            <a:endParaRPr lang="en-US" altLang="zh-CN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274320" lvl="1" indent="0" algn="ctr">
              <a:lnSpc>
                <a:spcPct val="150000"/>
              </a:lnSpc>
              <a:buNone/>
            </a:pPr>
            <a:endParaRPr lang="en-US" altLang="zh-CN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274320" lvl="1" indent="0" algn="ctr">
              <a:lnSpc>
                <a:spcPct val="150000"/>
              </a:lnSpc>
              <a:buNone/>
            </a:pPr>
            <a:endParaRPr lang="en-US" altLang="zh-CN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274320" lvl="1" indent="0" algn="ctr">
              <a:lnSpc>
                <a:spcPct val="150000"/>
              </a:lnSpc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40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D9E4799-F918-3F62-4709-D342E75625EE}"/>
                  </a:ext>
                </a:extLst>
              </p:cNvPr>
              <p:cNvSpPr txBox="1"/>
              <p:nvPr/>
            </p:nvSpPr>
            <p:spPr>
              <a:xfrm>
                <a:off x="1602608" y="3623707"/>
                <a:ext cx="5938785" cy="4231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bSup>
                    <m:r>
                      <a:rPr lang="zh-CN" alt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D9E4799-F918-3F62-4709-D342E7562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08" y="3623707"/>
                <a:ext cx="5938785" cy="423193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C0F65C0-7378-AC98-A686-9AF2AAEA0F99}"/>
                  </a:ext>
                </a:extLst>
              </p:cNvPr>
              <p:cNvSpPr txBox="1"/>
              <p:nvPr/>
            </p:nvSpPr>
            <p:spPr>
              <a:xfrm>
                <a:off x="1602608" y="4281296"/>
                <a:ext cx="5938786" cy="46615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C0F65C0-7378-AC98-A686-9AF2AAEA0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08" y="4281296"/>
                <a:ext cx="5938786" cy="4661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C04E758-D992-2D6C-7329-0B5F61210DAA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4572001" y="4046900"/>
            <a:ext cx="0" cy="23439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C9DEC17-5174-6326-2AA1-E9576F02376C}"/>
              </a:ext>
            </a:extLst>
          </p:cNvPr>
          <p:cNvSpPr txBox="1"/>
          <p:nvPr/>
        </p:nvSpPr>
        <p:spPr>
          <a:xfrm>
            <a:off x="641295" y="3623707"/>
            <a:ext cx="1187506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连接函数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320939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如何定量分析自变量的变化对因变量的影响？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弹性分析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92175" lvl="2" indent="-342900">
              <a:lnSpc>
                <a:spcPct val="150000"/>
              </a:lnSpc>
              <a:buClrTx/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名义尺度变量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49275" lvl="2" indent="0">
              <a:lnSpc>
                <a:spcPct val="15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把名义尺度变量转化为哑元变量，计算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伪弹性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pseudo-elasticity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 algn="ctr">
              <a:lnSpc>
                <a:spcPct val="150000"/>
              </a:lnSpc>
              <a:buNone/>
            </a:pPr>
            <a:endParaRPr lang="en-US" altLang="zh-CN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274320" lvl="1" indent="0" algn="ctr">
              <a:lnSpc>
                <a:spcPct val="150000"/>
              </a:lnSpc>
              <a:buNone/>
            </a:pPr>
            <a:endParaRPr lang="en-US" altLang="zh-CN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274320" lvl="1" indent="0" algn="ctr">
              <a:lnSpc>
                <a:spcPct val="150000"/>
              </a:lnSpc>
              <a:buNone/>
            </a:pPr>
            <a:endParaRPr lang="en-US" altLang="zh-CN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274320" lvl="1" indent="0" algn="ctr">
              <a:lnSpc>
                <a:spcPct val="150000"/>
              </a:lnSpc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D9E4799-F918-3F62-4709-D342E75625EE}"/>
                  </a:ext>
                </a:extLst>
              </p:cNvPr>
              <p:cNvSpPr txBox="1"/>
              <p:nvPr/>
            </p:nvSpPr>
            <p:spPr>
              <a:xfrm>
                <a:off x="1602608" y="3623707"/>
                <a:ext cx="5938785" cy="4231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bSup>
                    <m:r>
                      <a:rPr lang="zh-CN" alt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D9E4799-F918-3F62-4709-D342E7562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08" y="3623707"/>
                <a:ext cx="5938785" cy="423193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C0F65C0-7378-AC98-A686-9AF2AAEA0F99}"/>
                  </a:ext>
                </a:extLst>
              </p:cNvPr>
              <p:cNvSpPr txBox="1"/>
              <p:nvPr/>
            </p:nvSpPr>
            <p:spPr>
              <a:xfrm>
                <a:off x="1602608" y="4281296"/>
                <a:ext cx="5938786" cy="46615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C0F65C0-7378-AC98-A686-9AF2AAEA0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08" y="4281296"/>
                <a:ext cx="5938786" cy="4661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C04E758-D992-2D6C-7329-0B5F61210DAA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4572001" y="4046900"/>
            <a:ext cx="0" cy="23439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C9DEC17-5174-6326-2AA1-E9576F02376C}"/>
              </a:ext>
            </a:extLst>
          </p:cNvPr>
          <p:cNvSpPr txBox="1"/>
          <p:nvPr/>
        </p:nvSpPr>
        <p:spPr>
          <a:xfrm>
            <a:off x="641295" y="3623707"/>
            <a:ext cx="1187506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378FDA4-B245-C041-F305-5FCE56D005D2}"/>
                  </a:ext>
                </a:extLst>
              </p:cNvPr>
              <p:cNvSpPr txBox="1"/>
              <p:nvPr/>
            </p:nvSpPr>
            <p:spPr>
              <a:xfrm>
                <a:off x="-3" y="4981845"/>
                <a:ext cx="9144001" cy="18761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𝑖𝑘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2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bSup>
                      <m:r>
                        <m:rPr>
                          <m:aln/>
                        </m:rP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𝑖𝑘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𝑖𝑘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+…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+…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+…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378FDA4-B245-C041-F305-5FCE56D00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" y="4981845"/>
                <a:ext cx="9144001" cy="18761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C2FC49D-A8DC-7A2B-BCFA-4A53554F533B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 flipH="1">
            <a:off x="4571998" y="4747449"/>
            <a:ext cx="3" cy="23439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9D59D590-3F21-647D-4B9E-97F2AC68C125}"/>
              </a:ext>
            </a:extLst>
          </p:cNvPr>
          <p:cNvSpPr txBox="1"/>
          <p:nvPr/>
        </p:nvSpPr>
        <p:spPr>
          <a:xfrm>
            <a:off x="641295" y="4612513"/>
            <a:ext cx="1187506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弹性定义</a:t>
            </a:r>
          </a:p>
        </p:txBody>
      </p:sp>
    </p:spTree>
    <p:extLst>
      <p:ext uri="{BB962C8B-B14F-4D97-AF65-F5344CB8AC3E}">
        <p14:creationId xmlns:p14="http://schemas.microsoft.com/office/powerpoint/2010/main" val="13927988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320939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如何判别参数的显著性？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在一定条件下，最大似然估计值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zh-CN" alt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zh-CN" altLang="en-US" b="1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渐进于正态分布（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Wald test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320939" cy="4876800"/>
              </a:xfrm>
              <a:blipFill>
                <a:blip r:embed="rId3"/>
                <a:stretch>
                  <a:fillRect l="-952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42</a:t>
            </a:fld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1BF30F6-C814-75F6-29DB-1E1E901467D8}"/>
              </a:ext>
            </a:extLst>
          </p:cNvPr>
          <p:cNvSpPr txBox="1"/>
          <p:nvPr/>
        </p:nvSpPr>
        <p:spPr>
          <a:xfrm>
            <a:off x="457199" y="64886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https://grodri.github.io/glms/notes/a1s2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320939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如何判别参数的显著性？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在一定条件下，最大似然估计值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zh-CN" alt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zh-CN" altLang="en-US" b="1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渐进于正态分布（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Wald test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用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统计量进行假设检验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什么时候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，什么时候 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？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320939" cy="4876800"/>
              </a:xfrm>
              <a:blipFill>
                <a:blip r:embed="rId3"/>
                <a:stretch>
                  <a:fillRect l="-952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43</a:t>
            </a:fld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1BF30F6-C814-75F6-29DB-1E1E901467D8}"/>
              </a:ext>
            </a:extLst>
          </p:cNvPr>
          <p:cNvSpPr txBox="1"/>
          <p:nvPr/>
        </p:nvSpPr>
        <p:spPr>
          <a:xfrm>
            <a:off x="457199" y="64886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https://grodri.github.io/glms/notes/a1s2</a:t>
            </a:r>
          </a:p>
        </p:txBody>
      </p:sp>
    </p:spTree>
    <p:extLst>
      <p:ext uri="{BB962C8B-B14F-4D97-AF65-F5344CB8AC3E}">
        <p14:creationId xmlns:p14="http://schemas.microsoft.com/office/powerpoint/2010/main" val="18049933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320939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如何判别参数的显著性？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在一定条件下，最大似然估计值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zh-CN" alt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zh-CN" altLang="en-US" b="1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渐进于正态分布（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Wald test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用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统计量进行假设检验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用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</a:t>
                </a:r>
                <a:r>
                  <a:rPr lang="zh-CN" altLang="en-US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取决于指数族概率密度或质量函数的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endParaRPr lang="en-US" altLang="zh-CN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线性回归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，需估计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泊松回归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𝑎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，无需估计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§"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数据量足够大，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和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的差别可忽略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320939" cy="4876800"/>
              </a:xfrm>
              <a:blipFill>
                <a:blip r:embed="rId3"/>
                <a:stretch>
                  <a:fillRect l="-952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44</a:t>
            </a:fld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1BF30F6-C814-75F6-29DB-1E1E901467D8}"/>
              </a:ext>
            </a:extLst>
          </p:cNvPr>
          <p:cNvSpPr txBox="1"/>
          <p:nvPr/>
        </p:nvSpPr>
        <p:spPr>
          <a:xfrm>
            <a:off x="457199" y="64886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https://grodri.github.io/glms/notes/a1s2</a:t>
            </a:r>
          </a:p>
        </p:txBody>
      </p:sp>
    </p:spTree>
    <p:extLst>
      <p:ext uri="{BB962C8B-B14F-4D97-AF65-F5344CB8AC3E}">
        <p14:creationId xmlns:p14="http://schemas.microsoft.com/office/powerpoint/2010/main" val="17739657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如何评价模型拟合度（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goodness of fit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731520" lvl="1" indent="-457200">
                  <a:lnSpc>
                    <a:spcPct val="150000"/>
                  </a:lnSpc>
                  <a:buClr>
                    <a:srgbClr val="C00000"/>
                  </a:buClr>
                  <a:buFont typeface="+mj-ea"/>
                  <a:buAutoNum type="circleNumDbPlain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似然比检验（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likelihood ratio test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定量比较两个模型拟合度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似然比：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给定观测数据集，确定该数据集在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条件下发生的可能性，以及在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条件下发生的可能性；若两者比值（必小于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）较小，则应拒绝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>
                <a:blip r:embed="rId3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45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5531409-52FD-81D2-D9C7-FA76F9441D65}"/>
                  </a:ext>
                </a:extLst>
              </p:cNvPr>
              <p:cNvSpPr txBox="1"/>
              <p:nvPr/>
            </p:nvSpPr>
            <p:spPr>
              <a:xfrm>
                <a:off x="2606039" y="3656505"/>
                <a:ext cx="3931921" cy="65017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sup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sz="2000" b="1" i="0" smtClean="0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zh-CN" alt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zh-CN" alt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sup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zh-CN" alt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zh-CN" altLang="en-US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2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5531409-52FD-81D2-D9C7-FA76F9441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039" y="3656505"/>
                <a:ext cx="3931921" cy="6501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如何评价模型拟合度（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goodness of fit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731520" lvl="1" indent="-457200">
                  <a:lnSpc>
                    <a:spcPct val="150000"/>
                  </a:lnSpc>
                  <a:buClr>
                    <a:srgbClr val="C00000"/>
                  </a:buClr>
                  <a:buFont typeface="+mj-ea"/>
                  <a:buAutoNum type="circleNumDbPlain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似然比检验（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likelihood ratio test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定量比较两个模型拟合度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似然比：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给定观测数据集，确定该数据集在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条件下发生的可能性，以及在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条件下发生的可能性；若两者比值（必小于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）较小，则应拒绝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似然比检验量：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>
                <a:blip r:embed="rId3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5531409-52FD-81D2-D9C7-FA76F9441D65}"/>
                  </a:ext>
                </a:extLst>
              </p:cNvPr>
              <p:cNvSpPr txBox="1"/>
              <p:nvPr/>
            </p:nvSpPr>
            <p:spPr>
              <a:xfrm>
                <a:off x="2606039" y="3656505"/>
                <a:ext cx="3931921" cy="65017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sup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sz="2000" b="1" i="0" smtClean="0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zh-CN" alt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zh-CN" alt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sup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zh-CN" alt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zh-CN" altLang="en-US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2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5531409-52FD-81D2-D9C7-FA76F9441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039" y="3656505"/>
                <a:ext cx="3931921" cy="6501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8E9B0F1-6C15-F745-F2F8-B03D6AD5759A}"/>
                  </a:ext>
                </a:extLst>
              </p:cNvPr>
              <p:cNvSpPr txBox="1"/>
              <p:nvPr/>
            </p:nvSpPr>
            <p:spPr>
              <a:xfrm>
                <a:off x="1662763" y="5863961"/>
                <a:ext cx="5818472" cy="46063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d>
                        <m:dPr>
                          <m:ctrlPr>
                            <a:rPr lang="el-GR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</m:e>
                      </m:fun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000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000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8E9B0F1-6C15-F745-F2F8-B03D6AD57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763" y="5863961"/>
                <a:ext cx="5818472" cy="4606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0CE6DEF1-5D57-B0A2-46AC-CF1FD9EDD69E}"/>
              </a:ext>
            </a:extLst>
          </p:cNvPr>
          <p:cNvCxnSpPr>
            <a:stCxn id="2" idx="1"/>
            <a:endCxn id="3" idx="1"/>
          </p:cNvCxnSpPr>
          <p:nvPr/>
        </p:nvCxnSpPr>
        <p:spPr>
          <a:xfrm rot="10800000" flipV="1">
            <a:off x="1662763" y="3981593"/>
            <a:ext cx="943276" cy="2112687"/>
          </a:xfrm>
          <a:prstGeom prst="bentConnector3">
            <a:avLst>
              <a:gd name="adj1" fmla="val 18546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5348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如何评价模型拟合度（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goodness of fit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731520" lvl="1" indent="-457200">
                  <a:lnSpc>
                    <a:spcPct val="150000"/>
                  </a:lnSpc>
                  <a:buClr>
                    <a:srgbClr val="C00000"/>
                  </a:buClr>
                  <a:buFont typeface="+mj-ea"/>
                  <a:buAutoNum type="circleNumDbPlain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似然比检验（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likelihood ratio test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定量比较两个模型拟合度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似然比：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给定观测数据集，确定该数据集在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条件下发生的可能性，以及在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条件下发生的可能性；若两者比值（必小于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）较小，则应拒绝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似然比检验量：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>
                <a:blip r:embed="rId3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5531409-52FD-81D2-D9C7-FA76F9441D65}"/>
                  </a:ext>
                </a:extLst>
              </p:cNvPr>
              <p:cNvSpPr txBox="1"/>
              <p:nvPr/>
            </p:nvSpPr>
            <p:spPr>
              <a:xfrm>
                <a:off x="2606039" y="3656505"/>
                <a:ext cx="3931921" cy="65017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sup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sz="2000" b="1" i="0" smtClean="0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zh-CN" alt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zh-CN" alt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sup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zh-CN" alt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zh-CN" altLang="en-US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2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5531409-52FD-81D2-D9C7-FA76F9441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039" y="3656505"/>
                <a:ext cx="3931921" cy="6501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8E9B0F1-6C15-F745-F2F8-B03D6AD5759A}"/>
                  </a:ext>
                </a:extLst>
              </p:cNvPr>
              <p:cNvSpPr txBox="1"/>
              <p:nvPr/>
            </p:nvSpPr>
            <p:spPr>
              <a:xfrm>
                <a:off x="1662763" y="5863961"/>
                <a:ext cx="5818472" cy="46063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d>
                        <m:dPr>
                          <m:ctrlPr>
                            <a:rPr lang="el-GR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</m:e>
                      </m:fun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000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000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8E9B0F1-6C15-F745-F2F8-B03D6AD57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763" y="5863961"/>
                <a:ext cx="5818472" cy="4606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0CE6DEF1-5D57-B0A2-46AC-CF1FD9EDD69E}"/>
              </a:ext>
            </a:extLst>
          </p:cNvPr>
          <p:cNvCxnSpPr>
            <a:stCxn id="2" idx="1"/>
            <a:endCxn id="3" idx="1"/>
          </p:cNvCxnSpPr>
          <p:nvPr/>
        </p:nvCxnSpPr>
        <p:spPr>
          <a:xfrm rot="10800000" flipV="1">
            <a:off x="1662763" y="3981593"/>
            <a:ext cx="943276" cy="2112687"/>
          </a:xfrm>
          <a:prstGeom prst="bentConnector3">
            <a:avLst>
              <a:gd name="adj1" fmla="val 18546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7B96543-527A-7F0D-9DD9-B3CB45642B75}"/>
                  </a:ext>
                </a:extLst>
              </p:cNvPr>
              <p:cNvSpPr txBox="1"/>
              <p:nvPr/>
            </p:nvSpPr>
            <p:spPr>
              <a:xfrm>
                <a:off x="1662763" y="6475742"/>
                <a:ext cx="5818472" cy="30777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d>
                        <m:dPr>
                          <m:ctrlPr>
                            <a:rPr lang="el-GR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𝑑𝑖𝑚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7B96543-527A-7F0D-9DD9-B3CB45642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763" y="6475742"/>
                <a:ext cx="5818472" cy="307777"/>
              </a:xfrm>
              <a:prstGeom prst="rect">
                <a:avLst/>
              </a:prstGeom>
              <a:blipFill>
                <a:blip r:embed="rId6"/>
                <a:stretch>
                  <a:fillRect b="-245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521EFCE-E6AE-9C1C-EA0C-89653B719062}"/>
                  </a:ext>
                </a:extLst>
              </p:cNvPr>
              <p:cNvSpPr txBox="1"/>
              <p:nvPr/>
            </p:nvSpPr>
            <p:spPr>
              <a:xfrm>
                <a:off x="7145206" y="6262414"/>
                <a:ext cx="1632932" cy="52110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: </m:t>
                            </m:r>
                            <m:r>
                              <a:rPr lang="zh-CN" altLang="en-US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1" i="1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: 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521EFCE-E6AE-9C1C-EA0C-89653B719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206" y="6262414"/>
                <a:ext cx="1632932" cy="5211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F735011B-5778-BFE0-6E6F-7D66C7DFF0DC}"/>
              </a:ext>
            </a:extLst>
          </p:cNvPr>
          <p:cNvSpPr txBox="1"/>
          <p:nvPr/>
        </p:nvSpPr>
        <p:spPr>
          <a:xfrm>
            <a:off x="1069009" y="6414187"/>
            <a:ext cx="1187506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样本足够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65F47B1-5FE7-6DB5-B87C-E155F4BCB53B}"/>
              </a:ext>
            </a:extLst>
          </p:cNvPr>
          <p:cNvCxnSpPr>
            <a:stCxn id="3" idx="2"/>
            <a:endCxn id="8" idx="2"/>
          </p:cNvCxnSpPr>
          <p:nvPr/>
        </p:nvCxnSpPr>
        <p:spPr>
          <a:xfrm>
            <a:off x="4571999" y="6324600"/>
            <a:ext cx="1" cy="1524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4762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如何评价模型拟合度（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goodness of fit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731520" lvl="1" indent="-457200">
                  <a:lnSpc>
                    <a:spcPct val="150000"/>
                  </a:lnSpc>
                  <a:buClr>
                    <a:srgbClr val="C00000"/>
                  </a:buClr>
                  <a:buFont typeface="+mj-ea"/>
                  <a:buAutoNum type="circleNumDbPlain" startAt="2"/>
                </a:pP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McFadden’s pseudo</a:t>
                </a:r>
                <a:r>
                  <a:rPr lang="zh-CN" altLang="en-US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320" lvl="1" indent="0">
                  <a:lnSpc>
                    <a:spcPct val="150000"/>
                  </a:lnSpc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320" lvl="1" indent="0">
                  <a:lnSpc>
                    <a:spcPct val="150000"/>
                  </a:lnSpc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CN" b="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𝐿𝐿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𝜷</m:t>
                            </m:r>
                          </m:e>
                        </m:acc>
                      </m:e>
                    </m:d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：最大似然估计对应的对数似然函数值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CN" b="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𝐿𝐿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：参数均为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（除了截距）的对数似然函数值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>
                <a:blip r:embed="rId3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A6A7A1A-65C8-8909-0F1C-A83A61D419DB}"/>
                  </a:ext>
                </a:extLst>
              </p:cNvPr>
              <p:cNvSpPr txBox="1"/>
              <p:nvPr/>
            </p:nvSpPr>
            <p:spPr>
              <a:xfrm>
                <a:off x="2295625" y="2780716"/>
                <a:ext cx="4552749" cy="77264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McF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𝐿𝐿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𝐿𝐿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A6A7A1A-65C8-8909-0F1C-A83A61D41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625" y="2780716"/>
                <a:ext cx="4552749" cy="7726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09314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如何评价模型拟合度（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goodness of fit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731520" lvl="1" indent="-457200">
                  <a:lnSpc>
                    <a:spcPct val="150000"/>
                  </a:lnSpc>
                  <a:buClr>
                    <a:srgbClr val="C00000"/>
                  </a:buClr>
                  <a:buFont typeface="+mj-ea"/>
                  <a:buAutoNum type="circleNumDbPlain" startAt="2"/>
                </a:pP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McFadden’s pseudo</a:t>
                </a:r>
                <a:r>
                  <a:rPr lang="zh-CN" altLang="en-US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320" lvl="1" indent="0">
                  <a:lnSpc>
                    <a:spcPct val="150000"/>
                  </a:lnSpc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320" lvl="1" indent="0">
                  <a:lnSpc>
                    <a:spcPct val="150000"/>
                  </a:lnSpc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CN" b="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𝐿𝐿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𝜷</m:t>
                            </m:r>
                          </m:e>
                        </m:acc>
                      </m:e>
                    </m:d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：最大似然估计对应的对数似然函数值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CN" b="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𝐿𝐿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：参数均为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（除了截距）的对数似然函数值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McF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McF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：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完美拟合，似然函数值为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，对数似然函数值为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McF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：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参数均为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（除了截距），自变量无法解释因变量的任何变化性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>
                <a:blip r:embed="rId3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A6A7A1A-65C8-8909-0F1C-A83A61D419DB}"/>
                  </a:ext>
                </a:extLst>
              </p:cNvPr>
              <p:cNvSpPr txBox="1"/>
              <p:nvPr/>
            </p:nvSpPr>
            <p:spPr>
              <a:xfrm>
                <a:off x="2295625" y="2780716"/>
                <a:ext cx="4552749" cy="77264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McF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𝐿𝐿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𝐿𝐿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A6A7A1A-65C8-8909-0F1C-A83A61D41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625" y="2780716"/>
                <a:ext cx="4552749" cy="7726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12236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泊松回归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50</a:t>
            </a:fld>
            <a:endParaRPr lang="en-US" altLang="zh-CN" dirty="0"/>
          </a:p>
        </p:txBody>
      </p:sp>
      <p:pic>
        <p:nvPicPr>
          <p:cNvPr id="10" name="Picture 1" descr="C:\Users\cheng\AppData\Roaming\Tencent\Users\394197411\QQ\WinTemp\RichOle\8BI`B14HI8Z`KEZYQTI]H0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00" y="2337885"/>
            <a:ext cx="7920000" cy="398671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7A298EC-1629-7DF3-1100-4DAAA6BCF39F}"/>
              </a:ext>
            </a:extLst>
          </p:cNvPr>
          <p:cNvSpPr/>
          <p:nvPr/>
        </p:nvSpPr>
        <p:spPr>
          <a:xfrm>
            <a:off x="457200" y="3205213"/>
            <a:ext cx="8229600" cy="13282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3200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泊松回归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51</a:t>
            </a:fld>
            <a:endParaRPr lang="en-US" altLang="zh-CN" dirty="0"/>
          </a:p>
        </p:txBody>
      </p:sp>
      <p:pic>
        <p:nvPicPr>
          <p:cNvPr id="10" name="Picture 1" descr="C:\Users\cheng\AppData\Roaming\Tencent\Users\394197411\QQ\WinTemp\RichOle\8BI`B14HI8Z`KEZYQTI]H0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00" y="2337885"/>
            <a:ext cx="7920000" cy="398671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7A298EC-1629-7DF3-1100-4DAAA6BCF39F}"/>
              </a:ext>
            </a:extLst>
          </p:cNvPr>
          <p:cNvSpPr/>
          <p:nvPr/>
        </p:nvSpPr>
        <p:spPr>
          <a:xfrm>
            <a:off x="457200" y="3205213"/>
            <a:ext cx="8229600" cy="13282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F5F9A38-010B-6C54-69D8-32E18675D2DF}"/>
                  </a:ext>
                </a:extLst>
              </p:cNvPr>
              <p:cNvSpPr txBox="1"/>
              <p:nvPr/>
            </p:nvSpPr>
            <p:spPr>
              <a:xfrm>
                <a:off x="1687125" y="4680319"/>
                <a:ext cx="5769749" cy="149746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−0.826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+0.0000812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𝐴𝐴𝐷𝑇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+0.00055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𝐴𝐴𝐷𝑇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−0.06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𝑀𝐸𝐷𝐼𝐴𝑁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+0.0748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𝐷𝑅𝐼𝑉𝐸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F5F9A38-010B-6C54-69D8-32E18675D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125" y="4680319"/>
                <a:ext cx="5769749" cy="14974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03036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泊松回归（</a:t>
            </a:r>
            <a:r>
              <a:rPr lang="en-US" altLang="zh-CN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Poisson regression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泊松回归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52</a:t>
            </a:fld>
            <a:endParaRPr lang="en-US" altLang="zh-CN" dirty="0"/>
          </a:p>
        </p:txBody>
      </p:sp>
      <p:pic>
        <p:nvPicPr>
          <p:cNvPr id="10" name="Picture 1" descr="C:\Users\cheng\AppData\Roaming\Tencent\Users\394197411\QQ\WinTemp\RichOle\8BI`B14HI8Z`KEZYQTI]H0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00" y="2337885"/>
            <a:ext cx="7920000" cy="398671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7A298EC-1629-7DF3-1100-4DAAA6BCF39F}"/>
              </a:ext>
            </a:extLst>
          </p:cNvPr>
          <p:cNvSpPr/>
          <p:nvPr/>
        </p:nvSpPr>
        <p:spPr>
          <a:xfrm>
            <a:off x="457200" y="3205213"/>
            <a:ext cx="8229600" cy="13282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601019-3ABD-752E-7142-D3E9D52680DF}"/>
              </a:ext>
            </a:extLst>
          </p:cNvPr>
          <p:cNvSpPr/>
          <p:nvPr/>
        </p:nvSpPr>
        <p:spPr>
          <a:xfrm>
            <a:off x="457200" y="4764906"/>
            <a:ext cx="8229600" cy="74996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6C4522-24A7-F544-B418-3B84DB82F608}"/>
              </a:ext>
            </a:extLst>
          </p:cNvPr>
          <p:cNvSpPr/>
          <p:nvPr/>
        </p:nvSpPr>
        <p:spPr>
          <a:xfrm>
            <a:off x="457200" y="5746281"/>
            <a:ext cx="8229600" cy="45131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计数回归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计数数据</a:t>
            </a:r>
            <a:endParaRPr lang="en-US" altLang="zh-CN" sz="2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泊松回归</a:t>
            </a:r>
            <a:endParaRPr lang="en-US" altLang="zh-CN" sz="2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负二项回归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零膨胀泊松回归、负二项回归</a:t>
            </a:r>
            <a:endParaRPr lang="en-US" altLang="zh-CN" sz="2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652605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990600"/>
          </a:xfrm>
        </p:spPr>
        <p:txBody>
          <a:bodyPr/>
          <a:lstStyle/>
          <a:p>
            <a:pPr algn="just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负二项回归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negative binomial</a:t>
            </a:r>
            <a:r>
              <a:rPr lang="en-US" altLang="zh-CN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 regression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负二项分布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i="0" dirty="0">
                    <a:solidFill>
                      <a:srgbClr val="0070C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二项分布：</a:t>
                </a:r>
                <a:r>
                  <a:rPr lang="zh-CN" altLang="en-US" b="0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重复 </a:t>
                </a:r>
                <a:r>
                  <a:rPr lang="en-US" altLang="zh-CN" b="0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Bernoulli </a:t>
                </a:r>
                <a:r>
                  <a:rPr lang="zh-CN" altLang="en-US" b="0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实验成功概率为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121212"/>
                        </a:solidFill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</m:t>
                    </m:r>
                  </m:oMath>
                </a14:m>
                <a:r>
                  <a:rPr lang="zh-CN" altLang="en-US" b="0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，条件为总共实验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121212"/>
                        </a:solidFill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en-US" altLang="zh-CN" b="0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b="0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次，随机变量为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en-US" altLang="zh-CN" b="0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b="0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次实验中成功实验次数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</m:oMath>
                </a14:m>
                <a:endParaRPr lang="en-US" altLang="zh-CN" b="0" i="0" dirty="0">
                  <a:solidFill>
                    <a:srgbClr val="12121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b="1" i="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负二项分布：</a:t>
                </a:r>
                <a:r>
                  <a:rPr lang="zh-CN" altLang="en-US" b="0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重复 </a:t>
                </a:r>
                <a:r>
                  <a:rPr lang="en-US" altLang="zh-CN" b="0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Bernoulli </a:t>
                </a:r>
                <a:r>
                  <a:rPr lang="zh-CN" altLang="en-US" b="0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实验成功概率为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121212"/>
                        </a:solidFill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</m:t>
                    </m:r>
                    <m:r>
                      <a:rPr lang="en-US" altLang="zh-CN" b="0" i="1" smtClean="0">
                        <a:solidFill>
                          <a:srgbClr val="121212"/>
                        </a:solidFill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b="0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，条件为累计出现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𝑟</m:t>
                    </m:r>
                  </m:oMath>
                </a14:m>
                <a:r>
                  <a:rPr lang="en-US" altLang="zh-CN" b="0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b="0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次失败，随机变量为成功实验次数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</m:oMath>
                </a14:m>
                <a:endParaRPr lang="en-US" altLang="zh-CN" b="0" i="0" dirty="0">
                  <a:solidFill>
                    <a:srgbClr val="12121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负：</a:t>
                </a:r>
                <a:r>
                  <a:rPr lang="zh-CN" altLang="en-US" b="0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站在失败的角度看成功</a:t>
                </a:r>
                <a:endParaRPr lang="en-US" altLang="zh-CN" b="0" i="0" dirty="0">
                  <a:solidFill>
                    <a:srgbClr val="12121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>
                <a:blip r:embed="rId3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54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3B93649-6409-5B07-A51D-14739697BE3A}"/>
                  </a:ext>
                </a:extLst>
              </p:cNvPr>
              <p:cNvSpPr txBox="1"/>
              <p:nvPr/>
            </p:nvSpPr>
            <p:spPr>
              <a:xfrm>
                <a:off x="1738646" y="4492495"/>
                <a:ext cx="5666708" cy="54425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3B93649-6409-5B07-A51D-14739697B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646" y="4492495"/>
                <a:ext cx="5666708" cy="5442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61871F5-143F-757F-B7BD-7493A5CB17E6}"/>
                  </a:ext>
                </a:extLst>
              </p:cNvPr>
              <p:cNvSpPr txBox="1"/>
              <p:nvPr/>
            </p:nvSpPr>
            <p:spPr>
              <a:xfrm>
                <a:off x="1738646" y="5411105"/>
                <a:ext cx="5666708" cy="69153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61871F5-143F-757F-B7BD-7493A5CB1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646" y="5411105"/>
                <a:ext cx="5666708" cy="6915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990600"/>
          </a:xfrm>
        </p:spPr>
        <p:txBody>
          <a:bodyPr/>
          <a:lstStyle/>
          <a:p>
            <a:pPr algn="just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负二项回归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negative binomial</a:t>
            </a:r>
            <a:r>
              <a:rPr lang="en-US" altLang="zh-CN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 regression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负二项分布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概率质量函数</a:t>
            </a:r>
            <a:r>
              <a:rPr lang="zh-CN" altLang="en-US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推导</a:t>
            </a:r>
            <a:endParaRPr lang="en-US" altLang="zh-CN" b="1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55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FA6B514-7250-6DA5-DEF2-8C3169E00835}"/>
                  </a:ext>
                </a:extLst>
              </p:cNvPr>
              <p:cNvSpPr txBox="1"/>
              <p:nvPr/>
            </p:nvSpPr>
            <p:spPr>
              <a:xfrm>
                <a:off x="1738646" y="2696338"/>
                <a:ext cx="5666708" cy="69153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FA6B514-7250-6DA5-DEF2-8C3169E00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646" y="2696338"/>
                <a:ext cx="5666708" cy="6915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0B70516-C7FA-6F68-E037-A2C809448453}"/>
                  </a:ext>
                </a:extLst>
              </p:cNvPr>
              <p:cNvSpPr txBox="1"/>
              <p:nvPr/>
            </p:nvSpPr>
            <p:spPr>
              <a:xfrm>
                <a:off x="1738646" y="3599149"/>
                <a:ext cx="5666708" cy="243034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m:rPr>
                          <m:aln/>
                        </m:rP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! 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…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! 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0B70516-C7FA-6F68-E037-A2C809448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646" y="3599149"/>
                <a:ext cx="5666708" cy="24303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424E65C-6036-6E78-B3B3-C3F6C6731D10}"/>
                  </a:ext>
                </a:extLst>
              </p:cNvPr>
              <p:cNvSpPr txBox="1"/>
              <p:nvPr/>
            </p:nvSpPr>
            <p:spPr>
              <a:xfrm>
                <a:off x="1738646" y="6240769"/>
                <a:ext cx="5666708" cy="54425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424E65C-6036-6E78-B3B3-C3F6C6731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646" y="6240769"/>
                <a:ext cx="5666708" cy="5442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6CF14384-F445-F6A1-B3DA-FF367D28730F}"/>
              </a:ext>
            </a:extLst>
          </p:cNvPr>
          <p:cNvSpPr txBox="1"/>
          <p:nvPr/>
        </p:nvSpPr>
        <p:spPr>
          <a:xfrm>
            <a:off x="6709394" y="2511672"/>
            <a:ext cx="695960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</a:p>
        </p:txBody>
      </p: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B0493E6C-9144-C8A8-2639-BF02C6ED31EB}"/>
              </a:ext>
            </a:extLst>
          </p:cNvPr>
          <p:cNvCxnSpPr>
            <a:stCxn id="2" idx="3"/>
            <a:endCxn id="13" idx="3"/>
          </p:cNvCxnSpPr>
          <p:nvPr/>
        </p:nvCxnSpPr>
        <p:spPr>
          <a:xfrm>
            <a:off x="7405354" y="3042106"/>
            <a:ext cx="12700" cy="3470789"/>
          </a:xfrm>
          <a:prstGeom prst="bentConnector3">
            <a:avLst>
              <a:gd name="adj1" fmla="val 5058953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6907F7B1-B39A-483A-A438-2F8118FF4AC6}"/>
              </a:ext>
            </a:extLst>
          </p:cNvPr>
          <p:cNvCxnSpPr>
            <a:cxnSpLocks/>
            <a:stCxn id="3" idx="3"/>
            <a:endCxn id="13" idx="3"/>
          </p:cNvCxnSpPr>
          <p:nvPr/>
        </p:nvCxnSpPr>
        <p:spPr>
          <a:xfrm>
            <a:off x="7405354" y="4814322"/>
            <a:ext cx="12700" cy="1698573"/>
          </a:xfrm>
          <a:prstGeom prst="bentConnector3">
            <a:avLst>
              <a:gd name="adj1" fmla="val 503474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E3E1BE6-9350-80B0-A72C-38C92AA9925E}"/>
              </a:ext>
            </a:extLst>
          </p:cNvPr>
          <p:cNvSpPr txBox="1"/>
          <p:nvPr/>
        </p:nvSpPr>
        <p:spPr>
          <a:xfrm>
            <a:off x="5913747" y="3414483"/>
            <a:ext cx="1497957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组合数公式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990600"/>
          </a:xfrm>
        </p:spPr>
        <p:txBody>
          <a:bodyPr/>
          <a:lstStyle/>
          <a:p>
            <a:pPr algn="just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负二项回归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negative binomial</a:t>
            </a:r>
            <a:r>
              <a:rPr lang="en-US" altLang="zh-CN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 regression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93100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负二项分布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概率质量函数</a:t>
                </a:r>
                <a:r>
                  <a:rPr lang="zh-CN" altLang="en-US" b="1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特征</a:t>
                </a:r>
                <a:endParaRPr lang="en-US" altLang="zh-CN" b="1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期望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𝑟𝑝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方差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𝑟𝑝</m:t>
                        </m:r>
                      </m:num>
                      <m:den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1−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b="0" i="1" dirty="0">
                  <a:solidFill>
                    <a:srgbClr val="121212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93100" cy="4876800"/>
              </a:xfrm>
              <a:blipFill>
                <a:blip r:embed="rId3"/>
                <a:stretch>
                  <a:fillRect l="-956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287AF07-0257-11CD-31ED-2E9B5B461F67}"/>
                  </a:ext>
                </a:extLst>
              </p:cNvPr>
              <p:cNvSpPr txBox="1"/>
              <p:nvPr/>
            </p:nvSpPr>
            <p:spPr>
              <a:xfrm>
                <a:off x="1738646" y="2696338"/>
                <a:ext cx="5666708" cy="69153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287AF07-0257-11CD-31ED-2E9B5B461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646" y="2696338"/>
                <a:ext cx="5666708" cy="6915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990600"/>
          </a:xfrm>
        </p:spPr>
        <p:txBody>
          <a:bodyPr/>
          <a:lstStyle/>
          <a:p>
            <a:pPr algn="just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负二项回归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negative binomial</a:t>
            </a:r>
            <a:r>
              <a:rPr lang="en-US" altLang="zh-CN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 regression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93100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负二项分布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概率质量函数</a:t>
                </a:r>
                <a:r>
                  <a:rPr lang="zh-CN" altLang="en-US" b="1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特征</a:t>
                </a:r>
                <a:endParaRPr lang="en-US" altLang="zh-CN" b="1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期望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𝑟𝑝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方差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𝑟𝑝</m:t>
                        </m:r>
                      </m:num>
                      <m:den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1−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b="0" i="1" dirty="0">
                  <a:solidFill>
                    <a:srgbClr val="121212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solidFill>
                      <a:srgbClr val="121212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𝔼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den>
                    </m:f>
                    <m:r>
                      <a:rPr lang="en-US" altLang="zh-CN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zh-CN" altLang="en-US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𝔼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方差大于期望：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过离散（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overdispersion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b="1" i="1" dirty="0">
                  <a:solidFill>
                    <a:srgbClr val="C0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3">
                  <a:buClr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为离散参数：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当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，负二项分布 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泊松分布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93100" cy="4876800"/>
              </a:xfrm>
              <a:blipFill>
                <a:blip r:embed="rId3"/>
                <a:stretch>
                  <a:fillRect l="-956" t="-1375" b="-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287AF07-0257-11CD-31ED-2E9B5B461F67}"/>
                  </a:ext>
                </a:extLst>
              </p:cNvPr>
              <p:cNvSpPr txBox="1"/>
              <p:nvPr/>
            </p:nvSpPr>
            <p:spPr>
              <a:xfrm>
                <a:off x="1738646" y="2696338"/>
                <a:ext cx="5666708" cy="69153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287AF07-0257-11CD-31ED-2E9B5B461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646" y="2696338"/>
                <a:ext cx="5666708" cy="6915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FE80593A-6FF9-CEAD-D48F-C345EC8ABD1E}"/>
              </a:ext>
            </a:extLst>
          </p:cNvPr>
          <p:cNvSpPr/>
          <p:nvPr/>
        </p:nvSpPr>
        <p:spPr>
          <a:xfrm>
            <a:off x="781049" y="4964931"/>
            <a:ext cx="5666709" cy="6915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53F94D-33F7-544D-3784-0AFBB5DEC400}"/>
              </a:ext>
            </a:extLst>
          </p:cNvPr>
          <p:cNvSpPr txBox="1"/>
          <p:nvPr/>
        </p:nvSpPr>
        <p:spPr>
          <a:xfrm>
            <a:off x="457200" y="6488668"/>
            <a:ext cx="464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https://zhuanlan.zhihu.com/p/111632687</a:t>
            </a:r>
          </a:p>
        </p:txBody>
      </p:sp>
    </p:spTree>
    <p:extLst>
      <p:ext uri="{BB962C8B-B14F-4D97-AF65-F5344CB8AC3E}">
        <p14:creationId xmlns:p14="http://schemas.microsoft.com/office/powerpoint/2010/main" val="5501872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990600"/>
          </a:xfrm>
        </p:spPr>
        <p:txBody>
          <a:bodyPr/>
          <a:lstStyle/>
          <a:p>
            <a:pPr algn="just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负二项回归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negative binomial</a:t>
            </a:r>
            <a:r>
              <a:rPr lang="en-US" altLang="zh-CN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 regression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93100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负二项分布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概率质量函数</a:t>
                </a:r>
                <a:r>
                  <a:rPr lang="zh-CN" altLang="en-US" b="1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变形</a:t>
                </a:r>
                <a:endParaRPr lang="en-US" altLang="zh-CN" b="1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引入伽玛函数（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gamma function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）：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d>
                      <m:dPr>
                        <m:ctrlPr>
                          <a:rPr lang="el-GR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el-GR" altLang="zh-CN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l-GR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l-GR" altLang="zh-CN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!</m:t>
                    </m:r>
                  </m:oMath>
                </a14:m>
                <a:endParaRPr lang="en-US" altLang="zh-CN" i="1" dirty="0">
                  <a:solidFill>
                    <a:srgbClr val="121212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93100" cy="4876800"/>
              </a:xfrm>
              <a:blipFill>
                <a:blip r:embed="rId3"/>
                <a:stretch>
                  <a:fillRect l="-956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2E54400-36F5-BBA6-F4AD-117600E182CC}"/>
                  </a:ext>
                </a:extLst>
              </p:cNvPr>
              <p:cNvSpPr txBox="1"/>
              <p:nvPr/>
            </p:nvSpPr>
            <p:spPr>
              <a:xfrm>
                <a:off x="1738646" y="2696338"/>
                <a:ext cx="5666708" cy="69153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2E54400-36F5-BBA6-F4AD-117600E18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646" y="2696338"/>
                <a:ext cx="5666708" cy="6915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A309F5F-1CB9-0EAE-5758-1858D0EE752D}"/>
                  </a:ext>
                </a:extLst>
              </p:cNvPr>
              <p:cNvSpPr txBox="1"/>
              <p:nvPr/>
            </p:nvSpPr>
            <p:spPr>
              <a:xfrm>
                <a:off x="1207460" y="4342162"/>
                <a:ext cx="6729079" cy="73314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000" i="1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</m:d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A309F5F-1CB9-0EAE-5758-1858D0EE7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460" y="4342162"/>
                <a:ext cx="6729079" cy="7331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83DB7437-5BA9-199C-F1F4-E2D22BE04F26}"/>
              </a:ext>
            </a:extLst>
          </p:cNvPr>
          <p:cNvCxnSpPr>
            <a:cxnSpLocks/>
            <a:endCxn id="9" idx="3"/>
          </p:cNvCxnSpPr>
          <p:nvPr/>
        </p:nvCxnSpPr>
        <p:spPr>
          <a:xfrm rot="16200000" flipH="1">
            <a:off x="6837630" y="3609828"/>
            <a:ext cx="1666632" cy="531186"/>
          </a:xfrm>
          <a:prstGeom prst="bentConnector4">
            <a:avLst>
              <a:gd name="adj1" fmla="val 139"/>
              <a:gd name="adj2" fmla="val 143036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F542E81-623F-3D9A-4F33-039A32EDFF70}"/>
                  </a:ext>
                </a:extLst>
              </p:cNvPr>
              <p:cNvSpPr txBox="1"/>
              <p:nvPr/>
            </p:nvSpPr>
            <p:spPr>
              <a:xfrm>
                <a:off x="383547" y="4157496"/>
                <a:ext cx="1647826" cy="36933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的函数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F542E81-623F-3D9A-4F33-039A32ED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47" y="4157496"/>
                <a:ext cx="1647826" cy="369332"/>
              </a:xfrm>
              <a:prstGeom prst="rect">
                <a:avLst/>
              </a:prstGeom>
              <a:blipFill>
                <a:blip r:embed="rId6"/>
                <a:stretch>
                  <a:fillRect t="-6250" b="-20313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990600"/>
          </a:xfrm>
        </p:spPr>
        <p:txBody>
          <a:bodyPr/>
          <a:lstStyle/>
          <a:p>
            <a:pPr algn="just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负二项回归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negative binomial</a:t>
            </a:r>
            <a:r>
              <a:rPr lang="en-US" altLang="zh-CN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 regression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93100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负二项分布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概率质量函数</a:t>
                </a:r>
                <a:r>
                  <a:rPr lang="zh-CN" altLang="en-US" b="1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变形</a:t>
                </a:r>
                <a:endParaRPr lang="en-US" altLang="zh-CN" b="1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引入伽玛函数（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gamma function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）：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d>
                      <m:dPr>
                        <m:ctrlPr>
                          <a:rPr lang="el-GR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el-GR" altLang="zh-CN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l-GR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l-GR" altLang="zh-CN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!</m:t>
                    </m:r>
                  </m:oMath>
                </a14:m>
                <a:endParaRPr lang="en-US" altLang="zh-CN" i="1" dirty="0">
                  <a:solidFill>
                    <a:srgbClr val="121212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dirty="0">
                  <a:solidFill>
                    <a:srgbClr val="121212"/>
                  </a:solidFill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solidFill>
                      <a:srgbClr val="121212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solidFill>
                      <a:srgbClr val="121212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因为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i="1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𝑟𝑝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zh-CN" altLang="en-US" b="0" i="0" dirty="0">
                    <a:solidFill>
                      <a:srgbClr val="121212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，所以</a:t>
                </a:r>
                <a:r>
                  <a:rPr lang="en-US" altLang="zh-CN" b="0" i="0" dirty="0">
                    <a:solidFill>
                      <a:srgbClr val="121212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num>
                      <m:den>
                        <m:r>
                          <a:rPr lang="zh-CN" altLang="en-US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zh-CN" altLang="en-US" b="0" i="1" dirty="0">
                    <a:solidFill>
                      <a:srgbClr val="121212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，</a:t>
                </a:r>
                <a:r>
                  <a:rPr lang="zh-CN" altLang="en-US" b="0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以及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i="1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endParaRPr lang="en-US" altLang="zh-CN" b="0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93100" cy="4876800"/>
              </a:xfrm>
              <a:blipFill>
                <a:blip r:embed="rId3"/>
                <a:stretch>
                  <a:fillRect l="-956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2E54400-36F5-BBA6-F4AD-117600E182CC}"/>
                  </a:ext>
                </a:extLst>
              </p:cNvPr>
              <p:cNvSpPr txBox="1"/>
              <p:nvPr/>
            </p:nvSpPr>
            <p:spPr>
              <a:xfrm>
                <a:off x="1738646" y="2696338"/>
                <a:ext cx="5666708" cy="69153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2E54400-36F5-BBA6-F4AD-117600E18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646" y="2696338"/>
                <a:ext cx="5666708" cy="6915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A309F5F-1CB9-0EAE-5758-1858D0EE752D}"/>
                  </a:ext>
                </a:extLst>
              </p:cNvPr>
              <p:cNvSpPr txBox="1"/>
              <p:nvPr/>
            </p:nvSpPr>
            <p:spPr>
              <a:xfrm>
                <a:off x="1207460" y="4342162"/>
                <a:ext cx="6729079" cy="73314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000" i="1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</m:d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A309F5F-1CB9-0EAE-5758-1858D0EE7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460" y="4342162"/>
                <a:ext cx="6729079" cy="7331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099E526-1630-E1DD-8DBA-7EB4779F9427}"/>
                  </a:ext>
                </a:extLst>
              </p:cNvPr>
              <p:cNvSpPr txBox="1"/>
              <p:nvPr/>
            </p:nvSpPr>
            <p:spPr>
              <a:xfrm>
                <a:off x="1207460" y="5878260"/>
                <a:ext cx="6729078" cy="89268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00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00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num>
                                <m:den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099E526-1630-E1DD-8DBA-7EB4779F9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460" y="5878260"/>
                <a:ext cx="6729078" cy="8926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D735247-5D70-FC3D-0D0B-0210FBA23A17}"/>
                  </a:ext>
                </a:extLst>
              </p:cNvPr>
              <p:cNvSpPr txBox="1"/>
              <p:nvPr/>
            </p:nvSpPr>
            <p:spPr>
              <a:xfrm>
                <a:off x="383547" y="5693594"/>
                <a:ext cx="1647826" cy="36933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的函数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D735247-5D70-FC3D-0D0B-0210FBA23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47" y="5693594"/>
                <a:ext cx="1647826" cy="369332"/>
              </a:xfrm>
              <a:prstGeom prst="rect">
                <a:avLst/>
              </a:prstGeom>
              <a:blipFill>
                <a:blip r:embed="rId7"/>
                <a:stretch>
                  <a:fillRect t="-7813" b="-20313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98DE6E54-2FD8-402B-5B7D-1E884CDB4DE6}"/>
              </a:ext>
            </a:extLst>
          </p:cNvPr>
          <p:cNvCxnSpPr>
            <a:cxnSpLocks/>
            <a:stCxn id="9" idx="3"/>
            <a:endCxn id="12" idx="3"/>
          </p:cNvCxnSpPr>
          <p:nvPr/>
        </p:nvCxnSpPr>
        <p:spPr>
          <a:xfrm flipH="1">
            <a:off x="7936538" y="4708737"/>
            <a:ext cx="1" cy="1615863"/>
          </a:xfrm>
          <a:prstGeom prst="bentConnector3">
            <a:avLst>
              <a:gd name="adj1" fmla="val -2286000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491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990600"/>
          </a:xfrm>
        </p:spPr>
        <p:txBody>
          <a:bodyPr/>
          <a:lstStyle/>
          <a:p>
            <a:pPr algn="just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负二项回归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negative binomial</a:t>
            </a:r>
            <a:r>
              <a:rPr lang="en-US" altLang="zh-CN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 regression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931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负二项回归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从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GLM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的角度定义负二项回归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随机部分</a:t>
            </a:r>
            <a:endParaRPr lang="en-US" altLang="zh-CN" b="1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60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5AC5EE3-974E-711F-3CE8-F03686E60B22}"/>
                  </a:ext>
                </a:extLst>
              </p:cNvPr>
              <p:cNvSpPr txBox="1"/>
              <p:nvPr/>
            </p:nvSpPr>
            <p:spPr>
              <a:xfrm>
                <a:off x="1223960" y="3120015"/>
                <a:ext cx="6696075" cy="89268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𝜷</m:t>
                              </m:r>
                            </m:e>
                          </m:d>
                        </m:e>
                      </m:d>
                      <m:r>
                        <a:rPr lang="en-US" altLang="zh-CN" sz="200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00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 smtClean="0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5AC5EE3-974E-711F-3CE8-F03686E60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960" y="3120015"/>
                <a:ext cx="6696075" cy="892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990600"/>
          </a:xfrm>
        </p:spPr>
        <p:txBody>
          <a:bodyPr/>
          <a:lstStyle/>
          <a:p>
            <a:pPr algn="just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负二项回归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negative binomial</a:t>
            </a:r>
            <a:r>
              <a:rPr lang="en-US" altLang="zh-CN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 regression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931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负二项回归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从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GLM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的角度定义负二项回归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随机部分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49275" lvl="2" indent="0">
              <a:lnSpc>
                <a:spcPct val="150000"/>
              </a:lnSpc>
              <a:buNone/>
            </a:pP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49275" lvl="2" indent="0">
              <a:lnSpc>
                <a:spcPct val="150000"/>
              </a:lnSpc>
              <a:buClrTx/>
              <a:buNone/>
            </a:pP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系统部分</a:t>
            </a:r>
            <a:endParaRPr lang="en-US" altLang="zh-CN" b="1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5AC5EE3-974E-711F-3CE8-F03686E60B22}"/>
                  </a:ext>
                </a:extLst>
              </p:cNvPr>
              <p:cNvSpPr txBox="1"/>
              <p:nvPr/>
            </p:nvSpPr>
            <p:spPr>
              <a:xfrm>
                <a:off x="1223960" y="3120015"/>
                <a:ext cx="6696075" cy="89268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𝜷</m:t>
                              </m:r>
                            </m:e>
                          </m:d>
                        </m:e>
                      </m:d>
                      <m:r>
                        <a:rPr lang="en-US" altLang="zh-CN" sz="200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00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 smtClean="0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5AC5EE3-974E-711F-3CE8-F03686E60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960" y="3120015"/>
                <a:ext cx="6696075" cy="892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18EDD5-6A6A-9297-1F14-99112E56A203}"/>
                  </a:ext>
                </a:extLst>
              </p:cNvPr>
              <p:cNvSpPr txBox="1"/>
              <p:nvPr/>
            </p:nvSpPr>
            <p:spPr>
              <a:xfrm>
                <a:off x="1223959" y="4532305"/>
                <a:ext cx="6696075" cy="40562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𝜂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zh-CN" alt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𝜷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18EDD5-6A6A-9297-1F14-99112E56A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959" y="4532305"/>
                <a:ext cx="6696075" cy="405624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63321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990600"/>
          </a:xfrm>
        </p:spPr>
        <p:txBody>
          <a:bodyPr/>
          <a:lstStyle/>
          <a:p>
            <a:pPr algn="just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负二项回归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negative binomial</a:t>
            </a:r>
            <a:r>
              <a:rPr lang="en-US" altLang="zh-CN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 regression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931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负二项回归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从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GLM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的角度定义负二项回归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随机部分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49275" lvl="2" indent="0">
              <a:lnSpc>
                <a:spcPct val="150000"/>
              </a:lnSpc>
              <a:buNone/>
            </a:pP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49275" lvl="2" indent="0">
              <a:lnSpc>
                <a:spcPct val="150000"/>
              </a:lnSpc>
              <a:buClrTx/>
              <a:buNone/>
            </a:pP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系统部分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endParaRPr lang="en-US" altLang="zh-CN" b="0" i="0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en-US" altLang="zh-CN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b="1" i="0" dirty="0">
                <a:solidFill>
                  <a:srgbClr val="121212"/>
                </a:solidFill>
                <a:latin typeface="Cambria Math" panose="020405030504060302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连接函数</a:t>
            </a:r>
            <a:endParaRPr lang="en-US" altLang="zh-CN" b="1" dirty="0">
              <a:solidFill>
                <a:srgbClr val="121212"/>
              </a:solidFill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62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5AC5EE3-974E-711F-3CE8-F03686E60B22}"/>
                  </a:ext>
                </a:extLst>
              </p:cNvPr>
              <p:cNvSpPr txBox="1"/>
              <p:nvPr/>
            </p:nvSpPr>
            <p:spPr>
              <a:xfrm>
                <a:off x="1223960" y="3120015"/>
                <a:ext cx="6696075" cy="89268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𝜷</m:t>
                              </m:r>
                            </m:e>
                          </m:d>
                        </m:e>
                      </m:d>
                      <m:r>
                        <a:rPr lang="en-US" altLang="zh-CN" sz="200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00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 smtClean="0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5AC5EE3-974E-711F-3CE8-F03686E60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960" y="3120015"/>
                <a:ext cx="6696075" cy="892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18EDD5-6A6A-9297-1F14-99112E56A203}"/>
                  </a:ext>
                </a:extLst>
              </p:cNvPr>
              <p:cNvSpPr txBox="1"/>
              <p:nvPr/>
            </p:nvSpPr>
            <p:spPr>
              <a:xfrm>
                <a:off x="1223959" y="4532305"/>
                <a:ext cx="6696075" cy="40562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𝜂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zh-CN" alt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𝜷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18EDD5-6A6A-9297-1F14-99112E56A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959" y="4532305"/>
                <a:ext cx="6696075" cy="405624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1ACA308-BE02-22C4-6FE1-0EF6F67B557A}"/>
                  </a:ext>
                </a:extLst>
              </p:cNvPr>
              <p:cNvSpPr txBox="1"/>
              <p:nvPr/>
            </p:nvSpPr>
            <p:spPr>
              <a:xfrm>
                <a:off x="1223959" y="5481473"/>
                <a:ext cx="6696075" cy="45198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𝜂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</m:func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⟶</m:t>
                      </m:r>
                      <m:r>
                        <a:rPr lang="zh-CN" altLang="en-US" sz="2000" b="0" i="1" dirty="0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zh-CN" sz="2000" b="0" i="1" dirty="0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dirty="0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dirty="0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sup>
                      </m:sSup>
                      <m:r>
                        <a:rPr lang="en-US" altLang="zh-CN" sz="2000" b="0" i="1" dirty="0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 dirty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dirty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</m:sup>
                      </m:sSup>
                    </m:oMath>
                  </m:oMathPara>
                </a14:m>
                <a:endParaRPr lang="en-US" altLang="zh-CN" b="0" i="0" dirty="0">
                  <a:solidFill>
                    <a:srgbClr val="121212"/>
                  </a:solidFill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1ACA308-BE02-22C4-6FE1-0EF6F67B5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959" y="5481473"/>
                <a:ext cx="6696075" cy="451983"/>
              </a:xfrm>
              <a:prstGeom prst="rect">
                <a:avLst/>
              </a:prstGeom>
              <a:blipFill>
                <a:blip r:embed="rId5"/>
                <a:stretch>
                  <a:fillRect b="-131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333349E6-506D-77EC-BDD2-C8F9534929A0}"/>
              </a:ext>
            </a:extLst>
          </p:cNvPr>
          <p:cNvSpPr txBox="1"/>
          <p:nvPr/>
        </p:nvSpPr>
        <p:spPr>
          <a:xfrm>
            <a:off x="320357" y="5481473"/>
            <a:ext cx="1807203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和泊松回归一样</a:t>
            </a:r>
          </a:p>
        </p:txBody>
      </p:sp>
    </p:spTree>
    <p:extLst>
      <p:ext uri="{BB962C8B-B14F-4D97-AF65-F5344CB8AC3E}">
        <p14:creationId xmlns:p14="http://schemas.microsoft.com/office/powerpoint/2010/main" val="24590904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990600"/>
          </a:xfrm>
        </p:spPr>
        <p:txBody>
          <a:bodyPr/>
          <a:lstStyle/>
          <a:p>
            <a:pPr algn="just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负二项回归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negative binomial</a:t>
            </a:r>
            <a:r>
              <a:rPr lang="en-US" altLang="zh-CN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 regression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931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负二项回归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GLM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的角度求解负二项回归：最大似然估计！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63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888ADE9-32A8-6066-0ED1-80047151D4DF}"/>
                  </a:ext>
                </a:extLst>
              </p:cNvPr>
              <p:cNvSpPr txBox="1"/>
              <p:nvPr/>
            </p:nvSpPr>
            <p:spPr>
              <a:xfrm>
                <a:off x="1223962" y="2848488"/>
                <a:ext cx="6696075" cy="89268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𝜷</m:t>
                              </m:r>
                            </m:e>
                          </m:d>
                        </m:e>
                      </m:d>
                      <m:r>
                        <a:rPr lang="en-US" altLang="zh-CN" sz="200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00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 smtClean="0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888ADE9-32A8-6066-0ED1-80047151D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962" y="2848488"/>
                <a:ext cx="6696075" cy="892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9A823D5-C414-E3D4-02C1-087E85408472}"/>
                  </a:ext>
                </a:extLst>
              </p:cNvPr>
              <p:cNvSpPr txBox="1"/>
              <p:nvPr/>
            </p:nvSpPr>
            <p:spPr>
              <a:xfrm>
                <a:off x="1223961" y="4176456"/>
                <a:ext cx="6696075" cy="9326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dirty="0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 dirty="0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0" dirty="0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CN" altLang="en-US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𝜷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000" b="0" i="1" dirty="0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2000" b="0" i="1" dirty="0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CN" altLang="en-US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𝜷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altLang="zh-CN" sz="2000" b="1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0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𝐗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2000" b="0" i="1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nary>
                            <m:naryPr>
                              <m:chr m:val="∏"/>
                              <m:ctrlPr>
                                <a:rPr lang="en-US" altLang="zh-CN" sz="2000" i="1" dirty="0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dirty="0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dirty="0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dirty="0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|"/>
                                      <m:endChr m:val=""/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solidFill>
                                                <a:srgbClr val="121212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>
                                              <a:solidFill>
                                                <a:srgbClr val="121212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121212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2000" b="1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𝜷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9A823D5-C414-E3D4-02C1-087E85408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961" y="4176456"/>
                <a:ext cx="6696075" cy="9326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DA1195B2-5D5E-82FF-E3C8-4CE842BDE439}"/>
              </a:ext>
            </a:extLst>
          </p:cNvPr>
          <p:cNvCxnSpPr>
            <a:cxnSpLocks/>
            <a:stCxn id="2" idx="1"/>
            <a:endCxn id="9" idx="0"/>
          </p:cNvCxnSpPr>
          <p:nvPr/>
        </p:nvCxnSpPr>
        <p:spPr>
          <a:xfrm rot="10800000" flipH="1" flipV="1">
            <a:off x="1223961" y="3294828"/>
            <a:ext cx="3348037" cy="881628"/>
          </a:xfrm>
          <a:prstGeom prst="bentConnector4">
            <a:avLst>
              <a:gd name="adj1" fmla="val -6828"/>
              <a:gd name="adj2" fmla="val 75313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4152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990600"/>
          </a:xfrm>
        </p:spPr>
        <p:txBody>
          <a:bodyPr/>
          <a:lstStyle/>
          <a:p>
            <a:pPr algn="just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负二项回归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negative binomial</a:t>
            </a:r>
            <a:r>
              <a:rPr lang="en-US" altLang="zh-CN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 regression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931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负二项回归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GLM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的角度求解负二项回归：最大似然估计！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课外阅读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“Negative binomial regression_1.pdf”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：对数似然函数及其偏导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Negative binomial regression_2.pdf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”：负二项与泊松的数学关联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64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888ADE9-32A8-6066-0ED1-80047151D4DF}"/>
                  </a:ext>
                </a:extLst>
              </p:cNvPr>
              <p:cNvSpPr txBox="1"/>
              <p:nvPr/>
            </p:nvSpPr>
            <p:spPr>
              <a:xfrm>
                <a:off x="1223962" y="2848488"/>
                <a:ext cx="6696075" cy="89268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𝜷</m:t>
                              </m:r>
                            </m:e>
                          </m:d>
                        </m:e>
                      </m:d>
                      <m:r>
                        <a:rPr lang="en-US" altLang="zh-CN" sz="200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00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 smtClean="0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888ADE9-32A8-6066-0ED1-80047151D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962" y="2848488"/>
                <a:ext cx="6696075" cy="892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9A823D5-C414-E3D4-02C1-087E85408472}"/>
                  </a:ext>
                </a:extLst>
              </p:cNvPr>
              <p:cNvSpPr txBox="1"/>
              <p:nvPr/>
            </p:nvSpPr>
            <p:spPr>
              <a:xfrm>
                <a:off x="1223961" y="4176456"/>
                <a:ext cx="6696075" cy="9326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dirty="0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 dirty="0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0" dirty="0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CN" altLang="en-US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𝜷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000" b="0" i="1" dirty="0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2000" b="0" i="1" dirty="0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CN" altLang="en-US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𝜷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altLang="zh-CN" sz="2000" b="1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0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𝐗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2000" b="0" i="1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nary>
                            <m:naryPr>
                              <m:chr m:val="∏"/>
                              <m:ctrlPr>
                                <a:rPr lang="en-US" altLang="zh-CN" sz="2000" i="1" dirty="0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dirty="0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dirty="0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dirty="0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|"/>
                                      <m:endChr m:val=""/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solidFill>
                                                <a:srgbClr val="121212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>
                                              <a:solidFill>
                                                <a:srgbClr val="121212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121212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2000" b="1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𝜷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9A823D5-C414-E3D4-02C1-087E85408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961" y="4176456"/>
                <a:ext cx="6696075" cy="9326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DA1195B2-5D5E-82FF-E3C8-4CE842BDE439}"/>
              </a:ext>
            </a:extLst>
          </p:cNvPr>
          <p:cNvCxnSpPr>
            <a:cxnSpLocks/>
            <a:stCxn id="2" idx="1"/>
            <a:endCxn id="9" idx="0"/>
          </p:cNvCxnSpPr>
          <p:nvPr/>
        </p:nvCxnSpPr>
        <p:spPr>
          <a:xfrm rot="10800000" flipH="1" flipV="1">
            <a:off x="1223961" y="3294828"/>
            <a:ext cx="3348037" cy="881628"/>
          </a:xfrm>
          <a:prstGeom prst="bentConnector4">
            <a:avLst>
              <a:gd name="adj1" fmla="val -6828"/>
              <a:gd name="adj2" fmla="val 75313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990600"/>
          </a:xfrm>
        </p:spPr>
        <p:txBody>
          <a:bodyPr/>
          <a:lstStyle/>
          <a:p>
            <a:pPr algn="just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负二项回归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negative binomial</a:t>
            </a:r>
            <a:r>
              <a:rPr lang="en-US" altLang="zh-CN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 regression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）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931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负二项回归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49275" lvl="2" indent="0">
              <a:lnSpc>
                <a:spcPct val="150000"/>
              </a:lnSpc>
              <a:buNone/>
            </a:pP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65</a:t>
            </a:fld>
            <a:endParaRPr lang="en-US" altLang="zh-CN" dirty="0"/>
          </a:p>
        </p:txBody>
      </p:sp>
      <p:pic>
        <p:nvPicPr>
          <p:cNvPr id="10" name="Picture 1" descr="C:\Users\cheng\AppData\Roaming\Tencent\Users\394197411\QQ\WinTemp\RichOle\27TY6V64IHPYIFLIBU@~T2V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00" y="2320638"/>
            <a:ext cx="7920000" cy="379710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DA84739-4FD2-403B-B305-1E99134203B7}"/>
              </a:ext>
            </a:extLst>
          </p:cNvPr>
          <p:cNvSpPr/>
          <p:nvPr/>
        </p:nvSpPr>
        <p:spPr>
          <a:xfrm>
            <a:off x="457200" y="3233788"/>
            <a:ext cx="8229600" cy="129058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FFB313-4AFD-6AA8-A757-A5F2B7ED3FBF}"/>
              </a:ext>
            </a:extLst>
          </p:cNvPr>
          <p:cNvSpPr/>
          <p:nvPr/>
        </p:nvSpPr>
        <p:spPr>
          <a:xfrm>
            <a:off x="457200" y="5016689"/>
            <a:ext cx="8229600" cy="7268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DC07EB-44D9-C78E-EFD2-3616EE7B5B43}"/>
              </a:ext>
            </a:extLst>
          </p:cNvPr>
          <p:cNvSpPr/>
          <p:nvPr/>
        </p:nvSpPr>
        <p:spPr>
          <a:xfrm>
            <a:off x="457200" y="4562474"/>
            <a:ext cx="8229600" cy="1714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计数回归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计数数据</a:t>
            </a:r>
            <a:endParaRPr lang="en-US" altLang="zh-CN" sz="2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泊松回归</a:t>
            </a:r>
            <a:endParaRPr lang="en-US" altLang="zh-CN" sz="2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负二项回归</a:t>
            </a:r>
            <a:endParaRPr lang="en-US" altLang="zh-CN" sz="2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零膨胀泊松回归、负二项回归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77982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93100" cy="990600"/>
          </a:xfrm>
        </p:spPr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零膨胀泊松回归、负二项回归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93100" cy="4876800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什么是“零膨胀”？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67</a:t>
            </a:fld>
            <a:endParaRPr lang="en-US" altLang="zh-CN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93100" cy="990600"/>
          </a:xfrm>
        </p:spPr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零膨胀泊松回归、负二项回归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93100" cy="4876800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什么是“零膨胀”？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观测数据为</a:t>
            </a:r>
            <a:r>
              <a:rPr lang="en-US" altLang="zh-CN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的比重较大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749047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93100" cy="990600"/>
          </a:xfrm>
        </p:spPr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零膨胀泊松回归、负二项回归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931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什么是“零膨胀”？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观测数据为</a:t>
            </a:r>
            <a:r>
              <a:rPr lang="en-US" altLang="zh-CN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的比重较大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为什么“零膨胀”？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924044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93100" cy="990600"/>
          </a:xfrm>
        </p:spPr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零膨胀泊松回归、负二项回归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931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什么是“零膨胀”？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观测数据为</a:t>
            </a:r>
            <a:r>
              <a:rPr lang="en-US" altLang="zh-CN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的比重较大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为什么“零膨胀”？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两种截然不同的原因：未观测到 </a:t>
            </a:r>
            <a:r>
              <a:rPr lang="en-US" altLang="zh-CN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vs. </a:t>
            </a: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很难观测到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例如，某路段车道宽、限速低、车辆少，发生事故的可能性极低（很难观测到），但是不排除重大人为事故（未观测到）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70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081127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93100" cy="990600"/>
          </a:xfrm>
        </p:spPr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零膨胀泊松回归、负二项回归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931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什么是“零膨胀”？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观测数据为</a:t>
            </a:r>
            <a:r>
              <a:rPr lang="en-US" altLang="zh-CN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的比重较大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为什么“零膨胀”？</a:t>
            </a:r>
            <a:endParaRPr lang="en-US" altLang="zh-CN" sz="2800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两种截然不同的原因：未观测到 </a:t>
            </a:r>
            <a:r>
              <a:rPr lang="en-US" altLang="zh-CN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vs. </a:t>
            </a: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很难观测到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例如，某路段车道宽、限速低、车辆少，发生事故的可能性极低（很难观测到），但是不排除重大人为事故（未观测到）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如何处理“零膨胀”？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71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188260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93100" cy="990600"/>
          </a:xfrm>
        </p:spPr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零膨胀泊松回归、负二项回归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931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什么是“零膨胀”？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观测数据为</a:t>
            </a:r>
            <a:r>
              <a:rPr lang="en-US" altLang="zh-CN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的比重较大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为什么“零膨胀”？</a:t>
            </a:r>
            <a:endParaRPr lang="en-US" altLang="zh-CN" sz="2800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两种截然不同的原因：未观测到 </a:t>
            </a:r>
            <a:r>
              <a:rPr lang="en-US" altLang="zh-CN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vs. </a:t>
            </a: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很难观测到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例如，某路段车道宽、限速低、车辆少，发生事故的可能性极低（很难观测到），但是不排除重大人为事故（未观测到）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如何处理“零膨胀”？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分类！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72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297594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93100" cy="990600"/>
          </a:xfrm>
        </p:spPr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零膨胀泊松回归、负二项回归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93100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零膨胀泊松回归</a:t>
                </a: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假设很难观测到的概率为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那么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为服从泊松分布的概率</a:t>
                </a: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93100" cy="4876800"/>
              </a:xfrm>
              <a:blipFill>
                <a:blip r:embed="rId3"/>
                <a:stretch>
                  <a:fillRect l="-956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73</a:t>
            </a:fld>
            <a:endParaRPr lang="en-US" altLang="zh-CN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93100" cy="990600"/>
          </a:xfrm>
        </p:spPr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零膨胀泊松回归、负二项回归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391525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零膨胀泊松回归</a:t>
                </a: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假设很难观测到的概率为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那么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为服从泊松分布的概率</a:t>
                </a: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那么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服从泊松分布但未观测到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的概率为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391525" cy="4876800"/>
              </a:xfrm>
              <a:blipFill>
                <a:blip r:embed="rId3"/>
                <a:stretch>
                  <a:fillRect l="-944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74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1818829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93100" cy="990600"/>
          </a:xfrm>
        </p:spPr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零膨胀泊松回归、负二项回归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20100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零膨胀泊松回归</a:t>
                </a: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假设很难观测到的概率为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那么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为服从泊松分布的概率</a:t>
                </a: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那么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服从泊松分布但未观测到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的概率为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  <m:sSup>
                          <m:sSupPr>
                            <m:ctrlPr>
                              <a:rPr lang="en-US" altLang="zh-CN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20100" cy="4876800"/>
              </a:xfrm>
              <a:blipFill>
                <a:blip r:embed="rId3"/>
                <a:stretch>
                  <a:fillRect l="-941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75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F328B3F-675F-E430-B2E9-EAFBAF2CEE1B}"/>
                  </a:ext>
                </a:extLst>
              </p:cNvPr>
              <p:cNvSpPr txBox="1"/>
              <p:nvPr/>
            </p:nvSpPr>
            <p:spPr>
              <a:xfrm>
                <a:off x="1851910" y="4875387"/>
                <a:ext cx="4724400" cy="76482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=1,2,…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F328B3F-675F-E430-B2E9-EAFBAF2CE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910" y="4875387"/>
                <a:ext cx="4724400" cy="7648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9216F0B-E28D-0AD6-4128-B5AE712EBB60}"/>
                  </a:ext>
                </a:extLst>
              </p:cNvPr>
              <p:cNvSpPr txBox="1"/>
              <p:nvPr/>
            </p:nvSpPr>
            <p:spPr>
              <a:xfrm>
                <a:off x="1851910" y="4189721"/>
                <a:ext cx="4724400" cy="41460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zh-CN" altLang="en-US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9216F0B-E28D-0AD6-4128-B5AE712EB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910" y="4189721"/>
                <a:ext cx="4724400" cy="414601"/>
              </a:xfrm>
              <a:prstGeom prst="rect">
                <a:avLst/>
              </a:prstGeom>
              <a:blipFill>
                <a:blip r:embed="rId5"/>
                <a:stretch>
                  <a:fillRect b="-8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7673E9C-B535-9D71-735A-36FD11FA159A}"/>
                  </a:ext>
                </a:extLst>
              </p:cNvPr>
              <p:cNvSpPr txBox="1"/>
              <p:nvPr/>
            </p:nvSpPr>
            <p:spPr>
              <a:xfrm>
                <a:off x="3402566" y="703739"/>
                <a:ext cx="5547559" cy="64992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7673E9C-B535-9D71-735A-36FD11FA1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566" y="703739"/>
                <a:ext cx="5547559" cy="6499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F367EE17-AFBD-5B63-BEE2-9518FEAF62E3}"/>
              </a:ext>
            </a:extLst>
          </p:cNvPr>
          <p:cNvCxnSpPr>
            <a:cxnSpLocks/>
            <a:endCxn id="12" idx="3"/>
          </p:cNvCxnSpPr>
          <p:nvPr/>
        </p:nvCxnSpPr>
        <p:spPr>
          <a:xfrm rot="5400000">
            <a:off x="5600287" y="2329684"/>
            <a:ext cx="3043362" cy="1091315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4C960EF8-C0D7-D617-E9D5-625DEE95A9E6}"/>
              </a:ext>
            </a:extLst>
          </p:cNvPr>
          <p:cNvCxnSpPr>
            <a:cxnSpLocks/>
            <a:endCxn id="10" idx="3"/>
          </p:cNvCxnSpPr>
          <p:nvPr/>
        </p:nvCxnSpPr>
        <p:spPr>
          <a:xfrm rot="5400000">
            <a:off x="5428040" y="2501931"/>
            <a:ext cx="3904139" cy="1607598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9535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93100" cy="990600"/>
          </a:xfrm>
        </p:spPr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零膨胀泊松回归、负二项回归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931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零膨胀负二项回归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与零膨胀泊松回归原理一样！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76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A18046B-6294-DEF6-851B-308A27081352}"/>
                  </a:ext>
                </a:extLst>
              </p:cNvPr>
              <p:cNvSpPr txBox="1"/>
              <p:nvPr/>
            </p:nvSpPr>
            <p:spPr>
              <a:xfrm>
                <a:off x="421538" y="2786063"/>
                <a:ext cx="8293100" cy="89268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sz="200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A18046B-6294-DEF6-851B-308A27081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38" y="2786063"/>
                <a:ext cx="8293100" cy="892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3DE725-3800-EDD2-B71C-7BA7EF1F91B6}"/>
                  </a:ext>
                </a:extLst>
              </p:cNvPr>
              <p:cNvSpPr txBox="1"/>
              <p:nvPr/>
            </p:nvSpPr>
            <p:spPr>
              <a:xfrm>
                <a:off x="421538" y="4038600"/>
                <a:ext cx="8293100" cy="89268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00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00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2000" b="0" i="1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 smtClean="0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  <m:r>
                        <a:rPr lang="en-US" altLang="zh-CN" sz="2000" b="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000" b="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2000" b="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=1,2,…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3DE725-3800-EDD2-B71C-7BA7EF1F9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38" y="4038600"/>
                <a:ext cx="8293100" cy="8926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9E542E1-10AD-B98F-A0E7-253708C7E2F8}"/>
                  </a:ext>
                </a:extLst>
              </p:cNvPr>
              <p:cNvSpPr txBox="1"/>
              <p:nvPr/>
            </p:nvSpPr>
            <p:spPr>
              <a:xfrm>
                <a:off x="2254050" y="582360"/>
                <a:ext cx="6696075" cy="89268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𝜷</m:t>
                              </m:r>
                            </m:e>
                          </m:d>
                        </m:e>
                      </m:d>
                      <m:r>
                        <a:rPr lang="en-US" altLang="zh-CN" sz="200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00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altLang="zh-CN" sz="2000" i="1" smtClean="0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 smtClean="0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9E542E1-10AD-B98F-A0E7-253708C7E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050" y="582360"/>
                <a:ext cx="6696075" cy="8926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BBE22B1-86A1-E650-DB1B-3B9E18765689}"/>
              </a:ext>
            </a:extLst>
          </p:cNvPr>
          <p:cNvCxnSpPr>
            <a:cxnSpLocks/>
          </p:cNvCxnSpPr>
          <p:nvPr/>
        </p:nvCxnSpPr>
        <p:spPr>
          <a:xfrm>
            <a:off x="7734300" y="1475040"/>
            <a:ext cx="0" cy="131102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C039824-CA0D-4D68-41C4-B1A407B50961}"/>
              </a:ext>
            </a:extLst>
          </p:cNvPr>
          <p:cNvCxnSpPr>
            <a:cxnSpLocks/>
          </p:cNvCxnSpPr>
          <p:nvPr/>
        </p:nvCxnSpPr>
        <p:spPr>
          <a:xfrm>
            <a:off x="8286750" y="1475039"/>
            <a:ext cx="0" cy="256356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199" y="533400"/>
            <a:ext cx="8299051" cy="990600"/>
          </a:xfrm>
        </p:spPr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零膨胀泊松回归、负二项回归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686801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零膨胀 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vs.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非零膨胀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什么时候应该用零膨胀？</a:t>
            </a:r>
            <a:endParaRPr lang="en-US" altLang="zh-CN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77</a:t>
            </a:fld>
            <a:endParaRPr lang="en-US" altLang="zh-CN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199" y="533400"/>
            <a:ext cx="8299051" cy="990600"/>
          </a:xfrm>
        </p:spPr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零膨胀泊松回归、负二项回归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686801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零膨胀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vs.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非零膨胀</a:t>
                </a: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什么时候应该用零膨胀：假设检验！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Vuong </a:t>
                </a:r>
                <a:r>
                  <a:rPr lang="zh-CN" altLang="en-US" b="1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检验</a:t>
                </a:r>
                <a:endParaRPr lang="en-US" altLang="zh-CN" b="1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对每个观测点，首先计算</a:t>
                </a: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23595" lvl="3" indent="0">
                  <a:lnSpc>
                    <a:spcPct val="150000"/>
                  </a:lnSpc>
                  <a:buNone/>
                </a:pPr>
                <a:endParaRPr lang="en-US" altLang="zh-CN" dirty="0">
                  <a:solidFill>
                    <a:srgbClr val="121212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|"/>
                            <m:endChr m:val=""/>
                            <m:ctrlPr>
                              <a:rPr lang="en-US" altLang="zh-CN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和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|"/>
                            <m:endChr m:val=""/>
                            <m:ctrlP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分别为模型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的概率质量或密度函数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274320" lvl="1" indent="0">
                  <a:lnSpc>
                    <a:spcPct val="150000"/>
                  </a:lnSpc>
                  <a:buNone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686801" cy="4876800"/>
              </a:xfrm>
              <a:blipFill>
                <a:blip r:embed="rId3"/>
                <a:stretch>
                  <a:fillRect l="-912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78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0866CA7-DA02-C609-5B83-D28C65C6E9ED}"/>
                  </a:ext>
                </a:extLst>
              </p:cNvPr>
              <p:cNvSpPr txBox="1"/>
              <p:nvPr/>
            </p:nvSpPr>
            <p:spPr>
              <a:xfrm>
                <a:off x="3058160" y="3712965"/>
                <a:ext cx="3027613" cy="6512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0866CA7-DA02-C609-5B83-D28C65C6E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160" y="3712965"/>
                <a:ext cx="3027613" cy="6512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01991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199" y="533400"/>
            <a:ext cx="8299051" cy="990600"/>
          </a:xfrm>
        </p:spPr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零膨胀泊松回归、负二项回归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686801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零膨胀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vs.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非零膨胀</a:t>
                </a: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什么时候应该用零膨胀：假设检验！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Vuong </a:t>
                </a:r>
                <a:r>
                  <a:rPr lang="zh-CN" altLang="en-US" b="1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检验</a:t>
                </a:r>
                <a:endParaRPr lang="en-US" altLang="zh-CN" b="1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对每个观测点，首先计算</a:t>
                </a: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23595" lvl="3" indent="0">
                  <a:lnSpc>
                    <a:spcPct val="150000"/>
                  </a:lnSpc>
                  <a:buNone/>
                </a:pPr>
                <a:endParaRPr lang="en-US" altLang="zh-CN" dirty="0">
                  <a:solidFill>
                    <a:srgbClr val="121212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|"/>
                            <m:endChr m:val=""/>
                            <m:ctrlPr>
                              <a:rPr lang="en-US" altLang="zh-CN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和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|"/>
                            <m:endChr m:val=""/>
                            <m:ctrlP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分别为模型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的概率质量或密度函数</a:t>
                </a: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然后计算 </a:t>
                </a:r>
                <a:r>
                  <a:rPr lang="en-US" altLang="zh-CN" dirty="0">
                    <a:solidFill>
                      <a:srgbClr val="121212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Vuong </a:t>
                </a:r>
                <a:r>
                  <a:rPr lang="zh-CN" altLang="en-US" dirty="0">
                    <a:solidFill>
                      <a:srgbClr val="121212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统计量（近似服从标准正态分布）</a:t>
                </a: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320" lvl="1" indent="0">
                  <a:lnSpc>
                    <a:spcPct val="150000"/>
                  </a:lnSpc>
                  <a:buNone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686801" cy="4876800"/>
              </a:xfrm>
              <a:blipFill>
                <a:blip r:embed="rId3"/>
                <a:stretch>
                  <a:fillRect l="-912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79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0866CA7-DA02-C609-5B83-D28C65C6E9ED}"/>
                  </a:ext>
                </a:extLst>
              </p:cNvPr>
              <p:cNvSpPr txBox="1"/>
              <p:nvPr/>
            </p:nvSpPr>
            <p:spPr>
              <a:xfrm>
                <a:off x="3058160" y="3712965"/>
                <a:ext cx="3027613" cy="6512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0866CA7-DA02-C609-5B83-D28C65C6E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160" y="3712965"/>
                <a:ext cx="3027613" cy="6512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AE950C9-867B-6246-74DC-44629608A0E8}"/>
                  </a:ext>
                </a:extLst>
              </p:cNvPr>
              <p:cNvSpPr txBox="1"/>
              <p:nvPr/>
            </p:nvSpPr>
            <p:spPr>
              <a:xfrm>
                <a:off x="1970223" y="5518943"/>
                <a:ext cx="5203485" cy="103425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  <m:acc>
                            <m:accPr>
                              <m:chr m:val="̅"/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</m:ac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zh-CN" sz="200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000" i="1">
                                              <a:solidFill>
                                                <a:srgbClr val="121212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i="1">
                                                  <a:solidFill>
                                                    <a:srgbClr val="121212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i="1">
                                                  <a:solidFill>
                                                    <a:srgbClr val="121212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Times New Roman" panose="020206030504050203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solidFill>
                                                    <a:srgbClr val="121212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000" i="1">
                                              <a:solidFill>
                                                <a:srgbClr val="121212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zh-CN" sz="2000" i="1">
                                                  <a:solidFill>
                                                    <a:srgbClr val="121212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sz="2000" i="1">
                                                  <a:solidFill>
                                                    <a:srgbClr val="121212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Times New Roman" panose="020206030504050203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̅"/>
                          <m:ctrlPr>
                            <a:rPr lang="en-US" altLang="zh-CN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AE950C9-867B-6246-74DC-44629608A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223" y="5518943"/>
                <a:ext cx="5203485" cy="10342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1739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199" y="533400"/>
            <a:ext cx="8299051" cy="990600"/>
          </a:xfrm>
        </p:spPr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零膨胀泊松回归、负二项回归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686801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零膨胀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vs.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非零膨胀</a:t>
                </a: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什么时候应该用零膨胀：假设检验！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Vuong </a:t>
                </a:r>
                <a:r>
                  <a:rPr lang="zh-CN" altLang="en-US" b="1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检验</a:t>
                </a:r>
                <a:endParaRPr lang="en-US" altLang="zh-CN" b="1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对每个观测点，首先计算</a:t>
                </a: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23595" lvl="3" indent="0">
                  <a:lnSpc>
                    <a:spcPct val="150000"/>
                  </a:lnSpc>
                  <a:buNone/>
                </a:pPr>
                <a:endParaRPr lang="en-US" altLang="zh-CN" dirty="0">
                  <a:solidFill>
                    <a:srgbClr val="121212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|"/>
                            <m:endChr m:val=""/>
                            <m:ctrlPr>
                              <a:rPr lang="en-US" altLang="zh-CN" i="1" smtClean="0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和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|"/>
                            <m:endChr m:val=""/>
                            <m:ctrlPr>
                              <a:rPr lang="en-US" altLang="zh-CN" i="1">
                                <a:solidFill>
                                  <a:srgbClr val="1212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12121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分别为模型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的概率质量或密度函数</a:t>
                </a: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然后计算 </a:t>
                </a:r>
                <a:r>
                  <a:rPr lang="en-US" altLang="zh-CN" dirty="0">
                    <a:solidFill>
                      <a:srgbClr val="121212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Vuong </a:t>
                </a:r>
                <a:r>
                  <a:rPr lang="zh-CN" altLang="en-US" dirty="0">
                    <a:solidFill>
                      <a:srgbClr val="121212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统计量（近似服从标准正态分布）</a:t>
                </a: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320" lvl="1" indent="0">
                  <a:lnSpc>
                    <a:spcPct val="150000"/>
                  </a:lnSpc>
                  <a:buNone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686801" cy="4876800"/>
              </a:xfrm>
              <a:blipFill>
                <a:blip r:embed="rId3"/>
                <a:stretch>
                  <a:fillRect l="-912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80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0866CA7-DA02-C609-5B83-D28C65C6E9ED}"/>
                  </a:ext>
                </a:extLst>
              </p:cNvPr>
              <p:cNvSpPr txBox="1"/>
              <p:nvPr/>
            </p:nvSpPr>
            <p:spPr>
              <a:xfrm>
                <a:off x="3058160" y="3712965"/>
                <a:ext cx="3027613" cy="6512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0866CA7-DA02-C609-5B83-D28C65C6E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160" y="3712965"/>
                <a:ext cx="3027613" cy="6512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AE950C9-867B-6246-74DC-44629608A0E8}"/>
                  </a:ext>
                </a:extLst>
              </p:cNvPr>
              <p:cNvSpPr txBox="1"/>
              <p:nvPr/>
            </p:nvSpPr>
            <p:spPr>
              <a:xfrm>
                <a:off x="1970223" y="5518943"/>
                <a:ext cx="5203485" cy="103425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  <m:acc>
                            <m:accPr>
                              <m:chr m:val="̅"/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</m:ac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solidFill>
                                    <a:srgbClr val="12121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zh-CN" sz="200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b="0" i="1" smtClean="0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solidFill>
                                        <a:srgbClr val="12121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000" i="1">
                                              <a:solidFill>
                                                <a:srgbClr val="121212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i="1">
                                                  <a:solidFill>
                                                    <a:srgbClr val="121212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i="1">
                                                  <a:solidFill>
                                                    <a:srgbClr val="121212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Times New Roman" panose="020206030504050203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solidFill>
                                                    <a:srgbClr val="121212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000" i="1">
                                              <a:solidFill>
                                                <a:srgbClr val="121212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zh-CN" sz="2000" i="1">
                                                  <a:solidFill>
                                                    <a:srgbClr val="121212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sz="2000" i="1">
                                                  <a:solidFill>
                                                    <a:srgbClr val="121212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  <a:cs typeface="Times New Roman" panose="020206030504050203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12121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̅"/>
                          <m:ctrlPr>
                            <a:rPr lang="en-US" altLang="zh-CN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12121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12121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AE950C9-867B-6246-74DC-44629608A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223" y="5518943"/>
                <a:ext cx="5203485" cy="10342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EC452F2-203A-9975-6E89-220517C5B00C}"/>
                  </a:ext>
                </a:extLst>
              </p:cNvPr>
              <p:cNvSpPr txBox="1"/>
              <p:nvPr/>
            </p:nvSpPr>
            <p:spPr>
              <a:xfrm>
                <a:off x="4945214" y="2770623"/>
                <a:ext cx="4004911" cy="253595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3"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和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分别是零膨胀负二项分布和负二项分布的概率质量函数，在</a:t>
                </a:r>
                <a:r>
                  <a:rPr lang="en-US" altLang="zh-CN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0.05</a:t>
                </a: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的显著性水平下：</a:t>
                </a: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00100" lvl="4" indent="-3429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zh-CN" b="0" dirty="0">
                    <a:solidFill>
                      <a:srgbClr val="121212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≥1.96</m:t>
                    </m:r>
                  </m:oMath>
                </a14:m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：零膨胀负二项回归</a:t>
                </a: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800100" lvl="4" indent="-3429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zh-CN" dirty="0">
                    <a:solidFill>
                      <a:srgbClr val="121212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altLang="zh-CN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1.96</m:t>
                    </m:r>
                  </m:oMath>
                </a14:m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：负二项回归</a:t>
                </a: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800100" lvl="4" indent="-3429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zh-CN" b="0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−1.96&lt;</m:t>
                    </m:r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&lt;1.96</m:t>
                    </m:r>
                  </m:oMath>
                </a14:m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：不显著 </a:t>
                </a: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EC452F2-203A-9975-6E89-220517C5B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214" y="2770623"/>
                <a:ext cx="4004911" cy="2535951"/>
              </a:xfrm>
              <a:prstGeom prst="rect">
                <a:avLst/>
              </a:prstGeom>
              <a:blipFill>
                <a:blip r:embed="rId6"/>
                <a:stretch>
                  <a:fillRect l="-906" r="-755" b="-260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70488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计数回归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模型总结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81</a:t>
            </a:fld>
            <a:endParaRPr lang="en-US" altLang="zh-CN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800" y="842690"/>
            <a:ext cx="5400000" cy="44151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68516"/>
            <a:ext cx="6480000" cy="38036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 (Headings)" charset="0"/>
              </a:rPr>
              <a:t>参考文献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862801" cy="4876800"/>
          </a:xfrm>
        </p:spPr>
        <p:txBody>
          <a:bodyPr/>
          <a:lstStyle/>
          <a:p>
            <a:pPr marL="0" indent="0">
              <a:buClrTx/>
              <a:buNone/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Washington, S., 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Karlaftis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M., and Mannering, F. Statistical and Econometric Methods for Transportation Data Analysis, Chapman &amp; HALL/CRC, 2003.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3/10/2024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82</a:t>
            </a:fld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3A50209-847B-72F8-17D5-90EC261A3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338" y="1338600"/>
            <a:ext cx="3861868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3031714"/>
      </p:ext>
    </p:extLst>
  </p:cSld>
  <p:clrMapOvr>
    <a:masterClrMapping/>
  </p:clrMapOvr>
</p:sld>
</file>

<file path=ppt/theme/theme1.xml><?xml version="1.0" encoding="utf-8"?>
<a:theme xmlns:a="http://schemas.openxmlformats.org/drawingml/2006/main" name="Clarity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1088</TotalTime>
  <Words>5705</Words>
  <Application>Microsoft Office PowerPoint</Application>
  <PresentationFormat>全屏显示(4:3)</PresentationFormat>
  <Paragraphs>967</Paragraphs>
  <Slides>82</Slides>
  <Notes>67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91" baseType="lpstr">
      <vt:lpstr>Arial (Headings)</vt:lpstr>
      <vt:lpstr>等线</vt:lpstr>
      <vt:lpstr>宋体</vt:lpstr>
      <vt:lpstr>微软雅黑</vt:lpstr>
      <vt:lpstr>Arial</vt:lpstr>
      <vt:lpstr>Cambria Math</vt:lpstr>
      <vt:lpstr>Times New Roman</vt:lpstr>
      <vt:lpstr>Wingdings</vt:lpstr>
      <vt:lpstr>Clarity</vt:lpstr>
      <vt:lpstr>PowerPoint 演示文稿</vt:lpstr>
      <vt:lpstr>计数回归</vt:lpstr>
      <vt:lpstr>计数回归</vt:lpstr>
      <vt:lpstr>计数数据（count data）</vt:lpstr>
      <vt:lpstr>计数数据（count data）</vt:lpstr>
      <vt:lpstr>计数回归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泊松回归（Poisson regression）</vt:lpstr>
      <vt:lpstr>计数回归</vt:lpstr>
      <vt:lpstr>负二项回归（negative binomial regression）</vt:lpstr>
      <vt:lpstr>负二项回归（negative binomial regression）</vt:lpstr>
      <vt:lpstr>负二项回归（negative binomial regression）</vt:lpstr>
      <vt:lpstr>负二项回归（negative binomial regression）</vt:lpstr>
      <vt:lpstr>负二项回归（negative binomial regression）</vt:lpstr>
      <vt:lpstr>负二项回归（negative binomial regression）</vt:lpstr>
      <vt:lpstr>负二项回归（negative binomial regression）</vt:lpstr>
      <vt:lpstr>负二项回归（negative binomial regression）</vt:lpstr>
      <vt:lpstr>负二项回归（negative binomial regression）</vt:lpstr>
      <vt:lpstr>负二项回归（negative binomial regression）</vt:lpstr>
      <vt:lpstr>负二项回归（negative binomial regression）</vt:lpstr>
      <vt:lpstr>负二项回归（negative binomial regression）</vt:lpstr>
      <vt:lpstr>计数回归</vt:lpstr>
      <vt:lpstr>零膨胀泊松回归、负二项回归</vt:lpstr>
      <vt:lpstr>零膨胀泊松回归、负二项回归</vt:lpstr>
      <vt:lpstr>零膨胀泊松回归、负二项回归</vt:lpstr>
      <vt:lpstr>零膨胀泊松回归、负二项回归</vt:lpstr>
      <vt:lpstr>零膨胀泊松回归、负二项回归</vt:lpstr>
      <vt:lpstr>零膨胀泊松回归、负二项回归</vt:lpstr>
      <vt:lpstr>零膨胀泊松回归、负二项回归</vt:lpstr>
      <vt:lpstr>零膨胀泊松回归、负二项回归</vt:lpstr>
      <vt:lpstr>零膨胀泊松回归、负二项回归</vt:lpstr>
      <vt:lpstr>零膨胀泊松回归、负二项回归</vt:lpstr>
      <vt:lpstr>零膨胀泊松回归、负二项回归</vt:lpstr>
      <vt:lpstr>零膨胀泊松回归、负二项回归</vt:lpstr>
      <vt:lpstr>零膨胀泊松回归、负二项回归</vt:lpstr>
      <vt:lpstr>零膨胀泊松回归、负二项回归</vt:lpstr>
      <vt:lpstr>计数回归</vt:lpstr>
      <vt:lpstr>参考文献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 Huang</dc:creator>
  <cp:lastModifiedBy>Ziyuan Gu</cp:lastModifiedBy>
  <cp:revision>967</cp:revision>
  <dcterms:created xsi:type="dcterms:W3CDTF">2016-02-16T07:55:00Z</dcterms:created>
  <dcterms:modified xsi:type="dcterms:W3CDTF">2024-03-10T05:53:16Z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F745459A08364DDE863AE907F010706A</vt:lpwstr>
  </property>
  <property fmtid="{D5CDD505-2E9C-101B-9397-08002B2CF9AE}" pid="3" name="KSOProductBuildVer">
    <vt:lpwstr>2052-11.1.0.11365</vt:lpwstr>
  </property>
</Properties>
</file>