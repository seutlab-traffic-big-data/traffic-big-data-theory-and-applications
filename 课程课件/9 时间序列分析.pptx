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315" r:id="rId2"/>
    <p:sldId id="629" r:id="rId3"/>
    <p:sldId id="510" r:id="rId4"/>
    <p:sldId id="630" r:id="rId5"/>
    <p:sldId id="663" r:id="rId6"/>
    <p:sldId id="664" r:id="rId7"/>
    <p:sldId id="665" r:id="rId8"/>
    <p:sldId id="667" r:id="rId9"/>
    <p:sldId id="670" r:id="rId10"/>
    <p:sldId id="671" r:id="rId11"/>
    <p:sldId id="672" r:id="rId12"/>
    <p:sldId id="698" r:id="rId13"/>
    <p:sldId id="631" r:id="rId14"/>
    <p:sldId id="632" r:id="rId15"/>
    <p:sldId id="633" r:id="rId16"/>
    <p:sldId id="699" r:id="rId17"/>
    <p:sldId id="700" r:id="rId18"/>
    <p:sldId id="701" r:id="rId19"/>
    <p:sldId id="702" r:id="rId20"/>
    <p:sldId id="703" r:id="rId21"/>
    <p:sldId id="704" r:id="rId22"/>
    <p:sldId id="634" r:id="rId23"/>
    <p:sldId id="635" r:id="rId24"/>
    <p:sldId id="637" r:id="rId25"/>
    <p:sldId id="70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2" autoAdjust="0"/>
    <p:restoredTop sz="94937" autoAdjust="0"/>
  </p:normalViewPr>
  <p:slideViewPr>
    <p:cSldViewPr snapToGrid="0" showGuides="1">
      <p:cViewPr>
        <p:scale>
          <a:sx n="70" d="100"/>
          <a:sy n="70" d="100"/>
        </p:scale>
        <p:origin x="848" y="3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BBA7-2751-4186-92D7-BAFE14A83317}" type="datetimeFigureOut">
              <a:rPr lang="zh-CN" altLang="en-US" smtClean="0"/>
              <a:pPr/>
              <a:t>2023/4/10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12F08-2C51-4761-8379-7BF5B777E4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2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03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103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114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394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626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432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603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696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32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749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631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635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165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869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9739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442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670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305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351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659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31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971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4753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80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8962F3-5C89-4ACE-9D39-2CB78D975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9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225ECE-2AD3-40C3-8EA9-72D1C5F82C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405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8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36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828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19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06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8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4/10/2023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595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102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707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1838" lvl="2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038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enku.baidu.com/view/c7461b05f71fb7360b4c2e3f5727a5e9846a2720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18" name="Straight Connector 7">
            <a:extLst>
              <a:ext uri="{FF2B5EF4-FFF2-40B4-BE49-F238E27FC236}">
                <a16:creationId xmlns:a16="http://schemas.microsoft.com/office/drawing/2014/main" id="{2A233031-8D03-4901-8383-A2AA18EAE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EA2EE785-CA96-4F3C-84BF-759A95B42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CEDA5244-A09E-44E8-A507-0DA628E35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</a:t>
            </a:r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35E0AA4D-0668-44C2-BF4E-282BE8760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181" y="2877344"/>
            <a:ext cx="80881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时间序列分析</a:t>
            </a:r>
          </a:p>
        </p:txBody>
      </p:sp>
    </p:spTree>
    <p:extLst>
      <p:ext uri="{BB962C8B-B14F-4D97-AF65-F5344CB8AC3E}">
        <p14:creationId xmlns:p14="http://schemas.microsoft.com/office/powerpoint/2010/main" val="321466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概述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在一定时间内，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按时间顺序测量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某个变量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的取值序列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某路段每小时车流量的变化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某地区每天交通事故数的变化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时间序列分析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统计方法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对序列的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对变量的时间变化特性建模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对变量的未来取值进行预测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研究过去预测未来！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841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2256"/>
            <a:ext cx="8229600" cy="990600"/>
          </a:xfrm>
        </p:spPr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概述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73956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时间序列分类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一元时间序列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多元时间序列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离散时间序列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连续时间序列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平稳时间序列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（均值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常数、协方差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为时间间隔的函数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8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非平稳时间序列 （均值、方差随时间变化）</a:t>
            </a:r>
            <a:endParaRPr lang="en-US" altLang="zh-CN" sz="18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时间序列的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趋势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，在某一方向上持续运动（早高峰路段车流量持续增加）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季节变化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（冬天高速公路事故率增加）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序列相关性（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serial correlation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）或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自相关性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autocorrelation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时间前后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存在相关性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随机噪声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（不确定性运动）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除去趋势、季节变化和自相关性之后，剩下的随机扰动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753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概述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566151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时间序列分析方法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描述性方法（看图说话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德国业余天文学家施瓦尔发现太阳黑子的活动具有11年左右的周期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统计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（时间上的相关性）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频域（分解为不同频率的周期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波动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傅里叶变换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3BCB9434-650A-4844-9DDC-55C772BEA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802028"/>
              </p:ext>
            </p:extLst>
          </p:nvPr>
        </p:nvGraphicFramePr>
        <p:xfrm>
          <a:off x="2667002" y="4170260"/>
          <a:ext cx="3676648" cy="254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4" imgW="3572374" imgH="2476190" progId="Paint.Picture">
                  <p:embed/>
                </p:oleObj>
              </mc:Choice>
              <mc:Fallback>
                <p:oleObj r:id="rId4" imgW="3572374" imgH="2476190" progId="Paint.Picture">
                  <p:embed/>
                  <p:pic>
                    <p:nvPicPr>
                      <p:cNvPr id="12292" name="Object 4">
                        <a:extLst>
                          <a:ext uri="{FF2B5EF4-FFF2-40B4-BE49-F238E27FC236}">
                            <a16:creationId xmlns:a16="http://schemas.microsoft.com/office/drawing/2014/main" id="{FAB5DC2D-F520-40A5-8659-4408991C2D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2" y="4170260"/>
                        <a:ext cx="3676648" cy="25488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522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时间序列模型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三种模型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  <p:pic>
        <p:nvPicPr>
          <p:cNvPr id="9" name="图片 8" descr="2019042121443934">
            <a:extLst>
              <a:ext uri="{FF2B5EF4-FFF2-40B4-BE49-F238E27FC236}">
                <a16:creationId xmlns:a16="http://schemas.microsoft.com/office/drawing/2014/main" id="{D3F618B2-4343-4A34-8B3E-8C2BF47C44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4235" y="2418600"/>
            <a:ext cx="8075529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1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时间序列之移动平均法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根据时间序列资料逐渐推移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依次计算包含一定项数的时序平均数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以反映长期趋势。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当时间序列由于受周期变动和不规则变动的影响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起伏较大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不易显示出发展趋势时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可用移动平均法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消除这些因素的影响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预测长期趋势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简单移动平均法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加权移动平均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</a:t>
            </a:fld>
            <a:endParaRPr lang="en-US" altLang="zh-CN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 txBox="1">
            <a:spLocks/>
          </p:cNvSpPr>
          <p:nvPr/>
        </p:nvSpPr>
        <p:spPr bwMode="auto">
          <a:xfrm>
            <a:off x="609600" y="6858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just" defTabSz="914400"/>
            <a:r>
              <a:rPr lang="zh-CN" altLang="en-US" b="1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时间序列模型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44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时间序列之移动平均法：简单移动平均法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</a:t>
            </a:fld>
            <a:endParaRPr lang="en-US" altLang="zh-CN" dirty="0"/>
          </a:p>
        </p:txBody>
      </p:sp>
      <p:pic>
        <p:nvPicPr>
          <p:cNvPr id="9" name="图片 8" descr="20190421215833870">
            <a:extLst>
              <a:ext uri="{FF2B5EF4-FFF2-40B4-BE49-F238E27FC236}">
                <a16:creationId xmlns:a16="http://schemas.microsoft.com/office/drawing/2014/main" id="{0687C3A2-F29A-4B70-B6F6-F543E680B7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70"/>
          <a:stretch/>
        </p:blipFill>
        <p:spPr>
          <a:xfrm>
            <a:off x="457199" y="2233200"/>
            <a:ext cx="8224518" cy="432000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时间序列模型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69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时间序列之移动平均法：简单移动平均法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某企业 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 月份的销售收入时间序列如表 1 示。试用一次简单滑动平均法预测第 12 月份的销售收入。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</a:t>
            </a:fld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C71A822-C2CD-4BE3-8FBF-EF177B648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10" y="3085463"/>
            <a:ext cx="6111377" cy="1260000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85083D7-85BC-4700-9543-4669205E4A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29" b="15366"/>
          <a:stretch/>
        </p:blipFill>
        <p:spPr bwMode="auto">
          <a:xfrm>
            <a:off x="457199" y="4238441"/>
            <a:ext cx="6310055" cy="243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时间序列模型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BD85778-CF1B-4E6C-9BDE-A580B50898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82" r="30083"/>
          <a:stretch/>
        </p:blipFill>
        <p:spPr bwMode="auto">
          <a:xfrm>
            <a:off x="4956345" y="5634195"/>
            <a:ext cx="3936041" cy="39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2721AE2E-3596-4B72-BE87-6EF0269B7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4" r="48932" b="40795"/>
          <a:stretch/>
        </p:blipFill>
        <p:spPr bwMode="auto">
          <a:xfrm>
            <a:off x="5226517" y="5973137"/>
            <a:ext cx="2329314" cy="70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43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时间序列之移动平均法：加权移动平均法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在简单移动平均中，每期数据在求平均时的</a:t>
            </a:r>
            <a:r>
              <a:rPr lang="zh-CN" altLang="en-US" sz="180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作用是等同的</a:t>
            </a:r>
            <a:r>
              <a:rPr lang="zh-CN" altLang="en-US" sz="18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i="0" dirty="0">
              <a:solidFill>
                <a:srgbClr val="4D4D4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但是数据所包含的信息量不一样，</a:t>
            </a:r>
            <a:r>
              <a:rPr lang="zh-CN" altLang="en-US" sz="1800" b="1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近期数据包含着更多关于未来情况</a:t>
            </a:r>
            <a:r>
              <a:rPr lang="zh-CN" altLang="en-US" sz="1800" b="1" i="0" dirty="0" smtClean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1800" b="0" i="0" dirty="0" smtClean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i="0" dirty="0">
              <a:solidFill>
                <a:srgbClr val="4D4D4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18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把各期数据等同看待是不尽合理的，应</a:t>
            </a:r>
            <a:r>
              <a:rPr lang="zh-CN" altLang="en-US" sz="1800" b="1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考虑各期数据的重要性</a:t>
            </a:r>
            <a:r>
              <a:rPr lang="zh-CN" altLang="en-US" sz="1800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b="1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对近期数据给予较大的权重</a:t>
            </a:r>
            <a:r>
              <a:rPr lang="zh-CN" altLang="en-US" sz="1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53F0B6A-4294-4853-BC89-BA7A9D648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13" y="4038600"/>
            <a:ext cx="829417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时间序列模型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10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时间序列之移动平均法：加权移动平均法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我国1979-1988年原煤产量如表2所示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试用加权移动平均法预测1989年的产量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</a:t>
            </a:fld>
            <a:endParaRPr lang="en-US" altLang="zh-CN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BFF9F75-239A-4576-A2DB-17C21AEDA2BA}"/>
              </a:ext>
            </a:extLst>
          </p:cNvPr>
          <p:cNvGrpSpPr>
            <a:grpSpLocks noChangeAspect="1"/>
          </p:cNvGrpSpPr>
          <p:nvPr/>
        </p:nvGrpSpPr>
        <p:grpSpPr>
          <a:xfrm>
            <a:off x="360434" y="3318600"/>
            <a:ext cx="8423132" cy="1440000"/>
            <a:chOff x="547093" y="1484100"/>
            <a:chExt cx="8115577" cy="138742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F5F69A1-82CF-4E92-BD75-9ED572458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420" y="1484100"/>
              <a:ext cx="8096250" cy="1057275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E91D23D-4A81-42A9-AD04-A0E724491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093" y="2509571"/>
              <a:ext cx="7943850" cy="361950"/>
            </a:xfrm>
            <a:prstGeom prst="rect">
              <a:avLst/>
            </a:prstGeom>
          </p:spPr>
        </p:pic>
      </p:grpSp>
      <p:sp>
        <p:nvSpPr>
          <p:cNvPr id="13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时间序列模型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04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时间序列之移动平均法：加权移动平均法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7862488-1D22-4F2D-A20B-13207E130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6" y="2233200"/>
            <a:ext cx="6699248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algn="just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时间序列模型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86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平稳时间序列模型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自回归（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autoregressive, AR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移动平均（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moving average, 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自回归移动平均（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autoregressive moving average, ARMA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差分自回归移动平均（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autoregressive integrated moving average, ARIMA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180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时间序列的平稳性（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stationarity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严格平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稳性（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strict stationarity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任意给定长度的两段子序列都满足相同的联合分布</a:t>
            </a:r>
            <a:endParaRPr lang="en-US" altLang="zh-CN" i="0" dirty="0">
              <a:solidFill>
                <a:srgbClr val="12121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弱平稳性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weak stationarity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b="1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均值平稳性</a:t>
            </a:r>
            <a:r>
              <a:rPr lang="zh-CN" altLang="en-US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stationary in mean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order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stationary</a:t>
            </a:r>
            <a:r>
              <a:rPr lang="zh-CN" altLang="en-US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i="0" dirty="0">
              <a:solidFill>
                <a:srgbClr val="12121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i="0" dirty="0">
              <a:solidFill>
                <a:srgbClr val="12121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b="1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方差平稳性</a:t>
            </a:r>
            <a:r>
              <a:rPr lang="zh-CN" altLang="en-US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stationary in variance, second order stationary</a:t>
            </a:r>
            <a:r>
              <a:rPr lang="zh-CN" altLang="en-US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5F333F-E74D-44ED-8CE8-28592A98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02" y="4648504"/>
            <a:ext cx="4935483" cy="36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E1DFAB8-3799-4E9D-BB9A-C2897464E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402" y="5536800"/>
            <a:ext cx="7465848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1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时间序列的平稳性（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stationarity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根据弱平稳性，时间序列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应该在一个常数值附近随机波动（均值平稳性），波动的范围有界（方差平稳性），无明显趋势、周期特征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23C67DB9-2280-43E6-8C00-2DDBE8418B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838465"/>
              </p:ext>
            </p:extLst>
          </p:nvPr>
        </p:nvGraphicFramePr>
        <p:xfrm>
          <a:off x="2136913" y="3278498"/>
          <a:ext cx="4870174" cy="3363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r:id="rId4" imgW="3572374" imgH="2467319" progId="Paint.Picture">
                  <p:embed/>
                </p:oleObj>
              </mc:Choice>
              <mc:Fallback>
                <p:oleObj r:id="rId4" imgW="3572374" imgH="2467319" progId="Paint.Picture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4FC7E854-D270-420A-9D50-E7FE7A6787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913" y="3278498"/>
                        <a:ext cx="4870174" cy="33630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5012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时间序列的自相关性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考察当前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时刻与距离当前任意间隔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时刻，变量间的线性相关关系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FA7648F-049E-4A22-A584-72E574B45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02" y="2740500"/>
            <a:ext cx="5813330" cy="3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5EAA924-BE62-49A5-9DA2-53487A1E9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702" y="3285943"/>
            <a:ext cx="4556065" cy="72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0521856-4B74-41DB-BF79-D984F25886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702" y="4894971"/>
            <a:ext cx="1456578" cy="900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742A810-B606-457F-84CB-19FFF86734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337" y="4126457"/>
            <a:ext cx="1454943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77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时间序列模型之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AR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篇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线性回归模型，但自变量是序列自身（历史观测值）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“自”回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归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96647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时间序列模型之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AR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篇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000000"/>
                    </a:solidFill>
                    <a:latin typeface="MathJax_Math-italic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一阶自回归</a:t>
                </a:r>
                <a:endParaRPr lang="en-US" altLang="zh-CN" dirty="0">
                  <a:solidFill>
                    <a:srgbClr val="000000"/>
                  </a:solidFill>
                  <a:latin typeface="MathJax_Math-italic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274637" lvl="1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称为延迟算子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solidFill>
                    <a:srgbClr val="000000"/>
                  </a:solidFill>
                  <a:latin typeface="MathJax_Math-italic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000000"/>
                    </a:solidFill>
                    <a:latin typeface="MathJax_Math-italic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二阶自回归</a:t>
                </a:r>
                <a:endParaRPr lang="en-US" altLang="zh-CN" dirty="0">
                  <a:solidFill>
                    <a:srgbClr val="000000"/>
                  </a:solidFill>
                  <a:latin typeface="MathJax_Math-italic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  <a:latin typeface="MathJax_Math-italic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athJax_Math-italic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MathJax_Math-italic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 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latin typeface="MathJax_Math-italic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3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81F8F9-73A3-4DF4-9959-873E0AEABD4D}"/>
              </a:ext>
            </a:extLst>
          </p:cNvPr>
          <p:cNvSpPr/>
          <p:nvPr/>
        </p:nvSpPr>
        <p:spPr>
          <a:xfrm>
            <a:off x="809624" y="3686175"/>
            <a:ext cx="1127125" cy="381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A4F974-8A46-4045-8610-FA3F9517DBC2}"/>
              </a:ext>
            </a:extLst>
          </p:cNvPr>
          <p:cNvSpPr/>
          <p:nvPr/>
        </p:nvSpPr>
        <p:spPr>
          <a:xfrm>
            <a:off x="809624" y="6153150"/>
            <a:ext cx="2016126" cy="381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795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时间序列模型之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MA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篇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−⋯−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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中心化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MA(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模型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l-GR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−⋯−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MA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模型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一定满足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平稳性要求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  <a:blipFill>
                <a:blip r:embed="rId3"/>
                <a:stretch>
                  <a:fillRect l="-939" t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651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时间序列模型之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MA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篇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均值</a:t>
                </a:r>
                <a:endParaRPr lang="en-US" altLang="zh-CN" i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aln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−⋯−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m:rPr>
                        <m:aln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CN" altLang="en-US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方差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m:rPr>
                        <m:aln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−⋯−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  <a:blipFill>
                <a:blip r:embed="rId3"/>
                <a:stretch>
                  <a:fillRect l="-939" t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583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时间序列模型之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ARMA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篇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</m:oMath>
                </a14:m>
                <a:r>
                  <a:rPr lang="en-US" altLang="zh-CN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阶自回归 </a:t>
                </a:r>
                <a:r>
                  <a:rPr lang="en-US" altLang="zh-CN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𝑞</m:t>
                    </m:r>
                  </m:oMath>
                </a14:m>
                <a:r>
                  <a:rPr lang="en-US" altLang="zh-CN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阶移动平均 </a:t>
                </a:r>
                <a:r>
                  <a:rPr lang="en-US" altLang="zh-CN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 ARMA(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r>
                  <a:rPr lang="en-US" altLang="zh-CN" b="0" i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−⋯−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≠0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i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  <a:blipFill>
                <a:blip r:embed="rId3"/>
                <a:stretch>
                  <a:fillRect l="-939" t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360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时间序列模型之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ARMA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篇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𝑞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的选取（防止过拟合）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自相关图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使用信息量准则（越小越好）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赤池信息量准则 （</a:t>
                </a:r>
                <a:r>
                  <a:rPr lang="en-US" altLang="zh-CN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Akaike information criterion,</a:t>
                </a:r>
                <a:r>
                  <a:rPr lang="zh-CN" altLang="en-US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AIC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b="0" i="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23912" lvl="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AIC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𝐿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贝叶斯信息量准则（</a:t>
                </a:r>
                <a:r>
                  <a:rPr lang="en-US" altLang="zh-CN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Bayesian information criterion, BIC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23912" lvl="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IC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𝐿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拟合度好坏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参数个数惩罚：有效性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集约型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参数估计</a:t>
                </a:r>
                <a:endPara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矩估计 </a:t>
                </a:r>
                <a:r>
                  <a:rPr lang="en-US" altLang="zh-CN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vs.</a:t>
                </a: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极大似然估计 </a:t>
                </a:r>
                <a:r>
                  <a:rPr lang="en-US" altLang="zh-CN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vs. </a:t>
                </a: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最小二乘</a:t>
                </a:r>
                <a:endPara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zh-CN" dirty="0">
                    <a:hlinkClick r:id="rId3"/>
                  </a:rPr>
                  <a:t>ARMA</a:t>
                </a:r>
                <a:r>
                  <a:rPr lang="zh-CN" altLang="en-US" dirty="0">
                    <a:hlinkClick r:id="rId3"/>
                  </a:rPr>
                  <a:t>模型的参数估计 </a:t>
                </a:r>
                <a:r>
                  <a:rPr lang="en-US" altLang="zh-CN" dirty="0">
                    <a:hlinkClick r:id="rId3"/>
                  </a:rPr>
                  <a:t>- </a:t>
                </a:r>
                <a:r>
                  <a:rPr lang="zh-CN" altLang="en-US" dirty="0">
                    <a:hlinkClick r:id="rId3"/>
                  </a:rPr>
                  <a:t>百度文库 </a:t>
                </a:r>
                <a:r>
                  <a:rPr lang="en-US" altLang="zh-CN" dirty="0">
                    <a:hlinkClick r:id="rId3"/>
                  </a:rPr>
                  <a:t>(baidu.com)</a:t>
                </a:r>
                <a:endPara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81150"/>
                <a:ext cx="8435187" cy="4876800"/>
              </a:xfrm>
              <a:blipFill>
                <a:blip r:embed="rId4"/>
                <a:stretch>
                  <a:fillRect l="-939" t="-1250" b="-11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485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3797252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时间序列的自相关性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自相关函数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时间序列重要特性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自相关性随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变化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通常具有短期相关性，即自相关系数随间隔数的增加很快衰减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3797252" cy="4876800"/>
              </a:xfrm>
              <a:blipFill>
                <a:blip r:embed="rId3"/>
                <a:stretch>
                  <a:fillRect l="-2087" t="-1375" r="-1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906A58-9227-483C-8A99-59517FA6C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451" y="381000"/>
            <a:ext cx="4889549" cy="6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14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3853543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时间序列的自相关性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画出相关图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可以检测时间序列在任何间隔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有无统计上显著的自相关性</a:t>
                </a:r>
                <a:endParaRPr lang="en-US" altLang="zh-CN" dirty="0">
                  <a:solidFill>
                    <a:srgbClr val="12121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可以帮助判断模型是否合适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12121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</a:t>
                </a:r>
                <a:r>
                  <a:rPr lang="zh-CN" altLang="en-US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模型很好地捕捉了自相关性，则观测时间序列与模型拟合时间序列间的残差应近似</a:t>
                </a:r>
                <a:r>
                  <a:rPr lang="zh-CN" altLang="en-US" b="1" i="0" dirty="0">
                    <a:solidFill>
                      <a:srgbClr val="121212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随机噪声</a:t>
                </a:r>
                <a:endParaRPr lang="en-US" altLang="zh-CN" b="1" i="0" dirty="0">
                  <a:solidFill>
                    <a:srgbClr val="12121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3853543" cy="4876800"/>
              </a:xfrm>
              <a:blipFill>
                <a:blip r:embed="rId3"/>
                <a:stretch>
                  <a:fillRect l="-2057" t="-1375" r="-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23</a:t>
            </a:fld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C04E808-AB81-466B-8DAD-0B7181B9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462" y="2238600"/>
            <a:ext cx="490153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76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时间序列分析的一般步骤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通过相关图（以及假设检验）了解观测时间序列的自相关性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选取时间序列模型，如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ARMA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优化模型参数，检验残差序列是否在统计上显著自相关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进行模型预测，考察泛化能力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重复上述步骤直至满足建模要求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0780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基本原理</a:t>
            </a:r>
            <a:endParaRPr lang="zh-CN" altLang="en-US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8115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时间序列模型的建模步骤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4/10/2023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25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D27016-947B-4CCA-99E5-DC34DC55EDA7}"/>
              </a:ext>
            </a:extLst>
          </p:cNvPr>
          <p:cNvGrpSpPr>
            <a:grpSpLocks noChangeAspect="1"/>
          </p:cNvGrpSpPr>
          <p:nvPr/>
        </p:nvGrpSpPr>
        <p:grpSpPr>
          <a:xfrm>
            <a:off x="947593" y="2279183"/>
            <a:ext cx="7248814" cy="4320000"/>
            <a:chOff x="672548" y="1447800"/>
            <a:chExt cx="7543800" cy="4495800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01C15ECF-C0D8-42FB-9902-22E3A0BA7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548" y="1447800"/>
              <a:ext cx="609600" cy="3124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平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稳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非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白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噪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声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序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列</a:t>
              </a: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BA3DBE39-4ADB-47B7-AE3B-F6F867D9D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2148" y="26670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32DE2109-4C45-41B1-B0B4-3067CA6B4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548" y="1447800"/>
              <a:ext cx="609600" cy="3124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</a:t>
              </a: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</a:t>
              </a: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样</a:t>
              </a: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</a:t>
              </a: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</a:t>
              </a: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</a:t>
              </a: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</a:t>
              </a:r>
            </a:p>
            <a:p>
              <a:pPr algn="ctr"/>
              <a:endPara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8E8E8579-C12D-4D9D-A529-AC539F41F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348" y="26670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0A3CD199-DC8E-488D-914F-76546695E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948" y="1828800"/>
              <a:ext cx="914400" cy="1600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识别</a:t>
              </a: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C573DAF8-0C04-4581-9498-AACB1CC20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348" y="26670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41EB3411-249C-4744-A711-9E2A649A8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948" y="1828800"/>
              <a:ext cx="914400" cy="1600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估计</a:t>
              </a:r>
            </a:p>
          </p:txBody>
        </p:sp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6002B56A-8F03-433D-AE23-6ABA4849A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748" y="4038600"/>
              <a:ext cx="1828800" cy="167640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</a:t>
              </a: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084D209A-7A34-4BDE-8BB4-3F195A5A7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2748" y="4876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7039DBF0-7A1F-49AE-B925-B9953C23D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9948" y="3581400"/>
              <a:ext cx="533400" cy="2362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模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型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优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化</a:t>
              </a: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C9F6A340-608C-43FB-AE53-57E7D6014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2948" y="3581400"/>
              <a:ext cx="533400" cy="2362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序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列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预</a:t>
              </a: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测</a:t>
              </a: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642264DD-502E-448F-A632-A963B1572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2148" y="34290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0C1CE833-BFFB-4583-B994-F35776087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9548" y="4876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61AD5A8C-6C01-4E88-A9E5-983FE7BA5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4348" y="4876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A5299379-E4ED-4175-A899-B21FA0794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4348" y="3505200"/>
              <a:ext cx="0" cy="137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1C7202FA-5DB7-4B84-8582-ADA405598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548" y="4419600"/>
              <a:ext cx="381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BCAC061E-BBD4-4405-B40A-C75077887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0548" y="4343400"/>
              <a:ext cx="381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793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965,&quot;width&quot;:12375}"/>
</p:tagLst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20430</TotalTime>
  <Words>2585</Words>
  <Application>Microsoft Office PowerPoint</Application>
  <PresentationFormat>全屏显示(4:3)</PresentationFormat>
  <Paragraphs>262</Paragraphs>
  <Slides>25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 (Headings)</vt:lpstr>
      <vt:lpstr>MathJax_Math-italic</vt:lpstr>
      <vt:lpstr>等线</vt:lpstr>
      <vt:lpstr>宋体</vt:lpstr>
      <vt:lpstr>微软雅黑</vt:lpstr>
      <vt:lpstr>Arial</vt:lpstr>
      <vt:lpstr>Cambria Math</vt:lpstr>
      <vt:lpstr>Times New Roman</vt:lpstr>
      <vt:lpstr>Wingdings</vt:lpstr>
      <vt:lpstr>Clarity</vt:lpstr>
      <vt:lpstr>Bitmap Image</vt:lpstr>
      <vt:lpstr>PowerPoint 演示文稿</vt:lpstr>
      <vt:lpstr>概述</vt:lpstr>
      <vt:lpstr>概述</vt:lpstr>
      <vt:lpstr>概述</vt:lpstr>
      <vt:lpstr>时间序列模型</vt:lpstr>
      <vt:lpstr>PowerPoint 演示文稿</vt:lpstr>
      <vt:lpstr>时间序列模型</vt:lpstr>
      <vt:lpstr>时间序列模型</vt:lpstr>
      <vt:lpstr>时间序列模型</vt:lpstr>
      <vt:lpstr>时间序列模型</vt:lpstr>
      <vt:lpstr>时间序列模型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  <vt:lpstr>基本原理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徐铖铖</cp:lastModifiedBy>
  <cp:revision>1225</cp:revision>
  <dcterms:created xsi:type="dcterms:W3CDTF">2016-02-16T07:55:59Z</dcterms:created>
  <dcterms:modified xsi:type="dcterms:W3CDTF">2023-04-10T04:59:00Z</dcterms:modified>
</cp:coreProperties>
</file>