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  <p:sldMasterId id="2147483672" r:id="rId3"/>
  </p:sldMasterIdLst>
  <p:notesMasterIdLst>
    <p:notesMasterId r:id="rId87"/>
  </p:notesMasterIdLst>
  <p:sldIdLst>
    <p:sldId id="663" r:id="rId4"/>
    <p:sldId id="665" r:id="rId5"/>
    <p:sldId id="666" r:id="rId6"/>
    <p:sldId id="664" r:id="rId7"/>
    <p:sldId id="706" r:id="rId8"/>
    <p:sldId id="707" r:id="rId9"/>
    <p:sldId id="708" r:id="rId10"/>
    <p:sldId id="709" r:id="rId11"/>
    <p:sldId id="710" r:id="rId12"/>
    <p:sldId id="711" r:id="rId13"/>
    <p:sldId id="712" r:id="rId14"/>
    <p:sldId id="528" r:id="rId15"/>
    <p:sldId id="529" r:id="rId16"/>
    <p:sldId id="530" r:id="rId17"/>
    <p:sldId id="536" r:id="rId18"/>
    <p:sldId id="716" r:id="rId19"/>
    <p:sldId id="523" r:id="rId20"/>
    <p:sldId id="595" r:id="rId21"/>
    <p:sldId id="415" r:id="rId22"/>
    <p:sldId id="525" r:id="rId23"/>
    <p:sldId id="499" r:id="rId24"/>
    <p:sldId id="515" r:id="rId25"/>
    <p:sldId id="508" r:id="rId26"/>
    <p:sldId id="544" r:id="rId27"/>
    <p:sldId id="567" r:id="rId28"/>
    <p:sldId id="545" r:id="rId29"/>
    <p:sldId id="546" r:id="rId30"/>
    <p:sldId id="547" r:id="rId31"/>
    <p:sldId id="548" r:id="rId32"/>
    <p:sldId id="549" r:id="rId33"/>
    <p:sldId id="550" r:id="rId34"/>
    <p:sldId id="517" r:id="rId35"/>
    <p:sldId id="444" r:id="rId36"/>
    <p:sldId id="350" r:id="rId37"/>
    <p:sldId id="445" r:id="rId38"/>
    <p:sldId id="455" r:id="rId39"/>
    <p:sldId id="520" r:id="rId40"/>
    <p:sldId id="456" r:id="rId41"/>
    <p:sldId id="457" r:id="rId42"/>
    <p:sldId id="596" r:id="rId43"/>
    <p:sldId id="563" r:id="rId44"/>
    <p:sldId id="572" r:id="rId45"/>
    <p:sldId id="564" r:id="rId46"/>
    <p:sldId id="461" r:id="rId47"/>
    <p:sldId id="333" r:id="rId48"/>
    <p:sldId id="462" r:id="rId49"/>
    <p:sldId id="335" r:id="rId50"/>
    <p:sldId id="336" r:id="rId51"/>
    <p:sldId id="463" r:id="rId52"/>
    <p:sldId id="464" r:id="rId53"/>
    <p:sldId id="713" r:id="rId54"/>
    <p:sldId id="465" r:id="rId55"/>
    <p:sldId id="466" r:id="rId56"/>
    <p:sldId id="467" r:id="rId57"/>
    <p:sldId id="470" r:id="rId58"/>
    <p:sldId id="471" r:id="rId59"/>
    <p:sldId id="660" r:id="rId60"/>
    <p:sldId id="714" r:id="rId61"/>
    <p:sldId id="661" r:id="rId62"/>
    <p:sldId id="570" r:id="rId63"/>
    <p:sldId id="715" r:id="rId64"/>
    <p:sldId id="355" r:id="rId65"/>
    <p:sldId id="472" r:id="rId66"/>
    <p:sldId id="473" r:id="rId67"/>
    <p:sldId id="474" r:id="rId68"/>
    <p:sldId id="475" r:id="rId69"/>
    <p:sldId id="476" r:id="rId70"/>
    <p:sldId id="477" r:id="rId71"/>
    <p:sldId id="478" r:id="rId72"/>
    <p:sldId id="479" r:id="rId73"/>
    <p:sldId id="480" r:id="rId74"/>
    <p:sldId id="481" r:id="rId75"/>
    <p:sldId id="566" r:id="rId76"/>
    <p:sldId id="364" r:id="rId77"/>
    <p:sldId id="488" r:id="rId78"/>
    <p:sldId id="489" r:id="rId79"/>
    <p:sldId id="662" r:id="rId80"/>
    <p:sldId id="490" r:id="rId81"/>
    <p:sldId id="491" r:id="rId82"/>
    <p:sldId id="492" r:id="rId83"/>
    <p:sldId id="493" r:id="rId84"/>
    <p:sldId id="494" r:id="rId85"/>
    <p:sldId id="495" r:id="rId8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64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i Huang" initials="DH" lastIdx="4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995" autoAdjust="0"/>
    <p:restoredTop sz="85945" autoAdjust="0"/>
  </p:normalViewPr>
  <p:slideViewPr>
    <p:cSldViewPr snapToGrid="0" showGuides="1">
      <p:cViewPr varScale="1">
        <p:scale>
          <a:sx n="78" d="100"/>
          <a:sy n="78" d="100"/>
        </p:scale>
        <p:origin x="1206" y="39"/>
      </p:cViewPr>
      <p:guideLst>
        <p:guide orient="horz" pos="2364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0" d="100"/>
          <a:sy n="50" d="100"/>
        </p:scale>
        <p:origin x="1428" y="2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63" Type="http://schemas.openxmlformats.org/officeDocument/2006/relationships/slide" Target="slides/slide60.xml"/><Relationship Id="rId68" Type="http://schemas.openxmlformats.org/officeDocument/2006/relationships/slide" Target="slides/slide65.xml"/><Relationship Id="rId84" Type="http://schemas.openxmlformats.org/officeDocument/2006/relationships/slide" Target="slides/slide81.xml"/><Relationship Id="rId89" Type="http://schemas.openxmlformats.org/officeDocument/2006/relationships/presProps" Target="presProps.xml"/><Relationship Id="rId16" Type="http://schemas.openxmlformats.org/officeDocument/2006/relationships/slide" Target="slides/slide13.xml"/><Relationship Id="rId11" Type="http://schemas.openxmlformats.org/officeDocument/2006/relationships/slide" Target="slides/slide8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74" Type="http://schemas.openxmlformats.org/officeDocument/2006/relationships/slide" Target="slides/slide71.xml"/><Relationship Id="rId79" Type="http://schemas.openxmlformats.org/officeDocument/2006/relationships/slide" Target="slides/slide76.xml"/><Relationship Id="rId5" Type="http://schemas.openxmlformats.org/officeDocument/2006/relationships/slide" Target="slides/slide2.xml"/><Relationship Id="rId90" Type="http://schemas.openxmlformats.org/officeDocument/2006/relationships/viewProps" Target="viewProps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64" Type="http://schemas.openxmlformats.org/officeDocument/2006/relationships/slide" Target="slides/slide61.xml"/><Relationship Id="rId69" Type="http://schemas.openxmlformats.org/officeDocument/2006/relationships/slide" Target="slides/slide66.xml"/><Relationship Id="rId77" Type="http://schemas.openxmlformats.org/officeDocument/2006/relationships/slide" Target="slides/slide74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72" Type="http://schemas.openxmlformats.org/officeDocument/2006/relationships/slide" Target="slides/slide69.xml"/><Relationship Id="rId80" Type="http://schemas.openxmlformats.org/officeDocument/2006/relationships/slide" Target="slides/slide77.xml"/><Relationship Id="rId85" Type="http://schemas.openxmlformats.org/officeDocument/2006/relationships/slide" Target="slides/slide82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Relationship Id="rId67" Type="http://schemas.openxmlformats.org/officeDocument/2006/relationships/slide" Target="slides/slide64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slide" Target="slides/slide59.xml"/><Relationship Id="rId70" Type="http://schemas.openxmlformats.org/officeDocument/2006/relationships/slide" Target="slides/slide67.xml"/><Relationship Id="rId75" Type="http://schemas.openxmlformats.org/officeDocument/2006/relationships/slide" Target="slides/slide72.xml"/><Relationship Id="rId83" Type="http://schemas.openxmlformats.org/officeDocument/2006/relationships/slide" Target="slides/slide80.xml"/><Relationship Id="rId88" Type="http://schemas.openxmlformats.org/officeDocument/2006/relationships/commentAuthors" Target="commentAuthors.xml"/><Relationship Id="rId9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slide" Target="slides/slide62.xml"/><Relationship Id="rId73" Type="http://schemas.openxmlformats.org/officeDocument/2006/relationships/slide" Target="slides/slide70.xml"/><Relationship Id="rId78" Type="http://schemas.openxmlformats.org/officeDocument/2006/relationships/slide" Target="slides/slide75.xml"/><Relationship Id="rId81" Type="http://schemas.openxmlformats.org/officeDocument/2006/relationships/slide" Target="slides/slide78.xml"/><Relationship Id="rId86" Type="http://schemas.openxmlformats.org/officeDocument/2006/relationships/slide" Target="slides/slide83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34" Type="http://schemas.openxmlformats.org/officeDocument/2006/relationships/slide" Target="slides/slide31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76" Type="http://schemas.openxmlformats.org/officeDocument/2006/relationships/slide" Target="slides/slide73.xml"/><Relationship Id="rId7" Type="http://schemas.openxmlformats.org/officeDocument/2006/relationships/slide" Target="slides/slide4.xml"/><Relationship Id="rId71" Type="http://schemas.openxmlformats.org/officeDocument/2006/relationships/slide" Target="slides/slide68.xml"/><Relationship Id="rId9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6.xml"/><Relationship Id="rId24" Type="http://schemas.openxmlformats.org/officeDocument/2006/relationships/slide" Target="slides/slide21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66" Type="http://schemas.openxmlformats.org/officeDocument/2006/relationships/slide" Target="slides/slide63.xml"/><Relationship Id="rId87" Type="http://schemas.openxmlformats.org/officeDocument/2006/relationships/notesMaster" Target="notesMasters/notesMaster1.xml"/><Relationship Id="rId61" Type="http://schemas.openxmlformats.org/officeDocument/2006/relationships/slide" Target="slides/slide58.xml"/><Relationship Id="rId82" Type="http://schemas.openxmlformats.org/officeDocument/2006/relationships/slide" Target="slides/slide79.xml"/><Relationship Id="rId19" Type="http://schemas.openxmlformats.org/officeDocument/2006/relationships/slide" Target="slides/slide16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85B4EDB-B2C3-4627-A4FD-283DEF6B40A5}" type="doc">
      <dgm:prSet loTypeId="urn:microsoft.com/office/officeart/2005/8/layout/orgChart1#1" loCatId="hierarchy" qsTypeId="urn:microsoft.com/office/officeart/2005/8/quickstyle/simple1#1" qsCatId="simple" csTypeId="urn:microsoft.com/office/officeart/2005/8/colors/accent1_2#1" csCatId="accent1" phldr="1"/>
      <dgm:spPr/>
    </dgm:pt>
    <dgm:pt modelId="{3923B5B4-806B-4C2F-BA62-3DC540C008CA}">
      <dgm:prSet custT="1"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pPr marL="0" marR="0" lvl="0" indent="0" algn="ctr" defTabSz="914400" rtl="0" eaLnBrk="0" fontAlgn="base" latinLnBrk="0" hangingPunct="0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</a:pPr>
          <a:r>
            <a:rPr kumimoji="0" lang="zh-CN" altLang="en-US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rPr>
            <a:t>非线性规划</a:t>
          </a:r>
          <a:endParaRPr kumimoji="0" lang="en-US" altLang="zh-CN" sz="1800" b="0" i="0" u="none" strike="noStrike" cap="none" normalizeH="0" baseline="0" dirty="0">
            <a:ln>
              <a:noFill/>
            </a:ln>
            <a:solidFill>
              <a:srgbClr val="000000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endParaRPr>
        </a:p>
      </dgm:t>
    </dgm:pt>
    <dgm:pt modelId="{02F0784E-7603-4B7B-86EF-72A2ACE28B4E}" type="parTrans" cxnId="{EF291CE0-4B89-4288-9A6A-095F402D5184}">
      <dgm:prSet/>
      <dgm:spPr/>
      <dgm:t>
        <a:bodyPr/>
        <a:lstStyle/>
        <a:p>
          <a:endParaRPr lang="zh-CN" altLang="en-US"/>
        </a:p>
      </dgm:t>
    </dgm:pt>
    <dgm:pt modelId="{783FC9CC-B846-42B3-876D-E61CAB932C16}" type="sibTrans" cxnId="{EF291CE0-4B89-4288-9A6A-095F402D5184}">
      <dgm:prSet/>
      <dgm:spPr/>
      <dgm:t>
        <a:bodyPr/>
        <a:lstStyle/>
        <a:p>
          <a:endParaRPr lang="zh-CN" altLang="en-US"/>
        </a:p>
      </dgm:t>
    </dgm:pt>
    <dgm:pt modelId="{C31D2AE2-50C0-4999-A911-C808E29B8EE5}">
      <dgm:prSet custT="1"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pPr marL="0" marR="0" lvl="0" indent="0" algn="ctr" defTabSz="914400" rtl="0" eaLnBrk="0" fontAlgn="base" latinLnBrk="0" hangingPunct="0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</a:pPr>
          <a:r>
            <a:rPr kumimoji="0" lang="zh-CN" altLang="en-US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Times New Roman" panose="02020603050405020304" pitchFamily="18" charset="0"/>
            </a:rPr>
            <a:t>无约束最优化</a:t>
          </a:r>
          <a:endParaRPr kumimoji="0" lang="en-AU" altLang="zh-CN" sz="1600" b="0" i="0" u="none" strike="noStrike" cap="none" normalizeH="0" baseline="0" dirty="0">
            <a:ln>
              <a:noFill/>
            </a:ln>
            <a:solidFill>
              <a:srgbClr val="000000"/>
            </a:solidFill>
            <a:effectLst/>
            <a:latin typeface="Times New Roman" panose="02020603050405020304" pitchFamily="18" charset="0"/>
          </a:endParaRPr>
        </a:p>
      </dgm:t>
    </dgm:pt>
    <dgm:pt modelId="{055FC2A3-91F0-455D-8FF8-4F8722CD5CE4}" type="parTrans" cxnId="{A121939F-E13B-46B5-9A02-54A1EE054F6B}">
      <dgm:prSet/>
      <dgm:spPr/>
      <dgm:t>
        <a:bodyPr/>
        <a:lstStyle/>
        <a:p>
          <a:endParaRPr lang="zh-CN" altLang="en-US"/>
        </a:p>
      </dgm:t>
    </dgm:pt>
    <dgm:pt modelId="{A3C8E22B-53F0-4A79-A5D2-F8C85AF1921A}" type="sibTrans" cxnId="{A121939F-E13B-46B5-9A02-54A1EE054F6B}">
      <dgm:prSet/>
      <dgm:spPr/>
      <dgm:t>
        <a:bodyPr/>
        <a:lstStyle/>
        <a:p>
          <a:endParaRPr lang="zh-CN" altLang="en-US"/>
        </a:p>
      </dgm:t>
    </dgm:pt>
    <dgm:pt modelId="{3EB29347-DBF7-4FC9-9B4C-DEE7F33C2409}">
      <dgm:prSet custT="1"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pPr marL="0" marR="0" lvl="0" indent="0" algn="ctr" defTabSz="914400" rtl="0" eaLnBrk="0" fontAlgn="base" latinLnBrk="0" hangingPunct="0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</a:pPr>
          <a:r>
            <a:rPr kumimoji="0" lang="zh-CN" altLang="en-US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Times New Roman" panose="02020603050405020304" pitchFamily="18" charset="0"/>
            </a:rPr>
            <a:t>有约束最优化</a:t>
          </a:r>
          <a:endParaRPr kumimoji="0" lang="en-AU" altLang="zh-CN" sz="1600" b="0" i="0" u="none" strike="noStrike" cap="none" normalizeH="0" baseline="0" dirty="0">
            <a:ln>
              <a:noFill/>
            </a:ln>
            <a:solidFill>
              <a:srgbClr val="000000"/>
            </a:solidFill>
            <a:effectLst/>
            <a:latin typeface="Times New Roman" panose="02020603050405020304" pitchFamily="18" charset="0"/>
          </a:endParaRPr>
        </a:p>
      </dgm:t>
    </dgm:pt>
    <dgm:pt modelId="{FD85F88A-7287-403B-A177-FDD6CD6C1B72}" type="parTrans" cxnId="{6E1F71E0-8AD5-4B57-922B-58CE8417E54A}">
      <dgm:prSet/>
      <dgm:spPr/>
      <dgm:t>
        <a:bodyPr/>
        <a:lstStyle/>
        <a:p>
          <a:endParaRPr lang="zh-CN" altLang="en-US"/>
        </a:p>
      </dgm:t>
    </dgm:pt>
    <dgm:pt modelId="{13138054-51A3-4E43-9E7A-821FF172EBEB}" type="sibTrans" cxnId="{6E1F71E0-8AD5-4B57-922B-58CE8417E54A}">
      <dgm:prSet/>
      <dgm:spPr/>
      <dgm:t>
        <a:bodyPr/>
        <a:lstStyle/>
        <a:p>
          <a:endParaRPr lang="zh-CN" altLang="en-US"/>
        </a:p>
      </dgm:t>
    </dgm:pt>
    <dgm:pt modelId="{949AAC7D-CF9E-4A2A-BC60-33518228EA5C}">
      <dgm:prSet custT="1"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pPr marL="0" marR="0" lvl="0" indent="0" algn="ctr" defTabSz="914400" rtl="0" eaLnBrk="0" fontAlgn="base" latinLnBrk="0" hangingPunct="0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</a:pPr>
          <a:r>
            <a:rPr kumimoji="0" lang="zh-CN" altLang="en-US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rPr>
            <a:t>凸规划</a:t>
          </a:r>
          <a:endParaRPr kumimoji="0" lang="en-US" altLang="zh-CN" sz="1600" b="0" i="0" u="none" strike="noStrike" cap="none" normalizeH="0" baseline="0" dirty="0">
            <a:ln>
              <a:noFill/>
            </a:ln>
            <a:solidFill>
              <a:srgbClr val="000000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endParaRPr>
        </a:p>
      </dgm:t>
    </dgm:pt>
    <dgm:pt modelId="{8DAA59C5-6D81-4BD4-B94E-456C0FE4674B}" type="parTrans" cxnId="{320C7990-8B6C-4E2F-BA5A-D693F1A1B190}">
      <dgm:prSet/>
      <dgm:spPr/>
      <dgm:t>
        <a:bodyPr/>
        <a:lstStyle/>
        <a:p>
          <a:endParaRPr lang="zh-CN" altLang="en-US"/>
        </a:p>
      </dgm:t>
    </dgm:pt>
    <dgm:pt modelId="{E3EDA238-3166-48A2-B58F-FBDC080AA9E5}" type="sibTrans" cxnId="{320C7990-8B6C-4E2F-BA5A-D693F1A1B190}">
      <dgm:prSet/>
      <dgm:spPr/>
      <dgm:t>
        <a:bodyPr/>
        <a:lstStyle/>
        <a:p>
          <a:endParaRPr lang="zh-CN" altLang="en-US"/>
        </a:p>
      </dgm:t>
    </dgm:pt>
    <dgm:pt modelId="{D5F5BC8F-5BCA-48F2-AA37-6875DA942301}">
      <dgm:prSet custT="1"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pPr marL="0" marR="0" lvl="0" indent="0" algn="ctr" defTabSz="914400" rtl="0" eaLnBrk="0" fontAlgn="base" latinLnBrk="0" hangingPunct="0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</a:pPr>
          <a:r>
            <a:rPr kumimoji="0" lang="zh-CN" altLang="en-US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rPr>
            <a:t>线性约束规划</a:t>
          </a:r>
          <a:endParaRPr kumimoji="0" lang="en-US" altLang="zh-CN" sz="1600" b="0" i="0" u="none" strike="noStrike" cap="none" normalizeH="0" baseline="0" dirty="0">
            <a:ln>
              <a:noFill/>
            </a:ln>
            <a:solidFill>
              <a:srgbClr val="000000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endParaRPr>
        </a:p>
      </dgm:t>
    </dgm:pt>
    <dgm:pt modelId="{4A7CF3CB-EDD9-4853-AAFB-006746074044}" type="parTrans" cxnId="{66D9794C-114D-40E4-9518-C7DEB20303FD}">
      <dgm:prSet/>
      <dgm:spPr/>
      <dgm:t>
        <a:bodyPr/>
        <a:lstStyle/>
        <a:p>
          <a:endParaRPr lang="zh-CN" altLang="en-US"/>
        </a:p>
      </dgm:t>
    </dgm:pt>
    <dgm:pt modelId="{74678E8F-433E-46CF-B9DB-16D534EE678D}" type="sibTrans" cxnId="{66D9794C-114D-40E4-9518-C7DEB20303FD}">
      <dgm:prSet/>
      <dgm:spPr/>
      <dgm:t>
        <a:bodyPr/>
        <a:lstStyle/>
        <a:p>
          <a:endParaRPr lang="zh-CN" altLang="en-US"/>
        </a:p>
      </dgm:t>
    </dgm:pt>
    <dgm:pt modelId="{809D0760-D524-402E-BB65-869FDCB7D991}">
      <dgm:prSet custT="1"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pPr marL="0" marR="0" lvl="0" indent="0" algn="ctr" defTabSz="914400" rtl="0" eaLnBrk="0" fontAlgn="base" latinLnBrk="0" hangingPunct="0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</a:pPr>
          <a:r>
            <a:rPr kumimoji="0" lang="zh-CN" altLang="en-US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Times New Roman" panose="02020603050405020304" pitchFamily="18" charset="0"/>
            </a:rPr>
            <a:t>二次规划</a:t>
          </a:r>
          <a:endParaRPr kumimoji="0" lang="en-AU" altLang="zh-CN" sz="1600" b="0" i="0" u="none" strike="noStrike" cap="none" normalizeH="0" baseline="0" dirty="0">
            <a:ln>
              <a:noFill/>
            </a:ln>
            <a:solidFill>
              <a:srgbClr val="000000"/>
            </a:solidFill>
            <a:effectLst/>
            <a:latin typeface="Times New Roman" panose="02020603050405020304" pitchFamily="18" charset="0"/>
          </a:endParaRPr>
        </a:p>
      </dgm:t>
    </dgm:pt>
    <dgm:pt modelId="{890239B2-B360-496B-8979-1A5B71A8DC70}" type="parTrans" cxnId="{0B7C2965-502C-4F78-B1DC-2675CE819937}">
      <dgm:prSet/>
      <dgm:spPr/>
      <dgm:t>
        <a:bodyPr/>
        <a:lstStyle/>
        <a:p>
          <a:endParaRPr lang="zh-CN" altLang="en-US"/>
        </a:p>
      </dgm:t>
    </dgm:pt>
    <dgm:pt modelId="{D0B260D9-6CF0-4912-AF0D-89599594BC58}" type="sibTrans" cxnId="{0B7C2965-502C-4F78-B1DC-2675CE819937}">
      <dgm:prSet/>
      <dgm:spPr/>
      <dgm:t>
        <a:bodyPr/>
        <a:lstStyle/>
        <a:p>
          <a:endParaRPr lang="zh-CN" altLang="en-US"/>
        </a:p>
      </dgm:t>
    </dgm:pt>
    <dgm:pt modelId="{4E6F9A3D-58F6-448D-911C-70DDE16F6E4F}">
      <dgm:prSet custT="1"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pPr marL="0" marR="0" lvl="0" indent="0" algn="ctr" defTabSz="914400" rtl="0" eaLnBrk="0" fontAlgn="base" latinLnBrk="0" hangingPunct="0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</a:pPr>
          <a:r>
            <a:rPr kumimoji="0" lang="zh-CN" altLang="en-US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Times New Roman" panose="02020603050405020304" pitchFamily="18" charset="0"/>
            </a:rPr>
            <a:t>非线性有约束规划</a:t>
          </a:r>
          <a:endParaRPr kumimoji="0" lang="en-AU" altLang="zh-CN" sz="1600" b="0" i="0" u="none" strike="noStrike" cap="none" normalizeH="0" baseline="0" dirty="0">
            <a:ln>
              <a:noFill/>
            </a:ln>
            <a:solidFill>
              <a:srgbClr val="000000"/>
            </a:solidFill>
            <a:effectLst/>
            <a:latin typeface="Times New Roman" panose="02020603050405020304" pitchFamily="18" charset="0"/>
          </a:endParaRPr>
        </a:p>
      </dgm:t>
    </dgm:pt>
    <dgm:pt modelId="{9A6F4D74-63F5-469F-AC73-0BFB2D96E603}" type="parTrans" cxnId="{ADDCFB16-01D7-4D93-8147-4C6EF2EE3B34}">
      <dgm:prSet/>
      <dgm:spPr/>
      <dgm:t>
        <a:bodyPr/>
        <a:lstStyle/>
        <a:p>
          <a:endParaRPr lang="zh-CN" altLang="en-US"/>
        </a:p>
      </dgm:t>
    </dgm:pt>
    <dgm:pt modelId="{5834DC99-6180-496F-AB25-E831D0A02044}" type="sibTrans" cxnId="{ADDCFB16-01D7-4D93-8147-4C6EF2EE3B34}">
      <dgm:prSet/>
      <dgm:spPr/>
      <dgm:t>
        <a:bodyPr/>
        <a:lstStyle/>
        <a:p>
          <a:endParaRPr lang="zh-CN" altLang="en-US"/>
        </a:p>
      </dgm:t>
    </dgm:pt>
    <dgm:pt modelId="{08E9B7B5-58C0-4CB2-BA7B-1B92EE61D0E5}">
      <dgm:prSet custT="1"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pPr marL="0" marR="0" lvl="0" indent="0" algn="ctr" defTabSz="914400" rtl="0" eaLnBrk="0" fontAlgn="base" latinLnBrk="0" hangingPunct="0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</a:pPr>
          <a:r>
            <a:rPr kumimoji="0" lang="zh-CN" altLang="en-US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Times New Roman" panose="02020603050405020304" pitchFamily="18" charset="0"/>
            </a:rPr>
            <a:t>可分规划</a:t>
          </a:r>
          <a:endParaRPr kumimoji="0" lang="en-AU" altLang="zh-CN" sz="1600" b="0" i="0" u="none" strike="noStrike" cap="none" normalizeH="0" baseline="0" dirty="0">
            <a:ln>
              <a:noFill/>
            </a:ln>
            <a:solidFill>
              <a:srgbClr val="000000"/>
            </a:solidFill>
            <a:effectLst/>
            <a:latin typeface="Times New Roman" panose="02020603050405020304" pitchFamily="18" charset="0"/>
          </a:endParaRPr>
        </a:p>
      </dgm:t>
    </dgm:pt>
    <dgm:pt modelId="{55952852-4C6C-48B9-BD5F-F00123C056C4}" type="parTrans" cxnId="{7BE41DEE-B600-4C86-8781-D017775FBEC2}">
      <dgm:prSet/>
      <dgm:spPr/>
      <dgm:t>
        <a:bodyPr/>
        <a:lstStyle/>
        <a:p>
          <a:endParaRPr lang="zh-CN" altLang="en-US"/>
        </a:p>
      </dgm:t>
    </dgm:pt>
    <dgm:pt modelId="{B40E95D7-3A4D-4EA3-8B80-FEDD7E5DC34E}" type="sibTrans" cxnId="{7BE41DEE-B600-4C86-8781-D017775FBEC2}">
      <dgm:prSet/>
      <dgm:spPr/>
      <dgm:t>
        <a:bodyPr/>
        <a:lstStyle/>
        <a:p>
          <a:endParaRPr lang="zh-CN" altLang="en-US"/>
        </a:p>
      </dgm:t>
    </dgm:pt>
    <dgm:pt modelId="{21A1B9E4-281C-43B0-9F60-A9023BB1F75E}">
      <dgm:prSet custT="1"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pPr marL="0" marR="0" lvl="0" indent="0" algn="ctr" defTabSz="914400" rtl="0" eaLnBrk="0" fontAlgn="base" latinLnBrk="0" hangingPunct="0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</a:pPr>
          <a:r>
            <a:rPr kumimoji="0" lang="zh-CN" altLang="en-US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Times New Roman" panose="02020603050405020304" pitchFamily="18" charset="0"/>
            </a:rPr>
            <a:t>非凸规划</a:t>
          </a:r>
          <a:endParaRPr kumimoji="0" lang="en-AU" altLang="zh-CN" sz="1600" b="0" i="0" u="none" strike="noStrike" cap="none" normalizeH="0" baseline="0" dirty="0">
            <a:ln>
              <a:noFill/>
            </a:ln>
            <a:solidFill>
              <a:srgbClr val="000000"/>
            </a:solidFill>
            <a:effectLst/>
            <a:latin typeface="Times New Roman" panose="02020603050405020304" pitchFamily="18" charset="0"/>
          </a:endParaRPr>
        </a:p>
      </dgm:t>
    </dgm:pt>
    <dgm:pt modelId="{F8A47A82-6C81-451A-B09F-608D374CBC2A}" type="parTrans" cxnId="{F74BD9FF-5F4A-4CD5-8DAB-71E2832537D6}">
      <dgm:prSet/>
      <dgm:spPr/>
      <dgm:t>
        <a:bodyPr/>
        <a:lstStyle/>
        <a:p>
          <a:endParaRPr lang="zh-CN" altLang="en-US"/>
        </a:p>
      </dgm:t>
    </dgm:pt>
    <dgm:pt modelId="{AE327F90-75C5-4C11-81F9-EE2A848AD001}" type="sibTrans" cxnId="{F74BD9FF-5F4A-4CD5-8DAB-71E2832537D6}">
      <dgm:prSet/>
      <dgm:spPr/>
      <dgm:t>
        <a:bodyPr/>
        <a:lstStyle/>
        <a:p>
          <a:endParaRPr lang="zh-CN" altLang="en-US"/>
        </a:p>
      </dgm:t>
    </dgm:pt>
    <dgm:pt modelId="{FE67171C-4F34-4D8E-ACE5-1157B6112D62}">
      <dgm:prSet custT="1"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pPr marL="0" marR="0" lvl="0" indent="0" algn="ctr" defTabSz="914400" rtl="0" eaLnBrk="0" fontAlgn="base" latinLnBrk="0" hangingPunct="0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</a:pPr>
          <a:r>
            <a:rPr kumimoji="0" lang="zh-CN" altLang="en-US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Times New Roman" panose="02020603050405020304" pitchFamily="18" charset="0"/>
            </a:rPr>
            <a:t>几何规划</a:t>
          </a:r>
          <a:endParaRPr kumimoji="0" lang="en-AU" altLang="zh-CN" sz="1600" b="0" i="0" u="none" strike="noStrike" cap="none" normalizeH="0" baseline="0" dirty="0">
            <a:ln>
              <a:noFill/>
            </a:ln>
            <a:solidFill>
              <a:srgbClr val="000000"/>
            </a:solidFill>
            <a:effectLst/>
            <a:latin typeface="Times New Roman" panose="02020603050405020304" pitchFamily="18" charset="0"/>
          </a:endParaRPr>
        </a:p>
      </dgm:t>
    </dgm:pt>
    <dgm:pt modelId="{605C145E-2584-453D-AC37-DC87FB8DAD27}" type="parTrans" cxnId="{B7D676E7-572D-4F77-ADC3-92A870F83A7F}">
      <dgm:prSet/>
      <dgm:spPr/>
      <dgm:t>
        <a:bodyPr/>
        <a:lstStyle/>
        <a:p>
          <a:endParaRPr lang="zh-CN" altLang="en-US"/>
        </a:p>
      </dgm:t>
    </dgm:pt>
    <dgm:pt modelId="{D2C6F02E-E61C-4D41-85C8-F57B741591C4}" type="sibTrans" cxnId="{B7D676E7-572D-4F77-ADC3-92A870F83A7F}">
      <dgm:prSet/>
      <dgm:spPr/>
      <dgm:t>
        <a:bodyPr/>
        <a:lstStyle/>
        <a:p>
          <a:endParaRPr lang="zh-CN" altLang="en-US"/>
        </a:p>
      </dgm:t>
    </dgm:pt>
    <dgm:pt modelId="{794281E9-4C2F-48EB-BC1F-D1A6ED067C1A}">
      <dgm:prSet custT="1"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pPr marL="0" marR="0" lvl="0" indent="0" algn="ctr" defTabSz="914400" rtl="0" eaLnBrk="0" fontAlgn="base" latinLnBrk="0" hangingPunct="0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</a:pPr>
          <a:r>
            <a:rPr kumimoji="0" lang="zh-CN" altLang="en-US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Times New Roman" panose="02020603050405020304" pitchFamily="18" charset="0"/>
            </a:rPr>
            <a:t>分数规划</a:t>
          </a:r>
          <a:endParaRPr kumimoji="0" lang="en-AU" altLang="zh-CN" sz="1600" b="0" i="0" u="none" strike="noStrike" cap="none" normalizeH="0" baseline="0" dirty="0">
            <a:ln>
              <a:noFill/>
            </a:ln>
            <a:solidFill>
              <a:srgbClr val="000000"/>
            </a:solidFill>
            <a:effectLst/>
            <a:latin typeface="Times New Roman" panose="02020603050405020304" pitchFamily="18" charset="0"/>
          </a:endParaRPr>
        </a:p>
      </dgm:t>
    </dgm:pt>
    <dgm:pt modelId="{21C82A8C-98FE-4AED-A856-D62899854A01}" type="parTrans" cxnId="{64B7B86C-626B-4933-AAC6-4ADFB28E27EC}">
      <dgm:prSet/>
      <dgm:spPr/>
      <dgm:t>
        <a:bodyPr/>
        <a:lstStyle/>
        <a:p>
          <a:endParaRPr lang="zh-CN" altLang="en-US"/>
        </a:p>
      </dgm:t>
    </dgm:pt>
    <dgm:pt modelId="{2EFBA731-584E-41E9-AC86-314BBE5A8DF7}" type="sibTrans" cxnId="{64B7B86C-626B-4933-AAC6-4ADFB28E27EC}">
      <dgm:prSet/>
      <dgm:spPr/>
      <dgm:t>
        <a:bodyPr/>
        <a:lstStyle/>
        <a:p>
          <a:endParaRPr lang="zh-CN" altLang="en-US"/>
        </a:p>
      </dgm:t>
    </dgm:pt>
    <dgm:pt modelId="{4E007B46-A246-4DAC-8751-556F3B7B210E}" type="pres">
      <dgm:prSet presAssocID="{885B4EDB-B2C3-4627-A4FD-283DEF6B40A5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EED6F6D2-1F3E-455E-98F2-C229867FA892}" type="pres">
      <dgm:prSet presAssocID="{3923B5B4-806B-4C2F-BA62-3DC540C008CA}" presName="hierRoot1" presStyleCnt="0">
        <dgm:presLayoutVars>
          <dgm:hierBranch/>
        </dgm:presLayoutVars>
      </dgm:prSet>
      <dgm:spPr/>
    </dgm:pt>
    <dgm:pt modelId="{C4038935-BE0B-43A9-8528-CB077471D340}" type="pres">
      <dgm:prSet presAssocID="{3923B5B4-806B-4C2F-BA62-3DC540C008CA}" presName="rootComposite1" presStyleCnt="0"/>
      <dgm:spPr/>
    </dgm:pt>
    <dgm:pt modelId="{2EFE86A7-A418-4AD0-AEF1-C4AD0E0D3F50}" type="pres">
      <dgm:prSet presAssocID="{3923B5B4-806B-4C2F-BA62-3DC540C008CA}" presName="rootText1" presStyleLbl="node0" presStyleIdx="0" presStyleCnt="1">
        <dgm:presLayoutVars>
          <dgm:chPref val="3"/>
        </dgm:presLayoutVars>
      </dgm:prSet>
      <dgm:spPr/>
    </dgm:pt>
    <dgm:pt modelId="{41982FA6-5120-413B-86ED-75BAB04EB69A}" type="pres">
      <dgm:prSet presAssocID="{3923B5B4-806B-4C2F-BA62-3DC540C008CA}" presName="rootConnector1" presStyleLbl="node1" presStyleIdx="0" presStyleCnt="0"/>
      <dgm:spPr/>
    </dgm:pt>
    <dgm:pt modelId="{522812B2-9A8D-43CD-9A40-626725831BC2}" type="pres">
      <dgm:prSet presAssocID="{3923B5B4-806B-4C2F-BA62-3DC540C008CA}" presName="hierChild2" presStyleCnt="0"/>
      <dgm:spPr/>
    </dgm:pt>
    <dgm:pt modelId="{0EDB4574-4FB2-4D94-848F-39AC10F371D7}" type="pres">
      <dgm:prSet presAssocID="{055FC2A3-91F0-455D-8FF8-4F8722CD5CE4}" presName="Name35" presStyleLbl="parChTrans1D2" presStyleIdx="0" presStyleCnt="2"/>
      <dgm:spPr/>
    </dgm:pt>
    <dgm:pt modelId="{EA30522A-E301-4181-87E9-825E906CA3B5}" type="pres">
      <dgm:prSet presAssocID="{C31D2AE2-50C0-4999-A911-C808E29B8EE5}" presName="hierRoot2" presStyleCnt="0">
        <dgm:presLayoutVars>
          <dgm:hierBranch/>
        </dgm:presLayoutVars>
      </dgm:prSet>
      <dgm:spPr/>
    </dgm:pt>
    <dgm:pt modelId="{CC1A4EB6-FEDD-467C-A1DA-7C607E12F9D3}" type="pres">
      <dgm:prSet presAssocID="{C31D2AE2-50C0-4999-A911-C808E29B8EE5}" presName="rootComposite" presStyleCnt="0"/>
      <dgm:spPr/>
    </dgm:pt>
    <dgm:pt modelId="{C435646F-5911-4687-A9C5-89E01E6162CA}" type="pres">
      <dgm:prSet presAssocID="{C31D2AE2-50C0-4999-A911-C808E29B8EE5}" presName="rootText" presStyleLbl="node2" presStyleIdx="0" presStyleCnt="2" custScaleX="134889">
        <dgm:presLayoutVars>
          <dgm:chPref val="3"/>
        </dgm:presLayoutVars>
      </dgm:prSet>
      <dgm:spPr/>
    </dgm:pt>
    <dgm:pt modelId="{5B231FF8-77EB-4AB5-B61F-C81F306E3DF1}" type="pres">
      <dgm:prSet presAssocID="{C31D2AE2-50C0-4999-A911-C808E29B8EE5}" presName="rootConnector" presStyleLbl="node2" presStyleIdx="0" presStyleCnt="2"/>
      <dgm:spPr/>
    </dgm:pt>
    <dgm:pt modelId="{CFA8D222-9A9F-47EE-8664-E84441FEA9BA}" type="pres">
      <dgm:prSet presAssocID="{C31D2AE2-50C0-4999-A911-C808E29B8EE5}" presName="hierChild4" presStyleCnt="0"/>
      <dgm:spPr/>
    </dgm:pt>
    <dgm:pt modelId="{601E82C1-735F-4141-B7A6-479AD1B87ED5}" type="pres">
      <dgm:prSet presAssocID="{C31D2AE2-50C0-4999-A911-C808E29B8EE5}" presName="hierChild5" presStyleCnt="0"/>
      <dgm:spPr/>
    </dgm:pt>
    <dgm:pt modelId="{D7A674F7-71AB-4310-A6C1-49ECE8625292}" type="pres">
      <dgm:prSet presAssocID="{FD85F88A-7287-403B-A177-FDD6CD6C1B72}" presName="Name35" presStyleLbl="parChTrans1D2" presStyleIdx="1" presStyleCnt="2"/>
      <dgm:spPr/>
    </dgm:pt>
    <dgm:pt modelId="{2119AF4F-CE5A-4083-9EDC-0BC049114C19}" type="pres">
      <dgm:prSet presAssocID="{3EB29347-DBF7-4FC9-9B4C-DEE7F33C2409}" presName="hierRoot2" presStyleCnt="0">
        <dgm:presLayoutVars>
          <dgm:hierBranch/>
        </dgm:presLayoutVars>
      </dgm:prSet>
      <dgm:spPr/>
    </dgm:pt>
    <dgm:pt modelId="{950960D9-AB57-479A-88BE-83C3C93FA931}" type="pres">
      <dgm:prSet presAssocID="{3EB29347-DBF7-4FC9-9B4C-DEE7F33C2409}" presName="rootComposite" presStyleCnt="0"/>
      <dgm:spPr/>
    </dgm:pt>
    <dgm:pt modelId="{E3A85358-95B5-4D73-9788-54850F2FAF16}" type="pres">
      <dgm:prSet presAssocID="{3EB29347-DBF7-4FC9-9B4C-DEE7F33C2409}" presName="rootText" presStyleLbl="node2" presStyleIdx="1" presStyleCnt="2" custScaleX="109047">
        <dgm:presLayoutVars>
          <dgm:chPref val="3"/>
        </dgm:presLayoutVars>
      </dgm:prSet>
      <dgm:spPr/>
    </dgm:pt>
    <dgm:pt modelId="{1133A4C8-9933-47E1-A2D2-CF5D70B96628}" type="pres">
      <dgm:prSet presAssocID="{3EB29347-DBF7-4FC9-9B4C-DEE7F33C2409}" presName="rootConnector" presStyleLbl="node2" presStyleIdx="1" presStyleCnt="2"/>
      <dgm:spPr/>
    </dgm:pt>
    <dgm:pt modelId="{742DB15D-D83B-4824-943E-50E7E38A7A74}" type="pres">
      <dgm:prSet presAssocID="{3EB29347-DBF7-4FC9-9B4C-DEE7F33C2409}" presName="hierChild4" presStyleCnt="0"/>
      <dgm:spPr/>
    </dgm:pt>
    <dgm:pt modelId="{8AA223DD-678A-4D45-9DD6-28BF3CB7FC64}" type="pres">
      <dgm:prSet presAssocID="{8DAA59C5-6D81-4BD4-B94E-456C0FE4674B}" presName="Name35" presStyleLbl="parChTrans1D3" presStyleIdx="0" presStyleCnt="2"/>
      <dgm:spPr/>
    </dgm:pt>
    <dgm:pt modelId="{A1788E98-DCA2-4988-B082-58170E6E8427}" type="pres">
      <dgm:prSet presAssocID="{949AAC7D-CF9E-4A2A-BC60-33518228EA5C}" presName="hierRoot2" presStyleCnt="0">
        <dgm:presLayoutVars>
          <dgm:hierBranch val="r"/>
        </dgm:presLayoutVars>
      </dgm:prSet>
      <dgm:spPr/>
    </dgm:pt>
    <dgm:pt modelId="{EC236052-2E8C-435D-8749-7AAE4C081E12}" type="pres">
      <dgm:prSet presAssocID="{949AAC7D-CF9E-4A2A-BC60-33518228EA5C}" presName="rootComposite" presStyleCnt="0"/>
      <dgm:spPr/>
    </dgm:pt>
    <dgm:pt modelId="{3C279987-259C-49DB-8505-4A0110D76815}" type="pres">
      <dgm:prSet presAssocID="{949AAC7D-CF9E-4A2A-BC60-33518228EA5C}" presName="rootText" presStyleLbl="node3" presStyleIdx="0" presStyleCnt="2">
        <dgm:presLayoutVars>
          <dgm:chPref val="3"/>
        </dgm:presLayoutVars>
      </dgm:prSet>
      <dgm:spPr/>
    </dgm:pt>
    <dgm:pt modelId="{EEAA612D-9598-42DF-AF78-947B6117031E}" type="pres">
      <dgm:prSet presAssocID="{949AAC7D-CF9E-4A2A-BC60-33518228EA5C}" presName="rootConnector" presStyleLbl="node3" presStyleIdx="0" presStyleCnt="2"/>
      <dgm:spPr/>
    </dgm:pt>
    <dgm:pt modelId="{CA727048-11CA-4D57-B93B-DE3BD75F76A8}" type="pres">
      <dgm:prSet presAssocID="{949AAC7D-CF9E-4A2A-BC60-33518228EA5C}" presName="hierChild4" presStyleCnt="0"/>
      <dgm:spPr/>
    </dgm:pt>
    <dgm:pt modelId="{7C90A678-EE45-45B4-B39C-64B35659A77A}" type="pres">
      <dgm:prSet presAssocID="{4A7CF3CB-EDD9-4853-AAFB-006746074044}" presName="Name50" presStyleLbl="parChTrans1D4" presStyleIdx="0" presStyleCnt="6"/>
      <dgm:spPr/>
    </dgm:pt>
    <dgm:pt modelId="{8F096D25-033B-4003-B2A5-121BF2275D30}" type="pres">
      <dgm:prSet presAssocID="{D5F5BC8F-5BCA-48F2-AA37-6875DA942301}" presName="hierRoot2" presStyleCnt="0">
        <dgm:presLayoutVars>
          <dgm:hierBranch val="r"/>
        </dgm:presLayoutVars>
      </dgm:prSet>
      <dgm:spPr/>
    </dgm:pt>
    <dgm:pt modelId="{92DA7C69-411A-4390-8FFB-CCA046E35882}" type="pres">
      <dgm:prSet presAssocID="{D5F5BC8F-5BCA-48F2-AA37-6875DA942301}" presName="rootComposite" presStyleCnt="0"/>
      <dgm:spPr/>
    </dgm:pt>
    <dgm:pt modelId="{B0B017FD-ABCD-4EF5-AC6D-B768880A17B3}" type="pres">
      <dgm:prSet presAssocID="{D5F5BC8F-5BCA-48F2-AA37-6875DA942301}" presName="rootText" presStyleLbl="node4" presStyleIdx="0" presStyleCnt="6" custScaleX="124353">
        <dgm:presLayoutVars>
          <dgm:chPref val="3"/>
        </dgm:presLayoutVars>
      </dgm:prSet>
      <dgm:spPr/>
    </dgm:pt>
    <dgm:pt modelId="{09B16DD1-8CE3-4865-97AA-BB4E2A9993FD}" type="pres">
      <dgm:prSet presAssocID="{D5F5BC8F-5BCA-48F2-AA37-6875DA942301}" presName="rootConnector" presStyleLbl="node4" presStyleIdx="0" presStyleCnt="6"/>
      <dgm:spPr/>
    </dgm:pt>
    <dgm:pt modelId="{3183552A-1442-4D67-8AC9-65F9ACF4A4D7}" type="pres">
      <dgm:prSet presAssocID="{D5F5BC8F-5BCA-48F2-AA37-6875DA942301}" presName="hierChild4" presStyleCnt="0"/>
      <dgm:spPr/>
    </dgm:pt>
    <dgm:pt modelId="{B9F7BE98-8664-4A72-B6C7-DDBCA683EF20}" type="pres">
      <dgm:prSet presAssocID="{890239B2-B360-496B-8979-1A5B71A8DC70}" presName="Name50" presStyleLbl="parChTrans1D4" presStyleIdx="1" presStyleCnt="6"/>
      <dgm:spPr/>
    </dgm:pt>
    <dgm:pt modelId="{D8AE7F35-D116-40F0-99D8-30402163D57E}" type="pres">
      <dgm:prSet presAssocID="{809D0760-D524-402E-BB65-869FDCB7D991}" presName="hierRoot2" presStyleCnt="0">
        <dgm:presLayoutVars>
          <dgm:hierBranch val="r"/>
        </dgm:presLayoutVars>
      </dgm:prSet>
      <dgm:spPr/>
    </dgm:pt>
    <dgm:pt modelId="{4A2AD86B-CC69-4ECE-AF9A-7E05B9B179AD}" type="pres">
      <dgm:prSet presAssocID="{809D0760-D524-402E-BB65-869FDCB7D991}" presName="rootComposite" presStyleCnt="0"/>
      <dgm:spPr/>
    </dgm:pt>
    <dgm:pt modelId="{FDE0DF92-FEC4-4B14-9E7D-069F6865D993}" type="pres">
      <dgm:prSet presAssocID="{809D0760-D524-402E-BB65-869FDCB7D991}" presName="rootText" presStyleLbl="node4" presStyleIdx="1" presStyleCnt="6">
        <dgm:presLayoutVars>
          <dgm:chPref val="3"/>
        </dgm:presLayoutVars>
      </dgm:prSet>
      <dgm:spPr/>
    </dgm:pt>
    <dgm:pt modelId="{8E805D3F-399C-4312-B1BD-7224FF09E65F}" type="pres">
      <dgm:prSet presAssocID="{809D0760-D524-402E-BB65-869FDCB7D991}" presName="rootConnector" presStyleLbl="node4" presStyleIdx="1" presStyleCnt="6"/>
      <dgm:spPr/>
    </dgm:pt>
    <dgm:pt modelId="{28BF9316-E4C4-40EB-A1E6-CC6E986160A0}" type="pres">
      <dgm:prSet presAssocID="{809D0760-D524-402E-BB65-869FDCB7D991}" presName="hierChild4" presStyleCnt="0"/>
      <dgm:spPr/>
    </dgm:pt>
    <dgm:pt modelId="{D76F8D87-BA44-4E41-B014-468D4727E2BB}" type="pres">
      <dgm:prSet presAssocID="{809D0760-D524-402E-BB65-869FDCB7D991}" presName="hierChild5" presStyleCnt="0"/>
      <dgm:spPr/>
    </dgm:pt>
    <dgm:pt modelId="{24016A2C-11CF-4597-9454-CB4B98F26311}" type="pres">
      <dgm:prSet presAssocID="{D5F5BC8F-5BCA-48F2-AA37-6875DA942301}" presName="hierChild5" presStyleCnt="0"/>
      <dgm:spPr/>
    </dgm:pt>
    <dgm:pt modelId="{9D4939F5-25B4-4768-80B5-AC87E9CE5951}" type="pres">
      <dgm:prSet presAssocID="{9A6F4D74-63F5-469F-AC73-0BFB2D96E603}" presName="Name50" presStyleLbl="parChTrans1D4" presStyleIdx="2" presStyleCnt="6"/>
      <dgm:spPr/>
    </dgm:pt>
    <dgm:pt modelId="{EEFD6004-89B5-4BF7-9321-0B11E4D44DFC}" type="pres">
      <dgm:prSet presAssocID="{4E6F9A3D-58F6-448D-911C-70DDE16F6E4F}" presName="hierRoot2" presStyleCnt="0">
        <dgm:presLayoutVars>
          <dgm:hierBranch val="r"/>
        </dgm:presLayoutVars>
      </dgm:prSet>
      <dgm:spPr/>
    </dgm:pt>
    <dgm:pt modelId="{2B476865-2D85-4672-B8DC-ADAD3EA438E7}" type="pres">
      <dgm:prSet presAssocID="{4E6F9A3D-58F6-448D-911C-70DDE16F6E4F}" presName="rootComposite" presStyleCnt="0"/>
      <dgm:spPr/>
    </dgm:pt>
    <dgm:pt modelId="{347CA8DC-669D-4025-A6B7-AFC8E7738AA9}" type="pres">
      <dgm:prSet presAssocID="{4E6F9A3D-58F6-448D-911C-70DDE16F6E4F}" presName="rootText" presStyleLbl="node4" presStyleIdx="2" presStyleCnt="6" custScaleX="198137" custScaleY="96258">
        <dgm:presLayoutVars>
          <dgm:chPref val="3"/>
        </dgm:presLayoutVars>
      </dgm:prSet>
      <dgm:spPr/>
    </dgm:pt>
    <dgm:pt modelId="{C10140BA-8F0D-4E9A-A96E-3B6FA0033F51}" type="pres">
      <dgm:prSet presAssocID="{4E6F9A3D-58F6-448D-911C-70DDE16F6E4F}" presName="rootConnector" presStyleLbl="node4" presStyleIdx="2" presStyleCnt="6"/>
      <dgm:spPr/>
    </dgm:pt>
    <dgm:pt modelId="{BBE6A660-855B-43FC-97C0-5B600B69A575}" type="pres">
      <dgm:prSet presAssocID="{4E6F9A3D-58F6-448D-911C-70DDE16F6E4F}" presName="hierChild4" presStyleCnt="0"/>
      <dgm:spPr/>
    </dgm:pt>
    <dgm:pt modelId="{0A080224-F07F-4A38-8BD8-43714020CE50}" type="pres">
      <dgm:prSet presAssocID="{4E6F9A3D-58F6-448D-911C-70DDE16F6E4F}" presName="hierChild5" presStyleCnt="0"/>
      <dgm:spPr/>
    </dgm:pt>
    <dgm:pt modelId="{D7949708-10C6-4BD0-9362-A82374E50EB5}" type="pres">
      <dgm:prSet presAssocID="{55952852-4C6C-48B9-BD5F-F00123C056C4}" presName="Name50" presStyleLbl="parChTrans1D4" presStyleIdx="3" presStyleCnt="6"/>
      <dgm:spPr/>
    </dgm:pt>
    <dgm:pt modelId="{5BDC5F37-BB59-4B15-B079-6295C376E4CF}" type="pres">
      <dgm:prSet presAssocID="{08E9B7B5-58C0-4CB2-BA7B-1B92EE61D0E5}" presName="hierRoot2" presStyleCnt="0">
        <dgm:presLayoutVars>
          <dgm:hierBranch val="r"/>
        </dgm:presLayoutVars>
      </dgm:prSet>
      <dgm:spPr/>
    </dgm:pt>
    <dgm:pt modelId="{028A8014-B6AD-4268-9A87-3514D5798CD7}" type="pres">
      <dgm:prSet presAssocID="{08E9B7B5-58C0-4CB2-BA7B-1B92EE61D0E5}" presName="rootComposite" presStyleCnt="0"/>
      <dgm:spPr/>
    </dgm:pt>
    <dgm:pt modelId="{2DD944E3-DE29-4958-BADC-5DD307E3A460}" type="pres">
      <dgm:prSet presAssocID="{08E9B7B5-58C0-4CB2-BA7B-1B92EE61D0E5}" presName="rootText" presStyleLbl="node4" presStyleIdx="3" presStyleCnt="6">
        <dgm:presLayoutVars>
          <dgm:chPref val="3"/>
        </dgm:presLayoutVars>
      </dgm:prSet>
      <dgm:spPr/>
    </dgm:pt>
    <dgm:pt modelId="{DCE7C9FE-2656-4D23-B1B9-CFF3525D0935}" type="pres">
      <dgm:prSet presAssocID="{08E9B7B5-58C0-4CB2-BA7B-1B92EE61D0E5}" presName="rootConnector" presStyleLbl="node4" presStyleIdx="3" presStyleCnt="6"/>
      <dgm:spPr/>
    </dgm:pt>
    <dgm:pt modelId="{EF276398-F6C1-4737-8F84-6100C1611310}" type="pres">
      <dgm:prSet presAssocID="{08E9B7B5-58C0-4CB2-BA7B-1B92EE61D0E5}" presName="hierChild4" presStyleCnt="0"/>
      <dgm:spPr/>
    </dgm:pt>
    <dgm:pt modelId="{F6975DCD-50C5-4F81-AACF-663FA9E0BD3A}" type="pres">
      <dgm:prSet presAssocID="{08E9B7B5-58C0-4CB2-BA7B-1B92EE61D0E5}" presName="hierChild5" presStyleCnt="0"/>
      <dgm:spPr/>
    </dgm:pt>
    <dgm:pt modelId="{B368D714-9BDD-4D24-B808-0412D9A86A6A}" type="pres">
      <dgm:prSet presAssocID="{949AAC7D-CF9E-4A2A-BC60-33518228EA5C}" presName="hierChild5" presStyleCnt="0"/>
      <dgm:spPr/>
    </dgm:pt>
    <dgm:pt modelId="{13600302-D222-45B0-A030-6E5430CD7D3A}" type="pres">
      <dgm:prSet presAssocID="{F8A47A82-6C81-451A-B09F-608D374CBC2A}" presName="Name35" presStyleLbl="parChTrans1D3" presStyleIdx="1" presStyleCnt="2"/>
      <dgm:spPr/>
    </dgm:pt>
    <dgm:pt modelId="{8C00C0C4-F3E3-45A4-9EAE-DF7509EE4AD9}" type="pres">
      <dgm:prSet presAssocID="{21A1B9E4-281C-43B0-9F60-A9023BB1F75E}" presName="hierRoot2" presStyleCnt="0">
        <dgm:presLayoutVars>
          <dgm:hierBranch val="r"/>
        </dgm:presLayoutVars>
      </dgm:prSet>
      <dgm:spPr/>
    </dgm:pt>
    <dgm:pt modelId="{D5517FA8-BA06-47F0-BBC8-C1717C1B67C0}" type="pres">
      <dgm:prSet presAssocID="{21A1B9E4-281C-43B0-9F60-A9023BB1F75E}" presName="rootComposite" presStyleCnt="0"/>
      <dgm:spPr/>
    </dgm:pt>
    <dgm:pt modelId="{1FEB2CAF-6A0D-4DB8-ACE5-D699D7864AE6}" type="pres">
      <dgm:prSet presAssocID="{21A1B9E4-281C-43B0-9F60-A9023BB1F75E}" presName="rootText" presStyleLbl="node3" presStyleIdx="1" presStyleCnt="2">
        <dgm:presLayoutVars>
          <dgm:chPref val="3"/>
        </dgm:presLayoutVars>
      </dgm:prSet>
      <dgm:spPr/>
    </dgm:pt>
    <dgm:pt modelId="{47CD6D8D-7A3B-4F18-84DA-712EF3F434E5}" type="pres">
      <dgm:prSet presAssocID="{21A1B9E4-281C-43B0-9F60-A9023BB1F75E}" presName="rootConnector" presStyleLbl="node3" presStyleIdx="1" presStyleCnt="2"/>
      <dgm:spPr/>
    </dgm:pt>
    <dgm:pt modelId="{51D178B9-D2F3-4EB0-A2C0-8DC29F1AF8F2}" type="pres">
      <dgm:prSet presAssocID="{21A1B9E4-281C-43B0-9F60-A9023BB1F75E}" presName="hierChild4" presStyleCnt="0"/>
      <dgm:spPr/>
    </dgm:pt>
    <dgm:pt modelId="{C089AB0D-DE39-445C-BE1D-7C6D652CDB18}" type="pres">
      <dgm:prSet presAssocID="{605C145E-2584-453D-AC37-DC87FB8DAD27}" presName="Name50" presStyleLbl="parChTrans1D4" presStyleIdx="4" presStyleCnt="6"/>
      <dgm:spPr/>
    </dgm:pt>
    <dgm:pt modelId="{BAAA9924-0C79-47B9-8F03-85CC3FD43A9E}" type="pres">
      <dgm:prSet presAssocID="{FE67171C-4F34-4D8E-ACE5-1157B6112D62}" presName="hierRoot2" presStyleCnt="0">
        <dgm:presLayoutVars>
          <dgm:hierBranch val="r"/>
        </dgm:presLayoutVars>
      </dgm:prSet>
      <dgm:spPr/>
    </dgm:pt>
    <dgm:pt modelId="{14BD2BFC-3375-416F-8D65-F109C544728D}" type="pres">
      <dgm:prSet presAssocID="{FE67171C-4F34-4D8E-ACE5-1157B6112D62}" presName="rootComposite" presStyleCnt="0"/>
      <dgm:spPr/>
    </dgm:pt>
    <dgm:pt modelId="{66D320DE-D817-4AB5-BF34-9B5520C6D06D}" type="pres">
      <dgm:prSet presAssocID="{FE67171C-4F34-4D8E-ACE5-1157B6112D62}" presName="rootText" presStyleLbl="node4" presStyleIdx="4" presStyleCnt="6">
        <dgm:presLayoutVars>
          <dgm:chPref val="3"/>
        </dgm:presLayoutVars>
      </dgm:prSet>
      <dgm:spPr/>
    </dgm:pt>
    <dgm:pt modelId="{6B2CBFCE-19CD-4C9C-A326-071406C3109B}" type="pres">
      <dgm:prSet presAssocID="{FE67171C-4F34-4D8E-ACE5-1157B6112D62}" presName="rootConnector" presStyleLbl="node4" presStyleIdx="4" presStyleCnt="6"/>
      <dgm:spPr/>
    </dgm:pt>
    <dgm:pt modelId="{F2F60A28-7B4E-4596-B9B2-D8D697D193C4}" type="pres">
      <dgm:prSet presAssocID="{FE67171C-4F34-4D8E-ACE5-1157B6112D62}" presName="hierChild4" presStyleCnt="0"/>
      <dgm:spPr/>
    </dgm:pt>
    <dgm:pt modelId="{203893B7-4CEA-4AA9-BB15-8ACD4F179551}" type="pres">
      <dgm:prSet presAssocID="{FE67171C-4F34-4D8E-ACE5-1157B6112D62}" presName="hierChild5" presStyleCnt="0"/>
      <dgm:spPr/>
    </dgm:pt>
    <dgm:pt modelId="{ADCE9975-5F26-499B-8257-FFDD963A6D02}" type="pres">
      <dgm:prSet presAssocID="{21C82A8C-98FE-4AED-A856-D62899854A01}" presName="Name50" presStyleLbl="parChTrans1D4" presStyleIdx="5" presStyleCnt="6"/>
      <dgm:spPr/>
    </dgm:pt>
    <dgm:pt modelId="{08E7EE2E-7D76-4B75-AE5E-D15984C0D37E}" type="pres">
      <dgm:prSet presAssocID="{794281E9-4C2F-48EB-BC1F-D1A6ED067C1A}" presName="hierRoot2" presStyleCnt="0">
        <dgm:presLayoutVars>
          <dgm:hierBranch val="r"/>
        </dgm:presLayoutVars>
      </dgm:prSet>
      <dgm:spPr/>
    </dgm:pt>
    <dgm:pt modelId="{B0F36AA3-1B6B-43AA-A71C-6D70437EB8FD}" type="pres">
      <dgm:prSet presAssocID="{794281E9-4C2F-48EB-BC1F-D1A6ED067C1A}" presName="rootComposite" presStyleCnt="0"/>
      <dgm:spPr/>
    </dgm:pt>
    <dgm:pt modelId="{09753A76-BDCD-45F1-BDFE-499042DB72F8}" type="pres">
      <dgm:prSet presAssocID="{794281E9-4C2F-48EB-BC1F-D1A6ED067C1A}" presName="rootText" presStyleLbl="node4" presStyleIdx="5" presStyleCnt="6">
        <dgm:presLayoutVars>
          <dgm:chPref val="3"/>
        </dgm:presLayoutVars>
      </dgm:prSet>
      <dgm:spPr/>
    </dgm:pt>
    <dgm:pt modelId="{3A7B8718-BA32-4459-8E34-6088FFDDB05F}" type="pres">
      <dgm:prSet presAssocID="{794281E9-4C2F-48EB-BC1F-D1A6ED067C1A}" presName="rootConnector" presStyleLbl="node4" presStyleIdx="5" presStyleCnt="6"/>
      <dgm:spPr/>
    </dgm:pt>
    <dgm:pt modelId="{808F7ACE-4E3F-4BB2-A213-C06D47744C12}" type="pres">
      <dgm:prSet presAssocID="{794281E9-4C2F-48EB-BC1F-D1A6ED067C1A}" presName="hierChild4" presStyleCnt="0"/>
      <dgm:spPr/>
    </dgm:pt>
    <dgm:pt modelId="{BA42F342-EA49-4550-814F-2B0B54BF71BD}" type="pres">
      <dgm:prSet presAssocID="{794281E9-4C2F-48EB-BC1F-D1A6ED067C1A}" presName="hierChild5" presStyleCnt="0"/>
      <dgm:spPr/>
    </dgm:pt>
    <dgm:pt modelId="{F7CCD87E-9159-4364-B1AC-9E9C03AC07FF}" type="pres">
      <dgm:prSet presAssocID="{21A1B9E4-281C-43B0-9F60-A9023BB1F75E}" presName="hierChild5" presStyleCnt="0"/>
      <dgm:spPr/>
    </dgm:pt>
    <dgm:pt modelId="{5C1242F7-38D3-4C1F-A34F-8FEEAB9905E9}" type="pres">
      <dgm:prSet presAssocID="{3EB29347-DBF7-4FC9-9B4C-DEE7F33C2409}" presName="hierChild5" presStyleCnt="0"/>
      <dgm:spPr/>
    </dgm:pt>
    <dgm:pt modelId="{FF4D36E5-D97B-4C86-AF74-A5D4A254B940}" type="pres">
      <dgm:prSet presAssocID="{3923B5B4-806B-4C2F-BA62-3DC540C008CA}" presName="hierChild3" presStyleCnt="0"/>
      <dgm:spPr/>
    </dgm:pt>
  </dgm:ptLst>
  <dgm:cxnLst>
    <dgm:cxn modelId="{5BB69102-E135-4775-811A-01ED02CD919E}" type="presOf" srcId="{3EB29347-DBF7-4FC9-9B4C-DEE7F33C2409}" destId="{E3A85358-95B5-4D73-9788-54850F2FAF16}" srcOrd="0" destOrd="0" presId="urn:microsoft.com/office/officeart/2005/8/layout/orgChart1#1"/>
    <dgm:cxn modelId="{7E667F09-A138-45C2-9DE1-39F24557A62B}" type="presOf" srcId="{FE67171C-4F34-4D8E-ACE5-1157B6112D62}" destId="{66D320DE-D817-4AB5-BF34-9B5520C6D06D}" srcOrd="0" destOrd="0" presId="urn:microsoft.com/office/officeart/2005/8/layout/orgChart1#1"/>
    <dgm:cxn modelId="{ADDCFB16-01D7-4D93-8147-4C6EF2EE3B34}" srcId="{949AAC7D-CF9E-4A2A-BC60-33518228EA5C}" destId="{4E6F9A3D-58F6-448D-911C-70DDE16F6E4F}" srcOrd="1" destOrd="0" parTransId="{9A6F4D74-63F5-469F-AC73-0BFB2D96E603}" sibTransId="{5834DC99-6180-496F-AB25-E831D0A02044}"/>
    <dgm:cxn modelId="{6CAC8730-B85A-4F07-BA5A-0903067E97C1}" type="presOf" srcId="{C31D2AE2-50C0-4999-A911-C808E29B8EE5}" destId="{C435646F-5911-4687-A9C5-89E01E6162CA}" srcOrd="0" destOrd="0" presId="urn:microsoft.com/office/officeart/2005/8/layout/orgChart1#1"/>
    <dgm:cxn modelId="{00394335-524A-4F97-BCAF-4A04195E6DC9}" type="presOf" srcId="{794281E9-4C2F-48EB-BC1F-D1A6ED067C1A}" destId="{3A7B8718-BA32-4459-8E34-6088FFDDB05F}" srcOrd="1" destOrd="0" presId="urn:microsoft.com/office/officeart/2005/8/layout/orgChart1#1"/>
    <dgm:cxn modelId="{01B9DA3B-04DA-4DCA-A93D-5F8B7AA9CE95}" type="presOf" srcId="{21A1B9E4-281C-43B0-9F60-A9023BB1F75E}" destId="{47CD6D8D-7A3B-4F18-84DA-712EF3F434E5}" srcOrd="1" destOrd="0" presId="urn:microsoft.com/office/officeart/2005/8/layout/orgChart1#1"/>
    <dgm:cxn modelId="{57B2F53F-AECB-4140-B1EF-905B9D936856}" type="presOf" srcId="{4A7CF3CB-EDD9-4853-AAFB-006746074044}" destId="{7C90A678-EE45-45B4-B39C-64B35659A77A}" srcOrd="0" destOrd="0" presId="urn:microsoft.com/office/officeart/2005/8/layout/orgChart1#1"/>
    <dgm:cxn modelId="{E0D2CD5C-E4AC-4778-821E-C639F7FC7B62}" type="presOf" srcId="{C31D2AE2-50C0-4999-A911-C808E29B8EE5}" destId="{5B231FF8-77EB-4AB5-B61F-C81F306E3DF1}" srcOrd="1" destOrd="0" presId="urn:microsoft.com/office/officeart/2005/8/layout/orgChart1#1"/>
    <dgm:cxn modelId="{23374B61-C22F-455C-82E1-2FEEC4C10A09}" type="presOf" srcId="{055FC2A3-91F0-455D-8FF8-4F8722CD5CE4}" destId="{0EDB4574-4FB2-4D94-848F-39AC10F371D7}" srcOrd="0" destOrd="0" presId="urn:microsoft.com/office/officeart/2005/8/layout/orgChart1#1"/>
    <dgm:cxn modelId="{ACFFED43-66D3-488F-AD39-750EF3806132}" type="presOf" srcId="{4E6F9A3D-58F6-448D-911C-70DDE16F6E4F}" destId="{347CA8DC-669D-4025-A6B7-AFC8E7738AA9}" srcOrd="0" destOrd="0" presId="urn:microsoft.com/office/officeart/2005/8/layout/orgChart1#1"/>
    <dgm:cxn modelId="{0B7C2965-502C-4F78-B1DC-2675CE819937}" srcId="{D5F5BC8F-5BCA-48F2-AA37-6875DA942301}" destId="{809D0760-D524-402E-BB65-869FDCB7D991}" srcOrd="0" destOrd="0" parTransId="{890239B2-B360-496B-8979-1A5B71A8DC70}" sibTransId="{D0B260D9-6CF0-4912-AF0D-89599594BC58}"/>
    <dgm:cxn modelId="{AA0E5F45-36AB-4DAB-902E-29AC719F56F4}" type="presOf" srcId="{F8A47A82-6C81-451A-B09F-608D374CBC2A}" destId="{13600302-D222-45B0-A030-6E5430CD7D3A}" srcOrd="0" destOrd="0" presId="urn:microsoft.com/office/officeart/2005/8/layout/orgChart1#1"/>
    <dgm:cxn modelId="{229E1E6C-E91F-41B8-B045-28927DEBD869}" type="presOf" srcId="{885B4EDB-B2C3-4627-A4FD-283DEF6B40A5}" destId="{4E007B46-A246-4DAC-8751-556F3B7B210E}" srcOrd="0" destOrd="0" presId="urn:microsoft.com/office/officeart/2005/8/layout/orgChart1#1"/>
    <dgm:cxn modelId="{66D9794C-114D-40E4-9518-C7DEB20303FD}" srcId="{949AAC7D-CF9E-4A2A-BC60-33518228EA5C}" destId="{D5F5BC8F-5BCA-48F2-AA37-6875DA942301}" srcOrd="0" destOrd="0" parTransId="{4A7CF3CB-EDD9-4853-AAFB-006746074044}" sibTransId="{74678E8F-433E-46CF-B9DB-16D534EE678D}"/>
    <dgm:cxn modelId="{64B7B86C-626B-4933-AAC6-4ADFB28E27EC}" srcId="{21A1B9E4-281C-43B0-9F60-A9023BB1F75E}" destId="{794281E9-4C2F-48EB-BC1F-D1A6ED067C1A}" srcOrd="1" destOrd="0" parTransId="{21C82A8C-98FE-4AED-A856-D62899854A01}" sibTransId="{2EFBA731-584E-41E9-AC86-314BBE5A8DF7}"/>
    <dgm:cxn modelId="{4A961151-A45D-4EB6-BC0E-2CC30A0E4447}" type="presOf" srcId="{794281E9-4C2F-48EB-BC1F-D1A6ED067C1A}" destId="{09753A76-BDCD-45F1-BDFE-499042DB72F8}" srcOrd="0" destOrd="0" presId="urn:microsoft.com/office/officeart/2005/8/layout/orgChart1#1"/>
    <dgm:cxn modelId="{9EBB7771-5DE5-4A1D-AD68-1D04F5667B0A}" type="presOf" srcId="{FD85F88A-7287-403B-A177-FDD6CD6C1B72}" destId="{D7A674F7-71AB-4310-A6C1-49ECE8625292}" srcOrd="0" destOrd="0" presId="urn:microsoft.com/office/officeart/2005/8/layout/orgChart1#1"/>
    <dgm:cxn modelId="{6F18AF74-1663-4C08-8201-46C28D27EF47}" type="presOf" srcId="{08E9B7B5-58C0-4CB2-BA7B-1B92EE61D0E5}" destId="{DCE7C9FE-2656-4D23-B1B9-CFF3525D0935}" srcOrd="1" destOrd="0" presId="urn:microsoft.com/office/officeart/2005/8/layout/orgChart1#1"/>
    <dgm:cxn modelId="{69775777-8668-441C-A01A-7F79596BD096}" type="presOf" srcId="{55952852-4C6C-48B9-BD5F-F00123C056C4}" destId="{D7949708-10C6-4BD0-9362-A82374E50EB5}" srcOrd="0" destOrd="0" presId="urn:microsoft.com/office/officeart/2005/8/layout/orgChart1#1"/>
    <dgm:cxn modelId="{47558977-CC7C-4739-B2F4-D92799241C13}" type="presOf" srcId="{21A1B9E4-281C-43B0-9F60-A9023BB1F75E}" destId="{1FEB2CAF-6A0D-4DB8-ACE5-D699D7864AE6}" srcOrd="0" destOrd="0" presId="urn:microsoft.com/office/officeart/2005/8/layout/orgChart1#1"/>
    <dgm:cxn modelId="{6732BE58-101D-4286-AC5D-74DC4AC7B5AE}" type="presOf" srcId="{D5F5BC8F-5BCA-48F2-AA37-6875DA942301}" destId="{B0B017FD-ABCD-4EF5-AC6D-B768880A17B3}" srcOrd="0" destOrd="0" presId="urn:microsoft.com/office/officeart/2005/8/layout/orgChart1#1"/>
    <dgm:cxn modelId="{0CEEF858-BC8D-4A5C-8816-ACC4DE413FBB}" type="presOf" srcId="{890239B2-B360-496B-8979-1A5B71A8DC70}" destId="{B9F7BE98-8664-4A72-B6C7-DDBCA683EF20}" srcOrd="0" destOrd="0" presId="urn:microsoft.com/office/officeart/2005/8/layout/orgChart1#1"/>
    <dgm:cxn modelId="{4B7EBE81-6F94-424A-BC6F-128B5A1E00F1}" type="presOf" srcId="{809D0760-D524-402E-BB65-869FDCB7D991}" destId="{FDE0DF92-FEC4-4B14-9E7D-069F6865D993}" srcOrd="0" destOrd="0" presId="urn:microsoft.com/office/officeart/2005/8/layout/orgChart1#1"/>
    <dgm:cxn modelId="{320C7990-8B6C-4E2F-BA5A-D693F1A1B190}" srcId="{3EB29347-DBF7-4FC9-9B4C-DEE7F33C2409}" destId="{949AAC7D-CF9E-4A2A-BC60-33518228EA5C}" srcOrd="0" destOrd="0" parTransId="{8DAA59C5-6D81-4BD4-B94E-456C0FE4674B}" sibTransId="{E3EDA238-3166-48A2-B58F-FBDC080AA9E5}"/>
    <dgm:cxn modelId="{2B2F3494-E839-4A46-8BA9-FC8663D28414}" type="presOf" srcId="{949AAC7D-CF9E-4A2A-BC60-33518228EA5C}" destId="{EEAA612D-9598-42DF-AF78-947B6117031E}" srcOrd="1" destOrd="0" presId="urn:microsoft.com/office/officeart/2005/8/layout/orgChart1#1"/>
    <dgm:cxn modelId="{BF437798-C95B-4EF8-B691-FDE207ECAC59}" type="presOf" srcId="{D5F5BC8F-5BCA-48F2-AA37-6875DA942301}" destId="{09B16DD1-8CE3-4865-97AA-BB4E2A9993FD}" srcOrd="1" destOrd="0" presId="urn:microsoft.com/office/officeart/2005/8/layout/orgChart1#1"/>
    <dgm:cxn modelId="{A121939F-E13B-46B5-9A02-54A1EE054F6B}" srcId="{3923B5B4-806B-4C2F-BA62-3DC540C008CA}" destId="{C31D2AE2-50C0-4999-A911-C808E29B8EE5}" srcOrd="0" destOrd="0" parTransId="{055FC2A3-91F0-455D-8FF8-4F8722CD5CE4}" sibTransId="{A3C8E22B-53F0-4A79-A5D2-F8C85AF1921A}"/>
    <dgm:cxn modelId="{A6C604A5-36A4-4435-9583-282DA63D8D77}" type="presOf" srcId="{605C145E-2584-453D-AC37-DC87FB8DAD27}" destId="{C089AB0D-DE39-445C-BE1D-7C6D652CDB18}" srcOrd="0" destOrd="0" presId="urn:microsoft.com/office/officeart/2005/8/layout/orgChart1#1"/>
    <dgm:cxn modelId="{C5F602AA-9A1E-475F-B144-09FE53CF934F}" type="presOf" srcId="{3923B5B4-806B-4C2F-BA62-3DC540C008CA}" destId="{2EFE86A7-A418-4AD0-AEF1-C4AD0E0D3F50}" srcOrd="0" destOrd="0" presId="urn:microsoft.com/office/officeart/2005/8/layout/orgChart1#1"/>
    <dgm:cxn modelId="{3D1695AB-75BA-40CB-97B3-FCF244A2A411}" type="presOf" srcId="{3923B5B4-806B-4C2F-BA62-3DC540C008CA}" destId="{41982FA6-5120-413B-86ED-75BAB04EB69A}" srcOrd="1" destOrd="0" presId="urn:microsoft.com/office/officeart/2005/8/layout/orgChart1#1"/>
    <dgm:cxn modelId="{01FE28AC-238A-4371-B4C3-6E933F07A57C}" type="presOf" srcId="{809D0760-D524-402E-BB65-869FDCB7D991}" destId="{8E805D3F-399C-4312-B1BD-7224FF09E65F}" srcOrd="1" destOrd="0" presId="urn:microsoft.com/office/officeart/2005/8/layout/orgChart1#1"/>
    <dgm:cxn modelId="{B73EE9AF-799E-4E02-A7F7-942E338C0B05}" type="presOf" srcId="{3EB29347-DBF7-4FC9-9B4C-DEE7F33C2409}" destId="{1133A4C8-9933-47E1-A2D2-CF5D70B96628}" srcOrd="1" destOrd="0" presId="urn:microsoft.com/office/officeart/2005/8/layout/orgChart1#1"/>
    <dgm:cxn modelId="{915302BF-10E0-422A-A1B8-AF1AE4AE9C7E}" type="presOf" srcId="{FE67171C-4F34-4D8E-ACE5-1157B6112D62}" destId="{6B2CBFCE-19CD-4C9C-A326-071406C3109B}" srcOrd="1" destOrd="0" presId="urn:microsoft.com/office/officeart/2005/8/layout/orgChart1#1"/>
    <dgm:cxn modelId="{38DE55C1-2142-4181-B171-8810AC3241B2}" type="presOf" srcId="{21C82A8C-98FE-4AED-A856-D62899854A01}" destId="{ADCE9975-5F26-499B-8257-FFDD963A6D02}" srcOrd="0" destOrd="0" presId="urn:microsoft.com/office/officeart/2005/8/layout/orgChart1#1"/>
    <dgm:cxn modelId="{8DFC10CD-17DB-4672-808E-20E9E08EE8B2}" type="presOf" srcId="{08E9B7B5-58C0-4CB2-BA7B-1B92EE61D0E5}" destId="{2DD944E3-DE29-4958-BADC-5DD307E3A460}" srcOrd="0" destOrd="0" presId="urn:microsoft.com/office/officeart/2005/8/layout/orgChart1#1"/>
    <dgm:cxn modelId="{B94101D3-CB33-4866-9797-37DA74BD3EEA}" type="presOf" srcId="{8DAA59C5-6D81-4BD4-B94E-456C0FE4674B}" destId="{8AA223DD-678A-4D45-9DD6-28BF3CB7FC64}" srcOrd="0" destOrd="0" presId="urn:microsoft.com/office/officeart/2005/8/layout/orgChart1#1"/>
    <dgm:cxn modelId="{79117FD3-B736-4817-9C02-8FD681417863}" type="presOf" srcId="{9A6F4D74-63F5-469F-AC73-0BFB2D96E603}" destId="{9D4939F5-25B4-4768-80B5-AC87E9CE5951}" srcOrd="0" destOrd="0" presId="urn:microsoft.com/office/officeart/2005/8/layout/orgChart1#1"/>
    <dgm:cxn modelId="{AB3C89D7-909E-4C37-BC72-B84942A7118D}" type="presOf" srcId="{4E6F9A3D-58F6-448D-911C-70DDE16F6E4F}" destId="{C10140BA-8F0D-4E9A-A96E-3B6FA0033F51}" srcOrd="1" destOrd="0" presId="urn:microsoft.com/office/officeart/2005/8/layout/orgChart1#1"/>
    <dgm:cxn modelId="{EF291CE0-4B89-4288-9A6A-095F402D5184}" srcId="{885B4EDB-B2C3-4627-A4FD-283DEF6B40A5}" destId="{3923B5B4-806B-4C2F-BA62-3DC540C008CA}" srcOrd="0" destOrd="0" parTransId="{02F0784E-7603-4B7B-86EF-72A2ACE28B4E}" sibTransId="{783FC9CC-B846-42B3-876D-E61CAB932C16}"/>
    <dgm:cxn modelId="{6E1F71E0-8AD5-4B57-922B-58CE8417E54A}" srcId="{3923B5B4-806B-4C2F-BA62-3DC540C008CA}" destId="{3EB29347-DBF7-4FC9-9B4C-DEE7F33C2409}" srcOrd="1" destOrd="0" parTransId="{FD85F88A-7287-403B-A177-FDD6CD6C1B72}" sibTransId="{13138054-51A3-4E43-9E7A-821FF172EBEB}"/>
    <dgm:cxn modelId="{B7D676E7-572D-4F77-ADC3-92A870F83A7F}" srcId="{21A1B9E4-281C-43B0-9F60-A9023BB1F75E}" destId="{FE67171C-4F34-4D8E-ACE5-1157B6112D62}" srcOrd="0" destOrd="0" parTransId="{605C145E-2584-453D-AC37-DC87FB8DAD27}" sibTransId="{D2C6F02E-E61C-4D41-85C8-F57B741591C4}"/>
    <dgm:cxn modelId="{7BE41DEE-B600-4C86-8781-D017775FBEC2}" srcId="{949AAC7D-CF9E-4A2A-BC60-33518228EA5C}" destId="{08E9B7B5-58C0-4CB2-BA7B-1B92EE61D0E5}" srcOrd="2" destOrd="0" parTransId="{55952852-4C6C-48B9-BD5F-F00123C056C4}" sibTransId="{B40E95D7-3A4D-4EA3-8B80-FEDD7E5DC34E}"/>
    <dgm:cxn modelId="{7C99F0F6-9A7B-4C1D-9F68-5B04E667823C}" type="presOf" srcId="{949AAC7D-CF9E-4A2A-BC60-33518228EA5C}" destId="{3C279987-259C-49DB-8505-4A0110D76815}" srcOrd="0" destOrd="0" presId="urn:microsoft.com/office/officeart/2005/8/layout/orgChart1#1"/>
    <dgm:cxn modelId="{F74BD9FF-5F4A-4CD5-8DAB-71E2832537D6}" srcId="{3EB29347-DBF7-4FC9-9B4C-DEE7F33C2409}" destId="{21A1B9E4-281C-43B0-9F60-A9023BB1F75E}" srcOrd="1" destOrd="0" parTransId="{F8A47A82-6C81-451A-B09F-608D374CBC2A}" sibTransId="{AE327F90-75C5-4C11-81F9-EE2A848AD001}"/>
    <dgm:cxn modelId="{17BC7E68-8A2D-4B38-94A2-561C7A4B6A9F}" type="presParOf" srcId="{4E007B46-A246-4DAC-8751-556F3B7B210E}" destId="{EED6F6D2-1F3E-455E-98F2-C229867FA892}" srcOrd="0" destOrd="0" presId="urn:microsoft.com/office/officeart/2005/8/layout/orgChart1#1"/>
    <dgm:cxn modelId="{8FC93DA6-EB09-46B4-8423-18BC4A77E1DC}" type="presParOf" srcId="{EED6F6D2-1F3E-455E-98F2-C229867FA892}" destId="{C4038935-BE0B-43A9-8528-CB077471D340}" srcOrd="0" destOrd="0" presId="urn:microsoft.com/office/officeart/2005/8/layout/orgChart1#1"/>
    <dgm:cxn modelId="{AFAE57D9-36D8-4ACD-A057-2DBEE03316EB}" type="presParOf" srcId="{C4038935-BE0B-43A9-8528-CB077471D340}" destId="{2EFE86A7-A418-4AD0-AEF1-C4AD0E0D3F50}" srcOrd="0" destOrd="0" presId="urn:microsoft.com/office/officeart/2005/8/layout/orgChart1#1"/>
    <dgm:cxn modelId="{94E0AC57-A764-4532-BA7A-33FE5D41C02A}" type="presParOf" srcId="{C4038935-BE0B-43A9-8528-CB077471D340}" destId="{41982FA6-5120-413B-86ED-75BAB04EB69A}" srcOrd="1" destOrd="0" presId="urn:microsoft.com/office/officeart/2005/8/layout/orgChart1#1"/>
    <dgm:cxn modelId="{EF157AF5-0F63-4D77-BD43-D542DC02A10B}" type="presParOf" srcId="{EED6F6D2-1F3E-455E-98F2-C229867FA892}" destId="{522812B2-9A8D-43CD-9A40-626725831BC2}" srcOrd="1" destOrd="0" presId="urn:microsoft.com/office/officeart/2005/8/layout/orgChart1#1"/>
    <dgm:cxn modelId="{B63C87CC-0DA4-4D69-B8C1-97D597C00F9A}" type="presParOf" srcId="{522812B2-9A8D-43CD-9A40-626725831BC2}" destId="{0EDB4574-4FB2-4D94-848F-39AC10F371D7}" srcOrd="0" destOrd="0" presId="urn:microsoft.com/office/officeart/2005/8/layout/orgChart1#1"/>
    <dgm:cxn modelId="{D1673C14-4C3E-42F2-989F-2C247555193D}" type="presParOf" srcId="{522812B2-9A8D-43CD-9A40-626725831BC2}" destId="{EA30522A-E301-4181-87E9-825E906CA3B5}" srcOrd="1" destOrd="0" presId="urn:microsoft.com/office/officeart/2005/8/layout/orgChart1#1"/>
    <dgm:cxn modelId="{F1167D4E-236A-42C2-9BE8-1EF9B51F7E4F}" type="presParOf" srcId="{EA30522A-E301-4181-87E9-825E906CA3B5}" destId="{CC1A4EB6-FEDD-467C-A1DA-7C607E12F9D3}" srcOrd="0" destOrd="0" presId="urn:microsoft.com/office/officeart/2005/8/layout/orgChart1#1"/>
    <dgm:cxn modelId="{21F9BC30-2BAA-4138-8C71-56099255786C}" type="presParOf" srcId="{CC1A4EB6-FEDD-467C-A1DA-7C607E12F9D3}" destId="{C435646F-5911-4687-A9C5-89E01E6162CA}" srcOrd="0" destOrd="0" presId="urn:microsoft.com/office/officeart/2005/8/layout/orgChart1#1"/>
    <dgm:cxn modelId="{47547D55-B710-4784-9173-8BB5FEDC61BA}" type="presParOf" srcId="{CC1A4EB6-FEDD-467C-A1DA-7C607E12F9D3}" destId="{5B231FF8-77EB-4AB5-B61F-C81F306E3DF1}" srcOrd="1" destOrd="0" presId="urn:microsoft.com/office/officeart/2005/8/layout/orgChart1#1"/>
    <dgm:cxn modelId="{86F18D11-8DE9-46DB-A8BD-246FA4720FE7}" type="presParOf" srcId="{EA30522A-E301-4181-87E9-825E906CA3B5}" destId="{CFA8D222-9A9F-47EE-8664-E84441FEA9BA}" srcOrd="1" destOrd="0" presId="urn:microsoft.com/office/officeart/2005/8/layout/orgChart1#1"/>
    <dgm:cxn modelId="{953DACC2-6A79-4B49-99C0-3F16ACE17E40}" type="presParOf" srcId="{EA30522A-E301-4181-87E9-825E906CA3B5}" destId="{601E82C1-735F-4141-B7A6-479AD1B87ED5}" srcOrd="2" destOrd="0" presId="urn:microsoft.com/office/officeart/2005/8/layout/orgChart1#1"/>
    <dgm:cxn modelId="{740A118C-2126-41E9-A88C-087D76717D29}" type="presParOf" srcId="{522812B2-9A8D-43CD-9A40-626725831BC2}" destId="{D7A674F7-71AB-4310-A6C1-49ECE8625292}" srcOrd="2" destOrd="0" presId="urn:microsoft.com/office/officeart/2005/8/layout/orgChart1#1"/>
    <dgm:cxn modelId="{C3E039F3-57DE-4477-B0E0-E599DE27561B}" type="presParOf" srcId="{522812B2-9A8D-43CD-9A40-626725831BC2}" destId="{2119AF4F-CE5A-4083-9EDC-0BC049114C19}" srcOrd="3" destOrd="0" presId="urn:microsoft.com/office/officeart/2005/8/layout/orgChart1#1"/>
    <dgm:cxn modelId="{FC0E377E-B084-492A-8C7B-F69AFF16130B}" type="presParOf" srcId="{2119AF4F-CE5A-4083-9EDC-0BC049114C19}" destId="{950960D9-AB57-479A-88BE-83C3C93FA931}" srcOrd="0" destOrd="0" presId="urn:microsoft.com/office/officeart/2005/8/layout/orgChart1#1"/>
    <dgm:cxn modelId="{D97D6BFE-4733-4F6D-A53F-C7B4E3695023}" type="presParOf" srcId="{950960D9-AB57-479A-88BE-83C3C93FA931}" destId="{E3A85358-95B5-4D73-9788-54850F2FAF16}" srcOrd="0" destOrd="0" presId="urn:microsoft.com/office/officeart/2005/8/layout/orgChart1#1"/>
    <dgm:cxn modelId="{9EE03825-40BA-4FC8-AE5D-C1325190F682}" type="presParOf" srcId="{950960D9-AB57-479A-88BE-83C3C93FA931}" destId="{1133A4C8-9933-47E1-A2D2-CF5D70B96628}" srcOrd="1" destOrd="0" presId="urn:microsoft.com/office/officeart/2005/8/layout/orgChart1#1"/>
    <dgm:cxn modelId="{7CA9E738-7402-4C1C-8444-AC895F3B45A4}" type="presParOf" srcId="{2119AF4F-CE5A-4083-9EDC-0BC049114C19}" destId="{742DB15D-D83B-4824-943E-50E7E38A7A74}" srcOrd="1" destOrd="0" presId="urn:microsoft.com/office/officeart/2005/8/layout/orgChart1#1"/>
    <dgm:cxn modelId="{FF8F36D1-2649-4DBE-B5B9-8CAE31743037}" type="presParOf" srcId="{742DB15D-D83B-4824-943E-50E7E38A7A74}" destId="{8AA223DD-678A-4D45-9DD6-28BF3CB7FC64}" srcOrd="0" destOrd="0" presId="urn:microsoft.com/office/officeart/2005/8/layout/orgChart1#1"/>
    <dgm:cxn modelId="{8A77677D-99B5-4EE9-9B61-1D60DB35E323}" type="presParOf" srcId="{742DB15D-D83B-4824-943E-50E7E38A7A74}" destId="{A1788E98-DCA2-4988-B082-58170E6E8427}" srcOrd="1" destOrd="0" presId="urn:microsoft.com/office/officeart/2005/8/layout/orgChart1#1"/>
    <dgm:cxn modelId="{E1E1698B-C313-4902-AAEA-B712150D5E20}" type="presParOf" srcId="{A1788E98-DCA2-4988-B082-58170E6E8427}" destId="{EC236052-2E8C-435D-8749-7AAE4C081E12}" srcOrd="0" destOrd="0" presId="urn:microsoft.com/office/officeart/2005/8/layout/orgChart1#1"/>
    <dgm:cxn modelId="{46AD0863-B07C-439D-AB14-3F56853ADFF9}" type="presParOf" srcId="{EC236052-2E8C-435D-8749-7AAE4C081E12}" destId="{3C279987-259C-49DB-8505-4A0110D76815}" srcOrd="0" destOrd="0" presId="urn:microsoft.com/office/officeart/2005/8/layout/orgChart1#1"/>
    <dgm:cxn modelId="{62545E98-1C1F-44B0-B66A-1CA01D1911A4}" type="presParOf" srcId="{EC236052-2E8C-435D-8749-7AAE4C081E12}" destId="{EEAA612D-9598-42DF-AF78-947B6117031E}" srcOrd="1" destOrd="0" presId="urn:microsoft.com/office/officeart/2005/8/layout/orgChart1#1"/>
    <dgm:cxn modelId="{0F4A1CD7-2CB0-44F7-ACC4-7E868ED2492E}" type="presParOf" srcId="{A1788E98-DCA2-4988-B082-58170E6E8427}" destId="{CA727048-11CA-4D57-B93B-DE3BD75F76A8}" srcOrd="1" destOrd="0" presId="urn:microsoft.com/office/officeart/2005/8/layout/orgChart1#1"/>
    <dgm:cxn modelId="{769DE0E0-FA40-4DF0-8156-C1BF80BD9EA3}" type="presParOf" srcId="{CA727048-11CA-4D57-B93B-DE3BD75F76A8}" destId="{7C90A678-EE45-45B4-B39C-64B35659A77A}" srcOrd="0" destOrd="0" presId="urn:microsoft.com/office/officeart/2005/8/layout/orgChart1#1"/>
    <dgm:cxn modelId="{4AEC0A98-7949-473C-9781-454F274849C0}" type="presParOf" srcId="{CA727048-11CA-4D57-B93B-DE3BD75F76A8}" destId="{8F096D25-033B-4003-B2A5-121BF2275D30}" srcOrd="1" destOrd="0" presId="urn:microsoft.com/office/officeart/2005/8/layout/orgChart1#1"/>
    <dgm:cxn modelId="{64D4B89C-FAE8-4BE2-BEAE-27495FB6ACFD}" type="presParOf" srcId="{8F096D25-033B-4003-B2A5-121BF2275D30}" destId="{92DA7C69-411A-4390-8FFB-CCA046E35882}" srcOrd="0" destOrd="0" presId="urn:microsoft.com/office/officeart/2005/8/layout/orgChart1#1"/>
    <dgm:cxn modelId="{5A04205A-30C8-4619-A376-BA0472F96A95}" type="presParOf" srcId="{92DA7C69-411A-4390-8FFB-CCA046E35882}" destId="{B0B017FD-ABCD-4EF5-AC6D-B768880A17B3}" srcOrd="0" destOrd="0" presId="urn:microsoft.com/office/officeart/2005/8/layout/orgChart1#1"/>
    <dgm:cxn modelId="{379D5274-7122-428A-83D6-BEC98E3B42CA}" type="presParOf" srcId="{92DA7C69-411A-4390-8FFB-CCA046E35882}" destId="{09B16DD1-8CE3-4865-97AA-BB4E2A9993FD}" srcOrd="1" destOrd="0" presId="urn:microsoft.com/office/officeart/2005/8/layout/orgChart1#1"/>
    <dgm:cxn modelId="{36BDB6F7-8B1D-4C4F-A69F-E93E727606E4}" type="presParOf" srcId="{8F096D25-033B-4003-B2A5-121BF2275D30}" destId="{3183552A-1442-4D67-8AC9-65F9ACF4A4D7}" srcOrd="1" destOrd="0" presId="urn:microsoft.com/office/officeart/2005/8/layout/orgChart1#1"/>
    <dgm:cxn modelId="{16854869-6E48-48DD-9BB9-5D033DC80CA0}" type="presParOf" srcId="{3183552A-1442-4D67-8AC9-65F9ACF4A4D7}" destId="{B9F7BE98-8664-4A72-B6C7-DDBCA683EF20}" srcOrd="0" destOrd="0" presId="urn:microsoft.com/office/officeart/2005/8/layout/orgChart1#1"/>
    <dgm:cxn modelId="{C130A324-32E4-459E-9595-B793BAE17BEE}" type="presParOf" srcId="{3183552A-1442-4D67-8AC9-65F9ACF4A4D7}" destId="{D8AE7F35-D116-40F0-99D8-30402163D57E}" srcOrd="1" destOrd="0" presId="urn:microsoft.com/office/officeart/2005/8/layout/orgChart1#1"/>
    <dgm:cxn modelId="{CB27626B-90BF-401D-BBFF-508C84ADE401}" type="presParOf" srcId="{D8AE7F35-D116-40F0-99D8-30402163D57E}" destId="{4A2AD86B-CC69-4ECE-AF9A-7E05B9B179AD}" srcOrd="0" destOrd="0" presId="urn:microsoft.com/office/officeart/2005/8/layout/orgChart1#1"/>
    <dgm:cxn modelId="{B9A4B335-235D-4226-AABA-9248A80CD623}" type="presParOf" srcId="{4A2AD86B-CC69-4ECE-AF9A-7E05B9B179AD}" destId="{FDE0DF92-FEC4-4B14-9E7D-069F6865D993}" srcOrd="0" destOrd="0" presId="urn:microsoft.com/office/officeart/2005/8/layout/orgChart1#1"/>
    <dgm:cxn modelId="{9652D32D-6C03-40A7-8C23-B75380638EED}" type="presParOf" srcId="{4A2AD86B-CC69-4ECE-AF9A-7E05B9B179AD}" destId="{8E805D3F-399C-4312-B1BD-7224FF09E65F}" srcOrd="1" destOrd="0" presId="urn:microsoft.com/office/officeart/2005/8/layout/orgChart1#1"/>
    <dgm:cxn modelId="{969CA6F8-1146-4102-91A4-EC163A3845E1}" type="presParOf" srcId="{D8AE7F35-D116-40F0-99D8-30402163D57E}" destId="{28BF9316-E4C4-40EB-A1E6-CC6E986160A0}" srcOrd="1" destOrd="0" presId="urn:microsoft.com/office/officeart/2005/8/layout/orgChart1#1"/>
    <dgm:cxn modelId="{E6B068B1-F5AA-4ABA-BB06-1D6AB66F2152}" type="presParOf" srcId="{D8AE7F35-D116-40F0-99D8-30402163D57E}" destId="{D76F8D87-BA44-4E41-B014-468D4727E2BB}" srcOrd="2" destOrd="0" presId="urn:microsoft.com/office/officeart/2005/8/layout/orgChart1#1"/>
    <dgm:cxn modelId="{CE32F44E-98B5-4058-B8C5-23B92EFCCD5C}" type="presParOf" srcId="{8F096D25-033B-4003-B2A5-121BF2275D30}" destId="{24016A2C-11CF-4597-9454-CB4B98F26311}" srcOrd="2" destOrd="0" presId="urn:microsoft.com/office/officeart/2005/8/layout/orgChart1#1"/>
    <dgm:cxn modelId="{8D4B1AB7-B0C5-4EA7-8DE9-9BEE76001A62}" type="presParOf" srcId="{CA727048-11CA-4D57-B93B-DE3BD75F76A8}" destId="{9D4939F5-25B4-4768-80B5-AC87E9CE5951}" srcOrd="2" destOrd="0" presId="urn:microsoft.com/office/officeart/2005/8/layout/orgChart1#1"/>
    <dgm:cxn modelId="{9A79D335-FB59-4AB4-AD69-1CF568CE3E76}" type="presParOf" srcId="{CA727048-11CA-4D57-B93B-DE3BD75F76A8}" destId="{EEFD6004-89B5-4BF7-9321-0B11E4D44DFC}" srcOrd="3" destOrd="0" presId="urn:microsoft.com/office/officeart/2005/8/layout/orgChart1#1"/>
    <dgm:cxn modelId="{753C8892-C26E-4E49-A3A9-B9C8F5965CC7}" type="presParOf" srcId="{EEFD6004-89B5-4BF7-9321-0B11E4D44DFC}" destId="{2B476865-2D85-4672-B8DC-ADAD3EA438E7}" srcOrd="0" destOrd="0" presId="urn:microsoft.com/office/officeart/2005/8/layout/orgChart1#1"/>
    <dgm:cxn modelId="{0C0B114E-6927-485B-971E-BBF8F6895432}" type="presParOf" srcId="{2B476865-2D85-4672-B8DC-ADAD3EA438E7}" destId="{347CA8DC-669D-4025-A6B7-AFC8E7738AA9}" srcOrd="0" destOrd="0" presId="urn:microsoft.com/office/officeart/2005/8/layout/orgChart1#1"/>
    <dgm:cxn modelId="{26816055-BD3C-46DA-9A80-BB4737028CB5}" type="presParOf" srcId="{2B476865-2D85-4672-B8DC-ADAD3EA438E7}" destId="{C10140BA-8F0D-4E9A-A96E-3B6FA0033F51}" srcOrd="1" destOrd="0" presId="urn:microsoft.com/office/officeart/2005/8/layout/orgChart1#1"/>
    <dgm:cxn modelId="{AAFD20B1-6750-4E13-A120-0F75BD7F4568}" type="presParOf" srcId="{EEFD6004-89B5-4BF7-9321-0B11E4D44DFC}" destId="{BBE6A660-855B-43FC-97C0-5B600B69A575}" srcOrd="1" destOrd="0" presId="urn:microsoft.com/office/officeart/2005/8/layout/orgChart1#1"/>
    <dgm:cxn modelId="{4FBA296B-BC67-44A3-9C96-7D6AC9050DFC}" type="presParOf" srcId="{EEFD6004-89B5-4BF7-9321-0B11E4D44DFC}" destId="{0A080224-F07F-4A38-8BD8-43714020CE50}" srcOrd="2" destOrd="0" presId="urn:microsoft.com/office/officeart/2005/8/layout/orgChart1#1"/>
    <dgm:cxn modelId="{F28B3E49-00FF-4355-ACA7-1B5BEDCE4870}" type="presParOf" srcId="{CA727048-11CA-4D57-B93B-DE3BD75F76A8}" destId="{D7949708-10C6-4BD0-9362-A82374E50EB5}" srcOrd="4" destOrd="0" presId="urn:microsoft.com/office/officeart/2005/8/layout/orgChart1#1"/>
    <dgm:cxn modelId="{36494EF1-3CAD-491E-9B37-66BEFC22E872}" type="presParOf" srcId="{CA727048-11CA-4D57-B93B-DE3BD75F76A8}" destId="{5BDC5F37-BB59-4B15-B079-6295C376E4CF}" srcOrd="5" destOrd="0" presId="urn:microsoft.com/office/officeart/2005/8/layout/orgChart1#1"/>
    <dgm:cxn modelId="{FF31536A-0E8C-40C9-B5E5-59E846CFAC27}" type="presParOf" srcId="{5BDC5F37-BB59-4B15-B079-6295C376E4CF}" destId="{028A8014-B6AD-4268-9A87-3514D5798CD7}" srcOrd="0" destOrd="0" presId="urn:microsoft.com/office/officeart/2005/8/layout/orgChart1#1"/>
    <dgm:cxn modelId="{2D0EBDE7-1842-41B0-B25D-35C632ACAD0E}" type="presParOf" srcId="{028A8014-B6AD-4268-9A87-3514D5798CD7}" destId="{2DD944E3-DE29-4958-BADC-5DD307E3A460}" srcOrd="0" destOrd="0" presId="urn:microsoft.com/office/officeart/2005/8/layout/orgChart1#1"/>
    <dgm:cxn modelId="{B6E6916A-DFEC-49AE-B420-D78C269BF005}" type="presParOf" srcId="{028A8014-B6AD-4268-9A87-3514D5798CD7}" destId="{DCE7C9FE-2656-4D23-B1B9-CFF3525D0935}" srcOrd="1" destOrd="0" presId="urn:microsoft.com/office/officeart/2005/8/layout/orgChart1#1"/>
    <dgm:cxn modelId="{54FB5F5B-7BBC-4103-BA90-3C39CF564897}" type="presParOf" srcId="{5BDC5F37-BB59-4B15-B079-6295C376E4CF}" destId="{EF276398-F6C1-4737-8F84-6100C1611310}" srcOrd="1" destOrd="0" presId="urn:microsoft.com/office/officeart/2005/8/layout/orgChart1#1"/>
    <dgm:cxn modelId="{D9A3C393-EB51-4C8D-A59D-242902E981C3}" type="presParOf" srcId="{5BDC5F37-BB59-4B15-B079-6295C376E4CF}" destId="{F6975DCD-50C5-4F81-AACF-663FA9E0BD3A}" srcOrd="2" destOrd="0" presId="urn:microsoft.com/office/officeart/2005/8/layout/orgChart1#1"/>
    <dgm:cxn modelId="{AF6A5BEC-8120-45CA-A77C-D322136C6CAD}" type="presParOf" srcId="{A1788E98-DCA2-4988-B082-58170E6E8427}" destId="{B368D714-9BDD-4D24-B808-0412D9A86A6A}" srcOrd="2" destOrd="0" presId="urn:microsoft.com/office/officeart/2005/8/layout/orgChart1#1"/>
    <dgm:cxn modelId="{A91F6A04-0AB1-4F70-94DC-836510A25F1A}" type="presParOf" srcId="{742DB15D-D83B-4824-943E-50E7E38A7A74}" destId="{13600302-D222-45B0-A030-6E5430CD7D3A}" srcOrd="2" destOrd="0" presId="urn:microsoft.com/office/officeart/2005/8/layout/orgChart1#1"/>
    <dgm:cxn modelId="{2DFDD349-94D7-42FC-9D3C-F857406EDDD1}" type="presParOf" srcId="{742DB15D-D83B-4824-943E-50E7E38A7A74}" destId="{8C00C0C4-F3E3-45A4-9EAE-DF7509EE4AD9}" srcOrd="3" destOrd="0" presId="urn:microsoft.com/office/officeart/2005/8/layout/orgChart1#1"/>
    <dgm:cxn modelId="{714D73F3-10E3-4AF1-9AC4-5895F74B5D5F}" type="presParOf" srcId="{8C00C0C4-F3E3-45A4-9EAE-DF7509EE4AD9}" destId="{D5517FA8-BA06-47F0-BBC8-C1717C1B67C0}" srcOrd="0" destOrd="0" presId="urn:microsoft.com/office/officeart/2005/8/layout/orgChart1#1"/>
    <dgm:cxn modelId="{9E766E06-6031-402A-979C-7840A7BB7C09}" type="presParOf" srcId="{D5517FA8-BA06-47F0-BBC8-C1717C1B67C0}" destId="{1FEB2CAF-6A0D-4DB8-ACE5-D699D7864AE6}" srcOrd="0" destOrd="0" presId="urn:microsoft.com/office/officeart/2005/8/layout/orgChart1#1"/>
    <dgm:cxn modelId="{A0334825-027F-4339-8BC2-1901E3528924}" type="presParOf" srcId="{D5517FA8-BA06-47F0-BBC8-C1717C1B67C0}" destId="{47CD6D8D-7A3B-4F18-84DA-712EF3F434E5}" srcOrd="1" destOrd="0" presId="urn:microsoft.com/office/officeart/2005/8/layout/orgChart1#1"/>
    <dgm:cxn modelId="{6AFF2F44-3BB1-490A-BB13-7BD9C04AE19E}" type="presParOf" srcId="{8C00C0C4-F3E3-45A4-9EAE-DF7509EE4AD9}" destId="{51D178B9-D2F3-4EB0-A2C0-8DC29F1AF8F2}" srcOrd="1" destOrd="0" presId="urn:microsoft.com/office/officeart/2005/8/layout/orgChart1#1"/>
    <dgm:cxn modelId="{94E65DB5-95C2-4D38-BDFD-94EA221C7C1B}" type="presParOf" srcId="{51D178B9-D2F3-4EB0-A2C0-8DC29F1AF8F2}" destId="{C089AB0D-DE39-445C-BE1D-7C6D652CDB18}" srcOrd="0" destOrd="0" presId="urn:microsoft.com/office/officeart/2005/8/layout/orgChart1#1"/>
    <dgm:cxn modelId="{400BA628-A92B-4EC3-8D1C-47B23660DA29}" type="presParOf" srcId="{51D178B9-D2F3-4EB0-A2C0-8DC29F1AF8F2}" destId="{BAAA9924-0C79-47B9-8F03-85CC3FD43A9E}" srcOrd="1" destOrd="0" presId="urn:microsoft.com/office/officeart/2005/8/layout/orgChart1#1"/>
    <dgm:cxn modelId="{36D9D552-E9FA-434F-996D-1BDF0CDF80C5}" type="presParOf" srcId="{BAAA9924-0C79-47B9-8F03-85CC3FD43A9E}" destId="{14BD2BFC-3375-416F-8D65-F109C544728D}" srcOrd="0" destOrd="0" presId="urn:microsoft.com/office/officeart/2005/8/layout/orgChart1#1"/>
    <dgm:cxn modelId="{E1222900-6CA6-4AD3-968D-858393071B0C}" type="presParOf" srcId="{14BD2BFC-3375-416F-8D65-F109C544728D}" destId="{66D320DE-D817-4AB5-BF34-9B5520C6D06D}" srcOrd="0" destOrd="0" presId="urn:microsoft.com/office/officeart/2005/8/layout/orgChart1#1"/>
    <dgm:cxn modelId="{9C4FCE70-4849-453F-A00B-692A04F2C864}" type="presParOf" srcId="{14BD2BFC-3375-416F-8D65-F109C544728D}" destId="{6B2CBFCE-19CD-4C9C-A326-071406C3109B}" srcOrd="1" destOrd="0" presId="urn:microsoft.com/office/officeart/2005/8/layout/orgChart1#1"/>
    <dgm:cxn modelId="{53EA73AB-3DE7-47CF-A033-2B2F1DA7A40D}" type="presParOf" srcId="{BAAA9924-0C79-47B9-8F03-85CC3FD43A9E}" destId="{F2F60A28-7B4E-4596-B9B2-D8D697D193C4}" srcOrd="1" destOrd="0" presId="urn:microsoft.com/office/officeart/2005/8/layout/orgChart1#1"/>
    <dgm:cxn modelId="{9337C761-A536-43A6-A235-F2933AB17ED6}" type="presParOf" srcId="{BAAA9924-0C79-47B9-8F03-85CC3FD43A9E}" destId="{203893B7-4CEA-4AA9-BB15-8ACD4F179551}" srcOrd="2" destOrd="0" presId="urn:microsoft.com/office/officeart/2005/8/layout/orgChart1#1"/>
    <dgm:cxn modelId="{42D13EEB-DD17-4445-A583-0569E17F99BA}" type="presParOf" srcId="{51D178B9-D2F3-4EB0-A2C0-8DC29F1AF8F2}" destId="{ADCE9975-5F26-499B-8257-FFDD963A6D02}" srcOrd="2" destOrd="0" presId="urn:microsoft.com/office/officeart/2005/8/layout/orgChart1#1"/>
    <dgm:cxn modelId="{1B75C72E-C010-4F96-90F2-E97169A7791E}" type="presParOf" srcId="{51D178B9-D2F3-4EB0-A2C0-8DC29F1AF8F2}" destId="{08E7EE2E-7D76-4B75-AE5E-D15984C0D37E}" srcOrd="3" destOrd="0" presId="urn:microsoft.com/office/officeart/2005/8/layout/orgChart1#1"/>
    <dgm:cxn modelId="{A151B92D-7961-4B40-A3B4-752C252151E7}" type="presParOf" srcId="{08E7EE2E-7D76-4B75-AE5E-D15984C0D37E}" destId="{B0F36AA3-1B6B-43AA-A71C-6D70437EB8FD}" srcOrd="0" destOrd="0" presId="urn:microsoft.com/office/officeart/2005/8/layout/orgChart1#1"/>
    <dgm:cxn modelId="{A5E83A61-B421-4F01-B354-3F5A7597FC79}" type="presParOf" srcId="{B0F36AA3-1B6B-43AA-A71C-6D70437EB8FD}" destId="{09753A76-BDCD-45F1-BDFE-499042DB72F8}" srcOrd="0" destOrd="0" presId="urn:microsoft.com/office/officeart/2005/8/layout/orgChart1#1"/>
    <dgm:cxn modelId="{3A47BAC9-C524-4550-BBD3-EA986272FD40}" type="presParOf" srcId="{B0F36AA3-1B6B-43AA-A71C-6D70437EB8FD}" destId="{3A7B8718-BA32-4459-8E34-6088FFDDB05F}" srcOrd="1" destOrd="0" presId="urn:microsoft.com/office/officeart/2005/8/layout/orgChart1#1"/>
    <dgm:cxn modelId="{A63B8000-3328-4D61-A9FA-C3A852A9EFBD}" type="presParOf" srcId="{08E7EE2E-7D76-4B75-AE5E-D15984C0D37E}" destId="{808F7ACE-4E3F-4BB2-A213-C06D47744C12}" srcOrd="1" destOrd="0" presId="urn:microsoft.com/office/officeart/2005/8/layout/orgChart1#1"/>
    <dgm:cxn modelId="{1CB4E363-9DA4-4ACF-AC0C-3F8B9A918D1B}" type="presParOf" srcId="{08E7EE2E-7D76-4B75-AE5E-D15984C0D37E}" destId="{BA42F342-EA49-4550-814F-2B0B54BF71BD}" srcOrd="2" destOrd="0" presId="urn:microsoft.com/office/officeart/2005/8/layout/orgChart1#1"/>
    <dgm:cxn modelId="{0A74D8FE-8CA0-41F8-9DFE-EB4031179184}" type="presParOf" srcId="{8C00C0C4-F3E3-45A4-9EAE-DF7509EE4AD9}" destId="{F7CCD87E-9159-4364-B1AC-9E9C03AC07FF}" srcOrd="2" destOrd="0" presId="urn:microsoft.com/office/officeart/2005/8/layout/orgChart1#1"/>
    <dgm:cxn modelId="{FF4951AF-AD43-4DD8-9BC4-1687A5197354}" type="presParOf" srcId="{2119AF4F-CE5A-4083-9EDC-0BC049114C19}" destId="{5C1242F7-38D3-4C1F-A34F-8FEEAB9905E9}" srcOrd="2" destOrd="0" presId="urn:microsoft.com/office/officeart/2005/8/layout/orgChart1#1"/>
    <dgm:cxn modelId="{6AE89B24-1F59-4673-B9CC-3B85CBAD8175}" type="presParOf" srcId="{EED6F6D2-1F3E-455E-98F2-C229867FA892}" destId="{FF4D36E5-D97B-4C86-AF74-A5D4A254B940}" srcOrd="2" destOrd="0" presId="urn:microsoft.com/office/officeart/2005/8/layout/orgChart1#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DCE9975-5F26-499B-8257-FFDD963A6D02}">
      <dsp:nvSpPr>
        <dsp:cNvPr id="0" name=""/>
        <dsp:cNvSpPr/>
      </dsp:nvSpPr>
      <dsp:spPr>
        <a:xfrm>
          <a:off x="2852618" y="2664470"/>
          <a:ext cx="173540" cy="135361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53612"/>
              </a:lnTo>
              <a:lnTo>
                <a:pt x="173540" y="1353612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089AB0D-DE39-445C-BE1D-7C6D652CDB18}">
      <dsp:nvSpPr>
        <dsp:cNvPr id="0" name=""/>
        <dsp:cNvSpPr/>
      </dsp:nvSpPr>
      <dsp:spPr>
        <a:xfrm>
          <a:off x="2852618" y="2664470"/>
          <a:ext cx="173540" cy="53218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32189"/>
              </a:lnTo>
              <a:lnTo>
                <a:pt x="173540" y="532189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3600302-D222-45B0-A030-6E5430CD7D3A}">
      <dsp:nvSpPr>
        <dsp:cNvPr id="0" name=""/>
        <dsp:cNvSpPr/>
      </dsp:nvSpPr>
      <dsp:spPr>
        <a:xfrm>
          <a:off x="2435611" y="1843047"/>
          <a:ext cx="879780" cy="24295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1478"/>
              </a:lnTo>
              <a:lnTo>
                <a:pt x="879780" y="121478"/>
              </a:lnTo>
              <a:lnTo>
                <a:pt x="879780" y="242956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7949708-10C6-4BD0-9362-A82374E50EB5}">
      <dsp:nvSpPr>
        <dsp:cNvPr id="0" name=""/>
        <dsp:cNvSpPr/>
      </dsp:nvSpPr>
      <dsp:spPr>
        <a:xfrm>
          <a:off x="1093058" y="2664470"/>
          <a:ext cx="173540" cy="297481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974811"/>
              </a:lnTo>
              <a:lnTo>
                <a:pt x="173540" y="2974811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D4939F5-25B4-4768-80B5-AC87E9CE5951}">
      <dsp:nvSpPr>
        <dsp:cNvPr id="0" name=""/>
        <dsp:cNvSpPr/>
      </dsp:nvSpPr>
      <dsp:spPr>
        <a:xfrm>
          <a:off x="1093058" y="2664470"/>
          <a:ext cx="173540" cy="216421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164212"/>
              </a:lnTo>
              <a:lnTo>
                <a:pt x="173540" y="2164212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9F7BE98-8664-4A72-B6C7-DDBCA683EF20}">
      <dsp:nvSpPr>
        <dsp:cNvPr id="0" name=""/>
        <dsp:cNvSpPr/>
      </dsp:nvSpPr>
      <dsp:spPr>
        <a:xfrm>
          <a:off x="1410466" y="3485893"/>
          <a:ext cx="215802" cy="53218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32189"/>
              </a:lnTo>
              <a:lnTo>
                <a:pt x="215802" y="532189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C90A678-EE45-45B4-B39C-64B35659A77A}">
      <dsp:nvSpPr>
        <dsp:cNvPr id="0" name=""/>
        <dsp:cNvSpPr/>
      </dsp:nvSpPr>
      <dsp:spPr>
        <a:xfrm>
          <a:off x="1093058" y="2664470"/>
          <a:ext cx="173540" cy="53218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32189"/>
              </a:lnTo>
              <a:lnTo>
                <a:pt x="173540" y="532189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AA223DD-678A-4D45-9DD6-28BF3CB7FC64}">
      <dsp:nvSpPr>
        <dsp:cNvPr id="0" name=""/>
        <dsp:cNvSpPr/>
      </dsp:nvSpPr>
      <dsp:spPr>
        <a:xfrm>
          <a:off x="1555831" y="1843047"/>
          <a:ext cx="879780" cy="242956"/>
        </a:xfrm>
        <a:custGeom>
          <a:avLst/>
          <a:gdLst/>
          <a:ahLst/>
          <a:cxnLst/>
          <a:rect l="0" t="0" r="0" b="0"/>
          <a:pathLst>
            <a:path>
              <a:moveTo>
                <a:pt x="879780" y="0"/>
              </a:moveTo>
              <a:lnTo>
                <a:pt x="879780" y="121478"/>
              </a:lnTo>
              <a:lnTo>
                <a:pt x="0" y="121478"/>
              </a:lnTo>
              <a:lnTo>
                <a:pt x="0" y="242956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7A674F7-71AB-4310-A6C1-49ECE8625292}">
      <dsp:nvSpPr>
        <dsp:cNvPr id="0" name=""/>
        <dsp:cNvSpPr/>
      </dsp:nvSpPr>
      <dsp:spPr>
        <a:xfrm>
          <a:off x="1533845" y="1021624"/>
          <a:ext cx="901766" cy="24295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1478"/>
              </a:lnTo>
              <a:lnTo>
                <a:pt x="901766" y="121478"/>
              </a:lnTo>
              <a:lnTo>
                <a:pt x="901766" y="242956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EDB4574-4FB2-4D94-848F-39AC10F371D7}">
      <dsp:nvSpPr>
        <dsp:cNvPr id="0" name=""/>
        <dsp:cNvSpPr/>
      </dsp:nvSpPr>
      <dsp:spPr>
        <a:xfrm>
          <a:off x="781566" y="1021624"/>
          <a:ext cx="752278" cy="242956"/>
        </a:xfrm>
        <a:custGeom>
          <a:avLst/>
          <a:gdLst/>
          <a:ahLst/>
          <a:cxnLst/>
          <a:rect l="0" t="0" r="0" b="0"/>
          <a:pathLst>
            <a:path>
              <a:moveTo>
                <a:pt x="752278" y="0"/>
              </a:moveTo>
              <a:lnTo>
                <a:pt x="752278" y="121478"/>
              </a:lnTo>
              <a:lnTo>
                <a:pt x="0" y="121478"/>
              </a:lnTo>
              <a:lnTo>
                <a:pt x="0" y="242956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EFE86A7-A418-4AD0-AEF1-C4AD0E0D3F50}">
      <dsp:nvSpPr>
        <dsp:cNvPr id="0" name=""/>
        <dsp:cNvSpPr/>
      </dsp:nvSpPr>
      <dsp:spPr>
        <a:xfrm>
          <a:off x="955378" y="443158"/>
          <a:ext cx="1156933" cy="578466"/>
        </a:xfrm>
        <a:prstGeom prst="rect">
          <a:avLst/>
        </a:prstGeom>
        <a:gradFill rotWithShape="1">
          <a:gsLst>
            <a:gs pos="0">
              <a:schemeClr val="accent1">
                <a:tint val="50000"/>
                <a:satMod val="300000"/>
              </a:schemeClr>
            </a:gs>
            <a:gs pos="35000">
              <a:schemeClr val="accent1">
                <a:tint val="37000"/>
                <a:satMod val="300000"/>
              </a:schemeClr>
            </a:gs>
            <a:gs pos="100000">
              <a:schemeClr val="accent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marR="0" lvl="0" indent="0" algn="ctr" defTabSz="914400" rtl="0" eaLnBrk="0" fontAlgn="base" latinLnBrk="0" hangingPunct="0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</a:pPr>
          <a:r>
            <a:rPr kumimoji="0" lang="zh-CN" altLang="en-US" sz="1800" b="0" i="0" u="none" strike="noStrike" kern="1200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rPr>
            <a:t>非线性规划</a:t>
          </a:r>
          <a:endParaRPr kumimoji="0" lang="en-US" altLang="zh-CN" sz="1800" b="0" i="0" u="none" strike="noStrike" kern="1200" cap="none" normalizeH="0" baseline="0" dirty="0">
            <a:ln>
              <a:noFill/>
            </a:ln>
            <a:solidFill>
              <a:srgbClr val="000000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endParaRPr>
        </a:p>
      </dsp:txBody>
      <dsp:txXfrm>
        <a:off x="955378" y="443158"/>
        <a:ext cx="1156933" cy="578466"/>
      </dsp:txXfrm>
    </dsp:sp>
    <dsp:sp modelId="{C435646F-5911-4687-A9C5-89E01E6162CA}">
      <dsp:nvSpPr>
        <dsp:cNvPr id="0" name=""/>
        <dsp:cNvSpPr/>
      </dsp:nvSpPr>
      <dsp:spPr>
        <a:xfrm>
          <a:off x="1278" y="1264580"/>
          <a:ext cx="1560576" cy="578466"/>
        </a:xfrm>
        <a:prstGeom prst="rect">
          <a:avLst/>
        </a:prstGeom>
        <a:gradFill rotWithShape="1">
          <a:gsLst>
            <a:gs pos="0">
              <a:schemeClr val="accent1">
                <a:tint val="50000"/>
                <a:satMod val="300000"/>
              </a:schemeClr>
            </a:gs>
            <a:gs pos="35000">
              <a:schemeClr val="accent1">
                <a:tint val="37000"/>
                <a:satMod val="300000"/>
              </a:schemeClr>
            </a:gs>
            <a:gs pos="100000">
              <a:schemeClr val="accent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marR="0" lvl="0" indent="0" algn="ctr" defTabSz="914400" rtl="0" eaLnBrk="0" fontAlgn="base" latinLnBrk="0" hangingPunct="0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</a:pPr>
          <a:r>
            <a:rPr kumimoji="0" lang="zh-CN" altLang="en-US" sz="1600" b="0" i="0" u="none" strike="noStrike" kern="1200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Times New Roman" panose="02020603050405020304" pitchFamily="18" charset="0"/>
            </a:rPr>
            <a:t>无约束最优化</a:t>
          </a:r>
          <a:endParaRPr kumimoji="0" lang="en-AU" altLang="zh-CN" sz="1600" b="0" i="0" u="none" strike="noStrike" kern="1200" cap="none" normalizeH="0" baseline="0" dirty="0">
            <a:ln>
              <a:noFill/>
            </a:ln>
            <a:solidFill>
              <a:srgbClr val="000000"/>
            </a:solidFill>
            <a:effectLst/>
            <a:latin typeface="Times New Roman" panose="02020603050405020304" pitchFamily="18" charset="0"/>
          </a:endParaRPr>
        </a:p>
      </dsp:txBody>
      <dsp:txXfrm>
        <a:off x="1278" y="1264580"/>
        <a:ext cx="1560576" cy="578466"/>
      </dsp:txXfrm>
    </dsp:sp>
    <dsp:sp modelId="{E3A85358-95B5-4D73-9788-54850F2FAF16}">
      <dsp:nvSpPr>
        <dsp:cNvPr id="0" name=""/>
        <dsp:cNvSpPr/>
      </dsp:nvSpPr>
      <dsp:spPr>
        <a:xfrm>
          <a:off x="1804811" y="1264580"/>
          <a:ext cx="1261601" cy="578466"/>
        </a:xfrm>
        <a:prstGeom prst="rect">
          <a:avLst/>
        </a:prstGeom>
        <a:gradFill rotWithShape="1">
          <a:gsLst>
            <a:gs pos="0">
              <a:schemeClr val="accent1">
                <a:tint val="50000"/>
                <a:satMod val="300000"/>
              </a:schemeClr>
            </a:gs>
            <a:gs pos="35000">
              <a:schemeClr val="accent1">
                <a:tint val="37000"/>
                <a:satMod val="300000"/>
              </a:schemeClr>
            </a:gs>
            <a:gs pos="100000">
              <a:schemeClr val="accent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marR="0" lvl="0" indent="0" algn="ctr" defTabSz="914400" rtl="0" eaLnBrk="0" fontAlgn="base" latinLnBrk="0" hangingPunct="0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</a:pPr>
          <a:r>
            <a:rPr kumimoji="0" lang="zh-CN" altLang="en-US" sz="1600" b="0" i="0" u="none" strike="noStrike" kern="1200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Times New Roman" panose="02020603050405020304" pitchFamily="18" charset="0"/>
            </a:rPr>
            <a:t>有约束最优化</a:t>
          </a:r>
          <a:endParaRPr kumimoji="0" lang="en-AU" altLang="zh-CN" sz="1600" b="0" i="0" u="none" strike="noStrike" kern="1200" cap="none" normalizeH="0" baseline="0" dirty="0">
            <a:ln>
              <a:noFill/>
            </a:ln>
            <a:solidFill>
              <a:srgbClr val="000000"/>
            </a:solidFill>
            <a:effectLst/>
            <a:latin typeface="Times New Roman" panose="02020603050405020304" pitchFamily="18" charset="0"/>
          </a:endParaRPr>
        </a:p>
      </dsp:txBody>
      <dsp:txXfrm>
        <a:off x="1804811" y="1264580"/>
        <a:ext cx="1261601" cy="578466"/>
      </dsp:txXfrm>
    </dsp:sp>
    <dsp:sp modelId="{3C279987-259C-49DB-8505-4A0110D76815}">
      <dsp:nvSpPr>
        <dsp:cNvPr id="0" name=""/>
        <dsp:cNvSpPr/>
      </dsp:nvSpPr>
      <dsp:spPr>
        <a:xfrm>
          <a:off x="977364" y="2086003"/>
          <a:ext cx="1156933" cy="578466"/>
        </a:xfrm>
        <a:prstGeom prst="rect">
          <a:avLst/>
        </a:prstGeom>
        <a:gradFill rotWithShape="1">
          <a:gsLst>
            <a:gs pos="0">
              <a:schemeClr val="accent1">
                <a:tint val="50000"/>
                <a:satMod val="300000"/>
              </a:schemeClr>
            </a:gs>
            <a:gs pos="35000">
              <a:schemeClr val="accent1">
                <a:tint val="37000"/>
                <a:satMod val="300000"/>
              </a:schemeClr>
            </a:gs>
            <a:gs pos="100000">
              <a:schemeClr val="accent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marR="0" lvl="0" indent="0" algn="ctr" defTabSz="914400" rtl="0" eaLnBrk="0" fontAlgn="base" latinLnBrk="0" hangingPunct="0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</a:pPr>
          <a:r>
            <a:rPr kumimoji="0" lang="zh-CN" altLang="en-US" sz="1600" b="0" i="0" u="none" strike="noStrike" kern="1200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rPr>
            <a:t>凸规划</a:t>
          </a:r>
          <a:endParaRPr kumimoji="0" lang="en-US" altLang="zh-CN" sz="1600" b="0" i="0" u="none" strike="noStrike" kern="1200" cap="none" normalizeH="0" baseline="0" dirty="0">
            <a:ln>
              <a:noFill/>
            </a:ln>
            <a:solidFill>
              <a:srgbClr val="000000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endParaRPr>
        </a:p>
      </dsp:txBody>
      <dsp:txXfrm>
        <a:off x="977364" y="2086003"/>
        <a:ext cx="1156933" cy="578466"/>
      </dsp:txXfrm>
    </dsp:sp>
    <dsp:sp modelId="{B0B017FD-ABCD-4EF5-AC6D-B768880A17B3}">
      <dsp:nvSpPr>
        <dsp:cNvPr id="0" name=""/>
        <dsp:cNvSpPr/>
      </dsp:nvSpPr>
      <dsp:spPr>
        <a:xfrm>
          <a:off x="1266598" y="2907426"/>
          <a:ext cx="1438681" cy="578466"/>
        </a:xfrm>
        <a:prstGeom prst="rect">
          <a:avLst/>
        </a:prstGeom>
        <a:gradFill rotWithShape="1">
          <a:gsLst>
            <a:gs pos="0">
              <a:schemeClr val="accent1">
                <a:tint val="50000"/>
                <a:satMod val="300000"/>
              </a:schemeClr>
            </a:gs>
            <a:gs pos="35000">
              <a:schemeClr val="accent1">
                <a:tint val="37000"/>
                <a:satMod val="300000"/>
              </a:schemeClr>
            </a:gs>
            <a:gs pos="100000">
              <a:schemeClr val="accent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marR="0" lvl="0" indent="0" algn="ctr" defTabSz="914400" rtl="0" eaLnBrk="0" fontAlgn="base" latinLnBrk="0" hangingPunct="0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</a:pPr>
          <a:r>
            <a:rPr kumimoji="0" lang="zh-CN" altLang="en-US" sz="1600" b="0" i="0" u="none" strike="noStrike" kern="1200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rPr>
            <a:t>线性约束规划</a:t>
          </a:r>
          <a:endParaRPr kumimoji="0" lang="en-US" altLang="zh-CN" sz="1600" b="0" i="0" u="none" strike="noStrike" kern="1200" cap="none" normalizeH="0" baseline="0" dirty="0">
            <a:ln>
              <a:noFill/>
            </a:ln>
            <a:solidFill>
              <a:srgbClr val="000000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endParaRPr>
        </a:p>
      </dsp:txBody>
      <dsp:txXfrm>
        <a:off x="1266598" y="2907426"/>
        <a:ext cx="1438681" cy="578466"/>
      </dsp:txXfrm>
    </dsp:sp>
    <dsp:sp modelId="{FDE0DF92-FEC4-4B14-9E7D-069F6865D993}">
      <dsp:nvSpPr>
        <dsp:cNvPr id="0" name=""/>
        <dsp:cNvSpPr/>
      </dsp:nvSpPr>
      <dsp:spPr>
        <a:xfrm>
          <a:off x="1626268" y="3728849"/>
          <a:ext cx="1156933" cy="578466"/>
        </a:xfrm>
        <a:prstGeom prst="rect">
          <a:avLst/>
        </a:prstGeom>
        <a:gradFill rotWithShape="1">
          <a:gsLst>
            <a:gs pos="0">
              <a:schemeClr val="accent1">
                <a:tint val="50000"/>
                <a:satMod val="300000"/>
              </a:schemeClr>
            </a:gs>
            <a:gs pos="35000">
              <a:schemeClr val="accent1">
                <a:tint val="37000"/>
                <a:satMod val="300000"/>
              </a:schemeClr>
            </a:gs>
            <a:gs pos="100000">
              <a:schemeClr val="accent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marR="0" lvl="0" indent="0" algn="ctr" defTabSz="914400" rtl="0" eaLnBrk="0" fontAlgn="base" latinLnBrk="0" hangingPunct="0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</a:pPr>
          <a:r>
            <a:rPr kumimoji="0" lang="zh-CN" altLang="en-US" sz="1600" b="0" i="0" u="none" strike="noStrike" kern="1200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Times New Roman" panose="02020603050405020304" pitchFamily="18" charset="0"/>
            </a:rPr>
            <a:t>二次规划</a:t>
          </a:r>
          <a:endParaRPr kumimoji="0" lang="en-AU" altLang="zh-CN" sz="1600" b="0" i="0" u="none" strike="noStrike" kern="1200" cap="none" normalizeH="0" baseline="0" dirty="0">
            <a:ln>
              <a:noFill/>
            </a:ln>
            <a:solidFill>
              <a:srgbClr val="000000"/>
            </a:solidFill>
            <a:effectLst/>
            <a:latin typeface="Times New Roman" panose="02020603050405020304" pitchFamily="18" charset="0"/>
          </a:endParaRPr>
        </a:p>
      </dsp:txBody>
      <dsp:txXfrm>
        <a:off x="1626268" y="3728849"/>
        <a:ext cx="1156933" cy="578466"/>
      </dsp:txXfrm>
    </dsp:sp>
    <dsp:sp modelId="{347CA8DC-669D-4025-A6B7-AFC8E7738AA9}">
      <dsp:nvSpPr>
        <dsp:cNvPr id="0" name=""/>
        <dsp:cNvSpPr/>
      </dsp:nvSpPr>
      <dsp:spPr>
        <a:xfrm>
          <a:off x="1266598" y="4550272"/>
          <a:ext cx="2292313" cy="556820"/>
        </a:xfrm>
        <a:prstGeom prst="rect">
          <a:avLst/>
        </a:prstGeom>
        <a:gradFill rotWithShape="1">
          <a:gsLst>
            <a:gs pos="0">
              <a:schemeClr val="accent1">
                <a:tint val="50000"/>
                <a:satMod val="300000"/>
              </a:schemeClr>
            </a:gs>
            <a:gs pos="35000">
              <a:schemeClr val="accent1">
                <a:tint val="37000"/>
                <a:satMod val="300000"/>
              </a:schemeClr>
            </a:gs>
            <a:gs pos="100000">
              <a:schemeClr val="accent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marR="0" lvl="0" indent="0" algn="ctr" defTabSz="914400" rtl="0" eaLnBrk="0" fontAlgn="base" latinLnBrk="0" hangingPunct="0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</a:pPr>
          <a:r>
            <a:rPr kumimoji="0" lang="zh-CN" altLang="en-US" sz="1600" b="0" i="0" u="none" strike="noStrike" kern="1200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Times New Roman" panose="02020603050405020304" pitchFamily="18" charset="0"/>
            </a:rPr>
            <a:t>非线性有约束规划</a:t>
          </a:r>
          <a:endParaRPr kumimoji="0" lang="en-AU" altLang="zh-CN" sz="1600" b="0" i="0" u="none" strike="noStrike" kern="1200" cap="none" normalizeH="0" baseline="0" dirty="0">
            <a:ln>
              <a:noFill/>
            </a:ln>
            <a:solidFill>
              <a:srgbClr val="000000"/>
            </a:solidFill>
            <a:effectLst/>
            <a:latin typeface="Times New Roman" panose="02020603050405020304" pitchFamily="18" charset="0"/>
          </a:endParaRPr>
        </a:p>
      </dsp:txBody>
      <dsp:txXfrm>
        <a:off x="1266598" y="4550272"/>
        <a:ext cx="2292313" cy="556820"/>
      </dsp:txXfrm>
    </dsp:sp>
    <dsp:sp modelId="{2DD944E3-DE29-4958-BADC-5DD307E3A460}">
      <dsp:nvSpPr>
        <dsp:cNvPr id="0" name=""/>
        <dsp:cNvSpPr/>
      </dsp:nvSpPr>
      <dsp:spPr>
        <a:xfrm>
          <a:off x="1266598" y="5350049"/>
          <a:ext cx="1156933" cy="578466"/>
        </a:xfrm>
        <a:prstGeom prst="rect">
          <a:avLst/>
        </a:prstGeom>
        <a:gradFill rotWithShape="1">
          <a:gsLst>
            <a:gs pos="0">
              <a:schemeClr val="accent1">
                <a:tint val="50000"/>
                <a:satMod val="300000"/>
              </a:schemeClr>
            </a:gs>
            <a:gs pos="35000">
              <a:schemeClr val="accent1">
                <a:tint val="37000"/>
                <a:satMod val="300000"/>
              </a:schemeClr>
            </a:gs>
            <a:gs pos="100000">
              <a:schemeClr val="accent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marR="0" lvl="0" indent="0" algn="ctr" defTabSz="914400" rtl="0" eaLnBrk="0" fontAlgn="base" latinLnBrk="0" hangingPunct="0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</a:pPr>
          <a:r>
            <a:rPr kumimoji="0" lang="zh-CN" altLang="en-US" sz="1600" b="0" i="0" u="none" strike="noStrike" kern="1200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Times New Roman" panose="02020603050405020304" pitchFamily="18" charset="0"/>
            </a:rPr>
            <a:t>可分规划</a:t>
          </a:r>
          <a:endParaRPr kumimoji="0" lang="en-AU" altLang="zh-CN" sz="1600" b="0" i="0" u="none" strike="noStrike" kern="1200" cap="none" normalizeH="0" baseline="0" dirty="0">
            <a:ln>
              <a:noFill/>
            </a:ln>
            <a:solidFill>
              <a:srgbClr val="000000"/>
            </a:solidFill>
            <a:effectLst/>
            <a:latin typeface="Times New Roman" panose="02020603050405020304" pitchFamily="18" charset="0"/>
          </a:endParaRPr>
        </a:p>
      </dsp:txBody>
      <dsp:txXfrm>
        <a:off x="1266598" y="5350049"/>
        <a:ext cx="1156933" cy="578466"/>
      </dsp:txXfrm>
    </dsp:sp>
    <dsp:sp modelId="{1FEB2CAF-6A0D-4DB8-ACE5-D699D7864AE6}">
      <dsp:nvSpPr>
        <dsp:cNvPr id="0" name=""/>
        <dsp:cNvSpPr/>
      </dsp:nvSpPr>
      <dsp:spPr>
        <a:xfrm>
          <a:off x="2736925" y="2086003"/>
          <a:ext cx="1156933" cy="578466"/>
        </a:xfrm>
        <a:prstGeom prst="rect">
          <a:avLst/>
        </a:prstGeom>
        <a:gradFill rotWithShape="1">
          <a:gsLst>
            <a:gs pos="0">
              <a:schemeClr val="accent1">
                <a:tint val="50000"/>
                <a:satMod val="300000"/>
              </a:schemeClr>
            </a:gs>
            <a:gs pos="35000">
              <a:schemeClr val="accent1">
                <a:tint val="37000"/>
                <a:satMod val="300000"/>
              </a:schemeClr>
            </a:gs>
            <a:gs pos="100000">
              <a:schemeClr val="accent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marR="0" lvl="0" indent="0" algn="ctr" defTabSz="914400" rtl="0" eaLnBrk="0" fontAlgn="base" latinLnBrk="0" hangingPunct="0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</a:pPr>
          <a:r>
            <a:rPr kumimoji="0" lang="zh-CN" altLang="en-US" sz="1600" b="0" i="0" u="none" strike="noStrike" kern="1200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Times New Roman" panose="02020603050405020304" pitchFamily="18" charset="0"/>
            </a:rPr>
            <a:t>非凸规划</a:t>
          </a:r>
          <a:endParaRPr kumimoji="0" lang="en-AU" altLang="zh-CN" sz="1600" b="0" i="0" u="none" strike="noStrike" kern="1200" cap="none" normalizeH="0" baseline="0" dirty="0">
            <a:ln>
              <a:noFill/>
            </a:ln>
            <a:solidFill>
              <a:srgbClr val="000000"/>
            </a:solidFill>
            <a:effectLst/>
            <a:latin typeface="Times New Roman" panose="02020603050405020304" pitchFamily="18" charset="0"/>
          </a:endParaRPr>
        </a:p>
      </dsp:txBody>
      <dsp:txXfrm>
        <a:off x="2736925" y="2086003"/>
        <a:ext cx="1156933" cy="578466"/>
      </dsp:txXfrm>
    </dsp:sp>
    <dsp:sp modelId="{66D320DE-D817-4AB5-BF34-9B5520C6D06D}">
      <dsp:nvSpPr>
        <dsp:cNvPr id="0" name=""/>
        <dsp:cNvSpPr/>
      </dsp:nvSpPr>
      <dsp:spPr>
        <a:xfrm>
          <a:off x="3026158" y="2907426"/>
          <a:ext cx="1156933" cy="578466"/>
        </a:xfrm>
        <a:prstGeom prst="rect">
          <a:avLst/>
        </a:prstGeom>
        <a:gradFill rotWithShape="1">
          <a:gsLst>
            <a:gs pos="0">
              <a:schemeClr val="accent1">
                <a:tint val="50000"/>
                <a:satMod val="300000"/>
              </a:schemeClr>
            </a:gs>
            <a:gs pos="35000">
              <a:schemeClr val="accent1">
                <a:tint val="37000"/>
                <a:satMod val="300000"/>
              </a:schemeClr>
            </a:gs>
            <a:gs pos="100000">
              <a:schemeClr val="accent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marR="0" lvl="0" indent="0" algn="ctr" defTabSz="914400" rtl="0" eaLnBrk="0" fontAlgn="base" latinLnBrk="0" hangingPunct="0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</a:pPr>
          <a:r>
            <a:rPr kumimoji="0" lang="zh-CN" altLang="en-US" sz="1600" b="0" i="0" u="none" strike="noStrike" kern="1200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Times New Roman" panose="02020603050405020304" pitchFamily="18" charset="0"/>
            </a:rPr>
            <a:t>几何规划</a:t>
          </a:r>
          <a:endParaRPr kumimoji="0" lang="en-AU" altLang="zh-CN" sz="1600" b="0" i="0" u="none" strike="noStrike" kern="1200" cap="none" normalizeH="0" baseline="0" dirty="0">
            <a:ln>
              <a:noFill/>
            </a:ln>
            <a:solidFill>
              <a:srgbClr val="000000"/>
            </a:solidFill>
            <a:effectLst/>
            <a:latin typeface="Times New Roman" panose="02020603050405020304" pitchFamily="18" charset="0"/>
          </a:endParaRPr>
        </a:p>
      </dsp:txBody>
      <dsp:txXfrm>
        <a:off x="3026158" y="2907426"/>
        <a:ext cx="1156933" cy="578466"/>
      </dsp:txXfrm>
    </dsp:sp>
    <dsp:sp modelId="{09753A76-BDCD-45F1-BDFE-499042DB72F8}">
      <dsp:nvSpPr>
        <dsp:cNvPr id="0" name=""/>
        <dsp:cNvSpPr/>
      </dsp:nvSpPr>
      <dsp:spPr>
        <a:xfrm>
          <a:off x="3026158" y="3728849"/>
          <a:ext cx="1156933" cy="578466"/>
        </a:xfrm>
        <a:prstGeom prst="rect">
          <a:avLst/>
        </a:prstGeom>
        <a:gradFill rotWithShape="1">
          <a:gsLst>
            <a:gs pos="0">
              <a:schemeClr val="accent1">
                <a:tint val="50000"/>
                <a:satMod val="300000"/>
              </a:schemeClr>
            </a:gs>
            <a:gs pos="35000">
              <a:schemeClr val="accent1">
                <a:tint val="37000"/>
                <a:satMod val="300000"/>
              </a:schemeClr>
            </a:gs>
            <a:gs pos="100000">
              <a:schemeClr val="accent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marR="0" lvl="0" indent="0" algn="ctr" defTabSz="914400" rtl="0" eaLnBrk="0" fontAlgn="base" latinLnBrk="0" hangingPunct="0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</a:pPr>
          <a:r>
            <a:rPr kumimoji="0" lang="zh-CN" altLang="en-US" sz="1600" b="0" i="0" u="none" strike="noStrike" kern="1200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Times New Roman" panose="02020603050405020304" pitchFamily="18" charset="0"/>
            </a:rPr>
            <a:t>分数规划</a:t>
          </a:r>
          <a:endParaRPr kumimoji="0" lang="en-AU" altLang="zh-CN" sz="1600" b="0" i="0" u="none" strike="noStrike" kern="1200" cap="none" normalizeH="0" baseline="0" dirty="0">
            <a:ln>
              <a:noFill/>
            </a:ln>
            <a:solidFill>
              <a:srgbClr val="000000"/>
            </a:solidFill>
            <a:effectLst/>
            <a:latin typeface="Times New Roman" panose="02020603050405020304" pitchFamily="18" charset="0"/>
          </a:endParaRPr>
        </a:p>
      </dsp:txBody>
      <dsp:txXfrm>
        <a:off x="3026158" y="3728849"/>
        <a:ext cx="1156933" cy="57846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#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linDir" val="fromT"/>
                  <dgm:param type="chAlign" val="r"/>
                </dgm:alg>
              </dgm:if>
              <dgm:if name="Name23" func="var" arg="hierBranch" op="equ" val="r">
                <dgm:alg type="hierChild">
                  <dgm:param type="linDir" val="fromT"/>
                  <dgm:param type="chAlign" val="l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linDir" val="fromL"/>
                      <dgm:param type="chAlign" val="l"/>
                      <dgm:param type="secLinDir" val="fromT"/>
                      <dgm:param type="secChAlign" val="t"/>
                    </dgm:alg>
                  </dgm:if>
                  <dgm:else name="Name27">
                    <dgm:alg type="hierChild">
                      <dgm:param type="linDir" val="fromR"/>
                      <dgm:param type="chAlign" val="l"/>
                      <dgm:param type="secLinDir" val="fromT"/>
                      <dgm:param type="secChAlign" val="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dim" val="1D"/>
                                    <dgm:param type="endSty" val="noArr"/>
                                    <dgm:param type="connRout" val="bend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srcNode" val="rootConnector"/>
                                    <dgm:param type="dim" val="1D"/>
                                    <dgm:param type="endSty" val="noArr"/>
                                    <dgm:param type="connRout" val="bend"/>
                                    <dgm:param type="begPts" val="bCtr"/>
                                    <dgm:param type="endPts" val="midL mid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dim" val="1D"/>
                                <dgm:param type="endSty" val="noArr"/>
                                <dgm:param type="connRout" val="bend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dim" val="1D"/>
                                <dgm:param type="endSty" val="noArr"/>
                                <dgm:param type="connRout" val="bend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srcNode" val="rootConnector1"/>
                                <dgm:param type="dim" val="1D"/>
                                <dgm:param type="endSty" val="noArr"/>
                                <dgm:param type="connRout" val="bend"/>
                                <dgm:param type="begPts" val="bCtr"/>
                                <dgm:param type="endPts" val="midL midR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dim" val="1D"/>
                                <dgm:param type="endSty" val="noArr"/>
                                <dgm:param type="connRout" val="bend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srcNode" val="rootConnector"/>
                                <dgm:param type="dim" val="1D"/>
                                <dgm:param type="endSty" val="noArr"/>
                                <dgm:param type="connRout" val="bend"/>
                                <dgm:param type="begPts" val="bCtr"/>
                                <dgm:param type="endPts" val="midL mid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linDir" val="fromT"/>
                        <dgm:param type="chAlign" val="r"/>
                      </dgm:alg>
                    </dgm:if>
                    <dgm:if name="Name85" func="var" arg="hierBranch" op="equ" val="r">
                      <dgm:alg type="hierChild">
                        <dgm:param type="linDir" val="fromT"/>
                        <dgm:param type="chAlign" val="l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linDir" val="fromL"/>
                            <dgm:param type="chAlign" val="l"/>
                            <dgm:param type="secLinDir" val="fromT"/>
                            <dgm:param type="secChAlign" val="t"/>
                          </dgm:alg>
                        </dgm:if>
                        <dgm:else name="Name89">
                          <dgm:alg type="hierChild">
                            <dgm:param type="linDir" val="fromR"/>
                            <dgm:param type="chAlign" val="l"/>
                            <dgm:param type="secLinDir" val="fromT"/>
                            <dgm:param type="secChAlign" val="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linDir" val="fromL"/>
                        <dgm:param type="chAlign" val="l"/>
                        <dgm:param type="secLinDir" val="fromT"/>
                        <dgm:param type="secChAlign" val="t"/>
                      </dgm:alg>
                    </dgm:if>
                    <dgm:else name="Name105">
                      <dgm:alg type="hierChild">
                        <dgm:param type="linDir" val="fromR"/>
                        <dgm:param type="chAlign" val="l"/>
                        <dgm:param type="secLinDir" val="fromT"/>
                        <dgm:param type="secChAlign" val="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linDir" val="fromL"/>
                  <dgm:param type="chAlign" val="l"/>
                  <dgm:param type="secLinDir" val="fromT"/>
                  <dgm:param type="secChAlign" val="t"/>
                </dgm:alg>
              </dgm:if>
              <dgm:else name="Name109">
                <dgm:alg type="hierChild">
                  <dgm:param type="linDir" val="fromR"/>
                  <dgm:param type="chAlign" val="l"/>
                  <dgm:param type="secLinDir" val="fromT"/>
                  <dgm:param type="secChAlign" val="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dim" val="1D"/>
                    <dgm:param type="endSty" val="noArr"/>
                    <dgm:param type="connRout" val="bend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linDir" val="fromT"/>
                        <dgm:param type="chAlign" val="r"/>
                      </dgm:alg>
                    </dgm:if>
                    <dgm:if name="Name129" func="var" arg="hierBranch" op="equ" val="r">
                      <dgm:alg type="hierChild">
                        <dgm:param type="linDir" val="fromT"/>
                        <dgm:param type="chAlign" val="l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linDir" val="fromL"/>
                            <dgm:param type="chAlign" val="l"/>
                            <dgm:param type="secLinDir" val="fromT"/>
                            <dgm:param type="secChAlign" val="t"/>
                          </dgm:alg>
                        </dgm:if>
                        <dgm:else name="Name133">
                          <dgm:alg type="hierChild">
                            <dgm:param type="linDir" val="fromR"/>
                            <dgm:param type="chAlign" val="l"/>
                            <dgm:param type="secLinDir" val="fromT"/>
                            <dgm:param type="secChAlign" val="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linDir" val="fromL"/>
                        <dgm:param type="chAlign" val="l"/>
                        <dgm:param type="secLinDir" val="fromT"/>
                        <dgm:param type="secChAlign" val="t"/>
                      </dgm:alg>
                    </dgm:if>
                    <dgm:else name="Name146">
                      <dgm:alg type="hierChild">
                        <dgm:param type="linDir" val="fromR"/>
                        <dgm:param type="chAlign" val="l"/>
                        <dgm:param type="secLinDir" val="fromT"/>
                        <dgm:param type="secChAlign" val="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image" Target="../media/image6.wmf"/><Relationship Id="rId1" Type="http://schemas.openxmlformats.org/officeDocument/2006/relationships/image" Target="../media/image5.wmf"/><Relationship Id="rId5" Type="http://schemas.openxmlformats.org/officeDocument/2006/relationships/image" Target="../media/image9.wmf"/><Relationship Id="rId4" Type="http://schemas.openxmlformats.org/officeDocument/2006/relationships/image" Target="../media/image8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.wmf"/><Relationship Id="rId1" Type="http://schemas.openxmlformats.org/officeDocument/2006/relationships/image" Target="../media/image10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15.wmf"/><Relationship Id="rId1" Type="http://schemas.openxmlformats.org/officeDocument/2006/relationships/image" Target="../media/image14.wmf"/><Relationship Id="rId4" Type="http://schemas.openxmlformats.org/officeDocument/2006/relationships/image" Target="../media/image17.e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image" Target="../media/image19.wmf"/><Relationship Id="rId1" Type="http://schemas.openxmlformats.org/officeDocument/2006/relationships/image" Target="../media/image18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3.wmf"/><Relationship Id="rId7" Type="http://schemas.openxmlformats.org/officeDocument/2006/relationships/image" Target="../media/image27.wmf"/><Relationship Id="rId2" Type="http://schemas.openxmlformats.org/officeDocument/2006/relationships/image" Target="../media/image22.wmf"/><Relationship Id="rId1" Type="http://schemas.openxmlformats.org/officeDocument/2006/relationships/image" Target="../media/image21.wmf"/><Relationship Id="rId6" Type="http://schemas.openxmlformats.org/officeDocument/2006/relationships/image" Target="../media/image26.wmf"/><Relationship Id="rId5" Type="http://schemas.openxmlformats.org/officeDocument/2006/relationships/image" Target="../media/image25.wmf"/><Relationship Id="rId4" Type="http://schemas.openxmlformats.org/officeDocument/2006/relationships/image" Target="../media/image24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30.wmf"/><Relationship Id="rId2" Type="http://schemas.openxmlformats.org/officeDocument/2006/relationships/image" Target="../media/image29.wmf"/><Relationship Id="rId1" Type="http://schemas.openxmlformats.org/officeDocument/2006/relationships/image" Target="../media/image28.wmf"/><Relationship Id="rId4" Type="http://schemas.openxmlformats.org/officeDocument/2006/relationships/image" Target="../media/image31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35.wmf"/><Relationship Id="rId2" Type="http://schemas.openxmlformats.org/officeDocument/2006/relationships/image" Target="../media/image34.wmf"/><Relationship Id="rId1" Type="http://schemas.openxmlformats.org/officeDocument/2006/relationships/image" Target="../media/image33.wmf"/><Relationship Id="rId6" Type="http://schemas.openxmlformats.org/officeDocument/2006/relationships/image" Target="../media/image38.wmf"/><Relationship Id="rId5" Type="http://schemas.openxmlformats.org/officeDocument/2006/relationships/image" Target="../media/image37.wmf"/><Relationship Id="rId4" Type="http://schemas.openxmlformats.org/officeDocument/2006/relationships/image" Target="../media/image36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39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44.wmf"/><Relationship Id="rId2" Type="http://schemas.openxmlformats.org/officeDocument/2006/relationships/image" Target="../media/image43.wmf"/><Relationship Id="rId1" Type="http://schemas.openxmlformats.org/officeDocument/2006/relationships/image" Target="../media/image42.wmf"/><Relationship Id="rId5" Type="http://schemas.openxmlformats.org/officeDocument/2006/relationships/image" Target="../media/image46.wmf"/><Relationship Id="rId4" Type="http://schemas.openxmlformats.org/officeDocument/2006/relationships/image" Target="../media/image45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9.wmf"/><Relationship Id="rId2" Type="http://schemas.openxmlformats.org/officeDocument/2006/relationships/image" Target="../media/image48.wmf"/><Relationship Id="rId1" Type="http://schemas.openxmlformats.org/officeDocument/2006/relationships/image" Target="../media/image47.wmf"/><Relationship Id="rId4" Type="http://schemas.openxmlformats.org/officeDocument/2006/relationships/image" Target="../media/image50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53.wmf"/><Relationship Id="rId2" Type="http://schemas.openxmlformats.org/officeDocument/2006/relationships/image" Target="../media/image52.wmf"/><Relationship Id="rId1" Type="http://schemas.openxmlformats.org/officeDocument/2006/relationships/image" Target="../media/image51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57.wmf"/><Relationship Id="rId2" Type="http://schemas.openxmlformats.org/officeDocument/2006/relationships/image" Target="../media/image56.wmf"/><Relationship Id="rId1" Type="http://schemas.openxmlformats.org/officeDocument/2006/relationships/image" Target="../media/image55.wmf"/><Relationship Id="rId6" Type="http://schemas.openxmlformats.org/officeDocument/2006/relationships/image" Target="../media/image60.wmf"/><Relationship Id="rId5" Type="http://schemas.openxmlformats.org/officeDocument/2006/relationships/image" Target="../media/image59.wmf"/><Relationship Id="rId4" Type="http://schemas.openxmlformats.org/officeDocument/2006/relationships/image" Target="../media/image58.wmf"/></Relationships>
</file>

<file path=ppt/drawings/_rels/vmlDrawing14.vml.rels><?xml version="1.0" encoding="UTF-8" standalone="yes"?>
<Relationships xmlns="http://schemas.openxmlformats.org/package/2006/relationships"><Relationship Id="rId8" Type="http://schemas.openxmlformats.org/officeDocument/2006/relationships/image" Target="../media/image69.wmf"/><Relationship Id="rId3" Type="http://schemas.openxmlformats.org/officeDocument/2006/relationships/image" Target="../media/image64.wmf"/><Relationship Id="rId7" Type="http://schemas.openxmlformats.org/officeDocument/2006/relationships/image" Target="../media/image68.wmf"/><Relationship Id="rId2" Type="http://schemas.openxmlformats.org/officeDocument/2006/relationships/image" Target="../media/image63.wmf"/><Relationship Id="rId1" Type="http://schemas.openxmlformats.org/officeDocument/2006/relationships/image" Target="../media/image62.wmf"/><Relationship Id="rId6" Type="http://schemas.openxmlformats.org/officeDocument/2006/relationships/image" Target="../media/image67.wmf"/><Relationship Id="rId5" Type="http://schemas.openxmlformats.org/officeDocument/2006/relationships/image" Target="../media/image66.wmf"/><Relationship Id="rId4" Type="http://schemas.openxmlformats.org/officeDocument/2006/relationships/image" Target="../media/image65.wmf"/><Relationship Id="rId9" Type="http://schemas.openxmlformats.org/officeDocument/2006/relationships/image" Target="../media/image70.wmf"/></Relationships>
</file>

<file path=ppt/drawings/_rels/vmlDrawing15.vml.rels><?xml version="1.0" encoding="UTF-8" standalone="yes"?>
<Relationships xmlns="http://schemas.openxmlformats.org/package/2006/relationships"><Relationship Id="rId8" Type="http://schemas.openxmlformats.org/officeDocument/2006/relationships/image" Target="../media/image78.wmf"/><Relationship Id="rId3" Type="http://schemas.openxmlformats.org/officeDocument/2006/relationships/image" Target="../media/image73.wmf"/><Relationship Id="rId7" Type="http://schemas.openxmlformats.org/officeDocument/2006/relationships/image" Target="../media/image77.wmf"/><Relationship Id="rId2" Type="http://schemas.openxmlformats.org/officeDocument/2006/relationships/image" Target="../media/image72.wmf"/><Relationship Id="rId1" Type="http://schemas.openxmlformats.org/officeDocument/2006/relationships/image" Target="../media/image71.wmf"/><Relationship Id="rId6" Type="http://schemas.openxmlformats.org/officeDocument/2006/relationships/image" Target="../media/image76.wmf"/><Relationship Id="rId5" Type="http://schemas.openxmlformats.org/officeDocument/2006/relationships/image" Target="../media/image75.wmf"/><Relationship Id="rId4" Type="http://schemas.openxmlformats.org/officeDocument/2006/relationships/image" Target="../media/image74.wmf"/></Relationships>
</file>

<file path=ppt/drawings/_rels/vmlDrawing16.vml.rels><?xml version="1.0" encoding="UTF-8" standalone="yes"?>
<Relationships xmlns="http://schemas.openxmlformats.org/package/2006/relationships"><Relationship Id="rId2" Type="http://schemas.openxmlformats.org/officeDocument/2006/relationships/image" Target="../media/image80.wmf"/><Relationship Id="rId1" Type="http://schemas.openxmlformats.org/officeDocument/2006/relationships/image" Target="../media/image79.e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72.wmf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83.wmf"/><Relationship Id="rId2" Type="http://schemas.openxmlformats.org/officeDocument/2006/relationships/image" Target="../media/image72.wmf"/><Relationship Id="rId1" Type="http://schemas.openxmlformats.org/officeDocument/2006/relationships/image" Target="../media/image82.w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84.w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87.wmf"/><Relationship Id="rId2" Type="http://schemas.openxmlformats.org/officeDocument/2006/relationships/image" Target="../media/image86.wmf"/><Relationship Id="rId1" Type="http://schemas.openxmlformats.org/officeDocument/2006/relationships/image" Target="../media/image85.wmf"/><Relationship Id="rId5" Type="http://schemas.openxmlformats.org/officeDocument/2006/relationships/image" Target="../media/image89.wmf"/><Relationship Id="rId4" Type="http://schemas.openxmlformats.org/officeDocument/2006/relationships/image" Target="../media/image88.wmf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90.w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92.wmf"/><Relationship Id="rId1" Type="http://schemas.openxmlformats.org/officeDocument/2006/relationships/image" Target="../media/image91.wmf"/><Relationship Id="rId6" Type="http://schemas.openxmlformats.org/officeDocument/2006/relationships/image" Target="../media/image95.wmf"/><Relationship Id="rId5" Type="http://schemas.openxmlformats.org/officeDocument/2006/relationships/image" Target="../media/image94.wmf"/><Relationship Id="rId4" Type="http://schemas.openxmlformats.org/officeDocument/2006/relationships/image" Target="../media/image93.wmf"/></Relationships>
</file>

<file path=ppt/drawings/_rels/vmlDrawing23.vml.rels><?xml version="1.0" encoding="UTF-8" standalone="yes"?>
<Relationships xmlns="http://schemas.openxmlformats.org/package/2006/relationships"><Relationship Id="rId3" Type="http://schemas.openxmlformats.org/officeDocument/2006/relationships/image" Target="../media/image95.wmf"/><Relationship Id="rId2" Type="http://schemas.openxmlformats.org/officeDocument/2006/relationships/image" Target="../media/image97.wmf"/><Relationship Id="rId1" Type="http://schemas.openxmlformats.org/officeDocument/2006/relationships/image" Target="../media/image96.wmf"/></Relationships>
</file>

<file path=ppt/drawings/_rels/vmlDrawing2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wmf"/><Relationship Id="rId2" Type="http://schemas.openxmlformats.org/officeDocument/2006/relationships/image" Target="../media/image100.wmf"/><Relationship Id="rId1" Type="http://schemas.openxmlformats.org/officeDocument/2006/relationships/image" Target="../media/image99.wmf"/></Relationships>
</file>

<file path=ppt/drawings/_rels/vmlDrawing2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wmf"/><Relationship Id="rId1" Type="http://schemas.openxmlformats.org/officeDocument/2006/relationships/image" Target="../media/image102.wmf"/></Relationships>
</file>

<file path=ppt/drawings/_rels/vmlDrawing2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wmf"/><Relationship Id="rId2" Type="http://schemas.openxmlformats.org/officeDocument/2006/relationships/image" Target="../media/image105.wmf"/><Relationship Id="rId1" Type="http://schemas.openxmlformats.org/officeDocument/2006/relationships/image" Target="../media/image104.wmf"/></Relationships>
</file>

<file path=ppt/drawings/_rels/vmlDrawing2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wmf"/><Relationship Id="rId2" Type="http://schemas.openxmlformats.org/officeDocument/2006/relationships/image" Target="../media/image108.wmf"/><Relationship Id="rId1" Type="http://schemas.openxmlformats.org/officeDocument/2006/relationships/image" Target="../media/image107.wmf"/></Relationships>
</file>

<file path=ppt/drawings/_rels/vmlDrawing2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wmf"/><Relationship Id="rId2" Type="http://schemas.openxmlformats.org/officeDocument/2006/relationships/image" Target="../media/image111.wmf"/><Relationship Id="rId1" Type="http://schemas.openxmlformats.org/officeDocument/2006/relationships/image" Target="../media/image110.wmf"/></Relationships>
</file>

<file path=ppt/drawings/_rels/vmlDrawing2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wmf"/><Relationship Id="rId2" Type="http://schemas.openxmlformats.org/officeDocument/2006/relationships/image" Target="../media/image114.wmf"/><Relationship Id="rId1" Type="http://schemas.openxmlformats.org/officeDocument/2006/relationships/image" Target="../media/image113.wmf"/><Relationship Id="rId5" Type="http://schemas.openxmlformats.org/officeDocument/2006/relationships/image" Target="../media/image117.wmf"/><Relationship Id="rId4" Type="http://schemas.openxmlformats.org/officeDocument/2006/relationships/image" Target="../media/image116.wmf"/></Relationships>
</file>

<file path=ppt/drawings/_rels/vmlDrawing30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9.wmf"/><Relationship Id="rId1" Type="http://schemas.openxmlformats.org/officeDocument/2006/relationships/image" Target="../media/image118.wmf"/></Relationships>
</file>

<file path=ppt/drawings/_rels/vmlDrawing3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wmf"/><Relationship Id="rId7" Type="http://schemas.openxmlformats.org/officeDocument/2006/relationships/image" Target="../media/image126.wmf"/><Relationship Id="rId2" Type="http://schemas.openxmlformats.org/officeDocument/2006/relationships/image" Target="../media/image121.wmf"/><Relationship Id="rId1" Type="http://schemas.openxmlformats.org/officeDocument/2006/relationships/image" Target="../media/image120.wmf"/><Relationship Id="rId6" Type="http://schemas.openxmlformats.org/officeDocument/2006/relationships/image" Target="../media/image125.wmf"/><Relationship Id="rId5" Type="http://schemas.openxmlformats.org/officeDocument/2006/relationships/image" Target="../media/image124.wmf"/><Relationship Id="rId4" Type="http://schemas.openxmlformats.org/officeDocument/2006/relationships/image" Target="../media/image123.wmf"/></Relationships>
</file>

<file path=ppt/drawings/_rels/vmlDrawing3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9.wmf"/><Relationship Id="rId2" Type="http://schemas.openxmlformats.org/officeDocument/2006/relationships/image" Target="../media/image128.wmf"/><Relationship Id="rId1" Type="http://schemas.openxmlformats.org/officeDocument/2006/relationships/image" Target="../media/image127.wmf"/><Relationship Id="rId5" Type="http://schemas.openxmlformats.org/officeDocument/2006/relationships/image" Target="../media/image131.wmf"/><Relationship Id="rId4" Type="http://schemas.openxmlformats.org/officeDocument/2006/relationships/image" Target="../media/image130.wmf"/></Relationships>
</file>

<file path=ppt/drawings/_rels/vmlDrawing3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4.wmf"/><Relationship Id="rId2" Type="http://schemas.openxmlformats.org/officeDocument/2006/relationships/image" Target="../media/image133.wmf"/><Relationship Id="rId1" Type="http://schemas.openxmlformats.org/officeDocument/2006/relationships/image" Target="../media/image132.wmf"/></Relationships>
</file>

<file path=ppt/drawings/_rels/vmlDrawing3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5.wmf"/><Relationship Id="rId1" Type="http://schemas.openxmlformats.org/officeDocument/2006/relationships/image" Target="../media/image133.wmf"/></Relationships>
</file>

<file path=ppt/drawings/_rels/vmlDrawing35.vml.rels><?xml version="1.0" encoding="UTF-8" standalone="yes"?>
<Relationships xmlns="http://schemas.openxmlformats.org/package/2006/relationships"><Relationship Id="rId8" Type="http://schemas.openxmlformats.org/officeDocument/2006/relationships/image" Target="../media/image143.wmf"/><Relationship Id="rId3" Type="http://schemas.openxmlformats.org/officeDocument/2006/relationships/image" Target="../media/image138.wmf"/><Relationship Id="rId7" Type="http://schemas.openxmlformats.org/officeDocument/2006/relationships/image" Target="../media/image142.wmf"/><Relationship Id="rId2" Type="http://schemas.openxmlformats.org/officeDocument/2006/relationships/image" Target="../media/image137.wmf"/><Relationship Id="rId1" Type="http://schemas.openxmlformats.org/officeDocument/2006/relationships/image" Target="../media/image136.wmf"/><Relationship Id="rId6" Type="http://schemas.openxmlformats.org/officeDocument/2006/relationships/image" Target="../media/image141.wmf"/><Relationship Id="rId5" Type="http://schemas.openxmlformats.org/officeDocument/2006/relationships/image" Target="../media/image140.wmf"/><Relationship Id="rId10" Type="http://schemas.openxmlformats.org/officeDocument/2006/relationships/image" Target="../media/image145.wmf"/><Relationship Id="rId4" Type="http://schemas.openxmlformats.org/officeDocument/2006/relationships/image" Target="../media/image139.wmf"/><Relationship Id="rId9" Type="http://schemas.openxmlformats.org/officeDocument/2006/relationships/image" Target="../media/image144.wmf"/></Relationships>
</file>

<file path=ppt/drawings/_rels/vmlDrawing3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8.wmf"/><Relationship Id="rId2" Type="http://schemas.openxmlformats.org/officeDocument/2006/relationships/image" Target="../media/image147.wmf"/><Relationship Id="rId1" Type="http://schemas.openxmlformats.org/officeDocument/2006/relationships/image" Target="../media/image146.wmf"/><Relationship Id="rId5" Type="http://schemas.openxmlformats.org/officeDocument/2006/relationships/image" Target="../media/image150.wmf"/><Relationship Id="rId4" Type="http://schemas.openxmlformats.org/officeDocument/2006/relationships/image" Target="../media/image149.wmf"/></Relationships>
</file>

<file path=ppt/drawings/_rels/vmlDrawing37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3.wmf"/><Relationship Id="rId1" Type="http://schemas.openxmlformats.org/officeDocument/2006/relationships/image" Target="../media/image152.wmf"/></Relationships>
</file>

<file path=ppt/drawings/_rels/vmlDrawing3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6.wmf"/><Relationship Id="rId2" Type="http://schemas.openxmlformats.org/officeDocument/2006/relationships/image" Target="../media/image155.wmf"/><Relationship Id="rId1" Type="http://schemas.openxmlformats.org/officeDocument/2006/relationships/image" Target="../media/image154.wmf"/><Relationship Id="rId4" Type="http://schemas.openxmlformats.org/officeDocument/2006/relationships/image" Target="../media/image157.wmf"/></Relationships>
</file>

<file path=ppt/drawings/_rels/vmlDrawing3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emf"/><Relationship Id="rId2" Type="http://schemas.openxmlformats.org/officeDocument/2006/relationships/image" Target="../media/image159.wmf"/><Relationship Id="rId1" Type="http://schemas.openxmlformats.org/officeDocument/2006/relationships/image" Target="../media/image158.wmf"/></Relationships>
</file>

<file path=ppt/drawings/_rels/vmlDrawing40.vml.rels><?xml version="1.0" encoding="UTF-8" standalone="yes"?>
<Relationships xmlns="http://schemas.openxmlformats.org/package/2006/relationships"><Relationship Id="rId8" Type="http://schemas.openxmlformats.org/officeDocument/2006/relationships/image" Target="../media/image170.wmf"/><Relationship Id="rId3" Type="http://schemas.openxmlformats.org/officeDocument/2006/relationships/image" Target="../media/image165.wmf"/><Relationship Id="rId7" Type="http://schemas.openxmlformats.org/officeDocument/2006/relationships/image" Target="../media/image169.wmf"/><Relationship Id="rId2" Type="http://schemas.openxmlformats.org/officeDocument/2006/relationships/image" Target="../media/image164.wmf"/><Relationship Id="rId1" Type="http://schemas.openxmlformats.org/officeDocument/2006/relationships/image" Target="../media/image163.wmf"/><Relationship Id="rId6" Type="http://schemas.openxmlformats.org/officeDocument/2006/relationships/image" Target="../media/image168.wmf"/><Relationship Id="rId11" Type="http://schemas.openxmlformats.org/officeDocument/2006/relationships/image" Target="../media/image173.wmf"/><Relationship Id="rId5" Type="http://schemas.openxmlformats.org/officeDocument/2006/relationships/image" Target="../media/image167.wmf"/><Relationship Id="rId10" Type="http://schemas.openxmlformats.org/officeDocument/2006/relationships/image" Target="../media/image172.wmf"/><Relationship Id="rId4" Type="http://schemas.openxmlformats.org/officeDocument/2006/relationships/image" Target="../media/image166.wmf"/><Relationship Id="rId9" Type="http://schemas.openxmlformats.org/officeDocument/2006/relationships/image" Target="../media/image171.wmf"/></Relationships>
</file>

<file path=ppt/drawings/_rels/vmlDrawing41.vml.rels><?xml version="1.0" encoding="UTF-8" standalone="yes"?>
<Relationships xmlns="http://schemas.openxmlformats.org/package/2006/relationships"><Relationship Id="rId8" Type="http://schemas.openxmlformats.org/officeDocument/2006/relationships/image" Target="../media/image187.wmf"/><Relationship Id="rId3" Type="http://schemas.openxmlformats.org/officeDocument/2006/relationships/image" Target="../media/image182.wmf"/><Relationship Id="rId7" Type="http://schemas.openxmlformats.org/officeDocument/2006/relationships/image" Target="../media/image186.wmf"/><Relationship Id="rId2" Type="http://schemas.openxmlformats.org/officeDocument/2006/relationships/image" Target="../media/image181.wmf"/><Relationship Id="rId1" Type="http://schemas.openxmlformats.org/officeDocument/2006/relationships/image" Target="../media/image180.wmf"/><Relationship Id="rId6" Type="http://schemas.openxmlformats.org/officeDocument/2006/relationships/image" Target="../media/image185.wmf"/><Relationship Id="rId5" Type="http://schemas.openxmlformats.org/officeDocument/2006/relationships/image" Target="../media/image184.wmf"/><Relationship Id="rId4" Type="http://schemas.openxmlformats.org/officeDocument/2006/relationships/image" Target="../media/image183.wmf"/></Relationships>
</file>

<file path=ppt/drawings/_rels/vmlDrawing4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90.wmf"/><Relationship Id="rId1" Type="http://schemas.openxmlformats.org/officeDocument/2006/relationships/image" Target="../media/image189.wmf"/></Relationships>
</file>

<file path=ppt/drawings/_rels/vmlDrawing4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4.wmf"/></Relationships>
</file>

<file path=ppt/drawings/_rels/vmlDrawing4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5.wmf"/></Relationships>
</file>

<file path=ppt/drawings/_rels/vmlDrawing4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8.wmf"/><Relationship Id="rId2" Type="http://schemas.openxmlformats.org/officeDocument/2006/relationships/image" Target="../media/image197.wmf"/><Relationship Id="rId1" Type="http://schemas.openxmlformats.org/officeDocument/2006/relationships/image" Target="../media/image196.wmf"/><Relationship Id="rId4" Type="http://schemas.openxmlformats.org/officeDocument/2006/relationships/image" Target="../media/image199.wmf"/></Relationships>
</file>

<file path=ppt/drawings/_rels/vmlDrawing4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0.wmf"/></Relationships>
</file>

<file path=ppt/drawings/_rels/vmlDrawing47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4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3.wmf"/></Relationships>
</file>

<file path=ppt/drawings/_rels/vmlDrawing49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3.wmf"/><Relationship Id="rId2" Type="http://schemas.openxmlformats.org/officeDocument/2006/relationships/image" Target="../media/image212.wmf"/><Relationship Id="rId1" Type="http://schemas.openxmlformats.org/officeDocument/2006/relationships/image" Target="../media/image211.wmf"/><Relationship Id="rId5" Type="http://schemas.openxmlformats.org/officeDocument/2006/relationships/image" Target="../media/image215.wmf"/><Relationship Id="rId4" Type="http://schemas.openxmlformats.org/officeDocument/2006/relationships/image" Target="../media/image214.wmf"/></Relationships>
</file>

<file path=ppt/drawings/_rels/vmlDrawing50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6.wmf"/><Relationship Id="rId2" Type="http://schemas.openxmlformats.org/officeDocument/2006/relationships/image" Target="../media/image121.wmf"/><Relationship Id="rId1" Type="http://schemas.openxmlformats.org/officeDocument/2006/relationships/image" Target="../media/image120.wmf"/><Relationship Id="rId4" Type="http://schemas.openxmlformats.org/officeDocument/2006/relationships/image" Target="../media/image217.wmf"/></Relationships>
</file>

<file path=ppt/drawings/_rels/vmlDrawing51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0.wmf"/><Relationship Id="rId7" Type="http://schemas.openxmlformats.org/officeDocument/2006/relationships/image" Target="../media/image224.wmf"/><Relationship Id="rId2" Type="http://schemas.openxmlformats.org/officeDocument/2006/relationships/image" Target="../media/image219.wmf"/><Relationship Id="rId1" Type="http://schemas.openxmlformats.org/officeDocument/2006/relationships/image" Target="../media/image218.wmf"/><Relationship Id="rId6" Type="http://schemas.openxmlformats.org/officeDocument/2006/relationships/image" Target="../media/image223.wmf"/><Relationship Id="rId5" Type="http://schemas.openxmlformats.org/officeDocument/2006/relationships/image" Target="../media/image222.wmf"/><Relationship Id="rId4" Type="http://schemas.openxmlformats.org/officeDocument/2006/relationships/image" Target="../media/image221.wmf"/></Relationships>
</file>

<file path=ppt/drawings/_rels/vmlDrawing52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7.wmf"/><Relationship Id="rId2" Type="http://schemas.openxmlformats.org/officeDocument/2006/relationships/image" Target="../media/image226.emf"/><Relationship Id="rId1" Type="http://schemas.openxmlformats.org/officeDocument/2006/relationships/image" Target="../media/image225.wmf"/><Relationship Id="rId4" Type="http://schemas.openxmlformats.org/officeDocument/2006/relationships/image" Target="../media/image228.wmf"/></Relationships>
</file>

<file path=ppt/drawings/_rels/vmlDrawing5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2.wmf"/><Relationship Id="rId7" Type="http://schemas.openxmlformats.org/officeDocument/2006/relationships/image" Target="../media/image232.wmf"/><Relationship Id="rId2" Type="http://schemas.openxmlformats.org/officeDocument/2006/relationships/image" Target="../media/image230.wmf"/><Relationship Id="rId1" Type="http://schemas.openxmlformats.org/officeDocument/2006/relationships/image" Target="../media/image229.wmf"/><Relationship Id="rId6" Type="http://schemas.openxmlformats.org/officeDocument/2006/relationships/image" Target="../media/image231.wmf"/><Relationship Id="rId5" Type="http://schemas.openxmlformats.org/officeDocument/2006/relationships/image" Target="../media/image224.wmf"/><Relationship Id="rId4" Type="http://schemas.openxmlformats.org/officeDocument/2006/relationships/image" Target="../media/image223.wmf"/></Relationships>
</file>

<file path=ppt/drawings/_rels/vmlDrawing5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35.wmf"/><Relationship Id="rId2" Type="http://schemas.openxmlformats.org/officeDocument/2006/relationships/image" Target="../media/image234.wmf"/><Relationship Id="rId1" Type="http://schemas.openxmlformats.org/officeDocument/2006/relationships/image" Target="../media/image233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A2B485-E8B3-4CC3-8413-2D6411C4CC16}" type="datetimeFigureOut">
              <a:rPr lang="zh-CN" altLang="en-US" smtClean="0"/>
              <a:pPr/>
              <a:t>2025/3/31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CBA31F-BB39-4A2F-B425-B65DDDE83B5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28779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CBA31F-BB39-4A2F-B425-B65DDDE83B5C}" type="slidenum">
              <a:rPr lang="zh-CN" altLang="en-US" smtClean="0"/>
              <a:pPr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97029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CBA31F-BB39-4A2F-B425-B65DDDE83B5C}" type="slidenum">
              <a:rPr lang="zh-CN" altLang="en-US" smtClean="0"/>
              <a:pPr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04769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CBA31F-BB39-4A2F-B425-B65DDDE83B5C}" type="slidenum">
              <a:rPr lang="zh-CN" altLang="en-US" smtClean="0"/>
              <a:pPr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30041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可行域</a:t>
            </a:r>
            <a:r>
              <a:rPr lang="zh-CN" altLang="en-US" dirty="0"/>
              <a:t>是那个三角形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CBA31F-BB39-4A2F-B425-B65DDDE83B5C}" type="slidenum">
              <a:rPr lang="zh-CN" altLang="en-US" smtClean="0"/>
              <a:pPr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58535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锥优化</a:t>
            </a:r>
            <a:endParaRPr lang="en-US" altLang="zh-CN" dirty="0"/>
          </a:p>
          <a:p>
            <a:r>
              <a:rPr lang="en-US" altLang="zh-CN" dirty="0"/>
              <a:t>Conic optimization is a subfield of convex optimization that studies a special representation convex optimization problems using closed convex pointed cones with a nonempty interior. A conic optimization problem consists of minimizing a convex function over the intersection of an affine subspace and a convex cone.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CBA31F-BB39-4A2F-B425-B65DDDE83B5C}" type="slidenum">
              <a:rPr lang="zh-CN" altLang="en-US" smtClean="0"/>
              <a:pPr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28211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增加的例题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CBA31F-BB39-4A2F-B425-B65DDDE83B5C}" type="slidenum">
              <a:rPr lang="zh-CN" altLang="en-US" smtClean="0"/>
              <a:pPr/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05922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增加的例题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CBA31F-BB39-4A2F-B425-B65DDDE83B5C}" type="slidenum">
              <a:rPr lang="zh-CN" altLang="en-US" smtClean="0"/>
              <a:pPr/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76459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CBA31F-BB39-4A2F-B425-B65DDDE83B5C}" type="slidenum">
              <a:rPr lang="zh-CN" altLang="en-US" smtClean="0"/>
              <a:pPr/>
              <a:t>53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sz="13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“二分法是用来求解</a:t>
            </a:r>
            <a:r>
              <a:rPr lang="zh-CN" altLang="en-US" sz="13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凸的连续可微函数</a:t>
            </a:r>
            <a:r>
              <a:rPr lang="zh-CN" altLang="en-US" sz="13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en-US" altLang="zh-CN" sz="13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zh-CN" altLang="en-US" sz="13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是不对的，应该是处理连续可微的</a:t>
            </a:r>
            <a:r>
              <a:rPr lang="en-US" altLang="zh-CN" dirty="0"/>
              <a:t>Uni-modal function</a:t>
            </a:r>
            <a:r>
              <a:rPr lang="zh-CN" altLang="en-US" dirty="0"/>
              <a:t>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CBA31F-BB39-4A2F-B425-B65DDDE83B5C}" type="slidenum">
              <a:rPr lang="zh-CN" altLang="en-US" smtClean="0"/>
              <a:pPr/>
              <a:t>55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After getting the two golden-section points, then compare the function value at these two points. Find the smaller one, and then discard the interval behind the larger</a:t>
            </a:r>
            <a:r>
              <a:rPr lang="en-US" altLang="zh-CN" baseline="0" dirty="0"/>
              <a:t> one. </a:t>
            </a:r>
          </a:p>
          <a:p>
            <a:r>
              <a:rPr lang="en-US" altLang="zh-CN" baseline="0" dirty="0"/>
              <a:t>Note that: it is not to get the smaller three points among the four points (two boundary values and two section values). 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CBA31F-BB39-4A2F-B425-B65DDDE83B5C}" type="slidenum">
              <a:rPr lang="zh-CN" altLang="en-US" smtClean="0"/>
              <a:pPr/>
              <a:t>56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这两个</a:t>
            </a:r>
            <a:r>
              <a:rPr lang="en-US" altLang="zh-CN" dirty="0"/>
              <a:t>function</a:t>
            </a:r>
            <a:r>
              <a:rPr lang="zh-CN" altLang="en-US" dirty="0"/>
              <a:t>是数学优化中的常用函数，可以用来测试优化算法的性能。</a:t>
            </a:r>
            <a:endParaRPr lang="en-US" altLang="zh-CN" dirty="0"/>
          </a:p>
          <a:p>
            <a:r>
              <a:rPr lang="en-US" altLang="zh-CN" dirty="0"/>
              <a:t>In applied mathematics, test functions, known as artificial landscapes, are useful to evaluate characteristics of optimization algorithms,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CBA31F-BB39-4A2F-B425-B65DDDE83B5C}" type="slidenum">
              <a:rPr lang="zh-CN" altLang="en-US" smtClean="0"/>
              <a:pPr/>
              <a:t>71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每一步都是垂直于前一次的。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CBA31F-BB39-4A2F-B425-B65DDDE83B5C}" type="slidenum">
              <a:rPr lang="zh-CN" altLang="en-US" smtClean="0"/>
              <a:pPr/>
              <a:t>72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4FCD5C-AFBF-4F94-BF47-C245C9860658}" type="datetime1">
              <a:rPr lang="en-US" altLang="zh-CN" smtClean="0"/>
              <a:pPr>
                <a:defRPr/>
              </a:pPr>
              <a:t>3/31/2025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895B61-0C37-499C-A3DC-D5C02891533D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6BC7B7-DA3A-4BAA-B3F5-33876ED1E486}" type="datetime1">
              <a:rPr lang="en-US" altLang="zh-CN" smtClean="0"/>
              <a:pPr>
                <a:defRPr/>
              </a:pPr>
              <a:t>3/31/2025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A04E82-56C5-473E-AB74-E41CD95FB2B4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C7B97958-1071-41B9-80E0-37C92187E88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9863" y="6150864"/>
            <a:ext cx="632774" cy="62788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C5E97D-14C0-4B57-B816-05BCCBFA1530}" type="datetime1">
              <a:rPr lang="en-US" altLang="zh-CN" smtClean="0"/>
              <a:pPr>
                <a:defRPr/>
              </a:pPr>
              <a:t>3/31/2025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F5E73D-1069-4824-94AF-7FF34A7BE33D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2504" cy="48768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296" y="1600200"/>
            <a:ext cx="4032504" cy="48768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1EE4D2-43CB-451D-A0A3-124E659CBB1A}" type="datetime1">
              <a:rPr lang="en-US" altLang="zh-CN" smtClean="0"/>
              <a:pPr>
                <a:defRPr/>
              </a:pPr>
              <a:t>3/31/2025</a:t>
            </a:fld>
            <a:endParaRPr lang="en-US" altLang="zh-CN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810F76-1A24-4AF4-8A91-362659113F1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1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1" y="2505075"/>
            <a:ext cx="3868340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AD1270-94E7-4D5C-9C91-2DF26157D32F}" type="datetime1">
              <a:rPr lang="en-US" altLang="zh-CN" smtClean="0"/>
              <a:pPr>
                <a:defRPr/>
              </a:pPr>
              <a:t>3/31/2025</a:t>
            </a:fld>
            <a:endParaRPr lang="en-US" altLang="zh-CN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8051D9-6CDB-4A19-9498-B1F31800CB75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7BE03A-CCA9-4C50-94B4-B60C8ED08CA6}" type="datetime1">
              <a:rPr lang="en-US" altLang="zh-CN" smtClean="0"/>
              <a:pPr>
                <a:defRPr/>
              </a:pPr>
              <a:t>3/31/2025</a:t>
            </a:fld>
            <a:endParaRPr lang="en-US" altLang="zh-C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F2B37D-33B6-4C69-9BD0-32187E706945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64AD90-F52E-4610-A057-ED0A6F62DBC6}" type="datetime1">
              <a:rPr lang="en-US" altLang="zh-CN" smtClean="0"/>
              <a:pPr>
                <a:defRPr/>
              </a:pPr>
              <a:t>3/31/2025</a:t>
            </a:fld>
            <a:endParaRPr lang="en-US" altLang="zh-CN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009943-BA82-4F6A-BD7C-764069224CD2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EC980E-2E5D-4587-AE33-E436CA92B598}" type="datetime1">
              <a:rPr lang="en-US" altLang="zh-CN" smtClean="0"/>
              <a:pPr>
                <a:defRPr/>
              </a:pPr>
              <a:t>3/31/2025</a:t>
            </a:fld>
            <a:endParaRPr lang="en-US" altLang="zh-CN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CF26E5-2ED2-4F85-94A6-41EA43600B3E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1">
              <a:sym typeface="Arial" panose="020B0604020202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798849-64CD-40EC-BD4C-6BF7D99C5D18}" type="datetime1">
              <a:rPr lang="en-US" altLang="zh-CN" smtClean="0"/>
              <a:pPr>
                <a:defRPr/>
              </a:pPr>
              <a:t>3/31/2025</a:t>
            </a:fld>
            <a:endParaRPr lang="en-US" altLang="zh-CN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8C9128-8DD9-4172-A865-72B9B18E9A1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1727B7-ED82-462A-9D79-905D1CAA6E25}" type="datetime1">
              <a:rPr lang="en-US" altLang="zh-CN" smtClean="0"/>
              <a:pPr>
                <a:defRPr/>
              </a:pPr>
              <a:t>3/31/2025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15748A-C05D-4102-BCCF-66D346F70087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533400"/>
            <a:ext cx="2057400" cy="594360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533400"/>
            <a:ext cx="6052930" cy="594360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96F258-F5B4-45AD-A2C8-B4761077CE5A}" type="datetime1">
              <a:rPr lang="en-US" altLang="zh-CN" smtClean="0"/>
              <a:pPr>
                <a:defRPr/>
              </a:pPr>
              <a:t>3/31/2025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D8EEBC-8FFF-48D5-BA20-8C9570EB2408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314039"/>
            <a:ext cx="7848600" cy="984786"/>
          </a:xfrm>
        </p:spPr>
        <p:txBody>
          <a:bodyPr anchor="b">
            <a:noAutofit/>
          </a:bodyPr>
          <a:lstStyle>
            <a:lvl1pPr algn="ctr">
              <a:defRPr sz="3200" b="0" cap="none" baseline="0">
                <a:latin typeface="+mn-lt"/>
                <a:ea typeface="+mn-ea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47800" y="3505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85C2E-B9E8-4E53-A4E2-803561BE4CBD}" type="datetime1">
              <a:rPr lang="en-US" altLang="zh-CN" smtClean="0"/>
              <a:pPr/>
              <a:t>3/31/2025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685800" y="3398520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 userDrawn="1"/>
        </p:nvSpPr>
        <p:spPr>
          <a:xfrm>
            <a:off x="838200" y="990600"/>
            <a:ext cx="75438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000" b="1" dirty="0">
                <a:solidFill>
                  <a:schemeClr val="tx2"/>
                </a:solidFill>
                <a:latin typeface="Arial (Headings)"/>
              </a:rPr>
              <a:t>CIV5406 MODELLING TRANSPORTATION SYSTEMS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4A043-2C3F-4A22-8E22-A75B87C4687B}" type="datetime1">
              <a:rPr lang="en-US" altLang="zh-CN" smtClean="0"/>
              <a:pPr/>
              <a:t>3/31/2025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0F0FC474-6356-4283-AC04-8FD2863E681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9863" y="6150864"/>
            <a:ext cx="632774" cy="62788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362200"/>
            <a:ext cx="77724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626864"/>
            <a:ext cx="77724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B2796-5CC1-4D40-AF0B-D7FA91DBD8A5}" type="datetime1">
              <a:rPr lang="en-US" altLang="zh-CN" smtClean="0"/>
              <a:pPr/>
              <a:t>3/31/2025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4599432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65B3E-EEC0-4713-9C89-05CDAF2995C9}" type="datetime1">
              <a:rPr lang="en-US" altLang="zh-CN" smtClean="0"/>
              <a:pPr/>
              <a:t>3/31/2025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D20FE-6EC3-4CD4-9CE5-1085B2F55E8C}" type="datetime1">
              <a:rPr lang="en-US" altLang="zh-CN" smtClean="0"/>
              <a:pPr/>
              <a:t>3/31/2025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217817" y="4045823"/>
            <a:ext cx="470916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19F05-3FB2-4522-8186-EB4CAFC4DFDF}" type="datetime1">
              <a:rPr lang="en-US" altLang="zh-CN" smtClean="0"/>
              <a:pPr/>
              <a:t>3/31/2025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7AC19-D75B-4C63-8D34-D435538DC02F}" type="datetime1">
              <a:rPr lang="en-US" altLang="zh-CN" smtClean="0"/>
              <a:pPr/>
              <a:t>3/31/2025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86800" y="18288"/>
            <a:ext cx="1066800" cy="329184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080"/>
            <a:ext cx="2139696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792080"/>
            <a:ext cx="5715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0552"/>
            <a:ext cx="2139696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9EEE8-5327-4E05-BD65-0BCD4D19D7F9}" type="datetime1">
              <a:rPr lang="en-US" altLang="zh-CN" smtClean="0"/>
              <a:pPr/>
              <a:t>3/31/2025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-13116" y="3580206"/>
            <a:ext cx="557784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480"/>
            <a:ext cx="2142680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838201"/>
            <a:ext cx="590439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133600"/>
            <a:ext cx="2139696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B156F-6966-4463-BBBE-3A99F1CC09F2}" type="datetime1">
              <a:rPr lang="en-US" altLang="zh-CN" smtClean="0"/>
              <a:pPr/>
              <a:t>3/31/2025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21E60-1F69-430D-818F-82283BA4DAF7}" type="datetime1">
              <a:rPr lang="en-US" altLang="zh-CN" smtClean="0"/>
              <a:pPr/>
              <a:t>3/31/2025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867400"/>
          </a:xfrm>
        </p:spPr>
        <p:txBody>
          <a:bodyPr vert="eaVert"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0047C-943C-46CA-BA7C-A96F3FAAEA34}" type="datetime1">
              <a:rPr lang="en-US" altLang="zh-CN" smtClean="0"/>
              <a:pPr/>
              <a:t>3/31/2025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2ABD749-4B3D-4BF3-B12A-B61FA89A7D20}" type="datetime1">
              <a:rPr lang="en-US" altLang="zh-CN" smtClean="0"/>
              <a:t>3/31/2025</a:t>
            </a:fld>
            <a:endParaRPr lang="en-US" altLang="zh-C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A04E82-56C5-473E-AB74-E41CD95FB2B4}" type="slidenum">
              <a:rPr lang="zh-CN" altLang="en-US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52D18F24-9FC4-496B-8BC6-7809B5E580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09016" y="19050"/>
            <a:ext cx="4831731" cy="328613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 dirty="0"/>
              <a:t>Modelling Transportation Systems · Southeast University · </a:t>
            </a:r>
            <a:r>
              <a:rPr lang="en-US" altLang="zh-CN" dirty="0" err="1"/>
              <a:t>Zhiyuan</a:t>
            </a:r>
            <a:r>
              <a:rPr lang="en-US" altLang="zh-CN" dirty="0"/>
              <a:t> Liu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A225ECE-2AD3-40C3-8EA9-72D1C5F82C6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268327" y="6021054"/>
            <a:ext cx="836946" cy="836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298109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0E55C9-70B6-49A9-B285-7B6B9329A27F}" type="datetime1">
              <a:rPr lang="en-US" altLang="zh-CN" smtClean="0"/>
              <a:t>3/31/2025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Modelling Transportation Systems · Southeast University · Zhiyuan Liu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BF5E73D-1069-4824-94AF-7FF34A7BE33D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6722384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2504" cy="48768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296" y="1600200"/>
            <a:ext cx="4032504" cy="48768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7C70DC-E5E3-476E-B719-7C406A24E276}" type="datetime1">
              <a:rPr lang="en-US" altLang="zh-CN" smtClean="0"/>
              <a:t>3/31/2025</a:t>
            </a:fld>
            <a:endParaRPr lang="en-US" altLang="zh-CN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Modelling Transportation Systems · Southeast University · Zhiyuan Liu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810F76-1A24-4AF4-8A91-362659113F1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6943399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1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1" y="2505075"/>
            <a:ext cx="3868340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E8E72B-6C0E-4F25-B3EF-88ADA2D92673}" type="datetime1">
              <a:rPr lang="en-US" altLang="zh-CN" smtClean="0"/>
              <a:t>3/31/2025</a:t>
            </a:fld>
            <a:endParaRPr lang="en-US" altLang="zh-CN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Modelling Transportation Systems · Southeast University · Zhiyuan Liu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8051D9-6CDB-4A19-9498-B1F31800CB75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5870757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0FD39B-8021-4531-8CE2-8D21302A74ED}" type="datetime1">
              <a:rPr lang="en-US" altLang="zh-CN" smtClean="0"/>
              <a:t>3/31/2025</a:t>
            </a:fld>
            <a:endParaRPr lang="en-US" altLang="zh-C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Modelling Transportation Systems · Southeast University · Zhiyuan Liu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F2B37D-33B6-4C69-9BD0-32187E706945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6509784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F5701F-746E-469B-BDDA-F93B22D4DB72}" type="datetime1">
              <a:rPr lang="en-US" altLang="zh-CN" smtClean="0"/>
              <a:t>3/31/2025</a:t>
            </a:fld>
            <a:endParaRPr lang="en-US" altLang="zh-CN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Modelling Transportation Systems · Southeast University · Zhiyuan Liu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009943-BA82-4F6A-BD7C-764069224CD2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5C90C2B-542D-46DA-9039-5E9AB49D9E1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9863" y="6150864"/>
            <a:ext cx="632774" cy="627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479496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7B1553-8BA7-4889-BEC6-891C13E10B98}" type="datetime1">
              <a:rPr lang="en-US" altLang="zh-CN" smtClean="0"/>
              <a:t>3/31/2025</a:t>
            </a:fld>
            <a:endParaRPr lang="en-US" altLang="zh-CN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Modelling Transportation Systems · Southeast University · Zhiyuan Liu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8CF26E5-2ED2-4F85-94A6-41EA43600B3E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1700986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1">
              <a:sym typeface="Arial" panose="020B0604020202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62BEB2-F18B-4C21-9638-A76426A31BD0}" type="datetime1">
              <a:rPr lang="en-US" altLang="zh-CN" smtClean="0"/>
              <a:t>3/31/2025</a:t>
            </a:fld>
            <a:endParaRPr lang="en-US" altLang="zh-CN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Modelling Transportation Systems · Southeast University · Zhiyuan Liu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8C9128-8DD9-4172-A865-72B9B18E9A1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8178922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F3C754-25BE-4F5C-AB68-D771A03BCC90}" type="datetime1">
              <a:rPr lang="en-US" altLang="zh-CN" smtClean="0"/>
              <a:t>3/31/2025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Modelling Transportation Systems · Southeast University · Zhiyuan Liu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15748A-C05D-4102-BCCF-66D346F70087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2626899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533400"/>
            <a:ext cx="2057400" cy="594360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533400"/>
            <a:ext cx="6052930" cy="594360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62560" y="19050"/>
            <a:ext cx="929393" cy="328613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43D20E-ACC7-4DDD-AC28-33869E6ABE9A}" type="datetime1">
              <a:rPr lang="en-US" altLang="zh-CN" smtClean="0"/>
              <a:t>3/31/2025</a:t>
            </a:fld>
            <a:endParaRPr lang="en-US" altLang="zh-C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>
              <a:defRPr/>
            </a:pPr>
            <a:r>
              <a:rPr lang="en-US" altLang="zh-CN" dirty="0"/>
              <a:t>Modelling Transportation Systems · Southeast University · </a:t>
            </a:r>
            <a:r>
              <a:rPr lang="en-US" altLang="zh-CN" dirty="0" err="1"/>
              <a:t>Zhiyuan</a:t>
            </a:r>
            <a:r>
              <a:rPr lang="en-US" altLang="zh-CN" dirty="0"/>
              <a:t> Liu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20738" y="19050"/>
            <a:ext cx="416560" cy="328613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D8EEBC-8FFF-48D5-BA20-8C9570EB2408}" type="slidenum">
              <a:rPr lang="zh-CN" altLang="en-US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6915944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theme" Target="../theme/theme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9"/>
          <p:cNvSpPr>
            <a:spLocks noChangeArrowheads="1"/>
          </p:cNvSpPr>
          <p:nvPr/>
        </p:nvSpPr>
        <p:spPr bwMode="auto">
          <a:xfrm>
            <a:off x="0" y="220663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lang="zh-CN" altLang="en-US">
              <a:solidFill>
                <a:srgbClr val="FFFFFF"/>
              </a:solidFill>
              <a:sym typeface="Arial" panose="020B0604020202020204" pitchFamily="34" charset="0"/>
            </a:endParaRPr>
          </a:p>
        </p:txBody>
      </p:sp>
      <p:sp>
        <p:nvSpPr>
          <p:cNvPr id="1027" name="Title Placeholder 1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457200" y="533400"/>
            <a:ext cx="82296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zh-CN">
                <a:sym typeface="Arial" panose="020B0604020202020204" pitchFamily="34" charset="0"/>
              </a:rPr>
              <a:t>Click to edit Master title style</a:t>
            </a:r>
          </a:p>
        </p:txBody>
      </p:sp>
      <p:sp>
        <p:nvSpPr>
          <p:cNvPr id="1028" name="Text Placeholder 2"/>
          <p:cNvSpPr>
            <a:spLocks noGrp="1" noChangeArrowheads="1"/>
          </p:cNvSpPr>
          <p:nvPr>
            <p:ph type="body" idx="9"/>
          </p:nvPr>
        </p:nvSpPr>
        <p:spPr bwMode="auto">
          <a:xfrm>
            <a:off x="457200" y="1600200"/>
            <a:ext cx="8229600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zh-CN">
                <a:sym typeface="Arial" panose="020B0604020202020204" pitchFamily="34" charset="0"/>
              </a:rPr>
              <a:t>Click to edit Master text styles</a:t>
            </a:r>
          </a:p>
          <a:p>
            <a:pPr lvl="1"/>
            <a:r>
              <a:rPr lang="en-US" altLang="zh-CN">
                <a:sym typeface="Arial" panose="020B0604020202020204" pitchFamily="34" charset="0"/>
              </a:rPr>
              <a:t>Second level</a:t>
            </a:r>
          </a:p>
          <a:p>
            <a:pPr lvl="2"/>
            <a:r>
              <a:rPr lang="en-US" altLang="zh-CN">
                <a:sym typeface="Arial" panose="020B0604020202020204" pitchFamily="34" charset="0"/>
              </a:rPr>
              <a:t>Third level</a:t>
            </a:r>
          </a:p>
          <a:p>
            <a:pPr lvl="3"/>
            <a:r>
              <a:rPr lang="en-US" altLang="zh-CN">
                <a:sym typeface="Arial" panose="020B0604020202020204" pitchFamily="34" charset="0"/>
              </a:rPr>
              <a:t>Fourth level</a:t>
            </a:r>
          </a:p>
          <a:p>
            <a:pPr lvl="4"/>
            <a:r>
              <a:rPr lang="en-US" altLang="zh-CN">
                <a:sym typeface="Arial" panose="020B0604020202020204" pitchFamily="34" charset="0"/>
              </a:rPr>
              <a:t>Fifth level</a:t>
            </a:r>
          </a:p>
        </p:txBody>
      </p:sp>
      <p:sp>
        <p:nvSpPr>
          <p:cNvPr id="1029" name="Rectangle 6"/>
          <p:cNvSpPr>
            <a:spLocks noChangeArrowheads="1"/>
          </p:cNvSpPr>
          <p:nvPr/>
        </p:nvSpPr>
        <p:spPr bwMode="auto">
          <a:xfrm>
            <a:off x="0" y="0"/>
            <a:ext cx="9144000" cy="365125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lang="zh-CN" altLang="en-US">
              <a:solidFill>
                <a:srgbClr val="FFFFFF"/>
              </a:solidFill>
              <a:sym typeface="Arial" panose="020B0604020202020204" pitchFamily="34" charset="0"/>
            </a:endParaRP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9050"/>
            <a:ext cx="2895600" cy="328613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numCol="1" anchor="ctr" anchorCtr="0" compatLnSpc="1"/>
          <a:lstStyle>
            <a:lvl1pPr eaLnBrk="1" hangingPunct="1">
              <a:buFont typeface="Arial" panose="020B0604020202020204" pitchFamily="34" charset="0"/>
              <a:buNone/>
              <a:defRPr sz="12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7338A27D-30C6-4D2F-A07B-72D534ACCDC4}" type="datetime1">
              <a:rPr lang="en-US" altLang="zh-CN" smtClean="0"/>
              <a:pPr>
                <a:defRPr/>
              </a:pPr>
              <a:t>3/31/2025</a:t>
            </a:fld>
            <a:endParaRPr lang="en-US" altLang="zh-CN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9050"/>
            <a:ext cx="4114800" cy="328613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numCol="1" anchor="ctr" anchorCtr="0" compatLnSpc="1"/>
          <a:lstStyle>
            <a:lvl1pPr algn="ctr" eaLnBrk="1" hangingPunct="1">
              <a:buFont typeface="Arial" panose="020B0604020202020204" pitchFamily="34" charset="0"/>
              <a:buNone/>
              <a:defRPr sz="12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9050"/>
            <a:ext cx="1066800" cy="328613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numCol="1" anchor="ctr" anchorCtr="0" compatLnSpc="1"/>
          <a:lstStyle>
            <a:lvl1pPr eaLnBrk="1" hangingPunct="1">
              <a:buFont typeface="Arial" panose="020B0604020202020204" pitchFamily="34" charset="0"/>
              <a:buNone/>
              <a:defRPr sz="1400" b="1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B637DA7A-EB76-4203-8E69-29EB9F37D3B8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marL="914400" indent="-914400" algn="l" rtl="0" eaLnBrk="0" fontAlgn="base" hangingPunct="0">
        <a:spcBef>
          <a:spcPct val="0"/>
        </a:spcBef>
        <a:spcAft>
          <a:spcPct val="0"/>
        </a:spcAft>
        <a:buFont typeface="Arial" panose="020B0604020202020204" pitchFamily="34" charset="0"/>
        <a:defRPr sz="4000" kern="1200">
          <a:solidFill>
            <a:schemeClr val="tx2"/>
          </a:solidFill>
          <a:latin typeface="+mj-lt"/>
          <a:ea typeface="+mj-ea"/>
          <a:cs typeface="+mj-cs"/>
          <a:sym typeface="Arial" panose="020B0604020202020204" pitchFamily="34" charset="0"/>
        </a:defRPr>
      </a:lvl1pPr>
      <a:lvl2pPr marL="914400" indent="-914400" algn="l" rtl="0" eaLnBrk="0" fontAlgn="base" hangingPunct="0">
        <a:spcBef>
          <a:spcPct val="0"/>
        </a:spcBef>
        <a:spcAft>
          <a:spcPct val="0"/>
        </a:spcAft>
        <a:buFont typeface="Arial" panose="020B0604020202020204" pitchFamily="34" charset="0"/>
        <a:defRPr sz="40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sym typeface="Arial" panose="020B0604020202020204" pitchFamily="34" charset="0"/>
        </a:defRPr>
      </a:lvl2pPr>
      <a:lvl3pPr marL="914400" indent="-914400" algn="l" rtl="0" eaLnBrk="0" fontAlgn="base" hangingPunct="0">
        <a:spcBef>
          <a:spcPct val="0"/>
        </a:spcBef>
        <a:spcAft>
          <a:spcPct val="0"/>
        </a:spcAft>
        <a:buFont typeface="Arial" panose="020B0604020202020204" pitchFamily="34" charset="0"/>
        <a:defRPr sz="40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sym typeface="Arial" panose="020B0604020202020204" pitchFamily="34" charset="0"/>
        </a:defRPr>
      </a:lvl3pPr>
      <a:lvl4pPr marL="914400" indent="-914400" algn="l" rtl="0" eaLnBrk="0" fontAlgn="base" hangingPunct="0">
        <a:spcBef>
          <a:spcPct val="0"/>
        </a:spcBef>
        <a:spcAft>
          <a:spcPct val="0"/>
        </a:spcAft>
        <a:buFont typeface="Arial" panose="020B0604020202020204" pitchFamily="34" charset="0"/>
        <a:defRPr sz="40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sym typeface="Arial" panose="020B0604020202020204" pitchFamily="34" charset="0"/>
        </a:defRPr>
      </a:lvl4pPr>
      <a:lvl5pPr marL="914400" indent="-914400" algn="l" rtl="0" eaLnBrk="0" fontAlgn="base" hangingPunct="0">
        <a:spcBef>
          <a:spcPct val="0"/>
        </a:spcBef>
        <a:spcAft>
          <a:spcPct val="0"/>
        </a:spcAft>
        <a:buFont typeface="Arial" panose="020B0604020202020204" pitchFamily="34" charset="0"/>
        <a:defRPr sz="40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sym typeface="Arial" panose="020B0604020202020204" pitchFamily="34" charset="0"/>
        </a:defRPr>
      </a:lvl5pPr>
      <a:lvl6pPr marL="1371600" indent="-914400" algn="l" rtl="0" fontAlgn="base">
        <a:spcBef>
          <a:spcPct val="0"/>
        </a:spcBef>
        <a:spcAft>
          <a:spcPct val="0"/>
        </a:spcAft>
        <a:buFont typeface="Arial" panose="020B0604020202020204" pitchFamily="34" charset="0"/>
        <a:defRPr sz="40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sym typeface="Arial" panose="020B0604020202020204" pitchFamily="34" charset="0"/>
        </a:defRPr>
      </a:lvl6pPr>
      <a:lvl7pPr marL="1828800" indent="-914400" algn="l" rtl="0" fontAlgn="base">
        <a:spcBef>
          <a:spcPct val="0"/>
        </a:spcBef>
        <a:spcAft>
          <a:spcPct val="0"/>
        </a:spcAft>
        <a:buFont typeface="Arial" panose="020B0604020202020204" pitchFamily="34" charset="0"/>
        <a:defRPr sz="40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sym typeface="Arial" panose="020B0604020202020204" pitchFamily="34" charset="0"/>
        </a:defRPr>
      </a:lvl7pPr>
      <a:lvl8pPr marL="2286000" indent="-914400" algn="l" rtl="0" fontAlgn="base">
        <a:spcBef>
          <a:spcPct val="0"/>
        </a:spcBef>
        <a:spcAft>
          <a:spcPct val="0"/>
        </a:spcAft>
        <a:buFont typeface="Arial" panose="020B0604020202020204" pitchFamily="34" charset="0"/>
        <a:defRPr sz="40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sym typeface="Arial" panose="020B0604020202020204" pitchFamily="34" charset="0"/>
        </a:defRPr>
      </a:lvl8pPr>
      <a:lvl9pPr marL="2743200" indent="-914400" algn="l" rtl="0" fontAlgn="base">
        <a:spcBef>
          <a:spcPct val="0"/>
        </a:spcBef>
        <a:spcAft>
          <a:spcPct val="0"/>
        </a:spcAft>
        <a:buFont typeface="Arial" panose="020B0604020202020204" pitchFamily="34" charset="0"/>
        <a:defRPr sz="40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sym typeface="Arial" panose="020B0604020202020204" pitchFamily="34" charset="0"/>
        </a:defRPr>
      </a:lvl9pPr>
    </p:titleStyle>
    <p:bodyStyle>
      <a:lvl1pPr marL="182880" indent="-18288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85000"/>
        <a:buFont typeface="Wingdings" panose="05000000000000000000" pitchFamily="2" charset="2"/>
        <a:buChar char="q"/>
        <a:defRPr sz="24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1pPr>
      <a:lvl2pPr marL="457200" lvl="1" indent="-18288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85000"/>
        <a:buFont typeface="Wingdings" panose="05000000000000000000" pitchFamily="2" charset="2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2pPr>
      <a:lvl3pPr marL="732155" lvl="2" indent="-18288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90000"/>
        <a:buFont typeface="Wingdings" panose="05000000000000000000" pitchFamily="2" charset="2"/>
        <a:buChar char="•"/>
        <a:defRPr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3pPr>
      <a:lvl4pPr marL="1006475" lvl="3" indent="-18288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90000"/>
        <a:buFont typeface="Wingdings" panose="05000000000000000000" pitchFamily="2" charset="2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4pPr>
      <a:lvl5pPr marL="1189355" lvl="4" indent="-13652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Wingdings" panose="05000000000000000000" pitchFamily="2" charset="2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Wingdings" panose="05000000000000000000" pitchFamily="2" charset="2"/>
        <a:buChar char="•"/>
        <a:defRPr sz="1400" b="0" i="0" u="none" kern="1200" baseline="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Wingdings" panose="05000000000000000000" pitchFamily="2" charset="2"/>
        <a:buChar char="•"/>
        <a:defRPr sz="1400" b="0" i="0" u="none" kern="1200" baseline="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Wingdings" panose="05000000000000000000" pitchFamily="2" charset="2"/>
        <a:buChar char="•"/>
        <a:defRPr sz="1400" b="0" i="0" u="none" kern="1200" baseline="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Wingdings" panose="05000000000000000000" pitchFamily="2" charset="2"/>
        <a:buChar char="•"/>
        <a:defRPr sz="1400" b="0" i="0" u="none" kern="1200" baseline="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8288"/>
            <a:ext cx="28956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FD70FFF6-362C-424A-B0F3-C4B24C04CF55}" type="datetime1">
              <a:rPr lang="en-US" altLang="zh-CN" smtClean="0"/>
              <a:pPr/>
              <a:t>3/31/2025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/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9"/>
          <p:cNvSpPr>
            <a:spLocks noChangeArrowheads="1"/>
          </p:cNvSpPr>
          <p:nvPr/>
        </p:nvSpPr>
        <p:spPr bwMode="auto">
          <a:xfrm>
            <a:off x="0" y="220663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lang="zh-CN" altLang="en-US">
              <a:solidFill>
                <a:srgbClr val="FFFFFF"/>
              </a:solidFill>
              <a:sym typeface="Arial" panose="020B0604020202020204" pitchFamily="34" charset="0"/>
            </a:endParaRPr>
          </a:p>
        </p:txBody>
      </p:sp>
      <p:sp>
        <p:nvSpPr>
          <p:cNvPr id="1027" name="Title Placeholder 1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457200" y="533400"/>
            <a:ext cx="82296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>
                <a:sym typeface="Arial" panose="020B0604020202020204" pitchFamily="34" charset="0"/>
              </a:rPr>
              <a:t>Click to edit Master title style</a:t>
            </a:r>
          </a:p>
        </p:txBody>
      </p:sp>
      <p:sp>
        <p:nvSpPr>
          <p:cNvPr id="1028" name="Text Placeholder 2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457200" y="1600200"/>
            <a:ext cx="8229600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>
                <a:sym typeface="Arial" panose="020B0604020202020204" pitchFamily="34" charset="0"/>
              </a:rPr>
              <a:t>Click to edit Master text styles</a:t>
            </a:r>
          </a:p>
          <a:p>
            <a:pPr lvl="1"/>
            <a:r>
              <a:rPr lang="en-US" altLang="zh-CN">
                <a:sym typeface="Arial" panose="020B0604020202020204" pitchFamily="34" charset="0"/>
              </a:rPr>
              <a:t>Second level</a:t>
            </a:r>
          </a:p>
          <a:p>
            <a:pPr lvl="2"/>
            <a:r>
              <a:rPr lang="en-US" altLang="zh-CN">
                <a:sym typeface="Arial" panose="020B0604020202020204" pitchFamily="34" charset="0"/>
              </a:rPr>
              <a:t>Third level</a:t>
            </a:r>
          </a:p>
          <a:p>
            <a:pPr lvl="3"/>
            <a:r>
              <a:rPr lang="en-US" altLang="zh-CN">
                <a:sym typeface="Arial" panose="020B0604020202020204" pitchFamily="34" charset="0"/>
              </a:rPr>
              <a:t>Fourth level</a:t>
            </a:r>
          </a:p>
          <a:p>
            <a:pPr lvl="4"/>
            <a:r>
              <a:rPr lang="en-US" altLang="zh-CN">
                <a:sym typeface="Arial" panose="020B0604020202020204" pitchFamily="34" charset="0"/>
              </a:rPr>
              <a:t>Fifth level</a:t>
            </a:r>
          </a:p>
        </p:txBody>
      </p:sp>
      <p:sp>
        <p:nvSpPr>
          <p:cNvPr id="1029" name="Rectangle 6"/>
          <p:cNvSpPr>
            <a:spLocks noChangeArrowheads="1"/>
          </p:cNvSpPr>
          <p:nvPr/>
        </p:nvSpPr>
        <p:spPr bwMode="auto">
          <a:xfrm>
            <a:off x="0" y="0"/>
            <a:ext cx="9144000" cy="365125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lang="zh-CN" altLang="en-US">
              <a:solidFill>
                <a:srgbClr val="FFFFFF"/>
              </a:solidFill>
              <a:sym typeface="Arial" panose="020B0604020202020204" pitchFamily="34" charset="0"/>
            </a:endParaRP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2"/>
          </p:nvPr>
        </p:nvSpPr>
        <p:spPr>
          <a:xfrm>
            <a:off x="162560" y="19050"/>
            <a:ext cx="2895600" cy="328613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buFont typeface="Arial" panose="020B0604020202020204" pitchFamily="34" charset="0"/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6E2D4AB0-441C-42B1-813F-D0D36EDB80B8}" type="datetime1">
              <a:rPr lang="en-US" altLang="zh-CN" smtClean="0"/>
              <a:t>3/31/2025</a:t>
            </a:fld>
            <a:endParaRPr lang="en-US" altLang="zh-CN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6407" y="19050"/>
            <a:ext cx="4831731" cy="328613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buFont typeface="Arial" panose="020B0604020202020204" pitchFamily="34" charset="0"/>
              <a:buNone/>
              <a:defRPr sz="1000" b="1">
                <a:solidFill>
                  <a:srgbClr val="FFFFFF"/>
                </a:solidFill>
              </a:defRPr>
            </a:lvl1pPr>
          </a:lstStyle>
          <a:p>
            <a:pPr algn="r">
              <a:defRPr/>
            </a:pPr>
            <a:r>
              <a:rPr lang="en-US" altLang="zh-CN" dirty="0"/>
              <a:t>Modelling Transportation Systems · Southeast University · </a:t>
            </a:r>
            <a:r>
              <a:rPr lang="en-US" altLang="zh-CN" dirty="0" err="1"/>
              <a:t>Zhiyuan</a:t>
            </a:r>
            <a:r>
              <a:rPr lang="en-US" altLang="zh-CN" dirty="0"/>
              <a:t> Liu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56250" y="19050"/>
            <a:ext cx="387750" cy="328613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buFont typeface="Arial" panose="020B0604020202020204" pitchFamily="34" charset="0"/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5067211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</p:sldLayoutIdLst>
  <p:hf hdr="0"/>
  <p:txStyles>
    <p:titleStyle>
      <a:lvl1pPr marL="914400" indent="-914400" algn="l" rtl="0" eaLnBrk="0" fontAlgn="base" hangingPunct="0">
        <a:spcBef>
          <a:spcPct val="0"/>
        </a:spcBef>
        <a:spcAft>
          <a:spcPct val="0"/>
        </a:spcAft>
        <a:buFont typeface="Arial" panose="020B0604020202020204" pitchFamily="34" charset="0"/>
        <a:defRPr sz="4000" kern="1200">
          <a:solidFill>
            <a:schemeClr val="tx2"/>
          </a:solidFill>
          <a:latin typeface="+mj-lt"/>
          <a:ea typeface="+mj-ea"/>
          <a:cs typeface="+mj-cs"/>
          <a:sym typeface="Arial" panose="020B0604020202020204" pitchFamily="34" charset="0"/>
        </a:defRPr>
      </a:lvl1pPr>
      <a:lvl2pPr marL="914400" indent="-914400" algn="l" rtl="0" eaLnBrk="0" fontAlgn="base" hangingPunct="0">
        <a:spcBef>
          <a:spcPct val="0"/>
        </a:spcBef>
        <a:spcAft>
          <a:spcPct val="0"/>
        </a:spcAft>
        <a:buFont typeface="Arial" panose="020B0604020202020204" pitchFamily="34" charset="0"/>
        <a:defRPr sz="40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sym typeface="Arial" panose="020B0604020202020204" pitchFamily="34" charset="0"/>
        </a:defRPr>
      </a:lvl2pPr>
      <a:lvl3pPr marL="914400" indent="-914400" algn="l" rtl="0" eaLnBrk="0" fontAlgn="base" hangingPunct="0">
        <a:spcBef>
          <a:spcPct val="0"/>
        </a:spcBef>
        <a:spcAft>
          <a:spcPct val="0"/>
        </a:spcAft>
        <a:buFont typeface="Arial" panose="020B0604020202020204" pitchFamily="34" charset="0"/>
        <a:defRPr sz="40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sym typeface="Arial" panose="020B0604020202020204" pitchFamily="34" charset="0"/>
        </a:defRPr>
      </a:lvl3pPr>
      <a:lvl4pPr marL="914400" indent="-914400" algn="l" rtl="0" eaLnBrk="0" fontAlgn="base" hangingPunct="0">
        <a:spcBef>
          <a:spcPct val="0"/>
        </a:spcBef>
        <a:spcAft>
          <a:spcPct val="0"/>
        </a:spcAft>
        <a:buFont typeface="Arial" panose="020B0604020202020204" pitchFamily="34" charset="0"/>
        <a:defRPr sz="40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sym typeface="Arial" panose="020B0604020202020204" pitchFamily="34" charset="0"/>
        </a:defRPr>
      </a:lvl4pPr>
      <a:lvl5pPr marL="914400" indent="-914400" algn="l" rtl="0" eaLnBrk="0" fontAlgn="base" hangingPunct="0">
        <a:spcBef>
          <a:spcPct val="0"/>
        </a:spcBef>
        <a:spcAft>
          <a:spcPct val="0"/>
        </a:spcAft>
        <a:buFont typeface="Arial" panose="020B0604020202020204" pitchFamily="34" charset="0"/>
        <a:defRPr sz="40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sym typeface="Arial" panose="020B0604020202020204" pitchFamily="34" charset="0"/>
        </a:defRPr>
      </a:lvl5pPr>
      <a:lvl6pPr marL="1371600" indent="-914400" algn="l" rtl="0" fontAlgn="base">
        <a:spcBef>
          <a:spcPct val="0"/>
        </a:spcBef>
        <a:spcAft>
          <a:spcPct val="0"/>
        </a:spcAft>
        <a:buFont typeface="Arial" panose="020B0604020202020204" pitchFamily="34" charset="0"/>
        <a:defRPr sz="40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sym typeface="Arial" panose="020B0604020202020204" pitchFamily="34" charset="0"/>
        </a:defRPr>
      </a:lvl6pPr>
      <a:lvl7pPr marL="1828800" indent="-914400" algn="l" rtl="0" fontAlgn="base">
        <a:spcBef>
          <a:spcPct val="0"/>
        </a:spcBef>
        <a:spcAft>
          <a:spcPct val="0"/>
        </a:spcAft>
        <a:buFont typeface="Arial" panose="020B0604020202020204" pitchFamily="34" charset="0"/>
        <a:defRPr sz="40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sym typeface="Arial" panose="020B0604020202020204" pitchFamily="34" charset="0"/>
        </a:defRPr>
      </a:lvl7pPr>
      <a:lvl8pPr marL="2286000" indent="-914400" algn="l" rtl="0" fontAlgn="base">
        <a:spcBef>
          <a:spcPct val="0"/>
        </a:spcBef>
        <a:spcAft>
          <a:spcPct val="0"/>
        </a:spcAft>
        <a:buFont typeface="Arial" panose="020B0604020202020204" pitchFamily="34" charset="0"/>
        <a:defRPr sz="40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sym typeface="Arial" panose="020B0604020202020204" pitchFamily="34" charset="0"/>
        </a:defRPr>
      </a:lvl8pPr>
      <a:lvl9pPr marL="2743200" indent="-914400" algn="l" rtl="0" fontAlgn="base">
        <a:spcBef>
          <a:spcPct val="0"/>
        </a:spcBef>
        <a:spcAft>
          <a:spcPct val="0"/>
        </a:spcAft>
        <a:buFont typeface="Arial" panose="020B0604020202020204" pitchFamily="34" charset="0"/>
        <a:defRPr sz="40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sym typeface="Arial" panose="020B0604020202020204" pitchFamily="34" charset="0"/>
        </a:defRPr>
      </a:lvl9pPr>
    </p:titleStyle>
    <p:bodyStyle>
      <a:lvl1pPr marL="182563" indent="-182563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85000"/>
        <a:buFont typeface="Wingdings" panose="05000000000000000000" pitchFamily="2" charset="2"/>
        <a:buChar char="q"/>
        <a:defRPr sz="24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1pPr>
      <a:lvl2pPr marL="457200" lvl="1" indent="-182563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85000"/>
        <a:buFont typeface="Wingdings" panose="05000000000000000000" pitchFamily="2" charset="2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2pPr>
      <a:lvl3pPr marL="731838" lvl="2" indent="-182563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90000"/>
        <a:buFont typeface="Wingdings" panose="05000000000000000000" pitchFamily="2" charset="2"/>
        <a:buChar char="•"/>
        <a:defRPr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3pPr>
      <a:lvl4pPr marL="1006475" lvl="3" indent="-182563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90000"/>
        <a:buFont typeface="Wingdings" panose="05000000000000000000" pitchFamily="2" charset="2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4pPr>
      <a:lvl5pPr marL="1189038" lvl="4" indent="-13652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Wingdings" panose="05000000000000000000" pitchFamily="2" charset="2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Wingdings" pitchFamily="2" charset="2"/>
        <a:buChar char="•"/>
        <a:defRPr sz="1400" b="0" i="0" u="none" kern="1200" baseline="0">
          <a:solidFill>
            <a:schemeClr val="tx1"/>
          </a:solidFill>
          <a:latin typeface="+mn-lt"/>
          <a:ea typeface="+mn-ea"/>
          <a:cs typeface="+mn-cs"/>
          <a:sym typeface="Arial" pitchFamily="34" charset="0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Wingdings" pitchFamily="2" charset="2"/>
        <a:buChar char="•"/>
        <a:defRPr sz="1400" b="0" i="0" u="none" kern="1200" baseline="0">
          <a:solidFill>
            <a:schemeClr val="tx1"/>
          </a:solidFill>
          <a:latin typeface="+mn-lt"/>
          <a:ea typeface="+mn-ea"/>
          <a:cs typeface="+mn-cs"/>
          <a:sym typeface="Arial" pitchFamily="34" charset="0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Wingdings" pitchFamily="2" charset="2"/>
        <a:buChar char="•"/>
        <a:defRPr sz="1400" b="0" i="0" u="none" kern="1200" baseline="0">
          <a:solidFill>
            <a:schemeClr val="tx1"/>
          </a:solidFill>
          <a:latin typeface="+mn-lt"/>
          <a:ea typeface="+mn-ea"/>
          <a:cs typeface="+mn-cs"/>
          <a:sym typeface="Arial" pitchFamily="34" charset="0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Wingdings" pitchFamily="2" charset="2"/>
        <a:buChar char="•"/>
        <a:defRPr sz="1400" b="0" i="0" u="none" kern="1200" baseline="0">
          <a:solidFill>
            <a:schemeClr val="tx1"/>
          </a:solidFill>
          <a:latin typeface="+mn-lt"/>
          <a:ea typeface="+mn-ea"/>
          <a:cs typeface="+mn-cs"/>
          <a:sym typeface="Arial" pitchFamily="34" charset="0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8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8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4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wmf"/><Relationship Id="rId3" Type="http://schemas.openxmlformats.org/officeDocument/2006/relationships/oleObject" Target="../embeddings/oleObject2.bin"/><Relationship Id="rId7" Type="http://schemas.openxmlformats.org/officeDocument/2006/relationships/oleObject" Target="../embeddings/oleObject4.bin"/><Relationship Id="rId12" Type="http://schemas.openxmlformats.org/officeDocument/2006/relationships/image" Target="../media/image9.wmf"/><Relationship Id="rId2" Type="http://schemas.openxmlformats.org/officeDocument/2006/relationships/slideLayout" Target="../slideLayouts/slideLayout28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6.wmf"/><Relationship Id="rId11" Type="http://schemas.openxmlformats.org/officeDocument/2006/relationships/oleObject" Target="../embeddings/oleObject6.bin"/><Relationship Id="rId5" Type="http://schemas.openxmlformats.org/officeDocument/2006/relationships/oleObject" Target="../embeddings/oleObject3.bin"/><Relationship Id="rId10" Type="http://schemas.openxmlformats.org/officeDocument/2006/relationships/image" Target="../media/image8.wmf"/><Relationship Id="rId4" Type="http://schemas.openxmlformats.org/officeDocument/2006/relationships/image" Target="../media/image5.wmf"/><Relationship Id="rId9" Type="http://schemas.openxmlformats.org/officeDocument/2006/relationships/oleObject" Target="../embeddings/oleObject5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oleObject" Target="../embeddings/oleObject7.bin"/><Relationship Id="rId7" Type="http://schemas.openxmlformats.org/officeDocument/2006/relationships/image" Target="../media/image11.wmf"/><Relationship Id="rId2" Type="http://schemas.openxmlformats.org/officeDocument/2006/relationships/slideLayout" Target="../slideLayouts/slideLayout28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8.bin"/><Relationship Id="rId5" Type="http://schemas.openxmlformats.org/officeDocument/2006/relationships/image" Target="../media/image12.png"/><Relationship Id="rId4" Type="http://schemas.openxmlformats.org/officeDocument/2006/relationships/image" Target="../media/image10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emf"/><Relationship Id="rId3" Type="http://schemas.openxmlformats.org/officeDocument/2006/relationships/oleObject" Target="../embeddings/oleObject9.bin"/><Relationship Id="rId7" Type="http://schemas.openxmlformats.org/officeDocument/2006/relationships/oleObject" Target="../embeddings/oleObject11.bin"/><Relationship Id="rId2" Type="http://schemas.openxmlformats.org/officeDocument/2006/relationships/slideLayout" Target="../slideLayouts/slideLayout28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5.wmf"/><Relationship Id="rId5" Type="http://schemas.openxmlformats.org/officeDocument/2006/relationships/oleObject" Target="../embeddings/oleObject10.bin"/><Relationship Id="rId10" Type="http://schemas.openxmlformats.org/officeDocument/2006/relationships/image" Target="../media/image17.emf"/><Relationship Id="rId4" Type="http://schemas.openxmlformats.org/officeDocument/2006/relationships/image" Target="../media/image14.wmf"/><Relationship Id="rId9" Type="http://schemas.openxmlformats.org/officeDocument/2006/relationships/oleObject" Target="../embeddings/oleObject12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emf"/><Relationship Id="rId3" Type="http://schemas.openxmlformats.org/officeDocument/2006/relationships/oleObject" Target="../embeddings/oleObject13.bin"/><Relationship Id="rId7" Type="http://schemas.openxmlformats.org/officeDocument/2006/relationships/oleObject" Target="../embeddings/oleObject15.bin"/><Relationship Id="rId2" Type="http://schemas.openxmlformats.org/officeDocument/2006/relationships/slideLayout" Target="../slideLayouts/slideLayout28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9.wmf"/><Relationship Id="rId5" Type="http://schemas.openxmlformats.org/officeDocument/2006/relationships/oleObject" Target="../embeddings/oleObject14.bin"/><Relationship Id="rId4" Type="http://schemas.openxmlformats.org/officeDocument/2006/relationships/image" Target="../media/image18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wmf"/><Relationship Id="rId13" Type="http://schemas.openxmlformats.org/officeDocument/2006/relationships/oleObject" Target="../embeddings/oleObject21.bin"/><Relationship Id="rId18" Type="http://schemas.openxmlformats.org/officeDocument/2006/relationships/oleObject" Target="../embeddings/oleObject24.bin"/><Relationship Id="rId3" Type="http://schemas.openxmlformats.org/officeDocument/2006/relationships/oleObject" Target="../embeddings/oleObject16.bin"/><Relationship Id="rId7" Type="http://schemas.openxmlformats.org/officeDocument/2006/relationships/oleObject" Target="../embeddings/oleObject18.bin"/><Relationship Id="rId12" Type="http://schemas.openxmlformats.org/officeDocument/2006/relationships/image" Target="../media/image25.wmf"/><Relationship Id="rId17" Type="http://schemas.openxmlformats.org/officeDocument/2006/relationships/oleObject" Target="../embeddings/oleObject23.bin"/><Relationship Id="rId2" Type="http://schemas.openxmlformats.org/officeDocument/2006/relationships/slideLayout" Target="../slideLayouts/slideLayout28.xml"/><Relationship Id="rId16" Type="http://schemas.openxmlformats.org/officeDocument/2006/relationships/image" Target="../media/image27.wmf"/><Relationship Id="rId1" Type="http://schemas.openxmlformats.org/officeDocument/2006/relationships/vmlDrawing" Target="../drawings/vmlDrawing6.vml"/><Relationship Id="rId6" Type="http://schemas.openxmlformats.org/officeDocument/2006/relationships/image" Target="../media/image22.wmf"/><Relationship Id="rId11" Type="http://schemas.openxmlformats.org/officeDocument/2006/relationships/oleObject" Target="../embeddings/oleObject20.bin"/><Relationship Id="rId5" Type="http://schemas.openxmlformats.org/officeDocument/2006/relationships/oleObject" Target="../embeddings/oleObject17.bin"/><Relationship Id="rId15" Type="http://schemas.openxmlformats.org/officeDocument/2006/relationships/oleObject" Target="../embeddings/oleObject22.bin"/><Relationship Id="rId10" Type="http://schemas.openxmlformats.org/officeDocument/2006/relationships/image" Target="../media/image24.wmf"/><Relationship Id="rId4" Type="http://schemas.openxmlformats.org/officeDocument/2006/relationships/image" Target="../media/image21.wmf"/><Relationship Id="rId9" Type="http://schemas.openxmlformats.org/officeDocument/2006/relationships/oleObject" Target="../embeddings/oleObject19.bin"/><Relationship Id="rId14" Type="http://schemas.openxmlformats.org/officeDocument/2006/relationships/image" Target="../media/image26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7.bin"/><Relationship Id="rId3" Type="http://schemas.openxmlformats.org/officeDocument/2006/relationships/image" Target="../media/image32.jpeg"/><Relationship Id="rId7" Type="http://schemas.openxmlformats.org/officeDocument/2006/relationships/image" Target="../media/image29.wmf"/><Relationship Id="rId2" Type="http://schemas.openxmlformats.org/officeDocument/2006/relationships/slideLayout" Target="../slideLayouts/slideLayout28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26.bin"/><Relationship Id="rId11" Type="http://schemas.openxmlformats.org/officeDocument/2006/relationships/image" Target="../media/image31.wmf"/><Relationship Id="rId5" Type="http://schemas.openxmlformats.org/officeDocument/2006/relationships/image" Target="../media/image28.wmf"/><Relationship Id="rId10" Type="http://schemas.openxmlformats.org/officeDocument/2006/relationships/oleObject" Target="../embeddings/oleObject28.bin"/><Relationship Id="rId4" Type="http://schemas.openxmlformats.org/officeDocument/2006/relationships/oleObject" Target="../embeddings/oleObject25.bin"/><Relationship Id="rId9" Type="http://schemas.openxmlformats.org/officeDocument/2006/relationships/image" Target="../media/image30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wmf"/><Relationship Id="rId13" Type="http://schemas.openxmlformats.org/officeDocument/2006/relationships/oleObject" Target="../embeddings/oleObject34.bin"/><Relationship Id="rId3" Type="http://schemas.openxmlformats.org/officeDocument/2006/relationships/oleObject" Target="../embeddings/oleObject29.bin"/><Relationship Id="rId7" Type="http://schemas.openxmlformats.org/officeDocument/2006/relationships/oleObject" Target="../embeddings/oleObject31.bin"/><Relationship Id="rId12" Type="http://schemas.openxmlformats.org/officeDocument/2006/relationships/image" Target="../media/image37.wmf"/><Relationship Id="rId2" Type="http://schemas.openxmlformats.org/officeDocument/2006/relationships/slideLayout" Target="../slideLayouts/slideLayout28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34.wmf"/><Relationship Id="rId11" Type="http://schemas.openxmlformats.org/officeDocument/2006/relationships/oleObject" Target="../embeddings/oleObject33.bin"/><Relationship Id="rId5" Type="http://schemas.openxmlformats.org/officeDocument/2006/relationships/oleObject" Target="../embeddings/oleObject30.bin"/><Relationship Id="rId10" Type="http://schemas.openxmlformats.org/officeDocument/2006/relationships/image" Target="../media/image36.wmf"/><Relationship Id="rId4" Type="http://schemas.openxmlformats.org/officeDocument/2006/relationships/image" Target="../media/image33.wmf"/><Relationship Id="rId9" Type="http://schemas.openxmlformats.org/officeDocument/2006/relationships/oleObject" Target="../embeddings/oleObject32.bin"/><Relationship Id="rId14" Type="http://schemas.openxmlformats.org/officeDocument/2006/relationships/image" Target="../media/image38.w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9.vml"/><Relationship Id="rId5" Type="http://schemas.openxmlformats.org/officeDocument/2006/relationships/image" Target="../media/image39.wmf"/><Relationship Id="rId4" Type="http://schemas.openxmlformats.org/officeDocument/2006/relationships/oleObject" Target="../embeddings/oleObject35.bin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wmf"/><Relationship Id="rId3" Type="http://schemas.openxmlformats.org/officeDocument/2006/relationships/oleObject" Target="../embeddings/oleObject36.bin"/><Relationship Id="rId7" Type="http://schemas.openxmlformats.org/officeDocument/2006/relationships/oleObject" Target="../embeddings/oleObject38.bin"/><Relationship Id="rId12" Type="http://schemas.openxmlformats.org/officeDocument/2006/relationships/image" Target="../media/image46.wmf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43.wmf"/><Relationship Id="rId11" Type="http://schemas.openxmlformats.org/officeDocument/2006/relationships/oleObject" Target="../embeddings/oleObject40.bin"/><Relationship Id="rId5" Type="http://schemas.openxmlformats.org/officeDocument/2006/relationships/oleObject" Target="../embeddings/oleObject37.bin"/><Relationship Id="rId10" Type="http://schemas.openxmlformats.org/officeDocument/2006/relationships/image" Target="../media/image45.wmf"/><Relationship Id="rId4" Type="http://schemas.openxmlformats.org/officeDocument/2006/relationships/image" Target="../media/image42.wmf"/><Relationship Id="rId9" Type="http://schemas.openxmlformats.org/officeDocument/2006/relationships/oleObject" Target="../embeddings/oleObject39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wmf"/><Relationship Id="rId3" Type="http://schemas.openxmlformats.org/officeDocument/2006/relationships/oleObject" Target="../embeddings/oleObject41.bin"/><Relationship Id="rId7" Type="http://schemas.openxmlformats.org/officeDocument/2006/relationships/oleObject" Target="../embeddings/oleObject43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48.wmf"/><Relationship Id="rId5" Type="http://schemas.openxmlformats.org/officeDocument/2006/relationships/oleObject" Target="../embeddings/oleObject42.bin"/><Relationship Id="rId10" Type="http://schemas.openxmlformats.org/officeDocument/2006/relationships/image" Target="../media/image50.wmf"/><Relationship Id="rId4" Type="http://schemas.openxmlformats.org/officeDocument/2006/relationships/image" Target="../media/image47.wmf"/><Relationship Id="rId9" Type="http://schemas.openxmlformats.org/officeDocument/2006/relationships/oleObject" Target="../embeddings/oleObject44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wmf"/><Relationship Id="rId3" Type="http://schemas.openxmlformats.org/officeDocument/2006/relationships/oleObject" Target="../embeddings/oleObject45.bin"/><Relationship Id="rId7" Type="http://schemas.openxmlformats.org/officeDocument/2006/relationships/oleObject" Target="../embeddings/oleObject47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52.wmf"/><Relationship Id="rId5" Type="http://schemas.openxmlformats.org/officeDocument/2006/relationships/oleObject" Target="../embeddings/oleObject46.bin"/><Relationship Id="rId10" Type="http://schemas.openxmlformats.org/officeDocument/2006/relationships/image" Target="NULL"/><Relationship Id="rId4" Type="http://schemas.openxmlformats.org/officeDocument/2006/relationships/image" Target="../media/image51.wmf"/><Relationship Id="rId9" Type="http://schemas.openxmlformats.org/officeDocument/2006/relationships/image" Target="../media/image54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0.bin"/><Relationship Id="rId13" Type="http://schemas.openxmlformats.org/officeDocument/2006/relationships/image" Target="../media/image59.wmf"/><Relationship Id="rId18" Type="http://schemas.openxmlformats.org/officeDocument/2006/relationships/oleObject" Target="../embeddings/oleObject55.bin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56.wmf"/><Relationship Id="rId12" Type="http://schemas.openxmlformats.org/officeDocument/2006/relationships/oleObject" Target="../embeddings/oleObject52.bin"/><Relationship Id="rId17" Type="http://schemas.openxmlformats.org/officeDocument/2006/relationships/oleObject" Target="../embeddings/oleObject54.bin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60.wmf"/><Relationship Id="rId1" Type="http://schemas.openxmlformats.org/officeDocument/2006/relationships/vmlDrawing" Target="../drawings/vmlDrawing13.vml"/><Relationship Id="rId6" Type="http://schemas.openxmlformats.org/officeDocument/2006/relationships/oleObject" Target="../embeddings/oleObject49.bin"/><Relationship Id="rId11" Type="http://schemas.openxmlformats.org/officeDocument/2006/relationships/image" Target="../media/image58.wmf"/><Relationship Id="rId5" Type="http://schemas.openxmlformats.org/officeDocument/2006/relationships/image" Target="../media/image55.wmf"/><Relationship Id="rId15" Type="http://schemas.openxmlformats.org/officeDocument/2006/relationships/oleObject" Target="../embeddings/oleObject53.bin"/><Relationship Id="rId10" Type="http://schemas.openxmlformats.org/officeDocument/2006/relationships/oleObject" Target="../embeddings/oleObject51.bin"/><Relationship Id="rId4" Type="http://schemas.openxmlformats.org/officeDocument/2006/relationships/oleObject" Target="../embeddings/oleObject48.bin"/><Relationship Id="rId9" Type="http://schemas.openxmlformats.org/officeDocument/2006/relationships/image" Target="../media/image57.wmf"/><Relationship Id="rId14" Type="http://schemas.openxmlformats.org/officeDocument/2006/relationships/image" Target="../media/image61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8.bin"/><Relationship Id="rId13" Type="http://schemas.openxmlformats.org/officeDocument/2006/relationships/image" Target="../media/image66.wmf"/><Relationship Id="rId18" Type="http://schemas.openxmlformats.org/officeDocument/2006/relationships/oleObject" Target="../embeddings/oleObject63.bin"/><Relationship Id="rId3" Type="http://schemas.openxmlformats.org/officeDocument/2006/relationships/notesSlide" Target="../notesSlides/notesSlide2.xml"/><Relationship Id="rId21" Type="http://schemas.openxmlformats.org/officeDocument/2006/relationships/oleObject" Target="../embeddings/oleObject65.bin"/><Relationship Id="rId7" Type="http://schemas.openxmlformats.org/officeDocument/2006/relationships/image" Target="../media/image63.wmf"/><Relationship Id="rId12" Type="http://schemas.openxmlformats.org/officeDocument/2006/relationships/oleObject" Target="../embeddings/oleObject60.bin"/><Relationship Id="rId17" Type="http://schemas.openxmlformats.org/officeDocument/2006/relationships/image" Target="../media/image68.wmf"/><Relationship Id="rId2" Type="http://schemas.openxmlformats.org/officeDocument/2006/relationships/slideLayout" Target="../slideLayouts/slideLayout13.xml"/><Relationship Id="rId16" Type="http://schemas.openxmlformats.org/officeDocument/2006/relationships/oleObject" Target="../embeddings/oleObject62.bin"/><Relationship Id="rId20" Type="http://schemas.openxmlformats.org/officeDocument/2006/relationships/oleObject" Target="../embeddings/oleObject64.bin"/><Relationship Id="rId1" Type="http://schemas.openxmlformats.org/officeDocument/2006/relationships/vmlDrawing" Target="../drawings/vmlDrawing14.vml"/><Relationship Id="rId6" Type="http://schemas.openxmlformats.org/officeDocument/2006/relationships/oleObject" Target="../embeddings/oleObject57.bin"/><Relationship Id="rId11" Type="http://schemas.openxmlformats.org/officeDocument/2006/relationships/image" Target="../media/image65.wmf"/><Relationship Id="rId5" Type="http://schemas.openxmlformats.org/officeDocument/2006/relationships/image" Target="../media/image62.wmf"/><Relationship Id="rId15" Type="http://schemas.openxmlformats.org/officeDocument/2006/relationships/image" Target="../media/image67.wmf"/><Relationship Id="rId10" Type="http://schemas.openxmlformats.org/officeDocument/2006/relationships/oleObject" Target="../embeddings/oleObject59.bin"/><Relationship Id="rId19" Type="http://schemas.openxmlformats.org/officeDocument/2006/relationships/image" Target="../media/image69.wmf"/><Relationship Id="rId4" Type="http://schemas.openxmlformats.org/officeDocument/2006/relationships/oleObject" Target="../embeddings/oleObject56.bin"/><Relationship Id="rId9" Type="http://schemas.openxmlformats.org/officeDocument/2006/relationships/image" Target="../media/image64.wmf"/><Relationship Id="rId14" Type="http://schemas.openxmlformats.org/officeDocument/2006/relationships/oleObject" Target="../embeddings/oleObject61.bin"/><Relationship Id="rId22" Type="http://schemas.openxmlformats.org/officeDocument/2006/relationships/image" Target="../media/image70.w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8.bin"/><Relationship Id="rId13" Type="http://schemas.openxmlformats.org/officeDocument/2006/relationships/image" Target="../media/image75.wmf"/><Relationship Id="rId18" Type="http://schemas.openxmlformats.org/officeDocument/2006/relationships/oleObject" Target="../embeddings/oleObject73.bin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72.wmf"/><Relationship Id="rId12" Type="http://schemas.openxmlformats.org/officeDocument/2006/relationships/oleObject" Target="../embeddings/oleObject70.bin"/><Relationship Id="rId17" Type="http://schemas.openxmlformats.org/officeDocument/2006/relationships/image" Target="../media/image77.wmf"/><Relationship Id="rId2" Type="http://schemas.openxmlformats.org/officeDocument/2006/relationships/slideLayout" Target="../slideLayouts/slideLayout13.xml"/><Relationship Id="rId16" Type="http://schemas.openxmlformats.org/officeDocument/2006/relationships/oleObject" Target="../embeddings/oleObject72.bin"/><Relationship Id="rId20" Type="http://schemas.openxmlformats.org/officeDocument/2006/relationships/oleObject" Target="../embeddings/oleObject74.bin"/><Relationship Id="rId1" Type="http://schemas.openxmlformats.org/officeDocument/2006/relationships/vmlDrawing" Target="../drawings/vmlDrawing15.vml"/><Relationship Id="rId6" Type="http://schemas.openxmlformats.org/officeDocument/2006/relationships/oleObject" Target="../embeddings/oleObject67.bin"/><Relationship Id="rId11" Type="http://schemas.openxmlformats.org/officeDocument/2006/relationships/image" Target="../media/image74.wmf"/><Relationship Id="rId5" Type="http://schemas.openxmlformats.org/officeDocument/2006/relationships/image" Target="../media/image71.wmf"/><Relationship Id="rId15" Type="http://schemas.openxmlformats.org/officeDocument/2006/relationships/image" Target="../media/image76.wmf"/><Relationship Id="rId10" Type="http://schemas.openxmlformats.org/officeDocument/2006/relationships/oleObject" Target="../embeddings/oleObject69.bin"/><Relationship Id="rId19" Type="http://schemas.openxmlformats.org/officeDocument/2006/relationships/image" Target="../media/image78.wmf"/><Relationship Id="rId4" Type="http://schemas.openxmlformats.org/officeDocument/2006/relationships/oleObject" Target="../embeddings/oleObject66.bin"/><Relationship Id="rId9" Type="http://schemas.openxmlformats.org/officeDocument/2006/relationships/image" Target="../media/image73.wmf"/><Relationship Id="rId14" Type="http://schemas.openxmlformats.org/officeDocument/2006/relationships/oleObject" Target="../embeddings/oleObject71.bin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wmf"/><Relationship Id="rId3" Type="http://schemas.openxmlformats.org/officeDocument/2006/relationships/notesSlide" Target="../notesSlides/notesSlide4.xml"/><Relationship Id="rId7" Type="http://schemas.openxmlformats.org/officeDocument/2006/relationships/oleObject" Target="../embeddings/oleObject76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81.png"/><Relationship Id="rId5" Type="http://schemas.openxmlformats.org/officeDocument/2006/relationships/image" Target="../media/image79.emf"/><Relationship Id="rId4" Type="http://schemas.openxmlformats.org/officeDocument/2006/relationships/oleObject" Target="../embeddings/oleObject75.bin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7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17.vml"/><Relationship Id="rId5" Type="http://schemas.openxmlformats.org/officeDocument/2006/relationships/oleObject" Target="../embeddings/oleObject78.bin"/><Relationship Id="rId4" Type="http://schemas.openxmlformats.org/officeDocument/2006/relationships/image" Target="../media/image72.w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wmf"/><Relationship Id="rId3" Type="http://schemas.openxmlformats.org/officeDocument/2006/relationships/oleObject" Target="../embeddings/oleObject79.bin"/><Relationship Id="rId7" Type="http://schemas.openxmlformats.org/officeDocument/2006/relationships/oleObject" Target="../embeddings/oleObject81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72.wmf"/><Relationship Id="rId5" Type="http://schemas.openxmlformats.org/officeDocument/2006/relationships/oleObject" Target="../embeddings/oleObject80.bin"/><Relationship Id="rId10" Type="http://schemas.openxmlformats.org/officeDocument/2006/relationships/oleObject" Target="../embeddings/oleObject83.bin"/><Relationship Id="rId4" Type="http://schemas.openxmlformats.org/officeDocument/2006/relationships/image" Target="../media/image82.wmf"/><Relationship Id="rId9" Type="http://schemas.openxmlformats.org/officeDocument/2006/relationships/oleObject" Target="../embeddings/oleObject82.bin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4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19.vml"/><Relationship Id="rId4" Type="http://schemas.openxmlformats.org/officeDocument/2006/relationships/image" Target="../media/image84.w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wmf"/><Relationship Id="rId13" Type="http://schemas.openxmlformats.org/officeDocument/2006/relationships/oleObject" Target="../embeddings/oleObject90.bin"/><Relationship Id="rId3" Type="http://schemas.openxmlformats.org/officeDocument/2006/relationships/oleObject" Target="../embeddings/oleObject85.bin"/><Relationship Id="rId7" Type="http://schemas.openxmlformats.org/officeDocument/2006/relationships/oleObject" Target="../embeddings/oleObject87.bin"/><Relationship Id="rId12" Type="http://schemas.openxmlformats.org/officeDocument/2006/relationships/image" Target="../media/image89.wmf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20.vml"/><Relationship Id="rId6" Type="http://schemas.openxmlformats.org/officeDocument/2006/relationships/image" Target="../media/image86.wmf"/><Relationship Id="rId11" Type="http://schemas.openxmlformats.org/officeDocument/2006/relationships/oleObject" Target="../embeddings/oleObject89.bin"/><Relationship Id="rId5" Type="http://schemas.openxmlformats.org/officeDocument/2006/relationships/oleObject" Target="../embeddings/oleObject86.bin"/><Relationship Id="rId10" Type="http://schemas.openxmlformats.org/officeDocument/2006/relationships/image" Target="../media/image88.wmf"/><Relationship Id="rId4" Type="http://schemas.openxmlformats.org/officeDocument/2006/relationships/image" Target="../media/image85.wmf"/><Relationship Id="rId9" Type="http://schemas.openxmlformats.org/officeDocument/2006/relationships/oleObject" Target="../embeddings/oleObject88.bin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1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21.vml"/><Relationship Id="rId4" Type="http://schemas.openxmlformats.org/officeDocument/2006/relationships/image" Target="../media/image90.wmf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emf"/><Relationship Id="rId13" Type="http://schemas.openxmlformats.org/officeDocument/2006/relationships/oleObject" Target="../embeddings/oleObject97.bin"/><Relationship Id="rId3" Type="http://schemas.openxmlformats.org/officeDocument/2006/relationships/oleObject" Target="../embeddings/oleObject92.bin"/><Relationship Id="rId7" Type="http://schemas.openxmlformats.org/officeDocument/2006/relationships/oleObject" Target="../embeddings/oleObject94.bin"/><Relationship Id="rId12" Type="http://schemas.openxmlformats.org/officeDocument/2006/relationships/image" Target="../media/image94.wmf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22.vml"/><Relationship Id="rId6" Type="http://schemas.openxmlformats.org/officeDocument/2006/relationships/image" Target="../media/image92.wmf"/><Relationship Id="rId11" Type="http://schemas.openxmlformats.org/officeDocument/2006/relationships/oleObject" Target="../embeddings/oleObject96.bin"/><Relationship Id="rId5" Type="http://schemas.openxmlformats.org/officeDocument/2006/relationships/oleObject" Target="../embeddings/oleObject93.bin"/><Relationship Id="rId10" Type="http://schemas.openxmlformats.org/officeDocument/2006/relationships/image" Target="../media/image93.wmf"/><Relationship Id="rId4" Type="http://schemas.openxmlformats.org/officeDocument/2006/relationships/image" Target="../media/image91.wmf"/><Relationship Id="rId9" Type="http://schemas.openxmlformats.org/officeDocument/2006/relationships/oleObject" Target="../embeddings/oleObject95.bin"/><Relationship Id="rId14" Type="http://schemas.openxmlformats.org/officeDocument/2006/relationships/image" Target="../media/image95.wmf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0.bin"/><Relationship Id="rId3" Type="http://schemas.openxmlformats.org/officeDocument/2006/relationships/oleObject" Target="../embeddings/oleObject98.bin"/><Relationship Id="rId7" Type="http://schemas.openxmlformats.org/officeDocument/2006/relationships/image" Target="../media/image97.wmf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23.vml"/><Relationship Id="rId6" Type="http://schemas.openxmlformats.org/officeDocument/2006/relationships/oleObject" Target="../embeddings/oleObject99.bin"/><Relationship Id="rId5" Type="http://schemas.openxmlformats.org/officeDocument/2006/relationships/image" Target="../media/image98.png"/><Relationship Id="rId4" Type="http://schemas.openxmlformats.org/officeDocument/2006/relationships/image" Target="../media/image96.wmf"/><Relationship Id="rId9" Type="http://schemas.openxmlformats.org/officeDocument/2006/relationships/image" Target="../media/image95.w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1.wmf"/><Relationship Id="rId3" Type="http://schemas.openxmlformats.org/officeDocument/2006/relationships/oleObject" Target="../embeddings/oleObject101.bin"/><Relationship Id="rId7" Type="http://schemas.openxmlformats.org/officeDocument/2006/relationships/oleObject" Target="../embeddings/oleObject103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24.vml"/><Relationship Id="rId6" Type="http://schemas.openxmlformats.org/officeDocument/2006/relationships/image" Target="../media/image100.wmf"/><Relationship Id="rId5" Type="http://schemas.openxmlformats.org/officeDocument/2006/relationships/oleObject" Target="../embeddings/oleObject102.bin"/><Relationship Id="rId4" Type="http://schemas.openxmlformats.org/officeDocument/2006/relationships/image" Target="../media/image99.w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4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25.vml"/><Relationship Id="rId6" Type="http://schemas.openxmlformats.org/officeDocument/2006/relationships/image" Target="../media/image103.wmf"/><Relationship Id="rId5" Type="http://schemas.openxmlformats.org/officeDocument/2006/relationships/oleObject" Target="../embeddings/oleObject105.bin"/><Relationship Id="rId4" Type="http://schemas.openxmlformats.org/officeDocument/2006/relationships/image" Target="../media/image102.wmf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6.wmf"/><Relationship Id="rId3" Type="http://schemas.openxmlformats.org/officeDocument/2006/relationships/oleObject" Target="../embeddings/oleObject106.bin"/><Relationship Id="rId7" Type="http://schemas.openxmlformats.org/officeDocument/2006/relationships/oleObject" Target="../embeddings/oleObject108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26.vml"/><Relationship Id="rId6" Type="http://schemas.openxmlformats.org/officeDocument/2006/relationships/image" Target="../media/image105.wmf"/><Relationship Id="rId5" Type="http://schemas.openxmlformats.org/officeDocument/2006/relationships/oleObject" Target="../embeddings/oleObject107.bin"/><Relationship Id="rId4" Type="http://schemas.openxmlformats.org/officeDocument/2006/relationships/image" Target="../media/image104.wmf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9.wmf"/><Relationship Id="rId3" Type="http://schemas.openxmlformats.org/officeDocument/2006/relationships/oleObject" Target="../embeddings/oleObject109.bin"/><Relationship Id="rId7" Type="http://schemas.openxmlformats.org/officeDocument/2006/relationships/oleObject" Target="../embeddings/oleObject111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27.vml"/><Relationship Id="rId6" Type="http://schemas.openxmlformats.org/officeDocument/2006/relationships/image" Target="../media/image108.wmf"/><Relationship Id="rId5" Type="http://schemas.openxmlformats.org/officeDocument/2006/relationships/oleObject" Target="../embeddings/oleObject110.bin"/><Relationship Id="rId4" Type="http://schemas.openxmlformats.org/officeDocument/2006/relationships/image" Target="../media/image107.wmf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2.wmf"/><Relationship Id="rId3" Type="http://schemas.openxmlformats.org/officeDocument/2006/relationships/oleObject" Target="../embeddings/oleObject112.bin"/><Relationship Id="rId7" Type="http://schemas.openxmlformats.org/officeDocument/2006/relationships/oleObject" Target="../embeddings/oleObject114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28.vml"/><Relationship Id="rId6" Type="http://schemas.openxmlformats.org/officeDocument/2006/relationships/image" Target="../media/image111.wmf"/><Relationship Id="rId5" Type="http://schemas.openxmlformats.org/officeDocument/2006/relationships/oleObject" Target="../embeddings/oleObject113.bin"/><Relationship Id="rId4" Type="http://schemas.openxmlformats.org/officeDocument/2006/relationships/image" Target="../media/image110.wmf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5.wmf"/><Relationship Id="rId3" Type="http://schemas.openxmlformats.org/officeDocument/2006/relationships/oleObject" Target="../embeddings/oleObject115.bin"/><Relationship Id="rId7" Type="http://schemas.openxmlformats.org/officeDocument/2006/relationships/oleObject" Target="../embeddings/oleObject117.bin"/><Relationship Id="rId12" Type="http://schemas.openxmlformats.org/officeDocument/2006/relationships/image" Target="../media/image117.wmf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29.vml"/><Relationship Id="rId6" Type="http://schemas.openxmlformats.org/officeDocument/2006/relationships/image" Target="../media/image114.wmf"/><Relationship Id="rId11" Type="http://schemas.openxmlformats.org/officeDocument/2006/relationships/oleObject" Target="../embeddings/oleObject119.bin"/><Relationship Id="rId5" Type="http://schemas.openxmlformats.org/officeDocument/2006/relationships/oleObject" Target="../embeddings/oleObject116.bin"/><Relationship Id="rId10" Type="http://schemas.openxmlformats.org/officeDocument/2006/relationships/image" Target="../media/image116.wmf"/><Relationship Id="rId4" Type="http://schemas.openxmlformats.org/officeDocument/2006/relationships/image" Target="../media/image113.wmf"/><Relationship Id="rId9" Type="http://schemas.openxmlformats.org/officeDocument/2006/relationships/oleObject" Target="../embeddings/oleObject118.bin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0.bin"/><Relationship Id="rId7" Type="http://schemas.openxmlformats.org/officeDocument/2006/relationships/oleObject" Target="../embeddings/oleObject122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30.vml"/><Relationship Id="rId6" Type="http://schemas.openxmlformats.org/officeDocument/2006/relationships/image" Target="../media/image119.wmf"/><Relationship Id="rId5" Type="http://schemas.openxmlformats.org/officeDocument/2006/relationships/oleObject" Target="../embeddings/oleObject121.bin"/><Relationship Id="rId4" Type="http://schemas.openxmlformats.org/officeDocument/2006/relationships/image" Target="../media/image118.wmf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2.wmf"/><Relationship Id="rId13" Type="http://schemas.openxmlformats.org/officeDocument/2006/relationships/oleObject" Target="../embeddings/oleObject128.bin"/><Relationship Id="rId3" Type="http://schemas.openxmlformats.org/officeDocument/2006/relationships/oleObject" Target="../embeddings/oleObject123.bin"/><Relationship Id="rId7" Type="http://schemas.openxmlformats.org/officeDocument/2006/relationships/oleObject" Target="../embeddings/oleObject125.bin"/><Relationship Id="rId12" Type="http://schemas.openxmlformats.org/officeDocument/2006/relationships/image" Target="../media/image124.wmf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126.wmf"/><Relationship Id="rId1" Type="http://schemas.openxmlformats.org/officeDocument/2006/relationships/vmlDrawing" Target="../drawings/vmlDrawing31.vml"/><Relationship Id="rId6" Type="http://schemas.openxmlformats.org/officeDocument/2006/relationships/image" Target="../media/image121.wmf"/><Relationship Id="rId11" Type="http://schemas.openxmlformats.org/officeDocument/2006/relationships/oleObject" Target="../embeddings/oleObject127.bin"/><Relationship Id="rId5" Type="http://schemas.openxmlformats.org/officeDocument/2006/relationships/oleObject" Target="../embeddings/oleObject124.bin"/><Relationship Id="rId15" Type="http://schemas.openxmlformats.org/officeDocument/2006/relationships/oleObject" Target="../embeddings/oleObject129.bin"/><Relationship Id="rId10" Type="http://schemas.openxmlformats.org/officeDocument/2006/relationships/image" Target="../media/image123.wmf"/><Relationship Id="rId4" Type="http://schemas.openxmlformats.org/officeDocument/2006/relationships/image" Target="../media/image120.wmf"/><Relationship Id="rId9" Type="http://schemas.openxmlformats.org/officeDocument/2006/relationships/oleObject" Target="../embeddings/oleObject126.bin"/><Relationship Id="rId14" Type="http://schemas.openxmlformats.org/officeDocument/2006/relationships/image" Target="../media/image125.wmf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9.wmf"/><Relationship Id="rId3" Type="http://schemas.openxmlformats.org/officeDocument/2006/relationships/oleObject" Target="../embeddings/oleObject130.bin"/><Relationship Id="rId7" Type="http://schemas.openxmlformats.org/officeDocument/2006/relationships/oleObject" Target="../embeddings/oleObject132.bin"/><Relationship Id="rId12" Type="http://schemas.openxmlformats.org/officeDocument/2006/relationships/image" Target="../media/image131.wmf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32.vml"/><Relationship Id="rId6" Type="http://schemas.openxmlformats.org/officeDocument/2006/relationships/image" Target="../media/image128.wmf"/><Relationship Id="rId11" Type="http://schemas.openxmlformats.org/officeDocument/2006/relationships/oleObject" Target="../embeddings/oleObject134.bin"/><Relationship Id="rId5" Type="http://schemas.openxmlformats.org/officeDocument/2006/relationships/oleObject" Target="../embeddings/oleObject131.bin"/><Relationship Id="rId10" Type="http://schemas.openxmlformats.org/officeDocument/2006/relationships/image" Target="../media/image130.wmf"/><Relationship Id="rId4" Type="http://schemas.openxmlformats.org/officeDocument/2006/relationships/image" Target="../media/image127.wmf"/><Relationship Id="rId9" Type="http://schemas.openxmlformats.org/officeDocument/2006/relationships/oleObject" Target="../embeddings/oleObject133.bin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7.bin"/><Relationship Id="rId3" Type="http://schemas.openxmlformats.org/officeDocument/2006/relationships/notesSlide" Target="../notesSlides/notesSlide6.xml"/><Relationship Id="rId7" Type="http://schemas.openxmlformats.org/officeDocument/2006/relationships/image" Target="../media/image133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3.vml"/><Relationship Id="rId6" Type="http://schemas.openxmlformats.org/officeDocument/2006/relationships/oleObject" Target="../embeddings/oleObject136.bin"/><Relationship Id="rId5" Type="http://schemas.openxmlformats.org/officeDocument/2006/relationships/image" Target="../media/image132.wmf"/><Relationship Id="rId4" Type="http://schemas.openxmlformats.org/officeDocument/2006/relationships/oleObject" Target="../embeddings/oleObject135.bin"/><Relationship Id="rId9" Type="http://schemas.openxmlformats.org/officeDocument/2006/relationships/image" Target="../media/image134.wmf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4.vml"/><Relationship Id="rId6" Type="http://schemas.openxmlformats.org/officeDocument/2006/relationships/image" Target="../media/image135.wmf"/><Relationship Id="rId5" Type="http://schemas.openxmlformats.org/officeDocument/2006/relationships/oleObject" Target="../embeddings/oleObject139.bin"/><Relationship Id="rId4" Type="http://schemas.openxmlformats.org/officeDocument/2006/relationships/image" Target="../media/image133.wmf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2.bin"/><Relationship Id="rId13" Type="http://schemas.openxmlformats.org/officeDocument/2006/relationships/image" Target="../media/image140.wmf"/><Relationship Id="rId18" Type="http://schemas.openxmlformats.org/officeDocument/2006/relationships/oleObject" Target="../embeddings/oleObject147.bin"/><Relationship Id="rId3" Type="http://schemas.openxmlformats.org/officeDocument/2006/relationships/notesSlide" Target="../notesSlides/notesSlide7.xml"/><Relationship Id="rId21" Type="http://schemas.openxmlformats.org/officeDocument/2006/relationships/image" Target="../media/image144.wmf"/><Relationship Id="rId7" Type="http://schemas.openxmlformats.org/officeDocument/2006/relationships/image" Target="../media/image137.wmf"/><Relationship Id="rId12" Type="http://schemas.openxmlformats.org/officeDocument/2006/relationships/oleObject" Target="../embeddings/oleObject144.bin"/><Relationship Id="rId17" Type="http://schemas.openxmlformats.org/officeDocument/2006/relationships/image" Target="../media/image142.w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146.bin"/><Relationship Id="rId20" Type="http://schemas.openxmlformats.org/officeDocument/2006/relationships/oleObject" Target="../embeddings/oleObject148.bin"/><Relationship Id="rId1" Type="http://schemas.openxmlformats.org/officeDocument/2006/relationships/vmlDrawing" Target="../drawings/vmlDrawing35.vml"/><Relationship Id="rId6" Type="http://schemas.openxmlformats.org/officeDocument/2006/relationships/oleObject" Target="../embeddings/oleObject141.bin"/><Relationship Id="rId11" Type="http://schemas.openxmlformats.org/officeDocument/2006/relationships/image" Target="../media/image139.wmf"/><Relationship Id="rId5" Type="http://schemas.openxmlformats.org/officeDocument/2006/relationships/image" Target="../media/image136.wmf"/><Relationship Id="rId15" Type="http://schemas.openxmlformats.org/officeDocument/2006/relationships/image" Target="../media/image141.wmf"/><Relationship Id="rId23" Type="http://schemas.openxmlformats.org/officeDocument/2006/relationships/image" Target="../media/image145.wmf"/><Relationship Id="rId10" Type="http://schemas.openxmlformats.org/officeDocument/2006/relationships/oleObject" Target="../embeddings/oleObject143.bin"/><Relationship Id="rId19" Type="http://schemas.openxmlformats.org/officeDocument/2006/relationships/image" Target="../media/image143.wmf"/><Relationship Id="rId4" Type="http://schemas.openxmlformats.org/officeDocument/2006/relationships/oleObject" Target="../embeddings/oleObject140.bin"/><Relationship Id="rId9" Type="http://schemas.openxmlformats.org/officeDocument/2006/relationships/image" Target="../media/image138.wmf"/><Relationship Id="rId14" Type="http://schemas.openxmlformats.org/officeDocument/2006/relationships/oleObject" Target="../embeddings/oleObject145.bin"/><Relationship Id="rId22" Type="http://schemas.openxmlformats.org/officeDocument/2006/relationships/oleObject" Target="../embeddings/oleObject149.bin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8.wmf"/><Relationship Id="rId3" Type="http://schemas.openxmlformats.org/officeDocument/2006/relationships/oleObject" Target="../embeddings/oleObject150.bin"/><Relationship Id="rId7" Type="http://schemas.openxmlformats.org/officeDocument/2006/relationships/oleObject" Target="../embeddings/oleObject152.bin"/><Relationship Id="rId12" Type="http://schemas.openxmlformats.org/officeDocument/2006/relationships/image" Target="../media/image150.wmf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36.vml"/><Relationship Id="rId6" Type="http://schemas.openxmlformats.org/officeDocument/2006/relationships/image" Target="../media/image147.wmf"/><Relationship Id="rId11" Type="http://schemas.openxmlformats.org/officeDocument/2006/relationships/oleObject" Target="../embeddings/oleObject154.bin"/><Relationship Id="rId5" Type="http://schemas.openxmlformats.org/officeDocument/2006/relationships/oleObject" Target="../embeddings/oleObject151.bin"/><Relationship Id="rId10" Type="http://schemas.openxmlformats.org/officeDocument/2006/relationships/image" Target="../media/image149.wmf"/><Relationship Id="rId4" Type="http://schemas.openxmlformats.org/officeDocument/2006/relationships/image" Target="../media/image146.wmf"/><Relationship Id="rId9" Type="http://schemas.openxmlformats.org/officeDocument/2006/relationships/oleObject" Target="../embeddings/oleObject153.bin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1.png"/><Relationship Id="rId1" Type="http://schemas.openxmlformats.org/officeDocument/2006/relationships/slideLayout" Target="../slideLayouts/slideLayout1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5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37.vml"/><Relationship Id="rId6" Type="http://schemas.openxmlformats.org/officeDocument/2006/relationships/image" Target="../media/image153.wmf"/><Relationship Id="rId5" Type="http://schemas.openxmlformats.org/officeDocument/2006/relationships/oleObject" Target="../embeddings/oleObject156.bin"/><Relationship Id="rId4" Type="http://schemas.openxmlformats.org/officeDocument/2006/relationships/image" Target="../media/image152.wmf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6.wmf"/><Relationship Id="rId3" Type="http://schemas.openxmlformats.org/officeDocument/2006/relationships/oleObject" Target="../embeddings/oleObject157.bin"/><Relationship Id="rId7" Type="http://schemas.openxmlformats.org/officeDocument/2006/relationships/oleObject" Target="../embeddings/oleObject159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38.vml"/><Relationship Id="rId6" Type="http://schemas.openxmlformats.org/officeDocument/2006/relationships/image" Target="../media/image155.wmf"/><Relationship Id="rId5" Type="http://schemas.openxmlformats.org/officeDocument/2006/relationships/oleObject" Target="../embeddings/oleObject158.bin"/><Relationship Id="rId10" Type="http://schemas.openxmlformats.org/officeDocument/2006/relationships/image" Target="../media/image157.wmf"/><Relationship Id="rId4" Type="http://schemas.openxmlformats.org/officeDocument/2006/relationships/image" Target="../media/image154.wmf"/><Relationship Id="rId9" Type="http://schemas.openxmlformats.org/officeDocument/2006/relationships/oleObject" Target="../embeddings/oleObject160.bin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3.bin"/><Relationship Id="rId3" Type="http://schemas.openxmlformats.org/officeDocument/2006/relationships/notesSlide" Target="../notesSlides/notesSlide10.xml"/><Relationship Id="rId7" Type="http://schemas.openxmlformats.org/officeDocument/2006/relationships/image" Target="../media/image159.wmf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39.vml"/><Relationship Id="rId6" Type="http://schemas.openxmlformats.org/officeDocument/2006/relationships/oleObject" Target="../embeddings/oleObject162.bin"/><Relationship Id="rId5" Type="http://schemas.openxmlformats.org/officeDocument/2006/relationships/image" Target="../media/image158.wmf"/><Relationship Id="rId4" Type="http://schemas.openxmlformats.org/officeDocument/2006/relationships/oleObject" Target="../embeddings/oleObject161.bin"/><Relationship Id="rId9" Type="http://schemas.openxmlformats.org/officeDocument/2006/relationships/image" Target="../media/image160.emf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2.png"/><Relationship Id="rId2" Type="http://schemas.openxmlformats.org/officeDocument/2006/relationships/image" Target="../media/image161.png"/><Relationship Id="rId1" Type="http://schemas.openxmlformats.org/officeDocument/2006/relationships/slideLayout" Target="../slideLayouts/slideLayout13.xml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5.png"/><Relationship Id="rId13" Type="http://schemas.openxmlformats.org/officeDocument/2006/relationships/oleObject" Target="../embeddings/oleObject168.bin"/><Relationship Id="rId18" Type="http://schemas.openxmlformats.org/officeDocument/2006/relationships/image" Target="../media/image169.wmf"/><Relationship Id="rId26" Type="http://schemas.openxmlformats.org/officeDocument/2006/relationships/image" Target="../media/image173.wmf"/><Relationship Id="rId3" Type="http://schemas.openxmlformats.org/officeDocument/2006/relationships/image" Target="../media/image174.png"/><Relationship Id="rId21" Type="http://schemas.openxmlformats.org/officeDocument/2006/relationships/oleObject" Target="../embeddings/oleObject172.bin"/><Relationship Id="rId7" Type="http://schemas.openxmlformats.org/officeDocument/2006/relationships/image" Target="../media/image164.wmf"/><Relationship Id="rId12" Type="http://schemas.openxmlformats.org/officeDocument/2006/relationships/image" Target="../media/image166.wmf"/><Relationship Id="rId17" Type="http://schemas.openxmlformats.org/officeDocument/2006/relationships/oleObject" Target="../embeddings/oleObject170.bin"/><Relationship Id="rId25" Type="http://schemas.openxmlformats.org/officeDocument/2006/relationships/oleObject" Target="../embeddings/oleObject174.bin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168.wmf"/><Relationship Id="rId20" Type="http://schemas.openxmlformats.org/officeDocument/2006/relationships/image" Target="../media/image170.wmf"/><Relationship Id="rId1" Type="http://schemas.openxmlformats.org/officeDocument/2006/relationships/vmlDrawing" Target="../drawings/vmlDrawing40.vml"/><Relationship Id="rId6" Type="http://schemas.openxmlformats.org/officeDocument/2006/relationships/oleObject" Target="../embeddings/oleObject165.bin"/><Relationship Id="rId11" Type="http://schemas.openxmlformats.org/officeDocument/2006/relationships/oleObject" Target="../embeddings/oleObject167.bin"/><Relationship Id="rId24" Type="http://schemas.openxmlformats.org/officeDocument/2006/relationships/image" Target="../media/image172.wmf"/><Relationship Id="rId5" Type="http://schemas.openxmlformats.org/officeDocument/2006/relationships/image" Target="../media/image163.wmf"/><Relationship Id="rId15" Type="http://schemas.openxmlformats.org/officeDocument/2006/relationships/oleObject" Target="../embeddings/oleObject169.bin"/><Relationship Id="rId23" Type="http://schemas.openxmlformats.org/officeDocument/2006/relationships/oleObject" Target="../embeddings/oleObject173.bin"/><Relationship Id="rId10" Type="http://schemas.openxmlformats.org/officeDocument/2006/relationships/image" Target="../media/image165.wmf"/><Relationship Id="rId19" Type="http://schemas.openxmlformats.org/officeDocument/2006/relationships/oleObject" Target="../embeddings/oleObject171.bin"/><Relationship Id="rId4" Type="http://schemas.openxmlformats.org/officeDocument/2006/relationships/oleObject" Target="../embeddings/oleObject164.bin"/><Relationship Id="rId9" Type="http://schemas.openxmlformats.org/officeDocument/2006/relationships/oleObject" Target="../embeddings/oleObject166.bin"/><Relationship Id="rId14" Type="http://schemas.openxmlformats.org/officeDocument/2006/relationships/image" Target="../media/image167.wmf"/><Relationship Id="rId22" Type="http://schemas.openxmlformats.org/officeDocument/2006/relationships/image" Target="../media/image171.wmf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7.png"/><Relationship Id="rId2" Type="http://schemas.openxmlformats.org/officeDocument/2006/relationships/image" Target="../media/image176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78.png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9.gif"/><Relationship Id="rId1" Type="http://schemas.openxmlformats.org/officeDocument/2006/relationships/slideLayout" Target="../slideLayouts/slideLayout13.xml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2.wmf"/><Relationship Id="rId13" Type="http://schemas.openxmlformats.org/officeDocument/2006/relationships/oleObject" Target="../embeddings/oleObject180.bin"/><Relationship Id="rId18" Type="http://schemas.openxmlformats.org/officeDocument/2006/relationships/oleObject" Target="../embeddings/oleObject182.bin"/><Relationship Id="rId3" Type="http://schemas.openxmlformats.org/officeDocument/2006/relationships/oleObject" Target="../embeddings/oleObject175.bin"/><Relationship Id="rId7" Type="http://schemas.openxmlformats.org/officeDocument/2006/relationships/oleObject" Target="../embeddings/oleObject177.bin"/><Relationship Id="rId12" Type="http://schemas.openxmlformats.org/officeDocument/2006/relationships/image" Target="../media/image184.wmf"/><Relationship Id="rId17" Type="http://schemas.openxmlformats.org/officeDocument/2006/relationships/image" Target="../media/image188.emf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186.wmf"/><Relationship Id="rId1" Type="http://schemas.openxmlformats.org/officeDocument/2006/relationships/vmlDrawing" Target="../drawings/vmlDrawing41.vml"/><Relationship Id="rId6" Type="http://schemas.openxmlformats.org/officeDocument/2006/relationships/image" Target="../media/image181.wmf"/><Relationship Id="rId11" Type="http://schemas.openxmlformats.org/officeDocument/2006/relationships/oleObject" Target="../embeddings/oleObject179.bin"/><Relationship Id="rId5" Type="http://schemas.openxmlformats.org/officeDocument/2006/relationships/oleObject" Target="../embeddings/oleObject176.bin"/><Relationship Id="rId15" Type="http://schemas.openxmlformats.org/officeDocument/2006/relationships/oleObject" Target="../embeddings/oleObject181.bin"/><Relationship Id="rId10" Type="http://schemas.openxmlformats.org/officeDocument/2006/relationships/image" Target="../media/image183.wmf"/><Relationship Id="rId19" Type="http://schemas.openxmlformats.org/officeDocument/2006/relationships/image" Target="../media/image187.wmf"/><Relationship Id="rId4" Type="http://schemas.openxmlformats.org/officeDocument/2006/relationships/image" Target="../media/image180.wmf"/><Relationship Id="rId9" Type="http://schemas.openxmlformats.org/officeDocument/2006/relationships/oleObject" Target="../embeddings/oleObject178.bin"/><Relationship Id="rId14" Type="http://schemas.openxmlformats.org/officeDocument/2006/relationships/image" Target="../media/image185.wmf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3.bin"/><Relationship Id="rId7" Type="http://schemas.openxmlformats.org/officeDocument/2006/relationships/image" Target="../media/image191.png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42.vml"/><Relationship Id="rId6" Type="http://schemas.openxmlformats.org/officeDocument/2006/relationships/image" Target="../media/image190.wmf"/><Relationship Id="rId5" Type="http://schemas.openxmlformats.org/officeDocument/2006/relationships/oleObject" Target="../embeddings/oleObject184.bin"/><Relationship Id="rId4" Type="http://schemas.openxmlformats.org/officeDocument/2006/relationships/image" Target="../media/image189.wmf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2.png"/><Relationship Id="rId1" Type="http://schemas.openxmlformats.org/officeDocument/2006/relationships/slideLayout" Target="../slideLayouts/slideLayout13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3.png"/><Relationship Id="rId1" Type="http://schemas.openxmlformats.org/officeDocument/2006/relationships/slideLayout" Target="../slideLayouts/slideLayout13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5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43.vml"/><Relationship Id="rId4" Type="http://schemas.openxmlformats.org/officeDocument/2006/relationships/image" Target="../media/image194.wmf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6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44.vml"/><Relationship Id="rId4" Type="http://schemas.openxmlformats.org/officeDocument/2006/relationships/image" Target="../media/image195.wmf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8.wmf"/><Relationship Id="rId3" Type="http://schemas.openxmlformats.org/officeDocument/2006/relationships/oleObject" Target="../embeddings/oleObject187.bin"/><Relationship Id="rId7" Type="http://schemas.openxmlformats.org/officeDocument/2006/relationships/oleObject" Target="../embeddings/oleObject189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45.vml"/><Relationship Id="rId6" Type="http://schemas.openxmlformats.org/officeDocument/2006/relationships/image" Target="../media/image197.wmf"/><Relationship Id="rId5" Type="http://schemas.openxmlformats.org/officeDocument/2006/relationships/oleObject" Target="../embeddings/oleObject188.bin"/><Relationship Id="rId10" Type="http://schemas.openxmlformats.org/officeDocument/2006/relationships/image" Target="../media/image199.wmf"/><Relationship Id="rId4" Type="http://schemas.openxmlformats.org/officeDocument/2006/relationships/image" Target="../media/image196.wmf"/><Relationship Id="rId9" Type="http://schemas.openxmlformats.org/officeDocument/2006/relationships/oleObject" Target="../embeddings/oleObject190.bin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46.vml"/><Relationship Id="rId5" Type="http://schemas.openxmlformats.org/officeDocument/2006/relationships/image" Target="../media/image200.wmf"/><Relationship Id="rId4" Type="http://schemas.openxmlformats.org/officeDocument/2006/relationships/oleObject" Target="../embeddings/oleObject191.bin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2.png"/><Relationship Id="rId2" Type="http://schemas.openxmlformats.org/officeDocument/2006/relationships/hyperlink" Target="//upload.wikimedia.org/wikipedia/commons/6/60/Banana-SteepDesc.gif" TargetMode="External"/><Relationship Id="rId1" Type="http://schemas.openxmlformats.org/officeDocument/2006/relationships/slideLayout" Target="../slideLayouts/slideLayout1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2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47.vml"/><Relationship Id="rId4" Type="http://schemas.openxmlformats.org/officeDocument/2006/relationships/image" Target="../media/image8.wmf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3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48.vml"/><Relationship Id="rId4" Type="http://schemas.openxmlformats.org/officeDocument/2006/relationships/image" Target="../media/image203.wmf"/></Relationships>
</file>

<file path=ppt/slides/_rels/slide7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0.png"/><Relationship Id="rId3" Type="http://schemas.openxmlformats.org/officeDocument/2006/relationships/image" Target="../media/image205.png"/><Relationship Id="rId7" Type="http://schemas.openxmlformats.org/officeDocument/2006/relationships/image" Target="../media/image209.png"/><Relationship Id="rId2" Type="http://schemas.openxmlformats.org/officeDocument/2006/relationships/image" Target="../media/image204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08.png"/><Relationship Id="rId5" Type="http://schemas.openxmlformats.org/officeDocument/2006/relationships/image" Target="../media/image207.png"/><Relationship Id="rId4" Type="http://schemas.openxmlformats.org/officeDocument/2006/relationships/image" Target="../media/image206.png"/></Relationships>
</file>

<file path=ppt/slides/_rels/slide7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3.wmf"/><Relationship Id="rId3" Type="http://schemas.openxmlformats.org/officeDocument/2006/relationships/oleObject" Target="../embeddings/oleObject194.bin"/><Relationship Id="rId7" Type="http://schemas.openxmlformats.org/officeDocument/2006/relationships/oleObject" Target="../embeddings/oleObject196.bin"/><Relationship Id="rId12" Type="http://schemas.openxmlformats.org/officeDocument/2006/relationships/image" Target="../media/image215.wmf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49.vml"/><Relationship Id="rId6" Type="http://schemas.openxmlformats.org/officeDocument/2006/relationships/image" Target="../media/image212.wmf"/><Relationship Id="rId11" Type="http://schemas.openxmlformats.org/officeDocument/2006/relationships/oleObject" Target="../embeddings/oleObject198.bin"/><Relationship Id="rId5" Type="http://schemas.openxmlformats.org/officeDocument/2006/relationships/oleObject" Target="../embeddings/oleObject195.bin"/><Relationship Id="rId10" Type="http://schemas.openxmlformats.org/officeDocument/2006/relationships/image" Target="../media/image214.wmf"/><Relationship Id="rId4" Type="http://schemas.openxmlformats.org/officeDocument/2006/relationships/image" Target="../media/image211.wmf"/><Relationship Id="rId9" Type="http://schemas.openxmlformats.org/officeDocument/2006/relationships/oleObject" Target="../embeddings/oleObject197.bin"/></Relationships>
</file>

<file path=ppt/slides/_rels/slide7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6.wmf"/><Relationship Id="rId3" Type="http://schemas.openxmlformats.org/officeDocument/2006/relationships/oleObject" Target="../embeddings/oleObject199.bin"/><Relationship Id="rId7" Type="http://schemas.openxmlformats.org/officeDocument/2006/relationships/oleObject" Target="../embeddings/oleObject201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50.vml"/><Relationship Id="rId6" Type="http://schemas.openxmlformats.org/officeDocument/2006/relationships/image" Target="../media/image121.wmf"/><Relationship Id="rId5" Type="http://schemas.openxmlformats.org/officeDocument/2006/relationships/oleObject" Target="../embeddings/oleObject200.bin"/><Relationship Id="rId10" Type="http://schemas.openxmlformats.org/officeDocument/2006/relationships/image" Target="../media/image217.wmf"/><Relationship Id="rId4" Type="http://schemas.openxmlformats.org/officeDocument/2006/relationships/image" Target="../media/image120.wmf"/><Relationship Id="rId9" Type="http://schemas.openxmlformats.org/officeDocument/2006/relationships/oleObject" Target="../embeddings/oleObject202.bin"/></Relationships>
</file>

<file path=ppt/slides/_rels/slide8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0.wmf"/><Relationship Id="rId13" Type="http://schemas.openxmlformats.org/officeDocument/2006/relationships/oleObject" Target="../embeddings/oleObject208.bin"/><Relationship Id="rId3" Type="http://schemas.openxmlformats.org/officeDocument/2006/relationships/oleObject" Target="../embeddings/oleObject203.bin"/><Relationship Id="rId7" Type="http://schemas.openxmlformats.org/officeDocument/2006/relationships/oleObject" Target="../embeddings/oleObject205.bin"/><Relationship Id="rId12" Type="http://schemas.openxmlformats.org/officeDocument/2006/relationships/image" Target="../media/image222.wmf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224.wmf"/><Relationship Id="rId1" Type="http://schemas.openxmlformats.org/officeDocument/2006/relationships/vmlDrawing" Target="../drawings/vmlDrawing51.vml"/><Relationship Id="rId6" Type="http://schemas.openxmlformats.org/officeDocument/2006/relationships/image" Target="../media/image219.wmf"/><Relationship Id="rId11" Type="http://schemas.openxmlformats.org/officeDocument/2006/relationships/oleObject" Target="../embeddings/oleObject207.bin"/><Relationship Id="rId5" Type="http://schemas.openxmlformats.org/officeDocument/2006/relationships/oleObject" Target="../embeddings/oleObject204.bin"/><Relationship Id="rId15" Type="http://schemas.openxmlformats.org/officeDocument/2006/relationships/oleObject" Target="../embeddings/oleObject209.bin"/><Relationship Id="rId10" Type="http://schemas.openxmlformats.org/officeDocument/2006/relationships/image" Target="../media/image221.wmf"/><Relationship Id="rId4" Type="http://schemas.openxmlformats.org/officeDocument/2006/relationships/image" Target="../media/image218.wmf"/><Relationship Id="rId9" Type="http://schemas.openxmlformats.org/officeDocument/2006/relationships/oleObject" Target="../embeddings/oleObject206.bin"/><Relationship Id="rId14" Type="http://schemas.openxmlformats.org/officeDocument/2006/relationships/image" Target="../media/image223.wmf"/></Relationships>
</file>

<file path=ppt/slides/_rels/slide8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7.wmf"/><Relationship Id="rId3" Type="http://schemas.openxmlformats.org/officeDocument/2006/relationships/oleObject" Target="../embeddings/oleObject210.bin"/><Relationship Id="rId7" Type="http://schemas.openxmlformats.org/officeDocument/2006/relationships/oleObject" Target="../embeddings/oleObject212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52.vml"/><Relationship Id="rId6" Type="http://schemas.openxmlformats.org/officeDocument/2006/relationships/image" Target="../media/image226.emf"/><Relationship Id="rId5" Type="http://schemas.openxmlformats.org/officeDocument/2006/relationships/oleObject" Target="../embeddings/oleObject211.bin"/><Relationship Id="rId10" Type="http://schemas.openxmlformats.org/officeDocument/2006/relationships/image" Target="../media/image228.wmf"/><Relationship Id="rId4" Type="http://schemas.openxmlformats.org/officeDocument/2006/relationships/image" Target="../media/image225.wmf"/><Relationship Id="rId9" Type="http://schemas.openxmlformats.org/officeDocument/2006/relationships/oleObject" Target="../embeddings/oleObject213.bin"/></Relationships>
</file>

<file path=ppt/slides/_rels/slide8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2.wmf"/><Relationship Id="rId13" Type="http://schemas.openxmlformats.org/officeDocument/2006/relationships/oleObject" Target="../embeddings/oleObject219.bin"/><Relationship Id="rId3" Type="http://schemas.openxmlformats.org/officeDocument/2006/relationships/oleObject" Target="../embeddings/oleObject214.bin"/><Relationship Id="rId7" Type="http://schemas.openxmlformats.org/officeDocument/2006/relationships/oleObject" Target="../embeddings/oleObject216.bin"/><Relationship Id="rId12" Type="http://schemas.openxmlformats.org/officeDocument/2006/relationships/image" Target="../media/image224.wmf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232.wmf"/><Relationship Id="rId1" Type="http://schemas.openxmlformats.org/officeDocument/2006/relationships/vmlDrawing" Target="../drawings/vmlDrawing53.vml"/><Relationship Id="rId6" Type="http://schemas.openxmlformats.org/officeDocument/2006/relationships/image" Target="../media/image230.wmf"/><Relationship Id="rId11" Type="http://schemas.openxmlformats.org/officeDocument/2006/relationships/oleObject" Target="../embeddings/oleObject218.bin"/><Relationship Id="rId5" Type="http://schemas.openxmlformats.org/officeDocument/2006/relationships/oleObject" Target="../embeddings/oleObject215.bin"/><Relationship Id="rId15" Type="http://schemas.openxmlformats.org/officeDocument/2006/relationships/oleObject" Target="../embeddings/oleObject220.bin"/><Relationship Id="rId10" Type="http://schemas.openxmlformats.org/officeDocument/2006/relationships/image" Target="../media/image223.wmf"/><Relationship Id="rId4" Type="http://schemas.openxmlformats.org/officeDocument/2006/relationships/image" Target="../media/image229.wmf"/><Relationship Id="rId9" Type="http://schemas.openxmlformats.org/officeDocument/2006/relationships/oleObject" Target="../embeddings/oleObject217.bin"/><Relationship Id="rId14" Type="http://schemas.openxmlformats.org/officeDocument/2006/relationships/image" Target="../media/image231.wmf"/></Relationships>
</file>

<file path=ppt/slides/_rels/slide8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5.wmf"/><Relationship Id="rId3" Type="http://schemas.openxmlformats.org/officeDocument/2006/relationships/oleObject" Target="../embeddings/oleObject221.bin"/><Relationship Id="rId7" Type="http://schemas.openxmlformats.org/officeDocument/2006/relationships/oleObject" Target="../embeddings/oleObject223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54.vml"/><Relationship Id="rId6" Type="http://schemas.openxmlformats.org/officeDocument/2006/relationships/image" Target="../media/image234.wmf"/><Relationship Id="rId5" Type="http://schemas.openxmlformats.org/officeDocument/2006/relationships/oleObject" Target="../embeddings/oleObject222.bin"/><Relationship Id="rId4" Type="http://schemas.openxmlformats.org/officeDocument/2006/relationships/image" Target="../media/image233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A4BE39A-AA74-4615-9263-909FAD1240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ACF5701F-746E-469B-BDDA-F93B22D4DB72}" type="datetime1">
              <a:rPr kumimoji="0" lang="en-US" altLang="zh-CN" sz="12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3/31/2025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8C62E10-2951-4253-B0F7-5DCA6BBCE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D1009943-BA82-4F6A-BD7C-764069224CD2}" type="slidenum">
              <a:rPr kumimoji="0" lang="zh-CN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1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  <p:sp>
        <p:nvSpPr>
          <p:cNvPr id="16" name="页脚占位符 2">
            <a:extLst>
              <a:ext uri="{FF2B5EF4-FFF2-40B4-BE49-F238E27FC236}">
                <a16:creationId xmlns:a16="http://schemas.microsoft.com/office/drawing/2014/main" id="{CEDF4CAE-D58D-440C-B46A-8097E82B7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8905" y="19050"/>
            <a:ext cx="4831731" cy="328613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交通大数据</a:t>
            </a: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· </a:t>
            </a: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东南大学 刘志远教授</a:t>
            </a:r>
            <a:endParaRPr kumimoji="0" lang="en-US" altLang="zh-CN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F9DD4161-58E2-46AF-B61C-2B797932D3AD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800" y="1827213"/>
            <a:ext cx="7848600" cy="1587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C49EDD-FC07-4487-9675-A6BCC8B649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990600"/>
            <a:ext cx="75438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40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 (Headings)" charset="0"/>
                <a:ea typeface="宋体" panose="02010600030101010101" pitchFamily="2" charset="-122"/>
                <a:sym typeface="Arial (Headings)" charset="0"/>
              </a:rPr>
              <a:t> 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C0695D68-4E24-4BC3-BBFC-3F07AB6F97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4572000"/>
            <a:ext cx="6400800" cy="175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82563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457200" lvl="1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2pPr>
            <a:lvl3pPr marL="731838" lvl="2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3pPr>
            <a:lvl4pPr marL="1006475" lvl="3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4pPr>
            <a:lvl5pPr marL="1189038" lvl="4" indent="-1365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5pPr>
            <a:lvl6pPr marL="2514600" lvl="5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6pPr>
            <a:lvl7pPr marL="2971800" lvl="6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7pPr>
            <a:lvl8pPr marL="3429000" lvl="7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8pPr>
            <a:lvl9pPr marL="3886200" lvl="8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9pPr>
          </a:lstStyle>
          <a:p>
            <a:pPr defTabSz="914400" eaLnBrk="1" hangingPunct="1"/>
            <a:r>
              <a:rPr lang="zh-CN" altLang="en-US" dirty="0">
                <a:latin typeface="+mj-ea"/>
                <a:ea typeface="+mj-ea"/>
                <a:sym typeface="Times New Roman" panose="02020603050405020304" pitchFamily="18" charset="0"/>
              </a:rPr>
              <a:t>刘志远教授</a:t>
            </a:r>
          </a:p>
          <a:p>
            <a:pPr defTabSz="914400" eaLnBrk="1" hangingPunct="1"/>
            <a:r>
              <a:rPr lang="zh-CN" altLang="en-US" dirty="0">
                <a:latin typeface="Times New Roman" panose="02020603050405020304" pitchFamily="18" charset="0"/>
                <a:ea typeface="方正舒体" panose="02010601030101010101" pitchFamily="2" charset="-122"/>
                <a:sym typeface="Times New Roman" panose="02020603050405020304" pitchFamily="18" charset="0"/>
              </a:rPr>
              <a:t>Email: </a:t>
            </a:r>
            <a:r>
              <a:rPr lang="en-US" altLang="zh-CN" dirty="0">
                <a:latin typeface="Times New Roman" panose="02020603050405020304" pitchFamily="18" charset="0"/>
                <a:ea typeface="方正舒体" panose="02010601030101010101" pitchFamily="2" charset="-122"/>
                <a:sym typeface="Times New Roman" panose="02020603050405020304" pitchFamily="18" charset="0"/>
              </a:rPr>
              <a:t>zhiyuanl@seu.edu.cn</a:t>
            </a:r>
            <a:endParaRPr lang="zh-CN" altLang="en-US" dirty="0">
              <a:latin typeface="Times New Roman" panose="02020603050405020304" pitchFamily="18" charset="0"/>
              <a:ea typeface="方正舒体" panose="02010601030101010101" pitchFamily="2" charset="-122"/>
              <a:sym typeface="Times New Roman" panose="02020603050405020304" pitchFamily="18" charset="0"/>
            </a:endParaRPr>
          </a:p>
        </p:txBody>
      </p:sp>
      <p:sp>
        <p:nvSpPr>
          <p:cNvPr id="12" name="TextBox 3">
            <a:extLst>
              <a:ext uri="{FF2B5EF4-FFF2-40B4-BE49-F238E27FC236}">
                <a16:creationId xmlns:a16="http://schemas.microsoft.com/office/drawing/2014/main" id="{DEAA0D1A-9E7A-426B-80FB-235C039119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400" y="990600"/>
            <a:ext cx="863092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交通大数据理论与方法</a:t>
            </a:r>
          </a:p>
        </p:txBody>
      </p:sp>
      <p:sp>
        <p:nvSpPr>
          <p:cNvPr id="13" name="文本框 1">
            <a:extLst>
              <a:ext uri="{FF2B5EF4-FFF2-40B4-BE49-F238E27FC236}">
                <a16:creationId xmlns:a16="http://schemas.microsoft.com/office/drawing/2014/main" id="{E3B87E03-2685-4A23-9635-993214E311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0" y="2877344"/>
            <a:ext cx="5334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algn="ctr" defTabSz="914400">
              <a:defRPr/>
            </a:pPr>
            <a:r>
              <a:rPr lang="zh-CN" altLang="en-US" sz="3600" b="1" kern="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凸规划与梯度下降算法</a:t>
            </a:r>
            <a:endParaRPr kumimoji="0" lang="zh-CN" altLang="en-US" sz="36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30326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A4BE39A-AA74-4615-9263-909FAD1240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ACF5701F-746E-469B-BDDA-F93B22D4DB72}" type="datetime1">
              <a:rPr kumimoji="0" lang="en-US" altLang="zh-CN" sz="12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3/31/2025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8C62E10-2951-4253-B0F7-5DCA6BBCE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D1009943-BA82-4F6A-BD7C-764069224CD2}" type="slidenum">
              <a:rPr kumimoji="0" lang="zh-CN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  <p:sp>
        <p:nvSpPr>
          <p:cNvPr id="16" name="页脚占位符 2">
            <a:extLst>
              <a:ext uri="{FF2B5EF4-FFF2-40B4-BE49-F238E27FC236}">
                <a16:creationId xmlns:a16="http://schemas.microsoft.com/office/drawing/2014/main" id="{CEDF4CAE-D58D-440C-B46A-8097E82B7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8905" y="19050"/>
            <a:ext cx="4831731" cy="328613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交通大数据</a:t>
            </a: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· </a:t>
            </a: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东南大学 刘志远教授</a:t>
            </a:r>
            <a:endParaRPr kumimoji="0" lang="en-US" altLang="zh-CN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C49EDD-FC07-4487-9675-A6BCC8B649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990600"/>
            <a:ext cx="75438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4000" b="1" i="0" u="none" strike="noStrike" kern="0" cap="none" spc="0" normalizeH="0" baseline="0" noProof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Arial (Headings)" charset="0"/>
                <a:ea typeface="宋体" panose="02010600030101010101" pitchFamily="2" charset="-122"/>
                <a:cs typeface="+mn-cs"/>
                <a:sym typeface="Arial (Headings)" charset="0"/>
              </a:rPr>
              <a:t> </a:t>
            </a:r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5B26ECF6-E5B3-4938-BDA6-2B5757067D66}"/>
              </a:ext>
            </a:extLst>
          </p:cNvPr>
          <p:cNvSpPr txBox="1">
            <a:spLocks/>
          </p:cNvSpPr>
          <p:nvPr/>
        </p:nvSpPr>
        <p:spPr>
          <a:xfrm>
            <a:off x="457200" y="533400"/>
            <a:ext cx="8229600" cy="990600"/>
          </a:xfrm>
          <a:prstGeom prst="rect">
            <a:avLst/>
          </a:prstGeom>
        </p:spPr>
        <p:txBody>
          <a:bodyPr/>
          <a:lstStyle>
            <a:lvl1pPr marL="914400" indent="-91440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 kern="1200">
                <a:solidFill>
                  <a:schemeClr val="tx2"/>
                </a:solidFill>
                <a:latin typeface="+mj-lt"/>
                <a:ea typeface="+mj-ea"/>
                <a:cs typeface="+mj-cs"/>
                <a:sym typeface="Arial" panose="020B0604020202020204" pitchFamily="34" charset="0"/>
              </a:defRPr>
            </a:lvl1pPr>
            <a:lvl2pPr marL="914400" indent="-91440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2pPr>
            <a:lvl3pPr marL="914400" indent="-91440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3pPr>
            <a:lvl4pPr marL="914400" indent="-91440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4pPr>
            <a:lvl5pPr marL="914400" indent="-91440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5pPr>
            <a:lvl6pPr marL="1371600" indent="-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6pPr>
            <a:lvl7pPr marL="1828800" indent="-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7pPr>
            <a:lvl8pPr marL="2286000" indent="-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8pPr>
            <a:lvl9pPr marL="2743200" indent="-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9pPr>
          </a:lstStyle>
          <a:p>
            <a:pPr defTabSz="914400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非线性规划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F7AB7169-962B-4E70-90AA-0D96104F6A1C}"/>
              </a:ext>
            </a:extLst>
          </p:cNvPr>
          <p:cNvSpPr txBox="1">
            <a:spLocks/>
          </p:cNvSpPr>
          <p:nvPr/>
        </p:nvSpPr>
        <p:spPr>
          <a:xfrm>
            <a:off x="457200" y="1524000"/>
            <a:ext cx="8577470" cy="4876800"/>
          </a:xfrm>
          <a:prstGeom prst="rect">
            <a:avLst/>
          </a:prstGeom>
        </p:spPr>
        <p:txBody>
          <a:bodyPr/>
          <a:lstStyle>
            <a:lvl1pPr marL="182563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457200" lvl="1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2pPr>
            <a:lvl3pPr marL="731838" lvl="2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3pPr>
            <a:lvl4pPr marL="1006475" lvl="3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4pPr>
            <a:lvl5pPr marL="1189038" lvl="4" indent="-1365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5pPr>
            <a:lvl6pPr marL="2514600" lvl="5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6pPr>
            <a:lvl7pPr marL="2971800" lvl="6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7pPr>
            <a:lvl8pPr marL="3429000" lvl="7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8pPr>
            <a:lvl9pPr marL="3886200" lvl="8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9pPr>
          </a:lstStyle>
          <a:p>
            <a:pPr defTabSz="914400"/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学习目标</a:t>
            </a:r>
            <a:endParaRPr lang="en-US" altLang="zh-CN" b="1" dirty="0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defTabSz="914400">
              <a:lnSpc>
                <a:spcPts val="35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了解非线性规划（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Nonlinear Programming, NLP 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）与凸规划（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Convex Programming 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）的概念和分类；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defTabSz="914400">
              <a:lnSpc>
                <a:spcPts val="35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学习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KKT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Karush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-Kuhn-Tucker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）条件；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defTabSz="914400">
              <a:lnSpc>
                <a:spcPts val="35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知道如何用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KKT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条件找到局部最优解；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defTabSz="914400">
              <a:lnSpc>
                <a:spcPts val="35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了解求解凸规划问题的最速下降方向法；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defTabSz="914400">
              <a:lnSpc>
                <a:spcPts val="35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掌握求解凸规划问题的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Frank-Wolfe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算法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</a:p>
          <a:p>
            <a:pPr defTabSz="914400">
              <a:buFont typeface="Arial" panose="020B0604020202020204" pitchFamily="34" charset="0"/>
              <a:buChar char="•"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7830540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A4BE39A-AA74-4615-9263-909FAD1240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ACF5701F-746E-469B-BDDA-F93B22D4DB72}" type="datetime1">
              <a:rPr kumimoji="0" lang="en-US" altLang="zh-CN" sz="12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3/31/2025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8C62E10-2951-4253-B0F7-5DCA6BBCE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D1009943-BA82-4F6A-BD7C-764069224CD2}" type="slidenum">
              <a:rPr kumimoji="0" lang="zh-CN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3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  <p:sp>
        <p:nvSpPr>
          <p:cNvPr id="16" name="页脚占位符 2">
            <a:extLst>
              <a:ext uri="{FF2B5EF4-FFF2-40B4-BE49-F238E27FC236}">
                <a16:creationId xmlns:a16="http://schemas.microsoft.com/office/drawing/2014/main" id="{CEDF4CAE-D58D-440C-B46A-8097E82B7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8905" y="19050"/>
            <a:ext cx="4831731" cy="328613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交通大数据</a:t>
            </a: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· </a:t>
            </a: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东南大学 刘志远教授</a:t>
            </a:r>
            <a:endParaRPr kumimoji="0" lang="en-US" altLang="zh-CN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C49EDD-FC07-4487-9675-A6BCC8B649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990600"/>
            <a:ext cx="75438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40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 (Headings)" charset="0"/>
                <a:ea typeface="宋体" panose="02010600030101010101" pitchFamily="2" charset="-122"/>
                <a:sym typeface="Arial (Headings)" charset="0"/>
              </a:rPr>
              <a:t> </a:t>
            </a:r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E5708B76-DC01-44C9-A606-46E11C6E548C}"/>
              </a:ext>
            </a:extLst>
          </p:cNvPr>
          <p:cNvSpPr txBox="1">
            <a:spLocks/>
          </p:cNvSpPr>
          <p:nvPr/>
        </p:nvSpPr>
        <p:spPr>
          <a:xfrm>
            <a:off x="457200" y="444183"/>
            <a:ext cx="8229600" cy="990600"/>
          </a:xfrm>
          <a:prstGeom prst="rect">
            <a:avLst/>
          </a:prstGeom>
        </p:spPr>
        <p:txBody>
          <a:bodyPr/>
          <a:lstStyle>
            <a:lvl1pPr marL="914400" indent="-91440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 kern="1200">
                <a:solidFill>
                  <a:schemeClr val="tx2"/>
                </a:solidFill>
                <a:latin typeface="+mj-lt"/>
                <a:ea typeface="+mj-ea"/>
                <a:cs typeface="+mj-cs"/>
                <a:sym typeface="Arial" panose="020B0604020202020204" pitchFamily="34" charset="0"/>
              </a:defRPr>
            </a:lvl1pPr>
            <a:lvl2pPr marL="914400" indent="-91440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2pPr>
            <a:lvl3pPr marL="914400" indent="-91440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3pPr>
            <a:lvl4pPr marL="914400" indent="-91440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4pPr>
            <a:lvl5pPr marL="914400" indent="-91440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5pPr>
            <a:lvl6pPr marL="1371600" indent="-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6pPr>
            <a:lvl7pPr marL="1828800" indent="-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7pPr>
            <a:lvl8pPr marL="2286000" indent="-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8pPr>
            <a:lvl9pPr marL="2743200" indent="-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9pPr>
          </a:lstStyle>
          <a:p>
            <a:pPr defTabSz="914400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数学规划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E803BF44-E4F5-48F9-B2AF-9073C2E9DD63}"/>
              </a:ext>
            </a:extLst>
          </p:cNvPr>
          <p:cNvSpPr txBox="1">
            <a:spLocks/>
          </p:cNvSpPr>
          <p:nvPr/>
        </p:nvSpPr>
        <p:spPr>
          <a:xfrm>
            <a:off x="457200" y="1600200"/>
            <a:ext cx="8229600" cy="4876800"/>
          </a:xfrm>
          <a:prstGeom prst="rect">
            <a:avLst/>
          </a:prstGeom>
        </p:spPr>
        <p:txBody>
          <a:bodyPr/>
          <a:lstStyle>
            <a:lvl1pPr marL="182563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457200" lvl="1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2pPr>
            <a:lvl3pPr marL="731838" lvl="2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3pPr>
            <a:lvl4pPr marL="1006475" lvl="3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4pPr>
            <a:lvl5pPr marL="1189038" lvl="4" indent="-1365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5pPr>
            <a:lvl6pPr marL="2514600" lvl="5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6pPr>
            <a:lvl7pPr marL="2971800" lvl="6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7pPr>
            <a:lvl8pPr marL="3429000" lvl="7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8pPr>
            <a:lvl9pPr marL="3886200" lvl="8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9pPr>
          </a:lstStyle>
          <a:p>
            <a:pPr defTabSz="914400"/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线性规划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defTabSz="914400"/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非线性规划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defTabSz="914400"/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动态规划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defTabSz="914400"/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图论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defTabSz="914400"/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随机规划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defTabSz="914400"/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……</a:t>
            </a:r>
          </a:p>
          <a:p>
            <a:pPr defTabSz="914400"/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图示 7">
            <a:extLst>
              <a:ext uri="{FF2B5EF4-FFF2-40B4-BE49-F238E27FC236}">
                <a16:creationId xmlns:a16="http://schemas.microsoft.com/office/drawing/2014/main" id="{7ECFF217-C610-4DFF-981F-AC7EE6EDCF4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91925892"/>
              </p:ext>
            </p:extLst>
          </p:nvPr>
        </p:nvGraphicFramePr>
        <p:xfrm>
          <a:off x="4702236" y="444183"/>
          <a:ext cx="4184371" cy="637167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823613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A4BE39A-AA74-4615-9263-909FAD1240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ACF5701F-746E-469B-BDDA-F93B22D4DB72}" type="datetime1">
              <a:rPr kumimoji="0" lang="en-US" altLang="zh-CN" sz="12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3/31/2025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8C62E10-2951-4253-B0F7-5DCA6BBCE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D1009943-BA82-4F6A-BD7C-764069224CD2}" type="slidenum">
              <a:rPr kumimoji="0" lang="zh-CN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4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  <p:sp>
        <p:nvSpPr>
          <p:cNvPr id="16" name="页脚占位符 2">
            <a:extLst>
              <a:ext uri="{FF2B5EF4-FFF2-40B4-BE49-F238E27FC236}">
                <a16:creationId xmlns:a16="http://schemas.microsoft.com/office/drawing/2014/main" id="{CEDF4CAE-D58D-440C-B46A-8097E82B7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8905" y="19050"/>
            <a:ext cx="4831731" cy="328613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交通大数据</a:t>
            </a: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· </a:t>
            </a: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东南大学 刘志远教授</a:t>
            </a:r>
            <a:endParaRPr kumimoji="0" lang="en-US" altLang="zh-CN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C49EDD-FC07-4487-9675-A6BCC8B649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990600"/>
            <a:ext cx="75438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40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 (Headings)" charset="0"/>
                <a:ea typeface="宋体" panose="02010600030101010101" pitchFamily="2" charset="-122"/>
                <a:sym typeface="Arial (Headings)" charset="0"/>
              </a:rPr>
              <a:t> </a:t>
            </a: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3852F99D-33C1-4776-B17F-DAF2BCA45B7D}"/>
              </a:ext>
            </a:extLst>
          </p:cNvPr>
          <p:cNvSpPr txBox="1">
            <a:spLocks/>
          </p:cNvSpPr>
          <p:nvPr/>
        </p:nvSpPr>
        <p:spPr>
          <a:xfrm>
            <a:off x="457200" y="1025709"/>
            <a:ext cx="8229600" cy="4876800"/>
          </a:xfrm>
          <a:prstGeom prst="rect">
            <a:avLst/>
          </a:prstGeom>
        </p:spPr>
        <p:txBody>
          <a:bodyPr/>
          <a:lstStyle>
            <a:lvl1pPr marL="182563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457200" lvl="1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2pPr>
            <a:lvl3pPr marL="731838" lvl="2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3pPr>
            <a:lvl4pPr marL="1006475" lvl="3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4pPr>
            <a:lvl5pPr marL="1189038" lvl="4" indent="-1365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5pPr>
            <a:lvl6pPr marL="2514600" lvl="5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6pPr>
            <a:lvl7pPr marL="2971800" lvl="6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7pPr>
            <a:lvl8pPr marL="3429000" lvl="7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8pPr>
            <a:lvl9pPr marL="3886200" lvl="8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9pPr>
          </a:lstStyle>
          <a:p>
            <a:pPr defTabSz="914400"/>
            <a:r>
              <a:rPr lang="zh-CN" altLang="en-US" sz="2800" b="1" kern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问题描述</a:t>
            </a:r>
            <a:endParaRPr lang="en-US" altLang="zh-CN" sz="2800" b="1" kern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defTabSz="91440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>
                <a:latin typeface="+mn-ea"/>
                <a:cs typeface="Times New Roman" panose="02020603050405020304" pitchFamily="18" charset="0"/>
              </a:rPr>
              <a:t>确定一组决策变量的值</a:t>
            </a:r>
            <a:r>
              <a:rPr lang="en-US" altLang="zh-CN">
                <a:latin typeface="+mn-ea"/>
                <a:cs typeface="Times New Roman" panose="02020603050405020304" pitchFamily="18" charset="0"/>
              </a:rPr>
              <a:t>,</a:t>
            </a:r>
            <a:r>
              <a:rPr lang="zh-CN" altLang="en-US">
                <a:latin typeface="+mn-ea"/>
                <a:cs typeface="Times New Roman" panose="02020603050405020304" pitchFamily="18" charset="0"/>
              </a:rPr>
              <a:t>使目标函数达到最优，同时满足约束条件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Object 8">
            <a:extLst>
              <a:ext uri="{FF2B5EF4-FFF2-40B4-BE49-F238E27FC236}">
                <a16:creationId xmlns:a16="http://schemas.microsoft.com/office/drawing/2014/main" id="{F2E06978-B494-4B0B-B0B8-853CA94E4B4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8733618"/>
              </p:ext>
            </p:extLst>
          </p:nvPr>
        </p:nvGraphicFramePr>
        <p:xfrm>
          <a:off x="848587" y="2640796"/>
          <a:ext cx="3514725" cy="3848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7" name="Equation" r:id="rId3" imgW="123748800" imgH="124663200" progId="Equation.DSMT4">
                  <p:embed/>
                </p:oleObj>
              </mc:Choice>
              <mc:Fallback>
                <p:oleObj name="Equation" r:id="rId3" imgW="123748800" imgH="124663200" progId="Equation.DSMT4">
                  <p:embed/>
                  <p:pic>
                    <p:nvPicPr>
                      <p:cNvPr id="5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8587" y="2640796"/>
                        <a:ext cx="3514725" cy="3848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7">
            <a:extLst>
              <a:ext uri="{FF2B5EF4-FFF2-40B4-BE49-F238E27FC236}">
                <a16:creationId xmlns:a16="http://schemas.microsoft.com/office/drawing/2014/main" id="{4089DB88-60AE-4D74-907E-712122E3A1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41301" y="2630003"/>
            <a:ext cx="181554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dirty="0">
                <a:solidFill>
                  <a:srgbClr val="000000"/>
                </a:solidFill>
              </a:rPr>
              <a:t>目标函数</a:t>
            </a:r>
            <a:endParaRPr lang="en-US" altLang="zh-CN" dirty="0">
              <a:solidFill>
                <a:srgbClr val="000000"/>
              </a:solidFill>
            </a:endParaRPr>
          </a:p>
        </p:txBody>
      </p:sp>
      <p:sp>
        <p:nvSpPr>
          <p:cNvPr id="10" name="Text Box 7">
            <a:extLst>
              <a:ext uri="{FF2B5EF4-FFF2-40B4-BE49-F238E27FC236}">
                <a16:creationId xmlns:a16="http://schemas.microsoft.com/office/drawing/2014/main" id="{6B7643C6-4DE9-4C74-A012-4E8EEF3D1D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41301" y="3662712"/>
            <a:ext cx="181554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dirty="0">
                <a:solidFill>
                  <a:srgbClr val="000000"/>
                </a:solidFill>
              </a:rPr>
              <a:t>不等式约束</a:t>
            </a:r>
            <a:endParaRPr lang="en-US" altLang="zh-CN" dirty="0">
              <a:solidFill>
                <a:srgbClr val="000000"/>
              </a:solidFill>
            </a:endParaRPr>
          </a:p>
        </p:txBody>
      </p:sp>
      <p:sp>
        <p:nvSpPr>
          <p:cNvPr id="11" name="Text Box 7">
            <a:extLst>
              <a:ext uri="{FF2B5EF4-FFF2-40B4-BE49-F238E27FC236}">
                <a16:creationId xmlns:a16="http://schemas.microsoft.com/office/drawing/2014/main" id="{D63C194F-1EE9-48B0-832B-4C8D1E7E29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41301" y="5235497"/>
            <a:ext cx="181554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dirty="0">
                <a:solidFill>
                  <a:srgbClr val="000000"/>
                </a:solidFill>
              </a:rPr>
              <a:t>等式约束</a:t>
            </a:r>
            <a:endParaRPr lang="en-US" altLang="zh-CN" dirty="0">
              <a:solidFill>
                <a:srgbClr val="000000"/>
              </a:solidFill>
            </a:endParaRPr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E456F243-C000-4887-A4DE-845AD9337646}"/>
              </a:ext>
            </a:extLst>
          </p:cNvPr>
          <p:cNvCxnSpPr/>
          <p:nvPr/>
        </p:nvCxnSpPr>
        <p:spPr>
          <a:xfrm flipH="1">
            <a:off x="4610100" y="2877146"/>
            <a:ext cx="118441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331CB9B9-657A-48E7-810D-1B004F7ADC05}"/>
              </a:ext>
            </a:extLst>
          </p:cNvPr>
          <p:cNvCxnSpPr/>
          <p:nvPr/>
        </p:nvCxnSpPr>
        <p:spPr>
          <a:xfrm flipH="1">
            <a:off x="4610100" y="3903676"/>
            <a:ext cx="118441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51AEE24C-F3FB-4B05-819A-EEE9493E7DE5}"/>
              </a:ext>
            </a:extLst>
          </p:cNvPr>
          <p:cNvCxnSpPr/>
          <p:nvPr/>
        </p:nvCxnSpPr>
        <p:spPr>
          <a:xfrm flipH="1">
            <a:off x="4655944" y="5466330"/>
            <a:ext cx="118441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标题 1">
            <a:extLst>
              <a:ext uri="{FF2B5EF4-FFF2-40B4-BE49-F238E27FC236}">
                <a16:creationId xmlns:a16="http://schemas.microsoft.com/office/drawing/2014/main" id="{62BA4BFF-B3BB-4BCC-B541-7A789584C9B8}"/>
              </a:ext>
            </a:extLst>
          </p:cNvPr>
          <p:cNvSpPr txBox="1">
            <a:spLocks/>
          </p:cNvSpPr>
          <p:nvPr/>
        </p:nvSpPr>
        <p:spPr>
          <a:xfrm>
            <a:off x="76200" y="355605"/>
            <a:ext cx="8229600" cy="990600"/>
          </a:xfrm>
          <a:prstGeom prst="rect">
            <a:avLst/>
          </a:prstGeom>
        </p:spPr>
        <p:txBody>
          <a:bodyPr>
            <a:normAutofit/>
          </a:bodyPr>
          <a:lstStyle>
            <a:lvl1pPr marL="914400" indent="-91440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 kern="1200">
                <a:solidFill>
                  <a:schemeClr val="tx2"/>
                </a:solidFill>
                <a:latin typeface="+mj-lt"/>
                <a:ea typeface="+mj-ea"/>
                <a:cs typeface="+mj-cs"/>
                <a:sym typeface="Arial" panose="020B0604020202020204" pitchFamily="34" charset="0"/>
              </a:defRPr>
            </a:lvl1pPr>
            <a:lvl2pPr marL="914400" indent="-91440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2pPr>
            <a:lvl3pPr marL="914400" indent="-91440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3pPr>
            <a:lvl4pPr marL="914400" indent="-91440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4pPr>
            <a:lvl5pPr marL="914400" indent="-91440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5pPr>
            <a:lvl6pPr marL="1371600" indent="-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6pPr>
            <a:lvl7pPr marL="1828800" indent="-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7pPr>
            <a:lvl8pPr marL="2286000" indent="-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8pPr>
            <a:lvl9pPr marL="2743200" indent="-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9pPr>
          </a:lstStyle>
          <a:p>
            <a:pPr defTabSz="914400"/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NLP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的定义</a:t>
            </a:r>
          </a:p>
        </p:txBody>
      </p:sp>
    </p:spTree>
    <p:extLst>
      <p:ext uri="{BB962C8B-B14F-4D97-AF65-F5344CB8AC3E}">
        <p14:creationId xmlns:p14="http://schemas.microsoft.com/office/powerpoint/2010/main" val="12828210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A4BE39A-AA74-4615-9263-909FAD1240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ACF5701F-746E-469B-BDDA-F93B22D4DB72}" type="datetime1">
              <a:rPr kumimoji="0" lang="en-US" altLang="zh-CN" sz="12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3/31/2025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8C62E10-2951-4253-B0F7-5DCA6BBCE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D1009943-BA82-4F6A-BD7C-764069224CD2}" type="slidenum">
              <a:rPr kumimoji="0" lang="zh-CN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5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  <p:sp>
        <p:nvSpPr>
          <p:cNvPr id="16" name="页脚占位符 2">
            <a:extLst>
              <a:ext uri="{FF2B5EF4-FFF2-40B4-BE49-F238E27FC236}">
                <a16:creationId xmlns:a16="http://schemas.microsoft.com/office/drawing/2014/main" id="{CEDF4CAE-D58D-440C-B46A-8097E82B7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8905" y="19050"/>
            <a:ext cx="4831731" cy="328613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交通大数据</a:t>
            </a: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· </a:t>
            </a: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东南大学 刘志远教授</a:t>
            </a:r>
            <a:endParaRPr kumimoji="0" lang="en-US" altLang="zh-CN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C49EDD-FC07-4487-9675-A6BCC8B649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990600"/>
            <a:ext cx="75438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40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 (Headings)" charset="0"/>
                <a:ea typeface="宋体" panose="02010600030101010101" pitchFamily="2" charset="-122"/>
                <a:sym typeface="Arial (Headings)" charset="0"/>
              </a:rPr>
              <a:t> 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687412CA-E23C-4371-BE4D-3357B1D5EF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7650" y="1042356"/>
            <a:ext cx="3581400" cy="198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4F81BD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sz="2400" b="1" kern="0" dirty="0">
                <a:latin typeface="Times New Roman" panose="02020603050405020304" pitchFamily="18" charset="0"/>
              </a:rPr>
              <a:t>向量表示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–"/>
              <a:defRPr/>
            </a:pPr>
            <a:r>
              <a:rPr lang="zh-CN" altLang="en-US" sz="24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决策变量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–"/>
              <a:defRPr/>
            </a:pPr>
            <a:r>
              <a:rPr lang="zh-CN" altLang="en-US" sz="24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不等式约束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–"/>
              <a:defRPr/>
            </a:pPr>
            <a:r>
              <a:rPr lang="zh-CN" altLang="en-US" sz="24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等式约束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: </a:t>
            </a:r>
          </a:p>
        </p:txBody>
      </p:sp>
      <p:graphicFrame>
        <p:nvGraphicFramePr>
          <p:cNvPr id="7" name="Object 8">
            <a:extLst>
              <a:ext uri="{FF2B5EF4-FFF2-40B4-BE49-F238E27FC236}">
                <a16:creationId xmlns:a16="http://schemas.microsoft.com/office/drawing/2014/main" id="{E83454A9-B688-4A51-BB8E-0E93E49DC9C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7197983"/>
              </p:ext>
            </p:extLst>
          </p:nvPr>
        </p:nvGraphicFramePr>
        <p:xfrm>
          <a:off x="3879850" y="1797874"/>
          <a:ext cx="175895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5" name="Equation" r:id="rId3" imgW="2043813" imgH="545863" progId="Equation.DSMT4">
                  <p:embed/>
                </p:oleObj>
              </mc:Choice>
              <mc:Fallback>
                <p:oleObj name="Equation" r:id="rId3" imgW="2043813" imgH="545863" progId="Equation.DSMT4">
                  <p:embed/>
                  <p:pic>
                    <p:nvPicPr>
                      <p:cNvPr id="6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79850" y="1797874"/>
                        <a:ext cx="1758950" cy="469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10">
            <a:extLst>
              <a:ext uri="{FF2B5EF4-FFF2-40B4-BE49-F238E27FC236}">
                <a16:creationId xmlns:a16="http://schemas.microsoft.com/office/drawing/2014/main" id="{89DC7613-9FCB-4E83-A956-5A8733CB84F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5155907"/>
              </p:ext>
            </p:extLst>
          </p:nvPr>
        </p:nvGraphicFramePr>
        <p:xfrm>
          <a:off x="3879850" y="2323845"/>
          <a:ext cx="168275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6" name="Equation" r:id="rId5" imgW="1954951" imgH="545863" progId="Equation.DSMT4">
                  <p:embed/>
                </p:oleObj>
              </mc:Choice>
              <mc:Fallback>
                <p:oleObj name="Equation" r:id="rId5" imgW="1954951" imgH="545863" progId="Equation.DSMT4">
                  <p:embed/>
                  <p:pic>
                    <p:nvPicPr>
                      <p:cNvPr id="7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79850" y="2323845"/>
                        <a:ext cx="1682750" cy="469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6">
            <a:extLst>
              <a:ext uri="{FF2B5EF4-FFF2-40B4-BE49-F238E27FC236}">
                <a16:creationId xmlns:a16="http://schemas.microsoft.com/office/drawing/2014/main" id="{1034F472-0C4C-4930-B3A5-F13CC7269FE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7610943"/>
              </p:ext>
            </p:extLst>
          </p:nvPr>
        </p:nvGraphicFramePr>
        <p:xfrm>
          <a:off x="3879850" y="1360487"/>
          <a:ext cx="1866900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7" name="Equation" r:id="rId7" imgW="1866900" imgH="469900" progId="Equation.DSMT4">
                  <p:embed/>
                </p:oleObj>
              </mc:Choice>
              <mc:Fallback>
                <p:oleObj name="Equation" r:id="rId7" imgW="1866900" imgH="469900" progId="Equation.DSMT4">
                  <p:embed/>
                  <p:pic>
                    <p:nvPicPr>
                      <p:cNvPr id="8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79850" y="1360487"/>
                        <a:ext cx="1866900" cy="466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Box 1043">
            <a:extLst>
              <a:ext uri="{FF2B5EF4-FFF2-40B4-BE49-F238E27FC236}">
                <a16:creationId xmlns:a16="http://schemas.microsoft.com/office/drawing/2014/main" id="{C8BF1F55-FAF4-425F-9B03-ADD4962311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7650" y="3619292"/>
            <a:ext cx="566530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342900" marR="0" lvl="0" indent="-34290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非线性规划的向量表示</a:t>
            </a:r>
            <a:r>
              <a:rPr kumimoji="0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12" name="Text Box 1045">
            <a:extLst>
              <a:ext uri="{FF2B5EF4-FFF2-40B4-BE49-F238E27FC236}">
                <a16:creationId xmlns:a16="http://schemas.microsoft.com/office/drawing/2014/main" id="{C514F1ED-6F82-47DB-AB79-CE08D3F601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7650" y="2761047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342900" marR="0" lvl="0" indent="-34290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kern="0" dirty="0"/>
              <a:t>假设</a:t>
            </a:r>
            <a:endParaRPr kumimoji="0" lang="en-US" altLang="zh-CN" sz="240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" name="Text Box 1046">
            <a:extLst>
              <a:ext uri="{FF2B5EF4-FFF2-40B4-BE49-F238E27FC236}">
                <a16:creationId xmlns:a16="http://schemas.microsoft.com/office/drawing/2014/main" id="{2BAC9E18-D252-4D13-A887-12A03E6CAA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8502" y="3168652"/>
            <a:ext cx="7543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kumimoji="0" lang="en-US" altLang="zh-CN" sz="24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kumimoji="0" lang="en-US" altLang="zh-CN" sz="24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kumimoji="0" lang="en-US" altLang="zh-CN" sz="24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kumimoji="0" lang="en-US" altLang="zh-CN" sz="24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) </a:t>
            </a:r>
            <a:r>
              <a:rPr lang="zh-CN" altLang="en-US" kern="0" dirty="0">
                <a:solidFill>
                  <a:srgbClr val="000000"/>
                </a:solidFill>
              </a:rPr>
              <a:t>和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kumimoji="0" lang="en-US" altLang="zh-CN" sz="24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h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kumimoji="0" lang="en-US" altLang="zh-CN" sz="24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) 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都是连续可微函数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" name="Text Box 1043">
            <a:extLst>
              <a:ext uri="{FF2B5EF4-FFF2-40B4-BE49-F238E27FC236}">
                <a16:creationId xmlns:a16="http://schemas.microsoft.com/office/drawing/2014/main" id="{698E0314-3736-4CA2-B798-0377657BDC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476" y="5890750"/>
            <a:ext cx="737152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u="sng" kern="0" dirty="0"/>
              <a:t>注意向量和集合的符号表达。</a:t>
            </a:r>
            <a:endParaRPr kumimoji="0" lang="en-US" altLang="zh-CN" sz="2400" i="0" u="sng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15" name="Object 1">
            <a:extLst>
              <a:ext uri="{FF2B5EF4-FFF2-40B4-BE49-F238E27FC236}">
                <a16:creationId xmlns:a16="http://schemas.microsoft.com/office/drawing/2014/main" id="{6992FBE5-171F-498A-859D-790009DF3DA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97204236"/>
              </p:ext>
            </p:extLst>
          </p:nvPr>
        </p:nvGraphicFramePr>
        <p:xfrm>
          <a:off x="703473" y="4021482"/>
          <a:ext cx="2171929" cy="18973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8" name="Equation" r:id="rId9" imgW="2209680" imgH="1930320" progId="Equation.DSMT4">
                  <p:embed/>
                </p:oleObj>
              </mc:Choice>
              <mc:Fallback>
                <p:oleObj name="Equation" r:id="rId9" imgW="2209680" imgH="1930320" progId="Equation.DSMT4">
                  <p:embed/>
                  <p:pic>
                    <p:nvPicPr>
                      <p:cNvPr id="13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3473" y="4021482"/>
                        <a:ext cx="2171929" cy="189731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3">
            <a:extLst>
              <a:ext uri="{FF2B5EF4-FFF2-40B4-BE49-F238E27FC236}">
                <a16:creationId xmlns:a16="http://schemas.microsoft.com/office/drawing/2014/main" id="{01D4D886-95F8-48EF-BB57-483DC04000A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1271120"/>
              </p:ext>
            </p:extLst>
          </p:nvPr>
        </p:nvGraphicFramePr>
        <p:xfrm>
          <a:off x="5002237" y="4231957"/>
          <a:ext cx="3917221" cy="14527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9" name="Equation" r:id="rId11" imgW="3835080" imgH="1434960" progId="Equation.DSMT4">
                  <p:embed/>
                </p:oleObj>
              </mc:Choice>
              <mc:Fallback>
                <p:oleObj name="Equation" r:id="rId11" imgW="3835080" imgH="1434960" progId="Equation.DSMT4">
                  <p:embed/>
                  <p:pic>
                    <p:nvPicPr>
                      <p:cNvPr id="14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2237" y="4231957"/>
                        <a:ext cx="3917221" cy="145274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标题 2">
            <a:extLst>
              <a:ext uri="{FF2B5EF4-FFF2-40B4-BE49-F238E27FC236}">
                <a16:creationId xmlns:a16="http://schemas.microsoft.com/office/drawing/2014/main" id="{F434BA9A-BBE3-41E4-98E5-884F319CC3B2}"/>
              </a:ext>
            </a:extLst>
          </p:cNvPr>
          <p:cNvSpPr txBox="1">
            <a:spLocks/>
          </p:cNvSpPr>
          <p:nvPr/>
        </p:nvSpPr>
        <p:spPr>
          <a:xfrm>
            <a:off x="279903" y="355020"/>
            <a:ext cx="8229600" cy="990600"/>
          </a:xfrm>
          <a:prstGeom prst="rect">
            <a:avLst/>
          </a:prstGeom>
        </p:spPr>
        <p:txBody>
          <a:bodyPr/>
          <a:lstStyle>
            <a:lvl1pPr marL="914400" indent="-91440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 kern="1200">
                <a:solidFill>
                  <a:schemeClr val="tx2"/>
                </a:solidFill>
                <a:latin typeface="+mj-lt"/>
                <a:ea typeface="+mj-ea"/>
                <a:cs typeface="+mj-cs"/>
                <a:sym typeface="Arial" panose="020B0604020202020204" pitchFamily="34" charset="0"/>
              </a:defRPr>
            </a:lvl1pPr>
            <a:lvl2pPr marL="914400" indent="-91440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2pPr>
            <a:lvl3pPr marL="914400" indent="-91440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3pPr>
            <a:lvl4pPr marL="914400" indent="-91440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4pPr>
            <a:lvl5pPr marL="914400" indent="-91440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5pPr>
            <a:lvl6pPr marL="1371600" indent="-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6pPr>
            <a:lvl7pPr marL="1828800" indent="-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7pPr>
            <a:lvl8pPr marL="2286000" indent="-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8pPr>
            <a:lvl9pPr marL="2743200" indent="-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9pPr>
          </a:lstStyle>
          <a:p>
            <a:pPr defTabSz="914400"/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NLP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的定义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840402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A4BE39A-AA74-4615-9263-909FAD1240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ACF5701F-746E-469B-BDDA-F93B22D4DB72}" type="datetime1">
              <a:rPr kumimoji="0" lang="en-US" altLang="zh-CN" sz="12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3/31/2025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8C62E10-2951-4253-B0F7-5DCA6BBCE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D1009943-BA82-4F6A-BD7C-764069224CD2}" type="slidenum">
              <a:rPr kumimoji="0" lang="zh-CN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6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  <p:sp>
        <p:nvSpPr>
          <p:cNvPr id="16" name="页脚占位符 2">
            <a:extLst>
              <a:ext uri="{FF2B5EF4-FFF2-40B4-BE49-F238E27FC236}">
                <a16:creationId xmlns:a16="http://schemas.microsoft.com/office/drawing/2014/main" id="{CEDF4CAE-D58D-440C-B46A-8097E82B7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8905" y="19050"/>
            <a:ext cx="4831731" cy="328613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交通大数据</a:t>
            </a: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· </a:t>
            </a: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东南大学 刘志远教授</a:t>
            </a:r>
            <a:endParaRPr kumimoji="0" lang="en-US" altLang="zh-CN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  <p:sp>
        <p:nvSpPr>
          <p:cNvPr id="19" name="标题 1">
            <a:extLst>
              <a:ext uri="{FF2B5EF4-FFF2-40B4-BE49-F238E27FC236}">
                <a16:creationId xmlns:a16="http://schemas.microsoft.com/office/drawing/2014/main" id="{28D15F5E-963C-41BA-AE60-3CF91E4A8C3A}"/>
              </a:ext>
            </a:extLst>
          </p:cNvPr>
          <p:cNvSpPr txBox="1">
            <a:spLocks/>
          </p:cNvSpPr>
          <p:nvPr/>
        </p:nvSpPr>
        <p:spPr>
          <a:xfrm>
            <a:off x="221756" y="384638"/>
            <a:ext cx="8229600" cy="990600"/>
          </a:xfrm>
          <a:prstGeom prst="rect">
            <a:avLst/>
          </a:prstGeom>
        </p:spPr>
        <p:txBody>
          <a:bodyPr>
            <a:normAutofit/>
          </a:bodyPr>
          <a:lstStyle>
            <a:lvl1pPr marL="914400" indent="-91440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 kern="1200">
                <a:solidFill>
                  <a:schemeClr val="tx2"/>
                </a:solidFill>
                <a:latin typeface="+mj-lt"/>
                <a:ea typeface="+mj-ea"/>
                <a:cs typeface="+mj-cs"/>
                <a:sym typeface="Arial" panose="020B0604020202020204" pitchFamily="34" charset="0"/>
              </a:defRPr>
            </a:lvl1pPr>
            <a:lvl2pPr marL="914400" indent="-91440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2pPr>
            <a:lvl3pPr marL="914400" indent="-91440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3pPr>
            <a:lvl4pPr marL="914400" indent="-91440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4pPr>
            <a:lvl5pPr marL="914400" indent="-91440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5pPr>
            <a:lvl6pPr marL="1371600" indent="-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6pPr>
            <a:lvl7pPr marL="1828800" indent="-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7pPr>
            <a:lvl8pPr marL="2286000" indent="-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8pPr>
            <a:lvl9pPr marL="2743200" indent="-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9pPr>
          </a:lstStyle>
          <a:p>
            <a:pPr defTabSz="914400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基础知识点</a:t>
            </a:r>
          </a:p>
        </p:txBody>
      </p:sp>
      <p:sp>
        <p:nvSpPr>
          <p:cNvPr id="20" name="内容占位符 2">
            <a:extLst>
              <a:ext uri="{FF2B5EF4-FFF2-40B4-BE49-F238E27FC236}">
                <a16:creationId xmlns:a16="http://schemas.microsoft.com/office/drawing/2014/main" id="{8C52CACC-0293-40A4-A04D-1DBE50F0F482}"/>
              </a:ext>
            </a:extLst>
          </p:cNvPr>
          <p:cNvSpPr txBox="1">
            <a:spLocks/>
          </p:cNvSpPr>
          <p:nvPr/>
        </p:nvSpPr>
        <p:spPr>
          <a:xfrm>
            <a:off x="457200" y="1115049"/>
            <a:ext cx="8229600" cy="4876800"/>
          </a:xfrm>
          <a:prstGeom prst="rect">
            <a:avLst/>
          </a:prstGeom>
        </p:spPr>
        <p:txBody>
          <a:bodyPr/>
          <a:lstStyle>
            <a:lvl1pPr marL="182563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457200" lvl="1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2pPr>
            <a:lvl3pPr marL="731838" lvl="2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3pPr>
            <a:lvl4pPr marL="1006475" lvl="3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4pPr>
            <a:lvl5pPr marL="1189038" lvl="4" indent="-1365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5pPr>
            <a:lvl6pPr marL="2514600" lvl="5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6pPr>
            <a:lvl7pPr marL="2971800" lvl="6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7pPr>
            <a:lvl8pPr marL="3429000" lvl="7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8pPr>
            <a:lvl9pPr marL="3886200" lvl="8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9pPr>
          </a:lstStyle>
          <a:p>
            <a:pPr marL="0" indent="0" defTabSz="914400">
              <a:spcBef>
                <a:spcPct val="50000"/>
              </a:spcBef>
              <a:buClrTx/>
              <a:buSzPct val="60000"/>
              <a:defRPr/>
            </a:pPr>
            <a:r>
              <a:rPr lang="en-US" altLang="zh-CN" b="1" ker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NLP</a:t>
            </a:r>
            <a:r>
              <a:rPr lang="zh-CN" altLang="en-US" b="1" ker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的求解难点</a:t>
            </a:r>
            <a:endParaRPr lang="en-US" altLang="zh-CN" b="1" kern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914400"/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8CC30F1-A85B-475C-9806-44F0DA5885A8}"/>
              </a:ext>
            </a:extLst>
          </p:cNvPr>
          <p:cNvSpPr txBox="1"/>
          <p:nvPr/>
        </p:nvSpPr>
        <p:spPr>
          <a:xfrm>
            <a:off x="457200" y="1574524"/>
            <a:ext cx="86868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局部最优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≠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全局最优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与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LP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相比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NLP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的最优值可能不是在极值点（顶点）处出现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即使</a:t>
            </a: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f(x)</a:t>
            </a: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是有界的</a:t>
            </a: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, </a:t>
            </a: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也可能不存在最优解</a:t>
            </a:r>
            <a:endParaRPr lang="en-US" altLang="zh-CN" sz="2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endParaRPr lang="en-US" altLang="zh-CN" sz="2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endParaRPr lang="en-US" altLang="zh-CN" sz="2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endParaRPr lang="en-US" altLang="zh-CN" sz="2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endParaRPr lang="en-US" altLang="zh-CN" sz="2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可行域可能不是相互连接的</a:t>
            </a:r>
            <a:endParaRPr lang="en-US" altLang="zh-CN" sz="2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8A0325DE-77A4-441F-BA4C-A2F6E403C00B}"/>
              </a:ext>
            </a:extLst>
          </p:cNvPr>
          <p:cNvGrpSpPr/>
          <p:nvPr/>
        </p:nvGrpSpPr>
        <p:grpSpPr>
          <a:xfrm>
            <a:off x="515938" y="2721486"/>
            <a:ext cx="8337101" cy="3425848"/>
            <a:chOff x="482978" y="2603775"/>
            <a:chExt cx="8837234" cy="3721170"/>
          </a:xfrm>
        </p:grpSpPr>
        <p:graphicFrame>
          <p:nvGraphicFramePr>
            <p:cNvPr id="23" name="Object 8">
              <a:extLst>
                <a:ext uri="{FF2B5EF4-FFF2-40B4-BE49-F238E27FC236}">
                  <a16:creationId xmlns:a16="http://schemas.microsoft.com/office/drawing/2014/main" id="{01831A5F-E363-455F-AB5F-0DF88E63148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82978" y="3147931"/>
            <a:ext cx="5691000" cy="7190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6" name="Equation" r:id="rId3" imgW="137464800" imgH="17373600" progId="Equation.DSMT4">
                    <p:embed/>
                  </p:oleObj>
                </mc:Choice>
                <mc:Fallback>
                  <p:oleObj name="Equation" r:id="rId3" imgW="137464800" imgH="17373600" progId="Equation.DSMT4">
                    <p:embed/>
                    <p:pic>
                      <p:nvPicPr>
                        <p:cNvPr id="8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2978" y="3147931"/>
                          <a:ext cx="5691000" cy="71905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24" name="Picture 26">
              <a:extLst>
                <a:ext uri="{FF2B5EF4-FFF2-40B4-BE49-F238E27FC236}">
                  <a16:creationId xmlns:a16="http://schemas.microsoft.com/office/drawing/2014/main" id="{37A3137B-1EC8-4C67-8D56-00DF98D04CC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91275" y="2603775"/>
              <a:ext cx="2752725" cy="15811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25" name="Text Box 43">
              <a:extLst>
                <a:ext uri="{FF2B5EF4-FFF2-40B4-BE49-F238E27FC236}">
                  <a16:creationId xmlns:a16="http://schemas.microsoft.com/office/drawing/2014/main" id="{7F8BD148-5A72-436C-99BE-F13485AD1C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5335" y="2662796"/>
              <a:ext cx="1371600" cy="4346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chemeClr val="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2000" i="1" kern="0" dirty="0">
                  <a:solidFill>
                    <a:srgbClr val="000000"/>
                  </a:solidFill>
                </a:rPr>
                <a:t>例如</a:t>
              </a:r>
              <a:endParaRPr kumimoji="0" lang="en-US" altLang="zh-CN" sz="20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26" name="Object 40">
              <a:extLst>
                <a:ext uri="{FF2B5EF4-FFF2-40B4-BE49-F238E27FC236}">
                  <a16:creationId xmlns:a16="http://schemas.microsoft.com/office/drawing/2014/main" id="{BD119C23-8814-4551-84D6-9AE9F15C62E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090670" y="5375908"/>
            <a:ext cx="2832100" cy="431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7" name="Equation" r:id="rId6" imgW="2832100" imgH="431800" progId="Equation.DSMT4">
                    <p:embed/>
                  </p:oleObj>
                </mc:Choice>
                <mc:Fallback>
                  <p:oleObj name="Equation" r:id="rId6" imgW="2832100" imgH="431800" progId="Equation.DSMT4">
                    <p:embed/>
                    <p:pic>
                      <p:nvPicPr>
                        <p:cNvPr id="11" name="Object 4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90670" y="5375908"/>
                          <a:ext cx="2832100" cy="4318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7" name="Text Box 44">
              <a:extLst>
                <a:ext uri="{FF2B5EF4-FFF2-40B4-BE49-F238E27FC236}">
                  <a16:creationId xmlns:a16="http://schemas.microsoft.com/office/drawing/2014/main" id="{99F7C0B0-347C-4CE6-B25F-2E7FFBD186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5335" y="4741541"/>
              <a:ext cx="1371600" cy="4346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chemeClr val="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2000" i="1" kern="0" dirty="0">
                  <a:solidFill>
                    <a:srgbClr val="000000"/>
                  </a:solidFill>
                </a:rPr>
                <a:t>例如</a:t>
              </a:r>
              <a:endParaRPr kumimoji="0" lang="en-US" altLang="zh-CN" sz="20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91E03EA1-BBDF-4DC6-86F4-C9F09AC1EE0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15062" y="4419945"/>
              <a:ext cx="3105150" cy="1905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1467289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A4BE39A-AA74-4615-9263-909FAD1240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ACF5701F-746E-469B-BDDA-F93B22D4DB72}" type="datetime1">
              <a:rPr kumimoji="0" lang="en-US" altLang="zh-CN" sz="12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3/31/2025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8C62E10-2951-4253-B0F7-5DCA6BBCE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D1009943-BA82-4F6A-BD7C-764069224CD2}" type="slidenum">
              <a:rPr kumimoji="0" lang="zh-CN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7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  <p:sp>
        <p:nvSpPr>
          <p:cNvPr id="16" name="页脚占位符 2">
            <a:extLst>
              <a:ext uri="{FF2B5EF4-FFF2-40B4-BE49-F238E27FC236}">
                <a16:creationId xmlns:a16="http://schemas.microsoft.com/office/drawing/2014/main" id="{CEDF4CAE-D58D-440C-B46A-8097E82B7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8905" y="19050"/>
            <a:ext cx="4831731" cy="328613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交通大数据</a:t>
            </a: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· </a:t>
            </a: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东南大学 刘志远教授</a:t>
            </a:r>
            <a:endParaRPr kumimoji="0" lang="en-US" altLang="zh-CN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  <p:sp>
        <p:nvSpPr>
          <p:cNvPr id="15" name="Text Box 6">
            <a:extLst>
              <a:ext uri="{FF2B5EF4-FFF2-40B4-BE49-F238E27FC236}">
                <a16:creationId xmlns:a16="http://schemas.microsoft.com/office/drawing/2014/main" id="{4D7EEC66-B87A-4344-BBCB-52BB9FA38D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657" y="1045667"/>
            <a:ext cx="871378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Pct val="60000"/>
              <a:buFont typeface="Wingdings" panose="05000000000000000000" pitchFamily="2" charset="2"/>
              <a:buChar char="q"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</a:rPr>
              <a:t> </a:t>
            </a:r>
            <a:r>
              <a:rPr kumimoji="0" lang="zh-CN" altLang="en-US" sz="240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极大值解和极小值解</a:t>
            </a:r>
            <a:endParaRPr kumimoji="0" lang="en-US" sz="240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17" name="Group 24">
            <a:extLst>
              <a:ext uri="{FF2B5EF4-FFF2-40B4-BE49-F238E27FC236}">
                <a16:creationId xmlns:a16="http://schemas.microsoft.com/office/drawing/2014/main" id="{044EC273-A8F8-432E-872E-CB3CBDC3DD6F}"/>
              </a:ext>
            </a:extLst>
          </p:cNvPr>
          <p:cNvGrpSpPr/>
          <p:nvPr/>
        </p:nvGrpSpPr>
        <p:grpSpPr bwMode="auto">
          <a:xfrm>
            <a:off x="747829" y="5849621"/>
            <a:ext cx="3100387" cy="431800"/>
            <a:chOff x="476" y="1423"/>
            <a:chExt cx="1953" cy="272"/>
          </a:xfrm>
        </p:grpSpPr>
        <p:sp>
          <p:nvSpPr>
            <p:cNvPr id="18" name="Text Box 22">
              <a:extLst>
                <a:ext uri="{FF2B5EF4-FFF2-40B4-BE49-F238E27FC236}">
                  <a16:creationId xmlns:a16="http://schemas.microsoft.com/office/drawing/2014/main" id="{6DFDB0FD-2904-475D-B7CE-75CF0FBC68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6" y="1434"/>
              <a:ext cx="1451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accent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(a) </a:t>
              </a:r>
              <a:r>
                <a:rPr lang="zh-CN" altLang="en-US" sz="2000" kern="0" dirty="0">
                  <a:solidFill>
                    <a:sysClr val="windowText" lastClr="00000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函数</a:t>
              </a: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29" name="Object 23">
              <a:extLst>
                <a:ext uri="{FF2B5EF4-FFF2-40B4-BE49-F238E27FC236}">
                  <a16:creationId xmlns:a16="http://schemas.microsoft.com/office/drawing/2014/main" id="{146191F4-B4B1-463F-8F54-A1E3EA62450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085" y="1423"/>
            <a:ext cx="1344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42" name="Equation" r:id="rId3" imgW="2133600" imgH="431800" progId="Equation.DSMT4">
                    <p:embed/>
                  </p:oleObj>
                </mc:Choice>
                <mc:Fallback>
                  <p:oleObj name="Equation" r:id="rId3" imgW="2133600" imgH="431800" progId="Equation.DSMT4">
                    <p:embed/>
                    <p:pic>
                      <p:nvPicPr>
                        <p:cNvPr id="316439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85" y="1423"/>
                          <a:ext cx="1344" cy="27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0" name="Group 25">
            <a:extLst>
              <a:ext uri="{FF2B5EF4-FFF2-40B4-BE49-F238E27FC236}">
                <a16:creationId xmlns:a16="http://schemas.microsoft.com/office/drawing/2014/main" id="{F2912E59-636A-4419-9062-AD03C7725A16}"/>
              </a:ext>
            </a:extLst>
          </p:cNvPr>
          <p:cNvGrpSpPr/>
          <p:nvPr/>
        </p:nvGrpSpPr>
        <p:grpSpPr bwMode="auto">
          <a:xfrm>
            <a:off x="5156833" y="5827587"/>
            <a:ext cx="3133725" cy="431800"/>
            <a:chOff x="476" y="1420"/>
            <a:chExt cx="1974" cy="272"/>
          </a:xfrm>
        </p:grpSpPr>
        <p:sp>
          <p:nvSpPr>
            <p:cNvPr id="31" name="Text Box 26">
              <a:extLst>
                <a:ext uri="{FF2B5EF4-FFF2-40B4-BE49-F238E27FC236}">
                  <a16:creationId xmlns:a16="http://schemas.microsoft.com/office/drawing/2014/main" id="{C274C352-6300-4BFE-8533-344FF8FEFA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6" y="1434"/>
              <a:ext cx="1451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accent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(b)</a:t>
              </a:r>
              <a:r>
                <a:rPr kumimoji="0" lang="en-US" sz="2000" b="0" i="0" u="none" strike="noStrike" kern="0" cap="none" spc="0" normalizeH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kumimoji="0" lang="zh-CN" altLang="en-US" sz="2000" b="0" i="0" u="none" strike="noStrike" kern="0" cap="none" spc="0" normalizeH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函数</a:t>
              </a: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2" name="Object 27">
              <a:extLst>
                <a:ext uri="{FF2B5EF4-FFF2-40B4-BE49-F238E27FC236}">
                  <a16:creationId xmlns:a16="http://schemas.microsoft.com/office/drawing/2014/main" id="{E7D87E6B-4747-49BD-B670-62D86E2765B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106" y="1420"/>
            <a:ext cx="1344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43" name="Equation" r:id="rId5" imgW="2133600" imgH="431800" progId="Equation.DSMT4">
                    <p:embed/>
                  </p:oleObj>
                </mc:Choice>
                <mc:Fallback>
                  <p:oleObj name="Equation" r:id="rId5" imgW="2133600" imgH="431800" progId="Equation.DSMT4">
                    <p:embed/>
                    <p:pic>
                      <p:nvPicPr>
                        <p:cNvPr id="316443" name="Object 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06" y="1420"/>
                          <a:ext cx="1344" cy="27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00261A87-7940-4757-9875-A245A95DCE7A}"/>
              </a:ext>
            </a:extLst>
          </p:cNvPr>
          <p:cNvGrpSpPr/>
          <p:nvPr/>
        </p:nvGrpSpPr>
        <p:grpSpPr bwMode="auto">
          <a:xfrm>
            <a:off x="287338" y="2511426"/>
            <a:ext cx="4176713" cy="3249612"/>
            <a:chOff x="181" y="1628"/>
            <a:chExt cx="2631" cy="2047"/>
          </a:xfrm>
        </p:grpSpPr>
        <p:graphicFrame>
          <p:nvGraphicFramePr>
            <p:cNvPr id="34" name="Object 18">
              <a:extLst>
                <a:ext uri="{FF2B5EF4-FFF2-40B4-BE49-F238E27FC236}">
                  <a16:creationId xmlns:a16="http://schemas.microsoft.com/office/drawing/2014/main" id="{41C9DF63-FC41-4C64-8D1C-2FCF7EA7378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81" y="1628"/>
            <a:ext cx="2631" cy="20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44" name="Chart" r:id="rId7" imgW="4810049" imgH="3743249" progId="Excel.Sheet.8">
                    <p:embed/>
                  </p:oleObj>
                </mc:Choice>
                <mc:Fallback>
                  <p:oleObj name="Chart" r:id="rId7" imgW="4810049" imgH="3743249" progId="Excel.Sheet.8">
                    <p:embed/>
                    <p:pic>
                      <p:nvPicPr>
                        <p:cNvPr id="316434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1" y="1628"/>
                          <a:ext cx="2631" cy="20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5400">
                              <a:solidFill>
                                <a:schemeClr val="accent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5" name="Line 28">
              <a:extLst>
                <a:ext uri="{FF2B5EF4-FFF2-40B4-BE49-F238E27FC236}">
                  <a16:creationId xmlns:a16="http://schemas.microsoft.com/office/drawing/2014/main" id="{C171E1AE-85CF-4E6F-B546-34096F91FAE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43" y="2742"/>
              <a:ext cx="0" cy="453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prstDash val="sys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6" name="Line 29">
              <a:extLst>
                <a:ext uri="{FF2B5EF4-FFF2-40B4-BE49-F238E27FC236}">
                  <a16:creationId xmlns:a16="http://schemas.microsoft.com/office/drawing/2014/main" id="{983C20CB-0CC7-4AC0-A66E-8A320F88A1D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12" y="2780"/>
              <a:ext cx="817" cy="0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prstDash val="sys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37" name="Text Box 34">
            <a:extLst>
              <a:ext uri="{FF2B5EF4-FFF2-40B4-BE49-F238E27FC236}">
                <a16:creationId xmlns:a16="http://schemas.microsoft.com/office/drawing/2014/main" id="{AEB8D294-2C68-43A5-8BA5-BB48E93BAD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1493849"/>
            <a:ext cx="81359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x*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=1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是函数</a:t>
            </a:r>
            <a:r>
              <a:rPr lang="en-US" altLang="zh-CN" sz="2400" kern="0" dirty="0">
                <a:solidFill>
                  <a:sysClr val="windowText" lastClr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kumimoji="0" lang="en-US" sz="2400" b="0" i="1" u="none" strike="noStrike" kern="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0" lang="en-US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(x)</a:t>
            </a:r>
            <a:r>
              <a:rPr kumimoji="0" lang="zh-CN" altLang="en-US" sz="2400" b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的全局极小值解</a:t>
            </a:r>
            <a:r>
              <a:rPr kumimoji="0" lang="en-US" sz="2400" b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8" name="Text Box 35">
            <a:extLst>
              <a:ext uri="{FF2B5EF4-FFF2-40B4-BE49-F238E27FC236}">
                <a16:creationId xmlns:a16="http://schemas.microsoft.com/office/drawing/2014/main" id="{3A422948-D7D0-41D3-884A-B30EC035DA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2002468"/>
            <a:ext cx="7416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x*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=1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是函数 </a:t>
            </a:r>
            <a:r>
              <a:rPr kumimoji="0" lang="en-US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kumimoji="0" lang="en-US" sz="2400" b="0" i="1" u="none" strike="noStrike" kern="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kumimoji="0" lang="en-US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(x)</a:t>
            </a:r>
            <a:r>
              <a:rPr kumimoji="0" lang="zh-CN" altLang="en-US" sz="2400" b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的全局极大值解</a:t>
            </a:r>
            <a:r>
              <a:rPr kumimoji="0" lang="en-US" sz="2400" b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9" name="标题 1">
            <a:extLst>
              <a:ext uri="{FF2B5EF4-FFF2-40B4-BE49-F238E27FC236}">
                <a16:creationId xmlns:a16="http://schemas.microsoft.com/office/drawing/2014/main" id="{DB99CEDC-D6F9-493B-8FB0-2710D4C6EF68}"/>
              </a:ext>
            </a:extLst>
          </p:cNvPr>
          <p:cNvSpPr txBox="1">
            <a:spLocks/>
          </p:cNvSpPr>
          <p:nvPr/>
        </p:nvSpPr>
        <p:spPr>
          <a:xfrm>
            <a:off x="395288" y="250827"/>
            <a:ext cx="82296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normAutofit/>
          </a:bodyPr>
          <a:lstStyle>
            <a:lvl1pPr marL="914400" indent="-91440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 kern="1200">
                <a:solidFill>
                  <a:schemeClr val="tx2"/>
                </a:solidFill>
                <a:latin typeface="+mj-lt"/>
                <a:ea typeface="+mj-ea"/>
                <a:cs typeface="+mj-cs"/>
                <a:sym typeface="Arial" panose="020B0604020202020204" pitchFamily="34" charset="0"/>
              </a:defRPr>
            </a:lvl1pPr>
            <a:lvl2pPr marL="914400" indent="-91440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2pPr>
            <a:lvl3pPr marL="914400" indent="-91440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3pPr>
            <a:lvl4pPr marL="914400" indent="-91440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4pPr>
            <a:lvl5pPr marL="914400" indent="-91440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5pPr>
            <a:lvl6pPr marL="1371600" indent="-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6pPr>
            <a:lvl7pPr marL="1828800" indent="-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7pPr>
            <a:lvl8pPr marL="2286000" indent="-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8pPr>
            <a:lvl9pPr marL="2743200" indent="-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9pPr>
          </a:lstStyle>
          <a:p>
            <a:pPr defTabSz="914400"/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基础知识点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19" name="Group 33">
            <a:extLst>
              <a:ext uri="{FF2B5EF4-FFF2-40B4-BE49-F238E27FC236}">
                <a16:creationId xmlns:a16="http://schemas.microsoft.com/office/drawing/2014/main" id="{3DCA2A84-6397-2268-3A1B-591D75996770}"/>
              </a:ext>
            </a:extLst>
          </p:cNvPr>
          <p:cNvGrpSpPr/>
          <p:nvPr/>
        </p:nvGrpSpPr>
        <p:grpSpPr bwMode="auto">
          <a:xfrm>
            <a:off x="4463256" y="2481893"/>
            <a:ext cx="4537075" cy="3249612"/>
            <a:chOff x="2902" y="2024"/>
            <a:chExt cx="2858" cy="2047"/>
          </a:xfrm>
        </p:grpSpPr>
        <p:graphicFrame>
          <p:nvGraphicFramePr>
            <p:cNvPr id="20" name="Object 20">
              <a:extLst>
                <a:ext uri="{FF2B5EF4-FFF2-40B4-BE49-F238E27FC236}">
                  <a16:creationId xmlns:a16="http://schemas.microsoft.com/office/drawing/2014/main" id="{96E5503D-36FA-FBA9-E2FE-C2DFE9D25C8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902" y="2024"/>
            <a:ext cx="2858" cy="20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45" name="Chart" r:id="rId9" imgW="5869940" imgH="4210685" progId="Excel.Sheet.8">
                    <p:embed/>
                  </p:oleObj>
                </mc:Choice>
                <mc:Fallback>
                  <p:oleObj name="Chart" r:id="rId9" imgW="5869940" imgH="4210685" progId="Excel.Sheet.8">
                    <p:embed/>
                    <p:pic>
                      <p:nvPicPr>
                        <p:cNvPr id="316436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02" y="2024"/>
                          <a:ext cx="2858" cy="20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5400">
                              <a:solidFill>
                                <a:schemeClr val="accent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" name="Line 30">
              <a:extLst>
                <a:ext uri="{FF2B5EF4-FFF2-40B4-BE49-F238E27FC236}">
                  <a16:creationId xmlns:a16="http://schemas.microsoft.com/office/drawing/2014/main" id="{4B3E9F52-F65E-DBA8-2A67-702C5FF4EF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86" y="2296"/>
              <a:ext cx="0" cy="1270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prstDash val="sys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2" name="Line 31">
              <a:extLst>
                <a:ext uri="{FF2B5EF4-FFF2-40B4-BE49-F238E27FC236}">
                  <a16:creationId xmlns:a16="http://schemas.microsoft.com/office/drawing/2014/main" id="{3EC62FFC-F223-17D9-C660-DDA35FABF62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79" y="2296"/>
              <a:ext cx="862" cy="0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prstDash val="sys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86910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3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A4BE39A-AA74-4615-9263-909FAD1240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ACF5701F-746E-469B-BDDA-F93B22D4DB72}" type="datetime1">
              <a:rPr kumimoji="0" lang="en-US" altLang="zh-CN" sz="12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3/31/2025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8C62E10-2951-4253-B0F7-5DCA6BBCE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D1009943-BA82-4F6A-BD7C-764069224CD2}" type="slidenum">
              <a:rPr kumimoji="0" lang="zh-CN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8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  <p:sp>
        <p:nvSpPr>
          <p:cNvPr id="16" name="页脚占位符 2">
            <a:extLst>
              <a:ext uri="{FF2B5EF4-FFF2-40B4-BE49-F238E27FC236}">
                <a16:creationId xmlns:a16="http://schemas.microsoft.com/office/drawing/2014/main" id="{CEDF4CAE-D58D-440C-B46A-8097E82B7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8905" y="19050"/>
            <a:ext cx="4831731" cy="328613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交通大数据</a:t>
            </a: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· </a:t>
            </a: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东南大学 刘志远教授</a:t>
            </a:r>
            <a:endParaRPr kumimoji="0" lang="en-US" altLang="zh-CN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  <p:grpSp>
        <p:nvGrpSpPr>
          <p:cNvPr id="5" name="Group 20">
            <a:extLst>
              <a:ext uri="{FF2B5EF4-FFF2-40B4-BE49-F238E27FC236}">
                <a16:creationId xmlns:a16="http://schemas.microsoft.com/office/drawing/2014/main" id="{05B365D9-C658-46EA-95FD-478A462584F0}"/>
              </a:ext>
            </a:extLst>
          </p:cNvPr>
          <p:cNvGrpSpPr/>
          <p:nvPr/>
        </p:nvGrpSpPr>
        <p:grpSpPr bwMode="auto">
          <a:xfrm>
            <a:off x="2827386" y="5799037"/>
            <a:ext cx="2671762" cy="546100"/>
            <a:chOff x="683" y="2843"/>
            <a:chExt cx="1683" cy="344"/>
          </a:xfrm>
        </p:grpSpPr>
        <p:graphicFrame>
          <p:nvGraphicFramePr>
            <p:cNvPr id="6" name="Object 5">
              <a:extLst>
                <a:ext uri="{FF2B5EF4-FFF2-40B4-BE49-F238E27FC236}">
                  <a16:creationId xmlns:a16="http://schemas.microsoft.com/office/drawing/2014/main" id="{C783C416-F924-4F83-BD7E-CFE65B83D7D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350" y="2843"/>
            <a:ext cx="1016" cy="3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55" name="Equation" r:id="rId3" imgW="1612900" imgH="546100" progId="Equation.DSMT4">
                    <p:embed/>
                  </p:oleObj>
                </mc:Choice>
                <mc:Fallback>
                  <p:oleObj name="Equation" r:id="rId3" imgW="1612900" imgH="546100" progId="Equation.DSMT4">
                    <p:embed/>
                    <p:pic>
                      <p:nvPicPr>
                        <p:cNvPr id="320517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50" y="2843"/>
                          <a:ext cx="1016" cy="34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" name="Text Box 19">
              <a:extLst>
                <a:ext uri="{FF2B5EF4-FFF2-40B4-BE49-F238E27FC236}">
                  <a16:creationId xmlns:a16="http://schemas.microsoft.com/office/drawing/2014/main" id="{CD7CDEAA-4ADE-4A0C-B764-8FD16CC0D0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3" y="2890"/>
              <a:ext cx="108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accent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(c) </a:t>
              </a:r>
              <a:r>
                <a:rPr lang="zh-CN" altLang="en-US" sz="2000" kern="0" dirty="0">
                  <a:solidFill>
                    <a:sysClr val="windowText" lastClr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函数</a:t>
              </a: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 </a:t>
              </a:r>
            </a:p>
          </p:txBody>
        </p:sp>
      </p:grpSp>
      <p:sp>
        <p:nvSpPr>
          <p:cNvPr id="8" name="Text Box 21">
            <a:extLst>
              <a:ext uri="{FF2B5EF4-FFF2-40B4-BE49-F238E27FC236}">
                <a16:creationId xmlns:a16="http://schemas.microsoft.com/office/drawing/2014/main" id="{588B735D-1085-4709-97DB-354500D387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49" y="1130102"/>
            <a:ext cx="842486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00050" indent="-4000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143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400050" marR="0" lvl="0" indent="-40005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函数</a:t>
            </a:r>
            <a:r>
              <a:rPr kumimoji="0" lang="zh-CN" altLang="en-US" sz="2400" b="0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kumimoji="0" lang="en-US" sz="2400" b="0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</a:rPr>
              <a:t>f</a:t>
            </a:r>
            <a:r>
              <a:rPr kumimoji="0" lang="en-US" sz="2400" b="0" i="1" u="none" strike="noStrike" kern="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</a:rPr>
              <a:t>3</a:t>
            </a:r>
            <a:r>
              <a:rPr kumimoji="0" lang="en-US" sz="2400" b="0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</a:rPr>
              <a:t>(x)</a:t>
            </a:r>
            <a:r>
              <a:rPr kumimoji="0" lang="zh-CN" altLang="en-US" sz="2400" b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的全局极小值解和极大值解分别是什么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</a:rPr>
              <a:t>?</a:t>
            </a:r>
          </a:p>
        </p:txBody>
      </p:sp>
      <p:grpSp>
        <p:nvGrpSpPr>
          <p:cNvPr id="9" name="Group 24">
            <a:extLst>
              <a:ext uri="{FF2B5EF4-FFF2-40B4-BE49-F238E27FC236}">
                <a16:creationId xmlns:a16="http://schemas.microsoft.com/office/drawing/2014/main" id="{85CB7EF8-6DBD-4C77-8CE1-6DCD7ADD2278}"/>
              </a:ext>
            </a:extLst>
          </p:cNvPr>
          <p:cNvGrpSpPr/>
          <p:nvPr/>
        </p:nvGrpSpPr>
        <p:grpSpPr bwMode="auto">
          <a:xfrm>
            <a:off x="323850" y="1550986"/>
            <a:ext cx="8424863" cy="1754189"/>
            <a:chOff x="334" y="974"/>
            <a:chExt cx="5307" cy="1105"/>
          </a:xfrm>
        </p:grpSpPr>
        <p:sp>
          <p:nvSpPr>
            <p:cNvPr id="10" name="Text Box 22">
              <a:extLst>
                <a:ext uri="{FF2B5EF4-FFF2-40B4-BE49-F238E27FC236}">
                  <a16:creationId xmlns:a16="http://schemas.microsoft.com/office/drawing/2014/main" id="{14AEF496-796F-41FA-8F67-FB2F47E512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4" y="974"/>
              <a:ext cx="5307" cy="110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accent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400050" indent="-4000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5143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defTabSz="914400">
                <a:lnSpc>
                  <a:spcPct val="150000"/>
                </a:lnSpc>
                <a:spcBef>
                  <a:spcPct val="50000"/>
                </a:spcBef>
                <a:buFont typeface="Wingdings" panose="05000000000000000000" pitchFamily="2" charset="2"/>
                <a:buChar char="§"/>
                <a:defRPr/>
              </a:pPr>
              <a:r>
                <a:rPr kumimoji="0" lang="zh-CN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函数 </a:t>
              </a:r>
              <a:r>
                <a:rPr lang="en-US" altLang="zh-CN" i="1" kern="0" dirty="0"/>
                <a:t>f</a:t>
              </a:r>
              <a:r>
                <a:rPr lang="en-US" altLang="zh-CN" i="1" kern="0" baseline="-25000" dirty="0"/>
                <a:t>3</a:t>
              </a:r>
              <a:r>
                <a:rPr lang="en-US" altLang="zh-CN" i="1" kern="0" dirty="0"/>
                <a:t>(x)</a:t>
              </a:r>
              <a:r>
                <a:rPr lang="zh-CN" altLang="en-US" kern="0" dirty="0">
                  <a:latin typeface="宋体" panose="02010600030101010101" pitchFamily="2" charset="-122"/>
                  <a:ea typeface="宋体" panose="02010600030101010101" pitchFamily="2" charset="-122"/>
                </a:rPr>
                <a:t>在可行域         内的全局极小值解和极大值解分别是什么</a:t>
              </a:r>
              <a:r>
                <a:rPr lang="en-US" altLang="zh-CN" kern="0" dirty="0"/>
                <a:t>?</a:t>
              </a:r>
            </a:p>
            <a:p>
              <a:pPr marL="400050" marR="0" lvl="0" indent="-40005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§"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11" name="Object 23">
              <a:extLst>
                <a:ext uri="{FF2B5EF4-FFF2-40B4-BE49-F238E27FC236}">
                  <a16:creationId xmlns:a16="http://schemas.microsoft.com/office/drawing/2014/main" id="{60C832E0-3640-4198-B4C6-4765CF3AEC8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264" y="1111"/>
            <a:ext cx="792" cy="1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56" name="Equation" r:id="rId5" imgW="1257300" imgH="279400" progId="Equation.DSMT4">
                    <p:embed/>
                  </p:oleObj>
                </mc:Choice>
                <mc:Fallback>
                  <p:oleObj name="Equation" r:id="rId5" imgW="1257300" imgH="279400" progId="Equation.DSMT4">
                    <p:embed/>
                    <p:pic>
                      <p:nvPicPr>
                        <p:cNvPr id="320535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64" y="1111"/>
                          <a:ext cx="792" cy="17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2" name="标题 1">
            <a:extLst>
              <a:ext uri="{FF2B5EF4-FFF2-40B4-BE49-F238E27FC236}">
                <a16:creationId xmlns:a16="http://schemas.microsoft.com/office/drawing/2014/main" id="{1BBC2D8C-FF24-4E58-A4E3-6CE5EF9F81D4}"/>
              </a:ext>
            </a:extLst>
          </p:cNvPr>
          <p:cNvSpPr txBox="1">
            <a:spLocks/>
          </p:cNvSpPr>
          <p:nvPr/>
        </p:nvSpPr>
        <p:spPr>
          <a:xfrm>
            <a:off x="447397" y="281441"/>
            <a:ext cx="82296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normAutofit/>
          </a:bodyPr>
          <a:lstStyle>
            <a:lvl1pPr marL="914400" indent="-91440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 kern="1200">
                <a:solidFill>
                  <a:schemeClr val="tx2"/>
                </a:solidFill>
                <a:latin typeface="+mj-lt"/>
                <a:ea typeface="+mj-ea"/>
                <a:cs typeface="+mj-cs"/>
                <a:sym typeface="Arial" panose="020B0604020202020204" pitchFamily="34" charset="0"/>
              </a:defRPr>
            </a:lvl1pPr>
            <a:lvl2pPr marL="914400" indent="-91440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2pPr>
            <a:lvl3pPr marL="914400" indent="-91440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3pPr>
            <a:lvl4pPr marL="914400" indent="-91440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4pPr>
            <a:lvl5pPr marL="914400" indent="-91440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5pPr>
            <a:lvl6pPr marL="1371600" indent="-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6pPr>
            <a:lvl7pPr marL="1828800" indent="-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7pPr>
            <a:lvl8pPr marL="2286000" indent="-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8pPr>
            <a:lvl9pPr marL="2743200" indent="-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9pPr>
          </a:lstStyle>
          <a:p>
            <a:pPr defTabSz="914400"/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基础知识点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1C078157-FB0E-46CA-9AAF-824457C127D2}"/>
              </a:ext>
            </a:extLst>
          </p:cNvPr>
          <p:cNvGrpSpPr/>
          <p:nvPr/>
        </p:nvGrpSpPr>
        <p:grpSpPr>
          <a:xfrm>
            <a:off x="1324876" y="2232140"/>
            <a:ext cx="5715000" cy="3824382"/>
            <a:chOff x="1324876" y="2070446"/>
            <a:chExt cx="5715000" cy="3824382"/>
          </a:xfrm>
        </p:grpSpPr>
        <p:grpSp>
          <p:nvGrpSpPr>
            <p:cNvPr id="14" name="Group 18">
              <a:extLst>
                <a:ext uri="{FF2B5EF4-FFF2-40B4-BE49-F238E27FC236}">
                  <a16:creationId xmlns:a16="http://schemas.microsoft.com/office/drawing/2014/main" id="{9BF91D3C-1248-44FA-BCCB-E7B017559ACB}"/>
                </a:ext>
              </a:extLst>
            </p:cNvPr>
            <p:cNvGrpSpPr/>
            <p:nvPr/>
          </p:nvGrpSpPr>
          <p:grpSpPr bwMode="auto">
            <a:xfrm>
              <a:off x="1324876" y="2440428"/>
              <a:ext cx="5715000" cy="3454400"/>
              <a:chOff x="240" y="1056"/>
              <a:chExt cx="3600" cy="2176"/>
            </a:xfrm>
          </p:grpSpPr>
          <p:graphicFrame>
            <p:nvGraphicFramePr>
              <p:cNvPr id="17" name="Object 3">
                <a:extLst>
                  <a:ext uri="{FF2B5EF4-FFF2-40B4-BE49-F238E27FC236}">
                    <a16:creationId xmlns:a16="http://schemas.microsoft.com/office/drawing/2014/main" id="{9D9FA5A7-8951-4FA9-A0E1-C17854063FCE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88" y="1056"/>
              <a:ext cx="3552" cy="207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157" name="Chart" r:id="rId7" imgW="5638800" imgH="3286049" progId="Excel.Sheet.8">
                      <p:embed/>
                    </p:oleObj>
                  </mc:Choice>
                  <mc:Fallback>
                    <p:oleObj name="Chart" r:id="rId7" imgW="5638800" imgH="3286049" progId="Excel.Sheet.8">
                      <p:embed/>
                      <p:pic>
                        <p:nvPicPr>
                          <p:cNvPr id="320515" name="Object 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8" y="1056"/>
                            <a:ext cx="3552" cy="207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12700">
                                <a:solidFill>
                                  <a:schemeClr val="hlink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8" name="Oval 11">
                <a:extLst>
                  <a:ext uri="{FF2B5EF4-FFF2-40B4-BE49-F238E27FC236}">
                    <a16:creationId xmlns:a16="http://schemas.microsoft.com/office/drawing/2014/main" id="{511E21E9-CEB8-4DE1-92B1-8B541C32CC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2" y="2784"/>
                <a:ext cx="48" cy="48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hlink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9" name="Text Box 12">
                <a:extLst>
                  <a:ext uri="{FF2B5EF4-FFF2-40B4-BE49-F238E27FC236}">
                    <a16:creationId xmlns:a16="http://schemas.microsoft.com/office/drawing/2014/main" id="{03613ED6-28B1-4D3B-91AE-D29DB7008D1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0" y="2258"/>
                <a:ext cx="791" cy="36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hlink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CN" sz="1600" kern="0" dirty="0">
                    <a:solidFill>
                      <a:srgbClr val="FF0000"/>
                    </a:solidFill>
                    <a:ea typeface="宋体" panose="02010600030101010101" pitchFamily="2" charset="-122"/>
                  </a:rPr>
                  <a:t>Global</a:t>
                </a:r>
                <a:r>
                  <a:rPr kumimoji="0" lang="en-US" altLang="zh-CN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ea typeface="宋体" panose="02010600030101010101" pitchFamily="2" charset="-122"/>
                  </a:rPr>
                  <a:t> minimum</a:t>
                </a:r>
              </a:p>
            </p:txBody>
          </p:sp>
          <p:sp>
            <p:nvSpPr>
              <p:cNvPr id="20" name="Oval 13">
                <a:extLst>
                  <a:ext uri="{FF2B5EF4-FFF2-40B4-BE49-F238E27FC236}">
                    <a16:creationId xmlns:a16="http://schemas.microsoft.com/office/drawing/2014/main" id="{4A1D5E7C-DC36-4B95-A418-D046412600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80" y="2640"/>
                <a:ext cx="48" cy="48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hlink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1" name="Text Box 14">
                <a:extLst>
                  <a:ext uri="{FF2B5EF4-FFF2-40B4-BE49-F238E27FC236}">
                    <a16:creationId xmlns:a16="http://schemas.microsoft.com/office/drawing/2014/main" id="{1A707C37-0ACA-4E21-82A3-A9C7F7C12A1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84" y="2864"/>
                <a:ext cx="674" cy="36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hlink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ea typeface="宋体" panose="02010600030101010101" pitchFamily="2" charset="-122"/>
                  </a:rPr>
                  <a:t>Local minimum</a:t>
                </a:r>
              </a:p>
            </p:txBody>
          </p:sp>
          <p:sp>
            <p:nvSpPr>
              <p:cNvPr id="22" name="Oval 15">
                <a:extLst>
                  <a:ext uri="{FF2B5EF4-FFF2-40B4-BE49-F238E27FC236}">
                    <a16:creationId xmlns:a16="http://schemas.microsoft.com/office/drawing/2014/main" id="{D47440F6-D406-4D1B-96FB-5B1E557E9F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92" y="2256"/>
                <a:ext cx="48" cy="48"/>
              </a:xfrm>
              <a:prstGeom prst="ellipse">
                <a:avLst/>
              </a:prstGeom>
              <a:solidFill>
                <a:schemeClr val="folHlink"/>
              </a:solidFill>
              <a:ln w="12700">
                <a:solidFill>
                  <a:schemeClr val="hlink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3" name="Text Box 16">
                <a:extLst>
                  <a:ext uri="{FF2B5EF4-FFF2-40B4-BE49-F238E27FC236}">
                    <a16:creationId xmlns:a16="http://schemas.microsoft.com/office/drawing/2014/main" id="{A3D59DF0-A1A8-4E1D-B008-4E6FABA4D94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72" y="1872"/>
                <a:ext cx="672" cy="36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hlink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ea typeface="宋体" panose="02010600030101010101" pitchFamily="2" charset="-122"/>
                  </a:rPr>
                  <a:t>Local maximum</a:t>
                </a:r>
              </a:p>
            </p:txBody>
          </p:sp>
        </p:grpSp>
        <p:sp>
          <p:nvSpPr>
            <p:cNvPr id="15" name="Text Box 16">
              <a:extLst>
                <a:ext uri="{FF2B5EF4-FFF2-40B4-BE49-F238E27FC236}">
                  <a16:creationId xmlns:a16="http://schemas.microsoft.com/office/drawing/2014/main" id="{71FB9EFE-B208-4D10-8E24-3C1869DD3F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75693" y="2070446"/>
              <a:ext cx="1066800" cy="5810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1600" kern="0" dirty="0">
                  <a:solidFill>
                    <a:srgbClr val="FF0000"/>
                  </a:solidFill>
                  <a:ea typeface="宋体" panose="02010600030101010101" pitchFamily="2" charset="-122"/>
                </a:rPr>
                <a:t>Global</a:t>
              </a:r>
              <a:r>
                <a:rPr kumimoji="0" lang="en-US" altLang="zh-CN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 maximum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001175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A4BE39A-AA74-4615-9263-909FAD1240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ACF5701F-746E-469B-BDDA-F93B22D4DB72}" type="datetime1">
              <a:rPr kumimoji="0" lang="en-US" altLang="zh-CN" sz="12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3/31/2025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8C62E10-2951-4253-B0F7-5DCA6BBCE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D1009943-BA82-4F6A-BD7C-764069224CD2}" type="slidenum">
              <a:rPr kumimoji="0" lang="zh-CN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9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  <p:sp>
        <p:nvSpPr>
          <p:cNvPr id="16" name="页脚占位符 2">
            <a:extLst>
              <a:ext uri="{FF2B5EF4-FFF2-40B4-BE49-F238E27FC236}">
                <a16:creationId xmlns:a16="http://schemas.microsoft.com/office/drawing/2014/main" id="{CEDF4CAE-D58D-440C-B46A-8097E82B7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8905" y="19050"/>
            <a:ext cx="4831731" cy="328613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交通大数据</a:t>
            </a: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· </a:t>
            </a: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东南大学 刘志远教授</a:t>
            </a:r>
            <a:endParaRPr kumimoji="0" lang="en-US" altLang="zh-CN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C320AF03-68A6-4C0D-A909-C2791E686771}"/>
              </a:ext>
            </a:extLst>
          </p:cNvPr>
          <p:cNvSpPr txBox="1">
            <a:spLocks/>
          </p:cNvSpPr>
          <p:nvPr/>
        </p:nvSpPr>
        <p:spPr>
          <a:xfrm>
            <a:off x="457200" y="533400"/>
            <a:ext cx="8229600" cy="990600"/>
          </a:xfrm>
          <a:prstGeom prst="rect">
            <a:avLst/>
          </a:prstGeom>
        </p:spPr>
        <p:txBody>
          <a:bodyPr/>
          <a:lstStyle>
            <a:lvl1pPr marL="914400" indent="-91440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 kern="1200">
                <a:solidFill>
                  <a:schemeClr val="tx2"/>
                </a:solidFill>
                <a:latin typeface="+mj-lt"/>
                <a:ea typeface="+mj-ea"/>
                <a:cs typeface="+mj-cs"/>
                <a:sym typeface="Arial" panose="020B0604020202020204" pitchFamily="34" charset="0"/>
              </a:defRPr>
            </a:lvl1pPr>
            <a:lvl2pPr marL="914400" indent="-91440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2pPr>
            <a:lvl3pPr marL="914400" indent="-91440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3pPr>
            <a:lvl4pPr marL="914400" indent="-91440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4pPr>
            <a:lvl5pPr marL="914400" indent="-91440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5pPr>
            <a:lvl6pPr marL="1371600" indent="-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6pPr>
            <a:lvl7pPr marL="1828800" indent="-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7pPr>
            <a:lvl8pPr marL="2286000" indent="-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8pPr>
            <a:lvl9pPr marL="2743200" indent="-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9pPr>
          </a:lstStyle>
          <a:p>
            <a:pPr defTabSz="914400"/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基础知识点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A14F2602-CF7A-427C-8E5D-72A49D6DD27B}"/>
              </a:ext>
            </a:extLst>
          </p:cNvPr>
          <p:cNvSpPr txBox="1">
            <a:spLocks/>
          </p:cNvSpPr>
          <p:nvPr/>
        </p:nvSpPr>
        <p:spPr bwMode="auto">
          <a:xfrm>
            <a:off x="457200" y="1600200"/>
            <a:ext cx="8686800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82563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457200" lvl="1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2pPr>
            <a:lvl3pPr marL="731838" lvl="2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3pPr>
            <a:lvl4pPr marL="1006475" lvl="3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4pPr>
            <a:lvl5pPr marL="1189038" lvl="4" indent="-1365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5pPr>
            <a:lvl6pPr marL="2514600" lvl="5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6pPr>
            <a:lvl7pPr marL="2971800" lvl="6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7pPr>
            <a:lvl8pPr marL="3429000" lvl="7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8pPr>
            <a:lvl9pPr marL="3886200" lvl="8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9pPr>
          </a:lstStyle>
          <a:p>
            <a:pPr marL="285750" indent="-285750" defTabSz="914400">
              <a:spcBef>
                <a:spcPct val="50000"/>
              </a:spcBef>
              <a:buClrTx/>
              <a:buSzPct val="60000"/>
              <a:defRPr/>
            </a:pPr>
            <a:r>
              <a:rPr lang="zh-CN" altLang="en-US" sz="2800" b="1" kern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最小化问题的全局极小值解和局部极小值解</a:t>
            </a:r>
            <a:endParaRPr lang="en-US" altLang="zh-CN" sz="2800" b="1" kern="0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defTabSz="914400"/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52CBD5C1-C48F-4698-AD74-95BA21B858A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96603" y="2187002"/>
          <a:ext cx="1950794" cy="6784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45" name="Equation" r:id="rId3" imgW="1371600" imgH="571500" progId="Equation.DSMT4">
                  <p:embed/>
                </p:oleObj>
              </mc:Choice>
              <mc:Fallback>
                <p:oleObj name="Equation" r:id="rId3" imgW="1371600" imgH="571500" progId="Equation.DSMT4">
                  <p:embed/>
                  <p:pic>
                    <p:nvPicPr>
                      <p:cNvPr id="5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96603" y="2187002"/>
                        <a:ext cx="1950794" cy="67848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10">
            <a:extLst>
              <a:ext uri="{FF2B5EF4-FFF2-40B4-BE49-F238E27FC236}">
                <a16:creationId xmlns:a16="http://schemas.microsoft.com/office/drawing/2014/main" id="{7FB1D945-FE3B-41AB-8F90-D86DFC2384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2734157"/>
            <a:ext cx="46815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400" b="1" kern="0" dirty="0">
                <a:solidFill>
                  <a:sysClr val="windowText" lastClr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全局极小值解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sz="2400" b="1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x*</a:t>
            </a:r>
          </a:p>
        </p:txBody>
      </p:sp>
      <p:sp>
        <p:nvSpPr>
          <p:cNvPr id="9" name="Text Box 11">
            <a:extLst>
              <a:ext uri="{FF2B5EF4-FFF2-40B4-BE49-F238E27FC236}">
                <a16:creationId xmlns:a16="http://schemas.microsoft.com/office/drawing/2014/main" id="{12063A44-3449-405E-B612-A38817AAD7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0225" y="4481278"/>
            <a:ext cx="50942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400" b="1" kern="0" dirty="0">
                <a:solidFill>
                  <a:sysClr val="windowText" lastClr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局部极小值解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kumimoji="0" lang="en-US" sz="2400" b="1" i="1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0" name="Group 15">
            <a:extLst>
              <a:ext uri="{FF2B5EF4-FFF2-40B4-BE49-F238E27FC236}">
                <a16:creationId xmlns:a16="http://schemas.microsoft.com/office/drawing/2014/main" id="{75BCEE0B-2B38-4201-B8F7-BB9363E01CE1}"/>
              </a:ext>
            </a:extLst>
          </p:cNvPr>
          <p:cNvGrpSpPr/>
          <p:nvPr/>
        </p:nvGrpSpPr>
        <p:grpSpPr bwMode="auto">
          <a:xfrm>
            <a:off x="601662" y="3191702"/>
            <a:ext cx="7488238" cy="461963"/>
            <a:chOff x="204" y="2976"/>
            <a:chExt cx="4717" cy="291"/>
          </a:xfrm>
        </p:grpSpPr>
        <p:sp>
          <p:nvSpPr>
            <p:cNvPr id="11" name="Text Box 12">
              <a:extLst>
                <a:ext uri="{FF2B5EF4-FFF2-40B4-BE49-F238E27FC236}">
                  <a16:creationId xmlns:a16="http://schemas.microsoft.com/office/drawing/2014/main" id="{C5DA9FC7-04CB-4267-85E4-95278E3F54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4" y="2976"/>
              <a:ext cx="4717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accent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342900" marR="0" lvl="0" indent="-34290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(</a:t>
              </a:r>
              <a:r>
                <a:rPr kumimoji="0" lang="en-US" sz="2400" b="0" i="0" u="none" strike="noStrike" kern="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i</a:t>
              </a:r>
              <a:r>
                <a: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) </a:t>
              </a:r>
              <a:r>
                <a: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(</a:t>
              </a:r>
              <a:r>
                <a:rPr lang="zh-CN" altLang="en-US" kern="0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可行性</a:t>
              </a:r>
              <a:r>
                <a: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)</a:t>
              </a:r>
              <a:r>
                <a: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 </a:t>
              </a:r>
              <a:r>
                <a:rPr kumimoji="0" lang="en-US" sz="2400" b="0" i="1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x*</a:t>
              </a:r>
              <a:r>
                <a: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 </a:t>
              </a:r>
              <a:r>
                <a:rPr kumimoji="0" lang="zh-CN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</a:rPr>
                <a:t>是极小化问题的一个可行解</a:t>
              </a:r>
              <a:r>
                <a: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rPr>
                <a:t>,</a:t>
              </a:r>
              <a:r>
                <a:rPr lang="zh-CN" altLang="en-US" kern="0" dirty="0"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rPr>
                <a:t>即</a:t>
              </a:r>
              <a:r>
                <a: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rPr>
                <a:t>  </a:t>
              </a:r>
              <a:endParaRPr kumimoji="0" lang="el-GR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12" name="Object 14">
              <a:extLst>
                <a:ext uri="{FF2B5EF4-FFF2-40B4-BE49-F238E27FC236}">
                  <a16:creationId xmlns:a16="http://schemas.microsoft.com/office/drawing/2014/main" id="{C1B06850-CD87-4531-BD87-8E38EFEC953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91368892"/>
                </p:ext>
              </p:extLst>
            </p:nvPr>
          </p:nvGraphicFramePr>
          <p:xfrm>
            <a:off x="4105" y="2998"/>
            <a:ext cx="520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46" name="Equation" r:id="rId5" imgW="825500" imgH="342900" progId="Equation.DSMT4">
                    <p:embed/>
                  </p:oleObj>
                </mc:Choice>
                <mc:Fallback>
                  <p:oleObj name="Equation" r:id="rId5" imgW="825500" imgH="342900" progId="Equation.DSMT4">
                    <p:embed/>
                    <p:pic>
                      <p:nvPicPr>
                        <p:cNvPr id="1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05" y="2998"/>
                          <a:ext cx="520" cy="21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3" name="Group 20">
            <a:extLst>
              <a:ext uri="{FF2B5EF4-FFF2-40B4-BE49-F238E27FC236}">
                <a16:creationId xmlns:a16="http://schemas.microsoft.com/office/drawing/2014/main" id="{FE7A40F5-67D9-4E2B-8D61-5C5D6AB11F14}"/>
              </a:ext>
            </a:extLst>
          </p:cNvPr>
          <p:cNvGrpSpPr/>
          <p:nvPr/>
        </p:nvGrpSpPr>
        <p:grpSpPr bwMode="auto">
          <a:xfrm>
            <a:off x="601662" y="3848835"/>
            <a:ext cx="7488238" cy="457200"/>
            <a:chOff x="340" y="2957"/>
            <a:chExt cx="4717" cy="288"/>
          </a:xfrm>
        </p:grpSpPr>
        <p:sp>
          <p:nvSpPr>
            <p:cNvPr id="14" name="Text Box 17">
              <a:extLst>
                <a:ext uri="{FF2B5EF4-FFF2-40B4-BE49-F238E27FC236}">
                  <a16:creationId xmlns:a16="http://schemas.microsoft.com/office/drawing/2014/main" id="{73BDB542-6242-4218-BC35-DF9B39DA87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" y="2957"/>
              <a:ext cx="471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accent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342900" marR="0" lvl="0" indent="-34290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(ii)</a:t>
              </a:r>
              <a:r>
                <a: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</a:rPr>
                <a:t>(</a:t>
              </a:r>
              <a:r>
                <a:rPr lang="zh-CN" altLang="en-US" kern="0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最优性</a:t>
              </a:r>
              <a:r>
                <a: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</a:rPr>
                <a:t>)</a:t>
              </a:r>
              <a:r>
                <a:rPr kumimoji="0" lang="zh-CN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</a:rPr>
                <a:t>对于</a:t>
              </a:r>
              <a:r>
                <a:rPr kumimoji="0" lang="zh-CN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</a:rPr>
                <a:t>任意的</a:t>
              </a:r>
              <a:r>
                <a: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</a:rPr>
                <a:t>       </a:t>
              </a:r>
              <a:r>
                <a:rPr kumimoji="0" lang="zh-CN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</a:rPr>
                <a:t>都满足</a:t>
              </a:r>
              <a:r>
                <a: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</a:rPr>
                <a:t>             </a:t>
              </a:r>
              <a:r>
                <a: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rPr>
                <a:t>  </a:t>
              </a:r>
              <a:endParaRPr kumimoji="0" lang="el-GR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15" name="Object 18">
              <a:extLst>
                <a:ext uri="{FF2B5EF4-FFF2-40B4-BE49-F238E27FC236}">
                  <a16:creationId xmlns:a16="http://schemas.microsoft.com/office/drawing/2014/main" id="{D7469C18-D3EF-4D34-BFBF-349459AED61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437" y="2995"/>
            <a:ext cx="524" cy="2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47" name="Equation" r:id="rId7" imgW="723586" imgH="279279" progId="Equation.DSMT4">
                    <p:embed/>
                  </p:oleObj>
                </mc:Choice>
                <mc:Fallback>
                  <p:oleObj name="Equation" r:id="rId7" imgW="723586" imgH="279279" progId="Equation.DSMT4">
                    <p:embed/>
                    <p:pic>
                      <p:nvPicPr>
                        <p:cNvPr id="13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37" y="2995"/>
                          <a:ext cx="524" cy="20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" name="Object 19">
              <a:extLst>
                <a:ext uri="{FF2B5EF4-FFF2-40B4-BE49-F238E27FC236}">
                  <a16:creationId xmlns:a16="http://schemas.microsoft.com/office/drawing/2014/main" id="{771D3C20-2AC4-4255-8EE2-35595C2FB02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638" y="2974"/>
            <a:ext cx="916" cy="2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48" name="Equation" r:id="rId9" imgW="1727200" imgH="508000" progId="Equation.DSMT4">
                    <p:embed/>
                  </p:oleObj>
                </mc:Choice>
                <mc:Fallback>
                  <p:oleObj name="Equation" r:id="rId9" imgW="1727200" imgH="508000" progId="Equation.DSMT4">
                    <p:embed/>
                    <p:pic>
                      <p:nvPicPr>
                        <p:cNvPr id="14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38" y="2974"/>
                          <a:ext cx="916" cy="26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8" name="Group 21">
            <a:extLst>
              <a:ext uri="{FF2B5EF4-FFF2-40B4-BE49-F238E27FC236}">
                <a16:creationId xmlns:a16="http://schemas.microsoft.com/office/drawing/2014/main" id="{D1FCC284-748E-4EAE-9DBD-AF97273A7A5B}"/>
              </a:ext>
            </a:extLst>
          </p:cNvPr>
          <p:cNvGrpSpPr/>
          <p:nvPr/>
        </p:nvGrpSpPr>
        <p:grpSpPr bwMode="auto">
          <a:xfrm>
            <a:off x="530225" y="5025079"/>
            <a:ext cx="7488237" cy="461963"/>
            <a:chOff x="204" y="2762"/>
            <a:chExt cx="4717" cy="291"/>
          </a:xfrm>
        </p:grpSpPr>
        <p:sp>
          <p:nvSpPr>
            <p:cNvPr id="19" name="Text Box 22">
              <a:extLst>
                <a:ext uri="{FF2B5EF4-FFF2-40B4-BE49-F238E27FC236}">
                  <a16:creationId xmlns:a16="http://schemas.microsoft.com/office/drawing/2014/main" id="{86AD79E7-4EA8-4739-A1A2-746431D74F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4" y="2762"/>
              <a:ext cx="4717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accent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lvl="0" defTabSz="914400">
                <a:spcBef>
                  <a:spcPct val="50000"/>
                </a:spcBef>
                <a:defRPr/>
              </a:pPr>
              <a:r>
                <a: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(</a:t>
              </a:r>
              <a:r>
                <a:rPr kumimoji="0" lang="en-US" sz="2400" b="0" i="0" u="none" strike="noStrike" kern="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i</a:t>
              </a:r>
              <a:r>
                <a: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) </a:t>
              </a:r>
              <a:r>
                <a: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(</a:t>
              </a:r>
              <a:r>
                <a:rPr lang="zh-CN" altLang="en-US" kern="0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可行性</a:t>
              </a:r>
              <a:r>
                <a: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) </a:t>
              </a:r>
              <a:r>
                <a:rPr lang="en-US" i="1" kern="0" dirty="0"/>
                <a:t>   </a:t>
              </a:r>
              <a:r>
                <a:rPr lang="zh-CN" altLang="en-US" kern="0" dirty="0">
                  <a:latin typeface="楷体" panose="02010609060101010101" pitchFamily="49" charset="-122"/>
                  <a:ea typeface="楷体" panose="02010609060101010101" pitchFamily="49" charset="-122"/>
                </a:rPr>
                <a:t>是极小化问题的一个可行解</a:t>
              </a:r>
              <a:r>
                <a:rPr lang="en-US" altLang="zh-CN" kern="0" dirty="0"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rPr>
                <a:t>,</a:t>
              </a:r>
              <a:r>
                <a:rPr lang="zh-CN" altLang="en-US" kern="0" dirty="0"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rPr>
                <a:t>即</a:t>
              </a:r>
              <a:r>
                <a:rPr lang="en-US" altLang="zh-CN" kern="0" dirty="0"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rPr>
                <a:t> </a:t>
              </a:r>
              <a:endParaRPr kumimoji="0" lang="el-GR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20" name="Object 23">
              <a:extLst>
                <a:ext uri="{FF2B5EF4-FFF2-40B4-BE49-F238E27FC236}">
                  <a16:creationId xmlns:a16="http://schemas.microsoft.com/office/drawing/2014/main" id="{828E9670-5BF7-42D4-88CE-A5372F0CAA2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48997503"/>
                </p:ext>
              </p:extLst>
            </p:nvPr>
          </p:nvGraphicFramePr>
          <p:xfrm>
            <a:off x="4087" y="2807"/>
            <a:ext cx="472" cy="1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49" name="Equation" r:id="rId11" imgW="749160" imgH="279360" progId="Equation.DSMT4">
                    <p:embed/>
                  </p:oleObj>
                </mc:Choice>
                <mc:Fallback>
                  <p:oleObj name="Equation" r:id="rId11" imgW="749160" imgH="279360" progId="Equation.DSMT4">
                    <p:embed/>
                    <p:pic>
                      <p:nvPicPr>
                        <p:cNvPr id="17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87" y="2807"/>
                          <a:ext cx="472" cy="17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1" name="Group 28">
            <a:extLst>
              <a:ext uri="{FF2B5EF4-FFF2-40B4-BE49-F238E27FC236}">
                <a16:creationId xmlns:a16="http://schemas.microsoft.com/office/drawing/2014/main" id="{47E18272-FEFD-40AD-9631-0B02C673F03E}"/>
              </a:ext>
            </a:extLst>
          </p:cNvPr>
          <p:cNvGrpSpPr/>
          <p:nvPr/>
        </p:nvGrpSpPr>
        <p:grpSpPr bwMode="auto">
          <a:xfrm>
            <a:off x="530225" y="5602930"/>
            <a:ext cx="8353425" cy="461963"/>
            <a:chOff x="158" y="3444"/>
            <a:chExt cx="5262" cy="291"/>
          </a:xfrm>
        </p:grpSpPr>
        <p:sp>
          <p:nvSpPr>
            <p:cNvPr id="22" name="Text Box 25">
              <a:extLst>
                <a:ext uri="{FF2B5EF4-FFF2-40B4-BE49-F238E27FC236}">
                  <a16:creationId xmlns:a16="http://schemas.microsoft.com/office/drawing/2014/main" id="{69F5D544-957C-4910-870C-70B8A7ED04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8" y="3444"/>
              <a:ext cx="5262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accent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lvl="0" defTabSz="914400">
                <a:spcBef>
                  <a:spcPct val="50000"/>
                </a:spcBef>
                <a:defRPr/>
              </a:pPr>
              <a:r>
                <a: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(ii</a:t>
              </a:r>
              <a:r>
                <a:rPr lang="en-US" kern="0" noProof="0" dirty="0">
                  <a:latin typeface="楷体" panose="02010609060101010101" pitchFamily="49" charset="-122"/>
                  <a:ea typeface="楷体" panose="02010609060101010101" pitchFamily="49" charset="-122"/>
                </a:rPr>
                <a:t>)</a:t>
              </a:r>
              <a:r>
                <a:rPr kumimoji="0" lang="en-US" sz="2400" b="0" i="0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</a:rPr>
                <a:t>(</a:t>
              </a:r>
              <a:r>
                <a:rPr lang="zh-CN" altLang="en-US" kern="0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最优性</a:t>
              </a:r>
              <a:r>
                <a:rPr kumimoji="0" lang="en-US" sz="2400" b="0" i="0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</a:rPr>
                <a:t>)</a:t>
              </a:r>
              <a:r>
                <a:rPr kumimoji="0" lang="zh-CN" altLang="en-US" sz="2400" b="0" i="0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</a:rPr>
                <a:t>对于</a:t>
              </a:r>
              <a:r>
                <a:rPr kumimoji="0" lang="en-US" altLang="zh-CN" sz="2400" b="0" i="1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rPr>
                <a:t>  </a:t>
              </a:r>
              <a:r>
                <a:rPr lang="zh-CN" altLang="en-US" kern="0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邻域内</a:t>
              </a:r>
              <a:r>
                <a:rPr lang="zh-CN" altLang="en-US" kern="0" dirty="0">
                  <a:latin typeface="楷体" panose="02010609060101010101" pitchFamily="49" charset="-122"/>
                  <a:ea typeface="楷体" panose="02010609060101010101" pitchFamily="49" charset="-122"/>
                </a:rPr>
                <a:t>的任意</a:t>
              </a:r>
              <a:r>
                <a:rPr kumimoji="0" lang="en-US" sz="2400" b="0" i="1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楷体" panose="02010609060101010101" pitchFamily="49" charset="-122"/>
                  <a:cs typeface="Times New Roman" panose="02020603050405020304" pitchFamily="18" charset="0"/>
                </a:rPr>
                <a:t>x</a:t>
              </a:r>
              <a:r>
                <a:rPr kumimoji="0" lang="zh-CN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</a:rPr>
                <a:t>都满足</a:t>
              </a:r>
              <a:endParaRPr kumimoji="0" lang="el-GR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23" name="Object 27">
              <a:extLst>
                <a:ext uri="{FF2B5EF4-FFF2-40B4-BE49-F238E27FC236}">
                  <a16:creationId xmlns:a16="http://schemas.microsoft.com/office/drawing/2014/main" id="{1B44A48E-8AC1-43D5-BA6A-34AF3649D34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26436581"/>
                </p:ext>
              </p:extLst>
            </p:nvPr>
          </p:nvGraphicFramePr>
          <p:xfrm>
            <a:off x="3688" y="3473"/>
            <a:ext cx="938" cy="2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50" name="Equation" r:id="rId13" imgW="1638000" imgH="431640" progId="Equation.DSMT4">
                    <p:embed/>
                  </p:oleObj>
                </mc:Choice>
                <mc:Fallback>
                  <p:oleObj name="Equation" r:id="rId13" imgW="1638000" imgH="431640" progId="Equation.DSMT4">
                    <p:embed/>
                    <p:pic>
                      <p:nvPicPr>
                        <p:cNvPr id="20" name="Object 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88" y="3473"/>
                          <a:ext cx="938" cy="24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4" name="Object 23">
            <a:extLst>
              <a:ext uri="{FF2B5EF4-FFF2-40B4-BE49-F238E27FC236}">
                <a16:creationId xmlns:a16="http://schemas.microsoft.com/office/drawing/2014/main" id="{78EF8DAA-7660-4D25-8FF7-C840850967A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5862111"/>
              </p:ext>
            </p:extLst>
          </p:nvPr>
        </p:nvGraphicFramePr>
        <p:xfrm>
          <a:off x="2750446" y="4528027"/>
          <a:ext cx="279191" cy="3448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51" name="Equation" r:id="rId15" imgW="215640" imgH="266400" progId="Equation.DSMT4">
                  <p:embed/>
                </p:oleObj>
              </mc:Choice>
              <mc:Fallback>
                <p:oleObj name="Equation" r:id="rId15" imgW="215640" imgH="266400" progId="Equation.DSMT4">
                  <p:embed/>
                  <p:pic>
                    <p:nvPicPr>
                      <p:cNvPr id="22" name="Object 23">
                        <a:extLst>
                          <a:ext uri="{FF2B5EF4-FFF2-40B4-BE49-F238E27FC236}">
                            <a16:creationId xmlns:a16="http://schemas.microsoft.com/office/drawing/2014/main" id="{EF32244A-54B8-4536-A150-0B48DB64972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50446" y="4528027"/>
                        <a:ext cx="279191" cy="34488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23">
            <a:extLst>
              <a:ext uri="{FF2B5EF4-FFF2-40B4-BE49-F238E27FC236}">
                <a16:creationId xmlns:a16="http://schemas.microsoft.com/office/drawing/2014/main" id="{9A2030CB-2B3F-46D2-8CAA-207E86497C0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5700231"/>
              </p:ext>
            </p:extLst>
          </p:nvPr>
        </p:nvGraphicFramePr>
        <p:xfrm>
          <a:off x="2175735" y="5066019"/>
          <a:ext cx="279191" cy="3448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52" name="Equation" r:id="rId17" imgW="215640" imgH="266400" progId="Equation.DSMT4">
                  <p:embed/>
                </p:oleObj>
              </mc:Choice>
              <mc:Fallback>
                <p:oleObj name="Equation" r:id="rId17" imgW="215640" imgH="266400" progId="Equation.DSMT4">
                  <p:embed/>
                  <p:pic>
                    <p:nvPicPr>
                      <p:cNvPr id="24" name="Object 23">
                        <a:extLst>
                          <a:ext uri="{FF2B5EF4-FFF2-40B4-BE49-F238E27FC236}">
                            <a16:creationId xmlns:a16="http://schemas.microsoft.com/office/drawing/2014/main" id="{0748AAAD-836F-4EAB-A76D-89CA20E7469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5735" y="5066019"/>
                        <a:ext cx="279191" cy="34488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23">
            <a:extLst>
              <a:ext uri="{FF2B5EF4-FFF2-40B4-BE49-F238E27FC236}">
                <a16:creationId xmlns:a16="http://schemas.microsoft.com/office/drawing/2014/main" id="{A97699D6-373D-484C-9F95-02959D436D4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62119971"/>
              </p:ext>
            </p:extLst>
          </p:nvPr>
        </p:nvGraphicFramePr>
        <p:xfrm>
          <a:off x="2902846" y="5638894"/>
          <a:ext cx="279191" cy="3448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53" name="Equation" r:id="rId18" imgW="215640" imgH="266400" progId="Equation.DSMT4">
                  <p:embed/>
                </p:oleObj>
              </mc:Choice>
              <mc:Fallback>
                <p:oleObj name="Equation" r:id="rId18" imgW="215640" imgH="266400" progId="Equation.DSMT4">
                  <p:embed/>
                  <p:pic>
                    <p:nvPicPr>
                      <p:cNvPr id="25" name="Object 23">
                        <a:extLst>
                          <a:ext uri="{FF2B5EF4-FFF2-40B4-BE49-F238E27FC236}">
                            <a16:creationId xmlns:a16="http://schemas.microsoft.com/office/drawing/2014/main" id="{434E0E7A-7741-46F6-92D4-E6BD87BF131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02846" y="5638894"/>
                        <a:ext cx="279191" cy="34488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05664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A4BE39A-AA74-4615-9263-909FAD1240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ACF5701F-746E-469B-BDDA-F93B22D4DB72}" type="datetime1">
              <a:rPr kumimoji="0" lang="en-US" altLang="zh-CN" sz="12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3/31/2025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8C62E10-2951-4253-B0F7-5DCA6BBCE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D1009943-BA82-4F6A-BD7C-764069224CD2}" type="slidenum">
              <a:rPr kumimoji="0" lang="zh-CN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10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  <p:sp>
        <p:nvSpPr>
          <p:cNvPr id="16" name="页脚占位符 2">
            <a:extLst>
              <a:ext uri="{FF2B5EF4-FFF2-40B4-BE49-F238E27FC236}">
                <a16:creationId xmlns:a16="http://schemas.microsoft.com/office/drawing/2014/main" id="{CEDF4CAE-D58D-440C-B46A-8097E82B7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8905" y="19050"/>
            <a:ext cx="4831731" cy="328613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交通大数据</a:t>
            </a: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· </a:t>
            </a: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东南大学 刘志远教授</a:t>
            </a:r>
            <a:endParaRPr kumimoji="0" lang="en-US" altLang="zh-CN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D985FC4C-9330-4D0E-90CD-223E6C10E9B8}"/>
              </a:ext>
            </a:extLst>
          </p:cNvPr>
          <p:cNvSpPr txBox="1">
            <a:spLocks/>
          </p:cNvSpPr>
          <p:nvPr/>
        </p:nvSpPr>
        <p:spPr>
          <a:xfrm>
            <a:off x="457200" y="1322086"/>
            <a:ext cx="8229600" cy="4876800"/>
          </a:xfrm>
          <a:prstGeom prst="rect">
            <a:avLst/>
          </a:prstGeom>
        </p:spPr>
        <p:txBody>
          <a:bodyPr/>
          <a:lstStyle>
            <a:lvl1pPr marL="182563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457200" lvl="1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2pPr>
            <a:lvl3pPr marL="731838" lvl="2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3pPr>
            <a:lvl4pPr marL="1006475" lvl="3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4pPr>
            <a:lvl5pPr marL="1189038" lvl="4" indent="-1365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5pPr>
            <a:lvl6pPr marL="2514600" lvl="5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6pPr>
            <a:lvl7pPr marL="2971800" lvl="6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7pPr>
            <a:lvl8pPr marL="3429000" lvl="7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8pPr>
            <a:lvl9pPr marL="3886200" lvl="8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9pPr>
          </a:lstStyle>
          <a:p>
            <a:pPr marL="0" indent="0" defTabSz="914400">
              <a:spcBef>
                <a:spcPct val="50000"/>
              </a:spcBef>
              <a:buClrTx/>
              <a:buSzPct val="60000"/>
              <a:defRPr/>
            </a:pPr>
            <a:r>
              <a:rPr lang="zh-CN" altLang="en-US" sz="2800" b="1" kern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例</a:t>
            </a:r>
            <a:endParaRPr lang="en-US" altLang="zh-CN" sz="2800" b="1" kern="0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defTabSz="914400"/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 descr="surface">
            <a:extLst>
              <a:ext uri="{FF2B5EF4-FFF2-40B4-BE49-F238E27FC236}">
                <a16:creationId xmlns:a16="http://schemas.microsoft.com/office/drawing/2014/main" id="{DBF8E073-516D-4AAF-86C3-A488349B27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1993900"/>
            <a:ext cx="4267200" cy="3197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" name="Object 7">
            <a:extLst>
              <a:ext uri="{FF2B5EF4-FFF2-40B4-BE49-F238E27FC236}">
                <a16:creationId xmlns:a16="http://schemas.microsoft.com/office/drawing/2014/main" id="{133C57AF-920E-4951-AE99-33B7F206146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1800" y="1913048"/>
          <a:ext cx="36830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14" name="Equation" r:id="rId4" imgW="3683000" imgH="495300" progId="Equation.DSMT4">
                  <p:embed/>
                </p:oleObj>
              </mc:Choice>
              <mc:Fallback>
                <p:oleObj name="Equation" r:id="rId4" imgW="3683000" imgH="495300" progId="Equation.DSMT4">
                  <p:embed/>
                  <p:pic>
                    <p:nvPicPr>
                      <p:cNvPr id="6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1800" y="1913048"/>
                        <a:ext cx="3683000" cy="495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8">
            <a:extLst>
              <a:ext uri="{FF2B5EF4-FFF2-40B4-BE49-F238E27FC236}">
                <a16:creationId xmlns:a16="http://schemas.microsoft.com/office/drawing/2014/main" id="{FDEE34C4-97AB-4393-858F-DED3BBE9DEF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63675" y="2520840"/>
          <a:ext cx="16891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15" name="Equation" r:id="rId6" imgW="1689100" imgH="889000" progId="Equation.DSMT4">
                  <p:embed/>
                </p:oleObj>
              </mc:Choice>
              <mc:Fallback>
                <p:oleObj name="Equation" r:id="rId6" imgW="1689100" imgH="889000" progId="Equation.DSMT4">
                  <p:embed/>
                  <p:pic>
                    <p:nvPicPr>
                      <p:cNvPr id="7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3675" y="2520840"/>
                        <a:ext cx="1689100" cy="889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9">
            <a:extLst>
              <a:ext uri="{FF2B5EF4-FFF2-40B4-BE49-F238E27FC236}">
                <a16:creationId xmlns:a16="http://schemas.microsoft.com/office/drawing/2014/main" id="{0B9993BB-4282-4149-A51A-317C2B7A65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6275" y="2703514"/>
            <a:ext cx="23558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400" kern="0" dirty="0">
                <a:solidFill>
                  <a:sysClr val="windowText" lastClr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向量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:</a:t>
            </a:r>
          </a:p>
        </p:txBody>
      </p:sp>
      <p:graphicFrame>
        <p:nvGraphicFramePr>
          <p:cNvPr id="10" name="Object 10">
            <a:extLst>
              <a:ext uri="{FF2B5EF4-FFF2-40B4-BE49-F238E27FC236}">
                <a16:creationId xmlns:a16="http://schemas.microsoft.com/office/drawing/2014/main" id="{C797F25F-3CF9-44E9-94D0-AF1E4740845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1800" y="3618469"/>
          <a:ext cx="3657600" cy="404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16" name="Equation" r:id="rId8" imgW="3898900" imgH="431800" progId="Equation.DSMT4">
                  <p:embed/>
                </p:oleObj>
              </mc:Choice>
              <mc:Fallback>
                <p:oleObj name="Equation" r:id="rId8" imgW="3898900" imgH="431800" progId="Equation.DSMT4">
                  <p:embed/>
                  <p:pic>
                    <p:nvPicPr>
                      <p:cNvPr id="9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1800" y="3618469"/>
                        <a:ext cx="3657600" cy="4048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2">
            <a:extLst>
              <a:ext uri="{FF2B5EF4-FFF2-40B4-BE49-F238E27FC236}">
                <a16:creationId xmlns:a16="http://schemas.microsoft.com/office/drawing/2014/main" id="{0F5BD5DC-B1D5-4390-84FE-2395DDBD170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1428830"/>
              </p:ext>
            </p:extLst>
          </p:nvPr>
        </p:nvGraphicFramePr>
        <p:xfrm>
          <a:off x="1481138" y="4070565"/>
          <a:ext cx="1689100" cy="182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17" name="Equation" r:id="rId10" imgW="1688760" imgH="1828800" progId="Equation.DSMT4">
                  <p:embed/>
                </p:oleObj>
              </mc:Choice>
              <mc:Fallback>
                <p:oleObj name="Equation" r:id="rId10" imgW="1688760" imgH="1828800" progId="Equation.DSMT4">
                  <p:embed/>
                  <p:pic>
                    <p:nvPicPr>
                      <p:cNvPr id="1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81138" y="4070565"/>
                        <a:ext cx="1689100" cy="1828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Box 13">
            <a:extLst>
              <a:ext uri="{FF2B5EF4-FFF2-40B4-BE49-F238E27FC236}">
                <a16:creationId xmlns:a16="http://schemas.microsoft.com/office/drawing/2014/main" id="{0D80536D-876F-4B8A-BAA6-06E3270067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6275" y="4733925"/>
            <a:ext cx="31940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400" kern="0" dirty="0">
                <a:solidFill>
                  <a:sysClr val="windowText" lastClr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向量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:</a:t>
            </a:r>
          </a:p>
        </p:txBody>
      </p:sp>
      <p:sp>
        <p:nvSpPr>
          <p:cNvPr id="13" name="标题 15">
            <a:extLst>
              <a:ext uri="{FF2B5EF4-FFF2-40B4-BE49-F238E27FC236}">
                <a16:creationId xmlns:a16="http://schemas.microsoft.com/office/drawing/2014/main" id="{454C0A49-F313-4ADC-B91A-E2A2E0896D9A}"/>
              </a:ext>
            </a:extLst>
          </p:cNvPr>
          <p:cNvSpPr txBox="1">
            <a:spLocks/>
          </p:cNvSpPr>
          <p:nvPr/>
        </p:nvSpPr>
        <p:spPr>
          <a:xfrm>
            <a:off x="457200" y="311150"/>
            <a:ext cx="8229600" cy="990600"/>
          </a:xfrm>
          <a:prstGeom prst="rect">
            <a:avLst/>
          </a:prstGeom>
        </p:spPr>
        <p:txBody>
          <a:bodyPr/>
          <a:lstStyle>
            <a:lvl1pPr marL="914400" indent="-91440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 kern="1200">
                <a:solidFill>
                  <a:schemeClr val="tx2"/>
                </a:solidFill>
                <a:latin typeface="+mj-lt"/>
                <a:ea typeface="+mj-ea"/>
                <a:cs typeface="+mj-cs"/>
                <a:sym typeface="Arial" panose="020B0604020202020204" pitchFamily="34" charset="0"/>
              </a:defRPr>
            </a:lvl1pPr>
            <a:lvl2pPr marL="914400" indent="-91440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2pPr>
            <a:lvl3pPr marL="914400" indent="-91440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3pPr>
            <a:lvl4pPr marL="914400" indent="-91440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4pPr>
            <a:lvl5pPr marL="914400" indent="-91440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5pPr>
            <a:lvl6pPr marL="1371600" indent="-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6pPr>
            <a:lvl7pPr marL="1828800" indent="-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7pPr>
            <a:lvl8pPr marL="2286000" indent="-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8pPr>
            <a:lvl9pPr marL="2743200" indent="-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9pPr>
          </a:lstStyle>
          <a:p>
            <a:pPr defTabSz="914400"/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多元函数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745952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A4BE39A-AA74-4615-9263-909FAD1240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ACF5701F-746E-469B-BDDA-F93B22D4DB72}" type="datetime1">
              <a:rPr kumimoji="0" lang="en-US" altLang="zh-CN" sz="12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3/31/2025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8C62E10-2951-4253-B0F7-5DCA6BBCE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D1009943-BA82-4F6A-BD7C-764069224CD2}" type="slidenum">
              <a:rPr kumimoji="0" lang="zh-CN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11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  <p:sp>
        <p:nvSpPr>
          <p:cNvPr id="16" name="页脚占位符 2">
            <a:extLst>
              <a:ext uri="{FF2B5EF4-FFF2-40B4-BE49-F238E27FC236}">
                <a16:creationId xmlns:a16="http://schemas.microsoft.com/office/drawing/2014/main" id="{CEDF4CAE-D58D-440C-B46A-8097E82B7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8905" y="19050"/>
            <a:ext cx="4831731" cy="328613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交通大数据</a:t>
            </a: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· </a:t>
            </a: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东南大学 刘志远教授</a:t>
            </a:r>
            <a:endParaRPr kumimoji="0" lang="en-US" altLang="zh-CN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F24746C0-A300-4ACF-8C6D-0F628A14CE4F}"/>
              </a:ext>
            </a:extLst>
          </p:cNvPr>
          <p:cNvSpPr txBox="1">
            <a:spLocks/>
          </p:cNvSpPr>
          <p:nvPr/>
        </p:nvSpPr>
        <p:spPr>
          <a:xfrm>
            <a:off x="424974" y="1214914"/>
            <a:ext cx="8551758" cy="4876800"/>
          </a:xfrm>
          <a:prstGeom prst="rect">
            <a:avLst/>
          </a:prstGeom>
        </p:spPr>
        <p:txBody>
          <a:bodyPr/>
          <a:lstStyle>
            <a:lvl1pPr marL="182563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457200" lvl="1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2pPr>
            <a:lvl3pPr marL="731838" lvl="2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3pPr>
            <a:lvl4pPr marL="1006475" lvl="3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4pPr>
            <a:lvl5pPr marL="1189038" lvl="4" indent="-1365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5pPr>
            <a:lvl6pPr marL="2514600" lvl="5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6pPr>
            <a:lvl7pPr marL="2971800" lvl="6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7pPr>
            <a:lvl8pPr marL="3429000" lvl="7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8pPr>
            <a:lvl9pPr marL="3886200" lvl="8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9pPr>
          </a:lstStyle>
          <a:p>
            <a:pPr marL="342900" indent="-342900" defTabSz="914400">
              <a:spcBef>
                <a:spcPct val="50000"/>
              </a:spcBef>
              <a:buClrTx/>
              <a:buSzPct val="60000"/>
              <a:defRPr/>
            </a:pPr>
            <a:r>
              <a:rPr lang="zh-CN" altLang="en-US" sz="2800" b="1" kern="0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一个</a:t>
            </a:r>
            <a:r>
              <a:rPr lang="en-US" altLang="zh-CN" sz="2800" b="1" i="1" kern="0" dirty="0">
                <a:solidFill>
                  <a:srgbClr val="0000FF"/>
                </a:solidFill>
                <a:latin typeface="Times New Roman" panose="02020603050405020304" pitchFamily="18" charset="0"/>
              </a:rPr>
              <a:t>n</a:t>
            </a:r>
            <a:r>
              <a:rPr lang="zh-CN" altLang="en-US" sz="2800" b="1" kern="0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元函数</a:t>
            </a:r>
            <a:r>
              <a:rPr lang="en-US" altLang="zh-CN" sz="2800" b="1" i="1" kern="0" dirty="0">
                <a:solidFill>
                  <a:srgbClr val="0000FF"/>
                </a:solidFill>
                <a:latin typeface="Times New Roman" panose="02020603050405020304" pitchFamily="18" charset="0"/>
              </a:rPr>
              <a:t>f(x)</a:t>
            </a:r>
            <a:r>
              <a:rPr lang="zh-CN" altLang="en-US" sz="2800" b="1" kern="0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在最优解</a:t>
            </a:r>
            <a:r>
              <a:rPr lang="en-US" altLang="zh-CN" sz="2800" b="1" i="1" kern="0" dirty="0">
                <a:solidFill>
                  <a:srgbClr val="0000FF"/>
                </a:solidFill>
                <a:latin typeface="Times New Roman" panose="02020603050405020304" pitchFamily="18" charset="0"/>
              </a:rPr>
              <a:t>x=x*</a:t>
            </a:r>
            <a:r>
              <a:rPr lang="zh-CN" altLang="en-US" sz="2800" b="1" kern="0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处的梯度可表示为：</a:t>
            </a:r>
            <a:endParaRPr lang="en-US" altLang="zh-CN" sz="2800" b="1" kern="0" dirty="0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defTabSz="914400"/>
            <a:endParaRPr lang="zh-CN" altLang="en-US" dirty="0"/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7BE88CBA-01AA-4974-B4BF-1CBEA6EA2B5C}"/>
              </a:ext>
            </a:extLst>
          </p:cNvPr>
          <p:cNvSpPr txBox="1">
            <a:spLocks/>
          </p:cNvSpPr>
          <p:nvPr/>
        </p:nvSpPr>
        <p:spPr>
          <a:xfrm>
            <a:off x="95820" y="374405"/>
            <a:ext cx="8229600" cy="990600"/>
          </a:xfrm>
          <a:prstGeom prst="rect">
            <a:avLst/>
          </a:prstGeom>
        </p:spPr>
        <p:txBody>
          <a:bodyPr/>
          <a:lstStyle>
            <a:lvl1pPr marL="914400" indent="-91440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 kern="1200">
                <a:solidFill>
                  <a:schemeClr val="tx2"/>
                </a:solidFill>
                <a:latin typeface="+mj-lt"/>
                <a:ea typeface="+mj-ea"/>
                <a:cs typeface="+mj-cs"/>
                <a:sym typeface="Arial" panose="020B0604020202020204" pitchFamily="34" charset="0"/>
              </a:defRPr>
            </a:lvl1pPr>
            <a:lvl2pPr marL="914400" indent="-91440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2pPr>
            <a:lvl3pPr marL="914400" indent="-91440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3pPr>
            <a:lvl4pPr marL="914400" indent="-91440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4pPr>
            <a:lvl5pPr marL="914400" indent="-91440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5pPr>
            <a:lvl6pPr marL="1371600" indent="-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6pPr>
            <a:lvl7pPr marL="1828800" indent="-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7pPr>
            <a:lvl8pPr marL="2286000" indent="-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8pPr>
            <a:lvl9pPr marL="2743200" indent="-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9pPr>
          </a:lstStyle>
          <a:p>
            <a:pPr defTabSz="914400"/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多元函数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--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梯度</a:t>
            </a:r>
          </a:p>
        </p:txBody>
      </p:sp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8A1908F4-A6D5-4E5C-A0E3-6F6BA88F98A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75193" y="1738165"/>
          <a:ext cx="2946400" cy="220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60" name="Equation" r:id="rId3" imgW="2946400" imgH="2209800" progId="Equation.DSMT4">
                  <p:embed/>
                </p:oleObj>
              </mc:Choice>
              <mc:Fallback>
                <p:oleObj name="Equation" r:id="rId3" imgW="2946400" imgH="2209800" progId="Equation.DSMT4">
                  <p:embed/>
                  <p:pic>
                    <p:nvPicPr>
                      <p:cNvPr id="5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5193" y="1738165"/>
                        <a:ext cx="2946400" cy="2209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E0DAC813-30A1-4135-9B82-D72AFDB1590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16293" y="4031139"/>
          <a:ext cx="3327400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61" name="Equation" r:id="rId5" imgW="3657600" imgH="495300" progId="Equation.DSMT4">
                  <p:embed/>
                </p:oleObj>
              </mc:Choice>
              <mc:Fallback>
                <p:oleObj name="Equation" r:id="rId5" imgW="3657600" imgH="495300" progId="Equation.DSMT4">
                  <p:embed/>
                  <p:pic>
                    <p:nvPicPr>
                      <p:cNvPr id="6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6293" y="4031139"/>
                        <a:ext cx="3327400" cy="450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5400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10">
            <a:extLst>
              <a:ext uri="{FF2B5EF4-FFF2-40B4-BE49-F238E27FC236}">
                <a16:creationId xmlns:a16="http://schemas.microsoft.com/office/drawing/2014/main" id="{78040F4C-386B-48E1-A954-75E83C9F79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0411" y="3401679"/>
            <a:ext cx="28051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</a:t>
            </a:r>
            <a:r>
              <a:rPr lang="zh-CN" altLang="en-US" sz="2400" b="1" kern="0" dirty="0">
                <a:solidFill>
                  <a:sysClr val="windowText" lastClr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</a:t>
            </a:r>
          </a:p>
        </p:txBody>
      </p:sp>
      <p:graphicFrame>
        <p:nvGraphicFramePr>
          <p:cNvPr id="10" name="Object 11">
            <a:extLst>
              <a:ext uri="{FF2B5EF4-FFF2-40B4-BE49-F238E27FC236}">
                <a16:creationId xmlns:a16="http://schemas.microsoft.com/office/drawing/2014/main" id="{43AB03B8-4F8B-4A96-9524-5E0E393C0AC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68693" y="5045903"/>
          <a:ext cx="2679700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62" name="Equation" r:id="rId7" imgW="2679700" imgH="1143000" progId="Equation.DSMT4">
                  <p:embed/>
                </p:oleObj>
              </mc:Choice>
              <mc:Fallback>
                <p:oleObj name="Equation" r:id="rId7" imgW="2679700" imgH="1143000" progId="Equation.DSMT4">
                  <p:embed/>
                  <p:pic>
                    <p:nvPicPr>
                      <p:cNvPr id="8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8693" y="5045903"/>
                        <a:ext cx="2679700" cy="1143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4">
            <a:extLst>
              <a:ext uri="{FF2B5EF4-FFF2-40B4-BE49-F238E27FC236}">
                <a16:creationId xmlns:a16="http://schemas.microsoft.com/office/drawing/2014/main" id="{C1C23E49-E12E-44EA-ADA5-3F370D6A9E9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61930" y="4031139"/>
          <a:ext cx="38989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63" name="Equation" r:id="rId9" imgW="3898900" imgH="431800" progId="Equation.DSMT4">
                  <p:embed/>
                </p:oleObj>
              </mc:Choice>
              <mc:Fallback>
                <p:oleObj name="Equation" r:id="rId9" imgW="3898900" imgH="431800" progId="Equation.DSMT4">
                  <p:embed/>
                  <p:pic>
                    <p:nvPicPr>
                      <p:cNvPr id="9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61930" y="4031139"/>
                        <a:ext cx="3898900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5">
            <a:extLst>
              <a:ext uri="{FF2B5EF4-FFF2-40B4-BE49-F238E27FC236}">
                <a16:creationId xmlns:a16="http://schemas.microsoft.com/office/drawing/2014/main" id="{2B31E78E-BCA7-4EED-9091-1B2C05DDA77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38800" y="4531072"/>
          <a:ext cx="1981200" cy="177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64" name="Equation" r:id="rId11" imgW="1981200" imgH="1778000" progId="Equation.DSMT4">
                  <p:embed/>
                </p:oleObj>
              </mc:Choice>
              <mc:Fallback>
                <p:oleObj name="Equation" r:id="rId11" imgW="1981200" imgH="1778000" progId="Equation.DSMT4">
                  <p:embed/>
                  <p:pic>
                    <p:nvPicPr>
                      <p:cNvPr id="1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8800" y="4531072"/>
                        <a:ext cx="1981200" cy="1778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AutoShape 16">
            <a:extLst>
              <a:ext uri="{FF2B5EF4-FFF2-40B4-BE49-F238E27FC236}">
                <a16:creationId xmlns:a16="http://schemas.microsoft.com/office/drawing/2014/main" id="{31B7AF78-9BF8-4A55-B876-6A036BC080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2204" y="4579178"/>
            <a:ext cx="287338" cy="360363"/>
          </a:xfrm>
          <a:prstGeom prst="downArrow">
            <a:avLst>
              <a:gd name="adj1" fmla="val 50000"/>
              <a:gd name="adj2" fmla="val 31354"/>
            </a:avLst>
          </a:prstGeom>
          <a:solidFill>
            <a:schemeClr val="accent1"/>
          </a:solidFill>
          <a:ln w="25400">
            <a:solidFill>
              <a:srgbClr val="FF66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AU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4" name="AutoShape 17">
            <a:extLst>
              <a:ext uri="{FF2B5EF4-FFF2-40B4-BE49-F238E27FC236}">
                <a16:creationId xmlns:a16="http://schemas.microsoft.com/office/drawing/2014/main" id="{6B22963D-827D-44DF-8CF2-B478E44835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1906" y="4606378"/>
            <a:ext cx="287337" cy="360363"/>
          </a:xfrm>
          <a:prstGeom prst="downArrow">
            <a:avLst>
              <a:gd name="adj1" fmla="val 50000"/>
              <a:gd name="adj2" fmla="val 31354"/>
            </a:avLst>
          </a:prstGeom>
          <a:solidFill>
            <a:schemeClr val="accent1"/>
          </a:solidFill>
          <a:ln w="25400">
            <a:solidFill>
              <a:srgbClr val="FF66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AU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aphicFrame>
        <p:nvGraphicFramePr>
          <p:cNvPr id="15" name="Object 6">
            <a:extLst>
              <a:ext uri="{FF2B5EF4-FFF2-40B4-BE49-F238E27FC236}">
                <a16:creationId xmlns:a16="http://schemas.microsoft.com/office/drawing/2014/main" id="{0B078FE4-8182-40BA-8D41-E287654B511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92457" y="1877679"/>
          <a:ext cx="2168100" cy="1320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65" name="Equation" r:id="rId13" imgW="53340000" imgH="32308800" progId="Equation.DSMT4">
                  <p:embed/>
                </p:oleObj>
              </mc:Choice>
              <mc:Fallback>
                <p:oleObj name="Equation" r:id="rId13" imgW="53340000" imgH="32308800" progId="Equation.DSMT4">
                  <p:embed/>
                  <p:pic>
                    <p:nvPicPr>
                      <p:cNvPr id="13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92457" y="1877679"/>
                        <a:ext cx="2168100" cy="132080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accent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221679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3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8001" y="1157140"/>
            <a:ext cx="3236913" cy="228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64735"/>
            <a:ext cx="8229600" cy="990600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多元函数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--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梯度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57140"/>
            <a:ext cx="8229600" cy="4876800"/>
          </a:xfrm>
        </p:spPr>
        <p:txBody>
          <a:bodyPr/>
          <a:lstStyle/>
          <a:p>
            <a:pPr marL="0" lvl="0" indent="0">
              <a:spcBef>
                <a:spcPct val="50000"/>
              </a:spcBef>
              <a:buClrTx/>
              <a:buSzPct val="60000"/>
              <a:buFont typeface="Wingdings" panose="05000000000000000000" pitchFamily="2" charset="2"/>
              <a:buChar char="q"/>
            </a:pPr>
            <a:r>
              <a:rPr lang="zh-CN" altLang="en-US" sz="2800" b="1" kern="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梯度的几何解释</a:t>
            </a:r>
            <a:r>
              <a:rPr lang="en-US" altLang="zh-CN" sz="2800" b="1" kern="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</a:p>
          <a:p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Box 7"/>
          <p:cNvSpPr txBox="1">
            <a:spLocks noChangeArrowheads="1"/>
          </p:cNvSpPr>
          <p:nvPr/>
        </p:nvSpPr>
        <p:spPr bwMode="auto">
          <a:xfrm>
            <a:off x="670891" y="1627702"/>
            <a:ext cx="5715000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kern="0" dirty="0">
                <a:solidFill>
                  <a:prstClr val="black"/>
                </a:solidFill>
              </a:rPr>
              <a:t>给定一个函数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r>
              <a:rPr kumimoji="0" lang="en-US" altLang="zh-CN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f(x)=x</a:t>
            </a:r>
            <a:r>
              <a:rPr kumimoji="0" lang="en-US" altLang="zh-CN" sz="2400" b="0" i="1" u="none" strike="noStrike" kern="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kumimoji="0" lang="en-US" altLang="zh-CN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+x</a:t>
            </a:r>
            <a:r>
              <a:rPr kumimoji="0" lang="en-US" altLang="zh-CN" sz="2400" b="0" i="1" u="none" strike="noStrike" kern="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2,  </a:t>
            </a: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kern="0" dirty="0">
                <a:solidFill>
                  <a:prstClr val="black"/>
                </a:solidFill>
              </a:rPr>
              <a:t>在点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kumimoji="0" lang="en-US" altLang="zh-CN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x=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kumimoji="0" lang="en-US" altLang="zh-CN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2,1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zh-CN" altLang="en-US" kern="0" dirty="0">
                <a:solidFill>
                  <a:prstClr val="black"/>
                </a:solidFill>
              </a:rPr>
              <a:t>处，梯度为：</a:t>
            </a:r>
            <a:endParaRPr kumimoji="0" lang="en-US" altLang="zh-CN" sz="2400" b="0" u="none" strike="noStrike" kern="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graphicFrame>
        <p:nvGraphicFramePr>
          <p:cNvPr id="6" name="Object 23"/>
          <p:cNvGraphicFramePr>
            <a:graphicFrameLocks noChangeAspect="1"/>
          </p:cNvGraphicFramePr>
          <p:nvPr/>
        </p:nvGraphicFramePr>
        <p:xfrm>
          <a:off x="857250" y="2637013"/>
          <a:ext cx="20955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9" name="Equation" r:id="rId4" imgW="2095500" imgH="584200" progId="Equation.DSMT4">
                  <p:embed/>
                </p:oleObj>
              </mc:Choice>
              <mc:Fallback>
                <p:oleObj name="Equation" r:id="rId4" imgW="2095500" imgH="584200" progId="Equation.DSMT4">
                  <p:embed/>
                  <p:pic>
                    <p:nvPicPr>
                      <p:cNvPr id="0" name="Picture 10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7250" y="2637013"/>
                        <a:ext cx="2095500" cy="584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46"/>
          <p:cNvSpPr txBox="1">
            <a:spLocks noChangeArrowheads="1"/>
          </p:cNvSpPr>
          <p:nvPr/>
        </p:nvSpPr>
        <p:spPr bwMode="auto">
          <a:xfrm>
            <a:off x="359086" y="3221213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342900" marR="0" lvl="0" indent="-34290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kern="0" dirty="0">
                <a:solidFill>
                  <a:srgbClr val="0000FF"/>
                </a:solidFill>
              </a:rPr>
              <a:t>观察发现：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" name="Text Box 33"/>
          <p:cNvSpPr txBox="1">
            <a:spLocks noChangeArrowheads="1"/>
          </p:cNvSpPr>
          <p:nvPr/>
        </p:nvSpPr>
        <p:spPr bwMode="auto">
          <a:xfrm>
            <a:off x="359086" y="3678413"/>
            <a:ext cx="83058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231775" indent="-231775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lvl="0" defTabSz="914400" eaLnBrk="1" fontAlgn="base" hangingPunct="1">
              <a:spcBef>
                <a:spcPct val="50000"/>
              </a:spcBef>
              <a:spcAft>
                <a:spcPct val="0"/>
              </a:spcAft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1. 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当沿着点</a:t>
            </a:r>
            <a:r>
              <a:rPr lang="en-US" altLang="zh-CN" i="1" kern="0" dirty="0">
                <a:solidFill>
                  <a:prstClr val="black"/>
                </a:solidFill>
              </a:rPr>
              <a:t>x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的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梯度方向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移动时，函数值将增加；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" name="Text Box 41"/>
          <p:cNvSpPr txBox="1">
            <a:spLocks noChangeArrowheads="1"/>
          </p:cNvSpPr>
          <p:nvPr/>
        </p:nvSpPr>
        <p:spPr bwMode="auto">
          <a:xfrm>
            <a:off x="359086" y="4135613"/>
            <a:ext cx="83058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231775" indent="-231775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lvl="0" defTabSz="914400" eaLnBrk="1" fontAlgn="base" hangingPunct="1">
              <a:spcBef>
                <a:spcPct val="50000"/>
              </a:spcBef>
              <a:spcAft>
                <a:spcPct val="0"/>
              </a:spcAft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2. 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当沿着点</a:t>
            </a:r>
            <a:r>
              <a:rPr lang="en-US" altLang="zh-CN" i="1" kern="0" dirty="0">
                <a:solidFill>
                  <a:prstClr val="black"/>
                </a:solidFill>
              </a:rPr>
              <a:t>x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的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负梯度方向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移动时，函数值将减小。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" name="Text Box 44"/>
          <p:cNvSpPr txBox="1">
            <a:spLocks noChangeArrowheads="1"/>
          </p:cNvSpPr>
          <p:nvPr/>
        </p:nvSpPr>
        <p:spPr bwMode="auto">
          <a:xfrm>
            <a:off x="457200" y="4720163"/>
            <a:ext cx="8001000" cy="1200329"/>
          </a:xfrm>
          <a:prstGeom prst="rect">
            <a:avLst/>
          </a:prstGeom>
          <a:noFill/>
          <a:ln w="25400">
            <a:solidFill>
              <a:srgbClr val="80008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5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kern="0" dirty="0">
                <a:solidFill>
                  <a:prstClr val="black"/>
                </a:solidFill>
              </a:rPr>
              <a:t>对于</a:t>
            </a:r>
            <a:r>
              <a:rPr lang="zh-CN" altLang="en-US" kern="0" noProof="0" dirty="0">
                <a:solidFill>
                  <a:prstClr val="black"/>
                </a:solidFill>
              </a:rPr>
              <a:t>使目标函数值最小的问题，负梯度方向为其提供了一个重要的线索。如何证明？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F3EFA-13E6-4BF0-AC89-137B3AEA8E6C}" type="datetime1">
              <a:rPr lang="en-US" altLang="zh-CN" smtClean="0"/>
              <a:pPr/>
              <a:t>3/31/2025</a:t>
            </a:fld>
            <a:endParaRPr lang="en-US"/>
          </a:p>
        </p:txBody>
      </p:sp>
      <p:sp>
        <p:nvSpPr>
          <p:cNvPr id="14" name="灯片编号占位符 13"/>
          <p:cNvSpPr>
            <a:spLocks noGrp="1"/>
          </p:cNvSpPr>
          <p:nvPr>
            <p:ph type="sldNum" sz="quarter" idx="12"/>
          </p:nvPr>
        </p:nvSpPr>
        <p:spPr>
          <a:xfrm>
            <a:off x="8609505" y="18288"/>
            <a:ext cx="1066800" cy="329184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13" name="页脚占位符 2">
            <a:extLst>
              <a:ext uri="{FF2B5EF4-FFF2-40B4-BE49-F238E27FC236}">
                <a16:creationId xmlns:a16="http://schemas.microsoft.com/office/drawing/2014/main" id="{56BC38FA-622F-4234-8D7B-41AAD69FF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8905" y="19050"/>
            <a:ext cx="4831731" cy="328613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交通大数据</a:t>
            </a: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· </a:t>
            </a: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东南大学 刘志远教授</a:t>
            </a:r>
            <a:endParaRPr kumimoji="0" lang="en-US" altLang="zh-CN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12420"/>
            <a:ext cx="8229600" cy="990600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多元函数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--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梯度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39012"/>
            <a:ext cx="8229600" cy="4876800"/>
          </a:xfrm>
        </p:spPr>
        <p:txBody>
          <a:bodyPr/>
          <a:lstStyle/>
          <a:p>
            <a:pPr marL="0" lvl="0" indent="0">
              <a:spcBef>
                <a:spcPct val="50000"/>
              </a:spcBef>
              <a:buClrTx/>
              <a:buSzPct val="60000"/>
              <a:buFont typeface="Wingdings" panose="05000000000000000000" pitchFamily="2" charset="2"/>
              <a:buChar char="q"/>
            </a:pPr>
            <a:r>
              <a:rPr lang="zh-CN" altLang="en-US" sz="2800" b="1" kern="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梯度的几何解释</a:t>
            </a:r>
            <a:r>
              <a:rPr lang="en-US" altLang="zh-CN" sz="2800" b="1" kern="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</a:p>
          <a:p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95202" y="1713793"/>
            <a:ext cx="7058198" cy="44759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35DD4-E434-4CB5-8550-D38E92F4100D}" type="datetime1">
              <a:rPr lang="en-US" altLang="zh-CN" smtClean="0"/>
              <a:pPr/>
              <a:t>3/31/2025</a:t>
            </a:fld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86800" y="34414"/>
            <a:ext cx="1066800" cy="329184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8" name="页脚占位符 2">
            <a:extLst>
              <a:ext uri="{FF2B5EF4-FFF2-40B4-BE49-F238E27FC236}">
                <a16:creationId xmlns:a16="http://schemas.microsoft.com/office/drawing/2014/main" id="{6D5273FD-3564-4DF5-9271-EA08DE206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8905" y="19050"/>
            <a:ext cx="4831731" cy="328613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交通大数据</a:t>
            </a: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· </a:t>
            </a: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东南大学 刘志远教授</a:t>
            </a:r>
            <a:endParaRPr kumimoji="0" lang="en-US" altLang="zh-CN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26537"/>
            <a:ext cx="8229600" cy="990600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多元函数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—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海塞矩阵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31900"/>
            <a:ext cx="8229600" cy="4876800"/>
          </a:xfrm>
        </p:spPr>
        <p:txBody>
          <a:bodyPr/>
          <a:lstStyle/>
          <a:p>
            <a:pPr marL="342900" lvl="0" indent="-342900">
              <a:spcBef>
                <a:spcPct val="50000"/>
              </a:spcBef>
              <a:buClrTx/>
              <a:buSzPct val="60000"/>
              <a:buFont typeface="Wingdings" panose="05000000000000000000" pitchFamily="2" charset="2"/>
              <a:buChar char="q"/>
              <a:defRPr/>
            </a:pPr>
            <a:r>
              <a:rPr lang="en-US" altLang="zh-CN" sz="2800" b="1" i="1" kern="0" dirty="0">
                <a:solidFill>
                  <a:srgbClr val="0000FF"/>
                </a:solidFill>
                <a:latin typeface="Times New Roman" panose="02020603050405020304" pitchFamily="18" charset="0"/>
              </a:rPr>
              <a:t>n</a:t>
            </a:r>
            <a:r>
              <a:rPr lang="zh-CN" altLang="en-US" sz="2800" b="1" kern="0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元函数</a:t>
            </a:r>
            <a:r>
              <a:rPr lang="en-US" altLang="zh-CN" sz="2800" b="1" i="1" kern="0" dirty="0">
                <a:solidFill>
                  <a:srgbClr val="0000FF"/>
                </a:solidFill>
                <a:latin typeface="Times New Roman" panose="02020603050405020304" pitchFamily="18" charset="0"/>
              </a:rPr>
              <a:t>f(x)</a:t>
            </a:r>
            <a:r>
              <a:rPr lang="zh-CN" altLang="en-US" sz="2800" b="1" kern="0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在最优解</a:t>
            </a:r>
            <a:r>
              <a:rPr lang="en-US" altLang="zh-CN" sz="2800" b="1" kern="0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800" b="1" i="1" kern="0" dirty="0">
                <a:solidFill>
                  <a:srgbClr val="0000FF"/>
                </a:solidFill>
                <a:latin typeface="Times New Roman" panose="02020603050405020304" pitchFamily="18" charset="0"/>
              </a:rPr>
              <a:t>x=x*</a:t>
            </a:r>
            <a:r>
              <a:rPr lang="en-US" altLang="zh-CN" sz="2800" b="1" kern="0" dirty="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800" b="1" kern="0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处的海塞矩阵可表示为：</a:t>
            </a:r>
            <a:endParaRPr lang="en-US" altLang="zh-CN" sz="2800" b="1" kern="0" dirty="0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zh-CN" altLang="en-US" dirty="0"/>
          </a:p>
        </p:txBody>
      </p:sp>
      <p:graphicFrame>
        <p:nvGraphicFramePr>
          <p:cNvPr id="5" name="Object 7"/>
          <p:cNvGraphicFramePr>
            <a:graphicFrameLocks noChangeAspect="1"/>
          </p:cNvGraphicFramePr>
          <p:nvPr/>
        </p:nvGraphicFramePr>
        <p:xfrm>
          <a:off x="684213" y="1963254"/>
          <a:ext cx="7480300" cy="186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7" name="Equation" r:id="rId3" imgW="7480300" imgH="1866900" progId="Equation.DSMT4">
                  <p:embed/>
                </p:oleObj>
              </mc:Choice>
              <mc:Fallback>
                <p:oleObj name="Equation" r:id="rId3" imgW="7480300" imgH="1866900" progId="Equation.DSMT4">
                  <p:embed/>
                  <p:pic>
                    <p:nvPicPr>
                      <p:cNvPr id="0" name="Picture 48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1963254"/>
                        <a:ext cx="7480300" cy="1866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8"/>
          <p:cNvSpPr txBox="1">
            <a:spLocks noChangeArrowheads="1"/>
          </p:cNvSpPr>
          <p:nvPr/>
        </p:nvSpPr>
        <p:spPr bwMode="auto">
          <a:xfrm>
            <a:off x="454025" y="3915988"/>
            <a:ext cx="20161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</a:t>
            </a:r>
            <a:r>
              <a:rPr lang="zh-CN" altLang="en-US" sz="2400" b="1" kern="0" dirty="0">
                <a:solidFill>
                  <a:sysClr val="windowText" lastClr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</a:t>
            </a:r>
          </a:p>
        </p:txBody>
      </p:sp>
      <p:graphicFrame>
        <p:nvGraphicFramePr>
          <p:cNvPr id="7" name="Object 9"/>
          <p:cNvGraphicFramePr>
            <a:graphicFrameLocks noChangeAspect="1"/>
          </p:cNvGraphicFramePr>
          <p:nvPr/>
        </p:nvGraphicFramePr>
        <p:xfrm>
          <a:off x="684213" y="4336649"/>
          <a:ext cx="3525837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8" name="Equation" r:id="rId5" imgW="3073400" imgH="431800" progId="Equation.DSMT4">
                  <p:embed/>
                </p:oleObj>
              </mc:Choice>
              <mc:Fallback>
                <p:oleObj name="Equation" r:id="rId5" imgW="3073400" imgH="431800" progId="Equation.DSMT4">
                  <p:embed/>
                  <p:pic>
                    <p:nvPicPr>
                      <p:cNvPr id="0" name="Picture 48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4336649"/>
                        <a:ext cx="3525837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5400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11"/>
          <p:cNvGraphicFramePr>
            <a:graphicFrameLocks noChangeAspect="1"/>
          </p:cNvGraphicFramePr>
          <p:nvPr/>
        </p:nvGraphicFramePr>
        <p:xfrm>
          <a:off x="1212408" y="5292931"/>
          <a:ext cx="19050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9" name="Equation" r:id="rId7" imgW="1905000" imgH="736600" progId="Equation.DSMT4">
                  <p:embed/>
                </p:oleObj>
              </mc:Choice>
              <mc:Fallback>
                <p:oleObj name="Equation" r:id="rId7" imgW="1905000" imgH="736600" progId="Equation.DSMT4">
                  <p:embed/>
                  <p:pic>
                    <p:nvPicPr>
                      <p:cNvPr id="0" name="Picture 49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2408" y="5292931"/>
                        <a:ext cx="19050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12"/>
          <p:cNvGraphicFramePr>
            <a:graphicFrameLocks noChangeAspect="1"/>
          </p:cNvGraphicFramePr>
          <p:nvPr/>
        </p:nvGraphicFramePr>
        <p:xfrm>
          <a:off x="4925219" y="4336649"/>
          <a:ext cx="3757612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0" name="Equation" r:id="rId9" imgW="3263900" imgH="381000" progId="Equation.DSMT4">
                  <p:embed/>
                </p:oleObj>
              </mc:Choice>
              <mc:Fallback>
                <p:oleObj name="Equation" r:id="rId9" imgW="3263900" imgH="381000" progId="Equation.DSMT4">
                  <p:embed/>
                  <p:pic>
                    <p:nvPicPr>
                      <p:cNvPr id="0" name="Picture 49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25219" y="4336649"/>
                        <a:ext cx="3757612" cy="438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3"/>
          <p:cNvGraphicFramePr>
            <a:graphicFrameLocks noChangeAspect="1"/>
          </p:cNvGraphicFramePr>
          <p:nvPr/>
        </p:nvGraphicFramePr>
        <p:xfrm>
          <a:off x="5270812" y="5057868"/>
          <a:ext cx="2679700" cy="149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1" name="Equation" r:id="rId11" imgW="2679700" imgH="1498600" progId="Equation.DSMT4">
                  <p:embed/>
                </p:oleObj>
              </mc:Choice>
              <mc:Fallback>
                <p:oleObj name="Equation" r:id="rId11" imgW="2679700" imgH="1498600" progId="Equation.DSMT4">
                  <p:embed/>
                  <p:pic>
                    <p:nvPicPr>
                      <p:cNvPr id="0" name="Picture 49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70812" y="5057868"/>
                        <a:ext cx="2679700" cy="1498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AutoShape 14"/>
          <p:cNvSpPr>
            <a:spLocks noChangeArrowheads="1"/>
          </p:cNvSpPr>
          <p:nvPr/>
        </p:nvSpPr>
        <p:spPr bwMode="auto">
          <a:xfrm>
            <a:off x="2020446" y="4937253"/>
            <a:ext cx="288925" cy="360363"/>
          </a:xfrm>
          <a:prstGeom prst="downArrow">
            <a:avLst>
              <a:gd name="adj1" fmla="val 50000"/>
              <a:gd name="adj2" fmla="val 31181"/>
            </a:avLst>
          </a:prstGeom>
          <a:solidFill>
            <a:schemeClr val="accent1"/>
          </a:solidFill>
          <a:ln w="25400">
            <a:solidFill>
              <a:srgbClr val="FF66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AU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2" name="AutoShape 15"/>
          <p:cNvSpPr>
            <a:spLocks noChangeArrowheads="1"/>
          </p:cNvSpPr>
          <p:nvPr/>
        </p:nvSpPr>
        <p:spPr bwMode="auto">
          <a:xfrm>
            <a:off x="6106441" y="4877687"/>
            <a:ext cx="288925" cy="360363"/>
          </a:xfrm>
          <a:prstGeom prst="downArrow">
            <a:avLst>
              <a:gd name="adj1" fmla="val 50000"/>
              <a:gd name="adj2" fmla="val 31181"/>
            </a:avLst>
          </a:prstGeom>
          <a:solidFill>
            <a:schemeClr val="accent1"/>
          </a:solidFill>
          <a:ln w="25400">
            <a:solidFill>
              <a:srgbClr val="FF66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AU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44F62-9830-4DD2-842E-B914E16DB74C}" type="datetime1">
              <a:rPr lang="en-US" altLang="zh-CN" smtClean="0"/>
              <a:pPr/>
              <a:t>3/31/2025</a:t>
            </a:fld>
            <a:endParaRPr lang="en-US"/>
          </a:p>
        </p:txBody>
      </p:sp>
      <p:sp>
        <p:nvSpPr>
          <p:cNvPr id="15" name="灯片编号占位符 14"/>
          <p:cNvSpPr>
            <a:spLocks noGrp="1"/>
          </p:cNvSpPr>
          <p:nvPr>
            <p:ph type="sldNum" sz="quarter" idx="12"/>
          </p:nvPr>
        </p:nvSpPr>
        <p:spPr>
          <a:xfrm>
            <a:off x="8742467" y="13470"/>
            <a:ext cx="1066800" cy="329184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14" name="页脚占位符 2">
            <a:extLst>
              <a:ext uri="{FF2B5EF4-FFF2-40B4-BE49-F238E27FC236}">
                <a16:creationId xmlns:a16="http://schemas.microsoft.com/office/drawing/2014/main" id="{02567D5B-C17B-4C9F-8B12-7153BB2078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8905" y="19050"/>
            <a:ext cx="4831731" cy="328613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交通大数据</a:t>
            </a: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· </a:t>
            </a: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东南大学 刘志远教授</a:t>
            </a:r>
            <a:endParaRPr kumimoji="0" lang="en-US" altLang="zh-CN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17638"/>
            <a:ext cx="8229600" cy="990600"/>
          </a:xfrm>
        </p:spPr>
        <p:txBody>
          <a:bodyPr/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矩阵正定的定义</a:t>
            </a:r>
          </a:p>
        </p:txBody>
      </p:sp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469900" y="1590253"/>
            <a:ext cx="36576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正定矩阵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" name="Text Box 7"/>
          <p:cNvSpPr txBox="1">
            <a:spLocks noChangeArrowheads="1"/>
          </p:cNvSpPr>
          <p:nvPr/>
        </p:nvSpPr>
        <p:spPr bwMode="auto">
          <a:xfrm>
            <a:off x="473893" y="1023276"/>
            <a:ext cx="3429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lvl="0" defTabSz="914400" eaLnBrk="1" fontAlgn="base" hangingPunct="1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zh-CN" i="1" kern="0" dirty="0">
                <a:solidFill>
                  <a:prstClr val="black"/>
                </a:solidFill>
              </a:rPr>
              <a:t>A</a:t>
            </a:r>
            <a:r>
              <a:rPr lang="zh-CN" altLang="en-US" kern="0" noProof="0" dirty="0">
                <a:solidFill>
                  <a:prstClr val="black"/>
                </a:solidFill>
              </a:rPr>
              <a:t>是一个</a:t>
            </a:r>
            <a:r>
              <a:rPr kumimoji="0" lang="en-US" altLang="zh-CN" sz="2400" b="0" i="1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×</a:t>
            </a:r>
            <a:r>
              <a:rPr kumimoji="0" lang="en-US" altLang="zh-CN" sz="2400" b="0" i="1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的矩阵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7" name="Text Box 8"/>
          <p:cNvSpPr txBox="1">
            <a:spLocks noChangeArrowheads="1"/>
          </p:cNvSpPr>
          <p:nvPr/>
        </p:nvSpPr>
        <p:spPr bwMode="auto">
          <a:xfrm>
            <a:off x="525151" y="2006051"/>
            <a:ext cx="609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lvl="0" defTabSz="914400" eaLnBrk="1" fontAlgn="base" hangingPunct="1">
              <a:spcBef>
                <a:spcPct val="50000"/>
              </a:spcBef>
              <a:spcAft>
                <a:spcPct val="0"/>
              </a:spcAft>
              <a:defRPr/>
            </a:pPr>
            <a:r>
              <a:rPr lang="zh-CN" altLang="en-US" kern="0" dirty="0">
                <a:solidFill>
                  <a:prstClr val="black"/>
                </a:solidFill>
              </a:rPr>
              <a:t>对于任意非零向量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kumimoji="0" lang="en-US" altLang="zh-CN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矩阵</a:t>
            </a:r>
            <a:r>
              <a:rPr lang="en-US" altLang="zh-CN" i="1" kern="0" dirty="0">
                <a:solidFill>
                  <a:prstClr val="black"/>
                </a:solidFill>
              </a:rPr>
              <a:t>A </a:t>
            </a:r>
            <a:r>
              <a:rPr lang="zh-CN" altLang="en-US" kern="0" dirty="0">
                <a:solidFill>
                  <a:prstClr val="black"/>
                </a:solidFill>
              </a:rPr>
              <a:t>都满足 </a:t>
            </a:r>
            <a:r>
              <a:rPr lang="en-US" altLang="zh-CN" i="1" kern="0" dirty="0">
                <a:solidFill>
                  <a:prstClr val="black"/>
                </a:solidFill>
              </a:rPr>
              <a:t>x</a:t>
            </a:r>
            <a:r>
              <a:rPr kumimoji="0" lang="en-US" altLang="zh-CN" sz="2400" b="0" i="1" u="none" strike="noStrike" kern="0" cap="none" spc="0" normalizeH="0" baseline="30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r>
              <a:rPr kumimoji="0" lang="en-US" altLang="zh-CN" sz="2400" b="0" i="1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Ax</a:t>
            </a:r>
            <a:r>
              <a:rPr kumimoji="0" lang="en-US" altLang="zh-CN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&gt;</a:t>
            </a:r>
            <a:r>
              <a:rPr kumimoji="0" lang="en-US" altLang="zh-CN" sz="2400" b="0" i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8" name="Text Box 9"/>
          <p:cNvSpPr txBox="1">
            <a:spLocks noChangeArrowheads="1"/>
          </p:cNvSpPr>
          <p:nvPr/>
        </p:nvSpPr>
        <p:spPr bwMode="auto">
          <a:xfrm>
            <a:off x="457200" y="2463251"/>
            <a:ext cx="46482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4F81BD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半正定矩阵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" name="Text Box 14"/>
          <p:cNvSpPr txBox="1">
            <a:spLocks noChangeArrowheads="1"/>
          </p:cNvSpPr>
          <p:nvPr/>
        </p:nvSpPr>
        <p:spPr bwMode="auto">
          <a:xfrm>
            <a:off x="461259" y="3280114"/>
            <a:ext cx="5410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正定的充要条件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" name="Text Box 15"/>
          <p:cNvSpPr txBox="1">
            <a:spLocks noChangeArrowheads="1"/>
          </p:cNvSpPr>
          <p:nvPr/>
        </p:nvSpPr>
        <p:spPr bwMode="auto">
          <a:xfrm>
            <a:off x="525151" y="3600448"/>
            <a:ext cx="7772400" cy="1130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lvl="0" defTabSz="914400" eaLnBrk="1" fontAlgn="base" hangingPunct="1">
              <a:lnSpc>
                <a:spcPct val="150000"/>
              </a:lnSpc>
              <a:spcBef>
                <a:spcPct val="50000"/>
              </a:spcBef>
              <a:spcAft>
                <a:spcPct val="0"/>
              </a:spcAft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如果矩阵</a:t>
            </a:r>
            <a:r>
              <a:rPr lang="en-US" altLang="zh-CN" i="1" kern="0" dirty="0">
                <a:solidFill>
                  <a:prstClr val="black"/>
                </a:solidFill>
              </a:rPr>
              <a:t>A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的</a:t>
            </a:r>
            <a:r>
              <a:rPr kumimoji="0" lang="en-US" altLang="zh-CN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k(k=1,2,…,n)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阶顺序主子式都大于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，那么矩阵</a:t>
            </a:r>
            <a:r>
              <a:rPr kumimoji="0" lang="en-US" altLang="zh-CN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kumimoji="0" lang="zh-CN" altLang="en-US" sz="2400" b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是正定的</a:t>
            </a:r>
            <a:endParaRPr kumimoji="0" lang="en-US" altLang="zh-CN" sz="2400" b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11" name="Object 16"/>
          <p:cNvGraphicFramePr>
            <a:graphicFrameLocks noChangeAspect="1"/>
          </p:cNvGraphicFramePr>
          <p:nvPr/>
        </p:nvGraphicFramePr>
        <p:xfrm>
          <a:off x="657520" y="4770624"/>
          <a:ext cx="1790700" cy="1358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10" name="Equation" r:id="rId3" imgW="1790700" imgH="1358900" progId="Equation.DSMT4">
                  <p:embed/>
                </p:oleObj>
              </mc:Choice>
              <mc:Fallback>
                <p:oleObj name="Equation" r:id="rId3" imgW="1790700" imgH="1358900" progId="Equation.DSMT4">
                  <p:embed/>
                  <p:pic>
                    <p:nvPicPr>
                      <p:cNvPr id="0" name="Picture 39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7520" y="4770624"/>
                        <a:ext cx="1790700" cy="1358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7"/>
          <p:cNvGraphicFramePr>
            <a:graphicFrameLocks noChangeAspect="1"/>
          </p:cNvGraphicFramePr>
          <p:nvPr/>
        </p:nvGraphicFramePr>
        <p:xfrm>
          <a:off x="3023451" y="5205379"/>
          <a:ext cx="8763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11" name="Equation" r:id="rId5" imgW="876300" imgH="469900" progId="Equation.DSMT4">
                  <p:embed/>
                </p:oleObj>
              </mc:Choice>
              <mc:Fallback>
                <p:oleObj name="Equation" r:id="rId5" imgW="876300" imgH="469900" progId="Equation.DSMT4">
                  <p:embed/>
                  <p:pic>
                    <p:nvPicPr>
                      <p:cNvPr id="0" name="Picture 39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23451" y="5205379"/>
                        <a:ext cx="876300" cy="469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8"/>
          <p:cNvGraphicFramePr>
            <a:graphicFrameLocks noChangeAspect="1"/>
          </p:cNvGraphicFramePr>
          <p:nvPr/>
        </p:nvGraphicFramePr>
        <p:xfrm>
          <a:off x="4391909" y="5035550"/>
          <a:ext cx="14605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12" name="Equation" r:id="rId7" imgW="1459866" imgH="901309" progId="Equation.DSMT4">
                  <p:embed/>
                </p:oleObj>
              </mc:Choice>
              <mc:Fallback>
                <p:oleObj name="Equation" r:id="rId7" imgW="1459866" imgH="901309" progId="Equation.DSMT4">
                  <p:embed/>
                  <p:pic>
                    <p:nvPicPr>
                      <p:cNvPr id="0" name="Picture 39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91909" y="5035550"/>
                        <a:ext cx="1460500" cy="901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9"/>
          <p:cNvGraphicFramePr>
            <a:graphicFrameLocks noChangeAspect="1"/>
          </p:cNvGraphicFramePr>
          <p:nvPr/>
        </p:nvGraphicFramePr>
        <p:xfrm>
          <a:off x="6252851" y="4770624"/>
          <a:ext cx="2044700" cy="1358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13" name="Equation" r:id="rId9" imgW="2044700" imgH="1358900" progId="Equation.DSMT4">
                  <p:embed/>
                </p:oleObj>
              </mc:Choice>
              <mc:Fallback>
                <p:oleObj name="Equation" r:id="rId9" imgW="2044700" imgH="1358900" progId="Equation.DSMT4">
                  <p:embed/>
                  <p:pic>
                    <p:nvPicPr>
                      <p:cNvPr id="0" name="Picture 39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52851" y="4770624"/>
                        <a:ext cx="2044700" cy="1358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54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 Box 20"/>
          <p:cNvSpPr txBox="1">
            <a:spLocks noChangeArrowheads="1"/>
          </p:cNvSpPr>
          <p:nvPr/>
        </p:nvSpPr>
        <p:spPr bwMode="auto">
          <a:xfrm>
            <a:off x="525151" y="2845266"/>
            <a:ext cx="6096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lvl="0" defTabSz="914400" eaLnBrk="1" fontAlgn="base" hangingPunct="1">
              <a:spcBef>
                <a:spcPct val="50000"/>
              </a:spcBef>
              <a:spcAft>
                <a:spcPct val="0"/>
              </a:spcAft>
              <a:defRPr/>
            </a:pPr>
            <a:r>
              <a:rPr lang="zh-CN" altLang="en-US" kern="0" dirty="0">
                <a:solidFill>
                  <a:prstClr val="black"/>
                </a:solidFill>
              </a:rPr>
              <a:t>对于任意非零向量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kumimoji="0" lang="en-US" altLang="zh-CN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zh-CN" altLang="en-US" kern="0" dirty="0">
                <a:solidFill>
                  <a:prstClr val="black"/>
                </a:solidFill>
              </a:rPr>
              <a:t>矩阵</a:t>
            </a:r>
            <a:r>
              <a:rPr lang="en-US" altLang="zh-CN" i="1" kern="0" dirty="0">
                <a:solidFill>
                  <a:prstClr val="black"/>
                </a:solidFill>
              </a:rPr>
              <a:t>A </a:t>
            </a:r>
            <a:r>
              <a:rPr lang="zh-CN" altLang="en-US" kern="0" dirty="0">
                <a:solidFill>
                  <a:prstClr val="black"/>
                </a:solidFill>
              </a:rPr>
              <a:t>都满足 </a:t>
            </a:r>
            <a:r>
              <a:rPr kumimoji="0" lang="en-US" altLang="zh-CN" sz="2400" b="0" i="1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0" lang="en-US" altLang="zh-CN" sz="2400" b="0" i="1" u="none" strike="noStrike" kern="0" cap="none" spc="0" normalizeH="0" baseline="30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r>
              <a:rPr kumimoji="0" lang="en-US" altLang="zh-CN" sz="2400" b="0" i="1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Ax</a:t>
            </a:r>
            <a:r>
              <a:rPr kumimoji="0" lang="en-US" altLang="zh-CN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≥</a:t>
            </a:r>
            <a:r>
              <a:rPr kumimoji="0" lang="en-US" altLang="zh-CN" sz="2400" b="0" i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DE940-23BA-4780-B9EF-EBAB068863A7}" type="datetime1">
              <a:rPr lang="en-US" altLang="zh-CN" smtClean="0"/>
              <a:pPr/>
              <a:t>3/31/2025</a:t>
            </a:fld>
            <a:endParaRPr lang="en-US"/>
          </a:p>
        </p:txBody>
      </p:sp>
      <p:sp>
        <p:nvSpPr>
          <p:cNvPr id="17" name="灯片编号占位符 16"/>
          <p:cNvSpPr>
            <a:spLocks noGrp="1"/>
          </p:cNvSpPr>
          <p:nvPr>
            <p:ph type="sldNum" sz="quarter" idx="12"/>
          </p:nvPr>
        </p:nvSpPr>
        <p:spPr>
          <a:xfrm>
            <a:off x="8736992" y="18288"/>
            <a:ext cx="1066800" cy="329184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16" name="页脚占位符 2">
            <a:extLst>
              <a:ext uri="{FF2B5EF4-FFF2-40B4-BE49-F238E27FC236}">
                <a16:creationId xmlns:a16="http://schemas.microsoft.com/office/drawing/2014/main" id="{8BDB1B20-CC2D-4561-9E52-FEC74FC29A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8905" y="19050"/>
            <a:ext cx="4831731" cy="328613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交通大数据</a:t>
            </a: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· </a:t>
            </a: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东南大学 刘志远教授</a:t>
            </a:r>
            <a:endParaRPr kumimoji="0" lang="en-US" altLang="zh-CN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2182" y="251498"/>
            <a:ext cx="8229600" cy="990600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基础知识：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NLP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的可行方向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38994" y="1174781"/>
            <a:ext cx="8229600" cy="4876800"/>
          </a:xfrm>
        </p:spPr>
        <p:txBody>
          <a:bodyPr/>
          <a:lstStyle/>
          <a:p>
            <a:pPr marL="0" lvl="0" indent="0">
              <a:spcBef>
                <a:spcPct val="50000"/>
              </a:spcBef>
              <a:buClrTx/>
              <a:buSzPct val="60000"/>
              <a:buFont typeface="Wingdings" panose="05000000000000000000" pitchFamily="2" charset="2"/>
              <a:buChar char="q"/>
              <a:defRPr/>
            </a:pPr>
            <a:endParaRPr lang="en-US" altLang="zh-CN" b="1" kern="0" dirty="0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graphicFrame>
        <p:nvGraphicFramePr>
          <p:cNvPr id="5" name="Object 6"/>
          <p:cNvGraphicFramePr>
            <a:graphicFrameLocks noChangeAspect="1"/>
          </p:cNvGraphicFramePr>
          <p:nvPr/>
        </p:nvGraphicFramePr>
        <p:xfrm>
          <a:off x="765175" y="1492173"/>
          <a:ext cx="11938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22" name="Equation" r:id="rId3" imgW="28651200" imgH="11887200" progId="Equation.DSMT4">
                  <p:embed/>
                </p:oleObj>
              </mc:Choice>
              <mc:Fallback>
                <p:oleObj name="Equation" r:id="rId3" imgW="28651200" imgH="11887200" progId="Equation.DSMT4">
                  <p:embed/>
                  <p:pic>
                    <p:nvPicPr>
                      <p:cNvPr id="5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5175" y="1492173"/>
                        <a:ext cx="1193800" cy="495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9"/>
          <p:cNvGraphicFramePr>
            <a:graphicFrameLocks noChangeAspect="1"/>
          </p:cNvGraphicFramePr>
          <p:nvPr/>
        </p:nvGraphicFramePr>
        <p:xfrm>
          <a:off x="2212975" y="1500188"/>
          <a:ext cx="17526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23" name="Equation" r:id="rId5" imgW="1752600" imgH="381000" progId="Equation.DSMT4">
                  <p:embed/>
                </p:oleObj>
              </mc:Choice>
              <mc:Fallback>
                <p:oleObj name="Equation" r:id="rId5" imgW="1752600" imgH="381000" progId="Equation.DSMT4">
                  <p:embed/>
                  <p:pic>
                    <p:nvPicPr>
                      <p:cNvPr id="6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2975" y="1500188"/>
                        <a:ext cx="1752600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352893" y="2253065"/>
            <a:ext cx="63246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lvl="0" defTabSz="914400" eaLnBrk="1" hangingPunct="1">
              <a:spcBef>
                <a:spcPct val="50000"/>
              </a:spcBef>
              <a:buFont typeface="Wingdings" panose="05000000000000000000" pitchFamily="2" charset="2"/>
              <a:buChar char="§"/>
              <a:defRPr/>
            </a:pPr>
            <a:r>
              <a:rPr lang="zh-CN" altLang="en-US" kern="0" noProof="0" dirty="0"/>
              <a:t>点</a:t>
            </a:r>
            <a:r>
              <a:rPr lang="en-US" altLang="zh-CN" i="1" kern="0" dirty="0"/>
              <a:t>x</a:t>
            </a:r>
            <a:r>
              <a:rPr lang="zh-CN" altLang="en-US" kern="0" noProof="0" dirty="0"/>
              <a:t>处的可行方向 </a:t>
            </a:r>
            <a:r>
              <a:rPr kumimoji="0" lang="en-US" altLang="zh-CN" sz="2400" b="0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endParaRPr kumimoji="0" lang="el-GR" altLang="zh-CN" sz="24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Text Box 10"/>
          <p:cNvSpPr txBox="1">
            <a:spLocks noChangeArrowheads="1"/>
          </p:cNvSpPr>
          <p:nvPr/>
        </p:nvSpPr>
        <p:spPr bwMode="auto">
          <a:xfrm>
            <a:off x="442182" y="2672168"/>
            <a:ext cx="6019800" cy="14003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lvl="0" defTabSz="914400" eaLnBrk="1" hangingPunct="1">
              <a:lnSpc>
                <a:spcPts val="3400"/>
              </a:lnSpc>
              <a:spcBef>
                <a:spcPct val="50000"/>
              </a:spcBef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当一个方向</a:t>
            </a:r>
            <a:r>
              <a:rPr kumimoji="0" lang="en-US" altLang="zh-CN" sz="24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(</a:t>
            </a:r>
            <a:r>
              <a:rPr lang="zh-CN" altLang="en-US" kern="0" dirty="0">
                <a:solidFill>
                  <a:srgbClr val="000000"/>
                </a:solidFill>
              </a:rPr>
              <a:t>即一个</a:t>
            </a:r>
            <a:r>
              <a:rPr lang="en-US" altLang="zh-CN" i="1" kern="0" dirty="0">
                <a:solidFill>
                  <a:srgbClr val="000000"/>
                </a:solidFill>
              </a:rPr>
              <a:t>n</a:t>
            </a:r>
            <a:r>
              <a:rPr lang="zh-CN" altLang="en-US" kern="0" dirty="0">
                <a:solidFill>
                  <a:srgbClr val="000000"/>
                </a:solidFill>
              </a:rPr>
              <a:t>维向量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) 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是可行域</a:t>
            </a:r>
            <a:r>
              <a:rPr lang="el-GR" altLang="zh-CN" kern="0" dirty="0">
                <a:solidFill>
                  <a:srgbClr val="000000"/>
                </a:solidFill>
                <a:cs typeface="Times New Roman" panose="02020603050405020304" pitchFamily="18" charset="0"/>
              </a:rPr>
              <a:t>Ω </a:t>
            </a:r>
            <a:r>
              <a:rPr lang="zh-CN" altLang="en-US" kern="0" dirty="0">
                <a:solidFill>
                  <a:srgbClr val="000000"/>
                </a:solidFill>
                <a:cs typeface="Times New Roman" panose="02020603050405020304" pitchFamily="18" charset="0"/>
              </a:rPr>
              <a:t>内点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kumimoji="0" lang="en-US" altLang="zh-CN" sz="24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0" lang="zh-CN" altLang="en-US" sz="2400" b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处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的可行方向时，那么存在参数  使方向</a:t>
            </a:r>
            <a:r>
              <a:rPr lang="en-US" altLang="zh-CN" i="1" kern="0" dirty="0">
                <a:solidFill>
                  <a:srgbClr val="000000"/>
                </a:solidFill>
              </a:rPr>
              <a:t>d </a:t>
            </a:r>
            <a:r>
              <a:rPr lang="zh-CN" altLang="en-US" kern="0" dirty="0">
                <a:solidFill>
                  <a:srgbClr val="000000"/>
                </a:solidFill>
              </a:rPr>
              <a:t>满足：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  </a:t>
            </a:r>
          </a:p>
        </p:txBody>
      </p:sp>
      <p:graphicFrame>
        <p:nvGraphicFramePr>
          <p:cNvPr id="9" name="Object 12"/>
          <p:cNvGraphicFramePr>
            <a:graphicFrameLocks noChangeAspect="1"/>
          </p:cNvGraphicFramePr>
          <p:nvPr/>
        </p:nvGraphicFramePr>
        <p:xfrm>
          <a:off x="1958975" y="3939559"/>
          <a:ext cx="34290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24" name="Equation" r:id="rId7" imgW="3429000" imgH="279400" progId="Equation.DSMT4">
                  <p:embed/>
                </p:oleObj>
              </mc:Choice>
              <mc:Fallback>
                <p:oleObj name="Equation" r:id="rId7" imgW="3429000" imgH="279400" progId="Equation.DSMT4">
                  <p:embed/>
                  <p:pic>
                    <p:nvPicPr>
                      <p:cNvPr id="9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58975" y="3939559"/>
                        <a:ext cx="3429000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35"/>
          <p:cNvSpPr txBox="1">
            <a:spLocks noChangeArrowheads="1"/>
          </p:cNvSpPr>
          <p:nvPr/>
        </p:nvSpPr>
        <p:spPr bwMode="auto">
          <a:xfrm>
            <a:off x="3095915" y="5261864"/>
            <a:ext cx="5257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kern="0" dirty="0">
                <a:solidFill>
                  <a:srgbClr val="000000"/>
                </a:solidFill>
              </a:rPr>
              <a:t>可行方向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: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kumimoji="0" lang="en-US" altLang="zh-CN" sz="20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d 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= (1,0.5) - (2,0) = (-1,0.5)</a:t>
            </a:r>
          </a:p>
        </p:txBody>
      </p:sp>
      <p:sp>
        <p:nvSpPr>
          <p:cNvPr id="11" name="Text Box 36"/>
          <p:cNvSpPr txBox="1">
            <a:spLocks noChangeArrowheads="1"/>
          </p:cNvSpPr>
          <p:nvPr/>
        </p:nvSpPr>
        <p:spPr bwMode="auto">
          <a:xfrm>
            <a:off x="3089207" y="5719064"/>
            <a:ext cx="5257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kern="0" dirty="0">
                <a:solidFill>
                  <a:srgbClr val="000000"/>
                </a:solidFill>
              </a:rPr>
              <a:t>不可行方向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: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kumimoji="0" lang="en-US" altLang="zh-CN" sz="20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d 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= (3, 1.5) - (2,0) = (1, 1.5)</a:t>
            </a:r>
          </a:p>
        </p:txBody>
      </p:sp>
      <p:sp>
        <p:nvSpPr>
          <p:cNvPr id="12" name="Text Box 63"/>
          <p:cNvSpPr txBox="1">
            <a:spLocks noChangeArrowheads="1"/>
          </p:cNvSpPr>
          <p:nvPr/>
        </p:nvSpPr>
        <p:spPr bwMode="auto">
          <a:xfrm>
            <a:off x="385709" y="4268111"/>
            <a:ext cx="6172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kern="0" dirty="0">
                <a:solidFill>
                  <a:srgbClr val="000000"/>
                </a:solidFill>
              </a:rPr>
              <a:t>例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: </a:t>
            </a:r>
            <a:r>
              <a:rPr kumimoji="0" lang="el-GR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Ω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={(</a:t>
            </a:r>
            <a:r>
              <a:rPr kumimoji="0" lang="en-US" altLang="zh-CN" sz="24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kumimoji="0" lang="en-US" altLang="zh-CN" sz="24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kumimoji="0" lang="en-US" altLang="zh-CN" sz="24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kumimoji="0" lang="en-US" altLang="zh-CN" sz="24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)|</a:t>
            </a:r>
            <a:r>
              <a:rPr kumimoji="0" lang="en-US" altLang="zh-CN" sz="24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kumimoji="0" lang="en-US" altLang="zh-CN" sz="24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kumimoji="0" lang="en-US" altLang="zh-CN" sz="24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kumimoji="0" lang="en-US" altLang="zh-CN" sz="24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≤2, </a:t>
            </a:r>
            <a:r>
              <a:rPr kumimoji="0" lang="en-US" altLang="zh-CN" sz="24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kumimoji="0" lang="en-US" altLang="zh-CN" sz="24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≥0, </a:t>
            </a:r>
            <a:r>
              <a:rPr kumimoji="0" lang="en-US" altLang="zh-CN" sz="24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kumimoji="0" lang="en-US" altLang="zh-CN" sz="24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≥0}</a:t>
            </a:r>
          </a:p>
        </p:txBody>
      </p:sp>
      <p:sp>
        <p:nvSpPr>
          <p:cNvPr id="13" name="Text Box 64"/>
          <p:cNvSpPr txBox="1">
            <a:spLocks noChangeArrowheads="1"/>
          </p:cNvSpPr>
          <p:nvPr/>
        </p:nvSpPr>
        <p:spPr bwMode="auto">
          <a:xfrm>
            <a:off x="385709" y="4734885"/>
            <a:ext cx="8915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kern="0" dirty="0">
                <a:solidFill>
                  <a:srgbClr val="000000"/>
                </a:solidFill>
              </a:rPr>
              <a:t>对于内点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(1,0.5), 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任意一个方向都是可行方向</a:t>
            </a:r>
            <a:r>
              <a:rPr kumimoji="0" lang="en-US" altLang="zh-CN" sz="2400" b="0" u="sng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kumimoji="0" lang="en-US" altLang="zh-CN" sz="2400" b="0" u="sng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Why</a:t>
            </a:r>
            <a:r>
              <a:rPr kumimoji="0" lang="en-US" altLang="zh-CN" sz="2400" b="0" u="sng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?) </a:t>
            </a:r>
          </a:p>
        </p:txBody>
      </p:sp>
      <p:sp>
        <p:nvSpPr>
          <p:cNvPr id="14" name="Text Box 65"/>
          <p:cNvSpPr txBox="1">
            <a:spLocks noChangeArrowheads="1"/>
          </p:cNvSpPr>
          <p:nvPr/>
        </p:nvSpPr>
        <p:spPr bwMode="auto">
          <a:xfrm>
            <a:off x="385709" y="5297380"/>
            <a:ext cx="7162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kern="0" dirty="0">
                <a:solidFill>
                  <a:srgbClr val="000000"/>
                </a:solidFill>
              </a:rPr>
              <a:t>对于顶点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(2, 0),</a:t>
            </a:r>
          </a:p>
        </p:txBody>
      </p:sp>
      <p:pic>
        <p:nvPicPr>
          <p:cNvPr id="15" name="Picture 36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0793" y="936607"/>
            <a:ext cx="2640012" cy="2454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" name="矩形 15"/>
              <p:cNvSpPr/>
              <p:nvPr/>
            </p:nvSpPr>
            <p:spPr>
              <a:xfrm>
                <a:off x="5482202" y="3108923"/>
                <a:ext cx="450294" cy="46993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zh-CN" altLang="en-US" sz="24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altLang="zh-CN" sz="2400" i="1">
                              <a:latin typeface="Cambria Math" panose="02040503050406030204" pitchFamily="18" charset="0"/>
                            </a:rPr>
                            <m:t>α</m:t>
                          </m:r>
                        </m:e>
                      </m:acc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6" name="矩形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2202" y="3108923"/>
                <a:ext cx="450294" cy="46993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36271-FF5E-44FB-A178-E2E590975DE9}" type="datetime1">
              <a:rPr lang="en-US" altLang="zh-CN" smtClean="0"/>
              <a:pPr/>
              <a:t>3/31/2025</a:t>
            </a:fld>
            <a:endParaRPr lang="en-US"/>
          </a:p>
        </p:txBody>
      </p:sp>
      <p:sp>
        <p:nvSpPr>
          <p:cNvPr id="19" name="灯片编号占位符 18"/>
          <p:cNvSpPr>
            <a:spLocks noGrp="1"/>
          </p:cNvSpPr>
          <p:nvPr>
            <p:ph type="sldNum" sz="quarter" idx="12"/>
          </p:nvPr>
        </p:nvSpPr>
        <p:spPr>
          <a:xfrm>
            <a:off x="8774970" y="18288"/>
            <a:ext cx="1066800" cy="329184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18" name="页脚占位符 2">
            <a:extLst>
              <a:ext uri="{FF2B5EF4-FFF2-40B4-BE49-F238E27FC236}">
                <a16:creationId xmlns:a16="http://schemas.microsoft.com/office/drawing/2014/main" id="{CB6728A5-2F6D-4B2D-B59E-1E9D89112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8905" y="19050"/>
            <a:ext cx="4831731" cy="328613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交通大数据</a:t>
            </a: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· </a:t>
            </a: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东南大学 刘志远教授</a:t>
            </a:r>
            <a:endParaRPr kumimoji="0" lang="en-US" altLang="zh-CN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3" grpId="0"/>
      <p:bldP spid="1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33962" y="247667"/>
            <a:ext cx="8229600" cy="990600"/>
          </a:xfrm>
        </p:spPr>
        <p:txBody>
          <a:bodyPr/>
          <a:lstStyle/>
          <a:p>
            <a:r>
              <a:rPr lang="zh-CN" altLang="en-US" dirty="0">
                <a:solidFill>
                  <a:srgbClr val="1F497D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基础知识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NLP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的可行方向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33962" y="1167433"/>
            <a:ext cx="8229600" cy="4876800"/>
          </a:xfrm>
        </p:spPr>
        <p:txBody>
          <a:bodyPr/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起作用约束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binding constraints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502497" y="2254450"/>
            <a:ext cx="8360979" cy="3285515"/>
            <a:chOff x="457200" y="2288045"/>
            <a:chExt cx="5104964" cy="3285515"/>
          </a:xfrm>
        </p:grpSpPr>
        <p:sp>
          <p:nvSpPr>
            <p:cNvPr id="7" name="文本框 6"/>
            <p:cNvSpPr txBox="1"/>
            <p:nvPr/>
          </p:nvSpPr>
          <p:spPr>
            <a:xfrm>
              <a:off x="457200" y="2288045"/>
              <a:ext cx="5104964" cy="32855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3500"/>
                </a:lnSpc>
              </a:pPr>
              <a:r>
                <a:rPr lang="zh-CN" altLang="en-US" sz="2400" dirty="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假设</a:t>
              </a:r>
              <a:r>
                <a:rPr lang="en-US" altLang="zh-CN" sz="2400" dirty="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  </a:t>
              </a:r>
              <a:r>
                <a:rPr lang="zh-CN" altLang="en-US" sz="2400" dirty="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是点</a:t>
              </a:r>
              <a:r>
                <a:rPr lang="en-US" altLang="zh-CN" sz="2400" dirty="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     </a:t>
              </a:r>
              <a:r>
                <a:rPr lang="zh-CN" altLang="en-US" sz="2400" dirty="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处的可行方向；</a:t>
              </a:r>
              <a:r>
                <a:rPr lang="en-US" altLang="zh-CN" sz="2400" dirty="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j</a:t>
              </a:r>
              <a:r>
                <a:rPr lang="zh-CN" altLang="en-US" sz="2400" dirty="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是点    处起作用的约束，</a:t>
              </a:r>
              <a:endParaRPr lang="en-US" altLang="zh-CN" sz="24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>
                <a:lnSpc>
                  <a:spcPts val="3500"/>
                </a:lnSpc>
              </a:pPr>
              <a:r>
                <a:rPr lang="zh-CN" altLang="en-US" sz="2400" dirty="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即        。假设  是点     处所有起作用约束的集</a:t>
              </a:r>
              <a:endParaRPr lang="en-US" altLang="zh-CN" sz="24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>
                <a:lnSpc>
                  <a:spcPts val="3500"/>
                </a:lnSpc>
              </a:pPr>
              <a:r>
                <a:rPr lang="zh-CN" altLang="en-US" sz="2400" dirty="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合，则</a:t>
              </a:r>
              <a:endParaRPr lang="en-US" altLang="zh-CN" sz="24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endPara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   </a:t>
              </a:r>
            </a:p>
            <a:p>
              <a:endPara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</a:t>
              </a:r>
              <a:endPara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8" name="Object 1"/>
            <p:cNvGraphicFramePr>
              <a:graphicFrameLocks noChangeAspect="1"/>
            </p:cNvGraphicFramePr>
            <p:nvPr/>
          </p:nvGraphicFramePr>
          <p:xfrm>
            <a:off x="889388" y="2390947"/>
            <a:ext cx="279400" cy="266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402" name="Equation" r:id="rId4" imgW="6705600" imgH="6400800" progId="Equation.DSMT4">
                    <p:embed/>
                  </p:oleObj>
                </mc:Choice>
                <mc:Fallback>
                  <p:oleObj name="Equation" r:id="rId4" imgW="6705600" imgH="6400800" progId="Equation.DSMT4">
                    <p:embed/>
                    <p:pic>
                      <p:nvPicPr>
                        <p:cNvPr id="0" name="Picture 8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89388" y="2390947"/>
                          <a:ext cx="279400" cy="2667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" name="Object 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46089942"/>
                </p:ext>
              </p:extLst>
            </p:nvPr>
          </p:nvGraphicFramePr>
          <p:xfrm>
            <a:off x="1501567" y="2325945"/>
            <a:ext cx="280122" cy="4048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403" name="Equation" r:id="rId6" imgW="380880" imgH="330120" progId="Equation.DSMT4">
                    <p:embed/>
                  </p:oleObj>
                </mc:Choice>
                <mc:Fallback>
                  <p:oleObj name="Equation" r:id="rId6" imgW="380880" imgH="330120" progId="Equation.DSMT4">
                    <p:embed/>
                    <p:pic>
                      <p:nvPicPr>
                        <p:cNvPr id="0" name="Picture 8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01567" y="2325945"/>
                          <a:ext cx="280122" cy="404813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" name="Object 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04853563"/>
                </p:ext>
              </p:extLst>
            </p:nvPr>
          </p:nvGraphicFramePr>
          <p:xfrm>
            <a:off x="731071" y="2807763"/>
            <a:ext cx="696505" cy="3924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404" name="Equation" r:id="rId8" imgW="1384200" imgH="457200" progId="Equation.DSMT4">
                    <p:embed/>
                  </p:oleObj>
                </mc:Choice>
                <mc:Fallback>
                  <p:oleObj name="Equation" r:id="rId8" imgW="1384200" imgH="457200" progId="Equation.DSMT4">
                    <p:embed/>
                    <p:pic>
                      <p:nvPicPr>
                        <p:cNvPr id="0" name="Picture 8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31071" y="2807763"/>
                          <a:ext cx="696505" cy="392434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" name="Object 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0253752"/>
                </p:ext>
              </p:extLst>
            </p:nvPr>
          </p:nvGraphicFramePr>
          <p:xfrm>
            <a:off x="1175949" y="3238757"/>
            <a:ext cx="1671796" cy="4872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405" name="Equation" r:id="rId10" imgW="2717640" imgH="457200" progId="Equation.DSMT4">
                    <p:embed/>
                  </p:oleObj>
                </mc:Choice>
                <mc:Fallback>
                  <p:oleObj name="Equation" r:id="rId10" imgW="2717640" imgH="457200" progId="Equation.DSMT4">
                    <p:embed/>
                    <p:pic>
                      <p:nvPicPr>
                        <p:cNvPr id="0" name="Picture 8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75949" y="3238757"/>
                          <a:ext cx="1671796" cy="487294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9" name="对象 18"/>
          <p:cNvGraphicFramePr>
            <a:graphicFrameLocks noChangeAspect="1"/>
          </p:cNvGraphicFramePr>
          <p:nvPr/>
        </p:nvGraphicFramePr>
        <p:xfrm>
          <a:off x="2716767" y="1682114"/>
          <a:ext cx="3584681" cy="5723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06" name="Equation" r:id="rId12" imgW="33223200" imgH="5486400" progId="Equation.DSMT4">
                  <p:embed/>
                </p:oleObj>
              </mc:Choice>
              <mc:Fallback>
                <p:oleObj name="Equation" r:id="rId12" imgW="33223200" imgH="5486400" progId="Equation.DSMT4">
                  <p:embed/>
                  <p:pic>
                    <p:nvPicPr>
                      <p:cNvPr id="0" name="Picture 8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6767" y="1682114"/>
                        <a:ext cx="3584681" cy="57233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0" name="Picture 7"/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917" y="3825574"/>
            <a:ext cx="7705493" cy="23164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8" name="文本框 17"/>
          <p:cNvSpPr txBox="1"/>
          <p:nvPr/>
        </p:nvSpPr>
        <p:spPr>
          <a:xfrm>
            <a:off x="5509579" y="3502408"/>
            <a:ext cx="1305409" cy="646331"/>
          </a:xfrm>
          <a:prstGeom prst="rect">
            <a:avLst/>
          </a:prstGeom>
          <a:solidFill>
            <a:srgbClr val="FFFF00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Infeasible</a:t>
            </a:r>
          </a:p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Region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222535" y="3656297"/>
            <a:ext cx="1223832" cy="338554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起作用约束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6884923" y="6198254"/>
            <a:ext cx="1249484" cy="338289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起作用约束</a:t>
            </a:r>
          </a:p>
        </p:txBody>
      </p:sp>
      <p:graphicFrame>
        <p:nvGraphicFramePr>
          <p:cNvPr id="23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7830513"/>
              </p:ext>
            </p:extLst>
          </p:nvPr>
        </p:nvGraphicFramePr>
        <p:xfrm>
          <a:off x="3055625" y="2832151"/>
          <a:ext cx="374404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07" name="Equation" r:id="rId15" imgW="5486400" imgH="6705600" progId="Equation.DSMT4">
                  <p:embed/>
                </p:oleObj>
              </mc:Choice>
              <mc:Fallback>
                <p:oleObj name="Equation" r:id="rId15" imgW="5486400" imgH="6705600" progId="Equation.DSMT4">
                  <p:embed/>
                  <p:pic>
                    <p:nvPicPr>
                      <p:cNvPr id="0" name="Picture 8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5625" y="2832151"/>
                        <a:ext cx="374404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C7FD6-BD6A-4AC3-B598-8D889A183159}" type="datetime1">
              <a:rPr lang="en-US" altLang="zh-CN" smtClean="0"/>
              <a:pPr/>
              <a:t>3/31/2025</a:t>
            </a:fld>
            <a:endParaRPr lang="en-US"/>
          </a:p>
        </p:txBody>
      </p:sp>
      <p:sp>
        <p:nvSpPr>
          <p:cNvPr id="14" name="灯片编号占位符 13"/>
          <p:cNvSpPr>
            <a:spLocks noGrp="1"/>
          </p:cNvSpPr>
          <p:nvPr>
            <p:ph type="sldNum" sz="quarter" idx="12"/>
          </p:nvPr>
        </p:nvSpPr>
        <p:spPr>
          <a:xfrm>
            <a:off x="8710038" y="26282"/>
            <a:ext cx="1066800" cy="329184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 dirty="0"/>
          </a:p>
        </p:txBody>
      </p:sp>
      <p:graphicFrame>
        <p:nvGraphicFramePr>
          <p:cNvPr id="25" name="Object 1">
            <a:extLst>
              <a:ext uri="{FF2B5EF4-FFF2-40B4-BE49-F238E27FC236}">
                <a16:creationId xmlns:a16="http://schemas.microsoft.com/office/drawing/2014/main" id="{0D202DA0-F088-47AF-8B41-B625EE84181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233517"/>
              </p:ext>
            </p:extLst>
          </p:nvPr>
        </p:nvGraphicFramePr>
        <p:xfrm>
          <a:off x="5842659" y="2278731"/>
          <a:ext cx="458788" cy="40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08" name="Equation" r:id="rId17" imgW="380880" imgH="330120" progId="Equation.DSMT4">
                  <p:embed/>
                </p:oleObj>
              </mc:Choice>
              <mc:Fallback>
                <p:oleObj name="Equation" r:id="rId17" imgW="380880" imgH="330120" progId="Equation.DSMT4">
                  <p:embed/>
                  <p:pic>
                    <p:nvPicPr>
                      <p:cNvPr id="9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42659" y="2278731"/>
                        <a:ext cx="458788" cy="40481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1">
            <a:extLst>
              <a:ext uri="{FF2B5EF4-FFF2-40B4-BE49-F238E27FC236}">
                <a16:creationId xmlns:a16="http://schemas.microsoft.com/office/drawing/2014/main" id="{DFBB4B79-25DE-4FC5-A829-B4DC691DCDA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4441808"/>
              </p:ext>
            </p:extLst>
          </p:nvPr>
        </p:nvGraphicFramePr>
        <p:xfrm>
          <a:off x="4128073" y="2753221"/>
          <a:ext cx="458788" cy="40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09" name="Equation" r:id="rId18" imgW="380880" imgH="330120" progId="Equation.DSMT4">
                  <p:embed/>
                </p:oleObj>
              </mc:Choice>
              <mc:Fallback>
                <p:oleObj name="Equation" r:id="rId18" imgW="380880" imgH="330120" progId="Equation.DSMT4">
                  <p:embed/>
                  <p:pic>
                    <p:nvPicPr>
                      <p:cNvPr id="9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28073" y="2753221"/>
                        <a:ext cx="458788" cy="40481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页脚占位符 2">
            <a:extLst>
              <a:ext uri="{FF2B5EF4-FFF2-40B4-BE49-F238E27FC236}">
                <a16:creationId xmlns:a16="http://schemas.microsoft.com/office/drawing/2014/main" id="{E5A9F1C6-A8F9-4C12-96F4-08DC57AA6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8905" y="19050"/>
            <a:ext cx="4831731" cy="328613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交通大数据</a:t>
            </a: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· </a:t>
            </a: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东南大学 刘志远教授</a:t>
            </a:r>
            <a:endParaRPr kumimoji="0" lang="en-US" altLang="zh-CN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50867"/>
            <a:ext cx="8229600" cy="990600"/>
          </a:xfrm>
        </p:spPr>
        <p:txBody>
          <a:bodyPr/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基础知识：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NLP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的可行方向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662152" y="1520823"/>
            <a:ext cx="45877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证明：用泰勒展开</a:t>
            </a:r>
          </a:p>
        </p:txBody>
      </p:sp>
      <p:graphicFrame>
        <p:nvGraphicFramePr>
          <p:cNvPr id="7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0455676"/>
              </p:ext>
            </p:extLst>
          </p:nvPr>
        </p:nvGraphicFramePr>
        <p:xfrm>
          <a:off x="887413" y="2519130"/>
          <a:ext cx="5589587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58" name="Equation" r:id="rId4" imgW="5600520" imgH="457200" progId="Equation.DSMT4">
                  <p:embed/>
                </p:oleObj>
              </mc:Choice>
              <mc:Fallback>
                <p:oleObj name="Equation" r:id="rId4" imgW="5600520" imgH="457200" progId="Equation.DSMT4">
                  <p:embed/>
                  <p:pic>
                    <p:nvPicPr>
                      <p:cNvPr id="7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7413" y="2519130"/>
                        <a:ext cx="5589587" cy="4572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732311" y="3041304"/>
            <a:ext cx="783020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因为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而且，步长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   , </a:t>
            </a:r>
          </a:p>
          <a:p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所以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对于不起作用约束：即</a:t>
            </a:r>
            <a:endParaRPr lang="en-US" altLang="zh-CN" sz="24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24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对于任意方向</a:t>
            </a:r>
            <a:r>
              <a:rPr lang="en-US" altLang="zh-CN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，总存在       ，满足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1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93660355"/>
              </p:ext>
            </p:extLst>
          </p:nvPr>
        </p:nvGraphicFramePr>
        <p:xfrm>
          <a:off x="1488956" y="4131613"/>
          <a:ext cx="2764256" cy="474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59" name="Equation" r:id="rId6" imgW="2717640" imgH="457200" progId="Equation.DSMT4">
                  <p:embed/>
                </p:oleObj>
              </mc:Choice>
              <mc:Fallback>
                <p:oleObj name="Equation" r:id="rId6" imgW="2717640" imgH="457200" progId="Equation.DSMT4">
                  <p:embed/>
                  <p:pic>
                    <p:nvPicPr>
                      <p:cNvPr id="11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88956" y="4131613"/>
                        <a:ext cx="2764256" cy="47466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1964405"/>
              </p:ext>
            </p:extLst>
          </p:nvPr>
        </p:nvGraphicFramePr>
        <p:xfrm>
          <a:off x="3352800" y="3398319"/>
          <a:ext cx="2501096" cy="4607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60" name="Equation" r:id="rId8" imgW="2819160" imgH="457200" progId="Equation.DSMT4">
                  <p:embed/>
                </p:oleObj>
              </mc:Choice>
              <mc:Fallback>
                <p:oleObj name="Equation" r:id="rId8" imgW="2819160" imgH="457200" progId="Equation.DSMT4">
                  <p:embed/>
                  <p:pic>
                    <p:nvPicPr>
                      <p:cNvPr id="12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3398319"/>
                        <a:ext cx="2501096" cy="46073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"/>
          <p:cNvGraphicFramePr>
            <a:graphicFrameLocks noChangeAspect="1"/>
          </p:cNvGraphicFramePr>
          <p:nvPr/>
        </p:nvGraphicFramePr>
        <p:xfrm>
          <a:off x="892175" y="1925638"/>
          <a:ext cx="6243638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61" name="Equation" r:id="rId10" imgW="5994360" imgH="545760" progId="Equation.DSMT4">
                  <p:embed/>
                </p:oleObj>
              </mc:Choice>
              <mc:Fallback>
                <p:oleObj name="Equation" r:id="rId10" imgW="5994360" imgH="545760" progId="Equation.DSMT4">
                  <p:embed/>
                  <p:pic>
                    <p:nvPicPr>
                      <p:cNvPr id="16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2175" y="1925638"/>
                        <a:ext cx="6243638" cy="5556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2237125"/>
              </p:ext>
            </p:extLst>
          </p:nvPr>
        </p:nvGraphicFramePr>
        <p:xfrm>
          <a:off x="6846094" y="828917"/>
          <a:ext cx="1790945" cy="9137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62" name="Equation" r:id="rId12" imgW="1663560" imgH="838080" progId="Equation.DSMT4">
                  <p:embed/>
                </p:oleObj>
              </mc:Choice>
              <mc:Fallback>
                <p:oleObj name="Equation" r:id="rId12" imgW="1663560" imgH="838080" progId="Equation.DSMT4">
                  <p:embed/>
                  <p:pic>
                    <p:nvPicPr>
                      <p:cNvPr id="18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6094" y="828917"/>
                        <a:ext cx="1790945" cy="91374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5940094"/>
              </p:ext>
            </p:extLst>
          </p:nvPr>
        </p:nvGraphicFramePr>
        <p:xfrm>
          <a:off x="1561169" y="3059724"/>
          <a:ext cx="1269997" cy="4571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63" name="Equation" r:id="rId14" imgW="1269720" imgH="457200" progId="Equation.DSMT4">
                  <p:embed/>
                </p:oleObj>
              </mc:Choice>
              <mc:Fallback>
                <p:oleObj name="Equation" r:id="rId14" imgW="1269720" imgH="457200" progId="Equation.DSMT4">
                  <p:embed/>
                  <p:pic>
                    <p:nvPicPr>
                      <p:cNvPr id="19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61169" y="3059724"/>
                        <a:ext cx="1269997" cy="45719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76513541"/>
              </p:ext>
            </p:extLst>
          </p:nvPr>
        </p:nvGraphicFramePr>
        <p:xfrm>
          <a:off x="2352417" y="3503837"/>
          <a:ext cx="6731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64" name="Equation" r:id="rId16" imgW="16154400" imgH="6705600" progId="Equation.DSMT4">
                  <p:embed/>
                </p:oleObj>
              </mc:Choice>
              <mc:Fallback>
                <p:oleObj name="Equation" r:id="rId16" imgW="16154400" imgH="6705600" progId="Equation.DSMT4">
                  <p:embed/>
                  <p:pic>
                    <p:nvPicPr>
                      <p:cNvPr id="2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2417" y="3503837"/>
                        <a:ext cx="673100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906265"/>
              </p:ext>
            </p:extLst>
          </p:nvPr>
        </p:nvGraphicFramePr>
        <p:xfrm>
          <a:off x="4020750" y="4856726"/>
          <a:ext cx="2618046" cy="4789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65" name="Equation" r:id="rId18" imgW="2006280" imgH="419040" progId="Equation.DSMT4">
                  <p:embed/>
                </p:oleObj>
              </mc:Choice>
              <mc:Fallback>
                <p:oleObj name="Equation" r:id="rId18" imgW="2006280" imgH="419040" progId="Equation.DSMT4">
                  <p:embed/>
                  <p:pic>
                    <p:nvPicPr>
                      <p:cNvPr id="21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20750" y="4856726"/>
                        <a:ext cx="2618046" cy="47898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3115284"/>
              </p:ext>
            </p:extLst>
          </p:nvPr>
        </p:nvGraphicFramePr>
        <p:xfrm>
          <a:off x="4159050" y="5620019"/>
          <a:ext cx="825899" cy="3428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66" name="Equation" r:id="rId20" imgW="16154400" imgH="6705600" progId="Equation.DSMT4">
                  <p:embed/>
                </p:oleObj>
              </mc:Choice>
              <mc:Fallback>
                <p:oleObj name="Equation" r:id="rId20" imgW="16154400" imgH="6705600" progId="Equation.DSMT4">
                  <p:embed/>
                  <p:pic>
                    <p:nvPicPr>
                      <p:cNvPr id="23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59050" y="5620019"/>
                        <a:ext cx="825899" cy="34282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20893369"/>
              </p:ext>
            </p:extLst>
          </p:nvPr>
        </p:nvGraphicFramePr>
        <p:xfrm>
          <a:off x="6200775" y="5586022"/>
          <a:ext cx="2838450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67" name="Equation" r:id="rId21" imgW="2705040" imgH="419040" progId="Equation.DSMT4">
                  <p:embed/>
                </p:oleObj>
              </mc:Choice>
              <mc:Fallback>
                <p:oleObj name="Equation" r:id="rId21" imgW="2705040" imgH="419040" progId="Equation.DSMT4">
                  <p:embed/>
                  <p:pic>
                    <p:nvPicPr>
                      <p:cNvPr id="24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00775" y="5586022"/>
                        <a:ext cx="2838450" cy="4794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335CC-1CB4-4DB4-B8CF-D3AC61484BB6}" type="datetime1">
              <a:rPr lang="en-US" altLang="zh-CN" smtClean="0"/>
              <a:pPr/>
              <a:t>3/31/2025</a:t>
            </a:fld>
            <a:endParaRPr 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>
          <a:xfrm>
            <a:off x="8802697" y="37233"/>
            <a:ext cx="1066800" cy="329184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17" name="页脚占位符 2">
            <a:extLst>
              <a:ext uri="{FF2B5EF4-FFF2-40B4-BE49-F238E27FC236}">
                <a16:creationId xmlns:a16="http://schemas.microsoft.com/office/drawing/2014/main" id="{24316EEA-D2C9-4A64-B3FE-439EF3044E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8905" y="19050"/>
            <a:ext cx="4831731" cy="328613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交通大数据</a:t>
            </a: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· </a:t>
            </a: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东南大学 刘志远教授</a:t>
            </a:r>
            <a:endParaRPr kumimoji="0" lang="en-US" altLang="zh-CN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B39B8B6D-7DD9-49A6-9803-03B7E3EC1D93}"/>
              </a:ext>
            </a:extLst>
          </p:cNvPr>
          <p:cNvCxnSpPr>
            <a:cxnSpLocks/>
          </p:cNvCxnSpPr>
          <p:nvPr/>
        </p:nvCxnSpPr>
        <p:spPr>
          <a:xfrm>
            <a:off x="-18411" y="4614959"/>
            <a:ext cx="918695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39030"/>
            <a:ext cx="8229600" cy="990600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基础知识：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NLP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的下降方向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39132" y="1180761"/>
            <a:ext cx="8229600" cy="4876800"/>
          </a:xfrm>
        </p:spPr>
        <p:txBody>
          <a:bodyPr/>
          <a:lstStyle/>
          <a:p>
            <a:pPr marL="0" lvl="0" indent="0">
              <a:spcBef>
                <a:spcPct val="50000"/>
              </a:spcBef>
              <a:buClrTx/>
              <a:buSzPct val="60000"/>
              <a:buFont typeface="Wingdings" panose="05000000000000000000" pitchFamily="2" charset="2"/>
              <a:buChar char="q"/>
              <a:defRPr/>
            </a:pPr>
            <a:r>
              <a:rPr lang="en-US" altLang="zh-CN" b="1" kern="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NLP</a:t>
            </a:r>
            <a:r>
              <a:rPr lang="zh-CN" altLang="en-US" b="1" kern="0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的下降方向</a:t>
            </a:r>
            <a:endParaRPr lang="en-US" altLang="zh-CN" b="1" kern="0" dirty="0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如果向量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是点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 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处的下降方向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那么存在实数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  , 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满足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对于任意下降方向，我们进一步可得到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</a:p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证明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</a:p>
          <a:p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Object 1"/>
          <p:cNvGraphicFramePr>
            <a:graphicFrameLocks noChangeAspect="1"/>
          </p:cNvGraphicFramePr>
          <p:nvPr/>
        </p:nvGraphicFramePr>
        <p:xfrm>
          <a:off x="3187287" y="2096814"/>
          <a:ext cx="29464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61" name="Equation" r:id="rId4" imgW="70713600" imgH="9753600" progId="Equation.DSMT4">
                  <p:embed/>
                </p:oleObj>
              </mc:Choice>
              <mc:Fallback>
                <p:oleObj name="Equation" r:id="rId4" imgW="70713600" imgH="9753600" progId="Equation.DSMT4">
                  <p:embed/>
                  <p:pic>
                    <p:nvPicPr>
                      <p:cNvPr id="0" name="Picture 89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87287" y="2096814"/>
                        <a:ext cx="2946400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"/>
          <p:cNvGraphicFramePr>
            <a:graphicFrameLocks noChangeAspect="1"/>
          </p:cNvGraphicFramePr>
          <p:nvPr/>
        </p:nvGraphicFramePr>
        <p:xfrm>
          <a:off x="2628900" y="1676143"/>
          <a:ext cx="7239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62" name="Equation" r:id="rId6" imgW="17373600" imgH="7924800" progId="Equation.DSMT4">
                  <p:embed/>
                </p:oleObj>
              </mc:Choice>
              <mc:Fallback>
                <p:oleObj name="Equation" r:id="rId6" imgW="17373600" imgH="7924800" progId="Equation.DSMT4">
                  <p:embed/>
                  <p:pic>
                    <p:nvPicPr>
                      <p:cNvPr id="0" name="Picture 89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8900" y="1676143"/>
                        <a:ext cx="723900" cy="330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"/>
          <p:cNvGraphicFramePr>
            <a:graphicFrameLocks noChangeAspect="1"/>
          </p:cNvGraphicFramePr>
          <p:nvPr/>
        </p:nvGraphicFramePr>
        <p:xfrm>
          <a:off x="6985000" y="1728665"/>
          <a:ext cx="6350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63" name="Equation" r:id="rId8" imgW="15240000" imgH="6705600" progId="Equation.DSMT4">
                  <p:embed/>
                </p:oleObj>
              </mc:Choice>
              <mc:Fallback>
                <p:oleObj name="Equation" r:id="rId8" imgW="15240000" imgH="6705600" progId="Equation.DSMT4">
                  <p:embed/>
                  <p:pic>
                    <p:nvPicPr>
                      <p:cNvPr id="0" name="Picture 89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85000" y="1728665"/>
                        <a:ext cx="635000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"/>
          <p:cNvGraphicFramePr>
            <a:graphicFrameLocks noChangeAspect="1"/>
          </p:cNvGraphicFramePr>
          <p:nvPr/>
        </p:nvGraphicFramePr>
        <p:xfrm>
          <a:off x="4224138" y="4670883"/>
          <a:ext cx="19939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64" name="Equation" r:id="rId10" imgW="47853600" imgH="9753600" progId="Equation.DSMT4">
                  <p:embed/>
                </p:oleObj>
              </mc:Choice>
              <mc:Fallback>
                <p:oleObj name="Equation" r:id="rId10" imgW="47853600" imgH="9753600" progId="Equation.DSMT4">
                  <p:embed/>
                  <p:pic>
                    <p:nvPicPr>
                      <p:cNvPr id="0" name="Picture 89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24138" y="4670883"/>
                        <a:ext cx="1993900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组合 7"/>
          <p:cNvGrpSpPr/>
          <p:nvPr/>
        </p:nvGrpSpPr>
        <p:grpSpPr>
          <a:xfrm>
            <a:off x="1551171" y="2958664"/>
            <a:ext cx="6890451" cy="1584423"/>
            <a:chOff x="566419" y="3847341"/>
            <a:chExt cx="6890451" cy="1584423"/>
          </a:xfrm>
        </p:grpSpPr>
        <p:grpSp>
          <p:nvGrpSpPr>
            <p:cNvPr id="6" name="组合 5"/>
            <p:cNvGrpSpPr/>
            <p:nvPr/>
          </p:nvGrpSpPr>
          <p:grpSpPr>
            <a:xfrm>
              <a:off x="566419" y="3847341"/>
              <a:ext cx="6550817" cy="461665"/>
              <a:chOff x="566419" y="3847341"/>
              <a:chExt cx="6550817" cy="461665"/>
            </a:xfrm>
          </p:grpSpPr>
          <p:sp>
            <p:nvSpPr>
              <p:cNvPr id="11" name="文本框 10"/>
              <p:cNvSpPr txBox="1"/>
              <p:nvPr/>
            </p:nvSpPr>
            <p:spPr>
              <a:xfrm>
                <a:off x="566419" y="3847341"/>
                <a:ext cx="655081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由</a:t>
                </a:r>
                <a:r>
                  <a:rPr lang="en-US" altLang="zh-CN" sz="2400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     </a:t>
                </a:r>
                <a:r>
                  <a:rPr lang="zh-CN" altLang="en-US" sz="2400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在点    处的泰勒展开，可得：</a:t>
                </a:r>
                <a:r>
                  <a:rPr lang="en-US" altLang="zh-CN" sz="2400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 </a:t>
                </a:r>
                <a:endParaRPr lang="zh-CN" altLang="en-US" sz="2400" dirty="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graphicFrame>
            <p:nvGraphicFramePr>
              <p:cNvPr id="12" name="Object 1"/>
              <p:cNvGraphicFramePr>
                <a:graphicFrameLocks noChangeAspect="1"/>
              </p:cNvGraphicFramePr>
              <p:nvPr/>
            </p:nvGraphicFramePr>
            <p:xfrm>
              <a:off x="943645" y="3913736"/>
              <a:ext cx="723900" cy="3429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5465" name="Equation" r:id="rId12" imgW="17373600" imgH="8229600" progId="Equation.DSMT4">
                      <p:embed/>
                    </p:oleObj>
                  </mc:Choice>
                  <mc:Fallback>
                    <p:oleObj name="Equation" r:id="rId12" imgW="17373600" imgH="8229600" progId="Equation.DSMT4">
                      <p:embed/>
                      <p:pic>
                        <p:nvPicPr>
                          <p:cNvPr id="0" name="Picture 89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943645" y="3913736"/>
                            <a:ext cx="723900" cy="3429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3" name="Object 1"/>
              <p:cNvGraphicFramePr>
                <a:graphicFrameLocks noChangeAspect="1"/>
              </p:cNvGraphicFramePr>
              <p:nvPr/>
            </p:nvGraphicFramePr>
            <p:xfrm>
              <a:off x="2400498" y="3936338"/>
              <a:ext cx="546100" cy="3302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5466" name="Equation" r:id="rId14" imgW="13106400" imgH="7924800" progId="Equation.DSMT4">
                      <p:embed/>
                    </p:oleObj>
                  </mc:Choice>
                  <mc:Fallback>
                    <p:oleObj name="Equation" r:id="rId14" imgW="13106400" imgH="7924800" progId="Equation.DSMT4">
                      <p:embed/>
                      <p:pic>
                        <p:nvPicPr>
                          <p:cNvPr id="0" name="Picture 89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400498" y="3936338"/>
                            <a:ext cx="546100" cy="3302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20" name="Object 1"/>
            <p:cNvGraphicFramePr>
              <a:graphicFrameLocks noChangeAspect="1"/>
            </p:cNvGraphicFramePr>
            <p:nvPr/>
          </p:nvGraphicFramePr>
          <p:xfrm>
            <a:off x="1093562" y="4885664"/>
            <a:ext cx="6007100" cy="546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467" name="Equation" r:id="rId16" imgW="144170400" imgH="13106400" progId="Equation.DSMT4">
                    <p:embed/>
                  </p:oleObj>
                </mc:Choice>
                <mc:Fallback>
                  <p:oleObj name="Equation" r:id="rId16" imgW="144170400" imgH="13106400" progId="Equation.DSMT4">
                    <p:embed/>
                    <p:pic>
                      <p:nvPicPr>
                        <p:cNvPr id="0" name="Picture 90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93562" y="4885664"/>
                          <a:ext cx="6007100" cy="5461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" name="Object 1"/>
            <p:cNvGraphicFramePr>
              <a:graphicFrameLocks noChangeAspect="1"/>
            </p:cNvGraphicFramePr>
            <p:nvPr/>
          </p:nvGraphicFramePr>
          <p:xfrm>
            <a:off x="738570" y="4303051"/>
            <a:ext cx="6718300" cy="546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468" name="Equation" r:id="rId18" imgW="161239200" imgH="13106400" progId="Equation.DSMT4">
                    <p:embed/>
                  </p:oleObj>
                </mc:Choice>
                <mc:Fallback>
                  <p:oleObj name="Equation" r:id="rId18" imgW="161239200" imgH="13106400" progId="Equation.DSMT4">
                    <p:embed/>
                    <p:pic>
                      <p:nvPicPr>
                        <p:cNvPr id="0" name="Picture 90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38570" y="4303051"/>
                          <a:ext cx="6718300" cy="5461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" name="文本框 6"/>
          <p:cNvSpPr txBox="1"/>
          <p:nvPr/>
        </p:nvSpPr>
        <p:spPr>
          <a:xfrm>
            <a:off x="418013" y="4960877"/>
            <a:ext cx="872598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u="sng" dirty="0">
                <a:latin typeface="宋体" panose="02010600030101010101" pitchFamily="2" charset="-122"/>
                <a:ea typeface="宋体" panose="02010600030101010101" pitchFamily="2" charset="-122"/>
              </a:rPr>
              <a:t>重要的结论</a:t>
            </a:r>
            <a:r>
              <a:rPr lang="en-US" sz="2400" u="sng" dirty="0"/>
              <a:t>: </a:t>
            </a:r>
          </a:p>
          <a:p>
            <a:r>
              <a:rPr lang="zh-CN" altLang="en-US" sz="2400" u="sng" dirty="0">
                <a:latin typeface="宋体" panose="02010600030101010101" pitchFamily="2" charset="-122"/>
                <a:ea typeface="宋体" panose="02010600030101010101" pitchFamily="2" charset="-122"/>
              </a:rPr>
              <a:t>负梯度方向是最速下降方向</a:t>
            </a:r>
            <a:endParaRPr lang="en-US" sz="2400" u="sng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23" name="Object 1"/>
          <p:cNvGraphicFramePr>
            <a:graphicFrameLocks noChangeAspect="1"/>
          </p:cNvGraphicFramePr>
          <p:nvPr/>
        </p:nvGraphicFramePr>
        <p:xfrm>
          <a:off x="5915516" y="2547807"/>
          <a:ext cx="19939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69" name="Equation" r:id="rId20" imgW="47853600" imgH="9753600" progId="Equation.DSMT4">
                  <p:embed/>
                </p:oleObj>
              </mc:Choice>
              <mc:Fallback>
                <p:oleObj name="Equation" r:id="rId20" imgW="47853600" imgH="9753600" progId="Equation.DSMT4">
                  <p:embed/>
                  <p:pic>
                    <p:nvPicPr>
                      <p:cNvPr id="0" name="Picture 90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15516" y="2547807"/>
                        <a:ext cx="1993900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A7FC9-18E0-488E-88F8-5B39E3D1079E}" type="datetime1">
              <a:rPr lang="en-US" altLang="zh-CN" smtClean="0"/>
              <a:pPr/>
              <a:t>3/31/2025</a:t>
            </a:fld>
            <a:endParaRPr lang="en-US"/>
          </a:p>
        </p:txBody>
      </p:sp>
      <p:sp>
        <p:nvSpPr>
          <p:cNvPr id="16" name="灯片编号占位符 15"/>
          <p:cNvSpPr>
            <a:spLocks noGrp="1"/>
          </p:cNvSpPr>
          <p:nvPr>
            <p:ph type="sldNum" sz="quarter" idx="12"/>
          </p:nvPr>
        </p:nvSpPr>
        <p:spPr>
          <a:xfrm>
            <a:off x="8780795" y="18288"/>
            <a:ext cx="1066800" cy="329184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21" name="页脚占位符 2">
            <a:extLst>
              <a:ext uri="{FF2B5EF4-FFF2-40B4-BE49-F238E27FC236}">
                <a16:creationId xmlns:a16="http://schemas.microsoft.com/office/drawing/2014/main" id="{9F7BA61F-F1DC-4943-AAF3-B3371F0927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8905" y="19050"/>
            <a:ext cx="4831731" cy="328613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交通大数据</a:t>
            </a: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· </a:t>
            </a: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东南大学 刘志远教授</a:t>
            </a:r>
            <a:endParaRPr kumimoji="0" lang="en-US" altLang="zh-CN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6240" y="279126"/>
            <a:ext cx="8229600" cy="990600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基础知识：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NLP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的下降方向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6240" y="1127125"/>
            <a:ext cx="8229600" cy="4876800"/>
          </a:xfrm>
        </p:spPr>
        <p:txBody>
          <a:bodyPr/>
          <a:lstStyle/>
          <a:p>
            <a:pPr marL="0" lvl="0" indent="0">
              <a:spcBef>
                <a:spcPct val="50000"/>
              </a:spcBef>
              <a:buClrTx/>
              <a:buSzPct val="60000"/>
              <a:buFont typeface="Wingdings" panose="05000000000000000000" pitchFamily="2" charset="2"/>
              <a:buChar char="q"/>
              <a:defRPr/>
            </a:pPr>
            <a:r>
              <a:rPr lang="en-US" altLang="zh-CN" b="1" kern="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NLP</a:t>
            </a:r>
            <a:r>
              <a:rPr lang="zh-CN" altLang="en-US" b="1" kern="0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的下降方向</a:t>
            </a:r>
            <a:endParaRPr lang="en-US" altLang="zh-CN" b="1" kern="0" dirty="0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Object 5"/>
          <p:cNvGraphicFramePr>
            <a:graphicFrameLocks noChangeAspect="1"/>
          </p:cNvGraphicFramePr>
          <p:nvPr/>
        </p:nvGraphicFramePr>
        <p:xfrm>
          <a:off x="312420" y="2042797"/>
          <a:ext cx="4079875" cy="3244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08" name="Visio" r:id="rId4" imgW="4864174" imgH="3981559" progId="">
                  <p:embed/>
                </p:oleObj>
              </mc:Choice>
              <mc:Fallback>
                <p:oleObj name="Visio" r:id="rId4" imgW="4864174" imgH="3981559" progId="">
                  <p:embed/>
                  <p:pic>
                    <p:nvPicPr>
                      <p:cNvPr id="0" name="Picture 19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" y="2042797"/>
                        <a:ext cx="4079875" cy="32448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9"/>
          <p:cNvSpPr txBox="1">
            <a:spLocks noChangeArrowheads="1"/>
          </p:cNvSpPr>
          <p:nvPr/>
        </p:nvSpPr>
        <p:spPr bwMode="auto">
          <a:xfrm>
            <a:off x="384175" y="1596232"/>
            <a:ext cx="7848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kern="0" dirty="0">
                <a:solidFill>
                  <a:srgbClr val="000000"/>
                </a:solidFill>
              </a:rPr>
              <a:t>例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: </a:t>
            </a:r>
            <a:r>
              <a:rPr kumimoji="0" lang="el-GR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Ω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={(</a:t>
            </a:r>
            <a:r>
              <a:rPr kumimoji="0" lang="en-US" altLang="zh-CN" sz="20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kumimoji="0" lang="en-US" altLang="zh-CN" sz="20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kumimoji="0" lang="en-US" altLang="zh-CN" sz="20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kumimoji="0" lang="en-US" altLang="zh-CN" sz="20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)|</a:t>
            </a:r>
            <a:r>
              <a:rPr kumimoji="0" lang="en-US" altLang="zh-CN" sz="20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kumimoji="0" lang="en-US" altLang="zh-CN" sz="20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kumimoji="0" lang="en-US" altLang="zh-CN" sz="20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kumimoji="0" lang="en-US" altLang="zh-CN" sz="20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≤2, </a:t>
            </a:r>
            <a:r>
              <a:rPr kumimoji="0" lang="en-US" altLang="zh-CN" sz="20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kumimoji="0" lang="en-US" altLang="zh-CN" sz="20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≥0, </a:t>
            </a:r>
            <a:r>
              <a:rPr kumimoji="0" lang="en-US" altLang="zh-CN" sz="20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kumimoji="0" lang="en-US" altLang="zh-CN" sz="20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≥0},  </a:t>
            </a:r>
            <a:r>
              <a:rPr kumimoji="0" lang="en-US" altLang="zh-CN" sz="20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kumimoji="0" lang="en-US" altLang="zh-CN" sz="20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)=(</a:t>
            </a:r>
            <a:r>
              <a:rPr kumimoji="0" lang="en-US" altLang="zh-CN" sz="20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kumimoji="0" lang="en-US" altLang="zh-CN" sz="20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-1)</a:t>
            </a:r>
            <a:r>
              <a:rPr kumimoji="0" lang="en-US" altLang="zh-CN" sz="2000" b="0" i="0" u="none" strike="noStrike" kern="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+(</a:t>
            </a:r>
            <a:r>
              <a:rPr kumimoji="0" lang="en-US" altLang="zh-CN" sz="20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kumimoji="0" lang="en-US" altLang="zh-CN" sz="20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-2)</a:t>
            </a:r>
            <a:r>
              <a:rPr kumimoji="0" lang="en-US" altLang="zh-CN" sz="2000" b="0" i="0" u="none" strike="noStrike" kern="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8" name="Text Box 10"/>
          <p:cNvSpPr txBox="1">
            <a:spLocks noChangeArrowheads="1"/>
          </p:cNvSpPr>
          <p:nvPr/>
        </p:nvSpPr>
        <p:spPr bwMode="auto">
          <a:xfrm>
            <a:off x="312420" y="5337337"/>
            <a:ext cx="4114800" cy="854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kern="0" dirty="0">
                <a:solidFill>
                  <a:srgbClr val="000000"/>
                </a:solidFill>
              </a:rPr>
              <a:t>在可行域内部点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(1,0.5)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处</a:t>
            </a:r>
            <a:endParaRPr kumimoji="0" lang="en-US" altLang="zh-CN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kern="0" dirty="0">
                <a:solidFill>
                  <a:srgbClr val="000000"/>
                </a:solidFill>
              </a:rPr>
              <a:t>可行下降方向为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kumimoji="0" lang="en-US" altLang="zh-CN" sz="20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r>
              <a:rPr kumimoji="0" lang="en-US" altLang="zh-CN" sz="2000" b="0" i="1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kumimoji="0" lang="en-US" altLang="zh-CN" sz="20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r>
              <a:rPr kumimoji="0" lang="en-US" altLang="zh-CN" sz="2000" b="0" i="1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kumimoji="0" lang="en-US" altLang="zh-CN" sz="20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r>
              <a:rPr kumimoji="0" lang="en-US" altLang="zh-CN" sz="2000" b="0" i="1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9" name="Text Box 11"/>
          <p:cNvSpPr txBox="1">
            <a:spLocks noChangeArrowheads="1"/>
          </p:cNvSpPr>
          <p:nvPr/>
        </p:nvSpPr>
        <p:spPr bwMode="auto">
          <a:xfrm>
            <a:off x="4876800" y="5337336"/>
            <a:ext cx="3810000" cy="854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kern="0" dirty="0">
                <a:solidFill>
                  <a:srgbClr val="000000"/>
                </a:solidFill>
              </a:rPr>
              <a:t>在可行域边界点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(2,0)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处</a:t>
            </a:r>
            <a:endParaRPr kumimoji="0" lang="en-US" altLang="zh-CN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0" defTabSz="914400" eaLnBrk="1" hangingPunct="1">
              <a:spcBef>
                <a:spcPct val="50000"/>
              </a:spcBef>
              <a:defRPr/>
            </a:pPr>
            <a:r>
              <a:rPr lang="zh-CN" altLang="en-US" sz="2000" kern="0" dirty="0">
                <a:solidFill>
                  <a:srgbClr val="000000"/>
                </a:solidFill>
              </a:rPr>
              <a:t>可行下降方向为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kumimoji="0" lang="en-US" altLang="zh-CN" sz="20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r>
              <a:rPr kumimoji="0" lang="en-US" altLang="zh-CN" sz="2000" b="0" i="1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5</a:t>
            </a: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8475" y="1947375"/>
            <a:ext cx="4762745" cy="3340272"/>
          </a:xfrm>
          <a:prstGeom prst="rect">
            <a:avLst/>
          </a:prstGeom>
        </p:spPr>
      </p:pic>
      <p:graphicFrame>
        <p:nvGraphicFramePr>
          <p:cNvPr id="11" name="Object 1"/>
          <p:cNvGraphicFramePr>
            <a:graphicFrameLocks noChangeAspect="1"/>
          </p:cNvGraphicFramePr>
          <p:nvPr/>
        </p:nvGraphicFramePr>
        <p:xfrm>
          <a:off x="6088043" y="5013875"/>
          <a:ext cx="1693331" cy="2737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09" name="Equation" r:id="rId7" imgW="50901600" imgH="8229600" progId="Equation.DSMT4">
                  <p:embed/>
                </p:oleObj>
              </mc:Choice>
              <mc:Fallback>
                <p:oleObj name="Equation" r:id="rId7" imgW="50901600" imgH="8229600" progId="Equation.DSMT4">
                  <p:embed/>
                  <p:pic>
                    <p:nvPicPr>
                      <p:cNvPr id="0" name="Picture 19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88043" y="5013875"/>
                        <a:ext cx="1693331" cy="27377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0F759-B72A-44E5-8D22-7DA54F8C9940}" type="datetime1">
              <a:rPr lang="en-US" altLang="zh-CN" smtClean="0"/>
              <a:pPr/>
              <a:t>3/31/2025</a:t>
            </a:fld>
            <a:endParaRPr lang="en-US"/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2"/>
          </p:nvPr>
        </p:nvSpPr>
        <p:spPr>
          <a:xfrm>
            <a:off x="8747760" y="2519"/>
            <a:ext cx="1066800" cy="329184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12" name="页脚占位符 2">
            <a:extLst>
              <a:ext uri="{FF2B5EF4-FFF2-40B4-BE49-F238E27FC236}">
                <a16:creationId xmlns:a16="http://schemas.microsoft.com/office/drawing/2014/main" id="{44952250-5686-4BAE-877A-FFE40F666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8905" y="19050"/>
            <a:ext cx="4831731" cy="328613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交通大数据</a:t>
            </a: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· </a:t>
            </a: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东南大学 刘志远教授</a:t>
            </a:r>
            <a:endParaRPr kumimoji="0" lang="en-US" altLang="zh-CN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基础知识：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NLP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的下降方向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590773"/>
            <a:ext cx="8229600" cy="4876800"/>
          </a:xfrm>
        </p:spPr>
        <p:txBody>
          <a:bodyPr/>
          <a:lstStyle/>
          <a:p>
            <a:pPr marL="0" indent="0">
              <a:lnSpc>
                <a:spcPct val="150000"/>
              </a:lnSpc>
              <a:spcBef>
                <a:spcPct val="50000"/>
              </a:spcBef>
              <a:buClrTx/>
              <a:buSzPct val="60000"/>
              <a:buFont typeface="Wingdings" panose="05000000000000000000" pitchFamily="2" charset="2"/>
              <a:buChar char="q"/>
              <a:defRPr/>
            </a:pPr>
            <a:r>
              <a:rPr lang="en-US" altLang="zh-CN" b="1" kern="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NLP</a:t>
            </a:r>
            <a:r>
              <a:rPr lang="zh-CN" altLang="en-US" b="1" kern="0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的可行下降方向</a:t>
            </a:r>
            <a:endParaRPr lang="en-US" altLang="zh-CN" b="1" kern="0" dirty="0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从</a:t>
            </a:r>
            <a:r>
              <a:rPr lang="zh-CN" altLang="en-US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字面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上讲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可行下降方向</a:t>
            </a:r>
            <a:r>
              <a:rPr lang="zh-CN" altLang="en-US" kern="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即同时满足可行性和使函数值减小的方向</a:t>
            </a:r>
            <a:r>
              <a:rPr lang="en-US" altLang="zh-TW" kern="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lang="en-US" altLang="zh-TW" kern="0" dirty="0">
              <a:solidFill>
                <a:prstClr val="black"/>
              </a:solidFill>
              <a:latin typeface="Times New Roman" panose="02020603050405020304" pitchFamily="18" charset="0"/>
              <a:ea typeface="PMingLiU" panose="02020500000000000000" pitchFamily="18" charset="-120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  <a:buClrTx/>
              <a:buSzTx/>
            </a:pPr>
            <a:r>
              <a:rPr lang="zh-CN" altLang="en-US" kern="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如果</a:t>
            </a:r>
            <a:r>
              <a:rPr lang="en-US" altLang="zh-TW" kern="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zh-CN" altLang="en-US" kern="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不是一个局部极小值点，那么求解算法下次迭代的搜索方向应该是该点的可行下降方向；</a:t>
            </a:r>
            <a:endParaRPr lang="en-US" altLang="zh-TW" kern="0" dirty="0">
              <a:solidFill>
                <a:prstClr val="black"/>
              </a:solidFill>
              <a:latin typeface="Times New Roman" panose="02020603050405020304" pitchFamily="18" charset="0"/>
              <a:ea typeface="PMingLiU" panose="02020500000000000000" pitchFamily="18" charset="-120"/>
              <a:cs typeface="Times New Roman" panose="02020603050405020304" pitchFamily="18" charset="0"/>
            </a:endParaRPr>
          </a:p>
          <a:p>
            <a:pPr lvl="0">
              <a:buClrTx/>
              <a:buSzTx/>
            </a:pPr>
            <a:r>
              <a:rPr lang="zh-CN" altLang="en-US" kern="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如果</a:t>
            </a:r>
            <a:r>
              <a:rPr lang="en-US" altLang="zh-TW" kern="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zh-CN" altLang="en-US" kern="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是一个极小值点，那么该点没有可行下降方向；</a:t>
            </a:r>
            <a:endParaRPr lang="en-US" altLang="zh-CN" kern="0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  <a:buClrTx/>
              <a:buSzTx/>
            </a:pPr>
            <a:r>
              <a:rPr lang="zh-CN" altLang="en-US" kern="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反过来讲，如果一个点有可行下降方向，那么该点一定不是局部极小值点</a:t>
            </a:r>
            <a:endParaRPr lang="en-US" altLang="zh-TW" kern="0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9" name="Object 1"/>
          <p:cNvGraphicFramePr>
            <a:graphicFrameLocks noChangeAspect="1"/>
          </p:cNvGraphicFramePr>
          <p:nvPr/>
        </p:nvGraphicFramePr>
        <p:xfrm>
          <a:off x="1332213" y="3560022"/>
          <a:ext cx="7239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32" name="Equation" r:id="rId3" imgW="17373600" imgH="7924800" progId="Equation.DSMT4">
                  <p:embed/>
                </p:oleObj>
              </mc:Choice>
              <mc:Fallback>
                <p:oleObj name="Equation" r:id="rId3" imgW="17373600" imgH="7924800" progId="Equation.DSMT4">
                  <p:embed/>
                  <p:pic>
                    <p:nvPicPr>
                      <p:cNvPr id="0" name="Picture 19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2213" y="3560022"/>
                        <a:ext cx="723900" cy="330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"/>
          <p:cNvGraphicFramePr>
            <a:graphicFrameLocks noChangeAspect="1"/>
          </p:cNvGraphicFramePr>
          <p:nvPr/>
        </p:nvGraphicFramePr>
        <p:xfrm>
          <a:off x="1332213" y="4605446"/>
          <a:ext cx="7239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33" name="Equation" r:id="rId5" imgW="17373600" imgH="7924800" progId="Equation.DSMT4">
                  <p:embed/>
                </p:oleObj>
              </mc:Choice>
              <mc:Fallback>
                <p:oleObj name="Equation" r:id="rId5" imgW="17373600" imgH="7924800" progId="Equation.DSMT4">
                  <p:embed/>
                  <p:pic>
                    <p:nvPicPr>
                      <p:cNvPr id="0" name="Picture 19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2213" y="4605446"/>
                        <a:ext cx="723900" cy="330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AC57C-85CD-4C46-AE0D-2F43D61C7719}" type="datetime1">
              <a:rPr lang="en-US" altLang="zh-CN" smtClean="0"/>
              <a:pPr/>
              <a:t>3/31/2025</a:t>
            </a:fld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86800" y="7908"/>
            <a:ext cx="1066800" cy="329184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8" name="页脚占位符 2">
            <a:extLst>
              <a:ext uri="{FF2B5EF4-FFF2-40B4-BE49-F238E27FC236}">
                <a16:creationId xmlns:a16="http://schemas.microsoft.com/office/drawing/2014/main" id="{0E025952-450C-4261-A91E-E4D9423EAC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8905" y="19050"/>
            <a:ext cx="4831731" cy="328613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交通大数据</a:t>
            </a: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· </a:t>
            </a: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东南大学 刘志远教授</a:t>
            </a:r>
            <a:endParaRPr kumimoji="0" lang="en-US" altLang="zh-CN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基础知识：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NLP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的下降方向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199" y="1600200"/>
            <a:ext cx="8356863" cy="4876800"/>
          </a:xfrm>
        </p:spPr>
        <p:txBody>
          <a:bodyPr>
            <a:normAutofit/>
          </a:bodyPr>
          <a:lstStyle/>
          <a:p>
            <a:pPr marL="0" lvl="0" indent="0">
              <a:spcBef>
                <a:spcPct val="50000"/>
              </a:spcBef>
              <a:buClrTx/>
              <a:buSzPct val="60000"/>
              <a:buFont typeface="Wingdings" panose="05000000000000000000" pitchFamily="2" charset="2"/>
              <a:buChar char="q"/>
              <a:defRPr/>
            </a:pPr>
            <a:r>
              <a:rPr lang="en-US" altLang="zh-CN" b="1" kern="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NLP</a:t>
            </a:r>
            <a:r>
              <a:rPr lang="zh-CN" altLang="en-US" b="1" kern="0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的可行下降方向</a:t>
            </a:r>
            <a:endParaRPr lang="en-US" altLang="zh-CN" b="1" kern="0" dirty="0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lvl="0" indent="0">
              <a:lnSpc>
                <a:spcPct val="150000"/>
              </a:lnSpc>
              <a:spcBef>
                <a:spcPct val="50000"/>
              </a:spcBef>
              <a:buClrTx/>
              <a:buSzPct val="60000"/>
              <a:buNone/>
              <a:defRPr/>
            </a:pPr>
            <a:r>
              <a:rPr lang="zh-CN" altLang="en-US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从</a:t>
            </a:r>
            <a:r>
              <a:rPr lang="zh-CN" altLang="en-US" kern="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数学表达</a:t>
            </a:r>
            <a:r>
              <a:rPr lang="zh-CN" altLang="en-US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来看</a:t>
            </a:r>
            <a:r>
              <a:rPr lang="zh-CN" alt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CN" altLang="en-US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如果点    不是局部极小值点，那么一定存在一个方向  满足如下不等式条件：</a:t>
            </a:r>
            <a:endParaRPr lang="en-US" altLang="zh-CN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lvl="0" indent="0">
              <a:buClr>
                <a:srgbClr val="4F81BD"/>
              </a:buClr>
              <a:buNone/>
            </a:pPr>
            <a:endParaRPr lang="en-US" altLang="zh-TW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Clr>
                <a:srgbClr val="4F81BD"/>
              </a:buClr>
              <a:buNone/>
            </a:pPr>
            <a:endParaRPr lang="en-US" altLang="zh-TW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Clr>
                <a:srgbClr val="4F81BD"/>
              </a:buClr>
              <a:buNone/>
            </a:pPr>
            <a:endParaRPr lang="en-US" altLang="zh-CN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Clr>
                <a:srgbClr val="4F81BD"/>
              </a:buClr>
              <a:buNone/>
            </a:pPr>
            <a:r>
              <a:rPr lang="zh-CN" altLang="en-US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从</a:t>
            </a:r>
            <a:r>
              <a:rPr lang="zh-CN" altLang="en-US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坐标空间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来</a:t>
            </a:r>
            <a:r>
              <a:rPr lang="zh-CN" altLang="en-US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看</a:t>
            </a:r>
            <a:r>
              <a:rPr lang="zh-CN" alt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endParaRPr lang="en-US" altLang="zh-CN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Clr>
                <a:srgbClr val="4F81BD"/>
              </a:buClr>
            </a:pPr>
            <a:r>
              <a:rPr lang="zh-CN" altLang="en-US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可行下降方向  和目标函数的负梯度方向的夹角是锐角；</a:t>
            </a:r>
            <a:endParaRPr lang="en-US" altLang="zh-CN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Clr>
                <a:srgbClr val="4F81BD"/>
              </a:buClr>
            </a:pPr>
            <a:r>
              <a:rPr lang="zh-CN" altLang="en-US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可行下降方向  和起作用约束的负梯度方向的夹角是锐角；</a:t>
            </a:r>
            <a:endParaRPr lang="en-US" altLang="zh-CN" b="1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lvl="0" indent="0">
              <a:buClr>
                <a:srgbClr val="4F81BD"/>
              </a:buClr>
              <a:buNone/>
            </a:pPr>
            <a:endParaRPr lang="en-US" altLang="zh-TW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Object 1"/>
          <p:cNvGraphicFramePr>
            <a:graphicFrameLocks noChangeAspect="1"/>
          </p:cNvGraphicFramePr>
          <p:nvPr/>
        </p:nvGraphicFramePr>
        <p:xfrm>
          <a:off x="2374419" y="2909939"/>
          <a:ext cx="2794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89" name="Equation" r:id="rId3" imgW="6705600" imgH="6400800" progId="Equation.DSMT4">
                  <p:embed/>
                </p:oleObj>
              </mc:Choice>
              <mc:Fallback>
                <p:oleObj name="Equation" r:id="rId3" imgW="6705600" imgH="6400800" progId="Equation.DSMT4">
                  <p:embed/>
                  <p:pic>
                    <p:nvPicPr>
                      <p:cNvPr id="0" name="Picture 49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4419" y="2909939"/>
                        <a:ext cx="279400" cy="266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"/>
          <p:cNvGraphicFramePr>
            <a:graphicFrameLocks noChangeAspect="1"/>
          </p:cNvGraphicFramePr>
          <p:nvPr/>
        </p:nvGraphicFramePr>
        <p:xfrm>
          <a:off x="3955572" y="2310607"/>
          <a:ext cx="7239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90" name="Equation" r:id="rId5" imgW="17373600" imgH="7924800" progId="Equation.DSMT4">
                  <p:embed/>
                </p:oleObj>
              </mc:Choice>
              <mc:Fallback>
                <p:oleObj name="Equation" r:id="rId5" imgW="17373600" imgH="7924800" progId="Equation.DSMT4">
                  <p:embed/>
                  <p:pic>
                    <p:nvPicPr>
                      <p:cNvPr id="0" name="Picture 49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5572" y="2310607"/>
                        <a:ext cx="723900" cy="330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7849636"/>
              </p:ext>
            </p:extLst>
          </p:nvPr>
        </p:nvGraphicFramePr>
        <p:xfrm>
          <a:off x="2954761" y="3410741"/>
          <a:ext cx="3378704" cy="10417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91" name="Equation" r:id="rId7" imgW="72847200" imgH="22555200" progId="Equation.DSMT4">
                  <p:embed/>
                </p:oleObj>
              </mc:Choice>
              <mc:Fallback>
                <p:oleObj name="Equation" r:id="rId7" imgW="72847200" imgH="22555200" progId="Equation.DSMT4">
                  <p:embed/>
                  <p:pic>
                    <p:nvPicPr>
                      <p:cNvPr id="0" name="Picture 49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4761" y="3410741"/>
                        <a:ext cx="3378704" cy="104177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32133497"/>
              </p:ext>
            </p:extLst>
          </p:nvPr>
        </p:nvGraphicFramePr>
        <p:xfrm>
          <a:off x="2535661" y="5279097"/>
          <a:ext cx="2794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92" name="Equation" r:id="rId9" imgW="6705600" imgH="6400800" progId="Equation.DSMT4">
                  <p:embed/>
                </p:oleObj>
              </mc:Choice>
              <mc:Fallback>
                <p:oleObj name="Equation" r:id="rId9" imgW="6705600" imgH="6400800" progId="Equation.DSMT4">
                  <p:embed/>
                  <p:pic>
                    <p:nvPicPr>
                      <p:cNvPr id="0" name="Picture 49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35661" y="5279097"/>
                        <a:ext cx="279400" cy="266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10915518"/>
              </p:ext>
            </p:extLst>
          </p:nvPr>
        </p:nvGraphicFramePr>
        <p:xfrm>
          <a:off x="2540250" y="5885301"/>
          <a:ext cx="2794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93" name="Equation" r:id="rId10" imgW="6705600" imgH="6400800" progId="Equation.DSMT4">
                  <p:embed/>
                </p:oleObj>
              </mc:Choice>
              <mc:Fallback>
                <p:oleObj name="Equation" r:id="rId10" imgW="6705600" imgH="6400800" progId="Equation.DSMT4">
                  <p:embed/>
                  <p:pic>
                    <p:nvPicPr>
                      <p:cNvPr id="0" name="Picture 49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0250" y="5885301"/>
                        <a:ext cx="279400" cy="266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252B6-1ED3-4E4A-8E40-987BA9427E1F}" type="datetime1">
              <a:rPr lang="en-US" altLang="zh-CN" smtClean="0"/>
              <a:pPr/>
              <a:t>3/31/2025</a:t>
            </a:fld>
            <a:endParaRPr 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>
          <a:xfrm>
            <a:off x="8610600" y="18288"/>
            <a:ext cx="1066800" cy="329184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15" name="页脚占位符 2">
            <a:extLst>
              <a:ext uri="{FF2B5EF4-FFF2-40B4-BE49-F238E27FC236}">
                <a16:creationId xmlns:a16="http://schemas.microsoft.com/office/drawing/2014/main" id="{AA9B422A-6050-4EC1-8B0A-56A625227C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8905" y="19050"/>
            <a:ext cx="4831731" cy="328613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交通大数据</a:t>
            </a: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· </a:t>
            </a: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东南大学 刘志远教授</a:t>
            </a:r>
            <a:endParaRPr kumimoji="0" lang="en-US" altLang="zh-CN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157467" y="2744486"/>
            <a:ext cx="6620719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defTabSz="914400">
              <a:defRPr/>
            </a:pPr>
            <a:r>
              <a:rPr lang="zh-CN" altLang="en-US" sz="4000" b="1" kern="0" dirty="0">
                <a:solidFill>
                  <a:srgbClr val="1F497D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凸优化</a:t>
            </a:r>
            <a:endParaRPr lang="en-US" altLang="zh-CN" sz="4000" b="1" kern="0" dirty="0">
              <a:solidFill>
                <a:srgbClr val="1F497D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0" algn="ctr" defTabSz="914400">
              <a:defRPr/>
            </a:pPr>
            <a:r>
              <a:rPr lang="zh-CN" altLang="en-US" sz="4000" b="1" kern="0" dirty="0">
                <a:solidFill>
                  <a:srgbClr val="1F497D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4000" b="1" kern="0" dirty="0">
                <a:solidFill>
                  <a:srgbClr val="1F497D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Convex Optimization</a:t>
            </a:r>
            <a:r>
              <a:rPr lang="zh-CN" altLang="en-US" sz="4000" b="1" kern="0" dirty="0">
                <a:solidFill>
                  <a:srgbClr val="1F497D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endParaRPr lang="en-US" altLang="zh-CN" sz="4000" b="1" kern="0" dirty="0">
              <a:solidFill>
                <a:srgbClr val="1F497D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5A637-1CFD-48BB-8446-563645228A5B}" type="datetime1">
              <a:rPr lang="en-US" altLang="zh-CN" smtClean="0"/>
              <a:pPr/>
              <a:t>3/31/2025</a:t>
            </a:fld>
            <a:endParaRPr 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8736992" y="18288"/>
            <a:ext cx="1066800" cy="329184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5" name="页脚占位符 2">
            <a:extLst>
              <a:ext uri="{FF2B5EF4-FFF2-40B4-BE49-F238E27FC236}">
                <a16:creationId xmlns:a16="http://schemas.microsoft.com/office/drawing/2014/main" id="{787DC646-A92B-4B78-8DD8-3A7303CCAB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8905" y="19050"/>
            <a:ext cx="4831731" cy="328613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交通大数据</a:t>
            </a: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· </a:t>
            </a: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东南大学 刘志远教授</a:t>
            </a:r>
            <a:endParaRPr kumimoji="0" lang="en-US" altLang="zh-CN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凸优化</a:t>
            </a:r>
            <a:endParaRPr 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凸优化（也称：凸规划，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Convex Programming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endParaRPr lang="en-US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凸优化是非线性规划的一个特殊子集，比一般的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NLP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模型更容易求解。需满足两个条件：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可行域为凸集</a:t>
            </a:r>
            <a:endParaRPr lang="en-US" altLang="zh-CN" sz="22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目标函数为凸函数</a:t>
            </a:r>
            <a:endParaRPr lang="en-US" sz="2200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26A9A-6C38-4D8A-A148-727878BFA4D8}" type="datetime1">
              <a:rPr lang="en-US" altLang="zh-CN" smtClean="0"/>
              <a:pPr/>
              <a:t>3/31/2025</a:t>
            </a:fld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86800" y="18288"/>
            <a:ext cx="1066800" cy="329184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24</a:t>
            </a:fld>
            <a:endParaRPr lang="en-US"/>
          </a:p>
        </p:txBody>
      </p:sp>
      <p:graphicFrame>
        <p:nvGraphicFramePr>
          <p:cNvPr id="6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5147043"/>
              </p:ext>
            </p:extLst>
          </p:nvPr>
        </p:nvGraphicFramePr>
        <p:xfrm>
          <a:off x="3059417" y="4583016"/>
          <a:ext cx="3914259" cy="14516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9" name="Equation" r:id="rId3" imgW="3835080" imgH="1434960" progId="Equation.DSMT4">
                  <p:embed/>
                </p:oleObj>
              </mc:Choice>
              <mc:Fallback>
                <p:oleObj name="Equation" r:id="rId3" imgW="3835080" imgH="1434960" progId="Equation.DSMT4">
                  <p:embed/>
                  <p:pic>
                    <p:nvPicPr>
                      <p:cNvPr id="0" name="Picture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9417" y="4583016"/>
                        <a:ext cx="3914259" cy="145164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页脚占位符 2">
            <a:extLst>
              <a:ext uri="{FF2B5EF4-FFF2-40B4-BE49-F238E27FC236}">
                <a16:creationId xmlns:a16="http://schemas.microsoft.com/office/drawing/2014/main" id="{28348355-C9B5-4B8E-B52E-5EF83E744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8905" y="19050"/>
            <a:ext cx="4831731" cy="328613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交通大数据</a:t>
            </a: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· </a:t>
            </a: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东南大学 刘志远教授</a:t>
            </a:r>
            <a:endParaRPr kumimoji="0" lang="en-US" altLang="zh-CN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03839" y="347472"/>
            <a:ext cx="8229600" cy="990600"/>
          </a:xfrm>
        </p:spPr>
        <p:txBody>
          <a:bodyPr/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凸集（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Convex Set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endParaRPr 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3839" y="1314450"/>
            <a:ext cx="8229600" cy="4876800"/>
          </a:xfrm>
        </p:spPr>
        <p:txBody>
          <a:bodyPr/>
          <a:lstStyle/>
          <a:p>
            <a:pPr marL="274320" lvl="1" indent="0">
              <a:lnSpc>
                <a:spcPct val="150000"/>
              </a:lnSpc>
              <a:buNone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设  表示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n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维实数域  内的一个集合</a:t>
            </a:r>
            <a:endParaRPr lang="en-US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定义</a:t>
            </a:r>
            <a:endParaRPr lang="en-US" altLang="zh-CN" sz="2800" b="1" dirty="0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集合内任意两点       ，任意实数          使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，则称集合  为凸集。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 即，集合内任意两点的</a:t>
            </a:r>
            <a:r>
              <a:rPr lang="zh-CN" altLang="en-US" u="sng" dirty="0">
                <a:latin typeface="宋体" panose="02010600030101010101" pitchFamily="2" charset="-122"/>
                <a:ea typeface="宋体" panose="02010600030101010101" pitchFamily="2" charset="-122"/>
              </a:rPr>
              <a:t>连线间的点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都在集合内。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endParaRPr 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1091173" y="1543757"/>
          <a:ext cx="246997" cy="2469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48" name="Equation" r:id="rId3" imgW="3962400" imgH="3962400" progId="Equation.DSMT4">
                  <p:embed/>
                </p:oleObj>
              </mc:Choice>
              <mc:Fallback>
                <p:oleObj name="Equation" r:id="rId3" imgW="3962400" imgH="3962400" progId="Equation.DSMT4">
                  <p:embed/>
                  <p:pic>
                    <p:nvPicPr>
                      <p:cNvPr id="0" name="Picture 2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91173" y="1543757"/>
                        <a:ext cx="246997" cy="24699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2878705"/>
              </p:ext>
            </p:extLst>
          </p:nvPr>
        </p:nvGraphicFramePr>
        <p:xfrm>
          <a:off x="3322318" y="1448789"/>
          <a:ext cx="414477" cy="3657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49" name="Equation" r:id="rId5" imgW="5181600" imgH="4572000" progId="Equation.DSMT4">
                  <p:embed/>
                </p:oleObj>
              </mc:Choice>
              <mc:Fallback>
                <p:oleObj name="Equation" r:id="rId5" imgW="5181600" imgH="4572000" progId="Equation.DSMT4">
                  <p:embed/>
                  <p:pic>
                    <p:nvPicPr>
                      <p:cNvPr id="0" name="Picture 2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22318" y="1448789"/>
                        <a:ext cx="414477" cy="36571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2713963" y="2798423"/>
          <a:ext cx="1104522" cy="4067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50" name="Equation" r:id="rId7" imgW="14935200" imgH="5486400" progId="Equation.DSMT4">
                  <p:embed/>
                </p:oleObj>
              </mc:Choice>
              <mc:Fallback>
                <p:oleObj name="Equation" r:id="rId7" imgW="14935200" imgH="5486400" progId="Equation.DSMT4">
                  <p:embed/>
                  <p:pic>
                    <p:nvPicPr>
                      <p:cNvPr id="0" name="Picture 2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3963" y="2798423"/>
                        <a:ext cx="1104522" cy="40674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5420773" y="2862196"/>
          <a:ext cx="1463856" cy="3181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51" name="Equation" r:id="rId9" imgW="18592800" imgH="4876800" progId="Equation.DSMT4">
                  <p:embed/>
                </p:oleObj>
              </mc:Choice>
              <mc:Fallback>
                <p:oleObj name="Equation" r:id="rId9" imgW="18592800" imgH="4876800" progId="Equation.DSMT4">
                  <p:embed/>
                  <p:pic>
                    <p:nvPicPr>
                      <p:cNvPr id="0" name="Picture 2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20773" y="2862196"/>
                        <a:ext cx="1463856" cy="3181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7239000" y="2862263"/>
          <a:ext cx="1863725" cy="357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52" name="Equation" r:id="rId11" imgW="28651200" imgH="5486400" progId="Equation.DSMT4">
                  <p:embed/>
                </p:oleObj>
              </mc:Choice>
              <mc:Fallback>
                <p:oleObj name="Equation" r:id="rId11" imgW="28651200" imgH="5486400" progId="Equation.DSMT4">
                  <p:embed/>
                  <p:pic>
                    <p:nvPicPr>
                      <p:cNvPr id="0" name="Picture 2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9000" y="2862263"/>
                        <a:ext cx="1863725" cy="3571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2024570" y="3488464"/>
          <a:ext cx="318619" cy="3186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53" name="Equation" r:id="rId13" imgW="3962400" imgH="3962400" progId="Equation.DSMT4">
                  <p:embed/>
                </p:oleObj>
              </mc:Choice>
              <mc:Fallback>
                <p:oleObj name="Equation" r:id="rId13" imgW="3962400" imgH="3962400" progId="Equation.DSMT4">
                  <p:embed/>
                  <p:pic>
                    <p:nvPicPr>
                      <p:cNvPr id="0" name="Picture 2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24570" y="3488464"/>
                        <a:ext cx="318619" cy="31861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 Box 30"/>
          <p:cNvSpPr txBox="1">
            <a:spLocks noChangeArrowheads="1"/>
          </p:cNvSpPr>
          <p:nvPr/>
        </p:nvSpPr>
        <p:spPr bwMode="auto">
          <a:xfrm>
            <a:off x="693998" y="5364350"/>
            <a:ext cx="585333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defTabSz="914400"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el-GR" altLang="zh-CN" dirty="0">
                <a:solidFill>
                  <a:prstClr val="black"/>
                </a:solidFill>
                <a:cs typeface="Times New Roman" panose="02020603050405020304" pitchFamily="18" charset="0"/>
              </a:rPr>
              <a:t>Ω</a:t>
            </a:r>
            <a:r>
              <a:rPr lang="en-US" altLang="zh-CN" baseline="-25000" dirty="0">
                <a:solidFill>
                  <a:prstClr val="black"/>
                </a:solidFill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prstClr val="black"/>
                </a:solidFill>
                <a:cs typeface="Times New Roman" panose="02020603050405020304" pitchFamily="18" charset="0"/>
              </a:rPr>
              <a:t>={(</a:t>
            </a:r>
            <a:r>
              <a:rPr lang="en-US" altLang="zh-CN" i="1" dirty="0">
                <a:solidFill>
                  <a:prstClr val="black"/>
                </a:solidFill>
                <a:cs typeface="Times New Roman" panose="02020603050405020304" pitchFamily="18" charset="0"/>
              </a:rPr>
              <a:t>x</a:t>
            </a:r>
            <a:r>
              <a:rPr lang="en-US" altLang="zh-CN" baseline="-25000" dirty="0">
                <a:solidFill>
                  <a:prstClr val="black"/>
                </a:solidFill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prstClr val="black"/>
                </a:solidFill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prstClr val="black"/>
                </a:solidFill>
                <a:cs typeface="Times New Roman" panose="02020603050405020304" pitchFamily="18" charset="0"/>
              </a:rPr>
              <a:t>x</a:t>
            </a:r>
            <a:r>
              <a:rPr lang="en-US" altLang="zh-CN" baseline="-25000" dirty="0">
                <a:solidFill>
                  <a:prstClr val="black"/>
                </a:solidFill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prstClr val="black"/>
                </a:solidFill>
                <a:cs typeface="Times New Roman" panose="02020603050405020304" pitchFamily="18" charset="0"/>
              </a:rPr>
              <a:t>)| </a:t>
            </a:r>
            <a:r>
              <a:rPr lang="en-US" altLang="zh-CN" i="1" dirty="0">
                <a:solidFill>
                  <a:prstClr val="black"/>
                </a:solidFill>
                <a:cs typeface="Times New Roman" panose="02020603050405020304" pitchFamily="18" charset="0"/>
              </a:rPr>
              <a:t>x</a:t>
            </a:r>
            <a:r>
              <a:rPr lang="en-US" altLang="zh-CN" baseline="-25000" dirty="0">
                <a:solidFill>
                  <a:prstClr val="black"/>
                </a:solidFill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prstClr val="black"/>
                </a:solidFill>
                <a:cs typeface="Times New Roman" panose="02020603050405020304" pitchFamily="18" charset="0"/>
              </a:rPr>
              <a:t>+</a:t>
            </a:r>
            <a:r>
              <a:rPr lang="en-US" altLang="zh-CN" i="1" dirty="0">
                <a:solidFill>
                  <a:prstClr val="black"/>
                </a:solidFill>
                <a:cs typeface="Times New Roman" panose="02020603050405020304" pitchFamily="18" charset="0"/>
              </a:rPr>
              <a:t>x</a:t>
            </a:r>
            <a:r>
              <a:rPr lang="en-US" altLang="zh-CN" baseline="-25000" dirty="0">
                <a:solidFill>
                  <a:prstClr val="black"/>
                </a:solidFill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prstClr val="black"/>
                </a:solidFill>
                <a:cs typeface="Times New Roman" panose="02020603050405020304" pitchFamily="18" charset="0"/>
              </a:rPr>
              <a:t>≤2; </a:t>
            </a:r>
            <a:r>
              <a:rPr lang="en-US" altLang="zh-CN" i="1" dirty="0">
                <a:solidFill>
                  <a:prstClr val="black"/>
                </a:solidFill>
                <a:cs typeface="Times New Roman" panose="02020603050405020304" pitchFamily="18" charset="0"/>
              </a:rPr>
              <a:t>x</a:t>
            </a:r>
            <a:r>
              <a:rPr lang="en-US" altLang="zh-CN" baseline="-25000" dirty="0">
                <a:solidFill>
                  <a:prstClr val="black"/>
                </a:solidFill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prstClr val="black"/>
                </a:solidFill>
                <a:cs typeface="Times New Roman" panose="02020603050405020304" pitchFamily="18" charset="0"/>
              </a:rPr>
              <a:t>-</a:t>
            </a:r>
            <a:r>
              <a:rPr lang="en-US" altLang="zh-CN" i="1" dirty="0">
                <a:solidFill>
                  <a:prstClr val="black"/>
                </a:solidFill>
                <a:cs typeface="Times New Roman" panose="02020603050405020304" pitchFamily="18" charset="0"/>
              </a:rPr>
              <a:t>x</a:t>
            </a:r>
            <a:r>
              <a:rPr lang="en-US" altLang="zh-CN" baseline="-25000" dirty="0">
                <a:solidFill>
                  <a:prstClr val="black"/>
                </a:solidFill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prstClr val="black"/>
                </a:solidFill>
                <a:cs typeface="Times New Roman" panose="02020603050405020304" pitchFamily="18" charset="0"/>
              </a:rPr>
              <a:t>≤1; </a:t>
            </a:r>
            <a:r>
              <a:rPr lang="en-US" altLang="zh-CN" i="1" dirty="0">
                <a:solidFill>
                  <a:prstClr val="black"/>
                </a:solidFill>
                <a:cs typeface="Times New Roman" panose="02020603050405020304" pitchFamily="18" charset="0"/>
              </a:rPr>
              <a:t>x</a:t>
            </a:r>
            <a:r>
              <a:rPr lang="en-US" altLang="zh-CN" baseline="-25000" dirty="0">
                <a:solidFill>
                  <a:prstClr val="black"/>
                </a:solidFill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prstClr val="black"/>
                </a:solidFill>
                <a:cs typeface="Times New Roman" panose="02020603050405020304" pitchFamily="18" charset="0"/>
              </a:rPr>
              <a:t>≥0;</a:t>
            </a:r>
            <a:r>
              <a:rPr lang="en-US" altLang="zh-CN" i="1" dirty="0">
                <a:solidFill>
                  <a:prstClr val="black"/>
                </a:solidFill>
                <a:cs typeface="Times New Roman" panose="02020603050405020304" pitchFamily="18" charset="0"/>
              </a:rPr>
              <a:t>x</a:t>
            </a:r>
            <a:r>
              <a:rPr lang="en-US" altLang="zh-CN" baseline="-25000" dirty="0">
                <a:solidFill>
                  <a:prstClr val="black"/>
                </a:solidFill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prstClr val="black"/>
                </a:solidFill>
                <a:cs typeface="Times New Roman" panose="02020603050405020304" pitchFamily="18" charset="0"/>
              </a:rPr>
              <a:t>≥0}</a:t>
            </a:r>
          </a:p>
        </p:txBody>
      </p:sp>
      <p:grpSp>
        <p:nvGrpSpPr>
          <p:cNvPr id="17" name="Group 52"/>
          <p:cNvGrpSpPr/>
          <p:nvPr/>
        </p:nvGrpSpPr>
        <p:grpSpPr bwMode="auto">
          <a:xfrm>
            <a:off x="5952085" y="4421665"/>
            <a:ext cx="2819400" cy="1981200"/>
            <a:chOff x="1776" y="624"/>
            <a:chExt cx="1776" cy="1248"/>
          </a:xfrm>
        </p:grpSpPr>
        <p:grpSp>
          <p:nvGrpSpPr>
            <p:cNvPr id="18" name="Group 49"/>
            <p:cNvGrpSpPr/>
            <p:nvPr/>
          </p:nvGrpSpPr>
          <p:grpSpPr bwMode="auto">
            <a:xfrm>
              <a:off x="1776" y="624"/>
              <a:ext cx="1776" cy="1248"/>
              <a:chOff x="1776" y="624"/>
              <a:chExt cx="1776" cy="1248"/>
            </a:xfrm>
          </p:grpSpPr>
          <p:sp>
            <p:nvSpPr>
              <p:cNvPr id="21" name="Line 36"/>
              <p:cNvSpPr>
                <a:spLocks noChangeShapeType="1"/>
              </p:cNvSpPr>
              <p:nvPr/>
            </p:nvSpPr>
            <p:spPr bwMode="auto">
              <a:xfrm>
                <a:off x="2016" y="720"/>
                <a:ext cx="0" cy="1152"/>
              </a:xfrm>
              <a:prstGeom prst="line">
                <a:avLst/>
              </a:prstGeom>
              <a:noFill/>
              <a:ln w="22225">
                <a:solidFill>
                  <a:schemeClr val="folHlink"/>
                </a:solidFill>
                <a:round/>
                <a:head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22" name="Line 37"/>
              <p:cNvSpPr>
                <a:spLocks noChangeShapeType="1"/>
              </p:cNvSpPr>
              <p:nvPr/>
            </p:nvSpPr>
            <p:spPr bwMode="auto">
              <a:xfrm>
                <a:off x="2016" y="1632"/>
                <a:ext cx="1296" cy="0"/>
              </a:xfrm>
              <a:prstGeom prst="line">
                <a:avLst/>
              </a:prstGeom>
              <a:noFill/>
              <a:ln w="22225">
                <a:solidFill>
                  <a:schemeClr val="folHlink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23" name="Text Box 39"/>
              <p:cNvSpPr txBox="1">
                <a:spLocks noChangeArrowheads="1"/>
              </p:cNvSpPr>
              <p:nvPr/>
            </p:nvSpPr>
            <p:spPr bwMode="auto">
              <a:xfrm>
                <a:off x="3264" y="1440"/>
                <a:ext cx="288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2225">
                    <a:solidFill>
                      <a:schemeClr val="accent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i="1">
                    <a:solidFill>
                      <a:schemeClr val="folHlink"/>
                    </a:solidFill>
                  </a:rPr>
                  <a:t>x</a:t>
                </a:r>
                <a:r>
                  <a:rPr lang="en-US" altLang="zh-CN" baseline="-25000">
                    <a:solidFill>
                      <a:schemeClr val="folHlink"/>
                    </a:solidFill>
                  </a:rPr>
                  <a:t>1</a:t>
                </a:r>
              </a:p>
            </p:txBody>
          </p:sp>
          <p:sp>
            <p:nvSpPr>
              <p:cNvPr id="24" name="Text Box 40"/>
              <p:cNvSpPr txBox="1">
                <a:spLocks noChangeArrowheads="1"/>
              </p:cNvSpPr>
              <p:nvPr/>
            </p:nvSpPr>
            <p:spPr bwMode="auto">
              <a:xfrm>
                <a:off x="1776" y="624"/>
                <a:ext cx="288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2225">
                    <a:solidFill>
                      <a:schemeClr val="accent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i="1" dirty="0">
                    <a:solidFill>
                      <a:schemeClr val="folHlink"/>
                    </a:solidFill>
                  </a:rPr>
                  <a:t>x</a:t>
                </a:r>
                <a:r>
                  <a:rPr lang="en-US" altLang="zh-CN" baseline="-25000" dirty="0">
                    <a:solidFill>
                      <a:schemeClr val="folHlink"/>
                    </a:solidFill>
                  </a:rPr>
                  <a:t>2</a:t>
                </a:r>
              </a:p>
            </p:txBody>
          </p:sp>
          <p:sp>
            <p:nvSpPr>
              <p:cNvPr id="25" name="Line 41"/>
              <p:cNvSpPr>
                <a:spLocks noChangeShapeType="1"/>
              </p:cNvSpPr>
              <p:nvPr/>
            </p:nvSpPr>
            <p:spPr bwMode="auto">
              <a:xfrm>
                <a:off x="2352" y="1584"/>
                <a:ext cx="0" cy="48"/>
              </a:xfrm>
              <a:prstGeom prst="line">
                <a:avLst/>
              </a:prstGeom>
              <a:noFill/>
              <a:ln w="22225">
                <a:solidFill>
                  <a:schemeClr val="accent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26" name="Line 42"/>
              <p:cNvSpPr>
                <a:spLocks noChangeShapeType="1"/>
              </p:cNvSpPr>
              <p:nvPr/>
            </p:nvSpPr>
            <p:spPr bwMode="auto">
              <a:xfrm>
                <a:off x="2688" y="1584"/>
                <a:ext cx="0" cy="48"/>
              </a:xfrm>
              <a:prstGeom prst="line">
                <a:avLst/>
              </a:prstGeom>
              <a:noFill/>
              <a:ln w="22225">
                <a:solidFill>
                  <a:schemeClr val="accent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27" name="Line 43"/>
              <p:cNvSpPr>
                <a:spLocks noChangeShapeType="1"/>
              </p:cNvSpPr>
              <p:nvPr/>
            </p:nvSpPr>
            <p:spPr bwMode="auto">
              <a:xfrm>
                <a:off x="2016" y="1344"/>
                <a:ext cx="48" cy="0"/>
              </a:xfrm>
              <a:prstGeom prst="line">
                <a:avLst/>
              </a:prstGeom>
              <a:noFill/>
              <a:ln w="22225">
                <a:solidFill>
                  <a:schemeClr val="accent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28" name="Line 45"/>
              <p:cNvSpPr>
                <a:spLocks noChangeShapeType="1"/>
              </p:cNvSpPr>
              <p:nvPr/>
            </p:nvSpPr>
            <p:spPr bwMode="auto">
              <a:xfrm>
                <a:off x="2016" y="1008"/>
                <a:ext cx="48" cy="0"/>
              </a:xfrm>
              <a:prstGeom prst="line">
                <a:avLst/>
              </a:prstGeom>
              <a:noFill/>
              <a:ln w="22225">
                <a:solidFill>
                  <a:schemeClr val="accent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29" name="Line 47"/>
              <p:cNvSpPr>
                <a:spLocks noChangeShapeType="1"/>
              </p:cNvSpPr>
              <p:nvPr/>
            </p:nvSpPr>
            <p:spPr bwMode="auto">
              <a:xfrm>
                <a:off x="1776" y="768"/>
                <a:ext cx="1104" cy="1008"/>
              </a:xfrm>
              <a:prstGeom prst="line">
                <a:avLst/>
              </a:prstGeom>
              <a:noFill/>
              <a:ln w="22225">
                <a:solidFill>
                  <a:schemeClr val="accent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0" name="Line 48"/>
              <p:cNvSpPr>
                <a:spLocks noChangeShapeType="1"/>
              </p:cNvSpPr>
              <p:nvPr/>
            </p:nvSpPr>
            <p:spPr bwMode="auto">
              <a:xfrm flipV="1">
                <a:off x="2016" y="1248"/>
                <a:ext cx="864" cy="624"/>
              </a:xfrm>
              <a:prstGeom prst="line">
                <a:avLst/>
              </a:prstGeom>
              <a:noFill/>
              <a:ln w="22225">
                <a:solidFill>
                  <a:schemeClr val="accent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sp>
          <p:nvSpPr>
            <p:cNvPr id="19" name="Text Box 50"/>
            <p:cNvSpPr txBox="1">
              <a:spLocks noChangeArrowheads="1"/>
            </p:cNvSpPr>
            <p:nvPr/>
          </p:nvSpPr>
          <p:spPr bwMode="auto">
            <a:xfrm>
              <a:off x="2016" y="768"/>
              <a:ext cx="62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i="1" dirty="0"/>
                <a:t>x</a:t>
              </a:r>
              <a:r>
                <a:rPr lang="en-US" altLang="zh-CN" sz="2000" baseline="-25000" dirty="0"/>
                <a:t>1</a:t>
              </a:r>
              <a:r>
                <a:rPr lang="en-US" altLang="zh-CN" sz="2000" dirty="0"/>
                <a:t>+</a:t>
              </a:r>
              <a:r>
                <a:rPr lang="en-US" altLang="zh-CN" sz="2000" i="1" dirty="0"/>
                <a:t>x</a:t>
              </a:r>
              <a:r>
                <a:rPr lang="en-US" altLang="zh-CN" sz="2000" baseline="-25000" dirty="0"/>
                <a:t>2</a:t>
              </a:r>
              <a:r>
                <a:rPr lang="en-US" altLang="zh-CN" sz="2000" dirty="0"/>
                <a:t>=2</a:t>
              </a:r>
            </a:p>
          </p:txBody>
        </p:sp>
        <p:sp>
          <p:nvSpPr>
            <p:cNvPr id="20" name="Text Box 51"/>
            <p:cNvSpPr txBox="1">
              <a:spLocks noChangeArrowheads="1"/>
            </p:cNvSpPr>
            <p:nvPr/>
          </p:nvSpPr>
          <p:spPr bwMode="auto">
            <a:xfrm>
              <a:off x="2736" y="1248"/>
              <a:ext cx="62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i="1"/>
                <a:t>x</a:t>
              </a:r>
              <a:r>
                <a:rPr lang="en-US" altLang="zh-CN" sz="2000" baseline="-25000"/>
                <a:t>1</a:t>
              </a:r>
              <a:r>
                <a:rPr lang="en-US" altLang="zh-CN" sz="2000"/>
                <a:t>-</a:t>
              </a:r>
              <a:r>
                <a:rPr lang="en-US" altLang="zh-CN" sz="2000" i="1"/>
                <a:t>x</a:t>
              </a:r>
              <a:r>
                <a:rPr lang="en-US" altLang="zh-CN" sz="2000" baseline="-25000"/>
                <a:t>2</a:t>
              </a:r>
              <a:r>
                <a:rPr lang="en-US" altLang="zh-CN" sz="2000"/>
                <a:t>=1</a:t>
              </a:r>
            </a:p>
          </p:txBody>
        </p:sp>
      </p:grp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9907E-1B8E-40DA-9244-C95211776F8F}" type="datetime1">
              <a:rPr lang="en-US" altLang="zh-CN" smtClean="0"/>
              <a:pPr/>
              <a:t>3/31/2025</a:t>
            </a:fld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16274" y="18288"/>
            <a:ext cx="1066800" cy="329184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31" name="页脚占位符 2">
            <a:extLst>
              <a:ext uri="{FF2B5EF4-FFF2-40B4-BE49-F238E27FC236}">
                <a16:creationId xmlns:a16="http://schemas.microsoft.com/office/drawing/2014/main" id="{0F62822A-1514-4EA2-90DA-4CC84C8B5D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8905" y="19050"/>
            <a:ext cx="4831731" cy="328613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交通大数据</a:t>
            </a: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· </a:t>
            </a: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东南大学 刘志远教授</a:t>
            </a:r>
            <a:endParaRPr kumimoji="0" lang="en-US" altLang="zh-CN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0520" y="1024208"/>
            <a:ext cx="8229600" cy="4876800"/>
          </a:xfrm>
        </p:spPr>
        <p:txBody>
          <a:bodyPr/>
          <a:lstStyle/>
          <a:p>
            <a:pPr marL="0" lvl="0" indent="0">
              <a:spcBef>
                <a:spcPct val="50000"/>
              </a:spcBef>
              <a:buClrTx/>
              <a:buSzPct val="60000"/>
              <a:buNone/>
            </a:pPr>
            <a:endParaRPr lang="en-US" altLang="zh-CN" b="1" kern="0" dirty="0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78503" y="1128242"/>
            <a:ext cx="64042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例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9" name="Text Box 31"/>
          <p:cNvSpPr txBox="1">
            <a:spLocks noChangeArrowheads="1"/>
          </p:cNvSpPr>
          <p:nvPr/>
        </p:nvSpPr>
        <p:spPr bwMode="auto">
          <a:xfrm>
            <a:off x="377193" y="1679190"/>
            <a:ext cx="426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defTabSz="914400"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el-GR" altLang="zh-CN" dirty="0">
                <a:solidFill>
                  <a:prstClr val="black"/>
                </a:solidFill>
                <a:cs typeface="Times New Roman" panose="02020603050405020304" pitchFamily="18" charset="0"/>
              </a:rPr>
              <a:t>Ω</a:t>
            </a:r>
            <a:r>
              <a:rPr lang="en-US" altLang="zh-CN" baseline="-25000" dirty="0">
                <a:solidFill>
                  <a:prstClr val="black"/>
                </a:solidFill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prstClr val="black"/>
                </a:solidFill>
                <a:cs typeface="Times New Roman" panose="02020603050405020304" pitchFamily="18" charset="0"/>
              </a:rPr>
              <a:t>={(</a:t>
            </a:r>
            <a:r>
              <a:rPr lang="en-US" altLang="zh-CN" i="1" dirty="0">
                <a:solidFill>
                  <a:prstClr val="black"/>
                </a:solidFill>
                <a:cs typeface="Times New Roman" panose="02020603050405020304" pitchFamily="18" charset="0"/>
              </a:rPr>
              <a:t>x</a:t>
            </a:r>
            <a:r>
              <a:rPr lang="en-US" altLang="zh-CN" baseline="-25000" dirty="0">
                <a:solidFill>
                  <a:prstClr val="black"/>
                </a:solidFill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prstClr val="black"/>
                </a:solidFill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prstClr val="black"/>
                </a:solidFill>
                <a:cs typeface="Times New Roman" panose="02020603050405020304" pitchFamily="18" charset="0"/>
              </a:rPr>
              <a:t>x</a:t>
            </a:r>
            <a:r>
              <a:rPr lang="en-US" altLang="zh-CN" baseline="-25000" dirty="0">
                <a:solidFill>
                  <a:prstClr val="black"/>
                </a:solidFill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prstClr val="black"/>
                </a:solidFill>
                <a:cs typeface="Times New Roman" panose="02020603050405020304" pitchFamily="18" charset="0"/>
              </a:rPr>
              <a:t>)| (</a:t>
            </a:r>
            <a:r>
              <a:rPr lang="en-US" altLang="zh-CN" i="1" dirty="0">
                <a:solidFill>
                  <a:prstClr val="black"/>
                </a:solidFill>
                <a:cs typeface="Times New Roman" panose="02020603050405020304" pitchFamily="18" charset="0"/>
              </a:rPr>
              <a:t>x</a:t>
            </a:r>
            <a:r>
              <a:rPr lang="en-US" altLang="zh-CN" baseline="-25000" dirty="0">
                <a:solidFill>
                  <a:prstClr val="black"/>
                </a:solidFill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prstClr val="black"/>
                </a:solidFill>
                <a:cs typeface="Times New Roman" panose="02020603050405020304" pitchFamily="18" charset="0"/>
              </a:rPr>
              <a:t>-1)</a:t>
            </a:r>
            <a:r>
              <a:rPr lang="en-US" altLang="zh-CN" baseline="30000" dirty="0">
                <a:solidFill>
                  <a:prstClr val="black"/>
                </a:solidFill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prstClr val="black"/>
                </a:solidFill>
                <a:cs typeface="Times New Roman" panose="02020603050405020304" pitchFamily="18" charset="0"/>
              </a:rPr>
              <a:t>+(</a:t>
            </a:r>
            <a:r>
              <a:rPr lang="en-US" altLang="zh-CN" i="1" dirty="0">
                <a:solidFill>
                  <a:prstClr val="black"/>
                </a:solidFill>
                <a:cs typeface="Times New Roman" panose="02020603050405020304" pitchFamily="18" charset="0"/>
              </a:rPr>
              <a:t>x</a:t>
            </a:r>
            <a:r>
              <a:rPr lang="en-US" altLang="zh-CN" baseline="-25000" dirty="0">
                <a:solidFill>
                  <a:prstClr val="black"/>
                </a:solidFill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prstClr val="black"/>
                </a:solidFill>
                <a:cs typeface="Times New Roman" panose="02020603050405020304" pitchFamily="18" charset="0"/>
              </a:rPr>
              <a:t>-1)</a:t>
            </a:r>
            <a:r>
              <a:rPr lang="en-US" altLang="zh-CN" baseline="30000" dirty="0">
                <a:solidFill>
                  <a:prstClr val="black"/>
                </a:solidFill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prstClr val="black"/>
                </a:solidFill>
                <a:cs typeface="Times New Roman" panose="02020603050405020304" pitchFamily="18" charset="0"/>
              </a:rPr>
              <a:t>≤1}</a:t>
            </a:r>
          </a:p>
        </p:txBody>
      </p:sp>
      <p:sp>
        <p:nvSpPr>
          <p:cNvPr id="10" name="Text Box 126"/>
          <p:cNvSpPr txBox="1">
            <a:spLocks noChangeArrowheads="1"/>
          </p:cNvSpPr>
          <p:nvPr/>
        </p:nvSpPr>
        <p:spPr bwMode="auto">
          <a:xfrm>
            <a:off x="180204" y="4283855"/>
            <a:ext cx="594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defTabSz="914400"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el-GR" altLang="zh-CN" dirty="0">
                <a:solidFill>
                  <a:prstClr val="black"/>
                </a:solidFill>
                <a:cs typeface="Times New Roman" panose="02020603050405020304" pitchFamily="18" charset="0"/>
              </a:rPr>
              <a:t>Ω</a:t>
            </a:r>
            <a:r>
              <a:rPr lang="en-US" altLang="zh-CN" baseline="-25000" dirty="0">
                <a:solidFill>
                  <a:prstClr val="black"/>
                </a:solidFill>
                <a:cs typeface="Times New Roman" panose="02020603050405020304" pitchFamily="18" charset="0"/>
              </a:rPr>
              <a:t>3</a:t>
            </a:r>
            <a:r>
              <a:rPr lang="en-US" altLang="zh-CN" dirty="0">
                <a:solidFill>
                  <a:prstClr val="black"/>
                </a:solidFill>
                <a:cs typeface="Times New Roman" panose="02020603050405020304" pitchFamily="18" charset="0"/>
              </a:rPr>
              <a:t>={(</a:t>
            </a:r>
            <a:r>
              <a:rPr lang="en-US" altLang="zh-CN" i="1" dirty="0">
                <a:solidFill>
                  <a:prstClr val="black"/>
                </a:solidFill>
                <a:cs typeface="Times New Roman" panose="02020603050405020304" pitchFamily="18" charset="0"/>
              </a:rPr>
              <a:t>x</a:t>
            </a:r>
            <a:r>
              <a:rPr lang="en-US" altLang="zh-CN" baseline="-25000" dirty="0">
                <a:solidFill>
                  <a:prstClr val="black"/>
                </a:solidFill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prstClr val="black"/>
                </a:solidFill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prstClr val="black"/>
                </a:solidFill>
                <a:cs typeface="Times New Roman" panose="02020603050405020304" pitchFamily="18" charset="0"/>
              </a:rPr>
              <a:t>x</a:t>
            </a:r>
            <a:r>
              <a:rPr lang="en-US" altLang="zh-CN" baseline="-25000" dirty="0">
                <a:solidFill>
                  <a:prstClr val="black"/>
                </a:solidFill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prstClr val="black"/>
                </a:solidFill>
                <a:cs typeface="Times New Roman" panose="02020603050405020304" pitchFamily="18" charset="0"/>
              </a:rPr>
              <a:t>)| </a:t>
            </a:r>
            <a:r>
              <a:rPr lang="en-US" altLang="zh-CN" i="1" dirty="0">
                <a:solidFill>
                  <a:prstClr val="black"/>
                </a:solidFill>
                <a:cs typeface="Times New Roman" panose="02020603050405020304" pitchFamily="18" charset="0"/>
              </a:rPr>
              <a:t>x</a:t>
            </a:r>
            <a:r>
              <a:rPr lang="en-US" altLang="zh-CN" baseline="-25000" dirty="0">
                <a:solidFill>
                  <a:prstClr val="black"/>
                </a:solidFill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prstClr val="black"/>
                </a:solidFill>
                <a:cs typeface="Times New Roman" panose="02020603050405020304" pitchFamily="18" charset="0"/>
              </a:rPr>
              <a:t>+</a:t>
            </a:r>
            <a:r>
              <a:rPr lang="en-US" altLang="zh-CN" i="1" dirty="0">
                <a:solidFill>
                  <a:prstClr val="black"/>
                </a:solidFill>
                <a:cs typeface="Times New Roman" panose="02020603050405020304" pitchFamily="18" charset="0"/>
              </a:rPr>
              <a:t>x</a:t>
            </a:r>
            <a:r>
              <a:rPr lang="en-US" altLang="zh-CN" baseline="-25000" dirty="0">
                <a:solidFill>
                  <a:prstClr val="black"/>
                </a:solidFill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prstClr val="black"/>
                </a:solidFill>
                <a:cs typeface="Times New Roman" panose="02020603050405020304" pitchFamily="18" charset="0"/>
              </a:rPr>
              <a:t>≤3;</a:t>
            </a:r>
            <a:r>
              <a:rPr lang="en-US" altLang="zh-CN" i="1" dirty="0">
                <a:solidFill>
                  <a:prstClr val="black"/>
                </a:solidFill>
                <a:cs typeface="Times New Roman" panose="02020603050405020304" pitchFamily="18" charset="0"/>
              </a:rPr>
              <a:t> g</a:t>
            </a:r>
            <a:r>
              <a:rPr lang="en-US" altLang="zh-CN" dirty="0">
                <a:solidFill>
                  <a:prstClr val="black"/>
                </a:solidFill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prstClr val="black"/>
                </a:solidFill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prstClr val="black"/>
                </a:solidFill>
                <a:cs typeface="Times New Roman" panose="02020603050405020304" pitchFamily="18" charset="0"/>
              </a:rPr>
              <a:t>)&lt;=0;</a:t>
            </a:r>
            <a:r>
              <a:rPr lang="en-US" altLang="zh-CN" i="1" dirty="0">
                <a:solidFill>
                  <a:prstClr val="black"/>
                </a:solidFill>
                <a:cs typeface="Times New Roman" panose="02020603050405020304" pitchFamily="18" charset="0"/>
              </a:rPr>
              <a:t>x</a:t>
            </a:r>
            <a:r>
              <a:rPr lang="en-US" altLang="zh-CN" baseline="-25000" dirty="0">
                <a:solidFill>
                  <a:prstClr val="black"/>
                </a:solidFill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prstClr val="black"/>
                </a:solidFill>
                <a:cs typeface="Times New Roman" panose="02020603050405020304" pitchFamily="18" charset="0"/>
              </a:rPr>
              <a:t>≥0;</a:t>
            </a:r>
            <a:r>
              <a:rPr lang="en-US" altLang="zh-CN" i="1" dirty="0">
                <a:solidFill>
                  <a:prstClr val="black"/>
                </a:solidFill>
                <a:cs typeface="Times New Roman" panose="02020603050405020304" pitchFamily="18" charset="0"/>
              </a:rPr>
              <a:t>x</a:t>
            </a:r>
            <a:r>
              <a:rPr lang="en-US" altLang="zh-CN" baseline="-25000" dirty="0">
                <a:solidFill>
                  <a:prstClr val="black"/>
                </a:solidFill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prstClr val="black"/>
                </a:solidFill>
                <a:cs typeface="Times New Roman" panose="02020603050405020304" pitchFamily="18" charset="0"/>
              </a:rPr>
              <a:t>≥0}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382679" y="4907648"/>
            <a:ext cx="64042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其中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graphicFrame>
        <p:nvGraphicFramePr>
          <p:cNvPr id="12" name="Object 128"/>
          <p:cNvGraphicFramePr>
            <a:graphicFrameLocks noChangeAspect="1"/>
          </p:cNvGraphicFramePr>
          <p:nvPr/>
        </p:nvGraphicFramePr>
        <p:xfrm>
          <a:off x="907721" y="5212335"/>
          <a:ext cx="33147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17" name="Equation" r:id="rId3" imgW="3314700" imgH="825500" progId="Equation.DSMT4">
                  <p:embed/>
                </p:oleObj>
              </mc:Choice>
              <mc:Fallback>
                <p:oleObj name="Equation" r:id="rId3" imgW="3314700" imgH="825500" progId="Equation.DSMT4">
                  <p:embed/>
                  <p:pic>
                    <p:nvPicPr>
                      <p:cNvPr id="0" name="Picture 16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7721" y="5212335"/>
                        <a:ext cx="3314700" cy="825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7" name="Group 125"/>
          <p:cNvGrpSpPr/>
          <p:nvPr/>
        </p:nvGrpSpPr>
        <p:grpSpPr bwMode="auto">
          <a:xfrm>
            <a:off x="5927895" y="1412946"/>
            <a:ext cx="2971800" cy="1981200"/>
            <a:chOff x="3792" y="672"/>
            <a:chExt cx="1872" cy="1248"/>
          </a:xfrm>
        </p:grpSpPr>
        <p:grpSp>
          <p:nvGrpSpPr>
            <p:cNvPr id="28" name="Group 123"/>
            <p:cNvGrpSpPr/>
            <p:nvPr/>
          </p:nvGrpSpPr>
          <p:grpSpPr bwMode="auto">
            <a:xfrm>
              <a:off x="3792" y="672"/>
              <a:ext cx="1872" cy="1248"/>
              <a:chOff x="3792" y="672"/>
              <a:chExt cx="1872" cy="1248"/>
            </a:xfrm>
          </p:grpSpPr>
          <p:sp>
            <p:nvSpPr>
              <p:cNvPr id="30" name="Line 80"/>
              <p:cNvSpPr>
                <a:spLocks noChangeShapeType="1"/>
              </p:cNvSpPr>
              <p:nvPr/>
            </p:nvSpPr>
            <p:spPr bwMode="auto">
              <a:xfrm>
                <a:off x="4032" y="768"/>
                <a:ext cx="0" cy="1152"/>
              </a:xfrm>
              <a:prstGeom prst="line">
                <a:avLst/>
              </a:prstGeom>
              <a:noFill/>
              <a:ln w="22225">
                <a:solidFill>
                  <a:schemeClr val="folHlink"/>
                </a:solidFill>
                <a:round/>
                <a:head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1" name="Line 81"/>
              <p:cNvSpPr>
                <a:spLocks noChangeShapeType="1"/>
              </p:cNvSpPr>
              <p:nvPr/>
            </p:nvSpPr>
            <p:spPr bwMode="auto">
              <a:xfrm>
                <a:off x="4032" y="1680"/>
                <a:ext cx="1296" cy="0"/>
              </a:xfrm>
              <a:prstGeom prst="line">
                <a:avLst/>
              </a:prstGeom>
              <a:noFill/>
              <a:ln w="22225">
                <a:solidFill>
                  <a:schemeClr val="folHlink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2" name="Text Box 82"/>
              <p:cNvSpPr txBox="1">
                <a:spLocks noChangeArrowheads="1"/>
              </p:cNvSpPr>
              <p:nvPr/>
            </p:nvSpPr>
            <p:spPr bwMode="auto">
              <a:xfrm>
                <a:off x="5280" y="1488"/>
                <a:ext cx="288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2225">
                    <a:solidFill>
                      <a:schemeClr val="accent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i="1">
                    <a:solidFill>
                      <a:schemeClr val="folHlink"/>
                    </a:solidFill>
                  </a:rPr>
                  <a:t>x</a:t>
                </a:r>
                <a:r>
                  <a:rPr lang="en-US" altLang="zh-CN" baseline="-25000">
                    <a:solidFill>
                      <a:schemeClr val="folHlink"/>
                    </a:solidFill>
                  </a:rPr>
                  <a:t>1</a:t>
                </a:r>
              </a:p>
            </p:txBody>
          </p:sp>
          <p:sp>
            <p:nvSpPr>
              <p:cNvPr id="33" name="Text Box 83"/>
              <p:cNvSpPr txBox="1">
                <a:spLocks noChangeArrowheads="1"/>
              </p:cNvSpPr>
              <p:nvPr/>
            </p:nvSpPr>
            <p:spPr bwMode="auto">
              <a:xfrm>
                <a:off x="3792" y="672"/>
                <a:ext cx="288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2225">
                    <a:solidFill>
                      <a:schemeClr val="accent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i="1">
                    <a:solidFill>
                      <a:schemeClr val="folHlink"/>
                    </a:solidFill>
                  </a:rPr>
                  <a:t>x</a:t>
                </a:r>
                <a:r>
                  <a:rPr lang="en-US" altLang="zh-CN" baseline="-25000">
                    <a:solidFill>
                      <a:schemeClr val="folHlink"/>
                    </a:solidFill>
                  </a:rPr>
                  <a:t>2</a:t>
                </a:r>
              </a:p>
            </p:txBody>
          </p:sp>
          <p:sp>
            <p:nvSpPr>
              <p:cNvPr id="34" name="Line 84"/>
              <p:cNvSpPr>
                <a:spLocks noChangeShapeType="1"/>
              </p:cNvSpPr>
              <p:nvPr/>
            </p:nvSpPr>
            <p:spPr bwMode="auto">
              <a:xfrm>
                <a:off x="4368" y="1632"/>
                <a:ext cx="0" cy="48"/>
              </a:xfrm>
              <a:prstGeom prst="line">
                <a:avLst/>
              </a:prstGeom>
              <a:noFill/>
              <a:ln w="22225">
                <a:solidFill>
                  <a:schemeClr val="accent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5" name="Line 85"/>
              <p:cNvSpPr>
                <a:spLocks noChangeShapeType="1"/>
              </p:cNvSpPr>
              <p:nvPr/>
            </p:nvSpPr>
            <p:spPr bwMode="auto">
              <a:xfrm>
                <a:off x="4704" y="1632"/>
                <a:ext cx="0" cy="48"/>
              </a:xfrm>
              <a:prstGeom prst="line">
                <a:avLst/>
              </a:prstGeom>
              <a:noFill/>
              <a:ln w="22225">
                <a:solidFill>
                  <a:schemeClr val="accent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6" name="Line 86"/>
              <p:cNvSpPr>
                <a:spLocks noChangeShapeType="1"/>
              </p:cNvSpPr>
              <p:nvPr/>
            </p:nvSpPr>
            <p:spPr bwMode="auto">
              <a:xfrm>
                <a:off x="4032" y="1392"/>
                <a:ext cx="48" cy="0"/>
              </a:xfrm>
              <a:prstGeom prst="line">
                <a:avLst/>
              </a:prstGeom>
              <a:noFill/>
              <a:ln w="22225">
                <a:solidFill>
                  <a:schemeClr val="accent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7" name="Line 87"/>
              <p:cNvSpPr>
                <a:spLocks noChangeShapeType="1"/>
              </p:cNvSpPr>
              <p:nvPr/>
            </p:nvSpPr>
            <p:spPr bwMode="auto">
              <a:xfrm>
                <a:off x="4032" y="1056"/>
                <a:ext cx="48" cy="0"/>
              </a:xfrm>
              <a:prstGeom prst="line">
                <a:avLst/>
              </a:prstGeom>
              <a:noFill/>
              <a:ln w="22225">
                <a:solidFill>
                  <a:schemeClr val="accent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8" name="Oval 98"/>
              <p:cNvSpPr>
                <a:spLocks noChangeArrowheads="1"/>
              </p:cNvSpPr>
              <p:nvPr/>
            </p:nvSpPr>
            <p:spPr bwMode="auto">
              <a:xfrm>
                <a:off x="4032" y="1104"/>
                <a:ext cx="576" cy="576"/>
              </a:xfrm>
              <a:prstGeom prst="ellipse">
                <a:avLst/>
              </a:prstGeom>
              <a:noFill/>
              <a:ln w="22225">
                <a:solidFill>
                  <a:srgbClr val="FF66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en-US" altLang="zh-CN"/>
              </a:p>
            </p:txBody>
          </p:sp>
          <p:sp>
            <p:nvSpPr>
              <p:cNvPr id="39" name="Text Box 122"/>
              <p:cNvSpPr txBox="1">
                <a:spLocks noChangeArrowheads="1"/>
              </p:cNvSpPr>
              <p:nvPr/>
            </p:nvSpPr>
            <p:spPr bwMode="auto">
              <a:xfrm>
                <a:off x="4176" y="816"/>
                <a:ext cx="1488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2225">
                    <a:solidFill>
                      <a:schemeClr val="accent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dirty="0"/>
                  <a:t>(</a:t>
                </a:r>
                <a:r>
                  <a:rPr lang="en-US" altLang="zh-CN" i="1" dirty="0"/>
                  <a:t>x</a:t>
                </a:r>
                <a:r>
                  <a:rPr lang="en-US" altLang="zh-CN" baseline="-25000" dirty="0"/>
                  <a:t>1</a:t>
                </a:r>
                <a:r>
                  <a:rPr lang="en-US" altLang="zh-CN" dirty="0"/>
                  <a:t>-1)</a:t>
                </a:r>
                <a:r>
                  <a:rPr lang="en-US" altLang="zh-CN" baseline="30000" dirty="0"/>
                  <a:t>2</a:t>
                </a:r>
                <a:r>
                  <a:rPr lang="en-US" altLang="zh-CN" dirty="0"/>
                  <a:t>+(</a:t>
                </a:r>
                <a:r>
                  <a:rPr lang="en-US" altLang="zh-CN" i="1" dirty="0"/>
                  <a:t>x</a:t>
                </a:r>
                <a:r>
                  <a:rPr lang="en-US" altLang="zh-CN" baseline="-25000" dirty="0"/>
                  <a:t>2</a:t>
                </a:r>
                <a:r>
                  <a:rPr lang="en-US" altLang="zh-CN" dirty="0"/>
                  <a:t>-1)</a:t>
                </a:r>
                <a:r>
                  <a:rPr lang="en-US" altLang="zh-CN" baseline="30000" dirty="0"/>
                  <a:t>2</a:t>
                </a:r>
                <a:r>
                  <a:rPr lang="en-US" altLang="zh-CN" dirty="0"/>
                  <a:t>=1</a:t>
                </a:r>
              </a:p>
            </p:txBody>
          </p:sp>
        </p:grpSp>
        <p:sp>
          <p:nvSpPr>
            <p:cNvPr id="29" name="Text Box 124"/>
            <p:cNvSpPr txBox="1">
              <a:spLocks noChangeArrowheads="1"/>
            </p:cNvSpPr>
            <p:nvPr/>
          </p:nvSpPr>
          <p:spPr bwMode="auto">
            <a:xfrm>
              <a:off x="4656" y="1248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FF66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l-GR" altLang="zh-CN">
                  <a:cs typeface="Times New Roman" panose="02020603050405020304" pitchFamily="18" charset="0"/>
                </a:rPr>
                <a:t>Ω</a:t>
              </a:r>
              <a:r>
                <a:rPr lang="en-US" altLang="zh-CN" baseline="-25000">
                  <a:cs typeface="Times New Roman" panose="02020603050405020304" pitchFamily="18" charset="0"/>
                </a:rPr>
                <a:t>2</a:t>
              </a:r>
              <a:endParaRPr lang="el-GR" altLang="zh-CN" baseline="-25000">
                <a:cs typeface="Times New Roman" panose="02020603050405020304" pitchFamily="18" charset="0"/>
              </a:endParaRPr>
            </a:p>
          </p:txBody>
        </p:sp>
      </p:grpSp>
      <p:grpSp>
        <p:nvGrpSpPr>
          <p:cNvPr id="40" name="Group 161"/>
          <p:cNvGrpSpPr/>
          <p:nvPr/>
        </p:nvGrpSpPr>
        <p:grpSpPr bwMode="auto">
          <a:xfrm>
            <a:off x="6190885" y="4034108"/>
            <a:ext cx="2590800" cy="2438400"/>
            <a:chOff x="3984" y="2160"/>
            <a:chExt cx="1632" cy="1536"/>
          </a:xfrm>
        </p:grpSpPr>
        <p:sp>
          <p:nvSpPr>
            <p:cNvPr id="41" name="Line 138"/>
            <p:cNvSpPr>
              <a:spLocks noChangeShapeType="1"/>
            </p:cNvSpPr>
            <p:nvPr/>
          </p:nvSpPr>
          <p:spPr bwMode="auto">
            <a:xfrm>
              <a:off x="4080" y="2208"/>
              <a:ext cx="0" cy="1488"/>
            </a:xfrm>
            <a:prstGeom prst="line">
              <a:avLst/>
            </a:prstGeom>
            <a:noFill/>
            <a:ln w="22225">
              <a:solidFill>
                <a:schemeClr val="folHlink"/>
              </a:solidFill>
              <a:round/>
              <a:head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2" name="Line 139"/>
            <p:cNvSpPr>
              <a:spLocks noChangeShapeType="1"/>
            </p:cNvSpPr>
            <p:nvPr/>
          </p:nvSpPr>
          <p:spPr bwMode="auto">
            <a:xfrm>
              <a:off x="4080" y="3456"/>
              <a:ext cx="1296" cy="0"/>
            </a:xfrm>
            <a:prstGeom prst="line">
              <a:avLst/>
            </a:prstGeom>
            <a:noFill/>
            <a:ln w="22225">
              <a:solidFill>
                <a:schemeClr val="folHlink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3" name="Text Box 140"/>
            <p:cNvSpPr txBox="1">
              <a:spLocks noChangeArrowheads="1"/>
            </p:cNvSpPr>
            <p:nvPr/>
          </p:nvSpPr>
          <p:spPr bwMode="auto">
            <a:xfrm>
              <a:off x="5328" y="3264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i="1">
                  <a:solidFill>
                    <a:schemeClr val="folHlink"/>
                  </a:solidFill>
                </a:rPr>
                <a:t>x</a:t>
              </a:r>
              <a:r>
                <a:rPr lang="en-US" altLang="zh-CN" baseline="-25000">
                  <a:solidFill>
                    <a:schemeClr val="folHlink"/>
                  </a:solidFill>
                </a:rPr>
                <a:t>1</a:t>
              </a:r>
            </a:p>
          </p:txBody>
        </p:sp>
        <p:sp>
          <p:nvSpPr>
            <p:cNvPr id="44" name="Text Box 141"/>
            <p:cNvSpPr txBox="1">
              <a:spLocks noChangeArrowheads="1"/>
            </p:cNvSpPr>
            <p:nvPr/>
          </p:nvSpPr>
          <p:spPr bwMode="auto">
            <a:xfrm>
              <a:off x="4128" y="216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i="1" dirty="0">
                  <a:solidFill>
                    <a:schemeClr val="folHlink"/>
                  </a:solidFill>
                </a:rPr>
                <a:t>x</a:t>
              </a:r>
              <a:r>
                <a:rPr lang="en-US" altLang="zh-CN" baseline="-25000" dirty="0">
                  <a:solidFill>
                    <a:schemeClr val="folHlink"/>
                  </a:solidFill>
                </a:rPr>
                <a:t>2</a:t>
              </a:r>
            </a:p>
          </p:txBody>
        </p:sp>
        <p:sp>
          <p:nvSpPr>
            <p:cNvPr id="45" name="Line 142"/>
            <p:cNvSpPr>
              <a:spLocks noChangeShapeType="1"/>
            </p:cNvSpPr>
            <p:nvPr/>
          </p:nvSpPr>
          <p:spPr bwMode="auto">
            <a:xfrm>
              <a:off x="4416" y="3408"/>
              <a:ext cx="0" cy="48"/>
            </a:xfrm>
            <a:prstGeom prst="line">
              <a:avLst/>
            </a:prstGeom>
            <a:noFill/>
            <a:ln w="22225">
              <a:solidFill>
                <a:schemeClr val="accent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6" name="Line 143"/>
            <p:cNvSpPr>
              <a:spLocks noChangeShapeType="1"/>
            </p:cNvSpPr>
            <p:nvPr/>
          </p:nvSpPr>
          <p:spPr bwMode="auto">
            <a:xfrm>
              <a:off x="4752" y="3408"/>
              <a:ext cx="0" cy="48"/>
            </a:xfrm>
            <a:prstGeom prst="line">
              <a:avLst/>
            </a:prstGeom>
            <a:noFill/>
            <a:ln w="22225">
              <a:solidFill>
                <a:schemeClr val="accent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7" name="Line 144"/>
            <p:cNvSpPr>
              <a:spLocks noChangeShapeType="1"/>
            </p:cNvSpPr>
            <p:nvPr/>
          </p:nvSpPr>
          <p:spPr bwMode="auto">
            <a:xfrm>
              <a:off x="4080" y="3168"/>
              <a:ext cx="48" cy="0"/>
            </a:xfrm>
            <a:prstGeom prst="line">
              <a:avLst/>
            </a:prstGeom>
            <a:noFill/>
            <a:ln w="22225">
              <a:solidFill>
                <a:schemeClr val="accent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8" name="Line 145"/>
            <p:cNvSpPr>
              <a:spLocks noChangeShapeType="1"/>
            </p:cNvSpPr>
            <p:nvPr/>
          </p:nvSpPr>
          <p:spPr bwMode="auto">
            <a:xfrm>
              <a:off x="4080" y="2832"/>
              <a:ext cx="48" cy="0"/>
            </a:xfrm>
            <a:prstGeom prst="line">
              <a:avLst/>
            </a:prstGeom>
            <a:noFill/>
            <a:ln w="22225">
              <a:solidFill>
                <a:schemeClr val="accent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9" name="Line 146"/>
            <p:cNvSpPr>
              <a:spLocks noChangeShapeType="1"/>
            </p:cNvSpPr>
            <p:nvPr/>
          </p:nvSpPr>
          <p:spPr bwMode="auto">
            <a:xfrm>
              <a:off x="3984" y="2400"/>
              <a:ext cx="1248" cy="1152"/>
            </a:xfrm>
            <a:prstGeom prst="line">
              <a:avLst/>
            </a:prstGeom>
            <a:noFill/>
            <a:ln w="22225">
              <a:solidFill>
                <a:schemeClr val="accent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0" name="Text Box 148"/>
            <p:cNvSpPr txBox="1">
              <a:spLocks noChangeArrowheads="1"/>
            </p:cNvSpPr>
            <p:nvPr/>
          </p:nvSpPr>
          <p:spPr bwMode="auto">
            <a:xfrm>
              <a:off x="4272" y="2400"/>
              <a:ext cx="62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i="1" dirty="0"/>
                <a:t>x</a:t>
              </a:r>
              <a:r>
                <a:rPr lang="en-US" altLang="zh-CN" sz="2000" baseline="-25000" dirty="0"/>
                <a:t>1</a:t>
              </a:r>
              <a:r>
                <a:rPr lang="en-US" altLang="zh-CN" sz="2000" dirty="0"/>
                <a:t>+</a:t>
              </a:r>
              <a:r>
                <a:rPr lang="en-US" altLang="zh-CN" sz="2000" i="1" dirty="0"/>
                <a:t>x</a:t>
              </a:r>
              <a:r>
                <a:rPr lang="en-US" altLang="zh-CN" sz="2000" baseline="-25000" dirty="0"/>
                <a:t>2</a:t>
              </a:r>
              <a:r>
                <a:rPr lang="en-US" altLang="zh-CN" sz="2000" dirty="0"/>
                <a:t>=3</a:t>
              </a:r>
            </a:p>
          </p:txBody>
        </p:sp>
        <p:sp>
          <p:nvSpPr>
            <p:cNvPr id="51" name="Text Box 155"/>
            <p:cNvSpPr txBox="1">
              <a:spLocks noChangeArrowheads="1"/>
            </p:cNvSpPr>
            <p:nvPr/>
          </p:nvSpPr>
          <p:spPr bwMode="auto">
            <a:xfrm>
              <a:off x="4968" y="2676"/>
              <a:ext cx="4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FF66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l-GR" altLang="zh-CN" dirty="0">
                  <a:cs typeface="Times New Roman" panose="02020603050405020304" pitchFamily="18" charset="0"/>
                </a:rPr>
                <a:t>Ω</a:t>
              </a:r>
              <a:r>
                <a:rPr lang="en-US" altLang="zh-CN" baseline="-25000" dirty="0">
                  <a:cs typeface="Times New Roman" panose="02020603050405020304" pitchFamily="18" charset="0"/>
                </a:rPr>
                <a:t>3</a:t>
              </a:r>
              <a:endParaRPr lang="el-GR" altLang="zh-CN" baseline="-25000" dirty="0">
                <a:cs typeface="Times New Roman" panose="02020603050405020304" pitchFamily="18" charset="0"/>
              </a:endParaRPr>
            </a:p>
          </p:txBody>
        </p:sp>
        <p:sp>
          <p:nvSpPr>
            <p:cNvPr id="52" name="Line 156"/>
            <p:cNvSpPr>
              <a:spLocks noChangeShapeType="1"/>
            </p:cNvSpPr>
            <p:nvPr/>
          </p:nvSpPr>
          <p:spPr bwMode="auto">
            <a:xfrm flipV="1">
              <a:off x="4080" y="3168"/>
              <a:ext cx="288" cy="288"/>
            </a:xfrm>
            <a:prstGeom prst="line">
              <a:avLst/>
            </a:prstGeom>
            <a:noFill/>
            <a:ln w="22225">
              <a:solidFill>
                <a:srgbClr val="FF99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3" name="Line 157"/>
            <p:cNvSpPr>
              <a:spLocks noChangeShapeType="1"/>
            </p:cNvSpPr>
            <p:nvPr/>
          </p:nvSpPr>
          <p:spPr bwMode="auto">
            <a:xfrm>
              <a:off x="5088" y="3408"/>
              <a:ext cx="48" cy="48"/>
            </a:xfrm>
            <a:prstGeom prst="line">
              <a:avLst/>
            </a:prstGeom>
            <a:noFill/>
            <a:ln w="22225">
              <a:solidFill>
                <a:schemeClr val="accent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4" name="Line 158"/>
            <p:cNvSpPr>
              <a:spLocks noChangeShapeType="1"/>
            </p:cNvSpPr>
            <p:nvPr/>
          </p:nvSpPr>
          <p:spPr bwMode="auto">
            <a:xfrm>
              <a:off x="4080" y="2496"/>
              <a:ext cx="48" cy="0"/>
            </a:xfrm>
            <a:prstGeom prst="line">
              <a:avLst/>
            </a:prstGeom>
            <a:noFill/>
            <a:ln w="22225">
              <a:solidFill>
                <a:schemeClr val="accent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5" name="Line 160"/>
            <p:cNvSpPr>
              <a:spLocks noChangeShapeType="1"/>
            </p:cNvSpPr>
            <p:nvPr/>
          </p:nvSpPr>
          <p:spPr bwMode="auto">
            <a:xfrm>
              <a:off x="4368" y="3168"/>
              <a:ext cx="768" cy="288"/>
            </a:xfrm>
            <a:prstGeom prst="line">
              <a:avLst/>
            </a:prstGeom>
            <a:noFill/>
            <a:ln w="22225">
              <a:solidFill>
                <a:schemeClr val="folHlink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58" name="标题 1"/>
          <p:cNvSpPr>
            <a:spLocks noGrp="1"/>
          </p:cNvSpPr>
          <p:nvPr>
            <p:ph type="title"/>
          </p:nvPr>
        </p:nvSpPr>
        <p:spPr>
          <a:xfrm>
            <a:off x="443839" y="241561"/>
            <a:ext cx="8229600" cy="990600"/>
          </a:xfrm>
        </p:spPr>
        <p:txBody>
          <a:bodyPr/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凸集</a:t>
            </a:r>
            <a:endParaRPr 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275846" y="3798668"/>
            <a:ext cx="64042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例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74C98-E41D-4BCF-98D8-39D674C97AA0}" type="datetime1">
              <a:rPr lang="en-US" altLang="zh-CN" smtClean="0"/>
              <a:pPr/>
              <a:t>3/31/2025</a:t>
            </a:fld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761586" y="18288"/>
            <a:ext cx="1066800" cy="329184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56" name="页脚占位符 2">
            <a:extLst>
              <a:ext uri="{FF2B5EF4-FFF2-40B4-BE49-F238E27FC236}">
                <a16:creationId xmlns:a16="http://schemas.microsoft.com/office/drawing/2014/main" id="{B00C97BB-B3D2-46D5-95BF-878CAAC9B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8905" y="19050"/>
            <a:ext cx="4831731" cy="328613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交通大数据</a:t>
            </a: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· </a:t>
            </a: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东南大学 刘志远教授</a:t>
            </a:r>
            <a:endParaRPr kumimoji="0" lang="en-US" altLang="zh-CN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288" y="312103"/>
            <a:ext cx="8229600" cy="990600"/>
          </a:xfrm>
        </p:spPr>
        <p:txBody>
          <a:bodyPr/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凸函数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(Convex Function)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：定义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2739" y="1169988"/>
            <a:ext cx="8229600" cy="4876800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2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函数    在凸集合</a:t>
            </a:r>
            <a:r>
              <a:rPr lang="el-GR" altLang="zh-CN" sz="2800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Ω</a:t>
            </a:r>
            <a:r>
              <a:rPr lang="zh-CN" altLang="en-US" sz="2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内的凸性为：</a:t>
            </a:r>
            <a:endParaRPr lang="en-US" altLang="zh-CN" sz="2800" kern="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2800" b="1" kern="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sz="2800" b="1" kern="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sz="2800" b="1" kern="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sz="2800" b="1" kern="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sz="2800" b="1" kern="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sz="2800" b="1" kern="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28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其严格凸性为：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5" name="Object 29"/>
          <p:cNvGraphicFramePr>
            <a:graphicFrameLocks noChangeAspect="1"/>
          </p:cNvGraphicFramePr>
          <p:nvPr/>
        </p:nvGraphicFramePr>
        <p:xfrm>
          <a:off x="302739" y="1695632"/>
          <a:ext cx="85852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96" name="Equation" r:id="rId3" imgW="8585200" imgH="482600" progId="Equation.DSMT4">
                  <p:embed/>
                </p:oleObj>
              </mc:Choice>
              <mc:Fallback>
                <p:oleObj name="Equation" r:id="rId3" imgW="8585200" imgH="482600" progId="Equation.DSMT4">
                  <p:embed/>
                  <p:pic>
                    <p:nvPicPr>
                      <p:cNvPr id="0" name="Picture 45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2739" y="1695632"/>
                        <a:ext cx="8585200" cy="482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33"/>
          <p:cNvGraphicFramePr>
            <a:graphicFrameLocks noChangeAspect="1"/>
          </p:cNvGraphicFramePr>
          <p:nvPr/>
        </p:nvGraphicFramePr>
        <p:xfrm>
          <a:off x="534194" y="6247258"/>
          <a:ext cx="27051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97" name="Equation" r:id="rId5" imgW="2705100" imgH="431800" progId="Equation.DSMT4">
                  <p:embed/>
                </p:oleObj>
              </mc:Choice>
              <mc:Fallback>
                <p:oleObj name="Equation" r:id="rId5" imgW="2705100" imgH="431800" progId="Equation.DSMT4">
                  <p:embed/>
                  <p:pic>
                    <p:nvPicPr>
                      <p:cNvPr id="0" name="Picture 4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4194" y="6247258"/>
                        <a:ext cx="2705100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4949032" y="2469545"/>
          <a:ext cx="4176712" cy="3249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98" name="Chart" r:id="rId7" imgW="4810049" imgH="3743249" progId="Excel.Sheet.8">
                  <p:embed/>
                </p:oleObj>
              </mc:Choice>
              <mc:Fallback>
                <p:oleObj name="Chart" r:id="rId7" imgW="4810049" imgH="3743249" progId="Excel.Sheet.8">
                  <p:embed/>
                  <p:pic>
                    <p:nvPicPr>
                      <p:cNvPr id="0" name="Picture 45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49032" y="2469545"/>
                        <a:ext cx="4176712" cy="3249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5400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Line 10"/>
          <p:cNvSpPr>
            <a:spLocks noChangeShapeType="1"/>
          </p:cNvSpPr>
          <p:nvPr/>
        </p:nvSpPr>
        <p:spPr bwMode="auto">
          <a:xfrm flipV="1">
            <a:off x="5904706" y="3076163"/>
            <a:ext cx="2735262" cy="1152525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AU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0" name="Line 11"/>
          <p:cNvSpPr>
            <a:spLocks noChangeShapeType="1"/>
          </p:cNvSpPr>
          <p:nvPr/>
        </p:nvSpPr>
        <p:spPr bwMode="auto">
          <a:xfrm>
            <a:off x="6402863" y="4064476"/>
            <a:ext cx="0" cy="863600"/>
          </a:xfrm>
          <a:prstGeom prst="line">
            <a:avLst/>
          </a:prstGeom>
          <a:noFill/>
          <a:ln w="25400">
            <a:solidFill>
              <a:srgbClr val="FF0000"/>
            </a:solidFill>
            <a:prstDash val="dash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AU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1" name="Line 12"/>
          <p:cNvSpPr>
            <a:spLocks noChangeShapeType="1"/>
          </p:cNvSpPr>
          <p:nvPr/>
        </p:nvSpPr>
        <p:spPr bwMode="auto">
          <a:xfrm>
            <a:off x="7946468" y="3374419"/>
            <a:ext cx="0" cy="1624951"/>
          </a:xfrm>
          <a:prstGeom prst="line">
            <a:avLst/>
          </a:prstGeom>
          <a:noFill/>
          <a:ln w="25400">
            <a:solidFill>
              <a:srgbClr val="FF0000"/>
            </a:solidFill>
            <a:prstDash val="dash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AU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2" name="Text Box 13"/>
          <p:cNvSpPr txBox="1">
            <a:spLocks noChangeArrowheads="1"/>
          </p:cNvSpPr>
          <p:nvPr/>
        </p:nvSpPr>
        <p:spPr bwMode="auto">
          <a:xfrm>
            <a:off x="6329672" y="4916170"/>
            <a:ext cx="5762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x</a:t>
            </a:r>
            <a:r>
              <a:rPr kumimoji="0" lang="en-US" sz="2400" b="0" i="0" u="none" strike="noStrike" kern="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1</a:t>
            </a:r>
          </a:p>
        </p:txBody>
      </p:sp>
      <p:sp>
        <p:nvSpPr>
          <p:cNvPr id="13" name="Text Box 14"/>
          <p:cNvSpPr txBox="1">
            <a:spLocks noChangeArrowheads="1"/>
          </p:cNvSpPr>
          <p:nvPr/>
        </p:nvSpPr>
        <p:spPr bwMode="auto">
          <a:xfrm>
            <a:off x="7792507" y="4926345"/>
            <a:ext cx="5762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x</a:t>
            </a:r>
            <a:r>
              <a:rPr kumimoji="0" lang="en-US" sz="2400" b="0" i="0" u="none" strike="noStrike" kern="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2</a:t>
            </a:r>
          </a:p>
        </p:txBody>
      </p:sp>
      <p:sp>
        <p:nvSpPr>
          <p:cNvPr id="14" name="Line 16"/>
          <p:cNvSpPr>
            <a:spLocks noChangeShapeType="1"/>
          </p:cNvSpPr>
          <p:nvPr/>
        </p:nvSpPr>
        <p:spPr bwMode="auto">
          <a:xfrm flipH="1">
            <a:off x="7199313" y="3663656"/>
            <a:ext cx="18257" cy="1286206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dash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AU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5" name="Oval 18"/>
          <p:cNvSpPr>
            <a:spLocks noChangeArrowheads="1"/>
          </p:cNvSpPr>
          <p:nvPr/>
        </p:nvSpPr>
        <p:spPr bwMode="auto">
          <a:xfrm>
            <a:off x="7164403" y="4926345"/>
            <a:ext cx="73025" cy="73025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accent2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AU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16" name="Group 21"/>
          <p:cNvGrpSpPr/>
          <p:nvPr/>
        </p:nvGrpSpPr>
        <p:grpSpPr bwMode="auto">
          <a:xfrm>
            <a:off x="7172562" y="4999370"/>
            <a:ext cx="1547812" cy="1263650"/>
            <a:chOff x="4173" y="2478"/>
            <a:chExt cx="975" cy="796"/>
          </a:xfrm>
        </p:grpSpPr>
        <p:sp>
          <p:nvSpPr>
            <p:cNvPr id="17" name="Text Box 17"/>
            <p:cNvSpPr txBox="1">
              <a:spLocks noChangeArrowheads="1"/>
            </p:cNvSpPr>
            <p:nvPr/>
          </p:nvSpPr>
          <p:spPr bwMode="auto">
            <a:xfrm>
              <a:off x="4173" y="3022"/>
              <a:ext cx="975" cy="252"/>
            </a:xfrm>
            <a:prstGeom prst="rect">
              <a:avLst/>
            </a:prstGeom>
            <a:noFill/>
            <a:ln w="25400">
              <a:solidFill>
                <a:srgbClr val="0000FF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</a:rPr>
                <a:t>x</a:t>
              </a:r>
              <a:r>
                <a:rPr kumimoji="0" lang="en-US" sz="2000" b="0" i="0" u="none" strike="noStrike" kern="0" cap="none" spc="0" normalizeH="0" baseline="-2500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</a:rPr>
                <a:t>1</a:t>
              </a: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</a:rPr>
                <a:t>+</a:t>
              </a:r>
              <a:r>
                <a:rPr kumimoji="0" lang="el-GR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cs typeface="Times New Roman" panose="02020603050405020304" pitchFamily="18" charset="0"/>
                </a:rPr>
                <a:t>α</a:t>
              </a: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cs typeface="Times New Roman" panose="02020603050405020304" pitchFamily="18" charset="0"/>
                </a:rPr>
                <a:t>(x</a:t>
              </a:r>
              <a:r>
                <a:rPr kumimoji="0" lang="en-US" sz="2000" b="0" i="0" u="none" strike="noStrike" kern="0" cap="none" spc="0" normalizeH="0" baseline="-2500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cs typeface="Times New Roman" panose="02020603050405020304" pitchFamily="18" charset="0"/>
                </a:rPr>
                <a:t>2</a:t>
              </a: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cs typeface="Times New Roman" panose="02020603050405020304" pitchFamily="18" charset="0"/>
                </a:rPr>
                <a:t>-x</a:t>
              </a:r>
              <a:r>
                <a:rPr kumimoji="0" lang="en-US" sz="2000" b="0" i="0" u="none" strike="noStrike" kern="0" cap="none" spc="0" normalizeH="0" baseline="-2500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cs typeface="Times New Roman" panose="02020603050405020304" pitchFamily="18" charset="0"/>
                </a:rPr>
                <a:t>1</a:t>
              </a: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cs typeface="Times New Roman" panose="02020603050405020304" pitchFamily="18" charset="0"/>
                </a:rPr>
                <a:t>)</a:t>
              </a:r>
              <a:endParaRPr kumimoji="0" 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cs typeface="Times New Roman" panose="02020603050405020304" pitchFamily="18" charset="0"/>
              </a:endParaRPr>
            </a:p>
          </p:txBody>
        </p:sp>
        <p:sp>
          <p:nvSpPr>
            <p:cNvPr id="18" name="Line 20"/>
            <p:cNvSpPr>
              <a:spLocks noChangeShapeType="1"/>
            </p:cNvSpPr>
            <p:nvPr/>
          </p:nvSpPr>
          <p:spPr bwMode="auto">
            <a:xfrm flipH="1" flipV="1">
              <a:off x="4195" y="2478"/>
              <a:ext cx="273" cy="544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19" name="Line 22"/>
          <p:cNvSpPr>
            <a:spLocks noChangeShapeType="1"/>
          </p:cNvSpPr>
          <p:nvPr/>
        </p:nvSpPr>
        <p:spPr bwMode="auto">
          <a:xfrm flipH="1">
            <a:off x="5688013" y="3678562"/>
            <a:ext cx="1511300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dash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AU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0" name="Oval 24"/>
          <p:cNvSpPr>
            <a:spLocks noChangeArrowheads="1"/>
          </p:cNvSpPr>
          <p:nvPr/>
        </p:nvSpPr>
        <p:spPr bwMode="auto">
          <a:xfrm>
            <a:off x="7172562" y="3630007"/>
            <a:ext cx="73025" cy="73025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accent2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AU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21" name="Group 34"/>
          <p:cNvGrpSpPr/>
          <p:nvPr/>
        </p:nvGrpSpPr>
        <p:grpSpPr bwMode="auto">
          <a:xfrm>
            <a:off x="2195513" y="3065788"/>
            <a:ext cx="3492500" cy="649287"/>
            <a:chOff x="1429" y="1933"/>
            <a:chExt cx="2200" cy="409"/>
          </a:xfrm>
        </p:grpSpPr>
        <p:sp>
          <p:nvSpPr>
            <p:cNvPr id="22" name="Oval 23"/>
            <p:cNvSpPr>
              <a:spLocks noChangeArrowheads="1"/>
            </p:cNvSpPr>
            <p:nvPr/>
          </p:nvSpPr>
          <p:spPr bwMode="auto">
            <a:xfrm>
              <a:off x="3583" y="2296"/>
              <a:ext cx="46" cy="46"/>
            </a:xfrm>
            <a:prstGeom prst="ellipse">
              <a:avLst/>
            </a:prstGeom>
            <a:solidFill>
              <a:schemeClr val="accent1"/>
            </a:solidFill>
            <a:ln w="25400">
              <a:solidFill>
                <a:schemeClr val="accent2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3" name="Text Box 26"/>
            <p:cNvSpPr txBox="1">
              <a:spLocks noChangeArrowheads="1"/>
            </p:cNvSpPr>
            <p:nvPr/>
          </p:nvSpPr>
          <p:spPr bwMode="auto">
            <a:xfrm>
              <a:off x="1429" y="1933"/>
              <a:ext cx="1315" cy="266"/>
            </a:xfrm>
            <a:prstGeom prst="rect">
              <a:avLst/>
            </a:prstGeom>
            <a:noFill/>
            <a:ln w="25400">
              <a:solidFill>
                <a:srgbClr val="0000FF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</a:rPr>
                <a:t>f(x</a:t>
              </a:r>
              <a:r>
                <a:rPr kumimoji="0" lang="en-US" sz="2000" b="0" i="0" u="none" strike="noStrike" kern="0" cap="none" spc="0" normalizeH="0" baseline="-2500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</a:rPr>
                <a:t>1</a:t>
              </a: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</a:rPr>
                <a:t>)+</a:t>
              </a:r>
              <a:r>
                <a:rPr kumimoji="0" lang="el-GR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cs typeface="Times New Roman" panose="02020603050405020304" pitchFamily="18" charset="0"/>
                </a:rPr>
                <a:t>α</a:t>
              </a: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cs typeface="Times New Roman" panose="02020603050405020304" pitchFamily="18" charset="0"/>
                </a:rPr>
                <a:t>[f(x</a:t>
              </a:r>
              <a:r>
                <a:rPr kumimoji="0" lang="en-US" sz="2000" b="0" i="0" u="none" strike="noStrike" kern="0" cap="none" spc="0" normalizeH="0" baseline="-2500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cs typeface="Times New Roman" panose="02020603050405020304" pitchFamily="18" charset="0"/>
                </a:rPr>
                <a:t>2</a:t>
              </a: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cs typeface="Times New Roman" panose="02020603050405020304" pitchFamily="18" charset="0"/>
                </a:rPr>
                <a:t>)-f(x</a:t>
              </a:r>
              <a:r>
                <a:rPr kumimoji="0" lang="en-US" sz="2000" b="0" i="0" u="none" strike="noStrike" kern="0" cap="none" spc="0" normalizeH="0" baseline="-2500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cs typeface="Times New Roman" panose="02020603050405020304" pitchFamily="18" charset="0"/>
                </a:rPr>
                <a:t>1</a:t>
              </a: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cs typeface="Times New Roman" panose="02020603050405020304" pitchFamily="18" charset="0"/>
                </a:rPr>
                <a:t>)]</a:t>
              </a:r>
              <a:endParaRPr kumimoji="0" 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cs typeface="Times New Roman" panose="02020603050405020304" pitchFamily="18" charset="0"/>
              </a:endParaRPr>
            </a:p>
          </p:txBody>
        </p:sp>
        <p:sp>
          <p:nvSpPr>
            <p:cNvPr id="24" name="Line 27"/>
            <p:cNvSpPr>
              <a:spLocks noChangeShapeType="1"/>
            </p:cNvSpPr>
            <p:nvPr/>
          </p:nvSpPr>
          <p:spPr bwMode="auto">
            <a:xfrm>
              <a:off x="2744" y="2069"/>
              <a:ext cx="839" cy="272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25" name="Oval 28"/>
          <p:cNvSpPr>
            <a:spLocks noChangeArrowheads="1"/>
          </p:cNvSpPr>
          <p:nvPr/>
        </p:nvSpPr>
        <p:spPr bwMode="auto">
          <a:xfrm>
            <a:off x="7164387" y="3655454"/>
            <a:ext cx="73025" cy="73025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accent2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AU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aphicFrame>
        <p:nvGraphicFramePr>
          <p:cNvPr id="6" name="Object 32"/>
          <p:cNvGraphicFramePr>
            <a:graphicFrameLocks noChangeAspect="1"/>
          </p:cNvGraphicFramePr>
          <p:nvPr/>
        </p:nvGraphicFramePr>
        <p:xfrm>
          <a:off x="114704" y="5670814"/>
          <a:ext cx="57785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99" name="Equation" r:id="rId9" imgW="5778500" imgH="482600" progId="Equation.DSMT4">
                  <p:embed/>
                </p:oleObj>
              </mc:Choice>
              <mc:Fallback>
                <p:oleObj name="Equation" r:id="rId9" imgW="5778500" imgH="482600" progId="Equation.DSMT4">
                  <p:embed/>
                  <p:pic>
                    <p:nvPicPr>
                      <p:cNvPr id="0" name="Picture 4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704" y="5670814"/>
                        <a:ext cx="5778500" cy="482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对象 27"/>
          <p:cNvGraphicFramePr>
            <a:graphicFrameLocks noChangeAspect="1"/>
          </p:cNvGraphicFramePr>
          <p:nvPr/>
        </p:nvGraphicFramePr>
        <p:xfrm>
          <a:off x="1134400" y="1196969"/>
          <a:ext cx="652463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00" name="Equation" r:id="rId11" imgW="8839200" imgH="6096000" progId="Equation.DSMT4">
                  <p:embed/>
                </p:oleObj>
              </mc:Choice>
              <mc:Fallback>
                <p:oleObj name="Equation" r:id="rId11" imgW="8839200" imgH="6096000" progId="Equation.DSMT4">
                  <p:embed/>
                  <p:pic>
                    <p:nvPicPr>
                      <p:cNvPr id="0" name="Picture 46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34400" y="1196969"/>
                        <a:ext cx="652463" cy="4508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33"/>
          <p:cNvGraphicFramePr>
            <a:graphicFrameLocks noChangeAspect="1"/>
          </p:cNvGraphicFramePr>
          <p:nvPr/>
        </p:nvGraphicFramePr>
        <p:xfrm>
          <a:off x="302739" y="2323560"/>
          <a:ext cx="13970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01" name="Equation" r:id="rId13" imgW="33528000" imgH="9753600" progId="Equation.DSMT4">
                  <p:embed/>
                </p:oleObj>
              </mc:Choice>
              <mc:Fallback>
                <p:oleObj name="Equation" r:id="rId13" imgW="33528000" imgH="9753600" progId="Equation.DSMT4">
                  <p:embed/>
                  <p:pic>
                    <p:nvPicPr>
                      <p:cNvPr id="0" name="Picture 46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2739" y="2323560"/>
                        <a:ext cx="1397000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A7C81-5740-45DD-B262-DD7106916AEB}" type="datetime1">
              <a:rPr lang="en-US" altLang="zh-CN" smtClean="0"/>
              <a:pPr/>
              <a:t>3/31/2025</a:t>
            </a:fld>
            <a:endParaRPr lang="en-US"/>
          </a:p>
        </p:txBody>
      </p:sp>
      <p:sp>
        <p:nvSpPr>
          <p:cNvPr id="30" name="灯片编号占位符 29"/>
          <p:cNvSpPr>
            <a:spLocks noGrp="1"/>
          </p:cNvSpPr>
          <p:nvPr>
            <p:ph type="sldNum" sz="quarter" idx="12"/>
          </p:nvPr>
        </p:nvSpPr>
        <p:spPr>
          <a:xfrm>
            <a:off x="8824599" y="18288"/>
            <a:ext cx="1066800" cy="329184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31" name="页脚占位符 2">
            <a:extLst>
              <a:ext uri="{FF2B5EF4-FFF2-40B4-BE49-F238E27FC236}">
                <a16:creationId xmlns:a16="http://schemas.microsoft.com/office/drawing/2014/main" id="{108C8BA5-A97D-41B7-B2B1-5EFBE031E7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8905" y="19050"/>
            <a:ext cx="4831731" cy="328613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交通大数据</a:t>
            </a: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· </a:t>
            </a: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东南大学 刘志远教授</a:t>
            </a:r>
            <a:endParaRPr kumimoji="0" lang="en-US" altLang="zh-CN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凸函数：一阶等价条件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199"/>
            <a:ext cx="8229600" cy="5168245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spcBef>
                <a:spcPct val="50000"/>
              </a:spcBef>
              <a:buClrTx/>
              <a:buSzPct val="60000"/>
              <a:buNone/>
              <a:defRPr/>
            </a:pPr>
            <a:r>
              <a:rPr lang="zh-CN" altLang="en-US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如果</a:t>
            </a:r>
            <a:endParaRPr lang="en-US" altLang="zh-CN" kern="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ct val="50000"/>
              </a:spcBef>
              <a:buClrTx/>
              <a:buSzPct val="60000"/>
              <a:buNone/>
              <a:defRPr/>
            </a:pPr>
            <a:r>
              <a:rPr lang="zh-CN" altLang="en-US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在凸集合</a:t>
            </a:r>
            <a:r>
              <a:rPr lang="el-GR" altLang="zh-CN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Ω</a:t>
            </a:r>
            <a:r>
              <a:rPr lang="zh-CN" altLang="en-US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内的任一点可微</a:t>
            </a:r>
            <a:endParaRPr lang="en-US" altLang="zh-CN" kern="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spcBef>
                <a:spcPct val="50000"/>
              </a:spcBef>
              <a:buClrTx/>
              <a:buSzTx/>
              <a:buFont typeface="Wingdings" panose="05000000000000000000" pitchFamily="2" charset="2"/>
              <a:buChar char="§"/>
              <a:defRPr/>
            </a:pPr>
            <a:r>
              <a:rPr lang="zh-CN" altLang="en-US" b="1" kern="0" dirty="0">
                <a:solidFill>
                  <a:sysClr val="windowText" lastClr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充分</a:t>
            </a:r>
            <a:r>
              <a:rPr lang="en-US" altLang="zh-CN" b="1" kern="0" dirty="0">
                <a:solidFill>
                  <a:sysClr val="windowText" lastClr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zh-CN" altLang="en-US" b="1" kern="0" dirty="0">
                <a:solidFill>
                  <a:sysClr val="windowText" lastClr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必要条件</a:t>
            </a:r>
            <a:endParaRPr lang="en-US" altLang="zh-CN" b="1" kern="0" dirty="0">
              <a:solidFill>
                <a:sysClr val="windowText" lastClr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spcBef>
                <a:spcPct val="50000"/>
              </a:spcBef>
              <a:buClrTx/>
              <a:buSzPct val="60000"/>
              <a:buNone/>
              <a:defRPr/>
            </a:pPr>
            <a:r>
              <a:rPr lang="en-US" altLang="zh-CN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zh-CN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在凸集合</a:t>
            </a:r>
            <a:r>
              <a:rPr lang="el-GR" altLang="zh-CN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Ω</a:t>
            </a:r>
            <a:r>
              <a:rPr lang="zh-CN" altLang="en-US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内</a:t>
            </a:r>
            <a:r>
              <a:rPr lang="zh-CN" altLang="en-US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lang="zh-CN" altLang="en-US" kern="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凸函数</a:t>
            </a:r>
            <a:r>
              <a:rPr lang="zh-CN" altLang="en-US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的一阶等价条件是</a:t>
            </a:r>
            <a:r>
              <a:rPr lang="zh-CN" altLang="en-US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endParaRPr lang="en-US" altLang="zh-CN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spcBef>
                <a:spcPct val="50000"/>
              </a:spcBef>
              <a:buClrTx/>
              <a:buSzPct val="60000"/>
              <a:buAutoNum type="romanLcParenBoth"/>
              <a:defRPr/>
            </a:pPr>
            <a:endParaRPr lang="en-US" altLang="zh-CN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ct val="50000"/>
              </a:spcBef>
              <a:buClrTx/>
              <a:buSzPct val="60000"/>
              <a:buNone/>
              <a:defRPr/>
            </a:pPr>
            <a:r>
              <a:rPr lang="en-US" altLang="zh-CN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(ii) </a:t>
            </a:r>
            <a:r>
              <a:rPr lang="en-US" altLang="zh-CN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在凸集合</a:t>
            </a:r>
            <a:r>
              <a:rPr lang="el-GR" altLang="zh-CN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Ω</a:t>
            </a:r>
            <a:r>
              <a:rPr lang="zh-CN" altLang="en-US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内</a:t>
            </a:r>
            <a:r>
              <a:rPr lang="zh-CN" altLang="en-US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lang="zh-CN" altLang="en-US" kern="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严格凸函数</a:t>
            </a:r>
            <a:r>
              <a:rPr lang="zh-CN" altLang="en-US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的一阶等价条件是</a:t>
            </a:r>
            <a:r>
              <a:rPr lang="zh-CN" altLang="en-US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endParaRPr lang="en-US" altLang="zh-CN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Object 33"/>
          <p:cNvGraphicFramePr>
            <a:graphicFrameLocks noChangeAspect="1"/>
          </p:cNvGraphicFramePr>
          <p:nvPr/>
        </p:nvGraphicFramePr>
        <p:xfrm>
          <a:off x="715963" y="4171950"/>
          <a:ext cx="5481637" cy="496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87" name="Equation" r:id="rId3" imgW="112166400" imgH="9753600" progId="Equation.DSMT4">
                  <p:embed/>
                </p:oleObj>
              </mc:Choice>
              <mc:Fallback>
                <p:oleObj name="Equation" r:id="rId3" imgW="112166400" imgH="9753600" progId="Equation.DSMT4">
                  <p:embed/>
                  <p:pic>
                    <p:nvPicPr>
                      <p:cNvPr id="0" name="Picture 36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5963" y="4171950"/>
                        <a:ext cx="5481637" cy="4968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图片 8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5609529" y="1212574"/>
            <a:ext cx="3369313" cy="2132577"/>
          </a:xfrm>
          <a:prstGeom prst="rect">
            <a:avLst/>
          </a:prstGeom>
        </p:spPr>
      </p:pic>
      <p:graphicFrame>
        <p:nvGraphicFramePr>
          <p:cNvPr id="10" name="Object 33"/>
          <p:cNvGraphicFramePr>
            <a:graphicFrameLocks noChangeAspect="1"/>
          </p:cNvGraphicFramePr>
          <p:nvPr/>
        </p:nvGraphicFramePr>
        <p:xfrm>
          <a:off x="498475" y="5218113"/>
          <a:ext cx="7388225" cy="576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88" name="Equation" r:id="rId6" imgW="129540000" imgH="9753600" progId="Equation.DSMT4">
                  <p:embed/>
                </p:oleObj>
              </mc:Choice>
              <mc:Fallback>
                <p:oleObj name="Equation" r:id="rId6" imgW="129540000" imgH="9753600" progId="Equation.DSMT4">
                  <p:embed/>
                  <p:pic>
                    <p:nvPicPr>
                      <p:cNvPr id="0" name="Picture 36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8475" y="5218113"/>
                        <a:ext cx="7388225" cy="5762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33"/>
          <p:cNvGraphicFramePr>
            <a:graphicFrameLocks noChangeAspect="1"/>
          </p:cNvGraphicFramePr>
          <p:nvPr/>
        </p:nvGraphicFramePr>
        <p:xfrm>
          <a:off x="1298162" y="1709928"/>
          <a:ext cx="13970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89" name="Equation" r:id="rId8" imgW="33528000" imgH="9753600" progId="Equation.DSMT4">
                  <p:embed/>
                </p:oleObj>
              </mc:Choice>
              <mc:Fallback>
                <p:oleObj name="Equation" r:id="rId8" imgW="33528000" imgH="9753600" progId="Equation.DSMT4">
                  <p:embed/>
                  <p:pic>
                    <p:nvPicPr>
                      <p:cNvPr id="0" name="Picture 37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8162" y="1709928"/>
                        <a:ext cx="1397000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281BA-355B-41A3-98CE-351CD5972E8A}" type="datetime1">
              <a:rPr lang="en-US" altLang="zh-CN" smtClean="0"/>
              <a:pPr/>
              <a:t>3/31/2025</a:t>
            </a:fld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764369" y="15331"/>
            <a:ext cx="1066800" cy="329184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11" name="页脚占位符 2">
            <a:extLst>
              <a:ext uri="{FF2B5EF4-FFF2-40B4-BE49-F238E27FC236}">
                <a16:creationId xmlns:a16="http://schemas.microsoft.com/office/drawing/2014/main" id="{659CB292-9F76-4034-B0EE-A0C2A1606F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8905" y="19050"/>
            <a:ext cx="4831731" cy="328613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交通大数据</a:t>
            </a: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· </a:t>
            </a: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东南大学 刘志远教授</a:t>
            </a:r>
            <a:endParaRPr kumimoji="0" lang="en-US" altLang="zh-CN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凸函数：二阶等价条件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ct val="50000"/>
              </a:spcBef>
              <a:buClrTx/>
              <a:buSzPct val="60000"/>
              <a:buFont typeface="Wingdings" panose="05000000000000000000" pitchFamily="2" charset="2"/>
              <a:buChar char="q"/>
              <a:defRPr/>
            </a:pPr>
            <a:r>
              <a:rPr lang="en-US" altLang="zh-CN" sz="2800" b="1" kern="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800" b="1" kern="0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检验函数凸性的条件</a:t>
            </a:r>
            <a:r>
              <a:rPr lang="en-US" altLang="zh-CN" sz="2800" b="1" kern="0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</a:p>
          <a:p>
            <a:endParaRPr lang="zh-CN" altLang="en-US" dirty="0"/>
          </a:p>
        </p:txBody>
      </p:sp>
      <p:grpSp>
        <p:nvGrpSpPr>
          <p:cNvPr id="5" name="Group 9"/>
          <p:cNvGrpSpPr/>
          <p:nvPr/>
        </p:nvGrpSpPr>
        <p:grpSpPr bwMode="auto">
          <a:xfrm>
            <a:off x="665480" y="2117092"/>
            <a:ext cx="8135937" cy="1200151"/>
            <a:chOff x="432" y="1116"/>
            <a:chExt cx="5125" cy="756"/>
          </a:xfrm>
        </p:grpSpPr>
        <p:sp>
          <p:nvSpPr>
            <p:cNvPr id="6" name="Text Box 6"/>
            <p:cNvSpPr txBox="1">
              <a:spLocks noChangeArrowheads="1"/>
            </p:cNvSpPr>
            <p:nvPr/>
          </p:nvSpPr>
          <p:spPr bwMode="auto">
            <a:xfrm>
              <a:off x="432" y="1116"/>
              <a:ext cx="5125" cy="7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accent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lvl="0" defTabSz="914400">
                <a:lnSpc>
                  <a:spcPct val="150000"/>
                </a:lnSpc>
                <a:spcBef>
                  <a:spcPct val="50000"/>
                </a:spcBef>
                <a:defRPr/>
              </a:pPr>
              <a:r>
                <a:rPr kumimoji="0" lang="zh-CN" altLang="en-US" sz="240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假设对于凸集合</a:t>
              </a:r>
              <a:r>
                <a:rPr lang="el-GR" altLang="zh-CN" sz="2400" kern="0" dirty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Ω</a:t>
              </a:r>
              <a:r>
                <a:rPr kumimoji="0" lang="zh-CN" altLang="en-US" sz="240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内的任意可行点处的海塞矩阵             都存在</a:t>
              </a:r>
              <a:endParaRPr kumimoji="0" lang="en-US" sz="240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7" name="Object 7"/>
            <p:cNvGraphicFramePr>
              <a:graphicFrameLocks noChangeAspect="1"/>
            </p:cNvGraphicFramePr>
            <p:nvPr/>
          </p:nvGraphicFramePr>
          <p:xfrm>
            <a:off x="4490" y="1203"/>
            <a:ext cx="632" cy="2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611" name="Equation" r:id="rId3" imgW="1002865" imgH="444307" progId="Equation.DSMT4">
                    <p:embed/>
                  </p:oleObj>
                </mc:Choice>
                <mc:Fallback>
                  <p:oleObj name="Equation" r:id="rId3" imgW="1002865" imgH="444307" progId="Equation.DSMT4">
                    <p:embed/>
                    <p:pic>
                      <p:nvPicPr>
                        <p:cNvPr id="0" name="Picture 29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90" y="1203"/>
                          <a:ext cx="632" cy="28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" name="Text Box 13"/>
          <p:cNvSpPr txBox="1">
            <a:spLocks noChangeArrowheads="1"/>
          </p:cNvSpPr>
          <p:nvPr/>
        </p:nvSpPr>
        <p:spPr bwMode="auto">
          <a:xfrm>
            <a:off x="519431" y="3248978"/>
            <a:ext cx="714851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lvl="0" defTabSz="914400">
              <a:spcBef>
                <a:spcPct val="50000"/>
              </a:spcBef>
              <a:buFont typeface="Wingdings" panose="05000000000000000000" pitchFamily="2" charset="2"/>
              <a:buChar char="§"/>
              <a:defRPr/>
            </a:pPr>
            <a:r>
              <a:rPr lang="en-US" altLang="zh-CN" sz="2400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4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在凸集合</a:t>
            </a:r>
            <a:r>
              <a:rPr lang="el-GR" altLang="zh-CN" sz="2400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Ω</a:t>
            </a:r>
            <a:r>
              <a:rPr lang="zh-CN" altLang="en-US" sz="2400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内</a:t>
            </a:r>
            <a:r>
              <a:rPr lang="zh-CN" altLang="en-US" sz="24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lang="zh-CN" altLang="en-US" sz="2400" kern="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凸函数</a:t>
            </a:r>
            <a:r>
              <a:rPr lang="zh-CN" altLang="en-US" sz="2400" kern="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的二阶等价条件是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9" name="Group 22"/>
          <p:cNvGrpSpPr/>
          <p:nvPr/>
        </p:nvGrpSpPr>
        <p:grpSpPr bwMode="auto">
          <a:xfrm>
            <a:off x="808356" y="3798252"/>
            <a:ext cx="7273925" cy="1130299"/>
            <a:chOff x="385" y="2341"/>
            <a:chExt cx="4582" cy="712"/>
          </a:xfrm>
        </p:grpSpPr>
        <p:sp>
          <p:nvSpPr>
            <p:cNvPr id="10" name="Text Box 14"/>
            <p:cNvSpPr txBox="1">
              <a:spLocks noChangeArrowheads="1"/>
            </p:cNvSpPr>
            <p:nvPr/>
          </p:nvSpPr>
          <p:spPr bwMode="auto">
            <a:xfrm>
              <a:off x="385" y="2341"/>
              <a:ext cx="4582" cy="7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accent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lvl="0" defTabSz="914400">
                <a:lnSpc>
                  <a:spcPct val="150000"/>
                </a:lnSpc>
                <a:spcBef>
                  <a:spcPct val="50000"/>
                </a:spcBef>
                <a:defRPr/>
              </a:pPr>
              <a:r>
                <a: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(</a:t>
              </a:r>
              <a:r>
                <a:rPr kumimoji="0" lang="en-US" sz="2400" b="0" i="0" u="none" strike="noStrike" kern="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i</a:t>
              </a:r>
              <a:r>
                <a: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) </a:t>
              </a:r>
              <a:r>
                <a:rPr lang="zh-CN" altLang="en-US" kern="0" dirty="0">
                  <a:latin typeface="宋体" panose="02010600030101010101" pitchFamily="2" charset="-122"/>
                  <a:ea typeface="宋体" panose="02010600030101010101" pitchFamily="2" charset="-122"/>
                </a:rPr>
                <a:t>当且仅当海塞矩阵       是</a:t>
              </a:r>
              <a:r>
                <a:rPr lang="zh-CN" altLang="en-US" kern="0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半正定</a:t>
              </a:r>
              <a:r>
                <a:rPr lang="zh-CN" altLang="en-US" kern="0" dirty="0">
                  <a:latin typeface="宋体" panose="02010600030101010101" pitchFamily="2" charset="-122"/>
                  <a:ea typeface="宋体" panose="02010600030101010101" pitchFamily="2" charset="-122"/>
                </a:rPr>
                <a:t>矩阵时</a:t>
              </a:r>
              <a:r>
                <a:rPr lang="zh-CN" altLang="en-US" kern="0" dirty="0"/>
                <a:t>，</a:t>
              </a:r>
              <a:r>
                <a:rPr lang="zh-CN" altLang="en-US" kern="0" dirty="0">
                  <a:latin typeface="宋体" panose="02010600030101010101" pitchFamily="2" charset="-122"/>
                  <a:ea typeface="宋体" panose="02010600030101010101" pitchFamily="2" charset="-122"/>
                </a:rPr>
                <a:t>函数</a:t>
              </a:r>
              <a:r>
                <a:rPr lang="en-US" altLang="zh-CN" i="1" kern="0" dirty="0"/>
                <a:t>f(x)</a:t>
              </a:r>
              <a:r>
                <a:rPr lang="zh-CN" altLang="en-US" kern="0" dirty="0">
                  <a:latin typeface="宋体" panose="02010600030101010101" pitchFamily="2" charset="-122"/>
                  <a:ea typeface="宋体" panose="02010600030101010101" pitchFamily="2" charset="-122"/>
                </a:rPr>
                <a:t>是</a:t>
              </a:r>
              <a:r>
                <a:rPr lang="zh-CN" altLang="en-US" kern="0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凸函数</a:t>
              </a:r>
              <a:r>
                <a:rPr lang="zh-CN" altLang="en-US" kern="0" dirty="0">
                  <a:latin typeface="宋体" panose="02010600030101010101" pitchFamily="2" charset="-122"/>
                  <a:ea typeface="宋体" panose="02010600030101010101" pitchFamily="2" charset="-122"/>
                </a:rPr>
                <a:t>；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11" name="Object 15"/>
            <p:cNvGraphicFramePr>
              <a:graphicFrameLocks noChangeAspect="1"/>
            </p:cNvGraphicFramePr>
            <p:nvPr/>
          </p:nvGraphicFramePr>
          <p:xfrm>
            <a:off x="2225" y="2417"/>
            <a:ext cx="632" cy="2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612" name="Equation" r:id="rId5" imgW="1002865" imgH="444307" progId="Equation.DSMT4">
                    <p:embed/>
                  </p:oleObj>
                </mc:Choice>
                <mc:Fallback>
                  <p:oleObj name="Equation" r:id="rId5" imgW="1002865" imgH="444307" progId="Equation.DSMT4">
                    <p:embed/>
                    <p:pic>
                      <p:nvPicPr>
                        <p:cNvPr id="0" name="Picture 29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25" y="2417"/>
                          <a:ext cx="632" cy="28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2" name="Group 23"/>
          <p:cNvGrpSpPr/>
          <p:nvPr/>
        </p:nvGrpSpPr>
        <p:grpSpPr bwMode="auto">
          <a:xfrm>
            <a:off x="808356" y="4873286"/>
            <a:ext cx="7848600" cy="1754188"/>
            <a:chOff x="522" y="3064"/>
            <a:chExt cx="4944" cy="1105"/>
          </a:xfrm>
        </p:grpSpPr>
        <p:sp>
          <p:nvSpPr>
            <p:cNvPr id="13" name="Text Box 18"/>
            <p:cNvSpPr txBox="1">
              <a:spLocks noChangeArrowheads="1"/>
            </p:cNvSpPr>
            <p:nvPr/>
          </p:nvSpPr>
          <p:spPr bwMode="auto">
            <a:xfrm>
              <a:off x="522" y="3064"/>
              <a:ext cx="4944" cy="110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accent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406400" indent="-4064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5207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defTabSz="914400">
                <a:lnSpc>
                  <a:spcPct val="150000"/>
                </a:lnSpc>
                <a:spcBef>
                  <a:spcPct val="50000"/>
                </a:spcBef>
                <a:defRPr/>
              </a:pPr>
              <a:r>
                <a: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(ii)</a:t>
              </a:r>
              <a:r>
                <a:rPr lang="zh-CN" altLang="en-US" kern="0" dirty="0">
                  <a:latin typeface="宋体" panose="02010600030101010101" pitchFamily="2" charset="-122"/>
                  <a:ea typeface="宋体" panose="02010600030101010101" pitchFamily="2" charset="-122"/>
                </a:rPr>
                <a:t>当且仅当海塞矩阵       是</a:t>
              </a:r>
              <a:r>
                <a:rPr lang="zh-CN" altLang="en-US" kern="0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正定</a:t>
              </a:r>
              <a:r>
                <a:rPr lang="zh-CN" altLang="en-US" kern="0" dirty="0">
                  <a:latin typeface="宋体" panose="02010600030101010101" pitchFamily="2" charset="-122"/>
                  <a:ea typeface="宋体" panose="02010600030101010101" pitchFamily="2" charset="-122"/>
                </a:rPr>
                <a:t>矩阵时</a:t>
              </a:r>
              <a:r>
                <a:rPr lang="zh-CN" altLang="en-US" kern="0" dirty="0"/>
                <a:t>，</a:t>
              </a:r>
              <a:r>
                <a:rPr lang="zh-CN" altLang="en-US" kern="0" dirty="0">
                  <a:latin typeface="宋体" panose="02010600030101010101" pitchFamily="2" charset="-122"/>
                  <a:ea typeface="宋体" panose="02010600030101010101" pitchFamily="2" charset="-122"/>
                </a:rPr>
                <a:t>函数</a:t>
              </a:r>
              <a:r>
                <a:rPr lang="en-US" altLang="zh-CN" i="1" kern="0" dirty="0"/>
                <a:t>f(x)</a:t>
              </a:r>
              <a:r>
                <a:rPr lang="zh-CN" altLang="en-US" kern="0" dirty="0">
                  <a:latin typeface="宋体" panose="02010600030101010101" pitchFamily="2" charset="-122"/>
                  <a:ea typeface="宋体" panose="02010600030101010101" pitchFamily="2" charset="-122"/>
                </a:rPr>
                <a:t>是</a:t>
              </a:r>
              <a:r>
                <a:rPr lang="zh-CN" altLang="en-US" kern="0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严格凸函数</a:t>
              </a:r>
              <a:r>
                <a:rPr lang="zh-CN" altLang="en-US" kern="0" dirty="0">
                  <a:latin typeface="宋体" panose="02010600030101010101" pitchFamily="2" charset="-122"/>
                  <a:ea typeface="宋体" panose="02010600030101010101" pitchFamily="2" charset="-122"/>
                </a:rPr>
                <a:t>；</a:t>
              </a:r>
              <a:endParaRPr lang="en-US" altLang="zh-CN" sz="3200" kern="0" dirty="0"/>
            </a:p>
            <a:p>
              <a:pPr marL="406400" marR="0" lvl="0" indent="-40640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14" name="Object 19"/>
            <p:cNvGraphicFramePr>
              <a:graphicFrameLocks noChangeAspect="1"/>
            </p:cNvGraphicFramePr>
            <p:nvPr/>
          </p:nvGraphicFramePr>
          <p:xfrm>
            <a:off x="2362" y="3123"/>
            <a:ext cx="632" cy="2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613" name="Equation" r:id="rId7" imgW="1002865" imgH="444307" progId="Equation.DSMT4">
                    <p:embed/>
                  </p:oleObj>
                </mc:Choice>
                <mc:Fallback>
                  <p:oleObj name="Equation" r:id="rId7" imgW="1002865" imgH="444307" progId="Equation.DSMT4">
                    <p:embed/>
                    <p:pic>
                      <p:nvPicPr>
                        <p:cNvPr id="0" name="Picture 29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62" y="3123"/>
                          <a:ext cx="632" cy="28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15A4E-6531-49D2-8B7A-39B1BFC4B96C}" type="datetime1">
              <a:rPr lang="en-US" altLang="zh-CN" smtClean="0"/>
              <a:pPr/>
              <a:t>3/31/2025</a:t>
            </a:fld>
            <a:endParaRPr lang="en-US"/>
          </a:p>
        </p:txBody>
      </p:sp>
      <p:sp>
        <p:nvSpPr>
          <p:cNvPr id="17" name="灯片编号占位符 16"/>
          <p:cNvSpPr>
            <a:spLocks noGrp="1"/>
          </p:cNvSpPr>
          <p:nvPr>
            <p:ph type="sldNum" sz="quarter" idx="12"/>
          </p:nvPr>
        </p:nvSpPr>
        <p:spPr>
          <a:xfrm>
            <a:off x="8753418" y="14145"/>
            <a:ext cx="1066800" cy="329184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16" name="页脚占位符 2">
            <a:extLst>
              <a:ext uri="{FF2B5EF4-FFF2-40B4-BE49-F238E27FC236}">
                <a16:creationId xmlns:a16="http://schemas.microsoft.com/office/drawing/2014/main" id="{C0A07499-DD89-47EA-98BA-165A3DE3B4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8905" y="19050"/>
            <a:ext cx="4831731" cy="328613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交通大数据</a:t>
            </a: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· </a:t>
            </a: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东南大学 刘志远教授</a:t>
            </a:r>
            <a:endParaRPr kumimoji="0" lang="en-US" altLang="zh-CN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凸函数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b="1" kern="0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例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Text Box 11"/>
          <p:cNvSpPr txBox="1">
            <a:spLocks noChangeArrowheads="1"/>
          </p:cNvSpPr>
          <p:nvPr/>
        </p:nvSpPr>
        <p:spPr bwMode="auto">
          <a:xfrm>
            <a:off x="1022350" y="2880360"/>
            <a:ext cx="43211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它是一个凸函数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6" name="Group 13"/>
          <p:cNvGrpSpPr/>
          <p:nvPr/>
        </p:nvGrpSpPr>
        <p:grpSpPr bwMode="auto">
          <a:xfrm>
            <a:off x="661988" y="2202498"/>
            <a:ext cx="4300537" cy="495300"/>
            <a:chOff x="385" y="1280"/>
            <a:chExt cx="2709" cy="312"/>
          </a:xfrm>
        </p:grpSpPr>
        <p:graphicFrame>
          <p:nvGraphicFramePr>
            <p:cNvPr id="7" name="Object 8"/>
            <p:cNvGraphicFramePr>
              <a:graphicFrameLocks noChangeAspect="1"/>
            </p:cNvGraphicFramePr>
            <p:nvPr/>
          </p:nvGraphicFramePr>
          <p:xfrm>
            <a:off x="998" y="1280"/>
            <a:ext cx="2096" cy="3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624" name="Equation" r:id="rId3" imgW="3327400" imgH="495300" progId="Equation.DSMT4">
                    <p:embed/>
                  </p:oleObj>
                </mc:Choice>
                <mc:Fallback>
                  <p:oleObj name="Equation" r:id="rId3" imgW="3327400" imgH="495300" progId="Equation.DSMT4">
                    <p:embed/>
                    <p:pic>
                      <p:nvPicPr>
                        <p:cNvPr id="0" name="Picture 19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98" y="1280"/>
                          <a:ext cx="2096" cy="31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" name="Text Box 12"/>
            <p:cNvSpPr txBox="1">
              <a:spLocks noChangeArrowheads="1"/>
            </p:cNvSpPr>
            <p:nvPr/>
          </p:nvSpPr>
          <p:spPr bwMode="auto">
            <a:xfrm>
              <a:off x="385" y="1298"/>
              <a:ext cx="99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accent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§"/>
                <a:defRPr/>
              </a:pPr>
              <a:r>
                <a: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 </a:t>
              </a:r>
              <a:r>
                <a:rPr lang="zh-CN" altLang="en-US" sz="2400" kern="0" dirty="0">
                  <a:solidFill>
                    <a:sysClr val="windowText" lastClr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函数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grpSp>
        <p:nvGrpSpPr>
          <p:cNvPr id="9" name="Group 15"/>
          <p:cNvGrpSpPr/>
          <p:nvPr/>
        </p:nvGrpSpPr>
        <p:grpSpPr bwMode="auto">
          <a:xfrm>
            <a:off x="661988" y="3672523"/>
            <a:ext cx="4498975" cy="457200"/>
            <a:chOff x="748" y="2341"/>
            <a:chExt cx="2834" cy="288"/>
          </a:xfrm>
        </p:grpSpPr>
        <p:graphicFrame>
          <p:nvGraphicFramePr>
            <p:cNvPr id="10" name="Object 10"/>
            <p:cNvGraphicFramePr>
              <a:graphicFrameLocks noChangeAspect="1"/>
            </p:cNvGraphicFramePr>
            <p:nvPr/>
          </p:nvGraphicFramePr>
          <p:xfrm>
            <a:off x="1358" y="2350"/>
            <a:ext cx="2224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625" name="Equation" r:id="rId5" imgW="3530600" imgH="431800" progId="Equation.DSMT4">
                    <p:embed/>
                  </p:oleObj>
                </mc:Choice>
                <mc:Fallback>
                  <p:oleObj name="Equation" r:id="rId5" imgW="3530600" imgH="431800" progId="Equation.DSMT4">
                    <p:embed/>
                    <p:pic>
                      <p:nvPicPr>
                        <p:cNvPr id="0" name="Picture 19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58" y="2350"/>
                          <a:ext cx="2224" cy="27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" name="Text Box 14"/>
            <p:cNvSpPr txBox="1">
              <a:spLocks noChangeArrowheads="1"/>
            </p:cNvSpPr>
            <p:nvPr/>
          </p:nvSpPr>
          <p:spPr bwMode="auto">
            <a:xfrm>
              <a:off x="748" y="2341"/>
              <a:ext cx="122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accent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§"/>
                <a:defRPr/>
              </a:pPr>
              <a:r>
                <a: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 </a:t>
              </a:r>
              <a:r>
                <a:rPr lang="zh-CN" altLang="en-US" sz="2400" kern="0" dirty="0">
                  <a:solidFill>
                    <a:sysClr val="windowText" lastClr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函数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sp>
        <p:nvSpPr>
          <p:cNvPr id="12" name="Text Box 16"/>
          <p:cNvSpPr txBox="1">
            <a:spLocks noChangeArrowheads="1"/>
          </p:cNvSpPr>
          <p:nvPr/>
        </p:nvSpPr>
        <p:spPr bwMode="auto">
          <a:xfrm>
            <a:off x="735013" y="4886960"/>
            <a:ext cx="26630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 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注意：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3" name="Text Box 17"/>
          <p:cNvSpPr txBox="1">
            <a:spLocks noChangeArrowheads="1"/>
          </p:cNvSpPr>
          <p:nvPr/>
        </p:nvSpPr>
        <p:spPr bwMode="auto">
          <a:xfrm>
            <a:off x="1022350" y="4321810"/>
            <a:ext cx="63515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它是一个凸函数但不是严格凸函数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4" name="Text Box 18"/>
          <p:cNvSpPr txBox="1">
            <a:spLocks noChangeArrowheads="1"/>
          </p:cNvSpPr>
          <p:nvPr/>
        </p:nvSpPr>
        <p:spPr bwMode="auto">
          <a:xfrm>
            <a:off x="1022349" y="5455612"/>
            <a:ext cx="63515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所有的线性函数都是凸函数。是不是凹函数？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4A6FE-A29E-433C-A54A-7F8E89C6D452}" type="datetime1">
              <a:rPr lang="en-US" altLang="zh-CN" smtClean="0"/>
              <a:pPr/>
              <a:t>3/31/2025</a:t>
            </a:fld>
            <a:endParaRPr lang="en-US"/>
          </a:p>
        </p:txBody>
      </p:sp>
      <p:sp>
        <p:nvSpPr>
          <p:cNvPr id="17" name="灯片编号占位符 16"/>
          <p:cNvSpPr>
            <a:spLocks noGrp="1"/>
          </p:cNvSpPr>
          <p:nvPr>
            <p:ph type="sldNum" sz="quarter" idx="12"/>
          </p:nvPr>
        </p:nvSpPr>
        <p:spPr>
          <a:xfrm>
            <a:off x="8686800" y="15331"/>
            <a:ext cx="1066800" cy="329184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16" name="页脚占位符 2">
            <a:extLst>
              <a:ext uri="{FF2B5EF4-FFF2-40B4-BE49-F238E27FC236}">
                <a16:creationId xmlns:a16="http://schemas.microsoft.com/office/drawing/2014/main" id="{09439689-0B35-4A91-9735-F531004D39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8905" y="19050"/>
            <a:ext cx="4831731" cy="328613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交通大数据</a:t>
            </a: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· </a:t>
            </a: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东南大学 刘志远教授</a:t>
            </a:r>
            <a:endParaRPr kumimoji="0" lang="en-US" altLang="zh-CN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3" grpId="0"/>
      <p:bldP spid="14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89205"/>
            <a:ext cx="8229600" cy="990600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凸函数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27970"/>
            <a:ext cx="8229600" cy="4876800"/>
          </a:xfrm>
        </p:spPr>
        <p:txBody>
          <a:bodyPr/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例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1:</a:t>
            </a:r>
          </a:p>
          <a:p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例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2:</a:t>
            </a:r>
          </a:p>
          <a:p>
            <a:pPr lvl="0"/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例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3:</a:t>
            </a:r>
          </a:p>
          <a:p>
            <a:pPr lvl="0"/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Object 1"/>
          <p:cNvGraphicFramePr>
            <a:graphicFrameLocks noChangeAspect="1"/>
          </p:cNvGraphicFramePr>
          <p:nvPr/>
        </p:nvGraphicFramePr>
        <p:xfrm>
          <a:off x="736600" y="1745268"/>
          <a:ext cx="58928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59" name="Equation" r:id="rId3" imgW="141427200" imgH="19812000" progId="Equation.DSMT4">
                  <p:embed/>
                </p:oleObj>
              </mc:Choice>
              <mc:Fallback>
                <p:oleObj name="Equation" r:id="rId3" imgW="141427200" imgH="19812000" progId="Equation.DSMT4">
                  <p:embed/>
                  <p:pic>
                    <p:nvPicPr>
                      <p:cNvPr id="0" name="Picture 29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6600" y="1745268"/>
                        <a:ext cx="5892800" cy="825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1"/>
          <p:cNvGraphicFramePr>
            <a:graphicFrameLocks noChangeAspect="1"/>
          </p:cNvGraphicFramePr>
          <p:nvPr/>
        </p:nvGraphicFramePr>
        <p:xfrm>
          <a:off x="736600" y="4847894"/>
          <a:ext cx="4305300" cy="1346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60" name="Equation" r:id="rId5" imgW="103327200" imgH="32308800" progId="Equation.DSMT4">
                  <p:embed/>
                </p:oleObj>
              </mc:Choice>
              <mc:Fallback>
                <p:oleObj name="Equation" r:id="rId5" imgW="103327200" imgH="32308800" progId="Equation.DSMT4">
                  <p:embed/>
                  <p:pic>
                    <p:nvPicPr>
                      <p:cNvPr id="0" name="Picture 29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6600" y="4847894"/>
                        <a:ext cx="4305300" cy="1346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1"/>
          <p:cNvGraphicFramePr>
            <a:graphicFrameLocks noChangeAspect="1"/>
          </p:cNvGraphicFramePr>
          <p:nvPr/>
        </p:nvGraphicFramePr>
        <p:xfrm>
          <a:off x="736600" y="3036231"/>
          <a:ext cx="6883400" cy="1346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61" name="Equation" r:id="rId7" imgW="165201600" imgH="32308800" progId="Equation.DSMT4">
                  <p:embed/>
                </p:oleObj>
              </mc:Choice>
              <mc:Fallback>
                <p:oleObj name="Equation" r:id="rId7" imgW="165201600" imgH="32308800" progId="Equation.DSMT4">
                  <p:embed/>
                  <p:pic>
                    <p:nvPicPr>
                      <p:cNvPr id="0" name="Picture 29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6600" y="3036231"/>
                        <a:ext cx="6883400" cy="1346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DB715-1B0B-44DB-B2F0-321DD8D032EC}" type="datetime1">
              <a:rPr lang="en-US" altLang="zh-CN" smtClean="0"/>
              <a:pPr/>
              <a:t>3/31/2025</a:t>
            </a:fld>
            <a:endParaRPr 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>
          <a:xfrm>
            <a:off x="8753418" y="18288"/>
            <a:ext cx="1066800" cy="329184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9" name="页脚占位符 2">
            <a:extLst>
              <a:ext uri="{FF2B5EF4-FFF2-40B4-BE49-F238E27FC236}">
                <a16:creationId xmlns:a16="http://schemas.microsoft.com/office/drawing/2014/main" id="{6953DE04-51F8-4D6E-8E1B-7D9B40E91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8905" y="19050"/>
            <a:ext cx="4831731" cy="328613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交通大数据</a:t>
            </a: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· </a:t>
            </a: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东南大学 刘志远教授</a:t>
            </a:r>
            <a:endParaRPr kumimoji="0" lang="en-US" altLang="zh-CN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1F497D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凸函数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199"/>
            <a:ext cx="8229600" cy="5168245"/>
          </a:xfrm>
        </p:spPr>
        <p:txBody>
          <a:bodyPr>
            <a:normAutofit fontScale="92500"/>
          </a:bodyPr>
          <a:lstStyle/>
          <a:p>
            <a:pPr marL="0" indent="0">
              <a:spcBef>
                <a:spcPct val="50000"/>
              </a:spcBef>
              <a:buClrTx/>
              <a:buSzPct val="60000"/>
              <a:buFont typeface="Wingdings" panose="05000000000000000000" pitchFamily="2" charset="2"/>
              <a:buChar char="q"/>
            </a:pPr>
            <a:r>
              <a:rPr lang="zh-CN" altLang="en-US" b="1" kern="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关于凸优化问题的阐述</a:t>
            </a:r>
            <a:r>
              <a:rPr lang="en-US" altLang="zh-CN" b="1" kern="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</a:p>
          <a:p>
            <a:pPr>
              <a:lnSpc>
                <a:spcPct val="160000"/>
              </a:lnSpc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如果局部极小值点存在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那么该局部极小值点是全局极小值点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所有（全局）极小值点的集合是凸集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对于每个严格凸函数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如果该函数有一个极小值，那么该极小值是唯一的。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spcBef>
                <a:spcPct val="50000"/>
              </a:spcBef>
              <a:buClrTx/>
              <a:buSzPct val="60000"/>
              <a:buFont typeface="Wingdings" panose="05000000000000000000" pitchFamily="2" charset="2"/>
              <a:buChar char="q"/>
            </a:pPr>
            <a:r>
              <a:rPr lang="zh-CN" altLang="en-US" b="1" kern="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例</a:t>
            </a:r>
            <a:r>
              <a:rPr lang="en-US" altLang="zh-CN" b="1" kern="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</a:p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最小二乘法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线性规划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受线性约束的凸二次最优化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锥优化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有约束的熵最大化问题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80DC5-35E9-4729-A2FF-15EA0B36F73C}" type="datetime1">
              <a:rPr lang="en-US" altLang="zh-CN" smtClean="0"/>
              <a:pPr/>
              <a:t>3/31/2025</a:t>
            </a:fld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36991" y="26282"/>
            <a:ext cx="1066800" cy="329184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6" name="页脚占位符 2">
            <a:extLst>
              <a:ext uri="{FF2B5EF4-FFF2-40B4-BE49-F238E27FC236}">
                <a16:creationId xmlns:a16="http://schemas.microsoft.com/office/drawing/2014/main" id="{64A6D8B5-0F5E-4F22-8F69-F8549E6E9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8905" y="19050"/>
            <a:ext cx="4831731" cy="328613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交通大数据</a:t>
            </a: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· </a:t>
            </a: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东南大学 刘志远教授</a:t>
            </a:r>
            <a:endParaRPr kumimoji="0" lang="en-US" altLang="zh-CN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17305" y="1331082"/>
            <a:ext cx="8229600" cy="4876800"/>
          </a:xfrm>
        </p:spPr>
        <p:txBody>
          <a:bodyPr/>
          <a:lstStyle/>
          <a:p>
            <a:endParaRPr lang="en-US" altLang="zh-CN" dirty="0"/>
          </a:p>
          <a:p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b="1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证明：</a:t>
            </a:r>
            <a:endParaRPr lang="en-US" altLang="zh-CN" b="1" dirty="0">
              <a:solidFill>
                <a:srgbClr val="002060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 txBox="1">
            <a:spLocks noChangeArrowheads="1"/>
          </p:cNvSpPr>
          <p:nvPr/>
        </p:nvSpPr>
        <p:spPr>
          <a:xfrm>
            <a:off x="317305" y="455667"/>
            <a:ext cx="7960421" cy="678297"/>
          </a:xfrm>
          <a:prstGeom prst="rect">
            <a:avLst/>
          </a:prstGeom>
        </p:spPr>
        <p:txBody>
          <a:bodyPr/>
          <a:lstStyle>
            <a:lvl1pPr marL="914400" indent="-91440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 kern="1200">
                <a:solidFill>
                  <a:schemeClr val="tx2"/>
                </a:solidFill>
                <a:latin typeface="+mj-lt"/>
                <a:ea typeface="+mj-ea"/>
                <a:cs typeface="+mj-cs"/>
                <a:sym typeface="Arial" panose="020B0604020202020204" pitchFamily="34" charset="0"/>
              </a:defRPr>
            </a:lvl1pPr>
            <a:lvl2pPr marL="914400" indent="-91440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2pPr>
            <a:lvl3pPr marL="914400" indent="-91440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3pPr>
            <a:lvl4pPr marL="914400" indent="-91440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4pPr>
            <a:lvl5pPr marL="914400" indent="-91440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5pPr>
            <a:lvl6pPr marL="1371600" indent="-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6pPr>
            <a:lvl7pPr marL="1828800" indent="-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7pPr>
            <a:lvl8pPr marL="2286000" indent="-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8pPr>
            <a:lvl9pPr marL="2743200" indent="-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9pPr>
          </a:lstStyle>
          <a:p>
            <a:pPr algn="just" defTabSz="914400"/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凸优化问题的极小值和极大值</a:t>
            </a:r>
            <a:endParaRPr lang="en-US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Text Box 8"/>
          <p:cNvSpPr txBox="1">
            <a:spLocks noChangeArrowheads="1"/>
          </p:cNvSpPr>
          <p:nvPr/>
        </p:nvSpPr>
        <p:spPr bwMode="auto">
          <a:xfrm>
            <a:off x="317305" y="1464531"/>
            <a:ext cx="8915400" cy="16842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50000"/>
              </a:spcBef>
            </a:pPr>
            <a:r>
              <a:rPr lang="zh-CN" altLang="en-US" dirty="0"/>
              <a:t>如果</a:t>
            </a:r>
            <a:r>
              <a:rPr lang="en-US" altLang="zh-CN" dirty="0"/>
              <a:t> </a:t>
            </a:r>
            <a:r>
              <a:rPr lang="en-US" altLang="zh-CN" i="1" dirty="0"/>
              <a:t>x*</a:t>
            </a:r>
            <a:r>
              <a:rPr lang="en-US" altLang="zh-CN" dirty="0"/>
              <a:t> </a:t>
            </a:r>
            <a:r>
              <a:rPr lang="zh-CN" altLang="en-US" dirty="0"/>
              <a:t>是凸集</a:t>
            </a:r>
            <a:r>
              <a:rPr lang="el-GR" altLang="zh-CN" dirty="0">
                <a:cs typeface="Times New Roman" panose="02020603050405020304" pitchFamily="18" charset="0"/>
              </a:rPr>
              <a:t>Ω</a:t>
            </a:r>
            <a:r>
              <a:rPr lang="zh-CN" altLang="en-US" dirty="0">
                <a:cs typeface="Times New Roman" panose="02020603050405020304" pitchFamily="18" charset="0"/>
              </a:rPr>
              <a:t>内的一点，对于点</a:t>
            </a:r>
            <a:r>
              <a:rPr lang="en-US" altLang="zh-CN" i="1" dirty="0">
                <a:cs typeface="Times New Roman" panose="02020603050405020304" pitchFamily="18" charset="0"/>
              </a:rPr>
              <a:t>x</a:t>
            </a:r>
            <a:r>
              <a:rPr lang="en-US" altLang="zh-CN" dirty="0">
                <a:cs typeface="Times New Roman" panose="02020603050405020304" pitchFamily="18" charset="0"/>
              </a:rPr>
              <a:t>*</a:t>
            </a:r>
            <a:r>
              <a:rPr lang="zh-CN" altLang="en-US" dirty="0">
                <a:cs typeface="Times New Roman" panose="02020603050405020304" pitchFamily="18" charset="0"/>
              </a:rPr>
              <a:t>处的任意可行方向</a:t>
            </a:r>
            <a:r>
              <a:rPr lang="en-US" altLang="zh-CN" i="1" dirty="0">
                <a:cs typeface="Times New Roman" panose="02020603050405020304" pitchFamily="18" charset="0"/>
              </a:rPr>
              <a:t>d </a:t>
            </a:r>
            <a:r>
              <a:rPr lang="zh-CN" altLang="en-US" dirty="0">
                <a:cs typeface="Times New Roman" panose="02020603050405020304" pitchFamily="18" charset="0"/>
              </a:rPr>
              <a:t>满足</a:t>
            </a:r>
            <a:r>
              <a:rPr lang="en-US" altLang="zh-CN" dirty="0">
                <a:cs typeface="Times New Roman" panose="02020603050405020304" pitchFamily="18" charset="0"/>
              </a:rPr>
              <a:t>                       , </a:t>
            </a:r>
            <a:r>
              <a:rPr lang="zh-CN" altLang="en-US" dirty="0">
                <a:cs typeface="Times New Roman" panose="02020603050405020304" pitchFamily="18" charset="0"/>
              </a:rPr>
              <a:t>那么</a:t>
            </a:r>
            <a:r>
              <a:rPr lang="en-US" altLang="zh-CN" dirty="0">
                <a:cs typeface="Times New Roman" panose="02020603050405020304" pitchFamily="18" charset="0"/>
              </a:rPr>
              <a:t> </a:t>
            </a:r>
            <a:r>
              <a:rPr lang="en-US" altLang="zh-CN" i="1" dirty="0">
                <a:cs typeface="Times New Roman" panose="02020603050405020304" pitchFamily="18" charset="0"/>
              </a:rPr>
              <a:t>x*</a:t>
            </a:r>
            <a:r>
              <a:rPr lang="en-US" altLang="zh-CN" dirty="0">
                <a:cs typeface="Times New Roman" panose="02020603050405020304" pitchFamily="18" charset="0"/>
              </a:rPr>
              <a:t> </a:t>
            </a:r>
            <a:r>
              <a:rPr lang="zh-CN" altLang="en-US" dirty="0">
                <a:cs typeface="Times New Roman" panose="02020603050405020304" pitchFamily="18" charset="0"/>
              </a:rPr>
              <a:t>是凸规划问题                 的一个</a:t>
            </a:r>
            <a:r>
              <a:rPr lang="zh-CN" altLang="en-US" dirty="0">
                <a:solidFill>
                  <a:srgbClr val="FF0000"/>
                </a:solidFill>
                <a:cs typeface="Times New Roman" panose="02020603050405020304" pitchFamily="18" charset="0"/>
              </a:rPr>
              <a:t>全局极小值点</a:t>
            </a:r>
            <a:endParaRPr lang="el-GR" altLang="zh-CN" dirty="0">
              <a:cs typeface="Times New Roman" panose="02020603050405020304" pitchFamily="18" charset="0"/>
            </a:endParaRPr>
          </a:p>
        </p:txBody>
      </p:sp>
      <p:graphicFrame>
        <p:nvGraphicFramePr>
          <p:cNvPr id="7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6605239"/>
              </p:ext>
            </p:extLst>
          </p:nvPr>
        </p:nvGraphicFramePr>
        <p:xfrm>
          <a:off x="5498230" y="2067867"/>
          <a:ext cx="1308100" cy="588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83" name="Equation" r:id="rId3" imgW="24384000" imgH="10972800" progId="Equation.DSMT4">
                  <p:embed/>
                </p:oleObj>
              </mc:Choice>
              <mc:Fallback>
                <p:oleObj name="Equation" r:id="rId3" imgW="24384000" imgH="10972800" progId="Equation.DSMT4">
                  <p:embed/>
                  <p:pic>
                    <p:nvPicPr>
                      <p:cNvPr id="0" name="Picture 30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98230" y="2067867"/>
                        <a:ext cx="1308100" cy="5889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9"/>
          <p:cNvGraphicFramePr>
            <a:graphicFrameLocks noChangeAspect="1"/>
          </p:cNvGraphicFramePr>
          <p:nvPr/>
        </p:nvGraphicFramePr>
        <p:xfrm>
          <a:off x="735474" y="2120700"/>
          <a:ext cx="17018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84" name="Equation" r:id="rId5" imgW="40843200" imgH="10363200" progId="Equation.DSMT4">
                  <p:embed/>
                </p:oleObj>
              </mc:Choice>
              <mc:Fallback>
                <p:oleObj name="Equation" r:id="rId5" imgW="40843200" imgH="10363200" progId="Equation.DSMT4">
                  <p:embed/>
                  <p:pic>
                    <p:nvPicPr>
                      <p:cNvPr id="0" name="Picture 30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5474" y="2120700"/>
                        <a:ext cx="1701800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14"/>
          <p:cNvSpPr txBox="1">
            <a:spLocks noChangeArrowheads="1"/>
          </p:cNvSpPr>
          <p:nvPr/>
        </p:nvSpPr>
        <p:spPr bwMode="auto">
          <a:xfrm>
            <a:off x="155256" y="3524166"/>
            <a:ext cx="8915400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dirty="0"/>
              <a:t>假设</a:t>
            </a:r>
            <a:r>
              <a:rPr lang="en-US" altLang="zh-CN" dirty="0"/>
              <a:t> </a:t>
            </a:r>
            <a:r>
              <a:rPr lang="en-US" altLang="zh-CN" i="1" dirty="0"/>
              <a:t>x*</a:t>
            </a:r>
            <a:r>
              <a:rPr lang="en-US" altLang="zh-CN" dirty="0"/>
              <a:t> </a:t>
            </a:r>
            <a:r>
              <a:rPr lang="zh-CN" altLang="en-US" dirty="0"/>
              <a:t>不是全局极小值点</a:t>
            </a:r>
            <a:r>
              <a:rPr lang="en-US" altLang="zh-CN" dirty="0"/>
              <a:t>, </a:t>
            </a:r>
            <a:r>
              <a:rPr lang="zh-CN" altLang="en-US" dirty="0"/>
              <a:t>那么在集合内</a:t>
            </a:r>
            <a:r>
              <a:rPr lang="el-GR" altLang="zh-CN" dirty="0">
                <a:cs typeface="Times New Roman" panose="02020603050405020304" pitchFamily="18" charset="0"/>
              </a:rPr>
              <a:t>Ω</a:t>
            </a:r>
            <a:r>
              <a:rPr lang="zh-CN" altLang="en-US" dirty="0"/>
              <a:t>存在点</a:t>
            </a:r>
            <a:r>
              <a:rPr lang="en-US" altLang="zh-CN" i="1" dirty="0"/>
              <a:t>y</a:t>
            </a:r>
            <a:r>
              <a:rPr lang="en-US" altLang="zh-CN" dirty="0"/>
              <a:t> </a:t>
            </a:r>
            <a:r>
              <a:rPr lang="zh-CN" altLang="en-US" dirty="0"/>
              <a:t>满足 </a:t>
            </a:r>
            <a:r>
              <a:rPr lang="en-US" altLang="zh-CN" b="1" i="1" dirty="0">
                <a:solidFill>
                  <a:schemeClr val="accent1"/>
                </a:solidFill>
                <a:cs typeface="Times New Roman" panose="02020603050405020304" pitchFamily="18" charset="0"/>
              </a:rPr>
              <a:t>f(y)&lt;f(x*).</a:t>
            </a:r>
            <a:endParaRPr lang="en-US" altLang="zh-CN" dirty="0"/>
          </a:p>
          <a:p>
            <a:pPr eaLnBrk="1" hangingPunct="1">
              <a:lnSpc>
                <a:spcPct val="150000"/>
              </a:lnSpc>
              <a:spcBef>
                <a:spcPct val="50000"/>
              </a:spcBef>
            </a:pPr>
            <a:r>
              <a:rPr lang="zh-CN" altLang="en-US" dirty="0">
                <a:cs typeface="Times New Roman" panose="02020603050405020304" pitchFamily="18" charset="0"/>
              </a:rPr>
              <a:t>因为</a:t>
            </a:r>
            <a:r>
              <a:rPr lang="en-US" altLang="zh-CN" dirty="0">
                <a:cs typeface="Times New Roman" panose="02020603050405020304" pitchFamily="18" charset="0"/>
              </a:rPr>
              <a:t> </a:t>
            </a:r>
            <a:r>
              <a:rPr lang="el-GR" altLang="zh-CN" dirty="0">
                <a:cs typeface="Times New Roman" panose="02020603050405020304" pitchFamily="18" charset="0"/>
              </a:rPr>
              <a:t>Ω</a:t>
            </a:r>
            <a:r>
              <a:rPr lang="en-US" altLang="zh-CN" dirty="0">
                <a:cs typeface="Times New Roman" panose="02020603050405020304" pitchFamily="18" charset="0"/>
              </a:rPr>
              <a:t> </a:t>
            </a:r>
            <a:r>
              <a:rPr lang="zh-CN" altLang="en-US" dirty="0">
                <a:cs typeface="Times New Roman" panose="02020603050405020304" pitchFamily="18" charset="0"/>
              </a:rPr>
              <a:t>是凸集</a:t>
            </a:r>
            <a:r>
              <a:rPr lang="en-US" altLang="zh-CN" dirty="0">
                <a:cs typeface="Times New Roman" panose="02020603050405020304" pitchFamily="18" charset="0"/>
              </a:rPr>
              <a:t>, </a:t>
            </a:r>
            <a:r>
              <a:rPr lang="zh-CN" altLang="en-US" dirty="0">
                <a:cs typeface="Times New Roman" panose="02020603050405020304" pitchFamily="18" charset="0"/>
              </a:rPr>
              <a:t>对于任意</a:t>
            </a:r>
            <a:r>
              <a:rPr lang="en-US" altLang="zh-CN" dirty="0">
                <a:cs typeface="Times New Roman" panose="02020603050405020304" pitchFamily="18" charset="0"/>
              </a:rPr>
              <a:t>0≤</a:t>
            </a:r>
            <a:r>
              <a:rPr lang="el-GR" altLang="zh-CN" dirty="0">
                <a:cs typeface="Times New Roman" panose="02020603050405020304" pitchFamily="18" charset="0"/>
              </a:rPr>
              <a:t>α≤</a:t>
            </a:r>
            <a:r>
              <a:rPr lang="en-US" altLang="zh-CN" dirty="0">
                <a:cs typeface="Times New Roman" panose="02020603050405020304" pitchFamily="18" charset="0"/>
              </a:rPr>
              <a:t>1, </a:t>
            </a:r>
            <a:r>
              <a:rPr lang="en-US" altLang="zh-CN" i="1" dirty="0">
                <a:cs typeface="Times New Roman" panose="02020603050405020304" pitchFamily="18" charset="0"/>
              </a:rPr>
              <a:t>x*+</a:t>
            </a:r>
            <a:r>
              <a:rPr lang="el-GR" altLang="zh-CN" i="1" dirty="0">
                <a:cs typeface="Times New Roman" panose="02020603050405020304" pitchFamily="18" charset="0"/>
              </a:rPr>
              <a:t>α</a:t>
            </a:r>
            <a:r>
              <a:rPr lang="en-US" altLang="zh-CN" i="1" dirty="0">
                <a:cs typeface="Times New Roman" panose="02020603050405020304" pitchFamily="18" charset="0"/>
              </a:rPr>
              <a:t>(y-x*)</a:t>
            </a:r>
            <a:r>
              <a:rPr lang="en-US" altLang="zh-CN" dirty="0">
                <a:cs typeface="Times New Roman" panose="02020603050405020304" pitchFamily="18" charset="0"/>
              </a:rPr>
              <a:t> </a:t>
            </a:r>
            <a:r>
              <a:rPr lang="zh-CN" altLang="en-US" dirty="0">
                <a:cs typeface="Times New Roman" panose="02020603050405020304" pitchFamily="18" charset="0"/>
              </a:rPr>
              <a:t>仍在凸集</a:t>
            </a:r>
            <a:r>
              <a:rPr lang="el-GR" altLang="zh-CN" dirty="0"/>
              <a:t>Ω</a:t>
            </a:r>
            <a:r>
              <a:rPr lang="zh-CN" altLang="en-US" dirty="0"/>
              <a:t>内</a:t>
            </a:r>
            <a:r>
              <a:rPr lang="en-US" altLang="zh-CN" dirty="0"/>
              <a:t>. </a:t>
            </a:r>
            <a:r>
              <a:rPr lang="zh-CN" altLang="en-US" dirty="0"/>
              <a:t>换句话说</a:t>
            </a:r>
            <a:r>
              <a:rPr lang="en-US" altLang="zh-CN" dirty="0"/>
              <a:t>, </a:t>
            </a:r>
            <a:r>
              <a:rPr lang="en-US" altLang="zh-CN" i="1" dirty="0"/>
              <a:t>y-x*</a:t>
            </a:r>
            <a:r>
              <a:rPr lang="en-US" altLang="zh-CN" dirty="0"/>
              <a:t> </a:t>
            </a:r>
            <a:r>
              <a:rPr lang="zh-CN" altLang="en-US" dirty="0"/>
              <a:t>是点</a:t>
            </a:r>
            <a:r>
              <a:rPr lang="en-US" altLang="zh-CN" i="1" dirty="0"/>
              <a:t>x*</a:t>
            </a:r>
            <a:r>
              <a:rPr lang="zh-CN" altLang="en-US" dirty="0"/>
              <a:t>处的可行方向。</a:t>
            </a:r>
            <a:endParaRPr lang="en-US" altLang="zh-CN" dirty="0"/>
          </a:p>
          <a:p>
            <a:pPr eaLnBrk="1" hangingPunct="1">
              <a:spcBef>
                <a:spcPct val="50000"/>
              </a:spcBef>
            </a:pPr>
            <a:r>
              <a:rPr lang="zh-CN" altLang="en-US" dirty="0"/>
              <a:t>因为</a:t>
            </a:r>
            <a:r>
              <a:rPr lang="en-US" altLang="zh-CN" i="1" dirty="0"/>
              <a:t>f(x)</a:t>
            </a:r>
            <a:r>
              <a:rPr lang="zh-CN" altLang="en-US" dirty="0"/>
              <a:t>是凸函数</a:t>
            </a:r>
            <a:r>
              <a:rPr lang="en-US" altLang="zh-CN" dirty="0"/>
              <a:t>, </a:t>
            </a:r>
            <a:r>
              <a:rPr lang="zh-CN" altLang="en-US" dirty="0"/>
              <a:t>那么可得</a:t>
            </a:r>
            <a:endParaRPr lang="el-GR" altLang="zh-CN" dirty="0"/>
          </a:p>
        </p:txBody>
      </p:sp>
      <p:graphicFrame>
        <p:nvGraphicFramePr>
          <p:cNvPr id="10" name="Object 15"/>
          <p:cNvGraphicFramePr>
            <a:graphicFrameLocks noChangeAspect="1"/>
          </p:cNvGraphicFramePr>
          <p:nvPr/>
        </p:nvGraphicFramePr>
        <p:xfrm>
          <a:off x="939603" y="5915890"/>
          <a:ext cx="40259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85" name="Equation" r:id="rId7" imgW="96621600" imgH="8839200" progId="Equation.DSMT4">
                  <p:embed/>
                </p:oleObj>
              </mc:Choice>
              <mc:Fallback>
                <p:oleObj name="Equation" r:id="rId7" imgW="96621600" imgH="8839200" progId="Equation.DSMT4">
                  <p:embed/>
                  <p:pic>
                    <p:nvPicPr>
                      <p:cNvPr id="0" name="Picture 30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9603" y="5915890"/>
                        <a:ext cx="4025900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Box 16"/>
          <p:cNvSpPr txBox="1">
            <a:spLocks noChangeArrowheads="1"/>
          </p:cNvSpPr>
          <p:nvPr/>
        </p:nvSpPr>
        <p:spPr bwMode="auto">
          <a:xfrm>
            <a:off x="5790667" y="5884131"/>
            <a:ext cx="3429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dirty="0">
                <a:solidFill>
                  <a:schemeClr val="accent1"/>
                </a:solidFill>
              </a:rPr>
              <a:t>这与假设矛盾</a:t>
            </a:r>
            <a:endParaRPr lang="en-US" altLang="zh-CN" dirty="0">
              <a:solidFill>
                <a:schemeClr val="accent1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4775005" y="1149427"/>
            <a:ext cx="20313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局部极小值点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F30AB-23C7-436D-92AA-5A8CCBD81451}" type="datetime1">
              <a:rPr lang="en-US" altLang="zh-CN" smtClean="0"/>
              <a:pPr/>
              <a:t>3/31/2025</a:t>
            </a:fld>
            <a:endParaRPr lang="en-US"/>
          </a:p>
        </p:txBody>
      </p:sp>
      <p:sp>
        <p:nvSpPr>
          <p:cNvPr id="14" name="灯片编号占位符 13"/>
          <p:cNvSpPr>
            <a:spLocks noGrp="1"/>
          </p:cNvSpPr>
          <p:nvPr>
            <p:ph type="sldNum" sz="quarter" idx="12"/>
          </p:nvPr>
        </p:nvSpPr>
        <p:spPr>
          <a:xfrm>
            <a:off x="8753417" y="18288"/>
            <a:ext cx="1066800" cy="329184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13" name="页脚占位符 2">
            <a:extLst>
              <a:ext uri="{FF2B5EF4-FFF2-40B4-BE49-F238E27FC236}">
                <a16:creationId xmlns:a16="http://schemas.microsoft.com/office/drawing/2014/main" id="{3E06C2D6-7DEE-4474-9C39-50EF4E4113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8905" y="19050"/>
            <a:ext cx="4831731" cy="328613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交通大数据</a:t>
            </a: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· </a:t>
            </a: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东南大学 刘志远教授</a:t>
            </a:r>
            <a:endParaRPr kumimoji="0" lang="en-US" altLang="zh-CN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286000" y="2838754"/>
            <a:ext cx="4572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algn="ctr" defTabSz="914400">
              <a:defRPr/>
            </a:pPr>
            <a:r>
              <a:rPr lang="en-US" altLang="zh-CN" sz="3600" b="1" kern="0" dirty="0">
                <a:solidFill>
                  <a:srgbClr val="1F49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KKT</a:t>
            </a:r>
            <a:r>
              <a:rPr lang="zh-CN" altLang="en-US" sz="3600" b="1" kern="0" dirty="0">
                <a:solidFill>
                  <a:srgbClr val="1F49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条件</a:t>
            </a:r>
            <a:endParaRPr lang="en-US" altLang="zh-CN" sz="3600" b="1" kern="0" dirty="0">
              <a:solidFill>
                <a:srgbClr val="1F497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ctr" defTabSz="914400">
              <a:defRPr/>
            </a:pPr>
            <a:r>
              <a:rPr lang="en-US" altLang="zh-CN" sz="3600" b="1" kern="0" dirty="0">
                <a:solidFill>
                  <a:srgbClr val="1F49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1B8C062-E56C-4001-9738-A2B64D657862}" type="datetime1">
              <a:rPr lang="en-US" altLang="zh-CN" smtClean="0"/>
              <a:pPr>
                <a:defRPr/>
              </a:pPr>
              <a:t>3/31/2025</a:t>
            </a:fld>
            <a:endParaRPr lang="en-US" altLang="zh-CN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8742467" y="19050"/>
            <a:ext cx="1066800" cy="328613"/>
          </a:xfrm>
        </p:spPr>
        <p:txBody>
          <a:bodyPr/>
          <a:lstStyle/>
          <a:p>
            <a:pPr>
              <a:defRPr/>
            </a:pPr>
            <a:fld id="{D1009943-BA82-4F6A-BD7C-764069224CD2}" type="slidenum">
              <a:rPr lang="zh-CN" altLang="en-US" smtClean="0"/>
              <a:pPr>
                <a:defRPr/>
              </a:pPr>
              <a:t>34</a:t>
            </a:fld>
            <a:endParaRPr lang="en-US" altLang="zh-CN"/>
          </a:p>
        </p:txBody>
      </p:sp>
      <p:sp>
        <p:nvSpPr>
          <p:cNvPr id="5" name="页脚占位符 2">
            <a:extLst>
              <a:ext uri="{FF2B5EF4-FFF2-40B4-BE49-F238E27FC236}">
                <a16:creationId xmlns:a16="http://schemas.microsoft.com/office/drawing/2014/main" id="{115A49FE-B24B-4A88-B5C2-1516C3507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8905" y="19050"/>
            <a:ext cx="4831731" cy="328613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交通大数据</a:t>
            </a: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· </a:t>
            </a: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东南大学 刘志远教授</a:t>
            </a:r>
            <a:endParaRPr kumimoji="0" lang="en-US" altLang="zh-CN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91867"/>
            <a:ext cx="8229600" cy="990600"/>
          </a:xfrm>
        </p:spPr>
        <p:txBody>
          <a:bodyPr>
            <a:normAutofit/>
          </a:bodyPr>
          <a:lstStyle/>
          <a:p>
            <a:pPr lvl="0">
              <a:spcBef>
                <a:spcPts val="0"/>
              </a:spcBef>
              <a:defRPr/>
            </a:pP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KKT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条件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lvl="0" indent="-228600">
              <a:spcBef>
                <a:spcPct val="50000"/>
              </a:spcBef>
              <a:buClrTx/>
              <a:buSzPct val="60000"/>
              <a:buFont typeface="Wingdings" panose="05000000000000000000" pitchFamily="2" charset="2"/>
              <a:buChar char="q"/>
              <a:defRPr/>
            </a:pPr>
            <a:r>
              <a:rPr lang="zh-CN" altLang="en-US" sz="2800" b="1" kern="0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怎样</a:t>
            </a:r>
            <a:r>
              <a:rPr lang="zh-CN" altLang="en-US" sz="2800" b="1" kern="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证明</a:t>
            </a:r>
            <a:r>
              <a:rPr lang="en-US" altLang="zh-CN" sz="2800" b="1" i="1" kern="0" dirty="0">
                <a:solidFill>
                  <a:srgbClr val="0000FF"/>
                </a:solidFill>
                <a:latin typeface="Times New Roman" panose="02020603050405020304" pitchFamily="18" charset="0"/>
              </a:rPr>
              <a:t>x*</a:t>
            </a:r>
            <a:r>
              <a:rPr lang="zh-CN" altLang="en-US" sz="2800" b="1" kern="0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是下列非线性规划的局部极小值点</a:t>
            </a:r>
            <a:r>
              <a:rPr lang="en-US" altLang="zh-CN" sz="2800" b="1" kern="0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 </a:t>
            </a:r>
          </a:p>
          <a:p>
            <a:endParaRPr lang="zh-CN" altLang="en-US" dirty="0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0160165"/>
              </p:ext>
            </p:extLst>
          </p:nvPr>
        </p:nvGraphicFramePr>
        <p:xfrm>
          <a:off x="2504626" y="2272616"/>
          <a:ext cx="3147471" cy="18493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07" name="Equation" r:id="rId3" imgW="3174840" imgH="1688760" progId="Equation.DSMT4">
                  <p:embed/>
                </p:oleObj>
              </mc:Choice>
              <mc:Fallback>
                <p:oleObj name="Equation" r:id="rId3" imgW="3174840" imgH="1688760" progId="Equation.DSMT4">
                  <p:embed/>
                  <p:pic>
                    <p:nvPicPr>
                      <p:cNvPr id="0" name="Picture 10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4626" y="2272616"/>
                        <a:ext cx="3147471" cy="184935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344080" y="4358657"/>
            <a:ext cx="9006120" cy="167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49634B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49634B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49634B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49634B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rgbClr val="49634B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rgbClr val="49634B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rgbClr val="49634B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rgbClr val="49634B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rgbClr val="49634B"/>
                </a:solidFill>
                <a:latin typeface="+mn-lt"/>
              </a:defRPr>
            </a:lvl9pPr>
          </a:lstStyle>
          <a:p>
            <a:pPr marL="0" indent="0" defTabSz="914400" eaLnBrk="1" hangingPunct="1">
              <a:buNone/>
            </a:pPr>
            <a:r>
              <a:rPr lang="zh-CN" altLang="en-US" sz="2800" kern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或者，怎样有效地找到局部极小值</a:t>
            </a:r>
            <a:r>
              <a:rPr lang="en-US" altLang="zh-TW" sz="2800" kern="0" dirty="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  <a:cs typeface="Times New Roman" panose="02020603050405020304" pitchFamily="18" charset="0"/>
              </a:rPr>
              <a:t>?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E64668-45E7-42DB-9D66-E87FEBCF9DAA}" type="datetime1">
              <a:rPr lang="en-US" altLang="zh-CN" smtClean="0"/>
              <a:pPr/>
              <a:t>3/31/2025</a:t>
            </a:fld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736992" y="0"/>
            <a:ext cx="1066800" cy="329184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11" name="页脚占位符 2">
            <a:extLst>
              <a:ext uri="{FF2B5EF4-FFF2-40B4-BE49-F238E27FC236}">
                <a16:creationId xmlns:a16="http://schemas.microsoft.com/office/drawing/2014/main" id="{3C88026F-1D9B-49C4-842A-07B45A88C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8905" y="19050"/>
            <a:ext cx="4831731" cy="328613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交通大数据</a:t>
            </a: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· </a:t>
            </a: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东南大学 刘志远教授</a:t>
            </a:r>
            <a:endParaRPr kumimoji="0" lang="en-US" altLang="zh-CN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6AC8F223-1700-4A14-AE26-B741541299D5}"/>
              </a:ext>
            </a:extLst>
          </p:cNvPr>
          <p:cNvGrpSpPr/>
          <p:nvPr/>
        </p:nvGrpSpPr>
        <p:grpSpPr>
          <a:xfrm>
            <a:off x="5806351" y="2230731"/>
            <a:ext cx="2405670" cy="1841212"/>
            <a:chOff x="5806351" y="2230731"/>
            <a:chExt cx="2405670" cy="1841212"/>
          </a:xfrm>
        </p:grpSpPr>
        <p:graphicFrame>
          <p:nvGraphicFramePr>
            <p:cNvPr id="8" name="Object 12">
              <a:extLst>
                <a:ext uri="{FF2B5EF4-FFF2-40B4-BE49-F238E27FC236}">
                  <a16:creationId xmlns:a16="http://schemas.microsoft.com/office/drawing/2014/main" id="{20B967E1-6F2D-4971-B34C-2CBB3BD100B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58875820"/>
                </p:ext>
              </p:extLst>
            </p:nvPr>
          </p:nvGraphicFramePr>
          <p:xfrm>
            <a:off x="6803534" y="2897308"/>
            <a:ext cx="411304" cy="5893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708" name="Equation" r:id="rId5" imgW="253800" imgH="444240" progId="Equation.DSMT4">
                    <p:embed/>
                  </p:oleObj>
                </mc:Choice>
                <mc:Fallback>
                  <p:oleObj name="Equation" r:id="rId5" imgW="253800" imgH="444240" progId="Equation.DSMT4">
                    <p:embed/>
                    <p:pic>
                      <p:nvPicPr>
                        <p:cNvPr id="11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803534" y="2897308"/>
                          <a:ext cx="411304" cy="589388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" name="Object 12">
              <a:extLst>
                <a:ext uri="{FF2B5EF4-FFF2-40B4-BE49-F238E27FC236}">
                  <a16:creationId xmlns:a16="http://schemas.microsoft.com/office/drawing/2014/main" id="{9AB40C5A-E393-406A-9722-8D1FFD93C8F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17007907"/>
                </p:ext>
              </p:extLst>
            </p:nvPr>
          </p:nvGraphicFramePr>
          <p:xfrm>
            <a:off x="6803534" y="3580996"/>
            <a:ext cx="412595" cy="4909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709" name="Equation" r:id="rId7" imgW="279360" imgH="469800" progId="Equation.DSMT4">
                    <p:embed/>
                  </p:oleObj>
                </mc:Choice>
                <mc:Fallback>
                  <p:oleObj name="Equation" r:id="rId7" imgW="279360" imgH="469800" progId="Equation.DSMT4">
                    <p:embed/>
                    <p:pic>
                      <p:nvPicPr>
                        <p:cNvPr id="11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803534" y="3580996"/>
                          <a:ext cx="412595" cy="490947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E32E1AEE-20F4-4DE0-B1BF-33360AD3ACD7}"/>
                </a:ext>
              </a:extLst>
            </p:cNvPr>
            <p:cNvSpPr txBox="1"/>
            <p:nvPr/>
          </p:nvSpPr>
          <p:spPr>
            <a:xfrm>
              <a:off x="5806351" y="2230731"/>
              <a:ext cx="2405670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200" dirty="0">
                  <a:latin typeface="宋体" panose="02010600030101010101" pitchFamily="2" charset="-122"/>
                  <a:ea typeface="宋体" panose="02010600030101010101" pitchFamily="2" charset="-122"/>
                </a:rPr>
                <a:t>构造对偶乘子：</a:t>
              </a:r>
              <a:endParaRPr lang="en-US" altLang="zh-CN" sz="22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algn="ctr"/>
              <a:r>
                <a:rPr lang="zh-CN" altLang="en-US" sz="2200" dirty="0">
                  <a:latin typeface="宋体" panose="02010600030101010101" pitchFamily="2" charset="-122"/>
                  <a:ea typeface="宋体" panose="02010600030101010101" pitchFamily="2" charset="-122"/>
                </a:rPr>
                <a:t>（拉格朗日乘子）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6088" y="268291"/>
            <a:ext cx="8229600" cy="990600"/>
          </a:xfrm>
        </p:spPr>
        <p:txBody>
          <a:bodyPr>
            <a:normAutofit/>
          </a:bodyPr>
          <a:lstStyle/>
          <a:p>
            <a:pPr lvl="0">
              <a:spcBef>
                <a:spcPts val="0"/>
              </a:spcBef>
              <a:defRPr/>
            </a:pPr>
            <a:r>
              <a:rPr lang="en-US" altLang="zh-CN" kern="0" spc="0" dirty="0">
                <a:solidFill>
                  <a:srgbClr val="1F497D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KKT</a:t>
            </a:r>
            <a:r>
              <a:rPr lang="zh-CN" altLang="en-US" kern="0" spc="0" dirty="0">
                <a:solidFill>
                  <a:srgbClr val="1F497D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条件</a:t>
            </a:r>
            <a:endParaRPr lang="zh-CN" altLang="en-US" sz="48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59696"/>
            <a:ext cx="8229600" cy="4876800"/>
          </a:xfrm>
        </p:spPr>
        <p:txBody>
          <a:bodyPr/>
          <a:lstStyle/>
          <a:p>
            <a:pPr marL="228600" lvl="0" indent="-228600">
              <a:spcBef>
                <a:spcPct val="50000"/>
              </a:spcBef>
              <a:buClrTx/>
              <a:buSzPct val="60000"/>
              <a:buFont typeface="Wingdings" panose="05000000000000000000" pitchFamily="2" charset="2"/>
              <a:buChar char="q"/>
              <a:defRPr/>
            </a:pPr>
            <a:r>
              <a:rPr lang="zh-CN" altLang="en-US" sz="2800" b="1" kern="0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必要最优性条件</a:t>
            </a:r>
            <a:r>
              <a:rPr lang="en-US" altLang="zh-CN" sz="2800" b="1" kern="0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</a:p>
          <a:p>
            <a:endParaRPr lang="zh-CN" altLang="en-US" dirty="0"/>
          </a:p>
        </p:txBody>
      </p:sp>
      <p:graphicFrame>
        <p:nvGraphicFramePr>
          <p:cNvPr id="5" name="Object 6"/>
          <p:cNvGraphicFramePr>
            <a:graphicFrameLocks noChangeAspect="1"/>
          </p:cNvGraphicFramePr>
          <p:nvPr/>
        </p:nvGraphicFramePr>
        <p:xfrm>
          <a:off x="473074" y="4669400"/>
          <a:ext cx="34798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53" name="Equation" r:id="rId3" imgW="3479800" imgH="482600" progId="Equation.DSMT4">
                  <p:embed/>
                </p:oleObj>
              </mc:Choice>
              <mc:Fallback>
                <p:oleObj name="Equation" r:id="rId3" imgW="3479800" imgH="482600" progId="Equation.DSMT4">
                  <p:embed/>
                  <p:pic>
                    <p:nvPicPr>
                      <p:cNvPr id="0" name="Picture 49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3074" y="4669400"/>
                        <a:ext cx="3479800" cy="482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7"/>
          <p:cNvGraphicFramePr>
            <a:graphicFrameLocks noChangeAspect="1"/>
          </p:cNvGraphicFramePr>
          <p:nvPr/>
        </p:nvGraphicFramePr>
        <p:xfrm>
          <a:off x="446088" y="4072335"/>
          <a:ext cx="26924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54" name="Equation" r:id="rId5" imgW="2692400" imgH="355600" progId="Equation.DSMT4">
                  <p:embed/>
                </p:oleObj>
              </mc:Choice>
              <mc:Fallback>
                <p:oleObj name="Equation" r:id="rId5" imgW="2692400" imgH="355600" progId="Equation.DSMT4">
                  <p:embed/>
                  <p:pic>
                    <p:nvPicPr>
                      <p:cNvPr id="0" name="Picture 49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6088" y="4072335"/>
                        <a:ext cx="2692400" cy="355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8"/>
          <p:cNvGraphicFramePr>
            <a:graphicFrameLocks noChangeAspect="1"/>
          </p:cNvGraphicFramePr>
          <p:nvPr/>
        </p:nvGraphicFramePr>
        <p:xfrm>
          <a:off x="457200" y="5302011"/>
          <a:ext cx="61976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55" name="Equation" r:id="rId7" imgW="6197600" imgH="482600" progId="Equation.DSMT4">
                  <p:embed/>
                </p:oleObj>
              </mc:Choice>
              <mc:Fallback>
                <p:oleObj name="Equation" r:id="rId7" imgW="6197600" imgH="482600" progId="Equation.DSMT4">
                  <p:embed/>
                  <p:pic>
                    <p:nvPicPr>
                      <p:cNvPr id="0" name="Picture 50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5302011"/>
                        <a:ext cx="6197600" cy="482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9"/>
          <p:cNvSpPr txBox="1">
            <a:spLocks noChangeArrowheads="1"/>
          </p:cNvSpPr>
          <p:nvPr/>
        </p:nvSpPr>
        <p:spPr bwMode="auto">
          <a:xfrm>
            <a:off x="6742112" y="3284666"/>
            <a:ext cx="20574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rPr>
              <a:t>(KKT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rPr>
              <a:t>等式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rPr>
              <a:t>)</a:t>
            </a:r>
          </a:p>
        </p:txBody>
      </p:sp>
      <p:sp>
        <p:nvSpPr>
          <p:cNvPr id="9" name="Text Box 10"/>
          <p:cNvSpPr txBox="1">
            <a:spLocks noChangeArrowheads="1"/>
          </p:cNvSpPr>
          <p:nvPr/>
        </p:nvSpPr>
        <p:spPr bwMode="auto">
          <a:xfrm>
            <a:off x="6742112" y="4082919"/>
            <a:ext cx="22098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rPr>
              <a:t>(</a:t>
            </a:r>
            <a:r>
              <a:rPr lang="zh-CN" altLang="en-US" sz="2000" kern="0" dirty="0">
                <a:solidFill>
                  <a:schemeClr val="accent1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非负约束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rPr>
              <a:t>)</a:t>
            </a:r>
          </a:p>
        </p:txBody>
      </p:sp>
      <p:sp>
        <p:nvSpPr>
          <p:cNvPr id="10" name="Text Box 11"/>
          <p:cNvSpPr txBox="1">
            <a:spLocks noChangeArrowheads="1"/>
          </p:cNvSpPr>
          <p:nvPr/>
        </p:nvSpPr>
        <p:spPr bwMode="auto">
          <a:xfrm>
            <a:off x="7195908" y="5341261"/>
            <a:ext cx="15843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rPr>
              <a:t>(</a:t>
            </a:r>
            <a:r>
              <a:rPr lang="zh-CN" altLang="en-US" sz="2000" kern="0" dirty="0">
                <a:solidFill>
                  <a:schemeClr val="accent1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可行性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rPr>
              <a:t>)</a:t>
            </a:r>
          </a:p>
        </p:txBody>
      </p:sp>
      <p:graphicFrame>
        <p:nvGraphicFramePr>
          <p:cNvPr id="11" name="Object 12"/>
          <p:cNvGraphicFramePr>
            <a:graphicFrameLocks noChangeAspect="1"/>
          </p:cNvGraphicFramePr>
          <p:nvPr/>
        </p:nvGraphicFramePr>
        <p:xfrm>
          <a:off x="457200" y="3044032"/>
          <a:ext cx="57912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56" name="Equation" r:id="rId9" imgW="138988800" imgH="21336000" progId="Equation.DSMT4">
                  <p:embed/>
                </p:oleObj>
              </mc:Choice>
              <mc:Fallback>
                <p:oleObj name="Equation" r:id="rId9" imgW="138988800" imgH="21336000" progId="Equation.DSMT4">
                  <p:embed/>
                  <p:pic>
                    <p:nvPicPr>
                      <p:cNvPr id="0" name="Picture 50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3044032"/>
                        <a:ext cx="5791200" cy="889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Box 13"/>
          <p:cNvSpPr txBox="1">
            <a:spLocks noChangeArrowheads="1"/>
          </p:cNvSpPr>
          <p:nvPr/>
        </p:nvSpPr>
        <p:spPr bwMode="auto">
          <a:xfrm>
            <a:off x="6748462" y="4712090"/>
            <a:ext cx="19494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rPr>
              <a:t>(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rPr>
              <a:t>互补松弛条件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rPr>
              <a:t>)</a:t>
            </a:r>
          </a:p>
        </p:txBody>
      </p:sp>
      <p:grpSp>
        <p:nvGrpSpPr>
          <p:cNvPr id="13" name="Group 17"/>
          <p:cNvGrpSpPr/>
          <p:nvPr/>
        </p:nvGrpSpPr>
        <p:grpSpPr bwMode="auto">
          <a:xfrm>
            <a:off x="457200" y="1671703"/>
            <a:ext cx="8512175" cy="1130301"/>
            <a:chOff x="240" y="1200"/>
            <a:chExt cx="5362" cy="712"/>
          </a:xfrm>
        </p:grpSpPr>
        <p:sp>
          <p:nvSpPr>
            <p:cNvPr id="14" name="Text Box 5"/>
            <p:cNvSpPr txBox="1">
              <a:spLocks noChangeArrowheads="1"/>
            </p:cNvSpPr>
            <p:nvPr/>
          </p:nvSpPr>
          <p:spPr bwMode="auto">
            <a:xfrm>
              <a:off x="240" y="1200"/>
              <a:ext cx="5362" cy="7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5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2400" kern="0" dirty="0">
                  <a:solidFill>
                    <a:sysClr val="windowText" lastClr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如果</a:t>
              </a: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</a:t>
              </a:r>
              <a:r>
                <a:rPr kumimoji="0" lang="en-US" altLang="zh-CN" sz="2400" b="0" i="1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x*</a:t>
              </a:r>
              <a:r>
                <a:rPr kumimoji="0" lang="zh-CN" altLang="en-US" sz="240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是一个局部极小值点</a:t>
              </a: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, </a:t>
              </a:r>
              <a:r>
                <a:rPr kumimoji="0" lang="zh-CN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那么存在</a:t>
              </a:r>
              <a:r>
                <a:rPr kumimoji="0" lang="zh-CN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拉格朗日乘子</a:t>
              </a: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{</a:t>
              </a:r>
              <a:r>
                <a:rPr kumimoji="0" lang="en-US" altLang="zh-CN" sz="2400" b="0" i="1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u</a:t>
              </a:r>
              <a:r>
                <a:rPr kumimoji="0" lang="en-US" altLang="zh-CN" sz="2400" b="0" i="1" u="none" strike="noStrike" kern="0" cap="none" spc="0" normalizeH="0" baseline="-2500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, </a:t>
              </a:r>
              <a:r>
                <a:rPr kumimoji="0" lang="en-US" altLang="zh-CN" sz="2400" b="0" i="1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u</a:t>
              </a:r>
              <a:r>
                <a:rPr kumimoji="0" lang="en-US" altLang="zh-CN" sz="2400" b="0" i="1" u="none" strike="noStrike" kern="0" cap="none" spc="0" normalizeH="0" baseline="-2500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, …, </a:t>
              </a:r>
              <a:r>
                <a:rPr kumimoji="0" lang="en-US" altLang="zh-CN" sz="2400" b="0" i="1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u</a:t>
              </a:r>
              <a:r>
                <a:rPr kumimoji="0" lang="en-US" altLang="zh-CN" sz="2400" b="0" i="1" u="none" strike="noStrike" kern="0" cap="none" spc="0" normalizeH="0" baseline="-2500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m1</a:t>
              </a: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} </a:t>
              </a:r>
              <a:r>
                <a:rPr lang="zh-CN" altLang="en-US" sz="2400" kern="0" dirty="0">
                  <a:solidFill>
                    <a:sysClr val="windowText" lastClr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和</a:t>
              </a: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                    </a:t>
              </a:r>
              <a:r>
                <a:rPr kumimoji="0" lang="zh-CN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满足下列</a:t>
              </a: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KKT</a:t>
              </a:r>
              <a:r>
                <a:rPr kumimoji="0" lang="zh-CN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条件</a:t>
              </a: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:</a:t>
              </a:r>
            </a:p>
          </p:txBody>
        </p:sp>
        <p:graphicFrame>
          <p:nvGraphicFramePr>
            <p:cNvPr id="15" name="Object 16"/>
            <p:cNvGraphicFramePr>
              <a:graphicFrameLocks noChangeAspect="1"/>
            </p:cNvGraphicFramePr>
            <p:nvPr/>
          </p:nvGraphicFramePr>
          <p:xfrm>
            <a:off x="928" y="1635"/>
            <a:ext cx="934" cy="2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757" name="Equation" r:id="rId11" imgW="1790700" imgH="508000" progId="Equation.DSMT4">
                    <p:embed/>
                  </p:oleObj>
                </mc:Choice>
                <mc:Fallback>
                  <p:oleObj name="Equation" r:id="rId11" imgW="1790700" imgH="508000" progId="Equation.DSMT4">
                    <p:embed/>
                    <p:pic>
                      <p:nvPicPr>
                        <p:cNvPr id="0" name="Picture 50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28" y="1635"/>
                          <a:ext cx="934" cy="26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6" name="Line 18"/>
          <p:cNvSpPr>
            <a:spLocks noChangeShapeType="1"/>
          </p:cNvSpPr>
          <p:nvPr/>
        </p:nvSpPr>
        <p:spPr bwMode="auto">
          <a:xfrm flipH="1">
            <a:off x="6270413" y="3488532"/>
            <a:ext cx="431800" cy="0"/>
          </a:xfrm>
          <a:prstGeom prst="line">
            <a:avLst/>
          </a:prstGeom>
          <a:noFill/>
          <a:ln w="25400">
            <a:solidFill>
              <a:srgbClr val="FF66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AU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7" name="Line 19"/>
          <p:cNvSpPr>
            <a:spLocks noChangeShapeType="1"/>
          </p:cNvSpPr>
          <p:nvPr/>
        </p:nvSpPr>
        <p:spPr bwMode="auto">
          <a:xfrm flipH="1">
            <a:off x="3214687" y="4278088"/>
            <a:ext cx="3527425" cy="0"/>
          </a:xfrm>
          <a:prstGeom prst="line">
            <a:avLst/>
          </a:prstGeom>
          <a:noFill/>
          <a:ln w="25400">
            <a:solidFill>
              <a:srgbClr val="FF66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AU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8" name="Line 20"/>
          <p:cNvSpPr>
            <a:spLocks noChangeShapeType="1"/>
          </p:cNvSpPr>
          <p:nvPr/>
        </p:nvSpPr>
        <p:spPr bwMode="auto">
          <a:xfrm flipH="1">
            <a:off x="4076699" y="4910700"/>
            <a:ext cx="2665413" cy="0"/>
          </a:xfrm>
          <a:prstGeom prst="line">
            <a:avLst/>
          </a:prstGeom>
          <a:noFill/>
          <a:ln w="25400">
            <a:solidFill>
              <a:srgbClr val="FF66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AU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9" name="Line 21"/>
          <p:cNvSpPr>
            <a:spLocks noChangeShapeType="1"/>
          </p:cNvSpPr>
          <p:nvPr/>
        </p:nvSpPr>
        <p:spPr bwMode="auto">
          <a:xfrm flipH="1">
            <a:off x="6726237" y="5570414"/>
            <a:ext cx="504825" cy="0"/>
          </a:xfrm>
          <a:prstGeom prst="line">
            <a:avLst/>
          </a:prstGeom>
          <a:noFill/>
          <a:ln w="25400">
            <a:solidFill>
              <a:srgbClr val="FF66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AU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8AB24-03BF-43BF-9A7A-215BCD941940}" type="datetime1">
              <a:rPr lang="en-US" altLang="zh-CN" smtClean="0"/>
              <a:pPr/>
              <a:t>3/31/2025</a:t>
            </a:fld>
            <a:endParaRPr lang="en-US"/>
          </a:p>
        </p:txBody>
      </p:sp>
      <p:sp>
        <p:nvSpPr>
          <p:cNvPr id="22" name="灯片编号占位符 21"/>
          <p:cNvSpPr>
            <a:spLocks noGrp="1"/>
          </p:cNvSpPr>
          <p:nvPr>
            <p:ph type="sldNum" sz="quarter" idx="12"/>
          </p:nvPr>
        </p:nvSpPr>
        <p:spPr>
          <a:xfrm>
            <a:off x="8697912" y="31027"/>
            <a:ext cx="1066800" cy="329184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36</a:t>
            </a:fld>
            <a:endParaRPr lang="en-US" dirty="0"/>
          </a:p>
        </p:txBody>
      </p:sp>
      <p:sp>
        <p:nvSpPr>
          <p:cNvPr id="21" name="页脚占位符 2">
            <a:extLst>
              <a:ext uri="{FF2B5EF4-FFF2-40B4-BE49-F238E27FC236}">
                <a16:creationId xmlns:a16="http://schemas.microsoft.com/office/drawing/2014/main" id="{3F378FA6-975C-4C76-9F9A-79E79B7F6B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8905" y="19050"/>
            <a:ext cx="4831731" cy="328613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交通大数据</a:t>
            </a: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· </a:t>
            </a: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东南大学 刘志远教授</a:t>
            </a:r>
            <a:endParaRPr kumimoji="0" lang="en-US" altLang="zh-CN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36554" y="359789"/>
            <a:ext cx="8771641" cy="990600"/>
          </a:xfrm>
        </p:spPr>
        <p:txBody>
          <a:bodyPr>
            <a:normAutofit/>
          </a:bodyPr>
          <a:lstStyle/>
          <a:p>
            <a:r>
              <a:rPr lang="zh-CN" altLang="en-US" kern="0" spc="0" dirty="0">
                <a:solidFill>
                  <a:srgbClr val="1F497D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约束条件</a:t>
            </a:r>
            <a:r>
              <a:rPr lang="en-US" altLang="zh-CN" kern="0" spc="0" dirty="0">
                <a:solidFill>
                  <a:srgbClr val="1F497D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(CQ) </a:t>
            </a:r>
            <a:r>
              <a:rPr lang="zh-CN" altLang="en-US" kern="0" spc="0" dirty="0">
                <a:solidFill>
                  <a:srgbClr val="1F497D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或正则条件（阅读）</a:t>
            </a:r>
            <a:endParaRPr lang="zh-CN" altLang="en-US" sz="54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199" y="1350389"/>
            <a:ext cx="8771641" cy="5507611"/>
          </a:xfrm>
        </p:spPr>
        <p:txBody>
          <a:bodyPr>
            <a:normAutofit lnSpcReduction="10000"/>
          </a:bodyPr>
          <a:lstStyle/>
          <a:p>
            <a:pPr>
              <a:lnSpc>
                <a:spcPct val="160000"/>
              </a:lnSpc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当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KKT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条件成立时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                   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必须满足一定的正则条件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通常也称为</a:t>
            </a:r>
            <a:r>
              <a:rPr lang="en-US" altLang="zh-CN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constraint qualifications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    </a:t>
            </a:r>
          </a:p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最常用的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CQs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如下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</a:p>
          <a:p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线性约束条件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(LCQ):</a:t>
            </a:r>
          </a:p>
          <a:p>
            <a:pPr marL="0" indent="0">
              <a:buNone/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如果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       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是仿射函数，则不需要其他的条件成立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线性独立约束条件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(LICQ):</a:t>
            </a:r>
          </a:p>
          <a:p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……</a:t>
            </a:r>
          </a:p>
          <a:p>
            <a:pPr marL="0" indent="0">
              <a:buNone/>
            </a:pP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Reference: </a:t>
            </a:r>
          </a:p>
          <a:p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Chapter 5 of </a:t>
            </a:r>
            <a:r>
              <a:rPr lang="en-US" altLang="zh-CN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Nonlinear Programming: Theory and Algorithms 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</a:t>
            </a:r>
            <a:r>
              <a:rPr lang="en-US" altLang="zh-C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Bazaraa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 al. (1993)  </a:t>
            </a:r>
          </a:p>
          <a:p>
            <a:r>
              <a:rPr lang="pt-BR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Eustaquio, R. G., Karas, E. W., &amp; Ribeiro, A. A. (2010). Constraint qualifications for nonlinear programming</a:t>
            </a:r>
            <a:r>
              <a:rPr lang="pt-BR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Object 12"/>
          <p:cNvGraphicFramePr>
            <a:graphicFrameLocks noChangeAspect="1"/>
          </p:cNvGraphicFramePr>
          <p:nvPr/>
        </p:nvGraphicFramePr>
        <p:xfrm>
          <a:off x="1360830" y="3301723"/>
          <a:ext cx="1349418" cy="4019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55" name="Equation" r:id="rId3" imgW="42976800" imgH="12496800" progId="Equation.DSMT4">
                  <p:embed/>
                </p:oleObj>
              </mc:Choice>
              <mc:Fallback>
                <p:oleObj name="Equation" r:id="rId3" imgW="42976800" imgH="12496800" progId="Equation.DSMT4">
                  <p:embed/>
                  <p:pic>
                    <p:nvPicPr>
                      <p:cNvPr id="0" name="Picture 29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60830" y="3301723"/>
                        <a:ext cx="1349418" cy="40195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12"/>
          <p:cNvGraphicFramePr>
            <a:graphicFrameLocks noChangeAspect="1"/>
          </p:cNvGraphicFramePr>
          <p:nvPr/>
        </p:nvGraphicFramePr>
        <p:xfrm>
          <a:off x="775945" y="4104194"/>
          <a:ext cx="4334698" cy="4912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56" name="Equation" r:id="rId5" imgW="98755200" imgH="12496800" progId="Equation.DSMT4">
                  <p:embed/>
                </p:oleObj>
              </mc:Choice>
              <mc:Fallback>
                <p:oleObj name="Equation" r:id="rId5" imgW="98755200" imgH="12496800" progId="Equation.DSMT4">
                  <p:embed/>
                  <p:pic>
                    <p:nvPicPr>
                      <p:cNvPr id="0" name="Picture 29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5945" y="4104194"/>
                        <a:ext cx="4334698" cy="49122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2032351"/>
              </p:ext>
            </p:extLst>
          </p:nvPr>
        </p:nvGraphicFramePr>
        <p:xfrm>
          <a:off x="3300841" y="1482920"/>
          <a:ext cx="1521534" cy="4532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57" name="Equation" r:id="rId7" imgW="42976800" imgH="12496800" progId="Equation.DSMT4">
                  <p:embed/>
                </p:oleObj>
              </mc:Choice>
              <mc:Fallback>
                <p:oleObj name="Equation" r:id="rId7" imgW="42976800" imgH="12496800" progId="Equation.DSMT4">
                  <p:embed/>
                  <p:pic>
                    <p:nvPicPr>
                      <p:cNvPr id="0" name="Picture 29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00841" y="1482920"/>
                        <a:ext cx="1521534" cy="45322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E218A-7143-4D3D-8B3D-AA934D0A7177}" type="datetime1">
              <a:rPr lang="en-US" altLang="zh-CN" smtClean="0"/>
              <a:pPr/>
              <a:t>3/31/2025</a:t>
            </a:fld>
            <a:endParaRPr 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>
          <a:xfrm>
            <a:off x="8769844" y="11222"/>
            <a:ext cx="1066800" cy="329184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37</a:t>
            </a:fld>
            <a:endParaRPr lang="en-US" dirty="0"/>
          </a:p>
        </p:txBody>
      </p:sp>
      <p:sp>
        <p:nvSpPr>
          <p:cNvPr id="9" name="页脚占位符 2">
            <a:extLst>
              <a:ext uri="{FF2B5EF4-FFF2-40B4-BE49-F238E27FC236}">
                <a16:creationId xmlns:a16="http://schemas.microsoft.com/office/drawing/2014/main" id="{EBCFE3E6-7B9D-49E9-AA68-A6AE2F0EF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8905" y="19050"/>
            <a:ext cx="4831731" cy="328613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交通大数据</a:t>
            </a: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· </a:t>
            </a: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东南大学 刘志远教授</a:t>
            </a:r>
            <a:endParaRPr kumimoji="0" lang="en-US" altLang="zh-CN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spcBef>
                <a:spcPts val="0"/>
              </a:spcBef>
              <a:defRPr/>
            </a:pPr>
            <a:r>
              <a:rPr lang="en-US" altLang="zh-CN" b="1" kern="0" spc="0" dirty="0">
                <a:solidFill>
                  <a:srgbClr val="1F497D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KKT </a:t>
            </a:r>
            <a:r>
              <a:rPr lang="zh-CN" altLang="en-US" kern="0" spc="0" dirty="0">
                <a:solidFill>
                  <a:srgbClr val="1F497D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条件</a:t>
            </a:r>
            <a:endParaRPr lang="zh-CN" altLang="en-US" sz="48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注意</a:t>
            </a:r>
          </a:p>
        </p:txBody>
      </p:sp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641668" y="2197100"/>
            <a:ext cx="813752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FF66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2286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228600" marR="0" lvl="0" indent="-22860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defRPr/>
            </a:pPr>
            <a:r>
              <a:rPr kumimoji="0" lang="en-US" sz="240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rPr>
              <a:t>KKT</a:t>
            </a:r>
            <a:r>
              <a:rPr kumimoji="0" lang="zh-CN" altLang="en-US" sz="240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条件是</a:t>
            </a:r>
            <a:r>
              <a:rPr kumimoji="0" lang="en-US" altLang="zh-CN" sz="240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anose="02010600030101010101" pitchFamily="2" charset="-122"/>
                <a:cs typeface="Times New Roman" panose="02020603050405020304" pitchFamily="18" charset="0"/>
              </a:rPr>
              <a:t>NLP</a:t>
            </a:r>
            <a:r>
              <a:rPr kumimoji="0" lang="zh-CN" altLang="en-US" sz="240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获得局部极小值的必要条件</a:t>
            </a:r>
            <a:endParaRPr kumimoji="0" lang="en-US" sz="240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Text Box 7"/>
          <p:cNvSpPr txBox="1">
            <a:spLocks noChangeArrowheads="1"/>
          </p:cNvSpPr>
          <p:nvPr/>
        </p:nvSpPr>
        <p:spPr bwMode="auto">
          <a:xfrm>
            <a:off x="641667" y="3420066"/>
            <a:ext cx="8137525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FF66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2286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lvl="1" indent="-228600" defTabSz="914400">
              <a:lnSpc>
                <a:spcPct val="150000"/>
              </a:lnSpc>
              <a:spcBef>
                <a:spcPct val="50000"/>
              </a:spcBef>
              <a:buFont typeface="Wingdings" panose="05000000000000000000" pitchFamily="2" charset="2"/>
              <a:buChar char="§"/>
              <a:defRPr/>
            </a:pPr>
            <a:r>
              <a:rPr kumimoji="0" lang="zh-CN" altLang="en-US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对于凸规划问题，任意一个</a:t>
            </a:r>
            <a:r>
              <a:rPr kumimoji="0" lang="zh-CN" altLang="en-US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局部</a:t>
            </a:r>
            <a:r>
              <a:rPr kumimoji="0" lang="zh-CN" altLang="en-US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极小值点就是</a:t>
            </a:r>
            <a:r>
              <a:rPr kumimoji="0" lang="zh-CN" altLang="en-US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全局</a:t>
            </a:r>
            <a:r>
              <a:rPr kumimoji="0" lang="zh-CN" altLang="en-US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极小值点。</a:t>
            </a:r>
            <a:endParaRPr kumimoji="0" lang="en-US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" name="Text Box 8"/>
          <p:cNvSpPr txBox="1">
            <a:spLocks noChangeArrowheads="1"/>
          </p:cNvSpPr>
          <p:nvPr/>
        </p:nvSpPr>
        <p:spPr bwMode="auto">
          <a:xfrm>
            <a:off x="641668" y="2882201"/>
            <a:ext cx="813752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FF66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2286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228600" marR="0" lvl="0" indent="-22860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</a:rPr>
              <a:t>KKT</a:t>
            </a:r>
            <a:r>
              <a:rPr kumimoji="0" lang="zh-CN" altLang="en-US" sz="240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条件是</a:t>
            </a:r>
            <a:r>
              <a:rPr kumimoji="0" lang="zh-CN" altLang="en-US" sz="24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凸规划问题</a:t>
            </a:r>
            <a:r>
              <a:rPr kumimoji="0" lang="zh-CN" altLang="en-US" sz="240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获得局部极小值的充要条件</a:t>
            </a:r>
            <a:endParaRPr kumimoji="0" lang="en-US" sz="240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Text Box 9"/>
          <p:cNvSpPr txBox="1">
            <a:spLocks noChangeArrowheads="1"/>
          </p:cNvSpPr>
          <p:nvPr/>
        </p:nvSpPr>
        <p:spPr bwMode="auto">
          <a:xfrm>
            <a:off x="641666" y="4594356"/>
            <a:ext cx="813752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FF66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2286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lvl="1" indent="-228600" defTabSz="914400">
              <a:spcBef>
                <a:spcPct val="50000"/>
              </a:spcBef>
              <a:buFont typeface="Wingdings" panose="05000000000000000000" pitchFamily="2" charset="2"/>
              <a:buChar char="§"/>
              <a:defRPr/>
            </a:pPr>
            <a:r>
              <a:rPr kumimoji="0" lang="zh-CN" altLang="en-US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因此，</a:t>
            </a:r>
            <a:r>
              <a:rPr kumimoji="0" lang="en-US" altLang="zh-CN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KKT</a:t>
            </a:r>
            <a:r>
              <a:rPr kumimoji="0" lang="zh-CN" altLang="en-US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条件是凸规划问题</a:t>
            </a:r>
            <a:r>
              <a:rPr lang="zh-CN" altLang="en-US" kern="0" dirty="0">
                <a:latin typeface="宋体" panose="02010600030101010101" pitchFamily="2" charset="-122"/>
                <a:ea typeface="宋体" panose="02010600030101010101" pitchFamily="2" charset="-122"/>
              </a:rPr>
              <a:t>获得</a:t>
            </a:r>
            <a:r>
              <a:rPr lang="zh-CN" altLang="en-US" kern="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全局</a:t>
            </a:r>
            <a:r>
              <a:rPr lang="zh-CN" altLang="en-US" kern="0" dirty="0">
                <a:latin typeface="宋体" panose="02010600030101010101" pitchFamily="2" charset="-122"/>
                <a:ea typeface="宋体" panose="02010600030101010101" pitchFamily="2" charset="-122"/>
              </a:rPr>
              <a:t>极小值的充要条件。</a:t>
            </a:r>
            <a:endParaRPr kumimoji="0" lang="en-US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FA0A7-8CD7-4EC0-B6FB-43588537728A}" type="datetime1">
              <a:rPr lang="en-US" altLang="zh-CN" smtClean="0"/>
              <a:pPr/>
              <a:t>3/31/2025</a:t>
            </a:fld>
            <a:endParaRPr lang="en-US"/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12"/>
          </p:nvPr>
        </p:nvSpPr>
        <p:spPr>
          <a:xfrm>
            <a:off x="7620000" y="18288"/>
            <a:ext cx="1066800" cy="329184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83971"/>
            <a:ext cx="8229600" cy="990600"/>
          </a:xfrm>
        </p:spPr>
        <p:txBody>
          <a:bodyPr>
            <a:normAutofit/>
          </a:bodyPr>
          <a:lstStyle/>
          <a:p>
            <a:pPr lvl="0">
              <a:spcBef>
                <a:spcPts val="0"/>
              </a:spcBef>
              <a:defRPr/>
            </a:pPr>
            <a:r>
              <a:rPr lang="en-US" altLang="zh-CN" b="1" kern="0" spc="0" dirty="0">
                <a:solidFill>
                  <a:srgbClr val="1F497D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KKT </a:t>
            </a:r>
            <a:r>
              <a:rPr lang="zh-CN" altLang="en-US" kern="0" spc="0" dirty="0">
                <a:solidFill>
                  <a:srgbClr val="1F497D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条件</a:t>
            </a:r>
            <a:endParaRPr lang="zh-CN" altLang="en-US" sz="48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32840"/>
            <a:ext cx="8229600" cy="4876800"/>
          </a:xfrm>
        </p:spPr>
        <p:txBody>
          <a:bodyPr/>
          <a:lstStyle/>
          <a:p>
            <a:pPr marL="228600" lvl="0" indent="-228600">
              <a:spcBef>
                <a:spcPct val="50000"/>
              </a:spcBef>
              <a:buClrTx/>
              <a:buSzPct val="60000"/>
              <a:buFont typeface="Wingdings" panose="05000000000000000000" pitchFamily="2" charset="2"/>
              <a:buChar char="q"/>
              <a:defRPr/>
            </a:pPr>
            <a:r>
              <a:rPr lang="zh-CN" altLang="en-US" sz="2800" kern="0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800" kern="0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</a:p>
          <a:p>
            <a:endParaRPr lang="zh-CN" altLang="en-US" dirty="0"/>
          </a:p>
        </p:txBody>
      </p:sp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550862" y="1706174"/>
            <a:ext cx="813593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FF66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400" kern="0" dirty="0">
                <a:solidFill>
                  <a:sysClr val="windowText" lastClr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检查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x*=(0.5,1.5)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zh-CN" altLang="en-US" sz="240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是不是如下最小化问题的唯一全局最优解</a:t>
            </a:r>
            <a:r>
              <a:rPr lang="zh-CN" altLang="en-US" sz="2400" kern="0" dirty="0">
                <a:solidFill>
                  <a:sysClr val="windowText" lastClr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endParaRPr kumimoji="0" lang="en-US" sz="240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6" name="Object 7"/>
          <p:cNvGraphicFramePr>
            <a:graphicFrameLocks noChangeAspect="1"/>
          </p:cNvGraphicFramePr>
          <p:nvPr/>
        </p:nvGraphicFramePr>
        <p:xfrm>
          <a:off x="2454275" y="2215464"/>
          <a:ext cx="37846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23" name="Equation" r:id="rId3" imgW="3784600" imgH="495300" progId="Equation.DSMT4">
                  <p:embed/>
                </p:oleObj>
              </mc:Choice>
              <mc:Fallback>
                <p:oleObj name="Equation" r:id="rId3" imgW="3784600" imgH="495300" progId="Equation.DSMT4">
                  <p:embed/>
                  <p:pic>
                    <p:nvPicPr>
                      <p:cNvPr id="0" name="Picture 68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4275" y="2215464"/>
                        <a:ext cx="3784600" cy="495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8"/>
          <p:cNvGraphicFramePr>
            <a:graphicFrameLocks noChangeAspect="1"/>
          </p:cNvGraphicFramePr>
          <p:nvPr/>
        </p:nvGraphicFramePr>
        <p:xfrm>
          <a:off x="2454275" y="3082244"/>
          <a:ext cx="12700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24" name="Equation" r:id="rId5" imgW="1269449" imgH="380835" progId="Equation.DSMT4">
                  <p:embed/>
                </p:oleObj>
              </mc:Choice>
              <mc:Fallback>
                <p:oleObj name="Equation" r:id="rId5" imgW="1269449" imgH="380835" progId="Equation.DSMT4">
                  <p:embed/>
                  <p:pic>
                    <p:nvPicPr>
                      <p:cNvPr id="0" name="Picture 69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4275" y="3082244"/>
                        <a:ext cx="1270000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9"/>
          <p:cNvGraphicFramePr>
            <a:graphicFrameLocks noChangeAspect="1"/>
          </p:cNvGraphicFramePr>
          <p:nvPr/>
        </p:nvGraphicFramePr>
        <p:xfrm>
          <a:off x="2451100" y="3481619"/>
          <a:ext cx="7239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25" name="Equation" r:id="rId7" imgW="723586" imgH="380835" progId="Equation.DSMT4">
                  <p:embed/>
                </p:oleObj>
              </mc:Choice>
              <mc:Fallback>
                <p:oleObj name="Equation" r:id="rId7" imgW="723586" imgH="380835" progId="Equation.DSMT4">
                  <p:embed/>
                  <p:pic>
                    <p:nvPicPr>
                      <p:cNvPr id="0" name="Picture 69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1100" y="3481619"/>
                        <a:ext cx="723900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10"/>
          <p:cNvSpPr txBox="1">
            <a:spLocks noChangeArrowheads="1"/>
          </p:cNvSpPr>
          <p:nvPr/>
        </p:nvSpPr>
        <p:spPr bwMode="auto">
          <a:xfrm>
            <a:off x="1252046" y="2623690"/>
            <a:ext cx="15113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subject to</a:t>
            </a:r>
          </a:p>
        </p:txBody>
      </p:sp>
      <p:graphicFrame>
        <p:nvGraphicFramePr>
          <p:cNvPr id="10" name="Object 11"/>
          <p:cNvGraphicFramePr>
            <a:graphicFrameLocks noChangeAspect="1"/>
          </p:cNvGraphicFramePr>
          <p:nvPr/>
        </p:nvGraphicFramePr>
        <p:xfrm>
          <a:off x="2451100" y="3951910"/>
          <a:ext cx="8001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26" name="Equation" r:id="rId9" imgW="799753" imgH="330057" progId="Equation.DSMT4">
                  <p:embed/>
                </p:oleObj>
              </mc:Choice>
              <mc:Fallback>
                <p:oleObj name="Equation" r:id="rId9" imgW="799753" imgH="330057" progId="Equation.DSMT4">
                  <p:embed/>
                  <p:pic>
                    <p:nvPicPr>
                      <p:cNvPr id="0" name="Picture 69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1100" y="3951910"/>
                        <a:ext cx="800100" cy="330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Box 12"/>
          <p:cNvSpPr txBox="1">
            <a:spLocks noChangeArrowheads="1"/>
          </p:cNvSpPr>
          <p:nvPr/>
        </p:nvSpPr>
        <p:spPr bwMode="auto">
          <a:xfrm>
            <a:off x="550862" y="4630103"/>
            <a:ext cx="55451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FF66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(1) </a:t>
            </a:r>
            <a:r>
              <a:rPr lang="zh-CN" altLang="en-US" sz="2400" kern="0" dirty="0">
                <a:solidFill>
                  <a:sysClr val="windowText" lastClr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检验可行性条件</a:t>
            </a:r>
            <a:r>
              <a:rPr kumimoji="0" lang="en-US" sz="240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</a:p>
        </p:txBody>
      </p:sp>
      <p:graphicFrame>
        <p:nvGraphicFramePr>
          <p:cNvPr id="12" name="Object 13"/>
          <p:cNvGraphicFramePr>
            <a:graphicFrameLocks noChangeAspect="1"/>
          </p:cNvGraphicFramePr>
          <p:nvPr/>
        </p:nvGraphicFramePr>
        <p:xfrm>
          <a:off x="2475149" y="5151699"/>
          <a:ext cx="13081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27" name="Equation" r:id="rId11" imgW="1308100" imgH="419100" progId="Equation.DSMT4">
                  <p:embed/>
                </p:oleObj>
              </mc:Choice>
              <mc:Fallback>
                <p:oleObj name="Equation" r:id="rId11" imgW="1308100" imgH="419100" progId="Equation.DSMT4">
                  <p:embed/>
                  <p:pic>
                    <p:nvPicPr>
                      <p:cNvPr id="0" name="Picture 69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5149" y="5151699"/>
                        <a:ext cx="1308100" cy="419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4"/>
          <p:cNvGraphicFramePr>
            <a:graphicFrameLocks noChangeAspect="1"/>
          </p:cNvGraphicFramePr>
          <p:nvPr/>
        </p:nvGraphicFramePr>
        <p:xfrm>
          <a:off x="2475149" y="5614353"/>
          <a:ext cx="14351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28" name="Equation" r:id="rId13" imgW="1435100" imgH="419100" progId="Equation.DSMT4">
                  <p:embed/>
                </p:oleObj>
              </mc:Choice>
              <mc:Fallback>
                <p:oleObj name="Equation" r:id="rId13" imgW="1435100" imgH="419100" progId="Equation.DSMT4">
                  <p:embed/>
                  <p:pic>
                    <p:nvPicPr>
                      <p:cNvPr id="0" name="Picture 69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5149" y="5614353"/>
                        <a:ext cx="1435100" cy="419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6"/>
          <p:cNvGraphicFramePr>
            <a:graphicFrameLocks noChangeAspect="1"/>
          </p:cNvGraphicFramePr>
          <p:nvPr/>
        </p:nvGraphicFramePr>
        <p:xfrm>
          <a:off x="2470150" y="6094574"/>
          <a:ext cx="14097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29" name="Equation" r:id="rId15" imgW="1409700" imgH="419100" progId="Equation.DSMT4">
                  <p:embed/>
                </p:oleObj>
              </mc:Choice>
              <mc:Fallback>
                <p:oleObj name="Equation" r:id="rId15" imgW="1409700" imgH="419100" progId="Equation.DSMT4">
                  <p:embed/>
                  <p:pic>
                    <p:nvPicPr>
                      <p:cNvPr id="0" name="Picture 69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0150" y="6094574"/>
                        <a:ext cx="1409700" cy="419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" name="Group 23"/>
          <p:cNvGrpSpPr/>
          <p:nvPr/>
        </p:nvGrpSpPr>
        <p:grpSpPr bwMode="auto">
          <a:xfrm>
            <a:off x="4148440" y="2966376"/>
            <a:ext cx="1223962" cy="1393825"/>
            <a:chOff x="2699" y="2160"/>
            <a:chExt cx="771" cy="878"/>
          </a:xfrm>
        </p:grpSpPr>
        <p:sp>
          <p:nvSpPr>
            <p:cNvPr id="16" name="Text Box 17"/>
            <p:cNvSpPr txBox="1">
              <a:spLocks noChangeArrowheads="1"/>
            </p:cNvSpPr>
            <p:nvPr/>
          </p:nvSpPr>
          <p:spPr bwMode="auto">
            <a:xfrm>
              <a:off x="3152" y="2160"/>
              <a:ext cx="31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FF66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</a:rPr>
                <a:t>u</a:t>
              </a:r>
              <a:r>
                <a:rPr kumimoji="0" lang="en-US" sz="2400" b="0" i="0" u="none" strike="noStrike" kern="0" cap="none" spc="0" normalizeH="0" baseline="-2500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</a:rPr>
                <a:t>1</a:t>
              </a:r>
            </a:p>
          </p:txBody>
        </p:sp>
        <p:sp>
          <p:nvSpPr>
            <p:cNvPr id="17" name="Text Box 18"/>
            <p:cNvSpPr txBox="1">
              <a:spLocks noChangeArrowheads="1"/>
            </p:cNvSpPr>
            <p:nvPr/>
          </p:nvSpPr>
          <p:spPr bwMode="auto">
            <a:xfrm>
              <a:off x="3152" y="2432"/>
              <a:ext cx="31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FF66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</a:rPr>
                <a:t>u</a:t>
              </a:r>
              <a:r>
                <a:rPr kumimoji="0" lang="en-US" sz="2400" b="0" i="0" u="none" strike="noStrike" kern="0" cap="none" spc="0" normalizeH="0" baseline="-2500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</a:rPr>
                <a:t>2</a:t>
              </a:r>
            </a:p>
          </p:txBody>
        </p:sp>
        <p:sp>
          <p:nvSpPr>
            <p:cNvPr id="18" name="Text Box 19"/>
            <p:cNvSpPr txBox="1">
              <a:spLocks noChangeArrowheads="1"/>
            </p:cNvSpPr>
            <p:nvPr/>
          </p:nvSpPr>
          <p:spPr bwMode="auto">
            <a:xfrm>
              <a:off x="3152" y="2750"/>
              <a:ext cx="31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FF66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</a:rPr>
                <a:t>u</a:t>
              </a:r>
              <a:r>
                <a:rPr kumimoji="0" lang="en-US" sz="2400" b="0" i="0" u="none" strike="noStrike" kern="0" cap="none" spc="0" normalizeH="0" baseline="-2500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</a:rPr>
                <a:t>3</a:t>
              </a:r>
            </a:p>
          </p:txBody>
        </p:sp>
        <p:sp>
          <p:nvSpPr>
            <p:cNvPr id="19" name="Line 20"/>
            <p:cNvSpPr>
              <a:spLocks noChangeShapeType="1"/>
            </p:cNvSpPr>
            <p:nvPr/>
          </p:nvSpPr>
          <p:spPr bwMode="auto">
            <a:xfrm flipH="1">
              <a:off x="2699" y="2296"/>
              <a:ext cx="453" cy="0"/>
            </a:xfrm>
            <a:prstGeom prst="line">
              <a:avLst/>
            </a:prstGeom>
            <a:noFill/>
            <a:ln w="25400">
              <a:solidFill>
                <a:srgbClr val="FF66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0" name="Line 21"/>
            <p:cNvSpPr>
              <a:spLocks noChangeShapeType="1"/>
            </p:cNvSpPr>
            <p:nvPr/>
          </p:nvSpPr>
          <p:spPr bwMode="auto">
            <a:xfrm flipH="1">
              <a:off x="2744" y="2568"/>
              <a:ext cx="454" cy="0"/>
            </a:xfrm>
            <a:prstGeom prst="line">
              <a:avLst/>
            </a:prstGeom>
            <a:noFill/>
            <a:ln w="25400">
              <a:solidFill>
                <a:srgbClr val="FF66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1" name="Line 22"/>
            <p:cNvSpPr>
              <a:spLocks noChangeShapeType="1"/>
            </p:cNvSpPr>
            <p:nvPr/>
          </p:nvSpPr>
          <p:spPr bwMode="auto">
            <a:xfrm flipH="1">
              <a:off x="2744" y="2886"/>
              <a:ext cx="408" cy="0"/>
            </a:xfrm>
            <a:prstGeom prst="line">
              <a:avLst/>
            </a:prstGeom>
            <a:noFill/>
            <a:ln w="25400">
              <a:solidFill>
                <a:srgbClr val="FF66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072C1-8D26-467D-B211-6CE2BF128473}" type="datetime1">
              <a:rPr lang="en-US" altLang="zh-CN" smtClean="0"/>
              <a:pPr/>
              <a:t>3/31/2025</a:t>
            </a:fld>
            <a:endParaRPr lang="en-US"/>
          </a:p>
        </p:txBody>
      </p:sp>
      <p:sp>
        <p:nvSpPr>
          <p:cNvPr id="24" name="灯片编号占位符 23"/>
          <p:cNvSpPr>
            <a:spLocks noGrp="1"/>
          </p:cNvSpPr>
          <p:nvPr>
            <p:ph type="sldNum" sz="quarter" idx="12"/>
          </p:nvPr>
        </p:nvSpPr>
        <p:spPr>
          <a:xfrm>
            <a:off x="8686800" y="20807"/>
            <a:ext cx="1066800" cy="329184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39</a:t>
            </a:fld>
            <a:endParaRPr lang="en-US" dirty="0"/>
          </a:p>
        </p:txBody>
      </p:sp>
      <p:sp>
        <p:nvSpPr>
          <p:cNvPr id="23" name="页脚占位符 2">
            <a:extLst>
              <a:ext uri="{FF2B5EF4-FFF2-40B4-BE49-F238E27FC236}">
                <a16:creationId xmlns:a16="http://schemas.microsoft.com/office/drawing/2014/main" id="{C523F321-694D-44AB-8F99-6727B23F2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8905" y="19050"/>
            <a:ext cx="4831731" cy="328613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交通大数据</a:t>
            </a: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· </a:t>
            </a: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东南大学 刘志远教授</a:t>
            </a:r>
            <a:endParaRPr kumimoji="0" lang="en-US" altLang="zh-CN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84504"/>
            <a:ext cx="8229600" cy="990600"/>
          </a:xfrm>
        </p:spPr>
        <p:txBody>
          <a:bodyPr>
            <a:normAutofit/>
          </a:bodyPr>
          <a:lstStyle/>
          <a:p>
            <a:pPr lvl="0">
              <a:spcBef>
                <a:spcPts val="0"/>
              </a:spcBef>
              <a:defRPr/>
            </a:pPr>
            <a:r>
              <a:rPr lang="en-US" altLang="zh-CN" b="1" kern="0" spc="0" dirty="0">
                <a:solidFill>
                  <a:srgbClr val="1F497D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KKT </a:t>
            </a:r>
            <a:r>
              <a:rPr lang="zh-CN" altLang="en-US" kern="0" spc="0" dirty="0">
                <a:solidFill>
                  <a:srgbClr val="1F497D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条件</a:t>
            </a:r>
            <a:endParaRPr lang="zh-CN" altLang="en-US" sz="48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364529"/>
            <a:ext cx="8229600" cy="5368779"/>
          </a:xfrm>
        </p:spPr>
        <p:txBody>
          <a:bodyPr>
            <a:normAutofit fontScale="85000" lnSpcReduction="20000"/>
          </a:bodyPr>
          <a:lstStyle/>
          <a:p>
            <a:pPr marL="0" lvl="0" indent="0">
              <a:spcBef>
                <a:spcPct val="50000"/>
              </a:spcBef>
              <a:buClrTx/>
              <a:buSzTx/>
              <a:buNone/>
              <a:defRPr/>
            </a:pPr>
            <a:r>
              <a:rPr lang="en-US" altLang="zh-CN" kern="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 </a:t>
            </a:r>
            <a:r>
              <a:rPr lang="zh-CN" altLang="en-US" kern="0" dirty="0">
                <a:solidFill>
                  <a:sysClr val="windowText" lastClr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检验互补松弛条件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spcBef>
                <a:spcPts val="600"/>
              </a:spcBef>
              <a:buClrTx/>
              <a:buSzTx/>
              <a:buNone/>
              <a:defRPr/>
            </a:pPr>
            <a:r>
              <a:rPr lang="en-US" altLang="zh-CN" kern="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(3) </a:t>
            </a:r>
            <a:r>
              <a:rPr lang="zh-CN" altLang="en-US" kern="0" dirty="0">
                <a:solidFill>
                  <a:sysClr val="windowText" lastClr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解</a:t>
            </a:r>
            <a:r>
              <a:rPr lang="en-US" altLang="zh-CN" kern="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KKT</a:t>
            </a:r>
            <a:r>
              <a:rPr lang="zh-CN" altLang="en-US" kern="0" dirty="0">
                <a:solidFill>
                  <a:sysClr val="windowText" lastClr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等式</a:t>
            </a:r>
            <a:endParaRPr lang="en-US" altLang="zh-CN" kern="0" dirty="0">
              <a:solidFill>
                <a:sysClr val="windowText" lastClr="000000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spcBef>
                <a:spcPct val="50000"/>
              </a:spcBef>
              <a:buClrTx/>
              <a:buSzTx/>
              <a:buNone/>
              <a:defRPr/>
            </a:pPr>
            <a:endParaRPr lang="en-US" altLang="zh-CN" kern="0" dirty="0"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spcBef>
                <a:spcPct val="50000"/>
              </a:spcBef>
              <a:buClrTx/>
              <a:buSzTx/>
              <a:buNone/>
              <a:defRPr/>
            </a:pPr>
            <a:r>
              <a:rPr lang="en-US" altLang="zh-CN" kern="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(4) </a:t>
            </a:r>
            <a:r>
              <a:rPr lang="zh-CN" altLang="en-US" kern="0" dirty="0">
                <a:solidFill>
                  <a:sysClr val="windowText" lastClr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检验非负条件</a:t>
            </a:r>
            <a:endParaRPr lang="en-US" altLang="zh-CN" kern="0" dirty="0">
              <a:solidFill>
                <a:sysClr val="windowText" lastClr="000000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lvl="0" indent="0">
              <a:spcBef>
                <a:spcPct val="50000"/>
              </a:spcBef>
              <a:buClrTx/>
              <a:buSzTx/>
              <a:buNone/>
              <a:defRPr/>
            </a:pPr>
            <a:endParaRPr lang="en-US" altLang="zh-CN" kern="0" dirty="0">
              <a:solidFill>
                <a:sysClr val="windowText" lastClr="000000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lvl="0" indent="0">
              <a:lnSpc>
                <a:spcPct val="220000"/>
              </a:lnSpc>
              <a:spcBef>
                <a:spcPct val="50000"/>
              </a:spcBef>
              <a:buClrTx/>
              <a:buSzTx/>
              <a:buNone/>
              <a:defRPr/>
            </a:pPr>
            <a:r>
              <a:rPr lang="zh-CN" altLang="en-US" kern="0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海塞矩阵                               为正定，所以原问题为凸优化问题。</a:t>
            </a:r>
            <a:endParaRPr lang="en-US" altLang="zh-CN" kern="0" dirty="0">
              <a:solidFill>
                <a:sysClr val="windowText" lastClr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lvl="0" indent="0">
              <a:lnSpc>
                <a:spcPct val="220000"/>
              </a:lnSpc>
              <a:spcBef>
                <a:spcPct val="50000"/>
              </a:spcBef>
              <a:buClrTx/>
              <a:buSzTx/>
              <a:buNone/>
              <a:defRPr/>
            </a:pPr>
            <a:r>
              <a:rPr lang="zh-CN" altLang="en-US" kern="0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因此，</a:t>
            </a:r>
            <a:r>
              <a:rPr lang="en-US" altLang="zh-CN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x*=(0.5,1.5)</a:t>
            </a:r>
            <a:r>
              <a:rPr lang="en-US" altLang="zh-CN" kern="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kern="0" dirty="0">
                <a:solidFill>
                  <a:sysClr val="windowText" lastClr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是原问题的唯一全局最优解。</a:t>
            </a:r>
            <a:endParaRPr lang="en-US" altLang="zh-CN" kern="0" dirty="0">
              <a:solidFill>
                <a:sysClr val="windowText" lastClr="000000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spcBef>
                <a:spcPct val="50000"/>
              </a:spcBef>
              <a:buClrTx/>
              <a:buSzTx/>
              <a:buNone/>
              <a:defRPr/>
            </a:pPr>
            <a:endParaRPr lang="en-US" altLang="zh-CN" kern="0" dirty="0">
              <a:solidFill>
                <a:sysClr val="windowText" lastClr="000000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lvl="0" indent="0">
              <a:spcBef>
                <a:spcPct val="50000"/>
              </a:spcBef>
              <a:buClrTx/>
              <a:buSzTx/>
              <a:buNone/>
              <a:defRPr/>
            </a:pPr>
            <a:endParaRPr lang="en-US" altLang="zh-CN" kern="0" dirty="0">
              <a:solidFill>
                <a:sysClr val="windowText" lastClr="000000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754062" y="2408512"/>
            <a:ext cx="838993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FF66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kern="0" dirty="0">
                <a:solidFill>
                  <a:sysClr val="windowText" lastClr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可以知道</a:t>
            </a:r>
            <a:r>
              <a:rPr kumimoji="0" lang="en-US" sz="200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u</a:t>
            </a:r>
            <a:r>
              <a:rPr kumimoji="0" lang="en-US" sz="2000" b="0" i="0" u="none" strike="noStrike" kern="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2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=0,u</a:t>
            </a:r>
            <a:r>
              <a:rPr kumimoji="0" lang="en-US" sz="2000" b="0" i="0" u="none" strike="noStrike" kern="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3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=0 </a:t>
            </a:r>
            <a:r>
              <a:rPr lang="zh-CN" altLang="en-US" sz="2000" kern="0" dirty="0"/>
              <a:t>，</a:t>
            </a:r>
            <a:r>
              <a:rPr lang="zh-CN" altLang="en-US" sz="2000" kern="0" dirty="0">
                <a:latin typeface="宋体" panose="02010600030101010101" pitchFamily="2" charset="-122"/>
                <a:ea typeface="宋体" panose="02010600030101010101" pitchFamily="2" charset="-122"/>
              </a:rPr>
              <a:t>而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u</a:t>
            </a:r>
            <a:r>
              <a:rPr kumimoji="0" lang="en-US" sz="2000" b="0" i="0" u="none" strike="noStrike" kern="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1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 </a:t>
            </a:r>
            <a:r>
              <a:rPr kumimoji="0" lang="zh-CN" altLang="en-US" sz="200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是一个未知的非负乘子</a:t>
            </a:r>
            <a:endParaRPr kumimoji="0" lang="en-US" sz="200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6" name="Object 7"/>
          <p:cNvGraphicFramePr>
            <a:graphicFrameLocks noChangeAspect="1"/>
          </p:cNvGraphicFramePr>
          <p:nvPr/>
        </p:nvGraphicFramePr>
        <p:xfrm>
          <a:off x="1297710" y="1809640"/>
          <a:ext cx="5944755" cy="4699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25" name="Equation" r:id="rId3" imgW="6426200" imgH="508000" progId="Equation.DSMT4">
                  <p:embed/>
                </p:oleObj>
              </mc:Choice>
              <mc:Fallback>
                <p:oleObj name="Equation" r:id="rId3" imgW="6426200" imgH="508000" progId="Equation.DSMT4">
                  <p:embed/>
                  <p:pic>
                    <p:nvPicPr>
                      <p:cNvPr id="6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7710" y="1809640"/>
                        <a:ext cx="5944755" cy="46994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" name="组合 11">
            <a:extLst>
              <a:ext uri="{FF2B5EF4-FFF2-40B4-BE49-F238E27FC236}">
                <a16:creationId xmlns:a16="http://schemas.microsoft.com/office/drawing/2014/main" id="{472E01D1-A605-4639-94BA-8421514B3257}"/>
              </a:ext>
            </a:extLst>
          </p:cNvPr>
          <p:cNvGrpSpPr/>
          <p:nvPr/>
        </p:nvGrpSpPr>
        <p:grpSpPr>
          <a:xfrm>
            <a:off x="1096821" y="3270763"/>
            <a:ext cx="6351904" cy="936206"/>
            <a:chOff x="1003302" y="3416237"/>
            <a:chExt cx="6351904" cy="936206"/>
          </a:xfrm>
        </p:grpSpPr>
        <p:graphicFrame>
          <p:nvGraphicFramePr>
            <p:cNvPr id="7" name="Object 9"/>
            <p:cNvGraphicFramePr>
              <a:graphicFrameLocks noChangeAspect="1"/>
            </p:cNvGraphicFramePr>
            <p:nvPr/>
          </p:nvGraphicFramePr>
          <p:xfrm>
            <a:off x="1003302" y="3416237"/>
            <a:ext cx="4223327" cy="9362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826" name="Equation" r:id="rId5" imgW="5156200" imgH="1143000" progId="Equation.DSMT4">
                    <p:embed/>
                  </p:oleObj>
                </mc:Choice>
                <mc:Fallback>
                  <p:oleObj name="Equation" r:id="rId5" imgW="5156200" imgH="1143000" progId="Equation.DSMT4">
                    <p:embed/>
                    <p:pic>
                      <p:nvPicPr>
                        <p:cNvPr id="7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03302" y="3416237"/>
                          <a:ext cx="4223327" cy="936206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8" name="Group 15"/>
            <p:cNvGrpSpPr/>
            <p:nvPr/>
          </p:nvGrpSpPr>
          <p:grpSpPr bwMode="auto">
            <a:xfrm>
              <a:off x="5610540" y="3677304"/>
              <a:ext cx="1744666" cy="381000"/>
              <a:chOff x="3771" y="2795"/>
              <a:chExt cx="1099" cy="240"/>
            </a:xfrm>
          </p:grpSpPr>
          <p:sp>
            <p:nvSpPr>
              <p:cNvPr id="9" name="AutoShape 11"/>
              <p:cNvSpPr>
                <a:spLocks noChangeArrowheads="1"/>
              </p:cNvSpPr>
              <p:nvPr/>
            </p:nvSpPr>
            <p:spPr bwMode="auto">
              <a:xfrm>
                <a:off x="3771" y="2840"/>
                <a:ext cx="454" cy="136"/>
              </a:xfrm>
              <a:prstGeom prst="rightArrow">
                <a:avLst>
                  <a:gd name="adj1" fmla="val 50000"/>
                  <a:gd name="adj2" fmla="val 83456"/>
                </a:avLst>
              </a:prstGeom>
              <a:solidFill>
                <a:schemeClr val="accent1"/>
              </a:solidFill>
              <a:ln w="25400">
                <a:solidFill>
                  <a:srgbClr val="FF6600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graphicFrame>
            <p:nvGraphicFramePr>
              <p:cNvPr id="10" name="Object 12"/>
              <p:cNvGraphicFramePr>
                <a:graphicFrameLocks noChangeAspect="1"/>
              </p:cNvGraphicFramePr>
              <p:nvPr/>
            </p:nvGraphicFramePr>
            <p:xfrm>
              <a:off x="4422" y="2795"/>
              <a:ext cx="448" cy="24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827" name="Equation" r:id="rId7" imgW="710891" imgH="380835" progId="Equation.DSMT4">
                      <p:embed/>
                    </p:oleObj>
                  </mc:Choice>
                  <mc:Fallback>
                    <p:oleObj name="Equation" r:id="rId7" imgW="710891" imgH="380835" progId="Equation.DSMT4">
                      <p:embed/>
                      <p:pic>
                        <p:nvPicPr>
                          <p:cNvPr id="10" name="Object 1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422" y="2795"/>
                            <a:ext cx="448" cy="24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aphicFrame>
        <p:nvGraphicFramePr>
          <p:cNvPr id="11" name="Object 14"/>
          <p:cNvGraphicFramePr>
            <a:graphicFrameLocks noChangeAspect="1"/>
          </p:cNvGraphicFramePr>
          <p:nvPr/>
        </p:nvGraphicFramePr>
        <p:xfrm>
          <a:off x="2897359" y="4588764"/>
          <a:ext cx="28067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28" name="Equation" r:id="rId9" imgW="2806700" imgH="381000" progId="Equation.DSMT4">
                  <p:embed/>
                </p:oleObj>
              </mc:Choice>
              <mc:Fallback>
                <p:oleObj name="Equation" r:id="rId9" imgW="2806700" imgH="381000" progId="Equation.DSMT4">
                  <p:embed/>
                  <p:pic>
                    <p:nvPicPr>
                      <p:cNvPr id="11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7359" y="4588764"/>
                        <a:ext cx="2806700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DB08C-C8CE-4FD8-9AC4-B0149AD16A85}" type="datetime1">
              <a:rPr lang="en-US" altLang="zh-CN" smtClean="0"/>
              <a:pPr/>
              <a:t>3/31/2025</a:t>
            </a:fld>
            <a:endParaRPr lang="en-US"/>
          </a:p>
        </p:txBody>
      </p:sp>
      <p:sp>
        <p:nvSpPr>
          <p:cNvPr id="14" name="灯片编号占位符 13"/>
          <p:cNvSpPr>
            <a:spLocks noGrp="1"/>
          </p:cNvSpPr>
          <p:nvPr>
            <p:ph type="sldNum" sz="quarter" idx="12"/>
          </p:nvPr>
        </p:nvSpPr>
        <p:spPr>
          <a:xfrm>
            <a:off x="8686800" y="18288"/>
            <a:ext cx="1066800" cy="329184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40</a:t>
            </a:fld>
            <a:endParaRPr lang="en-US"/>
          </a:p>
        </p:txBody>
      </p:sp>
      <p:graphicFrame>
        <p:nvGraphicFramePr>
          <p:cNvPr id="13" name="Object 11">
            <a:extLst>
              <a:ext uri="{FF2B5EF4-FFF2-40B4-BE49-F238E27FC236}">
                <a16:creationId xmlns:a16="http://schemas.microsoft.com/office/drawing/2014/main" id="{0D3BF3AE-B947-4E77-A1D6-439595D27A7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45083" y="5164138"/>
          <a:ext cx="18161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29" name="Equation" r:id="rId11" imgW="1815840" imgH="736560" progId="Equation.DSMT4">
                  <p:embed/>
                </p:oleObj>
              </mc:Choice>
              <mc:Fallback>
                <p:oleObj name="Equation" r:id="rId11" imgW="1815840" imgH="736560" progId="Equation.DSMT4">
                  <p:embed/>
                  <p:pic>
                    <p:nvPicPr>
                      <p:cNvPr id="13" name="Object 11">
                        <a:extLst>
                          <a:ext uri="{FF2B5EF4-FFF2-40B4-BE49-F238E27FC236}">
                            <a16:creationId xmlns:a16="http://schemas.microsoft.com/office/drawing/2014/main" id="{0D3BF3AE-B947-4E77-A1D6-439595D27A7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5083" y="5164138"/>
                        <a:ext cx="18161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页脚占位符 2">
            <a:extLst>
              <a:ext uri="{FF2B5EF4-FFF2-40B4-BE49-F238E27FC236}">
                <a16:creationId xmlns:a16="http://schemas.microsoft.com/office/drawing/2014/main" id="{D498D27E-521C-4388-A2FC-DAC802AD22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8905" y="19050"/>
            <a:ext cx="4831731" cy="328613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交通大数据</a:t>
            </a: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· </a:t>
            </a: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东南大学 刘志远教授</a:t>
            </a:r>
            <a:endParaRPr kumimoji="0" lang="en-US" altLang="zh-CN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34102"/>
            <a:ext cx="8229600" cy="990600"/>
          </a:xfrm>
        </p:spPr>
        <p:txBody>
          <a:bodyPr/>
          <a:lstStyle/>
          <a:p>
            <a:r>
              <a:rPr lang="en-US" altLang="zh-CN" dirty="0"/>
              <a:t>KKT</a:t>
            </a:r>
            <a:r>
              <a:rPr lang="zh-CN" altLang="en-US" dirty="0"/>
              <a:t>条件</a:t>
            </a:r>
            <a:endParaRPr lang="zh-CN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89782" y="1275081"/>
            <a:ext cx="9184640" cy="4555876"/>
          </a:xfrm>
        </p:spPr>
        <p:txBody>
          <a:bodyPr/>
          <a:lstStyle/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zh-CN" altLang="zh-CN" dirty="0"/>
              <a:t>用</a:t>
            </a:r>
            <a:r>
              <a:rPr lang="en-US" altLang="zh-CN" dirty="0"/>
              <a:t>KKT</a:t>
            </a:r>
            <a:r>
              <a:rPr lang="zh-CN" altLang="zh-CN" dirty="0"/>
              <a:t>条件解</a:t>
            </a:r>
            <a:r>
              <a:rPr lang="zh-CN" altLang="en-US" dirty="0"/>
              <a:t>如下</a:t>
            </a:r>
            <a:r>
              <a:rPr lang="zh-CN" altLang="zh-CN" dirty="0"/>
              <a:t>非线性规划</a:t>
            </a:r>
            <a:r>
              <a:rPr lang="zh-CN" altLang="en-US" dirty="0"/>
              <a:t>问题</a:t>
            </a:r>
            <a:endParaRPr lang="en-US" altLang="zh-CN" dirty="0"/>
          </a:p>
          <a:p>
            <a:pPr marL="0" indent="0">
              <a:buNone/>
            </a:pP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zh-CN" altLang="zh-CN" dirty="0"/>
              <a:t>解： 先将该非线性规划问题写成以下形式：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算出</a:t>
            </a:r>
            <a:r>
              <a:rPr lang="zh-CN" altLang="zh-CN" dirty="0"/>
              <a:t>其目标函数和约束函数的梯度：</a:t>
            </a:r>
          </a:p>
          <a:p>
            <a:pPr marL="0" indent="0">
              <a:buNone/>
            </a:pPr>
            <a:endParaRPr lang="zh-CN" altLang="zh-CN" dirty="0"/>
          </a:p>
          <a:p>
            <a:pPr marL="0" indent="0">
              <a:buNone/>
            </a:pP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0" y="-123110"/>
            <a:ext cx="255198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105489"/>
            <a:ext cx="582211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：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3014870" y="2116890"/>
          <a:ext cx="2444874" cy="9198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27" name="Equation" r:id="rId4" imgW="30784800" imgH="11582400" progId="Equation.DSMT4">
                  <p:embed/>
                </p:oleObj>
              </mc:Choice>
              <mc:Fallback>
                <p:oleObj name="Equation" r:id="rId4" imgW="30784800" imgH="11582400" progId="Equation.DSMT4">
                  <p:embed/>
                  <p:pic>
                    <p:nvPicPr>
                      <p:cNvPr id="0" name="Picture 27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14870" y="2116890"/>
                        <a:ext cx="2444874" cy="91985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3014870" y="3457233"/>
          <a:ext cx="2295663" cy="12680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28" name="Equation" r:id="rId6" imgW="32004000" imgH="17678400" progId="Equation.DSMT4">
                  <p:embed/>
                </p:oleObj>
              </mc:Choice>
              <mc:Fallback>
                <p:oleObj name="Equation" r:id="rId6" imgW="32004000" imgH="17678400" progId="Equation.DSMT4">
                  <p:embed/>
                  <p:pic>
                    <p:nvPicPr>
                      <p:cNvPr id="0" name="Picture 27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14870" y="3457233"/>
                        <a:ext cx="2295663" cy="126808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3014870" y="5435742"/>
          <a:ext cx="2673513" cy="7904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29" name="Equation" r:id="rId8" imgW="35052000" imgH="10363200" progId="Equation.DSMT4">
                  <p:embed/>
                </p:oleObj>
              </mc:Choice>
              <mc:Fallback>
                <p:oleObj name="Equation" r:id="rId8" imgW="35052000" imgH="10363200" progId="Equation.DSMT4">
                  <p:embed/>
                  <p:pic>
                    <p:nvPicPr>
                      <p:cNvPr id="0" name="Picture 28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14870" y="5435742"/>
                        <a:ext cx="2673513" cy="79043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64B1CAD-E2A1-4149-A16F-904E4B6D789A}" type="datetime1">
              <a:rPr lang="en-US" altLang="zh-CN" smtClean="0"/>
              <a:pPr>
                <a:defRPr/>
              </a:pPr>
              <a:t>3/31/2025</a:t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731516" y="19049"/>
            <a:ext cx="1066800" cy="328613"/>
          </a:xfrm>
        </p:spPr>
        <p:txBody>
          <a:bodyPr/>
          <a:lstStyle/>
          <a:p>
            <a:pPr>
              <a:defRPr/>
            </a:pPr>
            <a:fld id="{A8A04E82-56C5-473E-AB74-E41CD95FB2B4}" type="slidenum">
              <a:rPr lang="zh-CN" altLang="en-US" smtClean="0"/>
              <a:pPr>
                <a:defRPr/>
              </a:pPr>
              <a:t>41</a:t>
            </a:fld>
            <a:endParaRPr lang="en-US" altLang="zh-CN" dirty="0"/>
          </a:p>
        </p:txBody>
      </p:sp>
      <p:sp>
        <p:nvSpPr>
          <p:cNvPr id="11" name="页脚占位符 2">
            <a:extLst>
              <a:ext uri="{FF2B5EF4-FFF2-40B4-BE49-F238E27FC236}">
                <a16:creationId xmlns:a16="http://schemas.microsoft.com/office/drawing/2014/main" id="{8E71D236-B98D-468C-A464-4B5694CB9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8905" y="19050"/>
            <a:ext cx="4831731" cy="328613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交通大数据</a:t>
            </a: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· </a:t>
            </a: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东南大学 刘志远教授</a:t>
            </a:r>
            <a:endParaRPr kumimoji="0" lang="en-US" altLang="zh-CN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KKT</a:t>
            </a:r>
            <a:r>
              <a:rPr lang="zh-CN" altLang="en-US" dirty="0"/>
              <a:t>条件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给出两个不等式约束的乘子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该问题的可行域为凸集</a:t>
            </a:r>
            <a:r>
              <a:rPr lang="en-US" altLang="zh-CN" dirty="0"/>
              <a:t>,</a:t>
            </a:r>
            <a:r>
              <a:rPr lang="zh-CN" altLang="en-US" dirty="0"/>
              <a:t>其目标方程为凸函数</a:t>
            </a:r>
            <a:r>
              <a:rPr lang="en-US" altLang="zh-CN" dirty="0"/>
              <a:t>(</a:t>
            </a:r>
            <a:r>
              <a:rPr lang="zh-CN" altLang="en-US" dirty="0"/>
              <a:t>求海塞矩阵可知</a:t>
            </a:r>
            <a:r>
              <a:rPr lang="en-US" altLang="zh-CN" dirty="0"/>
              <a:t>)</a:t>
            </a:r>
            <a:r>
              <a:rPr lang="zh-CN" altLang="en-US" dirty="0"/>
              <a:t>，因此该问题是一个凸优化问题。</a:t>
            </a: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1024027" y="2195594"/>
          <a:ext cx="2295663" cy="12680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40" name="Equation" r:id="rId3" imgW="32004000" imgH="17678400" progId="Equation.DSMT4">
                  <p:embed/>
                </p:oleObj>
              </mc:Choice>
              <mc:Fallback>
                <p:oleObj name="Equation" r:id="rId3" imgW="32004000" imgH="17678400" progId="Equation.DSMT4">
                  <p:embed/>
                  <p:pic>
                    <p:nvPicPr>
                      <p:cNvPr id="0" name="Picture 7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24027" y="2195594"/>
                        <a:ext cx="2295663" cy="126808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5752115" y="2534736"/>
          <a:ext cx="298450" cy="823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41" name="Equation" r:id="rId5" imgW="3962400" imgH="10972800" progId="Equation.DSMT4">
                  <p:embed/>
                </p:oleObj>
              </mc:Choice>
              <mc:Fallback>
                <p:oleObj name="Equation" r:id="rId5" imgW="3962400" imgH="10972800" progId="Equation.DSMT4">
                  <p:embed/>
                  <p:pic>
                    <p:nvPicPr>
                      <p:cNvPr id="0" name="Picture 7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52115" y="2534736"/>
                        <a:ext cx="298450" cy="8239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3468901" y="2685328"/>
            <a:ext cx="2160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两个约束的乘子：</a:t>
            </a:r>
          </a:p>
        </p:txBody>
      </p:sp>
      <p:sp>
        <p:nvSpPr>
          <p:cNvPr id="9" name="日期占位符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5D058F0-DE62-43B6-A3E4-49FA50F2CE4E}" type="datetime1">
              <a:rPr lang="en-US" altLang="zh-CN" smtClean="0"/>
              <a:pPr>
                <a:defRPr/>
              </a:pPr>
              <a:t>3/31/2025</a:t>
            </a:fld>
            <a:endParaRPr lang="en-US" altLang="zh-CN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>
          <a:xfrm>
            <a:off x="8742467" y="19050"/>
            <a:ext cx="1066800" cy="328613"/>
          </a:xfrm>
        </p:spPr>
        <p:txBody>
          <a:bodyPr/>
          <a:lstStyle/>
          <a:p>
            <a:pPr>
              <a:defRPr/>
            </a:pPr>
            <a:fld id="{A8A04E82-56C5-473E-AB74-E41CD95FB2B4}" type="slidenum">
              <a:rPr lang="zh-CN" altLang="en-US" smtClean="0"/>
              <a:pPr>
                <a:defRPr/>
              </a:pPr>
              <a:t>42</a:t>
            </a:fld>
            <a:endParaRPr lang="en-US" altLang="zh-CN"/>
          </a:p>
        </p:txBody>
      </p:sp>
      <p:sp>
        <p:nvSpPr>
          <p:cNvPr id="11" name="页脚占位符 2">
            <a:extLst>
              <a:ext uri="{FF2B5EF4-FFF2-40B4-BE49-F238E27FC236}">
                <a16:creationId xmlns:a16="http://schemas.microsoft.com/office/drawing/2014/main" id="{83EFB17A-F113-4506-A127-AACF14888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8905" y="19050"/>
            <a:ext cx="4831731" cy="328613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交通大数据</a:t>
            </a: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· </a:t>
            </a: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东南大学 刘志远教授</a:t>
            </a:r>
            <a:endParaRPr kumimoji="0" lang="en-US" altLang="zh-CN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34102"/>
            <a:ext cx="8229600" cy="990600"/>
          </a:xfrm>
        </p:spPr>
        <p:txBody>
          <a:bodyPr/>
          <a:lstStyle/>
          <a:p>
            <a:r>
              <a:rPr lang="en-US" altLang="zh-CN" dirty="0"/>
              <a:t>KKT</a:t>
            </a:r>
            <a:r>
              <a:rPr lang="zh-CN" altLang="en-US" dirty="0"/>
              <a:t>条件</a:t>
            </a:r>
            <a:endParaRPr lang="zh-CN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89782" y="1275081"/>
            <a:ext cx="9184640" cy="4555876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根据</a:t>
            </a:r>
            <a:r>
              <a:rPr lang="en-US" altLang="zh-CN" dirty="0"/>
              <a:t>KKT</a:t>
            </a:r>
            <a:r>
              <a:rPr lang="zh-CN" altLang="en-US" dirty="0"/>
              <a:t>条件，某个局部最优解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应该满足如下条件</a:t>
            </a:r>
            <a:endParaRPr lang="en-US" altLang="zh-CN" dirty="0"/>
          </a:p>
          <a:p>
            <a:pPr marL="0" indent="0">
              <a:buNone/>
            </a:pP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zh-CN" dirty="0"/>
              <a:t>为解上述方程组，</a:t>
            </a:r>
            <a:r>
              <a:rPr lang="zh-CN" altLang="en-US" dirty="0"/>
              <a:t>分以下</a:t>
            </a:r>
            <a:r>
              <a:rPr lang="zh-CN" altLang="zh-CN" dirty="0"/>
              <a:t>几种情形</a:t>
            </a:r>
            <a:r>
              <a:rPr lang="zh-CN" altLang="en-US" dirty="0"/>
              <a:t>讨论</a:t>
            </a:r>
            <a:r>
              <a:rPr lang="zh-CN" altLang="zh-CN" dirty="0"/>
              <a:t>：</a:t>
            </a:r>
          </a:p>
          <a:p>
            <a:pPr marL="0" indent="0">
              <a:buNone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）令                     无解；</a:t>
            </a:r>
          </a:p>
          <a:p>
            <a:pPr marL="0" indent="0">
              <a:buNone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）令                     解之，得                        不满足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KKT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条件；</a:t>
            </a:r>
          </a:p>
          <a:p>
            <a:pPr marL="0" indent="0">
              <a:buNone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）令                     解之，得                        不满足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KKT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条件；</a:t>
            </a:r>
          </a:p>
          <a:p>
            <a:pPr marL="0" indent="0">
              <a:buNone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）令                     解之，得            满足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KKT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条件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得到局部最小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值点。由于该问题为凸规划，所以此为全局极小值点。</a:t>
            </a:r>
          </a:p>
          <a:p>
            <a:pPr marL="0" indent="0">
              <a:buNone/>
            </a:pP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0" y="-123110"/>
            <a:ext cx="255198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105489"/>
            <a:ext cx="582211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：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4754779" y="1298231"/>
          <a:ext cx="1036637" cy="449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52" name="Equation" r:id="rId4" imgW="13411200" imgH="5791200" progId="Equation.DSMT4">
                  <p:embed/>
                </p:oleObj>
              </mc:Choice>
              <mc:Fallback>
                <p:oleObj name="Equation" r:id="rId4" imgW="13411200" imgH="5791200" progId="Equation.DSMT4">
                  <p:embed/>
                  <p:pic>
                    <p:nvPicPr>
                      <p:cNvPr id="0" name="Picture 9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54779" y="1298231"/>
                        <a:ext cx="1036637" cy="4492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1130642" y="2331243"/>
          <a:ext cx="2392362" cy="1322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53" name="Equation" r:id="rId6" imgW="32004000" imgH="17678400" progId="Equation.DSMT4">
                  <p:embed/>
                </p:oleObj>
              </mc:Choice>
              <mc:Fallback>
                <p:oleObj name="Equation" r:id="rId6" imgW="32004000" imgH="17678400" progId="Equation.DSMT4">
                  <p:embed/>
                  <p:pic>
                    <p:nvPicPr>
                      <p:cNvPr id="0" name="Picture 9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30642" y="2331243"/>
                        <a:ext cx="2392362" cy="13223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1415630" y="4301609"/>
          <a:ext cx="1615297" cy="4447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54" name="Equation" r:id="rId8" imgW="21031200" imgH="5791200" progId="Equation.DSMT4">
                  <p:embed/>
                </p:oleObj>
              </mc:Choice>
              <mc:Fallback>
                <p:oleObj name="Equation" r:id="rId8" imgW="21031200" imgH="5791200" progId="Equation.DSMT4">
                  <p:embed/>
                  <p:pic>
                    <p:nvPicPr>
                      <p:cNvPr id="0" name="Picture 9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5630" y="4301609"/>
                        <a:ext cx="1615297" cy="44479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1412735" y="4755091"/>
          <a:ext cx="1618192" cy="4521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55" name="Equation" r:id="rId10" imgW="20726400" imgH="5791200" progId="Equation.DSMT4">
                  <p:embed/>
                </p:oleObj>
              </mc:Choice>
              <mc:Fallback>
                <p:oleObj name="Equation" r:id="rId10" imgW="20726400" imgH="5791200" progId="Equation.DSMT4">
                  <p:embed/>
                  <p:pic>
                    <p:nvPicPr>
                      <p:cNvPr id="0" name="Picture 9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2735" y="4755091"/>
                        <a:ext cx="1618192" cy="45214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4306786" y="4731357"/>
          <a:ext cx="1819075" cy="4608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56" name="Equation" r:id="rId12" imgW="22860000" imgH="5791200" progId="Equation.DSMT4">
                  <p:embed/>
                </p:oleObj>
              </mc:Choice>
              <mc:Fallback>
                <p:oleObj name="Equation" r:id="rId12" imgW="22860000" imgH="5791200" progId="Equation.DSMT4">
                  <p:embed/>
                  <p:pic>
                    <p:nvPicPr>
                      <p:cNvPr id="0" name="Picture 9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06786" y="4731357"/>
                        <a:ext cx="1819075" cy="46083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/>
          <p:cNvGraphicFramePr>
            <a:graphicFrameLocks noChangeAspect="1"/>
          </p:cNvGraphicFramePr>
          <p:nvPr/>
        </p:nvGraphicFramePr>
        <p:xfrm>
          <a:off x="1426199" y="5232847"/>
          <a:ext cx="1604728" cy="4483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57" name="Equation" r:id="rId14" imgW="20726400" imgH="5791200" progId="Equation.DSMT4">
                  <p:embed/>
                </p:oleObj>
              </mc:Choice>
              <mc:Fallback>
                <p:oleObj name="Equation" r:id="rId14" imgW="20726400" imgH="5791200" progId="Equation.DSMT4">
                  <p:embed/>
                  <p:pic>
                    <p:nvPicPr>
                      <p:cNvPr id="0" name="Picture 9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6199" y="5232847"/>
                        <a:ext cx="1604728" cy="4483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/>
          <p:cNvGraphicFramePr>
            <a:graphicFrameLocks noChangeAspect="1"/>
          </p:cNvGraphicFramePr>
          <p:nvPr/>
        </p:nvGraphicFramePr>
        <p:xfrm>
          <a:off x="4293282" y="5156735"/>
          <a:ext cx="1846081" cy="4739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58" name="Equation" r:id="rId16" imgW="22555200" imgH="5791200" progId="Equation.DSMT4">
                  <p:embed/>
                </p:oleObj>
              </mc:Choice>
              <mc:Fallback>
                <p:oleObj name="Equation" r:id="rId16" imgW="22555200" imgH="5791200" progId="Equation.DSMT4">
                  <p:embed/>
                  <p:pic>
                    <p:nvPicPr>
                      <p:cNvPr id="0" name="Picture 9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93282" y="5156735"/>
                        <a:ext cx="1846081" cy="47399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/>
          <p:cNvGraphicFramePr>
            <a:graphicFrameLocks noChangeAspect="1"/>
          </p:cNvGraphicFramePr>
          <p:nvPr/>
        </p:nvGraphicFramePr>
        <p:xfrm>
          <a:off x="1444485" y="5601505"/>
          <a:ext cx="1586442" cy="5196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59" name="Equation" r:id="rId18" imgW="17678400" imgH="5791200" progId="Equation.DSMT4">
                  <p:embed/>
                </p:oleObj>
              </mc:Choice>
              <mc:Fallback>
                <p:oleObj name="Equation" r:id="rId18" imgW="17678400" imgH="5791200" progId="Equation.DSMT4">
                  <p:embed/>
                  <p:pic>
                    <p:nvPicPr>
                      <p:cNvPr id="0" name="Picture 9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4485" y="5601505"/>
                        <a:ext cx="1586442" cy="51969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/>
          <p:cNvGraphicFramePr>
            <a:graphicFrameLocks noChangeAspect="1"/>
          </p:cNvGraphicFramePr>
          <p:nvPr/>
        </p:nvGraphicFramePr>
        <p:xfrm>
          <a:off x="4236474" y="5612503"/>
          <a:ext cx="910461" cy="4820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60" name="Equation" r:id="rId20" imgW="10363200" imgH="5486400" progId="Equation.DSMT4">
                  <p:embed/>
                </p:oleObj>
              </mc:Choice>
              <mc:Fallback>
                <p:oleObj name="Equation" r:id="rId20" imgW="10363200" imgH="5486400" progId="Equation.DSMT4">
                  <p:embed/>
                  <p:pic>
                    <p:nvPicPr>
                      <p:cNvPr id="0" name="Picture 9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36474" y="5612503"/>
                        <a:ext cx="910461" cy="48200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/>
          <p:cNvGraphicFramePr>
            <a:graphicFrameLocks noChangeAspect="1"/>
          </p:cNvGraphicFramePr>
          <p:nvPr/>
        </p:nvGraphicFramePr>
        <p:xfrm>
          <a:off x="4357432" y="2298173"/>
          <a:ext cx="1163691" cy="13344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61" name="Equation" r:id="rId22" imgW="14630400" imgH="16764000" progId="Equation.DSMT4">
                  <p:embed/>
                </p:oleObj>
              </mc:Choice>
              <mc:Fallback>
                <p:oleObj name="Equation" r:id="rId22" imgW="14630400" imgH="16764000" progId="Equation.DSMT4">
                  <p:embed/>
                  <p:pic>
                    <p:nvPicPr>
                      <p:cNvPr id="0" name="Picture 9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7432" y="2298173"/>
                        <a:ext cx="1163691" cy="133445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83298F6-2E85-42A8-83ED-5D3B052EE427}" type="datetime1">
              <a:rPr lang="en-US" altLang="zh-CN" smtClean="0"/>
              <a:pPr>
                <a:defRPr/>
              </a:pPr>
              <a:t>3/31/2025</a:t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86800" y="19049"/>
            <a:ext cx="1066800" cy="328613"/>
          </a:xfrm>
        </p:spPr>
        <p:txBody>
          <a:bodyPr/>
          <a:lstStyle/>
          <a:p>
            <a:pPr>
              <a:defRPr/>
            </a:pPr>
            <a:fld id="{A8A04E82-56C5-473E-AB74-E41CD95FB2B4}" type="slidenum">
              <a:rPr lang="zh-CN" altLang="en-US" smtClean="0"/>
              <a:pPr>
                <a:defRPr/>
              </a:pPr>
              <a:t>43</a:t>
            </a:fld>
            <a:endParaRPr lang="en-US" altLang="zh-CN" dirty="0"/>
          </a:p>
        </p:txBody>
      </p:sp>
      <p:sp>
        <p:nvSpPr>
          <p:cNvPr id="23" name="页脚占位符 2">
            <a:extLst>
              <a:ext uri="{FF2B5EF4-FFF2-40B4-BE49-F238E27FC236}">
                <a16:creationId xmlns:a16="http://schemas.microsoft.com/office/drawing/2014/main" id="{A3FDBA50-31F9-442B-AB2E-9E07757F76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8905" y="19050"/>
            <a:ext cx="4831731" cy="328613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交通大数据</a:t>
            </a: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· </a:t>
            </a: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东南大学 刘志远教授</a:t>
            </a:r>
            <a:endParaRPr kumimoji="0" lang="en-US" altLang="zh-CN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spcBef>
                <a:spcPts val="0"/>
              </a:spcBef>
            </a:pPr>
            <a:r>
              <a:rPr lang="zh-CN" altLang="en-US" kern="0" spc="0" dirty="0">
                <a:solidFill>
                  <a:srgbClr val="1F497D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小结：</a:t>
            </a:r>
            <a:r>
              <a:rPr lang="en-US" altLang="zh-CN" kern="0" spc="0" dirty="0">
                <a:solidFill>
                  <a:srgbClr val="1F497D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KKT</a:t>
            </a:r>
            <a:r>
              <a:rPr lang="zh-CN" altLang="en-US" kern="0" spc="0" dirty="0">
                <a:solidFill>
                  <a:srgbClr val="1F497D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条件</a:t>
            </a:r>
            <a:endParaRPr lang="zh-CN" altLang="en-US" sz="48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目标函数和约束条件必须是连续可微的；</a:t>
            </a:r>
            <a:endParaRPr lang="en-US" altLang="zh-CN" sz="2800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可行域需满足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CQ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KKT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条件才成立。</a:t>
            </a:r>
            <a:endParaRPr lang="en-US" altLang="zh-CN" sz="28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如果一个问题有多个局部最优解，那么就会有许多解都满足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KKT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条件。</a:t>
            </a:r>
            <a:endParaRPr lang="en-US" altLang="zh-CN" sz="28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KKT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包括许多等式和不等式，因此当问题规模变大之后，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KKT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条件很难直接求解。所以对于大规模问题，需要利用有效的算法来求解（下一节课）。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AA0A3-76C5-4445-996E-F9AEBA81C6CC}" type="datetime1">
              <a:rPr lang="en-US" altLang="zh-CN" smtClean="0"/>
              <a:pPr/>
              <a:t>3/31/2025</a:t>
            </a:fld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53418" y="15331"/>
            <a:ext cx="1066800" cy="329184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44</a:t>
            </a:fld>
            <a:endParaRPr lang="en-US"/>
          </a:p>
        </p:txBody>
      </p:sp>
      <p:sp>
        <p:nvSpPr>
          <p:cNvPr id="6" name="页脚占位符 2">
            <a:extLst>
              <a:ext uri="{FF2B5EF4-FFF2-40B4-BE49-F238E27FC236}">
                <a16:creationId xmlns:a16="http://schemas.microsoft.com/office/drawing/2014/main" id="{8F0A4B3C-E80F-43C2-BCF2-FA94749108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8905" y="19050"/>
            <a:ext cx="4831731" cy="328613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交通大数据</a:t>
            </a: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· </a:t>
            </a: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东南大学 刘志远教授</a:t>
            </a:r>
            <a:endParaRPr kumimoji="0" lang="en-US" altLang="zh-CN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0700" y="2653966"/>
            <a:ext cx="5562600" cy="990600"/>
          </a:xfrm>
        </p:spPr>
        <p:txBody>
          <a:bodyPr>
            <a:normAutofit fontScale="90000"/>
          </a:bodyPr>
          <a:lstStyle/>
          <a:p>
            <a:pPr algn="ctr"/>
            <a:r>
              <a:rPr lang="zh-CN" altLang="en-US" sz="4400" dirty="0">
                <a:latin typeface="宋体" panose="02010600030101010101" pitchFamily="2" charset="-122"/>
                <a:ea typeface="宋体" panose="02010600030101010101" pitchFamily="2" charset="-122"/>
              </a:rPr>
              <a:t>凸规划问题的求解算法</a:t>
            </a:r>
            <a:endParaRPr lang="en-US" sz="4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9B0CF-890E-4ADA-8BA7-8461841E46CD}" type="datetime1">
              <a:rPr lang="en-US" altLang="zh-CN" smtClean="0"/>
              <a:pPr/>
              <a:t>3/31/2025</a:t>
            </a:fld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26041" y="18288"/>
            <a:ext cx="1066800" cy="329184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45</a:t>
            </a:fld>
            <a:endParaRPr lang="en-US" dirty="0"/>
          </a:p>
        </p:txBody>
      </p:sp>
      <p:sp>
        <p:nvSpPr>
          <p:cNvPr id="5" name="页脚占位符 2">
            <a:extLst>
              <a:ext uri="{FF2B5EF4-FFF2-40B4-BE49-F238E27FC236}">
                <a16:creationId xmlns:a16="http://schemas.microsoft.com/office/drawing/2014/main" id="{A21AB474-596E-442E-AC1F-1FBA60A84E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8905" y="19050"/>
            <a:ext cx="4831731" cy="328613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交通大数据</a:t>
            </a: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· </a:t>
            </a: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东南大学 刘志远教授</a:t>
            </a:r>
            <a:endParaRPr kumimoji="0" lang="en-US" altLang="zh-CN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1F497D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算法 </a:t>
            </a:r>
            <a:r>
              <a:rPr lang="en-US" altLang="zh-CN" dirty="0">
                <a:solidFill>
                  <a:srgbClr val="1F497D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(Algorithm)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lnSpc>
                <a:spcPct val="150000"/>
              </a:lnSpc>
              <a:buClr>
                <a:srgbClr val="4F81BD"/>
              </a:buClr>
            </a:pPr>
            <a:r>
              <a:rPr lang="zh-CN" altLang="en-US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你对算法的理解是什么？</a:t>
            </a:r>
            <a:endParaRPr lang="en-US" altLang="zh-CN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  <a:buClr>
                <a:srgbClr val="4F81BD"/>
              </a:buClr>
            </a:pPr>
            <a:r>
              <a:rPr lang="zh-CN" altLang="en-US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求解数学模型的算法过程包括什么？</a:t>
            </a:r>
            <a:endParaRPr lang="en-US" altLang="zh-CN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Clr>
                <a:srgbClr val="4F81BD"/>
              </a:buClr>
            </a:pPr>
            <a:r>
              <a:rPr lang="zh-CN" altLang="en-US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输入</a:t>
            </a:r>
            <a:r>
              <a:rPr lang="en-US" altLang="zh-CN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(Input)</a:t>
            </a:r>
          </a:p>
          <a:p>
            <a:pPr lvl="1">
              <a:lnSpc>
                <a:spcPct val="150000"/>
              </a:lnSpc>
              <a:buClr>
                <a:srgbClr val="4F81BD"/>
              </a:buClr>
            </a:pPr>
            <a:r>
              <a:rPr lang="zh-CN" altLang="en-US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初始化</a:t>
            </a:r>
            <a:r>
              <a:rPr lang="en-US" altLang="zh-CN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(Initialization)</a:t>
            </a:r>
          </a:p>
          <a:p>
            <a:pPr lvl="1">
              <a:lnSpc>
                <a:spcPct val="150000"/>
              </a:lnSpc>
              <a:buClr>
                <a:srgbClr val="4F81BD"/>
              </a:buClr>
            </a:pPr>
            <a:r>
              <a:rPr lang="zh-CN" altLang="en-US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下降方向</a:t>
            </a:r>
            <a:r>
              <a:rPr lang="en-US" altLang="zh-CN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(Descent Direction)</a:t>
            </a:r>
          </a:p>
          <a:p>
            <a:pPr lvl="1">
              <a:lnSpc>
                <a:spcPct val="150000"/>
              </a:lnSpc>
              <a:buClr>
                <a:srgbClr val="4F81BD"/>
              </a:buClr>
            </a:pPr>
            <a:r>
              <a:rPr lang="zh-CN" altLang="en-US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一维搜素</a:t>
            </a:r>
            <a:r>
              <a:rPr lang="en-US" altLang="zh-CN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(Line Search)</a:t>
            </a:r>
          </a:p>
          <a:p>
            <a:pPr lvl="1">
              <a:lnSpc>
                <a:spcPct val="150000"/>
              </a:lnSpc>
              <a:buClr>
                <a:srgbClr val="4F81BD"/>
              </a:buClr>
            </a:pPr>
            <a:r>
              <a:rPr lang="zh-CN" altLang="en-US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停止检验</a:t>
            </a:r>
            <a:r>
              <a:rPr lang="en-US" altLang="zh-CN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(Stop Check)</a:t>
            </a:r>
          </a:p>
          <a:p>
            <a:pPr lvl="2">
              <a:lnSpc>
                <a:spcPct val="150000"/>
              </a:lnSpc>
              <a:buClr>
                <a:srgbClr val="4F81BD"/>
              </a:buClr>
            </a:pPr>
            <a:r>
              <a:rPr lang="zh-CN" altLang="en-US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最常用的停止规则（</a:t>
            </a:r>
            <a:r>
              <a:rPr lang="en-US" altLang="zh-CN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Stop Criterion</a:t>
            </a:r>
            <a:r>
              <a:rPr lang="zh-CN" altLang="en-US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r>
              <a:rPr lang="en-US" altLang="zh-CN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</a:p>
          <a:p>
            <a:endParaRPr lang="zh-CN" altLang="en-US" dirty="0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5472113" y="5502275"/>
          <a:ext cx="1484312" cy="385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21" name="Equation" r:id="rId3" imgW="37490400" imgH="9753600" progId="Equation.DSMT4">
                  <p:embed/>
                </p:oleObj>
              </mc:Choice>
              <mc:Fallback>
                <p:oleObj name="Equation" r:id="rId3" imgW="37490400" imgH="9753600" progId="Equation.DSMT4">
                  <p:embed/>
                  <p:pic>
                    <p:nvPicPr>
                      <p:cNvPr id="7" name="对象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72113" y="5502275"/>
                        <a:ext cx="1484312" cy="3857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5273275" y="5980575"/>
          <a:ext cx="259424" cy="2743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22" name="Equation" r:id="rId5" imgW="4876800" imgH="5181600" progId="Equation.DSMT4">
                  <p:embed/>
                </p:oleObj>
              </mc:Choice>
              <mc:Fallback>
                <p:oleObj name="Equation" r:id="rId5" imgW="4876800" imgH="5181600" progId="Equation.DSMT4">
                  <p:embed/>
                  <p:pic>
                    <p:nvPicPr>
                      <p:cNvPr id="8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73275" y="5980575"/>
                        <a:ext cx="259424" cy="27430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文本框 8"/>
          <p:cNvSpPr txBox="1"/>
          <p:nvPr/>
        </p:nvSpPr>
        <p:spPr>
          <a:xfrm>
            <a:off x="5521121" y="5917056"/>
            <a:ext cx="35187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是一个给定的大于零的常数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9FF04-6771-4409-8E8F-882224082D55}" type="datetime1">
              <a:rPr lang="en-US" altLang="zh-CN" smtClean="0"/>
              <a:pPr/>
              <a:t>3/31/2025</a:t>
            </a:fld>
            <a:endParaRPr 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>
          <a:xfrm>
            <a:off x="8686800" y="1524"/>
            <a:ext cx="1066800" cy="329184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46</a:t>
            </a:fld>
            <a:endParaRPr lang="en-US" dirty="0"/>
          </a:p>
        </p:txBody>
      </p:sp>
      <p:graphicFrame>
        <p:nvGraphicFramePr>
          <p:cNvPr id="11" name="Object 33">
            <a:extLst>
              <a:ext uri="{FF2B5EF4-FFF2-40B4-BE49-F238E27FC236}">
                <a16:creationId xmlns:a16="http://schemas.microsoft.com/office/drawing/2014/main" id="{600D9417-6C86-4B32-86DC-FDD1E15EFE8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34348" y="844886"/>
          <a:ext cx="2191163" cy="6361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23" name="Equation" r:id="rId7" imgW="1180800" imgH="342720" progId="Equation.DSMT4">
                  <p:embed/>
                </p:oleObj>
              </mc:Choice>
              <mc:Fallback>
                <p:oleObj name="Equation" r:id="rId7" imgW="1180800" imgH="342720" progId="Equation.DSMT4">
                  <p:embed/>
                  <p:pic>
                    <p:nvPicPr>
                      <p:cNvPr id="11" name="Object 33">
                        <a:extLst>
                          <a:ext uri="{FF2B5EF4-FFF2-40B4-BE49-F238E27FC236}">
                            <a16:creationId xmlns:a16="http://schemas.microsoft.com/office/drawing/2014/main" id="{600D9417-6C86-4B32-86DC-FDD1E15EFE8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4348" y="844886"/>
                        <a:ext cx="2191163" cy="63614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33">
            <a:extLst>
              <a:ext uri="{FF2B5EF4-FFF2-40B4-BE49-F238E27FC236}">
                <a16:creationId xmlns:a16="http://schemas.microsoft.com/office/drawing/2014/main" id="{32755FB7-4C5F-41A1-BDBD-986BCA83475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67193" y="844442"/>
          <a:ext cx="1177925" cy="636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24" name="Equation" r:id="rId9" imgW="634680" imgH="342720" progId="Equation.DSMT4">
                  <p:embed/>
                </p:oleObj>
              </mc:Choice>
              <mc:Fallback>
                <p:oleObj name="Equation" r:id="rId9" imgW="634680" imgH="342720" progId="Equation.DSMT4">
                  <p:embed/>
                  <p:pic>
                    <p:nvPicPr>
                      <p:cNvPr id="12" name="Object 33">
                        <a:extLst>
                          <a:ext uri="{FF2B5EF4-FFF2-40B4-BE49-F238E27FC236}">
                            <a16:creationId xmlns:a16="http://schemas.microsoft.com/office/drawing/2014/main" id="{32755FB7-4C5F-41A1-BDBD-986BCA83475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67193" y="844442"/>
                        <a:ext cx="1177925" cy="63658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33">
            <a:extLst>
              <a:ext uri="{FF2B5EF4-FFF2-40B4-BE49-F238E27FC236}">
                <a16:creationId xmlns:a16="http://schemas.microsoft.com/office/drawing/2014/main" id="{6F76DD01-5453-4330-B9BF-D219AB3BF96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41238" y="815523"/>
          <a:ext cx="1274763" cy="636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25" name="Equation" r:id="rId11" imgW="685800" imgH="342720" progId="Equation.DSMT4">
                  <p:embed/>
                </p:oleObj>
              </mc:Choice>
              <mc:Fallback>
                <p:oleObj name="Equation" r:id="rId11" imgW="685800" imgH="342720" progId="Equation.DSMT4">
                  <p:embed/>
                  <p:pic>
                    <p:nvPicPr>
                      <p:cNvPr id="13" name="Object 33">
                        <a:extLst>
                          <a:ext uri="{FF2B5EF4-FFF2-40B4-BE49-F238E27FC236}">
                            <a16:creationId xmlns:a16="http://schemas.microsoft.com/office/drawing/2014/main" id="{6F76DD01-5453-4330-B9BF-D219AB3BF96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41238" y="815523"/>
                        <a:ext cx="1274763" cy="63658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页脚占位符 2">
            <a:extLst>
              <a:ext uri="{FF2B5EF4-FFF2-40B4-BE49-F238E27FC236}">
                <a16:creationId xmlns:a16="http://schemas.microsoft.com/office/drawing/2014/main" id="{D0B4ADD7-0B36-4433-BFF2-3FBDAC98F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8905" y="19050"/>
            <a:ext cx="4831731" cy="328613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交通大数据</a:t>
            </a: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· </a:t>
            </a: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东南大学 刘志远教授</a:t>
            </a:r>
            <a:endParaRPr kumimoji="0" lang="en-US" altLang="zh-CN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算法</a:t>
            </a:r>
            <a:endParaRPr lang="en-US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3810000" cy="48768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怎样画算法的流程图（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Flowchart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r>
              <a:rPr lang="en-US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</a:p>
        </p:txBody>
      </p:sp>
      <p:pic>
        <p:nvPicPr>
          <p:cNvPr id="6246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991493" y="533400"/>
            <a:ext cx="3886200" cy="5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F5A12-2ED7-4409-99C0-B03CFCDFDB70}" type="datetime1">
              <a:rPr lang="en-US" altLang="zh-CN" smtClean="0"/>
              <a:pPr/>
              <a:t>3/31/2025</a:t>
            </a:fld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26041" y="7994"/>
            <a:ext cx="1066800" cy="329184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47</a:t>
            </a:fld>
            <a:endParaRPr lang="en-US" dirty="0"/>
          </a:p>
        </p:txBody>
      </p:sp>
      <p:sp>
        <p:nvSpPr>
          <p:cNvPr id="8" name="页脚占位符 2">
            <a:extLst>
              <a:ext uri="{FF2B5EF4-FFF2-40B4-BE49-F238E27FC236}">
                <a16:creationId xmlns:a16="http://schemas.microsoft.com/office/drawing/2014/main" id="{17D6C9C4-1672-4C28-B1E8-9098451F44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8905" y="19050"/>
            <a:ext cx="4831731" cy="328613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交通大数据</a:t>
            </a: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· </a:t>
            </a: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东南大学 刘志远教授</a:t>
            </a:r>
            <a:endParaRPr kumimoji="0" lang="en-US" altLang="zh-CN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算法</a:t>
            </a:r>
            <a:endParaRPr lang="en-US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一维搜索法；</a:t>
            </a:r>
            <a:endParaRPr 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在确定下降方向后，需要进行线性搜索，以便确定下降方向上的最优点，作为下一个迭代点；</a:t>
            </a:r>
            <a:endParaRPr 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一维搜索问题的常用求解算法：</a:t>
            </a:r>
            <a:endParaRPr 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二分法</a:t>
            </a:r>
            <a:endParaRPr 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黄金分割法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牛顿法</a:t>
            </a:r>
            <a:endParaRPr 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2C0AA-DDDA-4C82-AE65-68C183B2F99C}" type="datetime1">
              <a:rPr lang="en-US" altLang="zh-CN" smtClean="0"/>
              <a:pPr/>
              <a:t>3/31/2025</a:t>
            </a:fld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69845" y="18288"/>
            <a:ext cx="1066800" cy="329184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48</a:t>
            </a:fld>
            <a:endParaRPr lang="en-US"/>
          </a:p>
        </p:txBody>
      </p:sp>
      <p:sp>
        <p:nvSpPr>
          <p:cNvPr id="6" name="页脚占位符 2">
            <a:extLst>
              <a:ext uri="{FF2B5EF4-FFF2-40B4-BE49-F238E27FC236}">
                <a16:creationId xmlns:a16="http://schemas.microsoft.com/office/drawing/2014/main" id="{E0810063-FEE1-46AB-856A-81F27C699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8905" y="19050"/>
            <a:ext cx="4831731" cy="328613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交通大数据</a:t>
            </a: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· </a:t>
            </a: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东南大学 刘志远教授</a:t>
            </a:r>
            <a:endParaRPr kumimoji="0" lang="en-US" altLang="zh-CN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87819"/>
            <a:ext cx="8229600" cy="990600"/>
          </a:xfrm>
        </p:spPr>
        <p:txBody>
          <a:bodyPr>
            <a:normAutofit/>
          </a:bodyPr>
          <a:lstStyle/>
          <a:p>
            <a:pPr lvl="0">
              <a:spcBef>
                <a:spcPts val="0"/>
              </a:spcBef>
              <a:defRPr/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二分法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317624"/>
            <a:ext cx="8229600" cy="4876800"/>
          </a:xfrm>
        </p:spPr>
        <p:txBody>
          <a:bodyPr/>
          <a:lstStyle/>
          <a:p>
            <a:pPr marL="0" lvl="0" indent="0">
              <a:spcBef>
                <a:spcPct val="50000"/>
              </a:spcBef>
              <a:buClrTx/>
              <a:buSzPct val="60000"/>
              <a:buFont typeface="Wingdings" panose="05000000000000000000" pitchFamily="2" charset="2"/>
              <a:buChar char="q"/>
              <a:defRPr/>
            </a:pPr>
            <a:r>
              <a:rPr lang="en-US" altLang="zh-CN" b="1" kern="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b="1" kern="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假设</a:t>
            </a:r>
            <a:endParaRPr lang="en-US" altLang="zh-CN" b="1" kern="0" dirty="0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lvl="0" indent="0">
              <a:spcBef>
                <a:spcPct val="50000"/>
              </a:spcBef>
              <a:buClrTx/>
              <a:buSzPct val="60000"/>
              <a:buNone/>
              <a:defRPr/>
            </a:pPr>
            <a:endParaRPr lang="en-US" altLang="zh-CN" b="1" kern="0" dirty="0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lvl="0" indent="0">
              <a:spcBef>
                <a:spcPct val="50000"/>
              </a:spcBef>
              <a:buClrTx/>
              <a:buSzPct val="60000"/>
              <a:buFont typeface="Wingdings" panose="05000000000000000000" pitchFamily="2" charset="2"/>
              <a:buChar char="q"/>
              <a:defRPr/>
            </a:pPr>
            <a:r>
              <a:rPr lang="en-US" altLang="zh-CN" b="1" kern="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b="1" kern="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原理</a:t>
            </a:r>
            <a:endParaRPr lang="en-US" altLang="zh-CN" b="1" kern="0" dirty="0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lvl="0" indent="0">
              <a:spcBef>
                <a:spcPct val="50000"/>
              </a:spcBef>
              <a:buClrTx/>
              <a:buSzPct val="60000"/>
              <a:buFont typeface="Wingdings" panose="05000000000000000000" pitchFamily="2" charset="2"/>
              <a:buChar char="q"/>
              <a:defRPr/>
            </a:pPr>
            <a:endParaRPr lang="en-US" altLang="zh-CN" b="1" kern="0" dirty="0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752230" y="1828581"/>
            <a:ext cx="792162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8001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2573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7145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1717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lvl="0" defTabSz="914400">
              <a:spcBef>
                <a:spcPct val="15000"/>
              </a:spcBef>
              <a:defRPr/>
            </a:pPr>
            <a:r>
              <a:rPr kumimoji="0" lang="en-US" altLang="zh-CN" sz="2400" b="0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z(x)</a:t>
            </a:r>
            <a:r>
              <a:rPr kumimoji="0" lang="zh-CN" altLang="en-US" sz="2400" b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是凸函数，且在区间</a:t>
            </a:r>
            <a:r>
              <a:rPr lang="en-US" altLang="zh-CN" kern="0" dirty="0">
                <a:ea typeface="宋体" panose="02010600030101010101" pitchFamily="2" charset="-122"/>
              </a:rPr>
              <a:t>[a, b]</a:t>
            </a:r>
            <a:r>
              <a:rPr kumimoji="0" lang="zh-CN" altLang="en-US" sz="2400" b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内是连续可微函数</a:t>
            </a:r>
            <a:r>
              <a:rPr lang="zh-CN" altLang="en-US" kern="0" dirty="0">
                <a:ea typeface="宋体" panose="02010600030101010101" pitchFamily="2" charset="-122"/>
              </a:rPr>
              <a:t>。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" name="Text Box 29"/>
          <p:cNvSpPr txBox="1">
            <a:spLocks noChangeArrowheads="1"/>
          </p:cNvSpPr>
          <p:nvPr/>
        </p:nvSpPr>
        <p:spPr bwMode="auto">
          <a:xfrm>
            <a:off x="752230" y="2949227"/>
            <a:ext cx="83058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lvl="0" defTabSz="914400">
              <a:spcBef>
                <a:spcPct val="50000"/>
              </a:spcBef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求</a:t>
            </a:r>
            <a:r>
              <a:rPr lang="zh-CN" altLang="en-US" sz="2400" kern="0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其导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函数</a:t>
            </a:r>
            <a:r>
              <a:rPr lang="en-US" altLang="zh-CN" sz="2400" kern="0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z’(x)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zh-CN" altLang="en-US" sz="2400" kern="0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区间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[a, b]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内的零点（根）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zh-CN" altLang="en-US" sz="2400" kern="0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即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7" name="Text Box 31"/>
          <p:cNvSpPr txBox="1">
            <a:spLocks noChangeArrowheads="1"/>
          </p:cNvSpPr>
          <p:nvPr/>
        </p:nvSpPr>
        <p:spPr bwMode="auto">
          <a:xfrm>
            <a:off x="763588" y="3395473"/>
            <a:ext cx="3505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z’(x)=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 with  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a≤x≤b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8" name="Group 5"/>
          <p:cNvGrpSpPr/>
          <p:nvPr/>
        </p:nvGrpSpPr>
        <p:grpSpPr bwMode="auto">
          <a:xfrm>
            <a:off x="752230" y="4007954"/>
            <a:ext cx="3276600" cy="2225675"/>
            <a:chOff x="720" y="2256"/>
            <a:chExt cx="2064" cy="1402"/>
          </a:xfrm>
        </p:grpSpPr>
        <p:sp>
          <p:nvSpPr>
            <p:cNvPr id="9" name="Text Box 6"/>
            <p:cNvSpPr txBox="1">
              <a:spLocks noChangeArrowheads="1"/>
            </p:cNvSpPr>
            <p:nvPr/>
          </p:nvSpPr>
          <p:spPr bwMode="auto">
            <a:xfrm>
              <a:off x="1584" y="3408"/>
              <a:ext cx="33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0" i="0" u="none" strike="noStrike" kern="0" cap="none" spc="0" normalizeH="0" baseline="0" noProof="0">
                  <a:ln>
                    <a:noFill/>
                  </a:ln>
                  <a:solidFill>
                    <a:schemeClr val="hlink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x*</a:t>
              </a:r>
              <a:endParaRPr kumimoji="0" lang="en-US" altLang="zh-CN" sz="2000" b="0" i="0" u="none" strike="noStrike" kern="0" cap="none" spc="0" normalizeH="0" baseline="-25000" noProof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ea typeface="宋体" panose="02010600030101010101" pitchFamily="2" charset="-122"/>
              </a:endParaRPr>
            </a:p>
          </p:txBody>
        </p:sp>
        <p:grpSp>
          <p:nvGrpSpPr>
            <p:cNvPr id="10" name="Group 7"/>
            <p:cNvGrpSpPr/>
            <p:nvPr/>
          </p:nvGrpSpPr>
          <p:grpSpPr bwMode="auto">
            <a:xfrm>
              <a:off x="1104" y="2304"/>
              <a:ext cx="1632" cy="1104"/>
              <a:chOff x="2640" y="2352"/>
              <a:chExt cx="1632" cy="1104"/>
            </a:xfrm>
          </p:grpSpPr>
          <p:sp>
            <p:nvSpPr>
              <p:cNvPr id="19" name="Line 8"/>
              <p:cNvSpPr>
                <a:spLocks noChangeShapeType="1"/>
              </p:cNvSpPr>
              <p:nvPr/>
            </p:nvSpPr>
            <p:spPr bwMode="auto">
              <a:xfrm>
                <a:off x="2640" y="2352"/>
                <a:ext cx="0" cy="1104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0" name="Line 9"/>
              <p:cNvSpPr>
                <a:spLocks noChangeShapeType="1"/>
              </p:cNvSpPr>
              <p:nvPr/>
            </p:nvSpPr>
            <p:spPr bwMode="auto">
              <a:xfrm>
                <a:off x="2640" y="3456"/>
                <a:ext cx="1632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</p:grpSp>
        <p:sp>
          <p:nvSpPr>
            <p:cNvPr id="11" name="Freeform 10"/>
            <p:cNvSpPr/>
            <p:nvPr/>
          </p:nvSpPr>
          <p:spPr bwMode="auto">
            <a:xfrm>
              <a:off x="1392" y="2352"/>
              <a:ext cx="1016" cy="864"/>
            </a:xfrm>
            <a:custGeom>
              <a:avLst/>
              <a:gdLst>
                <a:gd name="T0" fmla="*/ 0 w 1016"/>
                <a:gd name="T1" fmla="*/ 32 h 864"/>
                <a:gd name="T2" fmla="*/ 336 w 1016"/>
                <a:gd name="T3" fmla="*/ 848 h 864"/>
                <a:gd name="T4" fmla="*/ 912 w 1016"/>
                <a:gd name="T5" fmla="*/ 128 h 864"/>
                <a:gd name="T6" fmla="*/ 960 w 1016"/>
                <a:gd name="T7" fmla="*/ 80 h 8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16" h="864">
                  <a:moveTo>
                    <a:pt x="0" y="32"/>
                  </a:moveTo>
                  <a:cubicBezTo>
                    <a:pt x="92" y="432"/>
                    <a:pt x="184" y="832"/>
                    <a:pt x="336" y="848"/>
                  </a:cubicBezTo>
                  <a:cubicBezTo>
                    <a:pt x="488" y="864"/>
                    <a:pt x="808" y="256"/>
                    <a:pt x="912" y="128"/>
                  </a:cubicBezTo>
                  <a:cubicBezTo>
                    <a:pt x="1016" y="0"/>
                    <a:pt x="988" y="40"/>
                    <a:pt x="960" y="80"/>
                  </a:cubicBezTo>
                </a:path>
              </a:pathLst>
            </a:custGeom>
            <a:noFill/>
            <a:ln w="2540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" name="Line 11"/>
            <p:cNvSpPr>
              <a:spLocks noChangeShapeType="1"/>
            </p:cNvSpPr>
            <p:nvPr/>
          </p:nvSpPr>
          <p:spPr bwMode="auto">
            <a:xfrm>
              <a:off x="1728" y="3216"/>
              <a:ext cx="0" cy="19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" name="Line 12"/>
            <p:cNvSpPr>
              <a:spLocks noChangeShapeType="1"/>
            </p:cNvSpPr>
            <p:nvPr/>
          </p:nvSpPr>
          <p:spPr bwMode="auto">
            <a:xfrm>
              <a:off x="1392" y="2448"/>
              <a:ext cx="0" cy="96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4" name="Line 13"/>
            <p:cNvSpPr>
              <a:spLocks noChangeShapeType="1"/>
            </p:cNvSpPr>
            <p:nvPr/>
          </p:nvSpPr>
          <p:spPr bwMode="auto">
            <a:xfrm flipH="1">
              <a:off x="2160" y="2688"/>
              <a:ext cx="0" cy="72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5" name="Text Box 14"/>
            <p:cNvSpPr txBox="1">
              <a:spLocks noChangeArrowheads="1"/>
            </p:cNvSpPr>
            <p:nvPr/>
          </p:nvSpPr>
          <p:spPr bwMode="auto">
            <a:xfrm>
              <a:off x="2496" y="336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x</a:t>
              </a:r>
            </a:p>
          </p:txBody>
        </p:sp>
        <p:sp>
          <p:nvSpPr>
            <p:cNvPr id="16" name="Rectangle 15"/>
            <p:cNvSpPr>
              <a:spLocks noChangeArrowheads="1"/>
            </p:cNvSpPr>
            <p:nvPr/>
          </p:nvSpPr>
          <p:spPr bwMode="auto">
            <a:xfrm>
              <a:off x="720" y="2256"/>
              <a:ext cx="40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z(x)</a:t>
              </a:r>
            </a:p>
          </p:txBody>
        </p:sp>
        <p:sp>
          <p:nvSpPr>
            <p:cNvPr id="17" name="Text Box 16"/>
            <p:cNvSpPr txBox="1">
              <a:spLocks noChangeArrowheads="1"/>
            </p:cNvSpPr>
            <p:nvPr/>
          </p:nvSpPr>
          <p:spPr bwMode="auto">
            <a:xfrm>
              <a:off x="1248" y="3408"/>
              <a:ext cx="33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18" name="Text Box 17"/>
            <p:cNvSpPr txBox="1">
              <a:spLocks noChangeArrowheads="1"/>
            </p:cNvSpPr>
            <p:nvPr/>
          </p:nvSpPr>
          <p:spPr bwMode="auto">
            <a:xfrm>
              <a:off x="2064" y="3360"/>
              <a:ext cx="33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b</a:t>
              </a:r>
            </a:p>
          </p:txBody>
        </p:sp>
      </p:grpSp>
      <p:grpSp>
        <p:nvGrpSpPr>
          <p:cNvPr id="21" name="Group 18"/>
          <p:cNvGrpSpPr/>
          <p:nvPr/>
        </p:nvGrpSpPr>
        <p:grpSpPr bwMode="auto">
          <a:xfrm>
            <a:off x="5530850" y="3893654"/>
            <a:ext cx="3352800" cy="2362200"/>
            <a:chOff x="2784" y="2208"/>
            <a:chExt cx="2112" cy="1488"/>
          </a:xfrm>
        </p:grpSpPr>
        <p:sp>
          <p:nvSpPr>
            <p:cNvPr id="22" name="Text Box 19"/>
            <p:cNvSpPr txBox="1">
              <a:spLocks noChangeArrowheads="1"/>
            </p:cNvSpPr>
            <p:nvPr/>
          </p:nvSpPr>
          <p:spPr bwMode="auto">
            <a:xfrm>
              <a:off x="3696" y="3360"/>
              <a:ext cx="33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x*</a:t>
              </a:r>
              <a:endParaRPr kumimoji="0" lang="en-US" altLang="zh-CN" sz="2000" b="0" i="0" u="none" strike="noStrike" kern="0" cap="none" spc="0" normalizeH="0" baseline="-2500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宋体" panose="02010600030101010101" pitchFamily="2" charset="-122"/>
              </a:endParaRPr>
            </a:p>
          </p:txBody>
        </p:sp>
        <p:sp>
          <p:nvSpPr>
            <p:cNvPr id="23" name="Line 20"/>
            <p:cNvSpPr>
              <a:spLocks noChangeShapeType="1"/>
            </p:cNvSpPr>
            <p:nvPr/>
          </p:nvSpPr>
          <p:spPr bwMode="auto">
            <a:xfrm>
              <a:off x="3216" y="2256"/>
              <a:ext cx="0" cy="144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4" name="Line 21"/>
            <p:cNvSpPr>
              <a:spLocks noChangeShapeType="1"/>
            </p:cNvSpPr>
            <p:nvPr/>
          </p:nvSpPr>
          <p:spPr bwMode="auto">
            <a:xfrm>
              <a:off x="3216" y="3360"/>
              <a:ext cx="163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5" name="Text Box 22"/>
            <p:cNvSpPr txBox="1">
              <a:spLocks noChangeArrowheads="1"/>
            </p:cNvSpPr>
            <p:nvPr/>
          </p:nvSpPr>
          <p:spPr bwMode="auto">
            <a:xfrm>
              <a:off x="4608" y="331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x</a:t>
              </a:r>
            </a:p>
          </p:txBody>
        </p:sp>
        <p:sp>
          <p:nvSpPr>
            <p:cNvPr id="26" name="Rectangle 23"/>
            <p:cNvSpPr>
              <a:spLocks noChangeArrowheads="1"/>
            </p:cNvSpPr>
            <p:nvPr/>
          </p:nvSpPr>
          <p:spPr bwMode="auto">
            <a:xfrm>
              <a:off x="2784" y="2208"/>
              <a:ext cx="4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z’(x)</a:t>
              </a:r>
            </a:p>
          </p:txBody>
        </p:sp>
        <p:sp>
          <p:nvSpPr>
            <p:cNvPr id="27" name="Text Box 24"/>
            <p:cNvSpPr txBox="1">
              <a:spLocks noChangeArrowheads="1"/>
            </p:cNvSpPr>
            <p:nvPr/>
          </p:nvSpPr>
          <p:spPr bwMode="auto">
            <a:xfrm>
              <a:off x="3360" y="3360"/>
              <a:ext cx="33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28" name="Text Box 25"/>
            <p:cNvSpPr txBox="1">
              <a:spLocks noChangeArrowheads="1"/>
            </p:cNvSpPr>
            <p:nvPr/>
          </p:nvSpPr>
          <p:spPr bwMode="auto">
            <a:xfrm>
              <a:off x="4176" y="3408"/>
              <a:ext cx="33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b</a:t>
              </a:r>
            </a:p>
          </p:txBody>
        </p:sp>
        <p:sp>
          <p:nvSpPr>
            <p:cNvPr id="29" name="Freeform 26"/>
            <p:cNvSpPr/>
            <p:nvPr/>
          </p:nvSpPr>
          <p:spPr bwMode="auto">
            <a:xfrm>
              <a:off x="3602" y="2825"/>
              <a:ext cx="595" cy="869"/>
            </a:xfrm>
            <a:custGeom>
              <a:avLst/>
              <a:gdLst>
                <a:gd name="T0" fmla="*/ 0 w 595"/>
                <a:gd name="T1" fmla="*/ 869 h 869"/>
                <a:gd name="T2" fmla="*/ 156 w 595"/>
                <a:gd name="T3" fmla="*/ 668 h 869"/>
                <a:gd name="T4" fmla="*/ 229 w 595"/>
                <a:gd name="T5" fmla="*/ 585 h 869"/>
                <a:gd name="T6" fmla="*/ 265 w 595"/>
                <a:gd name="T7" fmla="*/ 466 h 869"/>
                <a:gd name="T8" fmla="*/ 375 w 595"/>
                <a:gd name="T9" fmla="*/ 366 h 869"/>
                <a:gd name="T10" fmla="*/ 412 w 595"/>
                <a:gd name="T11" fmla="*/ 320 h 869"/>
                <a:gd name="T12" fmla="*/ 439 w 595"/>
                <a:gd name="T13" fmla="*/ 274 h 869"/>
                <a:gd name="T14" fmla="*/ 558 w 595"/>
                <a:gd name="T15" fmla="*/ 82 h 869"/>
                <a:gd name="T16" fmla="*/ 576 w 595"/>
                <a:gd name="T17" fmla="*/ 18 h 869"/>
                <a:gd name="T18" fmla="*/ 595 w 595"/>
                <a:gd name="T19" fmla="*/ 0 h 8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95" h="869">
                  <a:moveTo>
                    <a:pt x="0" y="869"/>
                  </a:moveTo>
                  <a:cubicBezTo>
                    <a:pt x="25" y="790"/>
                    <a:pt x="93" y="718"/>
                    <a:pt x="156" y="668"/>
                  </a:cubicBezTo>
                  <a:cubicBezTo>
                    <a:pt x="183" y="646"/>
                    <a:pt x="204" y="611"/>
                    <a:pt x="229" y="585"/>
                  </a:cubicBezTo>
                  <a:cubicBezTo>
                    <a:pt x="233" y="572"/>
                    <a:pt x="257" y="477"/>
                    <a:pt x="265" y="466"/>
                  </a:cubicBezTo>
                  <a:cubicBezTo>
                    <a:pt x="291" y="431"/>
                    <a:pt x="338" y="391"/>
                    <a:pt x="375" y="366"/>
                  </a:cubicBezTo>
                  <a:cubicBezTo>
                    <a:pt x="386" y="349"/>
                    <a:pt x="402" y="337"/>
                    <a:pt x="412" y="320"/>
                  </a:cubicBezTo>
                  <a:cubicBezTo>
                    <a:pt x="453" y="253"/>
                    <a:pt x="387" y="329"/>
                    <a:pt x="439" y="274"/>
                  </a:cubicBezTo>
                  <a:cubicBezTo>
                    <a:pt x="470" y="181"/>
                    <a:pt x="490" y="153"/>
                    <a:pt x="558" y="82"/>
                  </a:cubicBezTo>
                  <a:cubicBezTo>
                    <a:pt x="565" y="61"/>
                    <a:pt x="566" y="38"/>
                    <a:pt x="576" y="18"/>
                  </a:cubicBezTo>
                  <a:cubicBezTo>
                    <a:pt x="580" y="10"/>
                    <a:pt x="595" y="0"/>
                    <a:pt x="595" y="0"/>
                  </a:cubicBezTo>
                </a:path>
              </a:pathLst>
            </a:cu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0" name="Line 27"/>
            <p:cNvSpPr>
              <a:spLocks noChangeShapeType="1"/>
            </p:cNvSpPr>
            <p:nvPr/>
          </p:nvSpPr>
          <p:spPr bwMode="auto">
            <a:xfrm>
              <a:off x="3456" y="3312"/>
              <a:ext cx="0" cy="9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1" name="Line 28"/>
            <p:cNvSpPr>
              <a:spLocks noChangeShapeType="1"/>
            </p:cNvSpPr>
            <p:nvPr/>
          </p:nvSpPr>
          <p:spPr bwMode="auto">
            <a:xfrm>
              <a:off x="4272" y="3312"/>
              <a:ext cx="0" cy="9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21949-CBB3-4443-9971-B0E0C80CEA7F}" type="datetime1">
              <a:rPr lang="en-US" altLang="zh-CN" smtClean="0"/>
              <a:pPr/>
              <a:t>3/31/2025</a:t>
            </a:fld>
            <a:endParaRPr lang="en-US"/>
          </a:p>
        </p:txBody>
      </p:sp>
      <p:sp>
        <p:nvSpPr>
          <p:cNvPr id="34" name="灯片编号占位符 33"/>
          <p:cNvSpPr>
            <a:spLocks noGrp="1"/>
          </p:cNvSpPr>
          <p:nvPr>
            <p:ph type="sldNum" sz="quarter" idx="12"/>
          </p:nvPr>
        </p:nvSpPr>
        <p:spPr>
          <a:xfrm>
            <a:off x="8655050" y="31758"/>
            <a:ext cx="1066800" cy="329184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49</a:t>
            </a:fld>
            <a:endParaRPr lang="en-US" dirty="0"/>
          </a:p>
        </p:txBody>
      </p:sp>
      <p:sp>
        <p:nvSpPr>
          <p:cNvPr id="33" name="页脚占位符 2">
            <a:extLst>
              <a:ext uri="{FF2B5EF4-FFF2-40B4-BE49-F238E27FC236}">
                <a16:creationId xmlns:a16="http://schemas.microsoft.com/office/drawing/2014/main" id="{4684097C-C677-4C1E-97C4-B990B2EA1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8905" y="19050"/>
            <a:ext cx="4831731" cy="328613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交通大数据</a:t>
            </a: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· </a:t>
            </a: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东南大学 刘志远教授</a:t>
            </a:r>
            <a:endParaRPr kumimoji="0" lang="en-US" altLang="zh-CN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06366"/>
            <a:ext cx="8229600" cy="990600"/>
          </a:xfrm>
        </p:spPr>
        <p:txBody>
          <a:bodyPr>
            <a:normAutofit/>
          </a:bodyPr>
          <a:lstStyle/>
          <a:p>
            <a:pPr lvl="0">
              <a:spcBef>
                <a:spcPts val="0"/>
              </a:spcBef>
              <a:defRPr/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二分法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94943"/>
            <a:ext cx="8229600" cy="4876800"/>
          </a:xfrm>
        </p:spPr>
        <p:txBody>
          <a:bodyPr/>
          <a:lstStyle/>
          <a:p>
            <a:pPr marL="0" lvl="0" indent="0">
              <a:spcBef>
                <a:spcPct val="50000"/>
              </a:spcBef>
              <a:buClrTx/>
              <a:buSzPct val="60000"/>
              <a:buFont typeface="Wingdings" panose="05000000000000000000" pitchFamily="2" charset="2"/>
              <a:buChar char="q"/>
              <a:defRPr/>
            </a:pPr>
            <a:r>
              <a:rPr lang="en-US" altLang="zh-CN" kern="0" dirty="0">
                <a:solidFill>
                  <a:srgbClr val="0000FF"/>
                </a:solidFill>
                <a:ea typeface="宋体" panose="02010600030101010101" pitchFamily="2" charset="-122"/>
              </a:rPr>
              <a:t> </a:t>
            </a:r>
            <a:r>
              <a:rPr lang="zh-CN" altLang="en-US" kern="0" dirty="0">
                <a:solidFill>
                  <a:srgbClr val="0000FF"/>
                </a:solidFill>
                <a:ea typeface="宋体" panose="02010600030101010101" pitchFamily="2" charset="-122"/>
              </a:rPr>
              <a:t>算法步骤</a:t>
            </a:r>
            <a:endParaRPr lang="zh-CN" altLang="en-US" dirty="0"/>
          </a:p>
        </p:txBody>
      </p:sp>
      <p:grpSp>
        <p:nvGrpSpPr>
          <p:cNvPr id="5" name="Group 5"/>
          <p:cNvGrpSpPr/>
          <p:nvPr/>
        </p:nvGrpSpPr>
        <p:grpSpPr bwMode="auto">
          <a:xfrm>
            <a:off x="5943600" y="829910"/>
            <a:ext cx="2743200" cy="1920875"/>
            <a:chOff x="2784" y="2208"/>
            <a:chExt cx="2112" cy="1510"/>
          </a:xfrm>
        </p:grpSpPr>
        <p:sp>
          <p:nvSpPr>
            <p:cNvPr id="6" name="Text Box 6"/>
            <p:cNvSpPr txBox="1">
              <a:spLocks noChangeArrowheads="1"/>
            </p:cNvSpPr>
            <p:nvPr/>
          </p:nvSpPr>
          <p:spPr bwMode="auto">
            <a:xfrm>
              <a:off x="3696" y="3360"/>
              <a:ext cx="336" cy="3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0" i="0" u="none" strike="noStrike" kern="0" cap="none" spc="0" normalizeH="0" baseline="0" noProof="0">
                  <a:ln>
                    <a:noFill/>
                  </a:ln>
                  <a:solidFill>
                    <a:schemeClr val="hlink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x*</a:t>
              </a:r>
              <a:endParaRPr kumimoji="0" lang="en-US" altLang="zh-CN" sz="2000" b="0" i="0" u="none" strike="noStrike" kern="0" cap="none" spc="0" normalizeH="0" baseline="-25000" noProof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ea typeface="宋体" panose="02010600030101010101" pitchFamily="2" charset="-122"/>
              </a:endParaRPr>
            </a:p>
          </p:txBody>
        </p:sp>
        <p:sp>
          <p:nvSpPr>
            <p:cNvPr id="7" name="Line 7"/>
            <p:cNvSpPr>
              <a:spLocks noChangeShapeType="1"/>
            </p:cNvSpPr>
            <p:nvPr/>
          </p:nvSpPr>
          <p:spPr bwMode="auto">
            <a:xfrm>
              <a:off x="3216" y="2256"/>
              <a:ext cx="0" cy="144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" name="Line 8"/>
            <p:cNvSpPr>
              <a:spLocks noChangeShapeType="1"/>
            </p:cNvSpPr>
            <p:nvPr/>
          </p:nvSpPr>
          <p:spPr bwMode="auto">
            <a:xfrm>
              <a:off x="3216" y="3360"/>
              <a:ext cx="163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" name="Text Box 9"/>
            <p:cNvSpPr txBox="1">
              <a:spLocks noChangeArrowheads="1"/>
            </p:cNvSpPr>
            <p:nvPr/>
          </p:nvSpPr>
          <p:spPr bwMode="auto">
            <a:xfrm>
              <a:off x="4608" y="3312"/>
              <a:ext cx="288" cy="36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x</a:t>
              </a:r>
            </a:p>
          </p:txBody>
        </p:sp>
        <p:sp>
          <p:nvSpPr>
            <p:cNvPr id="10" name="Rectangle 10"/>
            <p:cNvSpPr>
              <a:spLocks noChangeArrowheads="1"/>
            </p:cNvSpPr>
            <p:nvPr/>
          </p:nvSpPr>
          <p:spPr bwMode="auto">
            <a:xfrm>
              <a:off x="2784" y="2208"/>
              <a:ext cx="572" cy="35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z’(x)</a:t>
              </a:r>
            </a:p>
          </p:txBody>
        </p:sp>
        <p:sp>
          <p:nvSpPr>
            <p:cNvPr id="11" name="Text Box 11"/>
            <p:cNvSpPr txBox="1">
              <a:spLocks noChangeArrowheads="1"/>
            </p:cNvSpPr>
            <p:nvPr/>
          </p:nvSpPr>
          <p:spPr bwMode="auto">
            <a:xfrm>
              <a:off x="3358" y="3360"/>
              <a:ext cx="338" cy="3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12" name="Text Box 12"/>
            <p:cNvSpPr txBox="1">
              <a:spLocks noChangeArrowheads="1"/>
            </p:cNvSpPr>
            <p:nvPr/>
          </p:nvSpPr>
          <p:spPr bwMode="auto">
            <a:xfrm>
              <a:off x="4176" y="3406"/>
              <a:ext cx="336" cy="3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b</a:t>
              </a:r>
            </a:p>
          </p:txBody>
        </p:sp>
        <p:sp>
          <p:nvSpPr>
            <p:cNvPr id="13" name="Freeform 13"/>
            <p:cNvSpPr/>
            <p:nvPr/>
          </p:nvSpPr>
          <p:spPr bwMode="auto">
            <a:xfrm>
              <a:off x="3602" y="2825"/>
              <a:ext cx="595" cy="869"/>
            </a:xfrm>
            <a:custGeom>
              <a:avLst/>
              <a:gdLst>
                <a:gd name="T0" fmla="*/ 0 w 595"/>
                <a:gd name="T1" fmla="*/ 869 h 869"/>
                <a:gd name="T2" fmla="*/ 156 w 595"/>
                <a:gd name="T3" fmla="*/ 668 h 869"/>
                <a:gd name="T4" fmla="*/ 229 w 595"/>
                <a:gd name="T5" fmla="*/ 585 h 869"/>
                <a:gd name="T6" fmla="*/ 265 w 595"/>
                <a:gd name="T7" fmla="*/ 466 h 869"/>
                <a:gd name="T8" fmla="*/ 375 w 595"/>
                <a:gd name="T9" fmla="*/ 366 h 869"/>
                <a:gd name="T10" fmla="*/ 412 w 595"/>
                <a:gd name="T11" fmla="*/ 320 h 869"/>
                <a:gd name="T12" fmla="*/ 439 w 595"/>
                <a:gd name="T13" fmla="*/ 274 h 869"/>
                <a:gd name="T14" fmla="*/ 558 w 595"/>
                <a:gd name="T15" fmla="*/ 82 h 869"/>
                <a:gd name="T16" fmla="*/ 576 w 595"/>
                <a:gd name="T17" fmla="*/ 18 h 869"/>
                <a:gd name="T18" fmla="*/ 595 w 595"/>
                <a:gd name="T19" fmla="*/ 0 h 8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95" h="869">
                  <a:moveTo>
                    <a:pt x="0" y="869"/>
                  </a:moveTo>
                  <a:cubicBezTo>
                    <a:pt x="25" y="790"/>
                    <a:pt x="93" y="718"/>
                    <a:pt x="156" y="668"/>
                  </a:cubicBezTo>
                  <a:cubicBezTo>
                    <a:pt x="183" y="646"/>
                    <a:pt x="204" y="611"/>
                    <a:pt x="229" y="585"/>
                  </a:cubicBezTo>
                  <a:cubicBezTo>
                    <a:pt x="233" y="572"/>
                    <a:pt x="257" y="477"/>
                    <a:pt x="265" y="466"/>
                  </a:cubicBezTo>
                  <a:cubicBezTo>
                    <a:pt x="291" y="431"/>
                    <a:pt x="338" y="391"/>
                    <a:pt x="375" y="366"/>
                  </a:cubicBezTo>
                  <a:cubicBezTo>
                    <a:pt x="386" y="349"/>
                    <a:pt x="402" y="337"/>
                    <a:pt x="412" y="320"/>
                  </a:cubicBezTo>
                  <a:cubicBezTo>
                    <a:pt x="453" y="253"/>
                    <a:pt x="387" y="329"/>
                    <a:pt x="439" y="274"/>
                  </a:cubicBezTo>
                  <a:cubicBezTo>
                    <a:pt x="470" y="181"/>
                    <a:pt x="490" y="153"/>
                    <a:pt x="558" y="82"/>
                  </a:cubicBezTo>
                  <a:cubicBezTo>
                    <a:pt x="565" y="61"/>
                    <a:pt x="566" y="38"/>
                    <a:pt x="576" y="18"/>
                  </a:cubicBezTo>
                  <a:cubicBezTo>
                    <a:pt x="580" y="10"/>
                    <a:pt x="595" y="0"/>
                    <a:pt x="595" y="0"/>
                  </a:cubicBezTo>
                </a:path>
              </a:pathLst>
            </a:cu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4" name="Line 14"/>
            <p:cNvSpPr>
              <a:spLocks noChangeShapeType="1"/>
            </p:cNvSpPr>
            <p:nvPr/>
          </p:nvSpPr>
          <p:spPr bwMode="auto">
            <a:xfrm>
              <a:off x="3456" y="3312"/>
              <a:ext cx="0" cy="9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5" name="Line 15"/>
            <p:cNvSpPr>
              <a:spLocks noChangeShapeType="1"/>
            </p:cNvSpPr>
            <p:nvPr/>
          </p:nvSpPr>
          <p:spPr bwMode="auto">
            <a:xfrm>
              <a:off x="4272" y="3312"/>
              <a:ext cx="0" cy="9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6" name="Group 17"/>
          <p:cNvGrpSpPr/>
          <p:nvPr/>
        </p:nvGrpSpPr>
        <p:grpSpPr bwMode="auto">
          <a:xfrm>
            <a:off x="438727" y="2351208"/>
            <a:ext cx="7531100" cy="1371600"/>
            <a:chOff x="144" y="1440"/>
            <a:chExt cx="4744" cy="864"/>
          </a:xfrm>
        </p:grpSpPr>
        <p:sp>
          <p:nvSpPr>
            <p:cNvPr id="17" name="Text Box 18"/>
            <p:cNvSpPr txBox="1">
              <a:spLocks noChangeArrowheads="1"/>
            </p:cNvSpPr>
            <p:nvPr/>
          </p:nvSpPr>
          <p:spPr bwMode="auto">
            <a:xfrm>
              <a:off x="144" y="1440"/>
              <a:ext cx="292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sng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Step 0</a:t>
              </a: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: </a:t>
              </a:r>
              <a:r>
                <a:rPr lang="zh-CN" altLang="en-US" sz="2400" kern="0" dirty="0">
                  <a:solidFill>
                    <a:sysClr val="windowText" lastClr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给定一个初始解</a:t>
              </a:r>
              <a:endPara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18" name="Object 19"/>
            <p:cNvGraphicFramePr>
              <a:graphicFrameLocks noChangeAspect="1"/>
            </p:cNvGraphicFramePr>
            <p:nvPr/>
          </p:nvGraphicFramePr>
          <p:xfrm>
            <a:off x="768" y="1747"/>
            <a:ext cx="4120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912" name="Equation" r:id="rId3" imgW="156972000" imgH="10363200" progId="Equation.DSMT4">
                    <p:embed/>
                  </p:oleObj>
                </mc:Choice>
                <mc:Fallback>
                  <p:oleObj name="Equation" r:id="rId3" imgW="156972000" imgH="10363200" progId="Equation.DSMT4">
                    <p:embed/>
                    <p:pic>
                      <p:nvPicPr>
                        <p:cNvPr id="18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68" y="1747"/>
                          <a:ext cx="4120" cy="27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" name="Text Box 20"/>
            <p:cNvSpPr txBox="1">
              <a:spLocks noChangeArrowheads="1"/>
            </p:cNvSpPr>
            <p:nvPr/>
          </p:nvSpPr>
          <p:spPr bwMode="auto">
            <a:xfrm>
              <a:off x="768" y="2016"/>
              <a:ext cx="81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2400" kern="0" dirty="0">
                  <a:solidFill>
                    <a:sysClr val="windowText" lastClr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令</a:t>
              </a:r>
              <a:r>
                <a:rPr kumimoji="0" lang="en-US" altLang="zh-CN" sz="2400" b="0" i="1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k</a:t>
              </a: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=0</a:t>
              </a:r>
            </a:p>
          </p:txBody>
        </p:sp>
      </p:grpSp>
      <p:sp>
        <p:nvSpPr>
          <p:cNvPr id="20" name="Text Box 21"/>
          <p:cNvSpPr txBox="1">
            <a:spLocks noChangeArrowheads="1"/>
          </p:cNvSpPr>
          <p:nvPr/>
        </p:nvSpPr>
        <p:spPr bwMode="auto">
          <a:xfrm>
            <a:off x="438727" y="3633343"/>
            <a:ext cx="77724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973455" indent="-97345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108775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20205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973455" marR="0" lvl="0" indent="-973455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sng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Step 1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: </a:t>
            </a:r>
            <a:r>
              <a:rPr lang="zh-CN" altLang="en-US" kern="0" dirty="0">
                <a:ea typeface="宋体" panose="02010600030101010101" pitchFamily="2" charset="-122"/>
              </a:rPr>
              <a:t>如果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kumimoji="0" lang="en-US" altLang="zh-CN" sz="2400" b="0" i="1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kumimoji="0" lang="en-US" altLang="zh-CN" sz="2400" b="0" i="1" u="none" strike="noStrike" kern="0" cap="none" spc="0" normalizeH="0" baseline="-250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k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-</a:t>
            </a:r>
            <a:r>
              <a:rPr kumimoji="0" lang="en-US" altLang="zh-CN" sz="2400" b="0" i="1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kumimoji="0" lang="en-US" altLang="zh-CN" sz="2400" b="0" i="1" u="none" strike="noStrike" kern="0" cap="none" spc="0" normalizeH="0" baseline="-250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k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≤</a:t>
            </a:r>
            <a:r>
              <a:rPr kumimoji="0" lang="el-GR" altLang="zh-CN" sz="2400" b="0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ε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则停止，</a:t>
            </a:r>
            <a:r>
              <a:rPr lang="zh-CN" altLang="en-US" kern="0" dirty="0">
                <a:ea typeface="宋体" panose="02010600030101010101" pitchFamily="2" charset="-122"/>
                <a:cs typeface="Times New Roman" panose="02020603050405020304" pitchFamily="18" charset="0"/>
              </a:rPr>
              <a:t>得到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一个极小值</a:t>
            </a:r>
            <a:r>
              <a:rPr kumimoji="0" lang="en-US" altLang="zh-CN" sz="2400" b="0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x*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=(</a:t>
            </a:r>
            <a:r>
              <a:rPr kumimoji="0" lang="en-US" altLang="zh-CN" sz="2400" b="0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kumimoji="0" lang="en-US" altLang="zh-CN" sz="2400" b="0" i="1" u="none" strike="noStrike" kern="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lang="en-US" altLang="zh-CN" kern="0" dirty="0"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kumimoji="0" lang="en-US" altLang="zh-CN" sz="2400" b="0" i="1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kumimoji="0" lang="en-US" altLang="zh-CN" sz="2400" b="0" i="1" u="none" strike="noStrike" kern="0" cap="none" spc="0" normalizeH="0" baseline="-250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)/2 </a:t>
            </a:r>
            <a:r>
              <a:rPr lang="zh-CN" altLang="en-US" kern="0" dirty="0">
                <a:ea typeface="宋体" panose="02010600030101010101" pitchFamily="2" charset="-122"/>
                <a:cs typeface="Times New Roman" panose="02020603050405020304" pitchFamily="18" charset="0"/>
              </a:rPr>
              <a:t>否则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转入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Step 2</a:t>
            </a:r>
            <a:endParaRPr kumimoji="0" lang="el-GR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1" name="Text Box 22"/>
          <p:cNvSpPr txBox="1">
            <a:spLocks noChangeArrowheads="1"/>
          </p:cNvSpPr>
          <p:nvPr/>
        </p:nvSpPr>
        <p:spPr bwMode="auto">
          <a:xfrm>
            <a:off x="457200" y="4405276"/>
            <a:ext cx="8077200" cy="16804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1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sng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Step 2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en-US" sz="2400" kern="0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令</a:t>
            </a:r>
            <a:r>
              <a:rPr kumimoji="0" lang="en-US" altLang="zh-CN" sz="2400" b="0" i="1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kumimoji="0" lang="en-US" altLang="zh-CN" sz="2400" b="0" i="1" u="none" strike="noStrike" kern="0" cap="none" spc="0" normalizeH="0" baseline="-2500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=(</a:t>
            </a:r>
            <a:r>
              <a:rPr kumimoji="0" lang="en-US" altLang="zh-CN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kumimoji="0" lang="en-US" altLang="zh-CN" sz="2400" b="0" i="1" u="none" strike="noStrike" kern="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lang="en-US" altLang="zh-CN" sz="2400" kern="0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kumimoji="0" lang="en-US" altLang="zh-CN" sz="2400" b="0" i="1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kumimoji="0" lang="en-US" altLang="zh-CN" sz="2400" b="0" i="1" u="none" strike="noStrike" kern="0" cap="none" spc="0" normalizeH="0" baseline="-2500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)/2 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1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</a:t>
            </a:r>
            <a:r>
              <a:rPr lang="zh-CN" altLang="en-US" sz="2400" kern="0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如果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z’(</a:t>
            </a:r>
            <a:r>
              <a:rPr kumimoji="0" lang="en-US" altLang="zh-CN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kumimoji="0" lang="en-US" altLang="zh-CN" sz="2400" b="0" i="1" u="none" strike="noStrike" kern="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≥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0,  </a:t>
            </a:r>
            <a:r>
              <a:rPr lang="zh-CN" altLang="en-US" sz="2400" kern="0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kumimoji="0" lang="en-US" altLang="zh-CN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kumimoji="0" lang="en-US" altLang="zh-CN" sz="2400" b="0" i="1" u="none" strike="noStrike" kern="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k+1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kumimoji="0" lang="en-US" altLang="zh-CN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kumimoji="0" lang="en-US" altLang="zh-CN" sz="2400" b="0" i="1" u="none" strike="noStrike" kern="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kumimoji="0" lang="en-US" altLang="zh-CN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kumimoji="0" lang="en-US" altLang="zh-CN" sz="2400" b="0" i="1" u="none" strike="noStrike" kern="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k+1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kumimoji="0" lang="en-US" altLang="zh-CN" sz="2400" b="0" i="1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kumimoji="0" lang="en-US" altLang="zh-CN" sz="2400" b="0" i="1" u="none" strike="noStrike" kern="0" cap="none" spc="0" normalizeH="0" baseline="-2500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1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</a:t>
            </a:r>
            <a:r>
              <a:rPr lang="zh-CN" altLang="en-US" sz="2400" kern="0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如果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z’(</a:t>
            </a:r>
            <a:r>
              <a:rPr kumimoji="0" lang="en-US" altLang="zh-CN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kumimoji="0" lang="en-US" altLang="zh-CN" sz="2400" b="0" i="1" u="none" strike="noStrike" kern="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)&lt;0,  </a:t>
            </a:r>
            <a:r>
              <a:rPr lang="zh-CN" altLang="en-US" sz="2400" kern="0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kumimoji="0" lang="en-US" altLang="zh-CN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kumimoji="0" lang="en-US" altLang="zh-CN" sz="2400" b="0" i="1" u="none" strike="noStrike" kern="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k+1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kumimoji="0" lang="en-US" altLang="zh-CN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kumimoji="0" lang="en-US" altLang="zh-CN" sz="2400" b="0" i="1" u="none" strike="noStrike" kern="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kumimoji="0" lang="en-US" altLang="zh-CN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kumimoji="0" lang="en-US" altLang="zh-CN" sz="2400" b="0" i="1" u="none" strike="noStrike" kern="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k+1</a:t>
            </a:r>
            <a:r>
              <a:rPr kumimoji="0" lang="en-US" altLang="zh-CN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kumimoji="0" lang="en-US" altLang="zh-CN" sz="2400" b="0" i="1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kumimoji="0" lang="en-US" altLang="zh-CN" sz="2400" b="0" i="1" u="none" strike="noStrike" kern="0" cap="none" spc="0" normalizeH="0" baseline="-2500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endParaRPr kumimoji="0" lang="en-US" altLang="zh-CN" sz="2400" b="0" i="1" u="none" strike="noStrike" kern="0" cap="none" spc="0" normalizeH="0" baseline="-2500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1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</a:t>
            </a:r>
            <a:r>
              <a:rPr lang="zh-CN" altLang="en-US" sz="2400" kern="0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令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k=k+1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，并返回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Step 1.</a:t>
            </a:r>
          </a:p>
        </p:txBody>
      </p:sp>
      <p:graphicFrame>
        <p:nvGraphicFramePr>
          <p:cNvPr id="22" name="Object 23"/>
          <p:cNvGraphicFramePr>
            <a:graphicFrameLocks noChangeAspect="1"/>
          </p:cNvGraphicFramePr>
          <p:nvPr/>
        </p:nvGraphicFramePr>
        <p:xfrm>
          <a:off x="620713" y="1774825"/>
          <a:ext cx="32766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13" name="Equation" r:id="rId5" imgW="3276600" imgH="381000" progId="Equation.DSMT4">
                  <p:embed/>
                </p:oleObj>
              </mc:Choice>
              <mc:Fallback>
                <p:oleObj name="Equation" r:id="rId5" imgW="3276600" imgH="381000" progId="Equation.DSMT4">
                  <p:embed/>
                  <p:pic>
                    <p:nvPicPr>
                      <p:cNvPr id="22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0713" y="1774825"/>
                        <a:ext cx="3276600" cy="38100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80008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79A52-B200-4D47-BC51-DAB3C0CCCCA5}" type="datetime1">
              <a:rPr lang="en-US" altLang="zh-CN" smtClean="0"/>
              <a:pPr/>
              <a:t>3/31/2025</a:t>
            </a:fld>
            <a:endParaRPr lang="en-US"/>
          </a:p>
        </p:txBody>
      </p:sp>
      <p:sp>
        <p:nvSpPr>
          <p:cNvPr id="25" name="灯片编号占位符 24"/>
          <p:cNvSpPr>
            <a:spLocks noGrp="1"/>
          </p:cNvSpPr>
          <p:nvPr>
            <p:ph type="sldNum" sz="quarter" idx="12"/>
          </p:nvPr>
        </p:nvSpPr>
        <p:spPr>
          <a:xfrm>
            <a:off x="8624454" y="26282"/>
            <a:ext cx="1066800" cy="329184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50</a:t>
            </a:fld>
            <a:endParaRPr lang="en-US" dirty="0"/>
          </a:p>
        </p:txBody>
      </p:sp>
      <p:sp>
        <p:nvSpPr>
          <p:cNvPr id="24" name="页脚占位符 2">
            <a:extLst>
              <a:ext uri="{FF2B5EF4-FFF2-40B4-BE49-F238E27FC236}">
                <a16:creationId xmlns:a16="http://schemas.microsoft.com/office/drawing/2014/main" id="{EF5DAE1B-AB61-412C-9BAF-8B22291B48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8905" y="19050"/>
            <a:ext cx="4831731" cy="328613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交通大数据</a:t>
            </a: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· </a:t>
            </a: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东南大学 刘志远教授</a:t>
            </a:r>
            <a:endParaRPr kumimoji="0" lang="en-US" altLang="zh-CN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二分法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033477"/>
            <a:ext cx="8229600" cy="487680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l"/>
            </a:pPr>
            <a:endParaRPr lang="en-US" altLang="zh-CN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buFont typeface="Wingdings" panose="05000000000000000000" pitchFamily="2" charset="2"/>
              <a:buChar char="l"/>
            </a:pPr>
            <a:r>
              <a:rPr lang="zh-CN" altLang="zh-CN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</a:p>
          <a:p>
            <a:pPr marL="0" lvl="0" indent="0">
              <a:buNone/>
            </a:pPr>
            <a:r>
              <a:rPr lang="zh-CN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用二分法解如下非线性规划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问题</a:t>
            </a:r>
            <a:r>
              <a:rPr lang="zh-CN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lvl="0" indent="0">
              <a:buNone/>
            </a:pPr>
            <a:endParaRPr lang="en-US" altLang="zh-CN" dirty="0"/>
          </a:p>
          <a:p>
            <a:pPr marL="0" lvl="0" indent="0">
              <a:buNone/>
            </a:pPr>
            <a:endParaRPr lang="en-US" altLang="zh-CN" dirty="0"/>
          </a:p>
          <a:p>
            <a:pPr marL="0" lvl="0" indent="0">
              <a:buNone/>
            </a:pPr>
            <a:endParaRPr lang="en-US" altLang="zh-CN" dirty="0"/>
          </a:p>
          <a:p>
            <a:pPr marL="0" lvl="0" indent="0">
              <a:buNone/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解：</a:t>
            </a:r>
            <a:endParaRPr lang="en-US" altLang="zh-CN" dirty="0"/>
          </a:p>
          <a:p>
            <a:pPr marL="0" lvl="0" indent="0">
              <a:buNone/>
            </a:pPr>
            <a:endParaRPr lang="en-US" altLang="zh-CN" dirty="0"/>
          </a:p>
          <a:p>
            <a:pPr marL="0" lvl="0" indent="0">
              <a:buNone/>
            </a:pPr>
            <a:endParaRPr lang="zh-CN" altLang="en-US" dirty="0">
              <a:solidFill>
                <a:srgbClr val="0000FF"/>
              </a:solidFill>
            </a:endParaRPr>
          </a:p>
        </p:txBody>
      </p:sp>
      <p:graphicFrame>
        <p:nvGraphicFramePr>
          <p:cNvPr id="18" name="对象 17"/>
          <p:cNvGraphicFramePr>
            <a:graphicFrameLocks noChangeAspect="1"/>
          </p:cNvGraphicFramePr>
          <p:nvPr/>
        </p:nvGraphicFramePr>
        <p:xfrm>
          <a:off x="3352800" y="2298720"/>
          <a:ext cx="2478157" cy="945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58" name="Equation" r:id="rId3" imgW="46329600" imgH="17678400" progId="Equation.DSMT4">
                  <p:embed/>
                </p:oleObj>
              </mc:Choice>
              <mc:Fallback>
                <p:oleObj name="Equation" r:id="rId3" imgW="46329600" imgH="17678400" progId="Equation.DSMT4">
                  <p:embed/>
                  <p:pic>
                    <p:nvPicPr>
                      <p:cNvPr id="18" name="对象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2298720"/>
                        <a:ext cx="2478157" cy="9456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F4D3F69-51D5-4BE9-AE5B-FCEDE4B9F1E8}" type="datetime1">
              <a:rPr lang="en-US" altLang="zh-CN" smtClean="0"/>
              <a:pPr>
                <a:defRPr/>
              </a:pPr>
              <a:t>3/31/2025</a:t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86800" y="18288"/>
            <a:ext cx="1066800" cy="329184"/>
          </a:xfrm>
        </p:spPr>
        <p:txBody>
          <a:bodyPr/>
          <a:lstStyle/>
          <a:p>
            <a:pPr>
              <a:defRPr/>
            </a:pPr>
            <a:fld id="{A8A04E82-56C5-473E-AB74-E41CD95FB2B4}" type="slidenum">
              <a:rPr lang="zh-CN" altLang="en-US" smtClean="0"/>
              <a:pPr>
                <a:defRPr/>
              </a:pPr>
              <a:t>51</a:t>
            </a:fld>
            <a:endParaRPr lang="en-US" altLang="zh-CN" dirty="0"/>
          </a:p>
        </p:txBody>
      </p:sp>
      <p:sp>
        <p:nvSpPr>
          <p:cNvPr id="10" name="页脚占位符 2">
            <a:extLst>
              <a:ext uri="{FF2B5EF4-FFF2-40B4-BE49-F238E27FC236}">
                <a16:creationId xmlns:a16="http://schemas.microsoft.com/office/drawing/2014/main" id="{482BB6E3-C1ED-479A-8CB7-AC8824AF1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8905" y="19050"/>
            <a:ext cx="4831731" cy="328613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交通大数据</a:t>
            </a: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· </a:t>
            </a: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东南大学 刘志远教授</a:t>
            </a:r>
            <a:endParaRPr kumimoji="0" lang="en-US" altLang="zh-CN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57200" y="4338320"/>
            <a:ext cx="1016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因为：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457200" y="4939632"/>
            <a:ext cx="1016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所以：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457200" y="5585329"/>
            <a:ext cx="1016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因此：</a:t>
            </a:r>
          </a:p>
        </p:txBody>
      </p:sp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2974977"/>
              </p:ext>
            </p:extLst>
          </p:nvPr>
        </p:nvGraphicFramePr>
        <p:xfrm>
          <a:off x="1473200" y="4344867"/>
          <a:ext cx="4457844" cy="47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59" name="Equation" r:id="rId5" imgW="51511200" imgH="5486400" progId="Equation.DSMT4">
                  <p:embed/>
                </p:oleObj>
              </mc:Choice>
              <mc:Fallback>
                <p:oleObj name="Equation" r:id="rId5" imgW="51511200" imgH="5486400" progId="Equation.DSMT4">
                  <p:embed/>
                  <p:pic>
                    <p:nvPicPr>
                      <p:cNvPr id="14" name="对象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3200" y="4344867"/>
                        <a:ext cx="4457844" cy="474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6843053"/>
              </p:ext>
            </p:extLst>
          </p:nvPr>
        </p:nvGraphicFramePr>
        <p:xfrm>
          <a:off x="1473200" y="5010209"/>
          <a:ext cx="6127164" cy="4501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60" name="Equation" r:id="rId7" imgW="74676000" imgH="5486400" progId="Equation.DSMT4">
                  <p:embed/>
                </p:oleObj>
              </mc:Choice>
              <mc:Fallback>
                <p:oleObj name="Equation" r:id="rId7" imgW="74676000" imgH="5486400" progId="Equation.DSMT4">
                  <p:embed/>
                  <p:pic>
                    <p:nvPicPr>
                      <p:cNvPr id="15" name="对象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3200" y="5010209"/>
                        <a:ext cx="6127164" cy="45015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86281430"/>
              </p:ext>
            </p:extLst>
          </p:nvPr>
        </p:nvGraphicFramePr>
        <p:xfrm>
          <a:off x="1473200" y="5572539"/>
          <a:ext cx="2906757" cy="4471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61" name="Equation" r:id="rId9" imgW="35661600" imgH="5486400" progId="Equation.DSMT4">
                  <p:embed/>
                </p:oleObj>
              </mc:Choice>
              <mc:Fallback>
                <p:oleObj name="Equation" r:id="rId9" imgW="35661600" imgH="5486400" progId="Equation.DSMT4">
                  <p:embed/>
                  <p:pic>
                    <p:nvPicPr>
                      <p:cNvPr id="16" name="对象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3200" y="5572539"/>
                        <a:ext cx="2906757" cy="44719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/>
          <p:cNvSpPr/>
          <p:nvPr/>
        </p:nvSpPr>
        <p:spPr>
          <a:xfrm>
            <a:off x="483061" y="6141681"/>
            <a:ext cx="454483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重复上述过程，迭代过程如下表所示：</a:t>
            </a:r>
          </a:p>
        </p:txBody>
      </p:sp>
    </p:spTree>
    <p:extLst>
      <p:ext uri="{BB962C8B-B14F-4D97-AF65-F5344CB8AC3E}">
        <p14:creationId xmlns:p14="http://schemas.microsoft.com/office/powerpoint/2010/main" val="266690801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spcBef>
                <a:spcPts val="0"/>
              </a:spcBef>
              <a:defRPr/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二分法</a:t>
            </a:r>
            <a:endParaRPr lang="zh-CN" altLang="en-US" sz="48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394923"/>
            <a:ext cx="8229600" cy="4876800"/>
          </a:xfrm>
        </p:spPr>
        <p:txBody>
          <a:bodyPr/>
          <a:lstStyle/>
          <a:p>
            <a:pPr marL="0" lvl="0" indent="0">
              <a:spcBef>
                <a:spcPct val="50000"/>
              </a:spcBef>
              <a:buClrTx/>
              <a:buSzPct val="60000"/>
              <a:buFont typeface="Wingdings" panose="05000000000000000000" pitchFamily="2" charset="2"/>
              <a:buChar char="q"/>
              <a:defRPr/>
            </a:pPr>
            <a:r>
              <a:rPr lang="en-US" altLang="zh-CN" b="1" kern="0" dirty="0">
                <a:solidFill>
                  <a:srgbClr val="0000FF"/>
                </a:solidFill>
                <a:ea typeface="宋体" panose="02010600030101010101" pitchFamily="2" charset="-122"/>
              </a:rPr>
              <a:t> </a:t>
            </a:r>
            <a:r>
              <a:rPr lang="zh-CN" altLang="en-US" b="1" kern="0" dirty="0">
                <a:solidFill>
                  <a:srgbClr val="0000FF"/>
                </a:solidFill>
                <a:ea typeface="宋体" panose="02010600030101010101" pitchFamily="2" charset="-122"/>
              </a:rPr>
              <a:t>例</a:t>
            </a:r>
            <a:r>
              <a:rPr lang="en-US" altLang="zh-CN" b="1" kern="0" dirty="0">
                <a:solidFill>
                  <a:srgbClr val="0000FF"/>
                </a:solidFill>
                <a:ea typeface="宋体" panose="02010600030101010101" pitchFamily="2" charset="-122"/>
              </a:rPr>
              <a:t>1</a:t>
            </a:r>
          </a:p>
          <a:p>
            <a:endParaRPr lang="zh-CN" altLang="en-US" dirty="0"/>
          </a:p>
        </p:txBody>
      </p:sp>
      <p:grpSp>
        <p:nvGrpSpPr>
          <p:cNvPr id="10" name="Group 12"/>
          <p:cNvGrpSpPr/>
          <p:nvPr/>
        </p:nvGrpSpPr>
        <p:grpSpPr bwMode="auto">
          <a:xfrm>
            <a:off x="-145774" y="2194705"/>
            <a:ext cx="8832574" cy="4039852"/>
            <a:chOff x="288" y="1776"/>
            <a:chExt cx="4992" cy="1978"/>
          </a:xfrm>
        </p:grpSpPr>
        <p:sp>
          <p:nvSpPr>
            <p:cNvPr id="11" name="Text Box 13"/>
            <p:cNvSpPr txBox="1">
              <a:spLocks noChangeArrowheads="1"/>
            </p:cNvSpPr>
            <p:nvPr/>
          </p:nvSpPr>
          <p:spPr bwMode="auto">
            <a:xfrm>
              <a:off x="2400" y="3504"/>
              <a:ext cx="19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宋体" panose="02010600030101010101" pitchFamily="2" charset="-122"/>
              </a:endParaRPr>
            </a:p>
          </p:txBody>
        </p:sp>
        <p:sp>
          <p:nvSpPr>
            <p:cNvPr id="12" name="Rectangle 14"/>
            <p:cNvSpPr>
              <a:spLocks noChangeArrowheads="1"/>
            </p:cNvSpPr>
            <p:nvPr/>
          </p:nvSpPr>
          <p:spPr bwMode="auto">
            <a:xfrm>
              <a:off x="4508" y="3456"/>
              <a:ext cx="724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marL="0" marR="0" lvl="0" indent="0" algn="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 Unicode MS" panose="020B0604020202020204" pitchFamily="34" charset="-128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0.02236</a:t>
              </a:r>
              <a:endParaRPr kumimoji="0" lang="en-US" altLang="zh-CN" sz="1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3" name="Rectangle 15"/>
            <p:cNvSpPr>
              <a:spLocks noChangeArrowheads="1"/>
            </p:cNvSpPr>
            <p:nvPr/>
          </p:nvSpPr>
          <p:spPr bwMode="auto">
            <a:xfrm>
              <a:off x="3817" y="3456"/>
              <a:ext cx="691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marL="0" marR="0" lvl="0" indent="0" algn="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 Unicode MS" panose="020B0604020202020204" pitchFamily="34" charset="-128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-0.0249</a:t>
              </a:r>
              <a:endParaRPr kumimoji="0" lang="en-US" altLang="zh-CN" sz="1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4" name="Rectangle 16"/>
            <p:cNvSpPr>
              <a:spLocks noChangeArrowheads="1"/>
            </p:cNvSpPr>
            <p:nvPr/>
          </p:nvSpPr>
          <p:spPr bwMode="auto">
            <a:xfrm>
              <a:off x="3092" y="3456"/>
              <a:ext cx="725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marL="0" marR="0" lvl="0" indent="0" algn="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 Unicode MS" panose="020B0604020202020204" pitchFamily="34" charset="-128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-0.0013</a:t>
              </a:r>
              <a:endParaRPr kumimoji="0" lang="en-US" altLang="zh-CN" sz="1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5" name="Rectangle 17"/>
            <p:cNvSpPr>
              <a:spLocks noChangeArrowheads="1"/>
            </p:cNvSpPr>
            <p:nvPr/>
          </p:nvSpPr>
          <p:spPr bwMode="auto">
            <a:xfrm>
              <a:off x="2369" y="3456"/>
              <a:ext cx="723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marL="0" marR="0" lvl="0" indent="0" algn="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0" u="none" strike="noStrike" kern="0" cap="none" spc="0" normalizeH="0" baseline="0" noProof="0">
                  <a:ln>
                    <a:noFill/>
                  </a:ln>
                  <a:solidFill>
                    <a:schemeClr val="hlink"/>
                  </a:solidFill>
                  <a:effectLst/>
                  <a:uLnTx/>
                  <a:uFillTx/>
                  <a:latin typeface="Arial Unicode MS" panose="020B0604020202020204" pitchFamily="34" charset="-128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4.71113</a:t>
              </a:r>
              <a:endParaRPr kumimoji="0" lang="en-US" altLang="zh-CN" sz="1600" b="0" i="0" u="none" strike="noStrike" kern="0" cap="none" spc="0" normalizeH="0" baseline="0" noProof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6" name="Rectangle 18"/>
            <p:cNvSpPr>
              <a:spLocks noChangeArrowheads="1"/>
            </p:cNvSpPr>
            <p:nvPr/>
          </p:nvSpPr>
          <p:spPr bwMode="auto">
            <a:xfrm>
              <a:off x="1632" y="3456"/>
              <a:ext cx="737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marL="0" marR="0" lvl="0" indent="0" algn="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 Unicode MS" panose="020B0604020202020204" pitchFamily="34" charset="-128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4.73475</a:t>
              </a:r>
              <a:endParaRPr kumimoji="0" lang="en-US" altLang="zh-CN" sz="1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7" name="Rectangle 19"/>
            <p:cNvSpPr>
              <a:spLocks noChangeArrowheads="1"/>
            </p:cNvSpPr>
            <p:nvPr/>
          </p:nvSpPr>
          <p:spPr bwMode="auto">
            <a:xfrm>
              <a:off x="966" y="3456"/>
              <a:ext cx="666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marL="0" marR="0" lvl="0" indent="0" algn="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 Unicode MS" panose="020B0604020202020204" pitchFamily="34" charset="-128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4.6875</a:t>
              </a:r>
              <a:endParaRPr kumimoji="0" lang="en-US" altLang="zh-CN" sz="1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8" name="Rectangle 20"/>
            <p:cNvSpPr>
              <a:spLocks noChangeArrowheads="1"/>
            </p:cNvSpPr>
            <p:nvPr/>
          </p:nvSpPr>
          <p:spPr bwMode="auto">
            <a:xfrm>
              <a:off x="288" y="3456"/>
              <a:ext cx="678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marL="0" marR="0" lvl="0" indent="0" algn="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 Unicode MS" panose="020B0604020202020204" pitchFamily="34" charset="-128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6</a:t>
              </a:r>
              <a:endParaRPr kumimoji="0" lang="en-US" altLang="zh-CN" sz="1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9" name="Rectangle 21"/>
            <p:cNvSpPr>
              <a:spLocks noChangeArrowheads="1"/>
            </p:cNvSpPr>
            <p:nvPr/>
          </p:nvSpPr>
          <p:spPr bwMode="auto">
            <a:xfrm>
              <a:off x="4508" y="3216"/>
              <a:ext cx="724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marL="0" marR="0" lvl="0" indent="0" algn="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 Unicode MS" panose="020B0604020202020204" pitchFamily="34" charset="-128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0.06881</a:t>
              </a:r>
              <a:endParaRPr kumimoji="0" lang="en-US" altLang="zh-CN" sz="1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0" name="Rectangle 22"/>
            <p:cNvSpPr>
              <a:spLocks noChangeArrowheads="1"/>
            </p:cNvSpPr>
            <p:nvPr/>
          </p:nvSpPr>
          <p:spPr bwMode="auto">
            <a:xfrm>
              <a:off x="3817" y="3216"/>
              <a:ext cx="691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marL="0" marR="0" lvl="0" indent="0" algn="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 Unicode MS" panose="020B0604020202020204" pitchFamily="34" charset="-128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-0.0249</a:t>
              </a:r>
              <a:endParaRPr kumimoji="0" lang="en-US" altLang="zh-CN" sz="1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1" name="Rectangle 23"/>
            <p:cNvSpPr>
              <a:spLocks noChangeArrowheads="1"/>
            </p:cNvSpPr>
            <p:nvPr/>
          </p:nvSpPr>
          <p:spPr bwMode="auto">
            <a:xfrm>
              <a:off x="3092" y="3216"/>
              <a:ext cx="725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marL="0" marR="0" lvl="0" indent="0" algn="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 Unicode MS" panose="020B0604020202020204" pitchFamily="34" charset="-128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0.02198</a:t>
              </a:r>
              <a:endParaRPr kumimoji="0" lang="en-US" altLang="zh-CN" sz="1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2" name="Rectangle 24"/>
            <p:cNvSpPr>
              <a:spLocks noChangeArrowheads="1"/>
            </p:cNvSpPr>
            <p:nvPr/>
          </p:nvSpPr>
          <p:spPr bwMode="auto">
            <a:xfrm>
              <a:off x="2369" y="3216"/>
              <a:ext cx="723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marL="0" marR="0" lvl="0" indent="0" algn="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0" u="none" strike="noStrike" kern="0" cap="none" spc="0" normalizeH="0" baseline="0" noProof="0">
                  <a:ln>
                    <a:noFill/>
                  </a:ln>
                  <a:solidFill>
                    <a:srgbClr val="FF0066"/>
                  </a:solidFill>
                  <a:effectLst/>
                  <a:uLnTx/>
                  <a:uFillTx/>
                  <a:latin typeface="Arial Unicode MS" panose="020B0604020202020204" pitchFamily="34" charset="-128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4.73438</a:t>
              </a:r>
              <a:endParaRPr kumimoji="0" lang="en-US" altLang="zh-CN" sz="1600" b="0" i="0" u="none" strike="noStrike" kern="0" cap="none" spc="0" normalizeH="0" baseline="0" noProof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3" name="Rectangle 25"/>
            <p:cNvSpPr>
              <a:spLocks noChangeArrowheads="1"/>
            </p:cNvSpPr>
            <p:nvPr/>
          </p:nvSpPr>
          <p:spPr bwMode="auto">
            <a:xfrm>
              <a:off x="1632" y="3216"/>
              <a:ext cx="737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marL="0" marR="0" lvl="0" indent="0" algn="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Arial Unicode MS" panose="020B0604020202020204" pitchFamily="34" charset="-128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4.78125</a:t>
              </a:r>
              <a:endParaRPr kumimoji="0" lang="en-US" altLang="zh-CN" sz="1600" b="0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4" name="Rectangle 26"/>
            <p:cNvSpPr>
              <a:spLocks noChangeArrowheads="1"/>
            </p:cNvSpPr>
            <p:nvPr/>
          </p:nvSpPr>
          <p:spPr bwMode="auto">
            <a:xfrm>
              <a:off x="966" y="3216"/>
              <a:ext cx="666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marL="0" marR="0" lvl="0" indent="0" algn="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 Unicode MS" panose="020B0604020202020204" pitchFamily="34" charset="-128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4.6875</a:t>
              </a:r>
              <a:endParaRPr kumimoji="0" lang="en-US" altLang="zh-CN" sz="1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5" name="Rectangle 27"/>
            <p:cNvSpPr>
              <a:spLocks noChangeArrowheads="1"/>
            </p:cNvSpPr>
            <p:nvPr/>
          </p:nvSpPr>
          <p:spPr bwMode="auto">
            <a:xfrm>
              <a:off x="288" y="3216"/>
              <a:ext cx="678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marL="0" marR="0" lvl="0" indent="0" algn="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 Unicode MS" panose="020B0604020202020204" pitchFamily="34" charset="-128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5</a:t>
              </a:r>
              <a:endParaRPr kumimoji="0" lang="en-US" altLang="zh-CN" sz="1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6" name="Rectangle 28"/>
            <p:cNvSpPr>
              <a:spLocks noChangeArrowheads="1"/>
            </p:cNvSpPr>
            <p:nvPr/>
          </p:nvSpPr>
          <p:spPr bwMode="auto">
            <a:xfrm>
              <a:off x="4508" y="2976"/>
              <a:ext cx="724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marL="0" marR="0" lvl="0" indent="0" algn="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 Unicode MS" panose="020B0604020202020204" pitchFamily="34" charset="-128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0.1619</a:t>
              </a:r>
              <a:endParaRPr kumimoji="0" lang="en-US" altLang="zh-CN" sz="1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7" name="Rectangle 29"/>
            <p:cNvSpPr>
              <a:spLocks noChangeArrowheads="1"/>
            </p:cNvSpPr>
            <p:nvPr/>
          </p:nvSpPr>
          <p:spPr bwMode="auto">
            <a:xfrm>
              <a:off x="3817" y="2976"/>
              <a:ext cx="691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marL="0" marR="0" lvl="0" indent="0" algn="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 Unicode MS" panose="020B0604020202020204" pitchFamily="34" charset="-128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-0.0249</a:t>
              </a:r>
              <a:endParaRPr kumimoji="0" lang="en-US" altLang="zh-CN" sz="1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8" name="Rectangle 30"/>
            <p:cNvSpPr>
              <a:spLocks noChangeArrowheads="1"/>
            </p:cNvSpPr>
            <p:nvPr/>
          </p:nvSpPr>
          <p:spPr bwMode="auto">
            <a:xfrm>
              <a:off x="3092" y="2976"/>
              <a:ext cx="725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marL="0" marR="0" lvl="0" indent="0" algn="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 Unicode MS" panose="020B0604020202020204" pitchFamily="34" charset="-128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0.06881</a:t>
              </a:r>
              <a:endParaRPr kumimoji="0" lang="en-US" altLang="zh-CN" sz="1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9" name="Rectangle 31"/>
            <p:cNvSpPr>
              <a:spLocks noChangeArrowheads="1"/>
            </p:cNvSpPr>
            <p:nvPr/>
          </p:nvSpPr>
          <p:spPr bwMode="auto">
            <a:xfrm>
              <a:off x="2369" y="2976"/>
              <a:ext cx="723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marL="0" marR="0" lvl="0" indent="0" algn="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 Unicode MS" panose="020B0604020202020204" pitchFamily="34" charset="-128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4.78125</a:t>
              </a:r>
              <a:endParaRPr kumimoji="0" lang="en-US" altLang="zh-CN" sz="1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0" name="Rectangle 32"/>
            <p:cNvSpPr>
              <a:spLocks noChangeArrowheads="1"/>
            </p:cNvSpPr>
            <p:nvPr/>
          </p:nvSpPr>
          <p:spPr bwMode="auto">
            <a:xfrm>
              <a:off x="1632" y="2976"/>
              <a:ext cx="737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marL="0" marR="0" lvl="0" indent="0" algn="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 Unicode MS" panose="020B0604020202020204" pitchFamily="34" charset="-128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4.875</a:t>
              </a:r>
              <a:endParaRPr kumimoji="0" lang="en-US" altLang="zh-CN" sz="1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1" name="Rectangle 33"/>
            <p:cNvSpPr>
              <a:spLocks noChangeArrowheads="1"/>
            </p:cNvSpPr>
            <p:nvPr/>
          </p:nvSpPr>
          <p:spPr bwMode="auto">
            <a:xfrm>
              <a:off x="966" y="2976"/>
              <a:ext cx="666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marL="0" marR="0" lvl="0" indent="0" algn="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Arial Unicode MS" panose="020B0604020202020204" pitchFamily="34" charset="-128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4.6875</a:t>
              </a:r>
              <a:endParaRPr kumimoji="0" lang="en-US" altLang="zh-CN" sz="1600" b="0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2" name="Rectangle 34"/>
            <p:cNvSpPr>
              <a:spLocks noChangeArrowheads="1"/>
            </p:cNvSpPr>
            <p:nvPr/>
          </p:nvSpPr>
          <p:spPr bwMode="auto">
            <a:xfrm>
              <a:off x="288" y="2976"/>
              <a:ext cx="678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marL="0" marR="0" lvl="0" indent="0" algn="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 Unicode MS" panose="020B0604020202020204" pitchFamily="34" charset="-128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4</a:t>
              </a:r>
              <a:endParaRPr kumimoji="0" lang="en-US" altLang="zh-CN" sz="1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3" name="Rectangle 35"/>
            <p:cNvSpPr>
              <a:spLocks noChangeArrowheads="1"/>
            </p:cNvSpPr>
            <p:nvPr/>
          </p:nvSpPr>
          <p:spPr bwMode="auto">
            <a:xfrm>
              <a:off x="4508" y="2736"/>
              <a:ext cx="724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marL="0" marR="0" lvl="0" indent="0" algn="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 Unicode MS" panose="020B0604020202020204" pitchFamily="34" charset="-128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0.1619</a:t>
              </a:r>
              <a:endParaRPr kumimoji="0" lang="en-US" altLang="zh-CN" sz="1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4" name="Rectangle 36"/>
            <p:cNvSpPr>
              <a:spLocks noChangeArrowheads="1"/>
            </p:cNvSpPr>
            <p:nvPr/>
          </p:nvSpPr>
          <p:spPr bwMode="auto">
            <a:xfrm>
              <a:off x="3817" y="2736"/>
              <a:ext cx="691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marL="0" marR="0" lvl="0" indent="0" algn="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 Unicode MS" panose="020B0604020202020204" pitchFamily="34" charset="-128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-0.2108</a:t>
              </a:r>
              <a:endParaRPr kumimoji="0" lang="en-US" altLang="zh-CN" sz="1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5" name="Rectangle 37"/>
            <p:cNvSpPr>
              <a:spLocks noChangeArrowheads="1"/>
            </p:cNvSpPr>
            <p:nvPr/>
          </p:nvSpPr>
          <p:spPr bwMode="auto">
            <a:xfrm>
              <a:off x="3092" y="2736"/>
              <a:ext cx="725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marL="0" marR="0" lvl="0" indent="0" algn="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 Unicode MS" panose="020B0604020202020204" pitchFamily="34" charset="-128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-0.0249</a:t>
              </a:r>
              <a:endParaRPr kumimoji="0" lang="en-US" altLang="zh-CN" sz="1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6" name="Rectangle 38"/>
            <p:cNvSpPr>
              <a:spLocks noChangeArrowheads="1"/>
            </p:cNvSpPr>
            <p:nvPr/>
          </p:nvSpPr>
          <p:spPr bwMode="auto">
            <a:xfrm>
              <a:off x="2369" y="2736"/>
              <a:ext cx="723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marL="0" marR="0" lvl="0" indent="0" algn="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 Unicode MS" panose="020B0604020202020204" pitchFamily="34" charset="-128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4.6875</a:t>
              </a:r>
              <a:endParaRPr kumimoji="0" lang="en-US" altLang="zh-CN" sz="1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7" name="Rectangle 39"/>
            <p:cNvSpPr>
              <a:spLocks noChangeArrowheads="1"/>
            </p:cNvSpPr>
            <p:nvPr/>
          </p:nvSpPr>
          <p:spPr bwMode="auto">
            <a:xfrm>
              <a:off x="1632" y="2736"/>
              <a:ext cx="737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marL="0" marR="0" lvl="0" indent="0" algn="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Arial Unicode MS" panose="020B0604020202020204" pitchFamily="34" charset="-128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4.875</a:t>
              </a:r>
              <a:endParaRPr kumimoji="0" lang="en-US" altLang="zh-CN" sz="1600" b="0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8" name="Rectangle 40"/>
            <p:cNvSpPr>
              <a:spLocks noChangeArrowheads="1"/>
            </p:cNvSpPr>
            <p:nvPr/>
          </p:nvSpPr>
          <p:spPr bwMode="auto">
            <a:xfrm>
              <a:off x="966" y="2736"/>
              <a:ext cx="666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marL="0" marR="0" lvl="0" indent="0" algn="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 Unicode MS" panose="020B0604020202020204" pitchFamily="34" charset="-128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4.5</a:t>
              </a:r>
              <a:endParaRPr kumimoji="0" lang="en-US" altLang="zh-CN" sz="1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9" name="Rectangle 41"/>
            <p:cNvSpPr>
              <a:spLocks noChangeArrowheads="1"/>
            </p:cNvSpPr>
            <p:nvPr/>
          </p:nvSpPr>
          <p:spPr bwMode="auto">
            <a:xfrm>
              <a:off x="288" y="2736"/>
              <a:ext cx="678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marL="0" marR="0" lvl="0" indent="0" algn="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 Unicode MS" panose="020B0604020202020204" pitchFamily="34" charset="-128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3</a:t>
              </a:r>
              <a:endParaRPr kumimoji="0" lang="en-US" altLang="zh-CN" sz="1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0" name="Rectangle 42"/>
            <p:cNvSpPr>
              <a:spLocks noChangeArrowheads="1"/>
            </p:cNvSpPr>
            <p:nvPr/>
          </p:nvSpPr>
          <p:spPr bwMode="auto">
            <a:xfrm>
              <a:off x="4508" y="2496"/>
              <a:ext cx="724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marL="0" marR="0" lvl="0" indent="0" algn="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 Unicode MS" panose="020B0604020202020204" pitchFamily="34" charset="-128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0.51209</a:t>
              </a:r>
              <a:endParaRPr kumimoji="0" lang="en-US" altLang="zh-CN" sz="1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1" name="Rectangle 43"/>
            <p:cNvSpPr>
              <a:spLocks noChangeArrowheads="1"/>
            </p:cNvSpPr>
            <p:nvPr/>
          </p:nvSpPr>
          <p:spPr bwMode="auto">
            <a:xfrm>
              <a:off x="3817" y="2496"/>
              <a:ext cx="691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marL="0" marR="0" lvl="0" indent="0" algn="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 Unicode MS" panose="020B0604020202020204" pitchFamily="34" charset="-128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-0.2108</a:t>
              </a:r>
              <a:endParaRPr kumimoji="0" lang="en-US" altLang="zh-CN" sz="1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2" name="Rectangle 44"/>
            <p:cNvSpPr>
              <a:spLocks noChangeArrowheads="1"/>
            </p:cNvSpPr>
            <p:nvPr/>
          </p:nvSpPr>
          <p:spPr bwMode="auto">
            <a:xfrm>
              <a:off x="3092" y="2496"/>
              <a:ext cx="725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marL="0" marR="0" lvl="0" indent="0" algn="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 Unicode MS" panose="020B0604020202020204" pitchFamily="34" charset="-128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0.1619</a:t>
              </a:r>
              <a:endParaRPr kumimoji="0" lang="en-US" altLang="zh-CN" sz="1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3" name="Rectangle 45"/>
            <p:cNvSpPr>
              <a:spLocks noChangeArrowheads="1"/>
            </p:cNvSpPr>
            <p:nvPr/>
          </p:nvSpPr>
          <p:spPr bwMode="auto">
            <a:xfrm>
              <a:off x="2369" y="2496"/>
              <a:ext cx="723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marL="0" marR="0" lvl="0" indent="0" algn="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 Unicode MS" panose="020B0604020202020204" pitchFamily="34" charset="-128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4.875</a:t>
              </a:r>
              <a:endParaRPr kumimoji="0" lang="en-US" altLang="zh-CN" sz="1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4" name="Rectangle 46"/>
            <p:cNvSpPr>
              <a:spLocks noChangeArrowheads="1"/>
            </p:cNvSpPr>
            <p:nvPr/>
          </p:nvSpPr>
          <p:spPr bwMode="auto">
            <a:xfrm>
              <a:off x="1632" y="2496"/>
              <a:ext cx="737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marL="0" marR="0" lvl="0" indent="0" algn="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Arial Unicode MS" panose="020B0604020202020204" pitchFamily="34" charset="-128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5.25</a:t>
              </a:r>
              <a:endParaRPr kumimoji="0" lang="en-US" altLang="zh-CN" sz="1600" b="0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5" name="Rectangle 47"/>
            <p:cNvSpPr>
              <a:spLocks noChangeArrowheads="1"/>
            </p:cNvSpPr>
            <p:nvPr/>
          </p:nvSpPr>
          <p:spPr bwMode="auto">
            <a:xfrm>
              <a:off x="966" y="2496"/>
              <a:ext cx="666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marL="0" marR="0" lvl="0" indent="0" algn="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 Unicode MS" panose="020B0604020202020204" pitchFamily="34" charset="-128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4.5</a:t>
              </a:r>
              <a:endParaRPr kumimoji="0" lang="en-US" altLang="zh-CN" sz="1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6" name="Rectangle 48"/>
            <p:cNvSpPr>
              <a:spLocks noChangeArrowheads="1"/>
            </p:cNvSpPr>
            <p:nvPr/>
          </p:nvSpPr>
          <p:spPr bwMode="auto">
            <a:xfrm>
              <a:off x="288" y="2496"/>
              <a:ext cx="678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marL="0" marR="0" lvl="0" indent="0" algn="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 Unicode MS" panose="020B0604020202020204" pitchFamily="34" charset="-128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2</a:t>
              </a:r>
              <a:endParaRPr kumimoji="0" lang="en-US" altLang="zh-CN" sz="1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7" name="Rectangle 49"/>
            <p:cNvSpPr>
              <a:spLocks noChangeArrowheads="1"/>
            </p:cNvSpPr>
            <p:nvPr/>
          </p:nvSpPr>
          <p:spPr bwMode="auto">
            <a:xfrm>
              <a:off x="4508" y="2256"/>
              <a:ext cx="724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marL="0" marR="0" lvl="0" indent="0" algn="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 Unicode MS" panose="020B0604020202020204" pitchFamily="34" charset="-128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0.96017</a:t>
              </a:r>
              <a:endParaRPr kumimoji="0" lang="en-US" altLang="zh-CN" sz="1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8" name="Rectangle 50"/>
            <p:cNvSpPr>
              <a:spLocks noChangeArrowheads="1"/>
            </p:cNvSpPr>
            <p:nvPr/>
          </p:nvSpPr>
          <p:spPr bwMode="auto">
            <a:xfrm>
              <a:off x="3817" y="2256"/>
              <a:ext cx="691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marL="0" marR="0" lvl="0" indent="0" algn="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 Unicode MS" panose="020B0604020202020204" pitchFamily="34" charset="-128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-0.2108</a:t>
              </a:r>
              <a:endParaRPr kumimoji="0" lang="en-US" altLang="zh-CN" sz="1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9" name="Rectangle 51"/>
            <p:cNvSpPr>
              <a:spLocks noChangeArrowheads="1"/>
            </p:cNvSpPr>
            <p:nvPr/>
          </p:nvSpPr>
          <p:spPr bwMode="auto">
            <a:xfrm>
              <a:off x="3092" y="2256"/>
              <a:ext cx="725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marL="0" marR="0" lvl="0" indent="0" algn="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 Unicode MS" panose="020B0604020202020204" pitchFamily="34" charset="-128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0.51209</a:t>
              </a:r>
              <a:endParaRPr kumimoji="0" lang="en-US" altLang="zh-CN" sz="1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0" name="Rectangle 52"/>
            <p:cNvSpPr>
              <a:spLocks noChangeArrowheads="1"/>
            </p:cNvSpPr>
            <p:nvPr/>
          </p:nvSpPr>
          <p:spPr bwMode="auto">
            <a:xfrm>
              <a:off x="2369" y="2256"/>
              <a:ext cx="723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marL="0" marR="0" lvl="0" indent="0" algn="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 Unicode MS" panose="020B0604020202020204" pitchFamily="34" charset="-128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5.25</a:t>
              </a:r>
              <a:endParaRPr kumimoji="0" lang="en-US" altLang="zh-CN" sz="1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1" name="Rectangle 53"/>
            <p:cNvSpPr>
              <a:spLocks noChangeArrowheads="1"/>
            </p:cNvSpPr>
            <p:nvPr/>
          </p:nvSpPr>
          <p:spPr bwMode="auto">
            <a:xfrm>
              <a:off x="1632" y="2256"/>
              <a:ext cx="737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marL="0" marR="0" lvl="0" indent="0" algn="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 Unicode MS" panose="020B0604020202020204" pitchFamily="34" charset="-128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6</a:t>
              </a:r>
              <a:endParaRPr kumimoji="0" lang="en-US" altLang="zh-CN" sz="1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2" name="Rectangle 54"/>
            <p:cNvSpPr>
              <a:spLocks noChangeArrowheads="1"/>
            </p:cNvSpPr>
            <p:nvPr/>
          </p:nvSpPr>
          <p:spPr bwMode="auto">
            <a:xfrm>
              <a:off x="966" y="2256"/>
              <a:ext cx="666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marL="0" marR="0" lvl="0" indent="0" algn="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Arial Unicode MS" panose="020B0604020202020204" pitchFamily="34" charset="-128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4.5</a:t>
              </a:r>
              <a:endParaRPr kumimoji="0" lang="en-US" altLang="zh-CN" sz="1600" b="0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3" name="Rectangle 55"/>
            <p:cNvSpPr>
              <a:spLocks noChangeArrowheads="1"/>
            </p:cNvSpPr>
            <p:nvPr/>
          </p:nvSpPr>
          <p:spPr bwMode="auto">
            <a:xfrm>
              <a:off x="288" y="2256"/>
              <a:ext cx="678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marL="0" marR="0" lvl="0" indent="0" algn="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 Unicode MS" panose="020B0604020202020204" pitchFamily="34" charset="-128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1</a:t>
              </a:r>
              <a:endParaRPr kumimoji="0" lang="en-US" altLang="zh-CN" sz="1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4" name="Rectangle 56"/>
            <p:cNvSpPr>
              <a:spLocks noChangeArrowheads="1"/>
            </p:cNvSpPr>
            <p:nvPr/>
          </p:nvSpPr>
          <p:spPr bwMode="auto">
            <a:xfrm>
              <a:off x="4508" y="2016"/>
              <a:ext cx="724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marL="0" marR="0" lvl="0" indent="0" algn="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 Unicode MS" panose="020B0604020202020204" pitchFamily="34" charset="-128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0.96017</a:t>
              </a:r>
              <a:endParaRPr kumimoji="0" lang="en-US" altLang="zh-CN" sz="1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5" name="Rectangle 57"/>
            <p:cNvSpPr>
              <a:spLocks noChangeArrowheads="1"/>
            </p:cNvSpPr>
            <p:nvPr/>
          </p:nvSpPr>
          <p:spPr bwMode="auto">
            <a:xfrm>
              <a:off x="3817" y="2016"/>
              <a:ext cx="691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marL="0" marR="0" lvl="0" indent="0" algn="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 Unicode MS" panose="020B0604020202020204" pitchFamily="34" charset="-128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-0.99</a:t>
              </a:r>
              <a:endParaRPr kumimoji="0" lang="en-US" altLang="zh-CN" sz="1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6" name="Rectangle 58"/>
            <p:cNvSpPr>
              <a:spLocks noChangeArrowheads="1"/>
            </p:cNvSpPr>
            <p:nvPr/>
          </p:nvSpPr>
          <p:spPr bwMode="auto">
            <a:xfrm>
              <a:off x="3092" y="2016"/>
              <a:ext cx="725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marL="0" marR="0" lvl="0" indent="0" algn="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 Unicode MS" panose="020B0604020202020204" pitchFamily="34" charset="-128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-0.2108</a:t>
              </a:r>
              <a:endParaRPr kumimoji="0" lang="en-US" altLang="zh-CN" sz="1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7" name="Rectangle 59"/>
            <p:cNvSpPr>
              <a:spLocks noChangeArrowheads="1"/>
            </p:cNvSpPr>
            <p:nvPr/>
          </p:nvSpPr>
          <p:spPr bwMode="auto">
            <a:xfrm>
              <a:off x="2369" y="2016"/>
              <a:ext cx="723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marL="0" marR="0" lvl="0" indent="0" algn="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 Unicode MS" panose="020B0604020202020204" pitchFamily="34" charset="-128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4.5</a:t>
              </a:r>
              <a:endParaRPr kumimoji="0" lang="en-US" altLang="zh-CN" sz="1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8" name="Rectangle 60"/>
            <p:cNvSpPr>
              <a:spLocks noChangeArrowheads="1"/>
            </p:cNvSpPr>
            <p:nvPr/>
          </p:nvSpPr>
          <p:spPr bwMode="auto">
            <a:xfrm>
              <a:off x="1632" y="2016"/>
              <a:ext cx="737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marL="0" marR="0" lvl="0" indent="0" algn="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 Unicode MS" panose="020B0604020202020204" pitchFamily="34" charset="-128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6</a:t>
              </a:r>
              <a:endParaRPr kumimoji="0" lang="en-US" altLang="zh-CN" sz="1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9" name="Rectangle 61"/>
            <p:cNvSpPr>
              <a:spLocks noChangeArrowheads="1"/>
            </p:cNvSpPr>
            <p:nvPr/>
          </p:nvSpPr>
          <p:spPr bwMode="auto">
            <a:xfrm>
              <a:off x="966" y="2016"/>
              <a:ext cx="666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marL="0" marR="0" lvl="0" indent="0" algn="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 Unicode MS" panose="020B0604020202020204" pitchFamily="34" charset="-128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3</a:t>
              </a:r>
              <a:endParaRPr kumimoji="0" lang="en-US" altLang="zh-CN" sz="1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0" name="Rectangle 62"/>
            <p:cNvSpPr>
              <a:spLocks noChangeArrowheads="1"/>
            </p:cNvSpPr>
            <p:nvPr/>
          </p:nvSpPr>
          <p:spPr bwMode="auto">
            <a:xfrm>
              <a:off x="288" y="2016"/>
              <a:ext cx="678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marL="0" marR="0" lvl="0" indent="0" algn="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 Unicode MS" panose="020B0604020202020204" pitchFamily="34" charset="-128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0</a:t>
              </a:r>
              <a:endParaRPr kumimoji="0" lang="en-US" altLang="zh-CN" sz="1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1" name="Rectangle 63"/>
            <p:cNvSpPr>
              <a:spLocks noChangeArrowheads="1"/>
            </p:cNvSpPr>
            <p:nvPr/>
          </p:nvSpPr>
          <p:spPr bwMode="auto">
            <a:xfrm>
              <a:off x="4508" y="1776"/>
              <a:ext cx="724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marL="0" marR="0" lvl="0" indent="0" algn="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 Unicode MS" panose="020B0604020202020204" pitchFamily="34" charset="-128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z'(b</a:t>
              </a:r>
              <a:r>
                <a:rPr kumimoji="0" lang="en-US" altLang="zh-CN" sz="1600" b="0" i="0" u="none" strike="noStrike" kern="0" cap="none" spc="0" normalizeH="0" baseline="-2500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 Unicode MS" panose="020B0604020202020204" pitchFamily="34" charset="-128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k</a:t>
              </a:r>
              <a:r>
                <a:rPr kumimoji="0" lang="en-US" altLang="zh-CN" sz="16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 Unicode MS" panose="020B0604020202020204" pitchFamily="34" charset="-128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)</a:t>
              </a:r>
              <a:endParaRPr kumimoji="0" lang="en-US" altLang="zh-CN" sz="1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2" name="Rectangle 64"/>
            <p:cNvSpPr>
              <a:spLocks noChangeArrowheads="1"/>
            </p:cNvSpPr>
            <p:nvPr/>
          </p:nvSpPr>
          <p:spPr bwMode="auto">
            <a:xfrm>
              <a:off x="3817" y="1776"/>
              <a:ext cx="691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marL="0" marR="0" lvl="0" indent="0" algn="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 Unicode MS" panose="020B0604020202020204" pitchFamily="34" charset="-128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z'(a</a:t>
              </a:r>
              <a:r>
                <a:rPr kumimoji="0" lang="en-US" altLang="zh-CN" sz="1600" b="0" i="0" u="none" strike="noStrike" kern="0" cap="none" spc="0" normalizeH="0" baseline="-2500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 Unicode MS" panose="020B0604020202020204" pitchFamily="34" charset="-128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k</a:t>
              </a:r>
              <a:r>
                <a:rPr kumimoji="0" lang="en-US" altLang="zh-CN" sz="16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 Unicode MS" panose="020B0604020202020204" pitchFamily="34" charset="-128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)</a:t>
              </a:r>
              <a:endParaRPr kumimoji="0" lang="en-US" altLang="zh-CN" sz="1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3" name="Rectangle 65"/>
            <p:cNvSpPr>
              <a:spLocks noChangeArrowheads="1"/>
            </p:cNvSpPr>
            <p:nvPr/>
          </p:nvSpPr>
          <p:spPr bwMode="auto">
            <a:xfrm>
              <a:off x="3092" y="1776"/>
              <a:ext cx="725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marL="0" marR="0" lvl="0" indent="0" algn="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 Unicode MS" panose="020B0604020202020204" pitchFamily="34" charset="-128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z'(x</a:t>
              </a:r>
              <a:r>
                <a:rPr kumimoji="0" lang="en-US" altLang="zh-CN" sz="1600" b="0" i="0" u="none" strike="noStrike" kern="0" cap="none" spc="0" normalizeH="0" baseline="-2500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 Unicode MS" panose="020B0604020202020204" pitchFamily="34" charset="-128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k</a:t>
              </a:r>
              <a:r>
                <a:rPr kumimoji="0" lang="en-US" altLang="zh-CN" sz="16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 Unicode MS" panose="020B0604020202020204" pitchFamily="34" charset="-128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)</a:t>
              </a:r>
              <a:endPara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4" name="Rectangle 66"/>
            <p:cNvSpPr>
              <a:spLocks noChangeArrowheads="1"/>
            </p:cNvSpPr>
            <p:nvPr/>
          </p:nvSpPr>
          <p:spPr bwMode="auto">
            <a:xfrm>
              <a:off x="2369" y="1776"/>
              <a:ext cx="723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marL="0" marR="0" lvl="0" indent="0" algn="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 Unicode MS" panose="020B0604020202020204" pitchFamily="34" charset="-128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x</a:t>
              </a:r>
              <a:r>
                <a:rPr kumimoji="0" lang="en-US" altLang="zh-CN" sz="1600" b="0" i="0" u="none" strike="noStrike" kern="0" cap="none" spc="0" normalizeH="0" baseline="-2500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 Unicode MS" panose="020B0604020202020204" pitchFamily="34" charset="-128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k</a:t>
              </a:r>
            </a:p>
          </p:txBody>
        </p:sp>
        <p:sp>
          <p:nvSpPr>
            <p:cNvPr id="65" name="Rectangle 67"/>
            <p:cNvSpPr>
              <a:spLocks noChangeArrowheads="1"/>
            </p:cNvSpPr>
            <p:nvPr/>
          </p:nvSpPr>
          <p:spPr bwMode="auto">
            <a:xfrm>
              <a:off x="1632" y="1776"/>
              <a:ext cx="737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marL="0" marR="0" lvl="0" indent="0" algn="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 Unicode MS" panose="020B0604020202020204" pitchFamily="34" charset="-128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b</a:t>
              </a:r>
              <a:r>
                <a:rPr kumimoji="0" lang="en-US" altLang="zh-CN" sz="1600" b="0" i="0" u="none" strike="noStrike" kern="0" cap="none" spc="0" normalizeH="0" baseline="-2500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 Unicode MS" panose="020B0604020202020204" pitchFamily="34" charset="-128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k</a:t>
              </a:r>
            </a:p>
          </p:txBody>
        </p:sp>
        <p:sp>
          <p:nvSpPr>
            <p:cNvPr id="66" name="Rectangle 68"/>
            <p:cNvSpPr>
              <a:spLocks noChangeArrowheads="1"/>
            </p:cNvSpPr>
            <p:nvPr/>
          </p:nvSpPr>
          <p:spPr bwMode="auto">
            <a:xfrm>
              <a:off x="966" y="1776"/>
              <a:ext cx="666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marL="0" marR="0" lvl="0" indent="0" algn="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 Unicode MS" panose="020B0604020202020204" pitchFamily="34" charset="-128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a</a:t>
              </a:r>
              <a:r>
                <a:rPr kumimoji="0" lang="en-US" altLang="zh-CN" sz="1600" b="0" i="0" u="none" strike="noStrike" kern="0" cap="none" spc="0" normalizeH="0" baseline="-2500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 Unicode MS" panose="020B0604020202020204" pitchFamily="34" charset="-128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k</a:t>
              </a:r>
            </a:p>
          </p:txBody>
        </p:sp>
        <p:sp>
          <p:nvSpPr>
            <p:cNvPr id="67" name="Rectangle 69"/>
            <p:cNvSpPr>
              <a:spLocks noChangeArrowheads="1"/>
            </p:cNvSpPr>
            <p:nvPr/>
          </p:nvSpPr>
          <p:spPr bwMode="auto">
            <a:xfrm>
              <a:off x="288" y="1776"/>
              <a:ext cx="678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marL="0" marR="0" lvl="0" indent="0" algn="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 Unicode MS" panose="020B0604020202020204" pitchFamily="34" charset="-128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k</a:t>
              </a:r>
              <a:endParaRPr kumimoji="0" lang="en-US" altLang="zh-CN" sz="1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8" name="Line 70"/>
            <p:cNvSpPr>
              <a:spLocks noChangeShapeType="1"/>
            </p:cNvSpPr>
            <p:nvPr/>
          </p:nvSpPr>
          <p:spPr bwMode="auto">
            <a:xfrm>
              <a:off x="720" y="2016"/>
              <a:ext cx="451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9" name="Line 71"/>
            <p:cNvSpPr>
              <a:spLocks noChangeShapeType="1"/>
            </p:cNvSpPr>
            <p:nvPr/>
          </p:nvSpPr>
          <p:spPr bwMode="auto">
            <a:xfrm>
              <a:off x="1008" y="1776"/>
              <a:ext cx="0" cy="192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0" name="Line 72"/>
            <p:cNvSpPr>
              <a:spLocks noChangeShapeType="1"/>
            </p:cNvSpPr>
            <p:nvPr/>
          </p:nvSpPr>
          <p:spPr bwMode="auto">
            <a:xfrm>
              <a:off x="720" y="2256"/>
              <a:ext cx="456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1" name="Line 73"/>
            <p:cNvSpPr>
              <a:spLocks noChangeShapeType="1"/>
            </p:cNvSpPr>
            <p:nvPr/>
          </p:nvSpPr>
          <p:spPr bwMode="auto">
            <a:xfrm>
              <a:off x="720" y="2496"/>
              <a:ext cx="456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2" name="Line 74"/>
            <p:cNvSpPr>
              <a:spLocks noChangeShapeType="1"/>
            </p:cNvSpPr>
            <p:nvPr/>
          </p:nvSpPr>
          <p:spPr bwMode="auto">
            <a:xfrm>
              <a:off x="768" y="2736"/>
              <a:ext cx="451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3" name="Line 75"/>
            <p:cNvSpPr>
              <a:spLocks noChangeShapeType="1"/>
            </p:cNvSpPr>
            <p:nvPr/>
          </p:nvSpPr>
          <p:spPr bwMode="auto">
            <a:xfrm>
              <a:off x="768" y="2976"/>
              <a:ext cx="451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4" name="Line 76"/>
            <p:cNvSpPr>
              <a:spLocks noChangeShapeType="1"/>
            </p:cNvSpPr>
            <p:nvPr/>
          </p:nvSpPr>
          <p:spPr bwMode="auto">
            <a:xfrm>
              <a:off x="720" y="3216"/>
              <a:ext cx="451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5" name="Line 77"/>
            <p:cNvSpPr>
              <a:spLocks noChangeShapeType="1"/>
            </p:cNvSpPr>
            <p:nvPr/>
          </p:nvSpPr>
          <p:spPr bwMode="auto">
            <a:xfrm>
              <a:off x="720" y="3408"/>
              <a:ext cx="456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6" name="Line 78"/>
            <p:cNvSpPr>
              <a:spLocks noChangeShapeType="1"/>
            </p:cNvSpPr>
            <p:nvPr/>
          </p:nvSpPr>
          <p:spPr bwMode="auto">
            <a:xfrm>
              <a:off x="720" y="3696"/>
              <a:ext cx="456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7" name="Line 79"/>
            <p:cNvSpPr>
              <a:spLocks noChangeShapeType="1"/>
            </p:cNvSpPr>
            <p:nvPr/>
          </p:nvSpPr>
          <p:spPr bwMode="auto">
            <a:xfrm>
              <a:off x="1728" y="1776"/>
              <a:ext cx="0" cy="192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8" name="Line 80"/>
            <p:cNvSpPr>
              <a:spLocks noChangeShapeType="1"/>
            </p:cNvSpPr>
            <p:nvPr/>
          </p:nvSpPr>
          <p:spPr bwMode="auto">
            <a:xfrm>
              <a:off x="2448" y="1776"/>
              <a:ext cx="0" cy="192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9" name="Line 81"/>
            <p:cNvSpPr>
              <a:spLocks noChangeShapeType="1"/>
            </p:cNvSpPr>
            <p:nvPr/>
          </p:nvSpPr>
          <p:spPr bwMode="auto">
            <a:xfrm>
              <a:off x="3168" y="1776"/>
              <a:ext cx="0" cy="192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0" name="Line 82"/>
            <p:cNvSpPr>
              <a:spLocks noChangeShapeType="1"/>
            </p:cNvSpPr>
            <p:nvPr/>
          </p:nvSpPr>
          <p:spPr bwMode="auto">
            <a:xfrm>
              <a:off x="3888" y="1776"/>
              <a:ext cx="0" cy="192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1" name="Line 83"/>
            <p:cNvSpPr>
              <a:spLocks noChangeShapeType="1"/>
            </p:cNvSpPr>
            <p:nvPr/>
          </p:nvSpPr>
          <p:spPr bwMode="auto">
            <a:xfrm>
              <a:off x="4608" y="1776"/>
              <a:ext cx="0" cy="192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2" name="Line 84"/>
            <p:cNvSpPr>
              <a:spLocks noChangeShapeType="1"/>
            </p:cNvSpPr>
            <p:nvPr/>
          </p:nvSpPr>
          <p:spPr bwMode="auto">
            <a:xfrm>
              <a:off x="720" y="1776"/>
              <a:ext cx="0" cy="192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3" name="Line 85"/>
            <p:cNvSpPr>
              <a:spLocks noChangeShapeType="1"/>
            </p:cNvSpPr>
            <p:nvPr/>
          </p:nvSpPr>
          <p:spPr bwMode="auto">
            <a:xfrm>
              <a:off x="5280" y="1776"/>
              <a:ext cx="0" cy="192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4" name="Line 86"/>
            <p:cNvSpPr>
              <a:spLocks noChangeShapeType="1"/>
            </p:cNvSpPr>
            <p:nvPr/>
          </p:nvSpPr>
          <p:spPr bwMode="auto">
            <a:xfrm>
              <a:off x="720" y="1776"/>
              <a:ext cx="456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85" name="Text Box 87"/>
          <p:cNvSpPr txBox="1">
            <a:spLocks noChangeArrowheads="1"/>
          </p:cNvSpPr>
          <p:nvPr/>
        </p:nvSpPr>
        <p:spPr bwMode="auto">
          <a:xfrm>
            <a:off x="1387426" y="1665261"/>
            <a:ext cx="623257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ea typeface="宋体" panose="02010600030101010101" pitchFamily="2" charset="-122"/>
              </a:rPr>
              <a:t>二分法的迭代过程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ea typeface="宋体" panose="02010600030101010101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17166-84FE-4F34-A992-83560A81924D}" type="datetime1">
              <a:rPr lang="en-US" altLang="zh-CN" smtClean="0"/>
              <a:pPr/>
              <a:t>3/31/2025</a:t>
            </a:fld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18288"/>
            <a:ext cx="1066800" cy="329184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52</a:t>
            </a:fld>
            <a:endParaRPr lang="en-US"/>
          </a:p>
        </p:txBody>
      </p:sp>
      <p:sp>
        <p:nvSpPr>
          <p:cNvPr id="86" name="页脚占位符 2">
            <a:extLst>
              <a:ext uri="{FF2B5EF4-FFF2-40B4-BE49-F238E27FC236}">
                <a16:creationId xmlns:a16="http://schemas.microsoft.com/office/drawing/2014/main" id="{56240F4E-BA65-4809-BF9A-47FFEDD0E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8905" y="19050"/>
            <a:ext cx="4831731" cy="328613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交通大数据</a:t>
            </a: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· </a:t>
            </a: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东南大学 刘志远教授</a:t>
            </a:r>
            <a:endParaRPr kumimoji="0" lang="en-US" altLang="zh-CN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spcBef>
                <a:spcPts val="0"/>
              </a:spcBef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关于二分法的讨论</a:t>
            </a:r>
          </a:p>
        </p:txBody>
      </p:sp>
      <p:sp>
        <p:nvSpPr>
          <p:cNvPr id="6" name="Content Placeholder 2"/>
          <p:cNvSpPr txBox="1"/>
          <p:nvPr/>
        </p:nvSpPr>
        <p:spPr bwMode="auto">
          <a:xfrm>
            <a:off x="170446" y="1938812"/>
            <a:ext cx="9069805" cy="46200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49634B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49634B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49634B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49634B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rgbClr val="49634B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rgbClr val="49634B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rgbClr val="49634B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rgbClr val="49634B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rgbClr val="49634B"/>
                </a:solidFill>
                <a:latin typeface="+mn-lt"/>
              </a:defRPr>
            </a:lvl9pPr>
          </a:lstStyle>
          <a:p>
            <a:pPr defTabSz="914400"/>
            <a:r>
              <a:rPr lang="zh-CN" altLang="en-US" kern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en-US" altLang="zh-CN" kern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step 2, </a:t>
            </a:r>
            <a:r>
              <a:rPr lang="zh-CN" altLang="en-US" kern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为什么我们不考虑</a:t>
            </a:r>
            <a:r>
              <a:rPr lang="en-US" altLang="zh-CN" i="1" kern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z(x</a:t>
            </a:r>
            <a:r>
              <a:rPr lang="en-US" altLang="zh-CN" i="1" kern="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lang="en-US" altLang="zh-CN" i="1" kern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kern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=0 </a:t>
            </a:r>
            <a:r>
              <a:rPr lang="zh-CN" altLang="en-US" kern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的情况</a:t>
            </a:r>
            <a:r>
              <a:rPr lang="en-US" altLang="zh-CN" kern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</a:p>
          <a:p>
            <a:pPr lvl="1" defTabSz="914400">
              <a:lnSpc>
                <a:spcPct val="150000"/>
              </a:lnSpc>
            </a:pPr>
            <a:r>
              <a:rPr lang="zh-CN" altLang="en-US" sz="2600" kern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由于问题的结构和数值误差（</a:t>
            </a:r>
            <a:r>
              <a:rPr lang="en-US" altLang="zh-TW" sz="2600" kern="0" dirty="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  <a:cs typeface="Times New Roman" panose="02020603050405020304" pitchFamily="18" charset="0"/>
              </a:rPr>
              <a:t>problem structure and numerical errors</a:t>
            </a:r>
            <a:r>
              <a:rPr lang="zh-CN" altLang="en-US" sz="2600" kern="0" dirty="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  <a:cs typeface="Times New Roman" panose="02020603050405020304" pitchFamily="18" charset="0"/>
              </a:rPr>
              <a:t>）</a:t>
            </a:r>
            <a:r>
              <a:rPr lang="zh-CN" altLang="en-US" sz="2600" kern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TW" sz="2600" kern="0" dirty="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  <a:cs typeface="Times New Roman" panose="02020603050405020304" pitchFamily="18" charset="0"/>
              </a:rPr>
              <a:t> </a:t>
            </a:r>
            <a:r>
              <a:rPr lang="en-US" altLang="zh-TW" sz="2600" i="1" kern="0" dirty="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  <a:cs typeface="Times New Roman" panose="02020603050405020304" pitchFamily="18" charset="0"/>
              </a:rPr>
              <a:t>z(x</a:t>
            </a:r>
            <a:r>
              <a:rPr lang="en-US" altLang="zh-TW" sz="2600" i="1" kern="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  <a:cs typeface="Times New Roman" panose="02020603050405020304" pitchFamily="18" charset="0"/>
              </a:rPr>
              <a:t>k</a:t>
            </a:r>
            <a:r>
              <a:rPr lang="en-US" altLang="zh-TW" sz="2600" i="1" kern="0" dirty="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  <a:cs typeface="Times New Roman" panose="02020603050405020304" pitchFamily="18" charset="0"/>
              </a:rPr>
              <a:t>)</a:t>
            </a:r>
            <a:r>
              <a:rPr lang="en-US" altLang="zh-TW" sz="2600" kern="0" dirty="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  <a:cs typeface="Times New Roman" panose="02020603050405020304" pitchFamily="18" charset="0"/>
              </a:rPr>
              <a:t>=0</a:t>
            </a:r>
            <a:r>
              <a:rPr lang="zh-CN" altLang="en-US" sz="2600" kern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的可能性是很低的</a:t>
            </a:r>
            <a:r>
              <a:rPr lang="en-US" altLang="zh-TW" sz="2600" kern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</a:p>
          <a:p>
            <a:pPr defTabSz="914400"/>
            <a:r>
              <a:rPr lang="zh-CN" altLang="en-US" kern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输出应该选哪一个</a:t>
            </a:r>
            <a:r>
              <a:rPr lang="en-US" altLang="zh-TW" kern="0" dirty="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  <a:cs typeface="Times New Roman" panose="02020603050405020304" pitchFamily="18" charset="0"/>
              </a:rPr>
              <a:t>?</a:t>
            </a:r>
          </a:p>
          <a:p>
            <a:pPr lvl="1" defTabSz="914400"/>
            <a:r>
              <a:rPr lang="en-US" altLang="zh-TW" sz="2600" i="1" kern="0" dirty="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  <a:cs typeface="Times New Roman" panose="02020603050405020304" pitchFamily="18" charset="0"/>
              </a:rPr>
              <a:t>(</a:t>
            </a:r>
            <a:r>
              <a:rPr lang="en-US" altLang="zh-TW" sz="2600" i="1" kern="0" dirty="0" err="1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  <a:cs typeface="Times New Roman" panose="02020603050405020304" pitchFamily="18" charset="0"/>
              </a:rPr>
              <a:t>a</a:t>
            </a:r>
            <a:r>
              <a:rPr lang="en-US" altLang="zh-TW" sz="2600" i="1" kern="0" baseline="-25000" dirty="0" err="1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  <a:cs typeface="Times New Roman" panose="02020603050405020304" pitchFamily="18" charset="0"/>
              </a:rPr>
              <a:t>k</a:t>
            </a:r>
            <a:r>
              <a:rPr lang="en-US" altLang="zh-TW" sz="2600" i="1" kern="0" dirty="0" err="1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  <a:cs typeface="Times New Roman" panose="02020603050405020304" pitchFamily="18" charset="0"/>
              </a:rPr>
              <a:t>+b</a:t>
            </a:r>
            <a:r>
              <a:rPr lang="en-US" altLang="zh-TW" sz="2600" i="1" kern="0" baseline="-25000" dirty="0" err="1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  <a:cs typeface="Times New Roman" panose="02020603050405020304" pitchFamily="18" charset="0"/>
              </a:rPr>
              <a:t>k</a:t>
            </a:r>
            <a:r>
              <a:rPr lang="en-US" altLang="zh-TW" sz="2600" i="1" kern="0" dirty="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  <a:cs typeface="Times New Roman" panose="02020603050405020304" pitchFamily="18" charset="0"/>
              </a:rPr>
              <a:t>)/2, or </a:t>
            </a:r>
            <a:r>
              <a:rPr lang="en-US" altLang="zh-TW" sz="2600" i="1" kern="0" dirty="0" err="1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  <a:cs typeface="Times New Roman" panose="02020603050405020304" pitchFamily="18" charset="0"/>
              </a:rPr>
              <a:t>a</a:t>
            </a:r>
            <a:r>
              <a:rPr lang="en-US" altLang="zh-TW" sz="2600" i="1" kern="0" baseline="-25000" dirty="0" err="1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  <a:cs typeface="Times New Roman" panose="02020603050405020304" pitchFamily="18" charset="0"/>
              </a:rPr>
              <a:t>k</a:t>
            </a:r>
            <a:r>
              <a:rPr lang="en-US" altLang="zh-TW" sz="2600" i="1" kern="0" dirty="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  <a:cs typeface="Times New Roman" panose="02020603050405020304" pitchFamily="18" charset="0"/>
              </a:rPr>
              <a:t> or </a:t>
            </a:r>
            <a:r>
              <a:rPr lang="en-US" altLang="zh-TW" sz="2600" i="1" kern="0" dirty="0" err="1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  <a:cs typeface="Times New Roman" panose="02020603050405020304" pitchFamily="18" charset="0"/>
              </a:rPr>
              <a:t>b</a:t>
            </a:r>
            <a:r>
              <a:rPr lang="en-US" altLang="zh-TW" sz="2600" i="1" kern="0" baseline="-25000" dirty="0" err="1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  <a:cs typeface="Times New Roman" panose="02020603050405020304" pitchFamily="18" charset="0"/>
              </a:rPr>
              <a:t>k</a:t>
            </a:r>
            <a:r>
              <a:rPr lang="en-US" altLang="zh-TW" sz="2600" i="1" kern="0" dirty="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  <a:cs typeface="Times New Roman" panose="02020603050405020304" pitchFamily="18" charset="0"/>
              </a:rPr>
              <a:t>  </a:t>
            </a:r>
            <a:endParaRPr lang="en-US" altLang="zh-TW" sz="2600" kern="0" dirty="0">
              <a:solidFill>
                <a:schemeClr val="tx1"/>
              </a:solidFill>
              <a:latin typeface="Times New Roman" panose="02020603050405020304" pitchFamily="18" charset="0"/>
              <a:ea typeface="PMingLiU" panose="02020500000000000000" pitchFamily="18" charset="-120"/>
              <a:cs typeface="Times New Roman" panose="02020603050405020304" pitchFamily="18" charset="0"/>
            </a:endParaRPr>
          </a:p>
          <a:p>
            <a:pPr lvl="1" defTabSz="914400">
              <a:lnSpc>
                <a:spcPct val="150000"/>
              </a:lnSpc>
            </a:pPr>
            <a:r>
              <a:rPr lang="zh-CN" altLang="en-US" sz="2600" kern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这不重要，因为可容忍的误差</a:t>
            </a:r>
            <a:r>
              <a:rPr lang="el-GR" altLang="zh-TW" sz="2600" kern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ε</a:t>
            </a:r>
            <a:r>
              <a:rPr lang="zh-CN" altLang="en-US" sz="2600" kern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一般是很小的。</a:t>
            </a:r>
            <a:endParaRPr lang="en-US" altLang="zh-TW" sz="2600" kern="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defTabSz="914400"/>
            <a:endParaRPr lang="en-US" altLang="zh-TW" sz="3600" kern="0" dirty="0">
              <a:solidFill>
                <a:schemeClr val="tx1"/>
              </a:solidFill>
              <a:latin typeface="Times New Roman" panose="02020603050405020304" pitchFamily="18" charset="0"/>
              <a:ea typeface="PMingLiU" panose="02020500000000000000" pitchFamily="18" charset="-120"/>
              <a:cs typeface="Times New Roman" panose="02020603050405020304" pitchFamily="18" charset="0"/>
            </a:endParaRPr>
          </a:p>
          <a:p>
            <a:pPr defTabSz="914400"/>
            <a:endParaRPr lang="en-US" altLang="zh-CN" kern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defTabSz="914400"/>
            <a:endParaRPr lang="en-US" altLang="zh-CN" kern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52668-6B3A-4FE8-90DE-4EE7C0F6D65A}" type="datetime1">
              <a:rPr lang="en-US" altLang="zh-CN" smtClean="0"/>
              <a:pPr/>
              <a:t>3/31/2025</a:t>
            </a:fld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06851" y="20807"/>
            <a:ext cx="1066800" cy="329184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53</a:t>
            </a:fld>
            <a:endParaRPr lang="en-US" dirty="0"/>
          </a:p>
        </p:txBody>
      </p:sp>
      <p:sp>
        <p:nvSpPr>
          <p:cNvPr id="8" name="页脚占位符 2">
            <a:extLst>
              <a:ext uri="{FF2B5EF4-FFF2-40B4-BE49-F238E27FC236}">
                <a16:creationId xmlns:a16="http://schemas.microsoft.com/office/drawing/2014/main" id="{943F489E-ABD3-499A-8584-FCC43C527D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8905" y="19050"/>
            <a:ext cx="4831731" cy="328613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交通大数据</a:t>
            </a: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· </a:t>
            </a: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东南大学 刘志远教授</a:t>
            </a:r>
            <a:endParaRPr kumimoji="0" lang="en-US" altLang="zh-CN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spcBef>
                <a:spcPts val="0"/>
              </a:spcBef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关于二分法的讨论</a:t>
            </a:r>
            <a:endParaRPr lang="zh-CN" altLang="en-US" sz="4800" dirty="0"/>
          </a:p>
        </p:txBody>
      </p:sp>
      <p:sp>
        <p:nvSpPr>
          <p:cNvPr id="5" name="Content Placeholder 2"/>
          <p:cNvSpPr txBox="1"/>
          <p:nvPr/>
        </p:nvSpPr>
        <p:spPr bwMode="auto">
          <a:xfrm>
            <a:off x="266700" y="1384285"/>
            <a:ext cx="8877300" cy="365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49634B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49634B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49634B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49634B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rgbClr val="49634B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rgbClr val="49634B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rgbClr val="49634B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rgbClr val="49634B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rgbClr val="49634B"/>
                </a:solidFill>
                <a:latin typeface="+mn-lt"/>
              </a:defRPr>
            </a:lvl9pPr>
          </a:lstStyle>
          <a:p>
            <a:pPr defTabSz="914400"/>
            <a:r>
              <a:rPr lang="zh-CN" altLang="en-US" sz="2800" kern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在停止条件里，如何确定</a:t>
            </a:r>
            <a:r>
              <a:rPr lang="en-US" altLang="zh-CN" sz="2800" kern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l-GR" altLang="zh-TW" sz="2800" kern="0" dirty="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  <a:cs typeface="Times New Roman" panose="02020603050405020304" pitchFamily="18" charset="0"/>
              </a:rPr>
              <a:t>ε</a:t>
            </a:r>
            <a:r>
              <a:rPr lang="en-US" altLang="zh-TW" sz="2800" kern="0" dirty="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  <a:cs typeface="Times New Roman" panose="02020603050405020304" pitchFamily="18" charset="0"/>
              </a:rPr>
              <a:t> </a:t>
            </a:r>
            <a:r>
              <a:rPr lang="en-US" altLang="zh-CN" sz="2800" kern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</a:p>
          <a:p>
            <a:pPr defTabSz="914400">
              <a:lnSpc>
                <a:spcPts val="3500"/>
              </a:lnSpc>
              <a:buFont typeface="Times New Roman" panose="02020603050405020304" pitchFamily="18" charset="0"/>
              <a:buChar char="‾"/>
            </a:pPr>
            <a:r>
              <a:rPr lang="el-GR" altLang="zh-TW" sz="2400" kern="0" dirty="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  <a:cs typeface="Times New Roman" panose="02020603050405020304" pitchFamily="18" charset="0"/>
              </a:rPr>
              <a:t>ε</a:t>
            </a:r>
            <a:r>
              <a:rPr lang="en-US" altLang="zh-TW" sz="2400" kern="0" dirty="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  <a:cs typeface="Times New Roman" panose="02020603050405020304" pitchFamily="18" charset="0"/>
              </a:rPr>
              <a:t> </a:t>
            </a:r>
            <a:r>
              <a:rPr lang="zh-CN" altLang="en-US" sz="2400" kern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的取值较大时，将使算法的收敛速度很快，但是精度较低。因此</a:t>
            </a:r>
            <a:r>
              <a:rPr lang="en-US" altLang="zh-TW" sz="2400" kern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l-GR" altLang="zh-TW" sz="2400" kern="0" dirty="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  <a:cs typeface="Times New Roman" panose="02020603050405020304" pitchFamily="18" charset="0"/>
              </a:rPr>
              <a:t>ε</a:t>
            </a:r>
            <a:r>
              <a:rPr lang="en-US" altLang="zh-TW" sz="2400" kern="0" dirty="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  <a:cs typeface="Times New Roman" panose="02020603050405020304" pitchFamily="18" charset="0"/>
              </a:rPr>
              <a:t> </a:t>
            </a:r>
            <a:r>
              <a:rPr lang="zh-CN" altLang="en-US" sz="2400" kern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是在效率和精度的权衡下确定的；</a:t>
            </a:r>
            <a:endParaRPr lang="en-US" altLang="zh-CN" sz="2400" kern="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defTabSz="914400">
              <a:lnSpc>
                <a:spcPts val="3500"/>
              </a:lnSpc>
              <a:buFont typeface="Times New Roman" panose="02020603050405020304" pitchFamily="18" charset="0"/>
              <a:buChar char="‾"/>
            </a:pPr>
            <a:r>
              <a:rPr lang="zh-CN" altLang="en-US" sz="2400" kern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例如，如果</a:t>
            </a:r>
            <a:r>
              <a:rPr lang="en-US" altLang="zh-TW" sz="2400" i="1" kern="0" dirty="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  <a:cs typeface="Times New Roman" panose="02020603050405020304" pitchFamily="18" charset="0"/>
              </a:rPr>
              <a:t>x</a:t>
            </a:r>
            <a:r>
              <a:rPr lang="zh-CN" altLang="en-US" sz="2400" kern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表示零售市场的单位价格，那么</a:t>
            </a:r>
            <a:r>
              <a:rPr lang="el-GR" altLang="zh-TW" sz="2400" kern="0" dirty="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  <a:cs typeface="Times New Roman" panose="02020603050405020304" pitchFamily="18" charset="0"/>
              </a:rPr>
              <a:t>ε</a:t>
            </a:r>
            <a:r>
              <a:rPr lang="en-US" altLang="zh-TW" sz="2400" kern="0" dirty="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  <a:cs typeface="Times New Roman" panose="02020603050405020304" pitchFamily="18" charset="0"/>
              </a:rPr>
              <a:t> </a:t>
            </a:r>
            <a:r>
              <a:rPr lang="en-US" altLang="zh-CN" sz="2400" kern="0" dirty="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  <a:cs typeface="Times New Roman" panose="02020603050405020304" pitchFamily="18" charset="0"/>
              </a:rPr>
              <a:t>=1</a:t>
            </a:r>
            <a:r>
              <a:rPr lang="zh-CN" altLang="en-US" sz="2400" kern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分就是可接受的。</a:t>
            </a:r>
            <a:endParaRPr lang="en-US" altLang="zh-TW" sz="2400" kern="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lvl="1" indent="-342900">
              <a:lnSpc>
                <a:spcPts val="4100"/>
              </a:lnSpc>
              <a:buFontTx/>
              <a:buChar char="•"/>
            </a:pPr>
            <a:r>
              <a:rPr lang="zh-CN" altLang="en-US" kern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其他常用的停止条件有哪些</a:t>
            </a:r>
            <a:r>
              <a:rPr lang="en-US" altLang="zh-TW" kern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</a:p>
          <a:p>
            <a:pPr marL="342900" lvl="1" indent="-342900">
              <a:lnSpc>
                <a:spcPts val="3500"/>
              </a:lnSpc>
            </a:pPr>
            <a:r>
              <a:rPr lang="zh-CN" altLang="en-US" sz="2400" kern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要求算法在一个给定的迭代次数后停止；</a:t>
            </a:r>
            <a:endParaRPr lang="en-US" altLang="zh-TW" sz="2400" kern="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lvl="1" indent="-342900">
              <a:lnSpc>
                <a:spcPts val="3500"/>
              </a:lnSpc>
            </a:pPr>
            <a:r>
              <a:rPr lang="zh-CN" altLang="en-US" sz="2400" kern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要求算法在一个给定的</a:t>
            </a:r>
            <a:r>
              <a:rPr lang="en-US" altLang="zh-CN" sz="2400" kern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CPU</a:t>
            </a:r>
            <a:r>
              <a:rPr lang="zh-CN" altLang="en-US" sz="2400" kern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时间后停止。</a:t>
            </a:r>
            <a:endParaRPr lang="en-US" altLang="zh-CN" sz="2400" kern="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defTabSz="914400"/>
            <a:endParaRPr lang="en-US" altLang="zh-CN" kern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39F8B-C229-4416-AB40-B9AEC1EB5E4C}" type="datetime1">
              <a:rPr lang="en-US" altLang="zh-CN" smtClean="0"/>
              <a:pPr/>
              <a:t>3/31/2025</a:t>
            </a:fld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42467" y="0"/>
            <a:ext cx="1066800" cy="329184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54</a:t>
            </a:fld>
            <a:endParaRPr lang="en-US"/>
          </a:p>
        </p:txBody>
      </p:sp>
      <p:sp>
        <p:nvSpPr>
          <p:cNvPr id="6" name="页脚占位符 2">
            <a:extLst>
              <a:ext uri="{FF2B5EF4-FFF2-40B4-BE49-F238E27FC236}">
                <a16:creationId xmlns:a16="http://schemas.microsoft.com/office/drawing/2014/main" id="{D8B86C31-191F-4C7E-96EC-4C732C76AA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8905" y="19050"/>
            <a:ext cx="4831731" cy="328613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交通大数据</a:t>
            </a: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· </a:t>
            </a: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东南大学 刘志远教授</a:t>
            </a:r>
            <a:endParaRPr kumimoji="0" lang="en-US" altLang="zh-CN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solidFill>
                  <a:srgbClr val="1F497D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结论</a:t>
            </a:r>
            <a:endParaRPr lang="zh-CN" altLang="en-US" sz="48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768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二分法是用来求解</a:t>
            </a:r>
            <a:r>
              <a:rPr lang="zh-CN" altLang="en-US" sz="28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凸的连续可微函数？对吗？</a:t>
            </a:r>
            <a:endParaRPr lang="en-US" sz="2800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如果问题是不可微的，二分法就是无效的</a:t>
            </a:r>
            <a:endParaRPr lang="en-US" sz="240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而黄金分割法不需要原问题是可微的，而且不要求该问题是凸函数。</a:t>
            </a:r>
            <a:endParaRPr lang="en-US" sz="280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74320" lvl="1" indent="0">
              <a:lnSpc>
                <a:spcPct val="150000"/>
              </a:lnSpc>
              <a:buNone/>
            </a:pPr>
            <a:r>
              <a:rPr lang="en-US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F9754-17C6-4C26-B150-0F593DF17864}" type="datetime1">
              <a:rPr lang="en-US" altLang="zh-CN" smtClean="0"/>
              <a:pPr/>
              <a:t>3/31/2025</a:t>
            </a:fld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86800" y="18288"/>
            <a:ext cx="1066800" cy="329184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55</a:t>
            </a:fld>
            <a:endParaRPr lang="en-US" dirty="0"/>
          </a:p>
        </p:txBody>
      </p:sp>
      <p:sp>
        <p:nvSpPr>
          <p:cNvPr id="8" name="页脚占位符 2">
            <a:extLst>
              <a:ext uri="{FF2B5EF4-FFF2-40B4-BE49-F238E27FC236}">
                <a16:creationId xmlns:a16="http://schemas.microsoft.com/office/drawing/2014/main" id="{9DCFDD51-1882-4C24-887D-6C3B49D08C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8905" y="19050"/>
            <a:ext cx="4831731" cy="328613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交通大数据</a:t>
            </a: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· </a:t>
            </a: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东南大学 刘志远教授</a:t>
            </a:r>
            <a:endParaRPr kumimoji="0" lang="en-US" altLang="zh-CN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黄金分割法</a:t>
            </a:r>
          </a:p>
        </p:txBody>
      </p:sp>
      <p:graphicFrame>
        <p:nvGraphicFramePr>
          <p:cNvPr id="5" name="Object 8"/>
          <p:cNvGraphicFramePr>
            <a:graphicFrameLocks noChangeAspect="1"/>
          </p:cNvGraphicFramePr>
          <p:nvPr/>
        </p:nvGraphicFramePr>
        <p:xfrm>
          <a:off x="625524" y="1447801"/>
          <a:ext cx="1525903" cy="6857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71" name="Equation" r:id="rId4" imgW="1130300" imgH="508000" progId="Equation.DSMT4">
                  <p:embed/>
                </p:oleObj>
              </mc:Choice>
              <mc:Fallback>
                <p:oleObj name="Equation" r:id="rId4" imgW="1130300" imgH="508000" progId="Equation.DSMT4">
                  <p:embed/>
                  <p:pic>
                    <p:nvPicPr>
                      <p:cNvPr id="5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5524" y="1447801"/>
                        <a:ext cx="1525903" cy="68579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9"/>
          <p:cNvSpPr txBox="1">
            <a:spLocks noChangeArrowheads="1"/>
          </p:cNvSpPr>
          <p:nvPr/>
        </p:nvSpPr>
        <p:spPr bwMode="auto">
          <a:xfrm>
            <a:off x="250825" y="2133600"/>
            <a:ext cx="13684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FF66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000" b="1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Example:</a:t>
            </a:r>
          </a:p>
        </p:txBody>
      </p:sp>
      <p:graphicFrame>
        <p:nvGraphicFramePr>
          <p:cNvPr id="7" name="Object 10"/>
          <p:cNvGraphicFramePr>
            <a:graphicFrameLocks noChangeAspect="1"/>
          </p:cNvGraphicFramePr>
          <p:nvPr/>
        </p:nvGraphicFramePr>
        <p:xfrm>
          <a:off x="250825" y="2636838"/>
          <a:ext cx="22606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72" name="Equation" r:id="rId6" imgW="2260600" imgH="482600" progId="Equation.DSMT4">
                  <p:embed/>
                </p:oleObj>
              </mc:Choice>
              <mc:Fallback>
                <p:oleObj name="Equation" r:id="rId6" imgW="2260600" imgH="482600" progId="Equation.DSMT4">
                  <p:embed/>
                  <p:pic>
                    <p:nvPicPr>
                      <p:cNvPr id="7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25" y="2636838"/>
                        <a:ext cx="2260600" cy="482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11"/>
          <p:cNvGraphicFramePr>
            <a:graphicFrameLocks noChangeAspect="1"/>
          </p:cNvGraphicFramePr>
          <p:nvPr/>
        </p:nvGraphicFramePr>
        <p:xfrm>
          <a:off x="2595586" y="766403"/>
          <a:ext cx="6367050" cy="5364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73" name="Visio" r:id="rId8" imgW="6954012" imgH="5857342" progId="">
                  <p:embed/>
                </p:oleObj>
              </mc:Choice>
              <mc:Fallback>
                <p:oleObj name="Visio" r:id="rId8" imgW="6954012" imgH="5857342" progId="">
                  <p:embed/>
                  <p:pic>
                    <p:nvPicPr>
                      <p:cNvPr id="8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5586" y="766403"/>
                        <a:ext cx="6367050" cy="53641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555BC-242E-4E8E-ABB2-1AF7F5930EF4}" type="datetime1">
              <a:rPr lang="en-US" altLang="zh-CN" smtClean="0"/>
              <a:pPr/>
              <a:t>3/31/2025</a:t>
            </a:fld>
            <a:endParaRPr 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>
          <a:xfrm>
            <a:off x="8747943" y="18288"/>
            <a:ext cx="1066800" cy="329184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56</a:t>
            </a:fld>
            <a:endParaRPr lang="en-US" dirty="0"/>
          </a:p>
        </p:txBody>
      </p:sp>
      <p:sp>
        <p:nvSpPr>
          <p:cNvPr id="9" name="页脚占位符 2">
            <a:extLst>
              <a:ext uri="{FF2B5EF4-FFF2-40B4-BE49-F238E27FC236}">
                <a16:creationId xmlns:a16="http://schemas.microsoft.com/office/drawing/2014/main" id="{5C28FA13-DC40-479E-87F0-A3D695CC37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8905" y="19050"/>
            <a:ext cx="4831731" cy="328613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交通大数据</a:t>
            </a: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· </a:t>
            </a: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东南大学 刘志远教授</a:t>
            </a:r>
            <a:endParaRPr kumimoji="0" lang="en-US" altLang="zh-CN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0F1DB4-2A87-4299-A188-9872BC1A0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黄金分割法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8A052D9-3F20-4A1B-8A77-10BC6404CC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B66B9D8-65F9-4E15-83F8-4CC8BAEBCC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4A043-2C3F-4A22-8E22-A75B87C4687B}" type="datetime1">
              <a:rPr lang="en-US" altLang="zh-CN" smtClean="0"/>
              <a:pPr/>
              <a:t>3/31/2025</a:t>
            </a:fld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6B53DFA-AC0D-446A-B2EF-774CDCB49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86800" y="7994"/>
            <a:ext cx="1066800" cy="329184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57</a:t>
            </a:fld>
            <a:endParaRPr 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0853225-572D-461D-BD8A-9E4CE7DF81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050" y="1600200"/>
            <a:ext cx="2854828" cy="262335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14E27C07-FF0B-45CB-B834-56D0DD14F4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325" y="4292147"/>
            <a:ext cx="2730887" cy="2368962"/>
          </a:xfrm>
          <a:prstGeom prst="rect">
            <a:avLst/>
          </a:prstGeom>
        </p:spPr>
      </p:pic>
      <p:sp>
        <p:nvSpPr>
          <p:cNvPr id="8" name="页脚占位符 2">
            <a:extLst>
              <a:ext uri="{FF2B5EF4-FFF2-40B4-BE49-F238E27FC236}">
                <a16:creationId xmlns:a16="http://schemas.microsoft.com/office/drawing/2014/main" id="{1EFF0892-FF09-4A1F-8127-EAD72C48B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8905" y="19050"/>
            <a:ext cx="4831731" cy="328613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交通大数据</a:t>
            </a: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· </a:t>
            </a: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东南大学 刘志远教授</a:t>
            </a:r>
            <a:endParaRPr kumimoji="0" lang="en-US" altLang="zh-CN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88910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牛顿法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028700"/>
                <a:ext cx="8229600" cy="4876800"/>
              </a:xfrm>
            </p:spPr>
            <p:txBody>
              <a:bodyPr>
                <a:normAutofit/>
              </a:bodyPr>
              <a:lstStyle/>
              <a:p>
                <a:pPr>
                  <a:buFont typeface="Wingdings" panose="05000000000000000000" pitchFamily="2" charset="2"/>
                  <a:buChar char="l"/>
                </a:pPr>
                <a:endParaRPr lang="en-US" altLang="zh-CN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0">
                  <a:buFont typeface="Wingdings" panose="05000000000000000000" pitchFamily="2" charset="2"/>
                  <a:buChar char="l"/>
                </a:pPr>
                <a:r>
                  <a:rPr lang="zh-CN" altLang="en-US" dirty="0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一元非线性规划问题</a:t>
                </a:r>
                <a:r>
                  <a:rPr lang="zh-CN" altLang="en-US" dirty="0">
                    <a:solidFill>
                      <a:srgbClr val="0000FF"/>
                    </a:solidFill>
                  </a:rPr>
                  <a:t>：</a:t>
                </a:r>
                <a:endParaRPr lang="en-US" altLang="zh-CN" dirty="0">
                  <a:solidFill>
                    <a:srgbClr val="0000FF"/>
                  </a:solidFill>
                </a:endParaRPr>
              </a:p>
              <a:p>
                <a:pPr marL="0" lvl="0" indent="0">
                  <a:buNone/>
                </a:pPr>
                <a:r>
                  <a:rPr lang="zh-CN" altLang="en-US" sz="2000" dirty="0"/>
                  <a:t>                         </a:t>
                </a:r>
                <a:r>
                  <a:rPr lang="zh-CN" altLang="en-US" sz="20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在可行域 </a:t>
                </a:r>
                <a14:m>
                  <m:oMath xmlns:m="http://schemas.openxmlformats.org/officeDocument/2006/math">
                    <m:r>
                      <a:rPr lang="en-US" altLang="zh-CN" sz="2000" i="1" dirty="0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[</m:t>
                    </m:r>
                    <m:r>
                      <a:rPr lang="en-US" altLang="zh-CN" sz="2000" i="1" dirty="0" err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𝑎</m:t>
                    </m:r>
                    <m:r>
                      <a:rPr lang="en-US" altLang="zh-CN" sz="2000" i="1" dirty="0" err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,</m:t>
                    </m:r>
                    <m:r>
                      <a:rPr lang="en-US" altLang="zh-CN" sz="2000" i="1" dirty="0" err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𝑏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]</m:t>
                    </m:r>
                  </m:oMath>
                </a14:m>
                <a:r>
                  <a:rPr lang="en-US" altLang="zh-CN" sz="20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 </a:t>
                </a:r>
                <a:r>
                  <a:rPr lang="zh-CN" altLang="en-US" sz="20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内具有连续的一阶和二阶导函数</a:t>
                </a:r>
                <a:endParaRPr lang="en-US" altLang="zh-CN" sz="20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 lvl="0">
                  <a:buFont typeface="Wingdings" panose="05000000000000000000" pitchFamily="2" charset="2"/>
                  <a:buChar char="l"/>
                </a:pPr>
                <a:r>
                  <a:rPr lang="zh-CN" altLang="en-US" dirty="0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基本原理</a:t>
                </a:r>
                <a:endParaRPr lang="en-US" altLang="zh-CN" dirty="0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 marL="0" lvl="0" indent="0">
                  <a:buNone/>
                </a:pPr>
                <a:endParaRPr lang="zh-CN" altLang="en-US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028700"/>
                <a:ext cx="8229600" cy="4876800"/>
              </a:xfrm>
              <a:blipFill>
                <a:blip r:embed="rId3"/>
                <a:stretch>
                  <a:fillRect l="-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3808905" y="1456717"/>
          <a:ext cx="1228052" cy="5625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83" name="Equation" r:id="rId4" imgW="14630400" imgH="6705600" progId="Equation.DSMT4">
                  <p:embed/>
                </p:oleObj>
              </mc:Choice>
              <mc:Fallback>
                <p:oleObj name="Equation" r:id="rId4" imgW="14630400" imgH="6705600" progId="Equation.DSMT4">
                  <p:embed/>
                  <p:pic>
                    <p:nvPicPr>
                      <p:cNvPr id="7" name="对象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08905" y="1456717"/>
                        <a:ext cx="1228052" cy="56258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日期占位符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BBCCA1E-5CB7-405F-AF5C-14E2250FECCE}" type="datetime1">
              <a:rPr lang="en-US" altLang="zh-CN" smtClean="0"/>
              <a:pPr>
                <a:defRPr/>
              </a:pPr>
              <a:t>3/31/2025</a:t>
            </a:fld>
            <a:endParaRPr lang="en-US" altLang="zh-CN"/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12"/>
          </p:nvPr>
        </p:nvSpPr>
        <p:spPr>
          <a:xfrm>
            <a:off x="8610600" y="26282"/>
            <a:ext cx="1066800" cy="329184"/>
          </a:xfrm>
        </p:spPr>
        <p:txBody>
          <a:bodyPr/>
          <a:lstStyle/>
          <a:p>
            <a:pPr>
              <a:defRPr/>
            </a:pPr>
            <a:fld id="{A8A04E82-56C5-473E-AB74-E41CD95FB2B4}" type="slidenum">
              <a:rPr lang="zh-CN" altLang="en-US" smtClean="0"/>
              <a:pPr>
                <a:defRPr/>
              </a:pPr>
              <a:t>58</a:t>
            </a:fld>
            <a:endParaRPr lang="en-US" altLang="zh-CN" dirty="0"/>
          </a:p>
        </p:txBody>
      </p:sp>
      <p:sp>
        <p:nvSpPr>
          <p:cNvPr id="20" name="页脚占位符 2">
            <a:extLst>
              <a:ext uri="{FF2B5EF4-FFF2-40B4-BE49-F238E27FC236}">
                <a16:creationId xmlns:a16="http://schemas.microsoft.com/office/drawing/2014/main" id="{6E851064-49D2-47FE-92F5-2791C3FA6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8905" y="19050"/>
            <a:ext cx="4831731" cy="328613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交通大数据</a:t>
            </a: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· </a:t>
            </a: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东南大学 刘志远教授</a:t>
            </a:r>
            <a:endParaRPr kumimoji="0" lang="en-US" altLang="zh-CN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  <p:graphicFrame>
        <p:nvGraphicFramePr>
          <p:cNvPr id="21" name="对象 20"/>
          <p:cNvGraphicFramePr>
            <a:graphicFrameLocks noChangeAspect="1"/>
          </p:cNvGraphicFramePr>
          <p:nvPr/>
        </p:nvGraphicFramePr>
        <p:xfrm>
          <a:off x="898525" y="1914811"/>
          <a:ext cx="1296988" cy="395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84" name="Equation" r:id="rId6" imgW="17983200" imgH="5486400" progId="Equation.DSMT4">
                  <p:embed/>
                </p:oleObj>
              </mc:Choice>
              <mc:Fallback>
                <p:oleObj name="Equation" r:id="rId6" imgW="17983200" imgH="5486400" progId="Equation.DSMT4">
                  <p:embed/>
                  <p:pic>
                    <p:nvPicPr>
                      <p:cNvPr id="21" name="对象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8525" y="1914811"/>
                        <a:ext cx="1296988" cy="3952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457200" y="2847504"/>
                <a:ext cx="7650480" cy="92333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>
                  <a:lnSpc>
                    <a:spcPct val="150000"/>
                  </a:lnSpc>
                </a:pPr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因为      在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[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𝑎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,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𝑏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]</m:t>
                    </m:r>
                  </m:oMath>
                </a14:m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上连续可微，所以原函数的最小值问题等价于求           </a:t>
                </a:r>
              </a:p>
              <a:p>
                <a:pPr lvl="0">
                  <a:lnSpc>
                    <a:spcPct val="150000"/>
                  </a:lnSpc>
                </a:pPr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设在区间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[</m:t>
                    </m:r>
                    <m:r>
                      <a:rPr lang="en-US" altLang="zh-CN" b="0" i="1" dirty="0" err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𝑎</m:t>
                    </m:r>
                    <m:r>
                      <a:rPr lang="en-US" altLang="zh-CN" b="0" i="1" dirty="0" err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,</m:t>
                    </m:r>
                    <m:r>
                      <a:rPr lang="en-US" altLang="zh-CN" b="0" i="1" dirty="0" err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𝑏</m:t>
                    </m:r>
                    <m:r>
                      <a:rPr lang="en-US" altLang="zh-CN" b="0" i="1" dirty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]</m:t>
                    </m:r>
                  </m:oMath>
                </a14:m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中经过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𝑘</m:t>
                    </m:r>
                  </m:oMath>
                </a14:m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次迭代所得到的变量值为 </a:t>
                </a:r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2847504"/>
                <a:ext cx="7650480" cy="923330"/>
              </a:xfrm>
              <a:prstGeom prst="rect">
                <a:avLst/>
              </a:prstGeom>
              <a:blipFill>
                <a:blip r:embed="rId8"/>
                <a:stretch>
                  <a:fillRect l="-637" b="-19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2" name="对象 21"/>
          <p:cNvGraphicFramePr>
            <a:graphicFrameLocks noChangeAspect="1"/>
          </p:cNvGraphicFramePr>
          <p:nvPr/>
        </p:nvGraphicFramePr>
        <p:xfrm>
          <a:off x="1035699" y="2953231"/>
          <a:ext cx="554659" cy="328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85" name="Equation" r:id="rId9" imgW="8229600" imgH="4876800" progId="Equation.DSMT4">
                  <p:embed/>
                </p:oleObj>
              </mc:Choice>
              <mc:Fallback>
                <p:oleObj name="Equation" r:id="rId9" imgW="8229600" imgH="4876800" progId="Equation.DSMT4">
                  <p:embed/>
                  <p:pic>
                    <p:nvPicPr>
                      <p:cNvPr id="22" name="对象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5699" y="2953231"/>
                        <a:ext cx="554659" cy="3286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/>
          <p:cNvGraphicFramePr>
            <a:graphicFrameLocks noChangeAspect="1"/>
          </p:cNvGraphicFramePr>
          <p:nvPr/>
        </p:nvGraphicFramePr>
        <p:xfrm>
          <a:off x="7308613" y="2947432"/>
          <a:ext cx="1003458" cy="3344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86" name="Equation" r:id="rId11" imgW="14630400" imgH="4876800" progId="Equation.DSMT4">
                  <p:embed/>
                </p:oleObj>
              </mc:Choice>
              <mc:Fallback>
                <p:oleObj name="Equation" r:id="rId11" imgW="14630400" imgH="4876800" progId="Equation.DSMT4">
                  <p:embed/>
                  <p:pic>
                    <p:nvPicPr>
                      <p:cNvPr id="23" name="对象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08613" y="2947432"/>
                        <a:ext cx="1003458" cy="33448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/>
          <p:cNvGraphicFramePr>
            <a:graphicFrameLocks noChangeAspect="1"/>
          </p:cNvGraphicFramePr>
          <p:nvPr/>
        </p:nvGraphicFramePr>
        <p:xfrm>
          <a:off x="5319452" y="3332157"/>
          <a:ext cx="277813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87" name="Equation" r:id="rId13" imgW="3962400" imgH="5486400" progId="Equation.DSMT4">
                  <p:embed/>
                </p:oleObj>
              </mc:Choice>
              <mc:Fallback>
                <p:oleObj name="Equation" r:id="rId13" imgW="3962400" imgH="5486400" progId="Equation.DSMT4">
                  <p:embed/>
                  <p:pic>
                    <p:nvPicPr>
                      <p:cNvPr id="24" name="对象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19452" y="3332157"/>
                        <a:ext cx="277813" cy="3841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矩形 11"/>
          <p:cNvSpPr/>
          <p:nvPr/>
        </p:nvSpPr>
        <p:spPr>
          <a:xfrm>
            <a:off x="464956" y="3876561"/>
            <a:ext cx="8221843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过点           作曲线          的切线，其方程是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0"/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0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0"/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                          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0">
              <a:lnSpc>
                <a:spcPct val="150000"/>
              </a:lnSpc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然后用这条切线与横轴交点的横坐标    作为根的新的近似点。在此点处       ，从而得到：</a:t>
            </a:r>
          </a:p>
        </p:txBody>
      </p:sp>
      <p:graphicFrame>
        <p:nvGraphicFramePr>
          <p:cNvPr id="25" name="对象 24"/>
          <p:cNvGraphicFramePr>
            <a:graphicFrameLocks noChangeAspect="1"/>
          </p:cNvGraphicFramePr>
          <p:nvPr/>
        </p:nvGraphicFramePr>
        <p:xfrm>
          <a:off x="1087597" y="3876561"/>
          <a:ext cx="1147762" cy="357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88" name="Equation" r:id="rId15" imgW="17678400" imgH="5486400" progId="Equation.DSMT4">
                  <p:embed/>
                </p:oleObj>
              </mc:Choice>
              <mc:Fallback>
                <p:oleObj name="Equation" r:id="rId15" imgW="17678400" imgH="5486400" progId="Equation.DSMT4">
                  <p:embed/>
                  <p:pic>
                    <p:nvPicPr>
                      <p:cNvPr id="25" name="对象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87597" y="3876561"/>
                        <a:ext cx="1147762" cy="3571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5"/>
          <p:cNvGraphicFramePr>
            <a:graphicFrameLocks noChangeAspect="1"/>
          </p:cNvGraphicFramePr>
          <p:nvPr/>
        </p:nvGraphicFramePr>
        <p:xfrm>
          <a:off x="3047530" y="3902000"/>
          <a:ext cx="938075" cy="3063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89" name="Equation" r:id="rId17" imgW="14935200" imgH="4876800" progId="Equation.DSMT4">
                  <p:embed/>
                </p:oleObj>
              </mc:Choice>
              <mc:Fallback>
                <p:oleObj name="Equation" r:id="rId17" imgW="14935200" imgH="4876800" progId="Equation.DSMT4">
                  <p:embed/>
                  <p:pic>
                    <p:nvPicPr>
                      <p:cNvPr id="26" name="对象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7530" y="3902000"/>
                        <a:ext cx="938075" cy="30631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对象 26"/>
          <p:cNvGraphicFramePr>
            <a:graphicFrameLocks noChangeAspect="1"/>
          </p:cNvGraphicFramePr>
          <p:nvPr/>
        </p:nvGraphicFramePr>
        <p:xfrm>
          <a:off x="2468303" y="4423492"/>
          <a:ext cx="3128962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90" name="Equation" r:id="rId19" imgW="40538400" imgH="5486400" progId="Equation.DSMT4">
                  <p:embed/>
                </p:oleObj>
              </mc:Choice>
              <mc:Fallback>
                <p:oleObj name="Equation" r:id="rId19" imgW="40538400" imgH="5486400" progId="Equation.DSMT4">
                  <p:embed/>
                  <p:pic>
                    <p:nvPicPr>
                      <p:cNvPr id="27" name="对象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8303" y="4423492"/>
                        <a:ext cx="3128962" cy="422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对象 27"/>
          <p:cNvGraphicFramePr>
            <a:graphicFrameLocks noChangeAspect="1"/>
          </p:cNvGraphicFramePr>
          <p:nvPr/>
        </p:nvGraphicFramePr>
        <p:xfrm>
          <a:off x="4239608" y="5029309"/>
          <a:ext cx="431800" cy="388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91" name="Equation" r:id="rId21" imgW="6096000" imgH="5486400" progId="Equation.DSMT4">
                  <p:embed/>
                </p:oleObj>
              </mc:Choice>
              <mc:Fallback>
                <p:oleObj name="Equation" r:id="rId21" imgW="6096000" imgH="5486400" progId="Equation.DSMT4">
                  <p:embed/>
                  <p:pic>
                    <p:nvPicPr>
                      <p:cNvPr id="28" name="对象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39608" y="5029309"/>
                        <a:ext cx="431800" cy="3889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对象 28"/>
          <p:cNvGraphicFramePr>
            <a:graphicFrameLocks noChangeAspect="1"/>
          </p:cNvGraphicFramePr>
          <p:nvPr/>
        </p:nvGraphicFramePr>
        <p:xfrm>
          <a:off x="888206" y="5493157"/>
          <a:ext cx="658813" cy="376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92" name="Equation" r:id="rId23" imgW="8534400" imgH="4876800" progId="Equation.DSMT4">
                  <p:embed/>
                </p:oleObj>
              </mc:Choice>
              <mc:Fallback>
                <p:oleObj name="Equation" r:id="rId23" imgW="8534400" imgH="4876800" progId="Equation.DSMT4">
                  <p:embed/>
                  <p:pic>
                    <p:nvPicPr>
                      <p:cNvPr id="29" name="对象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8206" y="5493157"/>
                        <a:ext cx="658813" cy="3762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对象 29"/>
          <p:cNvGraphicFramePr>
            <a:graphicFrameLocks noChangeAspect="1"/>
          </p:cNvGraphicFramePr>
          <p:nvPr/>
        </p:nvGraphicFramePr>
        <p:xfrm>
          <a:off x="3047530" y="5684478"/>
          <a:ext cx="2270125" cy="919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93" name="Equation" r:id="rId25" imgW="25603200" imgH="10363200" progId="Equation.DSMT4">
                  <p:embed/>
                </p:oleObj>
              </mc:Choice>
              <mc:Fallback>
                <p:oleObj name="Equation" r:id="rId25" imgW="25603200" imgH="10363200" progId="Equation.DSMT4">
                  <p:embed/>
                  <p:pic>
                    <p:nvPicPr>
                      <p:cNvPr id="30" name="对象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7530" y="5684478"/>
                        <a:ext cx="2270125" cy="9191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矩形 30"/>
          <p:cNvSpPr/>
          <p:nvPr/>
        </p:nvSpPr>
        <p:spPr>
          <a:xfrm>
            <a:off x="5317655" y="5905500"/>
            <a:ext cx="31854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——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此即为牛顿法的迭代公式</a:t>
            </a:r>
          </a:p>
        </p:txBody>
      </p:sp>
    </p:spTree>
    <p:extLst>
      <p:ext uri="{BB962C8B-B14F-4D97-AF65-F5344CB8AC3E}">
        <p14:creationId xmlns:p14="http://schemas.microsoft.com/office/powerpoint/2010/main" val="214725412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2894CA-5522-41F5-9170-0CD831B9F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C455D05-7D01-4C63-8000-E5F461CF8F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D883C26-F25B-4F51-9D68-D6F95F730D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26BC7B7-DA3A-4BAA-B3F5-33876ED1E486}" type="datetime1">
              <a:rPr lang="en-US" altLang="zh-CN" smtClean="0"/>
              <a:pPr>
                <a:defRPr/>
              </a:pPr>
              <a:t>3/31/2025</a:t>
            </a:fld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BB71ED1-CF17-48F6-8210-6CC945E7F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58894" y="18288"/>
            <a:ext cx="1066800" cy="329184"/>
          </a:xfrm>
        </p:spPr>
        <p:txBody>
          <a:bodyPr/>
          <a:lstStyle/>
          <a:p>
            <a:pPr>
              <a:defRPr/>
            </a:pPr>
            <a:fld id="{A8A04E82-56C5-473E-AB74-E41CD95FB2B4}" type="slidenum">
              <a:rPr lang="zh-CN" altLang="en-US" smtClean="0"/>
              <a:pPr>
                <a:defRPr/>
              </a:pPr>
              <a:t>59</a:t>
            </a:fld>
            <a:endParaRPr lang="en-US" altLang="zh-CN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F6928D6-6F0C-4521-A6FB-5483C45793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9" y="1709737"/>
            <a:ext cx="2788855" cy="234930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3DCD24CB-F362-46BC-A627-0DF2D196D7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98" y="1670708"/>
            <a:ext cx="3668753" cy="3171295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A6ED2682-42EB-4FD5-99F9-12D0616B98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0032" y="2018104"/>
            <a:ext cx="3520046" cy="2486989"/>
          </a:xfrm>
          <a:prstGeom prst="rect">
            <a:avLst/>
          </a:prstGeom>
        </p:spPr>
      </p:pic>
      <p:sp>
        <p:nvSpPr>
          <p:cNvPr id="9" name="页脚占位符 2">
            <a:extLst>
              <a:ext uri="{FF2B5EF4-FFF2-40B4-BE49-F238E27FC236}">
                <a16:creationId xmlns:a16="http://schemas.microsoft.com/office/drawing/2014/main" id="{1F1FEF57-CE13-488D-B80D-02DB84BF5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8905" y="19050"/>
            <a:ext cx="4831731" cy="328613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交通大数据</a:t>
            </a: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· </a:t>
            </a: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东南大学 刘志远教授</a:t>
            </a:r>
            <a:endParaRPr kumimoji="0" lang="en-US" altLang="zh-CN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09972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牛顿法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028700"/>
            <a:ext cx="8229600" cy="4876800"/>
          </a:xfrm>
        </p:spPr>
        <p:txBody>
          <a:bodyPr/>
          <a:lstStyle/>
          <a:p>
            <a:pPr>
              <a:buFont typeface="Wingdings" panose="05000000000000000000" pitchFamily="2" charset="2"/>
              <a:buChar char="l"/>
            </a:pPr>
            <a:endParaRPr lang="en-US" altLang="zh-CN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FF"/>
                </a:solidFill>
              </a:rPr>
              <a:t>基本原理的几何表示</a:t>
            </a:r>
            <a:endParaRPr lang="en-US" altLang="zh-CN" dirty="0">
              <a:solidFill>
                <a:srgbClr val="0000FF"/>
              </a:solidFill>
            </a:endParaRPr>
          </a:p>
          <a:p>
            <a:pPr marL="0" lvl="0" indent="0">
              <a:buNone/>
            </a:pPr>
            <a:endParaRPr lang="zh-CN" altLang="en-US" dirty="0">
              <a:solidFill>
                <a:srgbClr val="0000FF"/>
              </a:solidFill>
            </a:endParaRPr>
          </a:p>
        </p:txBody>
      </p:sp>
      <p:pic>
        <p:nvPicPr>
          <p:cNvPr id="10" name="Picture 2" descr="https://upload.wikimedia.org/wikipedia/commons/e/e0/NewtonIteration_Ani.gif"/>
          <p:cNvPicPr>
            <a:picLocks noChangeAspect="1" noChangeArrowheads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6435" y="2019300"/>
            <a:ext cx="6493565" cy="46313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文本框 5"/>
          <p:cNvSpPr txBox="1"/>
          <p:nvPr/>
        </p:nvSpPr>
        <p:spPr>
          <a:xfrm>
            <a:off x="5903088" y="5940225"/>
            <a:ext cx="1693762" cy="61104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7E5110C-2FA0-4AB0-9DAF-771D9854AF12}" type="datetime1">
              <a:rPr lang="en-US" altLang="zh-CN" smtClean="0"/>
              <a:pPr>
                <a:defRPr/>
              </a:pPr>
              <a:t>3/31/2025</a:t>
            </a:fld>
            <a:endParaRPr lang="en-US" altLang="zh-CN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>
          <a:xfrm>
            <a:off x="8747943" y="31758"/>
            <a:ext cx="1066800" cy="329184"/>
          </a:xfrm>
        </p:spPr>
        <p:txBody>
          <a:bodyPr/>
          <a:lstStyle/>
          <a:p>
            <a:pPr>
              <a:defRPr/>
            </a:pPr>
            <a:fld id="{A8A04E82-56C5-473E-AB74-E41CD95FB2B4}" type="slidenum">
              <a:rPr lang="zh-CN" altLang="en-US" smtClean="0"/>
              <a:pPr>
                <a:defRPr/>
              </a:pPr>
              <a:t>60</a:t>
            </a:fld>
            <a:endParaRPr lang="en-US" altLang="zh-CN" dirty="0"/>
          </a:p>
        </p:txBody>
      </p:sp>
      <p:sp>
        <p:nvSpPr>
          <p:cNvPr id="9" name="页脚占位符 2">
            <a:extLst>
              <a:ext uri="{FF2B5EF4-FFF2-40B4-BE49-F238E27FC236}">
                <a16:creationId xmlns:a16="http://schemas.microsoft.com/office/drawing/2014/main" id="{8AAE0B90-1761-40B6-A7D4-DEEAC6B8F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8905" y="19050"/>
            <a:ext cx="4831731" cy="328613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交通大数据</a:t>
            </a: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· </a:t>
            </a: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东南大学 刘志远教授</a:t>
            </a:r>
            <a:endParaRPr kumimoji="0" lang="en-US" altLang="zh-CN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牛顿法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11036" y="1460196"/>
            <a:ext cx="8229600" cy="4876800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l"/>
            </a:pPr>
            <a:endParaRPr lang="en-US" altLang="zh-CN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算法步骤</a:t>
            </a:r>
            <a:endParaRPr lang="en-US" altLang="zh-CN" dirty="0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lvl="0" indent="0">
              <a:buNone/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已知          表达式，停止条件  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lvl="0" indent="0">
              <a:lnSpc>
                <a:spcPct val="150000"/>
              </a:lnSpc>
              <a:buNone/>
            </a:pP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(a)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确定初始搜索区间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[</a:t>
            </a:r>
            <a:r>
              <a:rPr lang="en-US" altLang="zh-CN" dirty="0" err="1">
                <a:latin typeface="宋体" panose="02010600030101010101" pitchFamily="2" charset="-122"/>
                <a:ea typeface="宋体" panose="02010600030101010101" pitchFamily="2" charset="-122"/>
              </a:rPr>
              <a:t>a,b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]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，要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求  </a:t>
            </a:r>
          </a:p>
          <a:p>
            <a:pPr marL="0" lvl="0" indent="0">
              <a:lnSpc>
                <a:spcPct val="150000"/>
              </a:lnSpc>
              <a:buNone/>
            </a:pP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(b)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选定   ；</a:t>
            </a:r>
          </a:p>
          <a:p>
            <a:pPr marL="0" lvl="0" indent="0">
              <a:lnSpc>
                <a:spcPct val="150000"/>
              </a:lnSpc>
              <a:buNone/>
            </a:pP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(c)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计算                              ；</a:t>
            </a:r>
          </a:p>
          <a:p>
            <a:pPr marL="0" lvl="0" indent="0">
              <a:lnSpc>
                <a:spcPct val="150000"/>
              </a:lnSpc>
              <a:buNone/>
            </a:pP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(d)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若         则       转入（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c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）；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否则转入（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e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）；</a:t>
            </a:r>
          </a:p>
          <a:p>
            <a:pPr marL="0" lvl="0" indent="0">
              <a:lnSpc>
                <a:spcPct val="150000"/>
              </a:lnSpc>
              <a:buNone/>
            </a:pP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(e)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输出       结束</a:t>
            </a:r>
            <a:r>
              <a:rPr lang="zh-CN" altLang="en-US" dirty="0"/>
              <a:t>。</a:t>
            </a:r>
          </a:p>
          <a:p>
            <a:pPr marL="0" lvl="0" indent="0">
              <a:buNone/>
            </a:pPr>
            <a:endParaRPr lang="zh-CN" altLang="en-US" sz="2000" dirty="0"/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4744190" y="2119767"/>
          <a:ext cx="300935" cy="3310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74" name="Equation" r:id="rId3" imgW="3048000" imgH="3352800" progId="Equation.DSMT4">
                  <p:embed/>
                </p:oleObj>
              </mc:Choice>
              <mc:Fallback>
                <p:oleObj name="Equation" r:id="rId3" imgW="3048000" imgH="3352800" progId="Equation.DSMT4">
                  <p:embed/>
                  <p:pic>
                    <p:nvPicPr>
                      <p:cNvPr id="11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44190" y="2119767"/>
                        <a:ext cx="300935" cy="33102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844564" y="3035524"/>
          <a:ext cx="2174875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75" name="Equation" r:id="rId5" imgW="29870400" imgH="4876800" progId="Equation.DSMT4">
                  <p:embed/>
                </p:oleObj>
              </mc:Choice>
              <mc:Fallback>
                <p:oleObj name="Equation" r:id="rId5" imgW="29870400" imgH="4876800" progId="Equation.DSMT4">
                  <p:embed/>
                  <p:pic>
                    <p:nvPicPr>
                      <p:cNvPr id="12" name="对象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4564" y="3035524"/>
                        <a:ext cx="2174875" cy="355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1489075" y="3522862"/>
          <a:ext cx="312737" cy="433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76" name="Equation" r:id="rId7" imgW="3962400" imgH="5486400" progId="Equation.DSMT4">
                  <p:embed/>
                </p:oleObj>
              </mc:Choice>
              <mc:Fallback>
                <p:oleObj name="Equation" r:id="rId7" imgW="3962400" imgH="5486400" progId="Equation.DSMT4">
                  <p:embed/>
                  <p:pic>
                    <p:nvPicPr>
                      <p:cNvPr id="13" name="对象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89075" y="3522862"/>
                        <a:ext cx="312737" cy="4333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1477832" y="4049696"/>
          <a:ext cx="2503896" cy="3953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77" name="Equation" r:id="rId9" imgW="34747200" imgH="5486400" progId="Equation.DSMT4">
                  <p:embed/>
                </p:oleObj>
              </mc:Choice>
              <mc:Fallback>
                <p:oleObj name="Equation" r:id="rId9" imgW="34747200" imgH="5486400" progId="Equation.DSMT4">
                  <p:embed/>
                  <p:pic>
                    <p:nvPicPr>
                      <p:cNvPr id="14" name="对象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7832" y="4049696"/>
                        <a:ext cx="2503896" cy="39535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1246536" y="4539199"/>
          <a:ext cx="1174750" cy="420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78" name="Equation" r:id="rId11" imgW="17068800" imgH="6096000" progId="Equation.DSMT4">
                  <p:embed/>
                </p:oleObj>
              </mc:Choice>
              <mc:Fallback>
                <p:oleObj name="Equation" r:id="rId11" imgW="17068800" imgH="6096000" progId="Equation.DSMT4">
                  <p:embed/>
                  <p:pic>
                    <p:nvPicPr>
                      <p:cNvPr id="15" name="对象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6536" y="4539199"/>
                        <a:ext cx="1174750" cy="4206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2838659" y="4512211"/>
          <a:ext cx="868362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79" name="Equation" r:id="rId13" imgW="10668000" imgH="5486400" progId="Equation.DSMT4">
                  <p:embed/>
                </p:oleObj>
              </mc:Choice>
              <mc:Fallback>
                <p:oleObj name="Equation" r:id="rId13" imgW="10668000" imgH="5486400" progId="Equation.DSMT4">
                  <p:embed/>
                  <p:pic>
                    <p:nvPicPr>
                      <p:cNvPr id="16" name="对象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38659" y="4512211"/>
                        <a:ext cx="868362" cy="4476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1526657" y="5557772"/>
          <a:ext cx="957263" cy="382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80" name="Equation" r:id="rId15" imgW="12192000" imgH="4876800" progId="Equation.DSMT4">
                  <p:embed/>
                </p:oleObj>
              </mc:Choice>
              <mc:Fallback>
                <p:oleObj name="Equation" r:id="rId15" imgW="12192000" imgH="4876800" progId="Equation.DSMT4">
                  <p:embed/>
                  <p:pic>
                    <p:nvPicPr>
                      <p:cNvPr id="17" name="对象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6657" y="5557772"/>
                        <a:ext cx="957263" cy="3825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A60DC98-A90B-457B-B0DC-BA2778F8C439}" type="datetime1">
              <a:rPr lang="en-US" altLang="zh-CN" smtClean="0"/>
              <a:pPr>
                <a:defRPr/>
              </a:pPr>
              <a:t>3/31/2025</a:t>
            </a:fld>
            <a:endParaRPr lang="en-US" altLang="zh-CN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>
          <a:xfrm>
            <a:off x="8758894" y="18288"/>
            <a:ext cx="1066800" cy="329184"/>
          </a:xfrm>
        </p:spPr>
        <p:txBody>
          <a:bodyPr/>
          <a:lstStyle/>
          <a:p>
            <a:pPr>
              <a:defRPr/>
            </a:pPr>
            <a:fld id="{A8A04E82-56C5-473E-AB74-E41CD95FB2B4}" type="slidenum">
              <a:rPr lang="zh-CN" altLang="en-US" smtClean="0"/>
              <a:pPr>
                <a:defRPr/>
              </a:pPr>
              <a:t>61</a:t>
            </a:fld>
            <a:endParaRPr lang="en-US" altLang="zh-CN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7" cstate="print"/>
          <a:stretch>
            <a:fillRect/>
          </a:stretch>
        </p:blipFill>
        <p:spPr>
          <a:xfrm>
            <a:off x="5612229" y="794845"/>
            <a:ext cx="3074571" cy="5660724"/>
          </a:xfrm>
          <a:prstGeom prst="rect">
            <a:avLst/>
          </a:prstGeom>
        </p:spPr>
      </p:pic>
      <p:sp>
        <p:nvSpPr>
          <p:cNvPr id="18" name="页脚占位符 2">
            <a:extLst>
              <a:ext uri="{FF2B5EF4-FFF2-40B4-BE49-F238E27FC236}">
                <a16:creationId xmlns:a16="http://schemas.microsoft.com/office/drawing/2014/main" id="{D2DD95E9-CE25-4BA0-9DA1-C7540162D7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8905" y="19050"/>
            <a:ext cx="4831731" cy="328613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交通大数据</a:t>
            </a: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· </a:t>
            </a: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东南大学 刘志远教授</a:t>
            </a:r>
            <a:endParaRPr kumimoji="0" lang="en-US" altLang="zh-CN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  <p:graphicFrame>
        <p:nvGraphicFramePr>
          <p:cNvPr id="19" name="对象 18"/>
          <p:cNvGraphicFramePr>
            <a:graphicFrameLocks noChangeAspect="1"/>
          </p:cNvGraphicFramePr>
          <p:nvPr/>
        </p:nvGraphicFramePr>
        <p:xfrm>
          <a:off x="1195249" y="2152826"/>
          <a:ext cx="1155978" cy="3244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81" name="Equation" r:id="rId18" imgW="17373600" imgH="4876800" progId="Equation.DSMT4">
                  <p:embed/>
                </p:oleObj>
              </mc:Choice>
              <mc:Fallback>
                <p:oleObj name="Equation" r:id="rId18" imgW="17373600" imgH="4876800" progId="Equation.DSMT4">
                  <p:embed/>
                  <p:pic>
                    <p:nvPicPr>
                      <p:cNvPr id="19" name="对象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5249" y="2152826"/>
                        <a:ext cx="1155978" cy="32448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2419464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0"/>
          <p:cNvSpPr>
            <a:spLocks noChangeArrowheads="1"/>
          </p:cNvSpPr>
          <p:nvPr/>
        </p:nvSpPr>
        <p:spPr bwMode="auto">
          <a:xfrm>
            <a:off x="2917190" y="3213003"/>
            <a:ext cx="3775158" cy="792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lvl="0" defTabSz="914400"/>
            <a:r>
              <a:rPr kumimoji="0" lang="zh-CN" altLang="en-US" sz="400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梯度下降法</a:t>
            </a:r>
            <a:endParaRPr kumimoji="0" lang="en-US" sz="400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420CF-FE77-4B22-81CF-EF374B3CA00A}" type="datetime1">
              <a:rPr lang="en-US" altLang="zh-CN" smtClean="0"/>
              <a:pPr/>
              <a:t>3/31/2025</a:t>
            </a:fld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86800" y="18288"/>
            <a:ext cx="1066800" cy="329184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62</a:t>
            </a:fld>
            <a:endParaRPr lang="en-US"/>
          </a:p>
        </p:txBody>
      </p:sp>
      <p:sp>
        <p:nvSpPr>
          <p:cNvPr id="5" name="页脚占位符 2">
            <a:extLst>
              <a:ext uri="{FF2B5EF4-FFF2-40B4-BE49-F238E27FC236}">
                <a16:creationId xmlns:a16="http://schemas.microsoft.com/office/drawing/2014/main" id="{AF4DE65F-EF42-4520-865E-A8ADC3F844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8905" y="19050"/>
            <a:ext cx="4831731" cy="328613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交通大数据</a:t>
            </a: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· </a:t>
            </a: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东南大学 刘志远教授</a:t>
            </a:r>
            <a:endParaRPr kumimoji="0" lang="en-US" altLang="zh-CN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spcBef>
                <a:spcPts val="0"/>
              </a:spcBef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梯度下降法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00469"/>
            <a:ext cx="8229600" cy="4876800"/>
          </a:xfrm>
        </p:spPr>
        <p:txBody>
          <a:bodyPr/>
          <a:lstStyle/>
          <a:p>
            <a:pPr marL="0" lvl="0" indent="0">
              <a:spcBef>
                <a:spcPct val="50000"/>
              </a:spcBef>
              <a:buClrTx/>
              <a:buSzPct val="60000"/>
              <a:buFont typeface="Wingdings" panose="05000000000000000000" pitchFamily="2" charset="2"/>
              <a:buChar char="q"/>
            </a:pPr>
            <a:r>
              <a:rPr lang="en-US" altLang="zh-CN" b="1" kern="0" dirty="0">
                <a:solidFill>
                  <a:srgbClr val="0000FF"/>
                </a:solidFill>
              </a:rPr>
              <a:t> </a:t>
            </a:r>
            <a:r>
              <a:rPr lang="zh-CN" altLang="en-US" kern="0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问题</a:t>
            </a:r>
            <a:endParaRPr lang="en-US" altLang="zh-CN" kern="0" dirty="0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zh-CN" altLang="en-US" dirty="0"/>
          </a:p>
        </p:txBody>
      </p:sp>
      <p:graphicFrame>
        <p:nvGraphicFramePr>
          <p:cNvPr id="5" name="Object 1"/>
          <p:cNvGraphicFramePr>
            <a:graphicFrameLocks noChangeAspect="1"/>
          </p:cNvGraphicFramePr>
          <p:nvPr/>
        </p:nvGraphicFramePr>
        <p:xfrm>
          <a:off x="796925" y="1922463"/>
          <a:ext cx="5448300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32" name="Equation" r:id="rId3" imgW="130759200" imgH="9753600" progId="Equation.DSMT4">
                  <p:embed/>
                </p:oleObj>
              </mc:Choice>
              <mc:Fallback>
                <p:oleObj name="Equation" r:id="rId3" imgW="130759200" imgH="9753600" progId="Equation.DSMT4">
                  <p:embed/>
                  <p:pic>
                    <p:nvPicPr>
                      <p:cNvPr id="5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6925" y="1922463"/>
                        <a:ext cx="5448300" cy="412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2"/>
          <p:cNvGraphicFramePr>
            <a:graphicFrameLocks noChangeAspect="1"/>
          </p:cNvGraphicFramePr>
          <p:nvPr/>
        </p:nvGraphicFramePr>
        <p:xfrm>
          <a:off x="796925" y="2320925"/>
          <a:ext cx="8064500" cy="2346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33" name="Equation" r:id="rId5" imgW="193548000" imgH="55473600" progId="Equation.DSMT4">
                  <p:embed/>
                </p:oleObj>
              </mc:Choice>
              <mc:Fallback>
                <p:oleObj name="Equation" r:id="rId5" imgW="193548000" imgH="55473600" progId="Equation.DSMT4">
                  <p:embed/>
                  <p:pic>
                    <p:nvPicPr>
                      <p:cNvPr id="6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6925" y="2320925"/>
                        <a:ext cx="8064500" cy="2346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6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6638" y="3944385"/>
            <a:ext cx="3306762" cy="2638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318346-125F-4370-8227-0A3474BCE089}" type="datetime1">
              <a:rPr lang="en-US" altLang="zh-CN" smtClean="0"/>
              <a:pPr/>
              <a:t>3/31/2025</a:t>
            </a:fld>
            <a:endParaRPr 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>
          <a:xfrm>
            <a:off x="8686800" y="0"/>
            <a:ext cx="1066800" cy="329184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63</a:t>
            </a:fld>
            <a:endParaRPr lang="en-US" dirty="0"/>
          </a:p>
        </p:txBody>
      </p:sp>
      <p:sp>
        <p:nvSpPr>
          <p:cNvPr id="9" name="页脚占位符 2">
            <a:extLst>
              <a:ext uri="{FF2B5EF4-FFF2-40B4-BE49-F238E27FC236}">
                <a16:creationId xmlns:a16="http://schemas.microsoft.com/office/drawing/2014/main" id="{72A574C9-809E-4137-A4F1-4C4615484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8905" y="19050"/>
            <a:ext cx="4831731" cy="328613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交通大数据</a:t>
            </a: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· </a:t>
            </a: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东南大学 刘志远教授</a:t>
            </a:r>
            <a:endParaRPr kumimoji="0" lang="en-US" altLang="zh-CN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spcBef>
                <a:spcPts val="0"/>
              </a:spcBef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梯度下降法</a:t>
            </a:r>
            <a:endParaRPr lang="zh-CN" altLang="en-US" sz="48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spcBef>
                <a:spcPct val="50000"/>
              </a:spcBef>
              <a:buClrTx/>
              <a:buSzPct val="60000"/>
              <a:buFont typeface="Wingdings" panose="05000000000000000000" pitchFamily="2" charset="2"/>
              <a:buChar char="q"/>
            </a:pPr>
            <a:r>
              <a:rPr lang="zh-CN" altLang="en-US" sz="2800" kern="0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下降方向法的基本原理</a:t>
            </a:r>
          </a:p>
        </p:txBody>
      </p:sp>
      <p:sp>
        <p:nvSpPr>
          <p:cNvPr id="5" name="Content Placeholder 2"/>
          <p:cNvSpPr txBox="1"/>
          <p:nvPr/>
        </p:nvSpPr>
        <p:spPr bwMode="auto">
          <a:xfrm>
            <a:off x="457200" y="2137284"/>
            <a:ext cx="8501356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49634B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49634B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49634B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49634B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rgbClr val="49634B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rgbClr val="49634B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rgbClr val="49634B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rgbClr val="49634B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rgbClr val="49634B"/>
                </a:solidFill>
                <a:latin typeface="+mn-lt"/>
              </a:defRPr>
            </a:lvl9pPr>
          </a:lstStyle>
          <a:p>
            <a:pPr defTabSz="914400"/>
            <a:r>
              <a:rPr lang="zh-CN" altLang="en-US" sz="2800" kern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每次沿着可行下降方向，从一个点移动到另一个点，来使目标函数值减小</a:t>
            </a:r>
            <a:endParaRPr lang="en-US" altLang="zh-CN" sz="2800" kern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defTabSz="914400">
              <a:buFontTx/>
              <a:buChar char="•"/>
            </a:pPr>
            <a:endParaRPr lang="en-US" altLang="zh-TW" kern="0" dirty="0">
              <a:solidFill>
                <a:schemeClr val="tx1"/>
              </a:solidFill>
              <a:latin typeface="Times New Roman" panose="02020603050405020304" pitchFamily="18" charset="0"/>
              <a:ea typeface="PMingLiU" panose="02020500000000000000" pitchFamily="18" charset="-120"/>
              <a:cs typeface="Times New Roman" panose="02020603050405020304" pitchFamily="18" charset="0"/>
            </a:endParaRPr>
          </a:p>
          <a:p>
            <a:pPr defTabSz="914400"/>
            <a:endParaRPr lang="en-US" altLang="zh-CN" sz="2800" kern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defTabSz="914400"/>
            <a:endParaRPr lang="en-US" altLang="zh-CN" sz="2800" kern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0391" y="2784984"/>
            <a:ext cx="3421062" cy="3733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459F0-2C91-4001-81D8-238D1B738F5B}" type="datetime1">
              <a:rPr lang="en-US" altLang="zh-CN" smtClean="0"/>
              <a:pPr/>
              <a:t>3/31/2025</a:t>
            </a:fld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758893" y="18288"/>
            <a:ext cx="1066800" cy="329184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64</a:t>
            </a:fld>
            <a:endParaRPr lang="en-US"/>
          </a:p>
        </p:txBody>
      </p:sp>
      <p:sp>
        <p:nvSpPr>
          <p:cNvPr id="8" name="页脚占位符 2">
            <a:extLst>
              <a:ext uri="{FF2B5EF4-FFF2-40B4-BE49-F238E27FC236}">
                <a16:creationId xmlns:a16="http://schemas.microsoft.com/office/drawing/2014/main" id="{F155DBD4-D0CC-4A8A-AB62-1977D74A1C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8905" y="19050"/>
            <a:ext cx="4831731" cy="328613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交通大数据</a:t>
            </a: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· </a:t>
            </a: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东南大学 刘志远教授</a:t>
            </a:r>
            <a:endParaRPr kumimoji="0" lang="en-US" altLang="zh-CN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spcBef>
                <a:spcPts val="0"/>
              </a:spcBef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梯度下降法</a:t>
            </a:r>
            <a:endParaRPr lang="zh-CN" altLang="en-US" sz="48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Bef>
                <a:spcPct val="50000"/>
              </a:spcBef>
              <a:buClrTx/>
              <a:buSzPct val="60000"/>
              <a:buFont typeface="Wingdings" panose="05000000000000000000" pitchFamily="2" charset="2"/>
              <a:buChar char="q"/>
            </a:pPr>
            <a:r>
              <a:rPr lang="zh-CN" altLang="en-US" sz="2800" kern="0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下降方向法的基本原理</a:t>
            </a:r>
          </a:p>
          <a:p>
            <a:pPr marL="0" lvl="0" indent="0">
              <a:spcBef>
                <a:spcPct val="50000"/>
              </a:spcBef>
              <a:buClrTx/>
              <a:buSzPct val="60000"/>
              <a:buFont typeface="Wingdings" panose="05000000000000000000" pitchFamily="2" charset="2"/>
              <a:buChar char="q"/>
            </a:pP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Content Placeholder 2"/>
          <p:cNvSpPr txBox="1"/>
          <p:nvPr/>
        </p:nvSpPr>
        <p:spPr>
          <a:xfrm>
            <a:off x="457200" y="2294409"/>
            <a:ext cx="8841036" cy="3505200"/>
          </a:xfrm>
          <a:prstGeom prst="rect">
            <a:avLst/>
          </a:prstGeom>
        </p:spPr>
        <p:txBody>
          <a:bodyPr/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Step 0: 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选择初始点</a:t>
            </a:r>
            <a:r>
              <a:rPr lang="en-US" altLang="zh-CN" sz="2800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sz="2800" i="1" baseline="30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(0)</a:t>
            </a:r>
          </a:p>
          <a:p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Step 1: 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检查停止条件</a:t>
            </a:r>
            <a:endParaRPr lang="en-US" altLang="zh-CN" sz="28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Step 2: 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确定可行下降方向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800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sz="2800" i="1" baseline="30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(k)</a:t>
            </a:r>
            <a:endParaRPr lang="en-US" altLang="zh-CN" sz="28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Step 3: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确定与方向</a:t>
            </a:r>
            <a:r>
              <a:rPr lang="en-US" altLang="zh-CN" sz="2800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sz="2800" i="1" baseline="30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(k)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相关的最优步长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800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α</a:t>
            </a:r>
            <a:r>
              <a:rPr lang="en-US" altLang="zh-CN" sz="2800" i="1" baseline="30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(k)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</a:p>
          <a:p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Step 4: 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令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800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sz="2800" i="1" baseline="30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(k+1)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2800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sz="2800" i="1" baseline="30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(k)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sz="2800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α</a:t>
            </a:r>
            <a:r>
              <a:rPr lang="en-US" altLang="zh-CN" sz="2800" i="1" baseline="30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(k)</a:t>
            </a:r>
            <a:r>
              <a:rPr lang="en-US" altLang="zh-CN" sz="2800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sz="2800" i="1" baseline="30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(k)</a:t>
            </a:r>
            <a:endParaRPr lang="en-US" altLang="zh-CN" sz="2800" i="1" baseline="-25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6" name="Picture 3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1316" y="455379"/>
            <a:ext cx="3624549" cy="32296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D0E8B-429A-47FA-814A-FFD41880F0D8}" type="datetime1">
              <a:rPr lang="en-US" altLang="zh-CN" smtClean="0"/>
              <a:pPr/>
              <a:t>3/31/2025</a:t>
            </a:fld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36087"/>
            <a:ext cx="1066800" cy="329184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65</a:t>
            </a:fld>
            <a:endParaRPr lang="en-US"/>
          </a:p>
        </p:txBody>
      </p:sp>
      <p:sp>
        <p:nvSpPr>
          <p:cNvPr id="8" name="页脚占位符 2">
            <a:extLst>
              <a:ext uri="{FF2B5EF4-FFF2-40B4-BE49-F238E27FC236}">
                <a16:creationId xmlns:a16="http://schemas.microsoft.com/office/drawing/2014/main" id="{18274202-9B79-4622-AB55-8FB387D20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8905" y="19050"/>
            <a:ext cx="4831731" cy="328613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交通大数据</a:t>
            </a: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· </a:t>
            </a: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东南大学 刘志远教授</a:t>
            </a:r>
            <a:endParaRPr kumimoji="0" lang="en-US" altLang="zh-CN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spcBef>
                <a:spcPts val="0"/>
              </a:spcBef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梯度下降法</a:t>
            </a:r>
            <a:endParaRPr lang="zh-CN" altLang="en-US" sz="48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lnSpc>
                <a:spcPct val="150000"/>
              </a:lnSpc>
              <a:spcBef>
                <a:spcPct val="50000"/>
              </a:spcBef>
              <a:buClrTx/>
              <a:buSzPct val="60000"/>
              <a:buFont typeface="Wingdings" panose="05000000000000000000" pitchFamily="2" charset="2"/>
              <a:buChar char="q"/>
            </a:pPr>
            <a:r>
              <a:rPr lang="en-US" altLang="zh-CN" b="1" kern="0" dirty="0">
                <a:solidFill>
                  <a:srgbClr val="0000FF"/>
                </a:solidFill>
              </a:rPr>
              <a:t> </a:t>
            </a:r>
            <a:r>
              <a:rPr lang="zh-CN" altLang="en-US" kern="0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最速下降法</a:t>
            </a:r>
            <a:r>
              <a:rPr lang="en-US" altLang="zh-CN" kern="0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zh-CN" altLang="en-US" kern="0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梯度下降法</a:t>
            </a:r>
            <a:endParaRPr lang="en-US" altLang="zh-CN" kern="0" dirty="0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0" defTabSz="457200">
              <a:lnSpc>
                <a:spcPct val="150000"/>
              </a:lnSpc>
              <a:spcBef>
                <a:spcPts val="0"/>
              </a:spcBef>
              <a:buClrTx/>
              <a:buSzTx/>
            </a:pPr>
            <a:r>
              <a:rPr lang="zh-CN" altLang="en-US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基本原理是用负梯度方向</a:t>
            </a:r>
            <a:endParaRPr lang="en-US" altLang="zh-TW" dirty="0">
              <a:solidFill>
                <a:prstClr val="black"/>
              </a:solidFill>
              <a:latin typeface="Times New Roman" panose="02020603050405020304" pitchFamily="18" charset="0"/>
              <a:ea typeface="PMingLiU" panose="02020500000000000000" pitchFamily="18" charset="-12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graphicFrame>
        <p:nvGraphicFramePr>
          <p:cNvPr id="5" name="Object 1"/>
          <p:cNvGraphicFramePr>
            <a:graphicFrameLocks noChangeAspect="1"/>
          </p:cNvGraphicFramePr>
          <p:nvPr/>
        </p:nvGraphicFramePr>
        <p:xfrm>
          <a:off x="2805113" y="2867025"/>
          <a:ext cx="2413000" cy="304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45" name="Equation" r:id="rId3" imgW="2412720" imgH="3047760" progId="Equation.DSMT4">
                  <p:embed/>
                </p:oleObj>
              </mc:Choice>
              <mc:Fallback>
                <p:oleObj name="Equation" r:id="rId3" imgW="2412720" imgH="3047760" progId="Equation.DSMT4">
                  <p:embed/>
                  <p:pic>
                    <p:nvPicPr>
                      <p:cNvPr id="5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5113" y="2867025"/>
                        <a:ext cx="2413000" cy="3048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B2A34-A94A-44CA-89BA-778841BE2EC6}" type="datetime1">
              <a:rPr lang="en-US" altLang="zh-CN" smtClean="0"/>
              <a:pPr/>
              <a:t>3/31/2025</a:t>
            </a:fld>
            <a:endParaRPr 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>
          <a:xfrm>
            <a:off x="8686800" y="26282"/>
            <a:ext cx="1066800" cy="329184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66</a:t>
            </a:fld>
            <a:endParaRPr lang="en-US" dirty="0"/>
          </a:p>
        </p:txBody>
      </p:sp>
      <p:sp>
        <p:nvSpPr>
          <p:cNvPr id="7" name="页脚占位符 2">
            <a:extLst>
              <a:ext uri="{FF2B5EF4-FFF2-40B4-BE49-F238E27FC236}">
                <a16:creationId xmlns:a16="http://schemas.microsoft.com/office/drawing/2014/main" id="{5DC801F8-CFAE-4F37-B590-F9EF42F4E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8905" y="19050"/>
            <a:ext cx="4831731" cy="328613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交通大数据</a:t>
            </a: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· </a:t>
            </a: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东南大学 刘志远教授</a:t>
            </a:r>
            <a:endParaRPr kumimoji="0" lang="en-US" altLang="zh-CN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spcBef>
                <a:spcPts val="0"/>
              </a:spcBef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梯度下降法</a:t>
            </a:r>
            <a:endParaRPr lang="zh-CN" altLang="en-US" sz="48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ct val="50000"/>
              </a:spcBef>
              <a:buClrTx/>
              <a:buSzPct val="60000"/>
              <a:buFont typeface="Wingdings" panose="05000000000000000000" pitchFamily="2" charset="2"/>
              <a:buChar char="q"/>
            </a:pPr>
            <a:r>
              <a:rPr lang="en-US" altLang="zh-CN" b="1" kern="0" dirty="0">
                <a:solidFill>
                  <a:srgbClr val="0000FF"/>
                </a:solidFill>
              </a:rPr>
              <a:t> </a:t>
            </a:r>
            <a:r>
              <a:rPr lang="zh-CN" altLang="en-US" sz="2800" kern="0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梯度下降法步骤</a:t>
            </a:r>
            <a:endParaRPr lang="en-US" altLang="zh-CN" sz="2800" kern="0" dirty="0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zh-CN" altLang="en-US" dirty="0"/>
          </a:p>
        </p:txBody>
      </p:sp>
      <p:graphicFrame>
        <p:nvGraphicFramePr>
          <p:cNvPr id="5" name="Object 2"/>
          <p:cNvGraphicFramePr>
            <a:graphicFrameLocks noChangeAspect="1"/>
          </p:cNvGraphicFramePr>
          <p:nvPr/>
        </p:nvGraphicFramePr>
        <p:xfrm>
          <a:off x="581974" y="2238489"/>
          <a:ext cx="8399210" cy="2906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069" name="Equation" r:id="rId3" imgW="7289640" imgH="2768400" progId="Equation.DSMT4">
                  <p:embed/>
                </p:oleObj>
              </mc:Choice>
              <mc:Fallback>
                <p:oleObj name="Equation" r:id="rId3" imgW="7289640" imgH="2768400" progId="Equation.DSMT4">
                  <p:embed/>
                  <p:pic>
                    <p:nvPicPr>
                      <p:cNvPr id="5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1974" y="2238489"/>
                        <a:ext cx="8399210" cy="290638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2E03D-A216-4E79-B773-F37A5F624D57}" type="datetime1">
              <a:rPr lang="en-US" altLang="zh-CN" smtClean="0"/>
              <a:pPr/>
              <a:t>3/31/2025</a:t>
            </a:fld>
            <a:endParaRPr 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>
          <a:xfrm>
            <a:off x="8736991" y="18288"/>
            <a:ext cx="1066800" cy="329184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67</a:t>
            </a:fld>
            <a:endParaRPr lang="en-US"/>
          </a:p>
        </p:txBody>
      </p:sp>
      <p:sp>
        <p:nvSpPr>
          <p:cNvPr id="7" name="页脚占位符 2">
            <a:extLst>
              <a:ext uri="{FF2B5EF4-FFF2-40B4-BE49-F238E27FC236}">
                <a16:creationId xmlns:a16="http://schemas.microsoft.com/office/drawing/2014/main" id="{482D6A7D-C5CB-4DC5-B89D-6274B9EC5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8905" y="19050"/>
            <a:ext cx="4831731" cy="328613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交通大数据</a:t>
            </a: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· </a:t>
            </a: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东南大学 刘志远教授</a:t>
            </a:r>
            <a:endParaRPr kumimoji="0" lang="en-US" altLang="zh-CN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spcBef>
                <a:spcPts val="0"/>
              </a:spcBef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梯度下降法</a:t>
            </a:r>
            <a:endParaRPr lang="zh-CN" altLang="en-US" sz="48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ct val="50000"/>
              </a:spcBef>
              <a:buClrTx/>
              <a:buSzPct val="60000"/>
              <a:buFont typeface="Wingdings" panose="05000000000000000000" pitchFamily="2" charset="2"/>
              <a:buChar char="q"/>
            </a:pPr>
            <a:r>
              <a:rPr lang="en-US" altLang="zh-CN" b="1" kern="0" dirty="0">
                <a:solidFill>
                  <a:srgbClr val="0000FF"/>
                </a:solidFill>
              </a:rPr>
              <a:t> </a:t>
            </a:r>
            <a:r>
              <a:rPr lang="zh-CN" altLang="en-US" sz="2800" kern="0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梯度下降法步骤</a:t>
            </a:r>
            <a:endParaRPr lang="en-US" altLang="zh-CN" sz="2800" kern="0" dirty="0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zh-CN" altLang="en-US" dirty="0"/>
          </a:p>
        </p:txBody>
      </p:sp>
      <p:sp>
        <p:nvSpPr>
          <p:cNvPr id="5" name="Content Placeholder 1"/>
          <p:cNvSpPr txBox="1"/>
          <p:nvPr/>
        </p:nvSpPr>
        <p:spPr bwMode="auto">
          <a:xfrm>
            <a:off x="457200" y="2211221"/>
            <a:ext cx="8642252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49634B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49634B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49634B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49634B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rgbClr val="49634B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rgbClr val="49634B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rgbClr val="49634B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rgbClr val="49634B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rgbClr val="49634B"/>
                </a:solidFill>
                <a:latin typeface="+mn-lt"/>
              </a:defRPr>
            </a:lvl9pPr>
          </a:lstStyle>
          <a:p>
            <a:pPr defTabSz="914400">
              <a:lnSpc>
                <a:spcPct val="150000"/>
              </a:lnSpc>
            </a:pPr>
            <a:r>
              <a:rPr lang="zh-CN" altLang="en-US" sz="2400" kern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en-US" altLang="zh-CN" sz="2400" kern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Step 0, </a:t>
            </a:r>
            <a:r>
              <a:rPr lang="zh-CN" altLang="en-US" sz="2400" kern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一般情况下，最好选择接近局部极小值点的初始点</a:t>
            </a:r>
            <a:endParaRPr lang="en-US" altLang="zh-CN" sz="2400" kern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defTabSz="914400">
              <a:lnSpc>
                <a:spcPct val="150000"/>
              </a:lnSpc>
              <a:buNone/>
            </a:pPr>
            <a:r>
              <a:rPr lang="en-US" altLang="zh-CN" sz="2400" kern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(</a:t>
            </a:r>
            <a:r>
              <a:rPr lang="zh-CN" altLang="en-US" sz="2400" kern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例如，用启发式算法的最优解来确定初始解</a:t>
            </a:r>
            <a:r>
              <a:rPr lang="en-US" altLang="zh-CN" sz="2400" kern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en-US" sz="2400" kern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；</a:t>
            </a:r>
            <a:endParaRPr lang="en-US" altLang="zh-CN" sz="2400" kern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defTabSz="914400">
              <a:lnSpc>
                <a:spcPct val="150000"/>
              </a:lnSpc>
            </a:pPr>
            <a:r>
              <a:rPr lang="zh-CN" altLang="en-US" sz="2400" kern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en-US" altLang="zh-CN" sz="2400" kern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Step 1, </a:t>
            </a:r>
            <a:r>
              <a:rPr lang="zh-CN" altLang="en-US" sz="2400" kern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有多种停止条件；</a:t>
            </a:r>
            <a:endParaRPr lang="en-US" altLang="zh-CN" sz="2400" kern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defTabSz="914400">
              <a:lnSpc>
                <a:spcPct val="150000"/>
              </a:lnSpc>
            </a:pPr>
            <a:r>
              <a:rPr lang="en-US" altLang="zh-CN" sz="2400" kern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Step 2</a:t>
            </a:r>
            <a:r>
              <a:rPr lang="zh-CN" altLang="en-US" sz="2400" kern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的子问题是线性搜索。这比原来的问题更容易求解，在这里我们可以用</a:t>
            </a:r>
            <a:r>
              <a:rPr lang="en-US" altLang="zh-CN" sz="2400" kern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KKT</a:t>
            </a:r>
            <a:r>
              <a:rPr lang="zh-CN" altLang="en-US" sz="2400" kern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条件、二分法或黄金分割法来求解</a:t>
            </a:r>
            <a:r>
              <a:rPr lang="en-US" altLang="zh-CN" sz="2400" kern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2400" kern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en-US" altLang="zh-CN" sz="2400" kern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defTabSz="914400"/>
            <a:endParaRPr lang="en-US" altLang="zh-CN" sz="2400" kern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CCC4A-915D-4C24-9884-E46624019160}" type="datetime1">
              <a:rPr lang="en-US" altLang="zh-CN" smtClean="0"/>
              <a:pPr/>
              <a:t>3/31/2025</a:t>
            </a:fld>
            <a:endParaRPr 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>
          <a:xfrm>
            <a:off x="8726041" y="31758"/>
            <a:ext cx="1066800" cy="329184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68</a:t>
            </a:fld>
            <a:endParaRPr lang="en-US"/>
          </a:p>
        </p:txBody>
      </p:sp>
      <p:sp>
        <p:nvSpPr>
          <p:cNvPr id="7" name="页脚占位符 2">
            <a:extLst>
              <a:ext uri="{FF2B5EF4-FFF2-40B4-BE49-F238E27FC236}">
                <a16:creationId xmlns:a16="http://schemas.microsoft.com/office/drawing/2014/main" id="{66593E50-DF58-444E-9B73-75569F533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8905" y="19050"/>
            <a:ext cx="4831731" cy="328613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交通大数据</a:t>
            </a: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· </a:t>
            </a: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东南大学 刘志远教授</a:t>
            </a:r>
            <a:endParaRPr kumimoji="0" lang="en-US" altLang="zh-CN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spcBef>
                <a:spcPts val="0"/>
              </a:spcBef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梯度下降法</a:t>
            </a:r>
            <a:endParaRPr lang="zh-CN" altLang="en-US" sz="48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ct val="50000"/>
              </a:spcBef>
              <a:buClrTx/>
              <a:buSzPct val="60000"/>
              <a:buFont typeface="Wingdings" panose="05000000000000000000" pitchFamily="2" charset="2"/>
              <a:buChar char="q"/>
            </a:pPr>
            <a:r>
              <a:rPr lang="en-US" altLang="zh-CN" b="1" kern="0" dirty="0">
                <a:solidFill>
                  <a:srgbClr val="0000FF"/>
                </a:solidFill>
              </a:rPr>
              <a:t> </a:t>
            </a:r>
            <a:r>
              <a:rPr lang="zh-CN" altLang="en-US" kern="0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endParaRPr lang="en-US" altLang="zh-CN" kern="0" dirty="0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zh-CN" altLang="en-US" dirty="0"/>
          </a:p>
        </p:txBody>
      </p:sp>
      <p:graphicFrame>
        <p:nvGraphicFramePr>
          <p:cNvPr id="5" name="Object 1"/>
          <p:cNvGraphicFramePr>
            <a:graphicFrameLocks noChangeAspect="1"/>
          </p:cNvGraphicFramePr>
          <p:nvPr/>
        </p:nvGraphicFramePr>
        <p:xfrm>
          <a:off x="1550474" y="1764460"/>
          <a:ext cx="4600723" cy="6547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26" name="Equation" r:id="rId3" imgW="3390900" imgH="482600" progId="Equation.DSMT4">
                  <p:embed/>
                </p:oleObj>
              </mc:Choice>
              <mc:Fallback>
                <p:oleObj name="Equation" r:id="rId3" imgW="3390900" imgH="482600" progId="Equation.DSMT4">
                  <p:embed/>
                  <p:pic>
                    <p:nvPicPr>
                      <p:cNvPr id="5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0474" y="1764460"/>
                        <a:ext cx="4600723" cy="65478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Content Placeholder 1"/>
          <p:cNvSpPr txBox="1"/>
          <p:nvPr/>
        </p:nvSpPr>
        <p:spPr>
          <a:xfrm>
            <a:off x="550578" y="2697115"/>
            <a:ext cx="7772400" cy="2438400"/>
          </a:xfrm>
          <a:prstGeom prst="rect">
            <a:avLst/>
          </a:prstGeom>
        </p:spPr>
        <p:txBody>
          <a:bodyPr/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梯度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线性搜索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GB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ü"/>
            </a:pPr>
            <a:r>
              <a:rPr lang="zh-CN" altLang="en-US" sz="26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令</a:t>
            </a:r>
            <a:r>
              <a:rPr lang="en-US" altLang="zh-CN" sz="2600" dirty="0">
                <a:latin typeface="Times New Roman" panose="02020603050405020304" pitchFamily="18" charset="0"/>
                <a:ea typeface="PMingLiU" panose="02020500000000000000" pitchFamily="18" charset="-120"/>
                <a:cs typeface="Times New Roman" panose="02020603050405020304" pitchFamily="18" charset="0"/>
              </a:rPr>
              <a:t> </a:t>
            </a:r>
            <a:r>
              <a:rPr lang="en-US" altLang="zh-CN" sz="2600" i="1" dirty="0">
                <a:latin typeface="Times New Roman" panose="02020603050405020304" pitchFamily="18" charset="0"/>
                <a:ea typeface="PMingLiU" panose="02020500000000000000" pitchFamily="18" charset="-120"/>
                <a:cs typeface="Times New Roman" panose="02020603050405020304" pitchFamily="18" charset="0"/>
              </a:rPr>
              <a:t>f’(</a:t>
            </a:r>
            <a:r>
              <a:rPr lang="el-GR" altLang="zh-CN" sz="2600" i="1" dirty="0">
                <a:latin typeface="Times New Roman" panose="02020603050405020304" pitchFamily="18" charset="0"/>
                <a:ea typeface="PMingLiU" panose="02020500000000000000" pitchFamily="18" charset="-120"/>
                <a:cs typeface="Times New Roman" panose="02020603050405020304" pitchFamily="18" charset="0"/>
              </a:rPr>
              <a:t>α</a:t>
            </a:r>
            <a:r>
              <a:rPr lang="en-US" altLang="zh-CN" sz="2600" i="1" dirty="0">
                <a:latin typeface="Times New Roman" panose="02020603050405020304" pitchFamily="18" charset="0"/>
                <a:ea typeface="PMingLiU" panose="02020500000000000000" pitchFamily="18" charset="-120"/>
                <a:cs typeface="Times New Roman" panose="02020603050405020304" pitchFamily="18" charset="0"/>
              </a:rPr>
              <a:t>)=0</a:t>
            </a:r>
            <a:r>
              <a:rPr lang="en-US" altLang="zh-CN" sz="2600" dirty="0">
                <a:latin typeface="Times New Roman" panose="02020603050405020304" pitchFamily="18" charset="0"/>
                <a:ea typeface="PMingLiU" panose="02020500000000000000" pitchFamily="18" charset="-120"/>
                <a:cs typeface="Times New Roman" panose="02020603050405020304" pitchFamily="18" charset="0"/>
              </a:rPr>
              <a:t>, </a:t>
            </a:r>
            <a:r>
              <a:rPr lang="zh-CN" altLang="en-US" sz="2600" dirty="0">
                <a:latin typeface="Times New Roman" panose="02020603050405020304" pitchFamily="18" charset="0"/>
                <a:ea typeface="PMingLiU" panose="02020500000000000000" pitchFamily="18" charset="-120"/>
                <a:cs typeface="Times New Roman" panose="02020603050405020304" pitchFamily="18" charset="0"/>
              </a:rPr>
              <a:t>可得</a:t>
            </a:r>
            <a:r>
              <a:rPr lang="en-US" altLang="zh-CN" sz="2600" dirty="0">
                <a:latin typeface="Times New Roman" panose="02020603050405020304" pitchFamily="18" charset="0"/>
                <a:ea typeface="PMingLiU" panose="02020500000000000000" pitchFamily="18" charset="-120"/>
                <a:cs typeface="Times New Roman" panose="02020603050405020304" pitchFamily="18" charset="0"/>
              </a:rPr>
              <a:t>:</a:t>
            </a:r>
            <a:endParaRPr lang="el-GR" altLang="zh-CN" sz="2600" dirty="0">
              <a:latin typeface="Times New Roman" panose="02020603050405020304" pitchFamily="18" charset="0"/>
              <a:ea typeface="PMingLiU" panose="02020500000000000000" pitchFamily="18" charset="-120"/>
              <a:cs typeface="Times New Roman" panose="02020603050405020304" pitchFamily="18" charset="0"/>
            </a:endParaRPr>
          </a:p>
          <a:p>
            <a:pPr lvl="1"/>
            <a:endParaRPr lang="en-US" altLang="zh-CN" sz="2600" dirty="0">
              <a:latin typeface="Times New Roman" panose="02020603050405020304" pitchFamily="18" charset="0"/>
              <a:ea typeface="PMingLiU" panose="02020500000000000000" pitchFamily="18" charset="-120"/>
              <a:cs typeface="Times New Roman" panose="02020603050405020304" pitchFamily="18" charset="0"/>
            </a:endParaRPr>
          </a:p>
          <a:p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7" name="Object 3"/>
          <p:cNvGraphicFramePr>
            <a:graphicFrameLocks noChangeAspect="1"/>
          </p:cNvGraphicFramePr>
          <p:nvPr/>
        </p:nvGraphicFramePr>
        <p:xfrm>
          <a:off x="2049390" y="2671296"/>
          <a:ext cx="35306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27" name="Equation" r:id="rId5" imgW="3530600" imgH="469900" progId="Equation.DSMT4">
                  <p:embed/>
                </p:oleObj>
              </mc:Choice>
              <mc:Fallback>
                <p:oleObj name="Equation" r:id="rId5" imgW="3530600" imgH="469900" progId="Equation.DSMT4">
                  <p:embed/>
                  <p:pic>
                    <p:nvPicPr>
                      <p:cNvPr id="7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49390" y="2671296"/>
                        <a:ext cx="3530600" cy="469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4"/>
          <p:cNvGraphicFramePr>
            <a:graphicFrameLocks noChangeAspect="1"/>
          </p:cNvGraphicFramePr>
          <p:nvPr/>
        </p:nvGraphicFramePr>
        <p:xfrm>
          <a:off x="273050" y="3719111"/>
          <a:ext cx="85979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28" name="Equation" r:id="rId7" imgW="8597900" imgH="482600" progId="Equation.DSMT4">
                  <p:embed/>
                </p:oleObj>
              </mc:Choice>
              <mc:Fallback>
                <p:oleObj name="Equation" r:id="rId7" imgW="8597900" imgH="482600" progId="Equation.DSMT4">
                  <p:embed/>
                  <p:pic>
                    <p:nvPicPr>
                      <p:cNvPr id="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3050" y="3719111"/>
                        <a:ext cx="8597900" cy="482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5"/>
          <p:cNvGraphicFramePr>
            <a:graphicFrameLocks noChangeAspect="1"/>
          </p:cNvGraphicFramePr>
          <p:nvPr/>
        </p:nvGraphicFramePr>
        <p:xfrm>
          <a:off x="2049390" y="4895639"/>
          <a:ext cx="4927600" cy="109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29" name="Equation" r:id="rId9" imgW="4927600" imgH="1092200" progId="Equation.DSMT4">
                  <p:embed/>
                </p:oleObj>
              </mc:Choice>
              <mc:Fallback>
                <p:oleObj name="Equation" r:id="rId9" imgW="4927600" imgH="1092200" progId="Equation.DSMT4">
                  <p:embed/>
                  <p:pic>
                    <p:nvPicPr>
                      <p:cNvPr id="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49390" y="4895639"/>
                        <a:ext cx="4927600" cy="1092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D36A2-5A54-4877-B94C-60449E256E74}" type="datetime1">
              <a:rPr lang="en-US" altLang="zh-CN" smtClean="0"/>
              <a:pPr/>
              <a:t>3/31/2025</a:t>
            </a:fld>
            <a:endParaRPr lang="en-US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2"/>
          </p:nvPr>
        </p:nvSpPr>
        <p:spPr>
          <a:xfrm>
            <a:off x="8758894" y="18288"/>
            <a:ext cx="1066800" cy="329184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69</a:t>
            </a:fld>
            <a:endParaRPr lang="en-US" dirty="0"/>
          </a:p>
        </p:txBody>
      </p:sp>
      <p:sp>
        <p:nvSpPr>
          <p:cNvPr id="11" name="页脚占位符 2">
            <a:extLst>
              <a:ext uri="{FF2B5EF4-FFF2-40B4-BE49-F238E27FC236}">
                <a16:creationId xmlns:a16="http://schemas.microsoft.com/office/drawing/2014/main" id="{D5B5FD11-46F6-4CAB-B9FB-BB2F2BBAF6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8905" y="19050"/>
            <a:ext cx="4831731" cy="328613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交通大数据</a:t>
            </a: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· </a:t>
            </a: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东南大学 刘志远教授</a:t>
            </a:r>
            <a:endParaRPr kumimoji="0" lang="en-US" altLang="zh-CN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spcBef>
                <a:spcPts val="0"/>
              </a:spcBef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梯度下降法</a:t>
            </a:r>
            <a:endParaRPr lang="zh-CN" altLang="en-US" sz="48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ct val="50000"/>
              </a:spcBef>
              <a:buClrTx/>
              <a:buSzPct val="60000"/>
              <a:buFont typeface="Wingdings" panose="05000000000000000000" pitchFamily="2" charset="2"/>
              <a:buChar char="q"/>
            </a:pPr>
            <a:r>
              <a:rPr lang="en-US" altLang="zh-CN" b="1" kern="0" dirty="0">
                <a:solidFill>
                  <a:srgbClr val="0000FF"/>
                </a:solidFill>
              </a:rPr>
              <a:t> </a:t>
            </a:r>
            <a:r>
              <a:rPr lang="zh-CN" altLang="en-US" kern="0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endParaRPr lang="en-US" altLang="zh-CN" kern="0" dirty="0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zh-CN" altLang="en-US" dirty="0"/>
          </a:p>
        </p:txBody>
      </p:sp>
      <p:sp>
        <p:nvSpPr>
          <p:cNvPr id="5" name="Content Placeholder 1"/>
          <p:cNvSpPr txBox="1"/>
          <p:nvPr/>
        </p:nvSpPr>
        <p:spPr>
          <a:xfrm>
            <a:off x="457200" y="2368921"/>
            <a:ext cx="7772400" cy="609600"/>
          </a:xfrm>
          <a:prstGeom prst="rect">
            <a:avLst/>
          </a:prstGeom>
        </p:spPr>
        <p:txBody>
          <a:bodyPr/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ea typeface="宋体" panose="02010600030101010101" pitchFamily="2" charset="-122"/>
              </a:rPr>
              <a:t>迭代方案</a:t>
            </a:r>
            <a:r>
              <a:rPr lang="en-US" altLang="zh-CN" dirty="0">
                <a:ea typeface="宋体" panose="02010600030101010101" pitchFamily="2" charset="-122"/>
              </a:rPr>
              <a:t> (2 iterations)</a:t>
            </a:r>
          </a:p>
        </p:txBody>
      </p: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609600" y="3200400"/>
          <a:ext cx="7772400" cy="1937363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822325">
                <a:tc>
                  <a:txBody>
                    <a:bodyPr/>
                    <a:lstStyle>
                      <a:lvl1pPr marL="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rgbClr val="49634B"/>
                          </a:solidFill>
                          <a:latin typeface="Arial Narrow" panose="020B0606020202030204" pitchFamily="34" charset="0"/>
                        </a:defRPr>
                      </a:lvl1pPr>
                      <a:lvl2pPr marL="742950" indent="-285750" algn="l" defTabSz="914400" rtl="0" eaLnBrk="0" latinLnBrk="0" hangingPunct="0">
                        <a:spcBef>
                          <a:spcPct val="20000"/>
                        </a:spcBef>
                        <a:defRPr sz="2400" kern="1200">
                          <a:solidFill>
                            <a:srgbClr val="49634B"/>
                          </a:solidFill>
                          <a:latin typeface="Arial Narrow" panose="020B0606020202030204" pitchFamily="34" charset="0"/>
                        </a:defRPr>
                      </a:lvl2pPr>
                      <a:lvl3pPr marL="1143000" indent="-228600" algn="l" defTabSz="914400" rtl="0" eaLnBrk="0" latinLnBrk="0" hangingPunct="0">
                        <a:spcBef>
                          <a:spcPct val="20000"/>
                        </a:spcBef>
                        <a:defRPr sz="2000" kern="1200">
                          <a:solidFill>
                            <a:srgbClr val="49634B"/>
                          </a:solidFill>
                          <a:latin typeface="Arial Narrow" panose="020B0606020202030204" pitchFamily="34" charset="0"/>
                        </a:defRPr>
                      </a:lvl3pPr>
                      <a:lvl4pPr marL="1600200" indent="-228600" algn="l" defTabSz="914400" rtl="0" eaLnBrk="0" latinLnBrk="0" hangingPunct="0">
                        <a:spcBef>
                          <a:spcPct val="20000"/>
                        </a:spcBef>
                        <a:defRPr sz="1800" kern="1200">
                          <a:solidFill>
                            <a:srgbClr val="49634B"/>
                          </a:solidFill>
                          <a:latin typeface="Arial Narrow" panose="020B0606020202030204" pitchFamily="34" charset="0"/>
                        </a:defRPr>
                      </a:lvl4pPr>
                      <a:lvl5pPr marL="2057400" indent="-228600" algn="l" defTabSz="914400" rtl="0" eaLnBrk="0" latinLnBrk="0" hangingPunct="0">
                        <a:spcBef>
                          <a:spcPct val="20000"/>
                        </a:spcBef>
                        <a:defRPr sz="1800" kern="1200">
                          <a:solidFill>
                            <a:srgbClr val="49634B"/>
                          </a:solidFill>
                          <a:latin typeface="Arial Narrow" panose="020B0606020202030204" pitchFamily="34" charset="0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rgbClr val="49634B"/>
                          </a:solidFill>
                          <a:latin typeface="Arial Narrow" panose="020B0606020202030204" pitchFamily="34" charset="0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rgbClr val="49634B"/>
                          </a:solidFill>
                          <a:latin typeface="Arial Narrow" panose="020B0606020202030204" pitchFamily="34" charset="0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rgbClr val="49634B"/>
                          </a:solidFill>
                          <a:latin typeface="Arial Narrow" panose="020B0606020202030204" pitchFamily="34" charset="0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rgbClr val="49634B"/>
                          </a:solidFill>
                          <a:latin typeface="Arial Narrow" panose="020B0606020202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 Narrow" panose="020B0606020202030204" pitchFamily="34" charset="0"/>
                          <a:ea typeface="宋体" panose="02010600030101010101" pitchFamily="2" charset="-122"/>
                        </a:rPr>
                        <a:t>k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CC9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rgbClr val="49634B"/>
                          </a:solidFill>
                          <a:latin typeface="Arial Narrow" panose="020B0606020202030204" pitchFamily="34" charset="0"/>
                        </a:defRPr>
                      </a:lvl1pPr>
                      <a:lvl2pPr marL="742950" indent="-285750" algn="l" defTabSz="914400" rtl="0" eaLnBrk="0" latinLnBrk="0" hangingPunct="0">
                        <a:spcBef>
                          <a:spcPct val="20000"/>
                        </a:spcBef>
                        <a:defRPr sz="2400" kern="1200">
                          <a:solidFill>
                            <a:srgbClr val="49634B"/>
                          </a:solidFill>
                          <a:latin typeface="Arial Narrow" panose="020B0606020202030204" pitchFamily="34" charset="0"/>
                        </a:defRPr>
                      </a:lvl2pPr>
                      <a:lvl3pPr marL="1143000" indent="-228600" algn="l" defTabSz="914400" rtl="0" eaLnBrk="0" latinLnBrk="0" hangingPunct="0">
                        <a:spcBef>
                          <a:spcPct val="20000"/>
                        </a:spcBef>
                        <a:defRPr sz="2000" kern="1200">
                          <a:solidFill>
                            <a:srgbClr val="49634B"/>
                          </a:solidFill>
                          <a:latin typeface="Arial Narrow" panose="020B0606020202030204" pitchFamily="34" charset="0"/>
                        </a:defRPr>
                      </a:lvl3pPr>
                      <a:lvl4pPr marL="1600200" indent="-228600" algn="l" defTabSz="914400" rtl="0" eaLnBrk="0" latinLnBrk="0" hangingPunct="0">
                        <a:spcBef>
                          <a:spcPct val="20000"/>
                        </a:spcBef>
                        <a:defRPr sz="1800" kern="1200">
                          <a:solidFill>
                            <a:srgbClr val="49634B"/>
                          </a:solidFill>
                          <a:latin typeface="Arial Narrow" panose="020B0606020202030204" pitchFamily="34" charset="0"/>
                        </a:defRPr>
                      </a:lvl4pPr>
                      <a:lvl5pPr marL="2057400" indent="-228600" algn="l" defTabSz="914400" rtl="0" eaLnBrk="0" latinLnBrk="0" hangingPunct="0">
                        <a:spcBef>
                          <a:spcPct val="20000"/>
                        </a:spcBef>
                        <a:defRPr sz="1800" kern="1200">
                          <a:solidFill>
                            <a:srgbClr val="49634B"/>
                          </a:solidFill>
                          <a:latin typeface="Arial Narrow" panose="020B0606020202030204" pitchFamily="34" charset="0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rgbClr val="49634B"/>
                          </a:solidFill>
                          <a:latin typeface="Arial Narrow" panose="020B0606020202030204" pitchFamily="34" charset="0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rgbClr val="49634B"/>
                          </a:solidFill>
                          <a:latin typeface="Arial Narrow" panose="020B0606020202030204" pitchFamily="34" charset="0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rgbClr val="49634B"/>
                          </a:solidFill>
                          <a:latin typeface="Arial Narrow" panose="020B0606020202030204" pitchFamily="34" charset="0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rgbClr val="49634B"/>
                          </a:solidFill>
                          <a:latin typeface="Arial Narrow" panose="020B0606020202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 Narrow" panose="020B0606020202030204" pitchFamily="34" charset="0"/>
                          <a:ea typeface="宋体" panose="02010600030101010101" pitchFamily="2" charset="-122"/>
                        </a:rPr>
                        <a:t>x</a:t>
                      </a:r>
                      <a:r>
                        <a:rPr kumimoji="0" lang="en-US" altLang="zh-CN" sz="24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 Narrow" panose="020B0606020202030204" pitchFamily="34" charset="0"/>
                          <a:ea typeface="宋体" panose="02010600030101010101" pitchFamily="2" charset="-122"/>
                        </a:rPr>
                        <a:t>(k)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CC9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rgbClr val="49634B"/>
                          </a:solidFill>
                          <a:latin typeface="Arial Narrow" panose="020B0606020202030204" pitchFamily="34" charset="0"/>
                        </a:defRPr>
                      </a:lvl1pPr>
                      <a:lvl2pPr marL="742950" indent="-285750" algn="l" defTabSz="914400" rtl="0" eaLnBrk="0" latinLnBrk="0" hangingPunct="0">
                        <a:spcBef>
                          <a:spcPct val="20000"/>
                        </a:spcBef>
                        <a:defRPr sz="2400" kern="1200">
                          <a:solidFill>
                            <a:srgbClr val="49634B"/>
                          </a:solidFill>
                          <a:latin typeface="Arial Narrow" panose="020B0606020202030204" pitchFamily="34" charset="0"/>
                        </a:defRPr>
                      </a:lvl2pPr>
                      <a:lvl3pPr marL="1143000" indent="-228600" algn="l" defTabSz="914400" rtl="0" eaLnBrk="0" latinLnBrk="0" hangingPunct="0">
                        <a:spcBef>
                          <a:spcPct val="20000"/>
                        </a:spcBef>
                        <a:defRPr sz="2000" kern="1200">
                          <a:solidFill>
                            <a:srgbClr val="49634B"/>
                          </a:solidFill>
                          <a:latin typeface="Arial Narrow" panose="020B0606020202030204" pitchFamily="34" charset="0"/>
                        </a:defRPr>
                      </a:lvl3pPr>
                      <a:lvl4pPr marL="1600200" indent="-228600" algn="l" defTabSz="914400" rtl="0" eaLnBrk="0" latinLnBrk="0" hangingPunct="0">
                        <a:spcBef>
                          <a:spcPct val="20000"/>
                        </a:spcBef>
                        <a:defRPr sz="1800" kern="1200">
                          <a:solidFill>
                            <a:srgbClr val="49634B"/>
                          </a:solidFill>
                          <a:latin typeface="Arial Narrow" panose="020B0606020202030204" pitchFamily="34" charset="0"/>
                        </a:defRPr>
                      </a:lvl4pPr>
                      <a:lvl5pPr marL="2057400" indent="-228600" algn="l" defTabSz="914400" rtl="0" eaLnBrk="0" latinLnBrk="0" hangingPunct="0">
                        <a:spcBef>
                          <a:spcPct val="20000"/>
                        </a:spcBef>
                        <a:defRPr sz="1800" kern="1200">
                          <a:solidFill>
                            <a:srgbClr val="49634B"/>
                          </a:solidFill>
                          <a:latin typeface="Arial Narrow" panose="020B0606020202030204" pitchFamily="34" charset="0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rgbClr val="49634B"/>
                          </a:solidFill>
                          <a:latin typeface="Arial Narrow" panose="020B0606020202030204" pitchFamily="34" charset="0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rgbClr val="49634B"/>
                          </a:solidFill>
                          <a:latin typeface="Arial Narrow" panose="020B0606020202030204" pitchFamily="34" charset="0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rgbClr val="49634B"/>
                          </a:solidFill>
                          <a:latin typeface="Arial Narrow" panose="020B0606020202030204" pitchFamily="34" charset="0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rgbClr val="49634B"/>
                          </a:solidFill>
                          <a:latin typeface="Arial Narrow" panose="020B0606020202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 Narrow" panose="020B0606020202030204" pitchFamily="34" charset="0"/>
                          <a:ea typeface="宋体" panose="02010600030101010101" pitchFamily="2" charset="-122"/>
                        </a:rPr>
                        <a:t>d</a:t>
                      </a:r>
                      <a:r>
                        <a:rPr kumimoji="0" lang="en-US" altLang="zh-CN" sz="2400" b="1" i="0" u="none" strike="noStrike" cap="none" normalizeH="0" baseline="3000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 Narrow" panose="020B0606020202030204" pitchFamily="34" charset="0"/>
                          <a:ea typeface="宋体" panose="02010600030101010101" pitchFamily="2" charset="-122"/>
                        </a:rPr>
                        <a:t>(k)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CC9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rgbClr val="49634B"/>
                          </a:solidFill>
                          <a:latin typeface="Arial Narrow" panose="020B0606020202030204" pitchFamily="34" charset="0"/>
                        </a:defRPr>
                      </a:lvl1pPr>
                      <a:lvl2pPr marL="742950" indent="-285750" algn="l" defTabSz="914400" rtl="0" eaLnBrk="0" latinLnBrk="0" hangingPunct="0">
                        <a:spcBef>
                          <a:spcPct val="20000"/>
                        </a:spcBef>
                        <a:defRPr sz="2400" kern="1200">
                          <a:solidFill>
                            <a:srgbClr val="49634B"/>
                          </a:solidFill>
                          <a:latin typeface="Arial Narrow" panose="020B0606020202030204" pitchFamily="34" charset="0"/>
                        </a:defRPr>
                      </a:lvl2pPr>
                      <a:lvl3pPr marL="1143000" indent="-228600" algn="l" defTabSz="914400" rtl="0" eaLnBrk="0" latinLnBrk="0" hangingPunct="0">
                        <a:spcBef>
                          <a:spcPct val="20000"/>
                        </a:spcBef>
                        <a:defRPr sz="2000" kern="1200">
                          <a:solidFill>
                            <a:srgbClr val="49634B"/>
                          </a:solidFill>
                          <a:latin typeface="Arial Narrow" panose="020B0606020202030204" pitchFamily="34" charset="0"/>
                        </a:defRPr>
                      </a:lvl3pPr>
                      <a:lvl4pPr marL="1600200" indent="-228600" algn="l" defTabSz="914400" rtl="0" eaLnBrk="0" latinLnBrk="0" hangingPunct="0">
                        <a:spcBef>
                          <a:spcPct val="20000"/>
                        </a:spcBef>
                        <a:defRPr sz="1800" kern="1200">
                          <a:solidFill>
                            <a:srgbClr val="49634B"/>
                          </a:solidFill>
                          <a:latin typeface="Arial Narrow" panose="020B0606020202030204" pitchFamily="34" charset="0"/>
                        </a:defRPr>
                      </a:lvl4pPr>
                      <a:lvl5pPr marL="2057400" indent="-228600" algn="l" defTabSz="914400" rtl="0" eaLnBrk="0" latinLnBrk="0" hangingPunct="0">
                        <a:spcBef>
                          <a:spcPct val="20000"/>
                        </a:spcBef>
                        <a:defRPr sz="1800" kern="1200">
                          <a:solidFill>
                            <a:srgbClr val="49634B"/>
                          </a:solidFill>
                          <a:latin typeface="Arial Narrow" panose="020B0606020202030204" pitchFamily="34" charset="0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rgbClr val="49634B"/>
                          </a:solidFill>
                          <a:latin typeface="Arial Narrow" panose="020B0606020202030204" pitchFamily="34" charset="0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rgbClr val="49634B"/>
                          </a:solidFill>
                          <a:latin typeface="Arial Narrow" panose="020B0606020202030204" pitchFamily="34" charset="0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rgbClr val="49634B"/>
                          </a:solidFill>
                          <a:latin typeface="Arial Narrow" panose="020B0606020202030204" pitchFamily="34" charset="0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rgbClr val="49634B"/>
                          </a:solidFill>
                          <a:latin typeface="Arial Narrow" panose="020B0606020202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 Narrow" panose="020B0606020202030204" pitchFamily="34" charset="0"/>
                          <a:ea typeface="宋体" panose="02010600030101010101" pitchFamily="2" charset="-122"/>
                        </a:rPr>
                        <a:t>|d</a:t>
                      </a:r>
                      <a:r>
                        <a:rPr kumimoji="0" lang="en-US" altLang="zh-CN" sz="2400" b="1" i="0" u="none" strike="noStrike" cap="none" normalizeH="0" baseline="3000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 Narrow" panose="020B0606020202030204" pitchFamily="34" charset="0"/>
                          <a:ea typeface="宋体" panose="02010600030101010101" pitchFamily="2" charset="-122"/>
                        </a:rPr>
                        <a:t>(k)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 Narrow" panose="020B0606020202030204" pitchFamily="34" charset="0"/>
                          <a:ea typeface="宋体" panose="02010600030101010101" pitchFamily="2" charset="-122"/>
                        </a:rPr>
                        <a:t>|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CC9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rgbClr val="49634B"/>
                          </a:solidFill>
                          <a:latin typeface="Arial Narrow" panose="020B0606020202030204" pitchFamily="34" charset="0"/>
                        </a:defRPr>
                      </a:lvl1pPr>
                      <a:lvl2pPr marL="742950" indent="-285750" algn="l" defTabSz="914400" rtl="0" eaLnBrk="0" latinLnBrk="0" hangingPunct="0">
                        <a:spcBef>
                          <a:spcPct val="20000"/>
                        </a:spcBef>
                        <a:defRPr sz="2400" kern="1200">
                          <a:solidFill>
                            <a:srgbClr val="49634B"/>
                          </a:solidFill>
                          <a:latin typeface="Arial Narrow" panose="020B0606020202030204" pitchFamily="34" charset="0"/>
                        </a:defRPr>
                      </a:lvl2pPr>
                      <a:lvl3pPr marL="1143000" indent="-228600" algn="l" defTabSz="914400" rtl="0" eaLnBrk="0" latinLnBrk="0" hangingPunct="0">
                        <a:spcBef>
                          <a:spcPct val="20000"/>
                        </a:spcBef>
                        <a:defRPr sz="2000" kern="1200">
                          <a:solidFill>
                            <a:srgbClr val="49634B"/>
                          </a:solidFill>
                          <a:latin typeface="Arial Narrow" panose="020B0606020202030204" pitchFamily="34" charset="0"/>
                        </a:defRPr>
                      </a:lvl3pPr>
                      <a:lvl4pPr marL="1600200" indent="-228600" algn="l" defTabSz="914400" rtl="0" eaLnBrk="0" latinLnBrk="0" hangingPunct="0">
                        <a:spcBef>
                          <a:spcPct val="20000"/>
                        </a:spcBef>
                        <a:defRPr sz="1800" kern="1200">
                          <a:solidFill>
                            <a:srgbClr val="49634B"/>
                          </a:solidFill>
                          <a:latin typeface="Arial Narrow" panose="020B0606020202030204" pitchFamily="34" charset="0"/>
                        </a:defRPr>
                      </a:lvl4pPr>
                      <a:lvl5pPr marL="2057400" indent="-228600" algn="l" defTabSz="914400" rtl="0" eaLnBrk="0" latinLnBrk="0" hangingPunct="0">
                        <a:spcBef>
                          <a:spcPct val="20000"/>
                        </a:spcBef>
                        <a:defRPr sz="1800" kern="1200">
                          <a:solidFill>
                            <a:srgbClr val="49634B"/>
                          </a:solidFill>
                          <a:latin typeface="Arial Narrow" panose="020B0606020202030204" pitchFamily="34" charset="0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rgbClr val="49634B"/>
                          </a:solidFill>
                          <a:latin typeface="Arial Narrow" panose="020B0606020202030204" pitchFamily="34" charset="0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rgbClr val="49634B"/>
                          </a:solidFill>
                          <a:latin typeface="Arial Narrow" panose="020B0606020202030204" pitchFamily="34" charset="0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rgbClr val="49634B"/>
                          </a:solidFill>
                          <a:latin typeface="Arial Narrow" panose="020B0606020202030204" pitchFamily="34" charset="0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rgbClr val="49634B"/>
                          </a:solidFill>
                          <a:latin typeface="Arial Narrow" panose="020B0606020202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l-GR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 Narrow" panose="020B0606020202030204" pitchFamily="34" charset="0"/>
                        </a:rPr>
                        <a:t>α</a:t>
                      </a:r>
                      <a:r>
                        <a:rPr kumimoji="0" lang="en-US" altLang="zh-CN" sz="2400" b="1" i="0" u="none" strike="noStrike" cap="none" normalizeH="0" baseline="3000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 Narrow" panose="020B0606020202030204" pitchFamily="34" charset="0"/>
                          <a:ea typeface="宋体" panose="02010600030101010101" pitchFamily="2" charset="-122"/>
                        </a:rPr>
                        <a:t>(k)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rial Narrow" panose="020B0606020202030204" pitchFamily="34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CC9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rgbClr val="49634B"/>
                          </a:solidFill>
                          <a:latin typeface="Arial Narrow" panose="020B0606020202030204" pitchFamily="34" charset="0"/>
                        </a:defRPr>
                      </a:lvl1pPr>
                      <a:lvl2pPr marL="742950" indent="-285750" algn="l" defTabSz="914400" rtl="0" eaLnBrk="0" latinLnBrk="0" hangingPunct="0">
                        <a:spcBef>
                          <a:spcPct val="20000"/>
                        </a:spcBef>
                        <a:defRPr sz="2400" kern="1200">
                          <a:solidFill>
                            <a:srgbClr val="49634B"/>
                          </a:solidFill>
                          <a:latin typeface="Arial Narrow" panose="020B0606020202030204" pitchFamily="34" charset="0"/>
                        </a:defRPr>
                      </a:lvl2pPr>
                      <a:lvl3pPr marL="1143000" indent="-228600" algn="l" defTabSz="914400" rtl="0" eaLnBrk="0" latinLnBrk="0" hangingPunct="0">
                        <a:spcBef>
                          <a:spcPct val="20000"/>
                        </a:spcBef>
                        <a:defRPr sz="2000" kern="1200">
                          <a:solidFill>
                            <a:srgbClr val="49634B"/>
                          </a:solidFill>
                          <a:latin typeface="Arial Narrow" panose="020B0606020202030204" pitchFamily="34" charset="0"/>
                        </a:defRPr>
                      </a:lvl3pPr>
                      <a:lvl4pPr marL="1600200" indent="-228600" algn="l" defTabSz="914400" rtl="0" eaLnBrk="0" latinLnBrk="0" hangingPunct="0">
                        <a:spcBef>
                          <a:spcPct val="20000"/>
                        </a:spcBef>
                        <a:defRPr sz="1800" kern="1200">
                          <a:solidFill>
                            <a:srgbClr val="49634B"/>
                          </a:solidFill>
                          <a:latin typeface="Arial Narrow" panose="020B0606020202030204" pitchFamily="34" charset="0"/>
                        </a:defRPr>
                      </a:lvl4pPr>
                      <a:lvl5pPr marL="2057400" indent="-228600" algn="l" defTabSz="914400" rtl="0" eaLnBrk="0" latinLnBrk="0" hangingPunct="0">
                        <a:spcBef>
                          <a:spcPct val="20000"/>
                        </a:spcBef>
                        <a:defRPr sz="1800" kern="1200">
                          <a:solidFill>
                            <a:srgbClr val="49634B"/>
                          </a:solidFill>
                          <a:latin typeface="Arial Narrow" panose="020B0606020202030204" pitchFamily="34" charset="0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rgbClr val="49634B"/>
                          </a:solidFill>
                          <a:latin typeface="Arial Narrow" panose="020B0606020202030204" pitchFamily="34" charset="0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rgbClr val="49634B"/>
                          </a:solidFill>
                          <a:latin typeface="Arial Narrow" panose="020B0606020202030204" pitchFamily="34" charset="0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rgbClr val="49634B"/>
                          </a:solidFill>
                          <a:latin typeface="Arial Narrow" panose="020B0606020202030204" pitchFamily="34" charset="0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rgbClr val="49634B"/>
                          </a:solidFill>
                          <a:latin typeface="Arial Narrow" panose="020B0606020202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 Narrow" panose="020B0606020202030204" pitchFamily="34" charset="0"/>
                          <a:ea typeface="宋体" panose="02010600030101010101" pitchFamily="2" charset="-122"/>
                        </a:rPr>
                        <a:t>z(x</a:t>
                      </a:r>
                      <a:r>
                        <a:rPr kumimoji="0" lang="en-US" altLang="zh-CN" sz="2400" b="1" i="0" u="none" strike="noStrike" cap="none" normalizeH="0" baseline="3000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 Narrow" panose="020B0606020202030204" pitchFamily="34" charset="0"/>
                          <a:ea typeface="宋体" panose="02010600030101010101" pitchFamily="2" charset="-122"/>
                        </a:rPr>
                        <a:t>(k)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 Narrow" panose="020B0606020202030204" pitchFamily="34" charset="0"/>
                          <a:ea typeface="宋体" panose="02010600030101010101" pitchFamily="2" charset="-122"/>
                        </a:rPr>
                        <a:t>)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>
                      <a:lvl1pPr marL="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rgbClr val="49634B"/>
                          </a:solidFill>
                          <a:latin typeface="Arial Narrow" panose="020B0606020202030204" pitchFamily="34" charset="0"/>
                        </a:defRPr>
                      </a:lvl1pPr>
                      <a:lvl2pPr marL="742950" indent="-285750" algn="l" defTabSz="914400" rtl="0" eaLnBrk="0" latinLnBrk="0" hangingPunct="0">
                        <a:spcBef>
                          <a:spcPct val="20000"/>
                        </a:spcBef>
                        <a:defRPr sz="2400" kern="1200">
                          <a:solidFill>
                            <a:srgbClr val="49634B"/>
                          </a:solidFill>
                          <a:latin typeface="Arial Narrow" panose="020B0606020202030204" pitchFamily="34" charset="0"/>
                        </a:defRPr>
                      </a:lvl2pPr>
                      <a:lvl3pPr marL="1143000" indent="-228600" algn="l" defTabSz="914400" rtl="0" eaLnBrk="0" latinLnBrk="0" hangingPunct="0">
                        <a:spcBef>
                          <a:spcPct val="20000"/>
                        </a:spcBef>
                        <a:defRPr sz="2000" kern="1200">
                          <a:solidFill>
                            <a:srgbClr val="49634B"/>
                          </a:solidFill>
                          <a:latin typeface="Arial Narrow" panose="020B0606020202030204" pitchFamily="34" charset="0"/>
                        </a:defRPr>
                      </a:lvl3pPr>
                      <a:lvl4pPr marL="1600200" indent="-228600" algn="l" defTabSz="914400" rtl="0" eaLnBrk="0" latinLnBrk="0" hangingPunct="0">
                        <a:spcBef>
                          <a:spcPct val="20000"/>
                        </a:spcBef>
                        <a:defRPr sz="1800" kern="1200">
                          <a:solidFill>
                            <a:srgbClr val="49634B"/>
                          </a:solidFill>
                          <a:latin typeface="Arial Narrow" panose="020B0606020202030204" pitchFamily="34" charset="0"/>
                        </a:defRPr>
                      </a:lvl4pPr>
                      <a:lvl5pPr marL="2057400" indent="-228600" algn="l" defTabSz="914400" rtl="0" eaLnBrk="0" latinLnBrk="0" hangingPunct="0">
                        <a:spcBef>
                          <a:spcPct val="20000"/>
                        </a:spcBef>
                        <a:defRPr sz="1800" kern="1200">
                          <a:solidFill>
                            <a:srgbClr val="49634B"/>
                          </a:solidFill>
                          <a:latin typeface="Arial Narrow" panose="020B0606020202030204" pitchFamily="34" charset="0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rgbClr val="49634B"/>
                          </a:solidFill>
                          <a:latin typeface="Arial Narrow" panose="020B0606020202030204" pitchFamily="34" charset="0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rgbClr val="49634B"/>
                          </a:solidFill>
                          <a:latin typeface="Arial Narrow" panose="020B0606020202030204" pitchFamily="34" charset="0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rgbClr val="49634B"/>
                          </a:solidFill>
                          <a:latin typeface="Arial Narrow" panose="020B0606020202030204" pitchFamily="34" charset="0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rgbClr val="49634B"/>
                          </a:solidFill>
                          <a:latin typeface="Arial Narrow" panose="020B0606020202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ECDE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rgbClr val="49634B"/>
                          </a:solidFill>
                          <a:latin typeface="Arial Narrow" panose="020B0606020202030204" pitchFamily="34" charset="0"/>
                        </a:defRPr>
                      </a:lvl1pPr>
                      <a:lvl2pPr marL="742950" indent="-285750" algn="l" defTabSz="914400" rtl="0" eaLnBrk="0" latinLnBrk="0" hangingPunct="0">
                        <a:spcBef>
                          <a:spcPct val="20000"/>
                        </a:spcBef>
                        <a:defRPr sz="2400" kern="1200">
                          <a:solidFill>
                            <a:srgbClr val="49634B"/>
                          </a:solidFill>
                          <a:latin typeface="Arial Narrow" panose="020B0606020202030204" pitchFamily="34" charset="0"/>
                        </a:defRPr>
                      </a:lvl2pPr>
                      <a:lvl3pPr marL="1143000" indent="-228600" algn="l" defTabSz="914400" rtl="0" eaLnBrk="0" latinLnBrk="0" hangingPunct="0">
                        <a:spcBef>
                          <a:spcPct val="20000"/>
                        </a:spcBef>
                        <a:defRPr sz="2000" kern="1200">
                          <a:solidFill>
                            <a:srgbClr val="49634B"/>
                          </a:solidFill>
                          <a:latin typeface="Arial Narrow" panose="020B0606020202030204" pitchFamily="34" charset="0"/>
                        </a:defRPr>
                      </a:lvl3pPr>
                      <a:lvl4pPr marL="1600200" indent="-228600" algn="l" defTabSz="914400" rtl="0" eaLnBrk="0" latinLnBrk="0" hangingPunct="0">
                        <a:spcBef>
                          <a:spcPct val="20000"/>
                        </a:spcBef>
                        <a:defRPr sz="1800" kern="1200">
                          <a:solidFill>
                            <a:srgbClr val="49634B"/>
                          </a:solidFill>
                          <a:latin typeface="Arial Narrow" panose="020B0606020202030204" pitchFamily="34" charset="0"/>
                        </a:defRPr>
                      </a:lvl4pPr>
                      <a:lvl5pPr marL="2057400" indent="-228600" algn="l" defTabSz="914400" rtl="0" eaLnBrk="0" latinLnBrk="0" hangingPunct="0">
                        <a:spcBef>
                          <a:spcPct val="20000"/>
                        </a:spcBef>
                        <a:defRPr sz="1800" kern="1200">
                          <a:solidFill>
                            <a:srgbClr val="49634B"/>
                          </a:solidFill>
                          <a:latin typeface="Arial Narrow" panose="020B0606020202030204" pitchFamily="34" charset="0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rgbClr val="49634B"/>
                          </a:solidFill>
                          <a:latin typeface="Arial Narrow" panose="020B0606020202030204" pitchFamily="34" charset="0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rgbClr val="49634B"/>
                          </a:solidFill>
                          <a:latin typeface="Arial Narrow" panose="020B0606020202030204" pitchFamily="34" charset="0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rgbClr val="49634B"/>
                          </a:solidFill>
                          <a:latin typeface="Arial Narrow" panose="020B0606020202030204" pitchFamily="34" charset="0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rgbClr val="49634B"/>
                          </a:solidFill>
                          <a:latin typeface="Arial Narrow" panose="020B0606020202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宋体" panose="02010600030101010101" pitchFamily="2" charset="-122"/>
                        </a:rPr>
                        <a:t>(-4,-3)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ECDE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rgbClr val="49634B"/>
                          </a:solidFill>
                          <a:latin typeface="Arial Narrow" panose="020B0606020202030204" pitchFamily="34" charset="0"/>
                        </a:defRPr>
                      </a:lvl1pPr>
                      <a:lvl2pPr marL="742950" indent="-285750" algn="l" defTabSz="914400" rtl="0" eaLnBrk="0" latinLnBrk="0" hangingPunct="0">
                        <a:spcBef>
                          <a:spcPct val="20000"/>
                        </a:spcBef>
                        <a:defRPr sz="2400" kern="1200">
                          <a:solidFill>
                            <a:srgbClr val="49634B"/>
                          </a:solidFill>
                          <a:latin typeface="Arial Narrow" panose="020B0606020202030204" pitchFamily="34" charset="0"/>
                        </a:defRPr>
                      </a:lvl2pPr>
                      <a:lvl3pPr marL="1143000" indent="-228600" algn="l" defTabSz="914400" rtl="0" eaLnBrk="0" latinLnBrk="0" hangingPunct="0">
                        <a:spcBef>
                          <a:spcPct val="20000"/>
                        </a:spcBef>
                        <a:defRPr sz="2000" kern="1200">
                          <a:solidFill>
                            <a:srgbClr val="49634B"/>
                          </a:solidFill>
                          <a:latin typeface="Arial Narrow" panose="020B0606020202030204" pitchFamily="34" charset="0"/>
                        </a:defRPr>
                      </a:lvl3pPr>
                      <a:lvl4pPr marL="1600200" indent="-228600" algn="l" defTabSz="914400" rtl="0" eaLnBrk="0" latinLnBrk="0" hangingPunct="0">
                        <a:spcBef>
                          <a:spcPct val="20000"/>
                        </a:spcBef>
                        <a:defRPr sz="1800" kern="1200">
                          <a:solidFill>
                            <a:srgbClr val="49634B"/>
                          </a:solidFill>
                          <a:latin typeface="Arial Narrow" panose="020B0606020202030204" pitchFamily="34" charset="0"/>
                        </a:defRPr>
                      </a:lvl4pPr>
                      <a:lvl5pPr marL="2057400" indent="-228600" algn="l" defTabSz="914400" rtl="0" eaLnBrk="0" latinLnBrk="0" hangingPunct="0">
                        <a:spcBef>
                          <a:spcPct val="20000"/>
                        </a:spcBef>
                        <a:defRPr sz="1800" kern="1200">
                          <a:solidFill>
                            <a:srgbClr val="49634B"/>
                          </a:solidFill>
                          <a:latin typeface="Arial Narrow" panose="020B0606020202030204" pitchFamily="34" charset="0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rgbClr val="49634B"/>
                          </a:solidFill>
                          <a:latin typeface="Arial Narrow" panose="020B0606020202030204" pitchFamily="34" charset="0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rgbClr val="49634B"/>
                          </a:solidFill>
                          <a:latin typeface="Arial Narrow" panose="020B0606020202030204" pitchFamily="34" charset="0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rgbClr val="49634B"/>
                          </a:solidFill>
                          <a:latin typeface="Arial Narrow" panose="020B0606020202030204" pitchFamily="34" charset="0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rgbClr val="49634B"/>
                          </a:solidFill>
                          <a:latin typeface="Arial Narrow" panose="020B0606020202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宋体" panose="02010600030101010101" pitchFamily="2" charset="-122"/>
                        </a:rPr>
                        <a:t>(12,100)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ECDE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rgbClr val="49634B"/>
                          </a:solidFill>
                          <a:latin typeface="Arial Narrow" panose="020B0606020202030204" pitchFamily="34" charset="0"/>
                        </a:defRPr>
                      </a:lvl1pPr>
                      <a:lvl2pPr marL="742950" indent="-285750" algn="l" defTabSz="914400" rtl="0" eaLnBrk="0" latinLnBrk="0" hangingPunct="0">
                        <a:spcBef>
                          <a:spcPct val="20000"/>
                        </a:spcBef>
                        <a:defRPr sz="2400" kern="1200">
                          <a:solidFill>
                            <a:srgbClr val="49634B"/>
                          </a:solidFill>
                          <a:latin typeface="Arial Narrow" panose="020B0606020202030204" pitchFamily="34" charset="0"/>
                        </a:defRPr>
                      </a:lvl2pPr>
                      <a:lvl3pPr marL="1143000" indent="-228600" algn="l" defTabSz="914400" rtl="0" eaLnBrk="0" latinLnBrk="0" hangingPunct="0">
                        <a:spcBef>
                          <a:spcPct val="20000"/>
                        </a:spcBef>
                        <a:defRPr sz="2000" kern="1200">
                          <a:solidFill>
                            <a:srgbClr val="49634B"/>
                          </a:solidFill>
                          <a:latin typeface="Arial Narrow" panose="020B0606020202030204" pitchFamily="34" charset="0"/>
                        </a:defRPr>
                      </a:lvl3pPr>
                      <a:lvl4pPr marL="1600200" indent="-228600" algn="l" defTabSz="914400" rtl="0" eaLnBrk="0" latinLnBrk="0" hangingPunct="0">
                        <a:spcBef>
                          <a:spcPct val="20000"/>
                        </a:spcBef>
                        <a:defRPr sz="1800" kern="1200">
                          <a:solidFill>
                            <a:srgbClr val="49634B"/>
                          </a:solidFill>
                          <a:latin typeface="Arial Narrow" panose="020B0606020202030204" pitchFamily="34" charset="0"/>
                        </a:defRPr>
                      </a:lvl4pPr>
                      <a:lvl5pPr marL="2057400" indent="-228600" algn="l" defTabSz="914400" rtl="0" eaLnBrk="0" latinLnBrk="0" hangingPunct="0">
                        <a:spcBef>
                          <a:spcPct val="20000"/>
                        </a:spcBef>
                        <a:defRPr sz="1800" kern="1200">
                          <a:solidFill>
                            <a:srgbClr val="49634B"/>
                          </a:solidFill>
                          <a:latin typeface="Arial Narrow" panose="020B0606020202030204" pitchFamily="34" charset="0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rgbClr val="49634B"/>
                          </a:solidFill>
                          <a:latin typeface="Arial Narrow" panose="020B0606020202030204" pitchFamily="34" charset="0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rgbClr val="49634B"/>
                          </a:solidFill>
                          <a:latin typeface="Arial Narrow" panose="020B0606020202030204" pitchFamily="34" charset="0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rgbClr val="49634B"/>
                          </a:solidFill>
                          <a:latin typeface="Arial Narrow" panose="020B0606020202030204" pitchFamily="34" charset="0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rgbClr val="49634B"/>
                          </a:solidFill>
                          <a:latin typeface="Arial Narrow" panose="020B0606020202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宋体" panose="02010600030101010101" pitchFamily="2" charset="-122"/>
                        </a:rPr>
                        <a:t>100.7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ECDE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rgbClr val="49634B"/>
                          </a:solidFill>
                          <a:latin typeface="Arial Narrow" panose="020B0606020202030204" pitchFamily="34" charset="0"/>
                        </a:defRPr>
                      </a:lvl1pPr>
                      <a:lvl2pPr marL="742950" indent="-285750" algn="l" defTabSz="914400" rtl="0" eaLnBrk="0" latinLnBrk="0" hangingPunct="0">
                        <a:spcBef>
                          <a:spcPct val="20000"/>
                        </a:spcBef>
                        <a:defRPr sz="2400" kern="1200">
                          <a:solidFill>
                            <a:srgbClr val="49634B"/>
                          </a:solidFill>
                          <a:latin typeface="Arial Narrow" panose="020B0606020202030204" pitchFamily="34" charset="0"/>
                        </a:defRPr>
                      </a:lvl2pPr>
                      <a:lvl3pPr marL="1143000" indent="-228600" algn="l" defTabSz="914400" rtl="0" eaLnBrk="0" latinLnBrk="0" hangingPunct="0">
                        <a:spcBef>
                          <a:spcPct val="20000"/>
                        </a:spcBef>
                        <a:defRPr sz="2000" kern="1200">
                          <a:solidFill>
                            <a:srgbClr val="49634B"/>
                          </a:solidFill>
                          <a:latin typeface="Arial Narrow" panose="020B0606020202030204" pitchFamily="34" charset="0"/>
                        </a:defRPr>
                      </a:lvl3pPr>
                      <a:lvl4pPr marL="1600200" indent="-228600" algn="l" defTabSz="914400" rtl="0" eaLnBrk="0" latinLnBrk="0" hangingPunct="0">
                        <a:spcBef>
                          <a:spcPct val="20000"/>
                        </a:spcBef>
                        <a:defRPr sz="1800" kern="1200">
                          <a:solidFill>
                            <a:srgbClr val="49634B"/>
                          </a:solidFill>
                          <a:latin typeface="Arial Narrow" panose="020B0606020202030204" pitchFamily="34" charset="0"/>
                        </a:defRPr>
                      </a:lvl4pPr>
                      <a:lvl5pPr marL="2057400" indent="-228600" algn="l" defTabSz="914400" rtl="0" eaLnBrk="0" latinLnBrk="0" hangingPunct="0">
                        <a:spcBef>
                          <a:spcPct val="20000"/>
                        </a:spcBef>
                        <a:defRPr sz="1800" kern="1200">
                          <a:solidFill>
                            <a:srgbClr val="49634B"/>
                          </a:solidFill>
                          <a:latin typeface="Arial Narrow" panose="020B0606020202030204" pitchFamily="34" charset="0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rgbClr val="49634B"/>
                          </a:solidFill>
                          <a:latin typeface="Arial Narrow" panose="020B0606020202030204" pitchFamily="34" charset="0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rgbClr val="49634B"/>
                          </a:solidFill>
                          <a:latin typeface="Arial Narrow" panose="020B0606020202030204" pitchFamily="34" charset="0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rgbClr val="49634B"/>
                          </a:solidFill>
                          <a:latin typeface="Arial Narrow" panose="020B0606020202030204" pitchFamily="34" charset="0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rgbClr val="49634B"/>
                          </a:solidFill>
                          <a:latin typeface="Arial Narrow" panose="020B0606020202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宋体" panose="02010600030101010101" pitchFamily="2" charset="-122"/>
                        </a:rPr>
                        <a:t>0.051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ECDE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rgbClr val="49634B"/>
                          </a:solidFill>
                          <a:latin typeface="Arial Narrow" panose="020B0606020202030204" pitchFamily="34" charset="0"/>
                        </a:defRPr>
                      </a:lvl1pPr>
                      <a:lvl2pPr marL="742950" indent="-285750" algn="l" defTabSz="914400" rtl="0" eaLnBrk="0" latinLnBrk="0" hangingPunct="0">
                        <a:spcBef>
                          <a:spcPct val="20000"/>
                        </a:spcBef>
                        <a:defRPr sz="2400" kern="1200">
                          <a:solidFill>
                            <a:srgbClr val="49634B"/>
                          </a:solidFill>
                          <a:latin typeface="Arial Narrow" panose="020B0606020202030204" pitchFamily="34" charset="0"/>
                        </a:defRPr>
                      </a:lvl2pPr>
                      <a:lvl3pPr marL="1143000" indent="-228600" algn="l" defTabSz="914400" rtl="0" eaLnBrk="0" latinLnBrk="0" hangingPunct="0">
                        <a:spcBef>
                          <a:spcPct val="20000"/>
                        </a:spcBef>
                        <a:defRPr sz="2000" kern="1200">
                          <a:solidFill>
                            <a:srgbClr val="49634B"/>
                          </a:solidFill>
                          <a:latin typeface="Arial Narrow" panose="020B0606020202030204" pitchFamily="34" charset="0"/>
                        </a:defRPr>
                      </a:lvl3pPr>
                      <a:lvl4pPr marL="1600200" indent="-228600" algn="l" defTabSz="914400" rtl="0" eaLnBrk="0" latinLnBrk="0" hangingPunct="0">
                        <a:spcBef>
                          <a:spcPct val="20000"/>
                        </a:spcBef>
                        <a:defRPr sz="1800" kern="1200">
                          <a:solidFill>
                            <a:srgbClr val="49634B"/>
                          </a:solidFill>
                          <a:latin typeface="Arial Narrow" panose="020B0606020202030204" pitchFamily="34" charset="0"/>
                        </a:defRPr>
                      </a:lvl4pPr>
                      <a:lvl5pPr marL="2057400" indent="-228600" algn="l" defTabSz="914400" rtl="0" eaLnBrk="0" latinLnBrk="0" hangingPunct="0">
                        <a:spcBef>
                          <a:spcPct val="20000"/>
                        </a:spcBef>
                        <a:defRPr sz="1800" kern="1200">
                          <a:solidFill>
                            <a:srgbClr val="49634B"/>
                          </a:solidFill>
                          <a:latin typeface="Arial Narrow" panose="020B0606020202030204" pitchFamily="34" charset="0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rgbClr val="49634B"/>
                          </a:solidFill>
                          <a:latin typeface="Arial Narrow" panose="020B0606020202030204" pitchFamily="34" charset="0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rgbClr val="49634B"/>
                          </a:solidFill>
                          <a:latin typeface="Arial Narrow" panose="020B0606020202030204" pitchFamily="34" charset="0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rgbClr val="49634B"/>
                          </a:solidFill>
                          <a:latin typeface="Arial Narrow" panose="020B0606020202030204" pitchFamily="34" charset="0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rgbClr val="49634B"/>
                          </a:solidFill>
                          <a:latin typeface="Arial Narrow" panose="020B0606020202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宋体" panose="02010600030101010101" pitchFamily="2" charset="-122"/>
                        </a:rPr>
                        <a:t>286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EC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>
                      <a:lvl1pPr marL="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rgbClr val="49634B"/>
                          </a:solidFill>
                          <a:latin typeface="Arial Narrow" panose="020B0606020202030204" pitchFamily="34" charset="0"/>
                        </a:defRPr>
                      </a:lvl1pPr>
                      <a:lvl2pPr marL="742950" indent="-285750" algn="l" defTabSz="914400" rtl="0" eaLnBrk="0" latinLnBrk="0" hangingPunct="0">
                        <a:spcBef>
                          <a:spcPct val="20000"/>
                        </a:spcBef>
                        <a:defRPr sz="2400" kern="1200">
                          <a:solidFill>
                            <a:srgbClr val="49634B"/>
                          </a:solidFill>
                          <a:latin typeface="Arial Narrow" panose="020B0606020202030204" pitchFamily="34" charset="0"/>
                        </a:defRPr>
                      </a:lvl2pPr>
                      <a:lvl3pPr marL="1143000" indent="-228600" algn="l" defTabSz="914400" rtl="0" eaLnBrk="0" latinLnBrk="0" hangingPunct="0">
                        <a:spcBef>
                          <a:spcPct val="20000"/>
                        </a:spcBef>
                        <a:defRPr sz="2000" kern="1200">
                          <a:solidFill>
                            <a:srgbClr val="49634B"/>
                          </a:solidFill>
                          <a:latin typeface="Arial Narrow" panose="020B0606020202030204" pitchFamily="34" charset="0"/>
                        </a:defRPr>
                      </a:lvl3pPr>
                      <a:lvl4pPr marL="1600200" indent="-228600" algn="l" defTabSz="914400" rtl="0" eaLnBrk="0" latinLnBrk="0" hangingPunct="0">
                        <a:spcBef>
                          <a:spcPct val="20000"/>
                        </a:spcBef>
                        <a:defRPr sz="1800" kern="1200">
                          <a:solidFill>
                            <a:srgbClr val="49634B"/>
                          </a:solidFill>
                          <a:latin typeface="Arial Narrow" panose="020B0606020202030204" pitchFamily="34" charset="0"/>
                        </a:defRPr>
                      </a:lvl4pPr>
                      <a:lvl5pPr marL="2057400" indent="-228600" algn="l" defTabSz="914400" rtl="0" eaLnBrk="0" latinLnBrk="0" hangingPunct="0">
                        <a:spcBef>
                          <a:spcPct val="20000"/>
                        </a:spcBef>
                        <a:defRPr sz="1800" kern="1200">
                          <a:solidFill>
                            <a:srgbClr val="49634B"/>
                          </a:solidFill>
                          <a:latin typeface="Arial Narrow" panose="020B0606020202030204" pitchFamily="34" charset="0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rgbClr val="49634B"/>
                          </a:solidFill>
                          <a:latin typeface="Arial Narrow" panose="020B0606020202030204" pitchFamily="34" charset="0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rgbClr val="49634B"/>
                          </a:solidFill>
                          <a:latin typeface="Arial Narrow" panose="020B0606020202030204" pitchFamily="34" charset="0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rgbClr val="49634B"/>
                          </a:solidFill>
                          <a:latin typeface="Arial Narrow" panose="020B0606020202030204" pitchFamily="34" charset="0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rgbClr val="49634B"/>
                          </a:solidFill>
                          <a:latin typeface="Arial Narrow" panose="020B0606020202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rgbClr val="49634B"/>
                          </a:solidFill>
                          <a:latin typeface="Arial Narrow" panose="020B0606020202030204" pitchFamily="34" charset="0"/>
                        </a:defRPr>
                      </a:lvl1pPr>
                      <a:lvl2pPr marL="742950" indent="-285750" algn="l" defTabSz="914400" rtl="0" eaLnBrk="0" latinLnBrk="0" hangingPunct="0">
                        <a:spcBef>
                          <a:spcPct val="20000"/>
                        </a:spcBef>
                        <a:defRPr sz="2400" kern="1200">
                          <a:solidFill>
                            <a:srgbClr val="49634B"/>
                          </a:solidFill>
                          <a:latin typeface="Arial Narrow" panose="020B0606020202030204" pitchFamily="34" charset="0"/>
                        </a:defRPr>
                      </a:lvl2pPr>
                      <a:lvl3pPr marL="1143000" indent="-228600" algn="l" defTabSz="914400" rtl="0" eaLnBrk="0" latinLnBrk="0" hangingPunct="0">
                        <a:spcBef>
                          <a:spcPct val="20000"/>
                        </a:spcBef>
                        <a:defRPr sz="2000" kern="1200">
                          <a:solidFill>
                            <a:srgbClr val="49634B"/>
                          </a:solidFill>
                          <a:latin typeface="Arial Narrow" panose="020B0606020202030204" pitchFamily="34" charset="0"/>
                        </a:defRPr>
                      </a:lvl3pPr>
                      <a:lvl4pPr marL="1600200" indent="-228600" algn="l" defTabSz="914400" rtl="0" eaLnBrk="0" latinLnBrk="0" hangingPunct="0">
                        <a:spcBef>
                          <a:spcPct val="20000"/>
                        </a:spcBef>
                        <a:defRPr sz="1800" kern="1200">
                          <a:solidFill>
                            <a:srgbClr val="49634B"/>
                          </a:solidFill>
                          <a:latin typeface="Arial Narrow" panose="020B0606020202030204" pitchFamily="34" charset="0"/>
                        </a:defRPr>
                      </a:lvl4pPr>
                      <a:lvl5pPr marL="2057400" indent="-228600" algn="l" defTabSz="914400" rtl="0" eaLnBrk="0" latinLnBrk="0" hangingPunct="0">
                        <a:spcBef>
                          <a:spcPct val="20000"/>
                        </a:spcBef>
                        <a:defRPr sz="1800" kern="1200">
                          <a:solidFill>
                            <a:srgbClr val="49634B"/>
                          </a:solidFill>
                          <a:latin typeface="Arial Narrow" panose="020B0606020202030204" pitchFamily="34" charset="0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rgbClr val="49634B"/>
                          </a:solidFill>
                          <a:latin typeface="Arial Narrow" panose="020B0606020202030204" pitchFamily="34" charset="0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rgbClr val="49634B"/>
                          </a:solidFill>
                          <a:latin typeface="Arial Narrow" panose="020B0606020202030204" pitchFamily="34" charset="0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rgbClr val="49634B"/>
                          </a:solidFill>
                          <a:latin typeface="Arial Narrow" panose="020B0606020202030204" pitchFamily="34" charset="0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rgbClr val="49634B"/>
                          </a:solidFill>
                          <a:latin typeface="Arial Narrow" panose="020B0606020202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宋体" panose="02010600030101010101" pitchFamily="2" charset="-122"/>
                        </a:rPr>
                        <a:t>(-3.392,2.065)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rgbClr val="49634B"/>
                          </a:solidFill>
                          <a:latin typeface="Arial Narrow" panose="020B0606020202030204" pitchFamily="34" charset="0"/>
                        </a:defRPr>
                      </a:lvl1pPr>
                      <a:lvl2pPr marL="742950" indent="-285750" algn="l" defTabSz="914400" rtl="0" eaLnBrk="0" latinLnBrk="0" hangingPunct="0">
                        <a:spcBef>
                          <a:spcPct val="20000"/>
                        </a:spcBef>
                        <a:defRPr sz="2400" kern="1200">
                          <a:solidFill>
                            <a:srgbClr val="49634B"/>
                          </a:solidFill>
                          <a:latin typeface="Arial Narrow" panose="020B0606020202030204" pitchFamily="34" charset="0"/>
                        </a:defRPr>
                      </a:lvl2pPr>
                      <a:lvl3pPr marL="1143000" indent="-228600" algn="l" defTabSz="914400" rtl="0" eaLnBrk="0" latinLnBrk="0" hangingPunct="0">
                        <a:spcBef>
                          <a:spcPct val="20000"/>
                        </a:spcBef>
                        <a:defRPr sz="2000" kern="1200">
                          <a:solidFill>
                            <a:srgbClr val="49634B"/>
                          </a:solidFill>
                          <a:latin typeface="Arial Narrow" panose="020B0606020202030204" pitchFamily="34" charset="0"/>
                        </a:defRPr>
                      </a:lvl3pPr>
                      <a:lvl4pPr marL="1600200" indent="-228600" algn="l" defTabSz="914400" rtl="0" eaLnBrk="0" latinLnBrk="0" hangingPunct="0">
                        <a:spcBef>
                          <a:spcPct val="20000"/>
                        </a:spcBef>
                        <a:defRPr sz="1800" kern="1200">
                          <a:solidFill>
                            <a:srgbClr val="49634B"/>
                          </a:solidFill>
                          <a:latin typeface="Arial Narrow" panose="020B0606020202030204" pitchFamily="34" charset="0"/>
                        </a:defRPr>
                      </a:lvl4pPr>
                      <a:lvl5pPr marL="2057400" indent="-228600" algn="l" defTabSz="914400" rtl="0" eaLnBrk="0" latinLnBrk="0" hangingPunct="0">
                        <a:spcBef>
                          <a:spcPct val="20000"/>
                        </a:spcBef>
                        <a:defRPr sz="1800" kern="1200">
                          <a:solidFill>
                            <a:srgbClr val="49634B"/>
                          </a:solidFill>
                          <a:latin typeface="Arial Narrow" panose="020B0606020202030204" pitchFamily="34" charset="0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rgbClr val="49634B"/>
                          </a:solidFill>
                          <a:latin typeface="Arial Narrow" panose="020B0606020202030204" pitchFamily="34" charset="0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rgbClr val="49634B"/>
                          </a:solidFill>
                          <a:latin typeface="Arial Narrow" panose="020B0606020202030204" pitchFamily="34" charset="0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rgbClr val="49634B"/>
                          </a:solidFill>
                          <a:latin typeface="Arial Narrow" panose="020B0606020202030204" pitchFamily="34" charset="0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rgbClr val="49634B"/>
                          </a:solidFill>
                          <a:latin typeface="Arial Narrow" panose="020B0606020202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宋体" panose="02010600030101010101" pitchFamily="2" charset="-122"/>
                        </a:rPr>
                        <a:t>(10.784,-1.294)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rgbClr val="49634B"/>
                          </a:solidFill>
                          <a:latin typeface="Arial Narrow" panose="020B0606020202030204" pitchFamily="34" charset="0"/>
                        </a:defRPr>
                      </a:lvl1pPr>
                      <a:lvl2pPr marL="742950" indent="-285750" algn="l" defTabSz="914400" rtl="0" eaLnBrk="0" latinLnBrk="0" hangingPunct="0">
                        <a:spcBef>
                          <a:spcPct val="20000"/>
                        </a:spcBef>
                        <a:defRPr sz="2400" kern="1200">
                          <a:solidFill>
                            <a:srgbClr val="49634B"/>
                          </a:solidFill>
                          <a:latin typeface="Arial Narrow" panose="020B0606020202030204" pitchFamily="34" charset="0"/>
                        </a:defRPr>
                      </a:lvl2pPr>
                      <a:lvl3pPr marL="1143000" indent="-228600" algn="l" defTabSz="914400" rtl="0" eaLnBrk="0" latinLnBrk="0" hangingPunct="0">
                        <a:spcBef>
                          <a:spcPct val="20000"/>
                        </a:spcBef>
                        <a:defRPr sz="2000" kern="1200">
                          <a:solidFill>
                            <a:srgbClr val="49634B"/>
                          </a:solidFill>
                          <a:latin typeface="Arial Narrow" panose="020B0606020202030204" pitchFamily="34" charset="0"/>
                        </a:defRPr>
                      </a:lvl3pPr>
                      <a:lvl4pPr marL="1600200" indent="-228600" algn="l" defTabSz="914400" rtl="0" eaLnBrk="0" latinLnBrk="0" hangingPunct="0">
                        <a:spcBef>
                          <a:spcPct val="20000"/>
                        </a:spcBef>
                        <a:defRPr sz="1800" kern="1200">
                          <a:solidFill>
                            <a:srgbClr val="49634B"/>
                          </a:solidFill>
                          <a:latin typeface="Arial Narrow" panose="020B0606020202030204" pitchFamily="34" charset="0"/>
                        </a:defRPr>
                      </a:lvl4pPr>
                      <a:lvl5pPr marL="2057400" indent="-228600" algn="l" defTabSz="914400" rtl="0" eaLnBrk="0" latinLnBrk="0" hangingPunct="0">
                        <a:spcBef>
                          <a:spcPct val="20000"/>
                        </a:spcBef>
                        <a:defRPr sz="1800" kern="1200">
                          <a:solidFill>
                            <a:srgbClr val="49634B"/>
                          </a:solidFill>
                          <a:latin typeface="Arial Narrow" panose="020B0606020202030204" pitchFamily="34" charset="0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rgbClr val="49634B"/>
                          </a:solidFill>
                          <a:latin typeface="Arial Narrow" panose="020B0606020202030204" pitchFamily="34" charset="0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rgbClr val="49634B"/>
                          </a:solidFill>
                          <a:latin typeface="Arial Narrow" panose="020B0606020202030204" pitchFamily="34" charset="0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rgbClr val="49634B"/>
                          </a:solidFill>
                          <a:latin typeface="Arial Narrow" panose="020B0606020202030204" pitchFamily="34" charset="0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rgbClr val="49634B"/>
                          </a:solidFill>
                          <a:latin typeface="Arial Narrow" panose="020B0606020202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宋体" panose="02010600030101010101" pitchFamily="2" charset="-122"/>
                        </a:rPr>
                        <a:t>10.9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rgbClr val="49634B"/>
                          </a:solidFill>
                          <a:latin typeface="Arial Narrow" panose="020B0606020202030204" pitchFamily="34" charset="0"/>
                        </a:defRPr>
                      </a:lvl1pPr>
                      <a:lvl2pPr marL="742950" indent="-285750" algn="l" defTabSz="914400" rtl="0" eaLnBrk="0" latinLnBrk="0" hangingPunct="0">
                        <a:spcBef>
                          <a:spcPct val="20000"/>
                        </a:spcBef>
                        <a:defRPr sz="2400" kern="1200">
                          <a:solidFill>
                            <a:srgbClr val="49634B"/>
                          </a:solidFill>
                          <a:latin typeface="Arial Narrow" panose="020B0606020202030204" pitchFamily="34" charset="0"/>
                        </a:defRPr>
                      </a:lvl2pPr>
                      <a:lvl3pPr marL="1143000" indent="-228600" algn="l" defTabSz="914400" rtl="0" eaLnBrk="0" latinLnBrk="0" hangingPunct="0">
                        <a:spcBef>
                          <a:spcPct val="20000"/>
                        </a:spcBef>
                        <a:defRPr sz="2000" kern="1200">
                          <a:solidFill>
                            <a:srgbClr val="49634B"/>
                          </a:solidFill>
                          <a:latin typeface="Arial Narrow" panose="020B0606020202030204" pitchFamily="34" charset="0"/>
                        </a:defRPr>
                      </a:lvl3pPr>
                      <a:lvl4pPr marL="1600200" indent="-228600" algn="l" defTabSz="914400" rtl="0" eaLnBrk="0" latinLnBrk="0" hangingPunct="0">
                        <a:spcBef>
                          <a:spcPct val="20000"/>
                        </a:spcBef>
                        <a:defRPr sz="1800" kern="1200">
                          <a:solidFill>
                            <a:srgbClr val="49634B"/>
                          </a:solidFill>
                          <a:latin typeface="Arial Narrow" panose="020B0606020202030204" pitchFamily="34" charset="0"/>
                        </a:defRPr>
                      </a:lvl4pPr>
                      <a:lvl5pPr marL="2057400" indent="-228600" algn="l" defTabSz="914400" rtl="0" eaLnBrk="0" latinLnBrk="0" hangingPunct="0">
                        <a:spcBef>
                          <a:spcPct val="20000"/>
                        </a:spcBef>
                        <a:defRPr sz="1800" kern="1200">
                          <a:solidFill>
                            <a:srgbClr val="49634B"/>
                          </a:solidFill>
                          <a:latin typeface="Arial Narrow" panose="020B0606020202030204" pitchFamily="34" charset="0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rgbClr val="49634B"/>
                          </a:solidFill>
                          <a:latin typeface="Arial Narrow" panose="020B0606020202030204" pitchFamily="34" charset="0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rgbClr val="49634B"/>
                          </a:solidFill>
                          <a:latin typeface="Arial Narrow" panose="020B0606020202030204" pitchFamily="34" charset="0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rgbClr val="49634B"/>
                          </a:solidFill>
                          <a:latin typeface="Arial Narrow" panose="020B0606020202030204" pitchFamily="34" charset="0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rgbClr val="49634B"/>
                          </a:solidFill>
                          <a:latin typeface="Arial Narrow" panose="020B0606020202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宋体" panose="02010600030101010101" pitchFamily="2" charset="-122"/>
                        </a:rPr>
                        <a:t>0.443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rgbClr val="49634B"/>
                          </a:solidFill>
                          <a:latin typeface="Arial Narrow" panose="020B0606020202030204" pitchFamily="34" charset="0"/>
                        </a:defRPr>
                      </a:lvl1pPr>
                      <a:lvl2pPr marL="742950" indent="-285750" algn="l" defTabSz="914400" rtl="0" eaLnBrk="0" latinLnBrk="0" hangingPunct="0">
                        <a:spcBef>
                          <a:spcPct val="20000"/>
                        </a:spcBef>
                        <a:defRPr sz="2400" kern="1200">
                          <a:solidFill>
                            <a:srgbClr val="49634B"/>
                          </a:solidFill>
                          <a:latin typeface="Arial Narrow" panose="020B0606020202030204" pitchFamily="34" charset="0"/>
                        </a:defRPr>
                      </a:lvl2pPr>
                      <a:lvl3pPr marL="1143000" indent="-228600" algn="l" defTabSz="914400" rtl="0" eaLnBrk="0" latinLnBrk="0" hangingPunct="0">
                        <a:spcBef>
                          <a:spcPct val="20000"/>
                        </a:spcBef>
                        <a:defRPr sz="2000" kern="1200">
                          <a:solidFill>
                            <a:srgbClr val="49634B"/>
                          </a:solidFill>
                          <a:latin typeface="Arial Narrow" panose="020B0606020202030204" pitchFamily="34" charset="0"/>
                        </a:defRPr>
                      </a:lvl3pPr>
                      <a:lvl4pPr marL="1600200" indent="-228600" algn="l" defTabSz="914400" rtl="0" eaLnBrk="0" latinLnBrk="0" hangingPunct="0">
                        <a:spcBef>
                          <a:spcPct val="20000"/>
                        </a:spcBef>
                        <a:defRPr sz="1800" kern="1200">
                          <a:solidFill>
                            <a:srgbClr val="49634B"/>
                          </a:solidFill>
                          <a:latin typeface="Arial Narrow" panose="020B0606020202030204" pitchFamily="34" charset="0"/>
                        </a:defRPr>
                      </a:lvl4pPr>
                      <a:lvl5pPr marL="2057400" indent="-228600" algn="l" defTabSz="914400" rtl="0" eaLnBrk="0" latinLnBrk="0" hangingPunct="0">
                        <a:spcBef>
                          <a:spcPct val="20000"/>
                        </a:spcBef>
                        <a:defRPr sz="1800" kern="1200">
                          <a:solidFill>
                            <a:srgbClr val="49634B"/>
                          </a:solidFill>
                          <a:latin typeface="Arial Narrow" panose="020B0606020202030204" pitchFamily="34" charset="0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rgbClr val="49634B"/>
                          </a:solidFill>
                          <a:latin typeface="Arial Narrow" panose="020B0606020202030204" pitchFamily="34" charset="0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rgbClr val="49634B"/>
                          </a:solidFill>
                          <a:latin typeface="Arial Narrow" panose="020B0606020202030204" pitchFamily="34" charset="0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rgbClr val="49634B"/>
                          </a:solidFill>
                          <a:latin typeface="Arial Narrow" panose="020B0606020202030204" pitchFamily="34" charset="0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rgbClr val="49634B"/>
                          </a:solidFill>
                          <a:latin typeface="Arial Narrow" panose="020B0606020202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宋体" panose="02010600030101010101" pitchFamily="2" charset="-122"/>
                        </a:rPr>
                        <a:t>29.118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475">
                <a:tc>
                  <a:txBody>
                    <a:bodyPr/>
                    <a:lstStyle>
                      <a:lvl1pPr marL="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rgbClr val="49634B"/>
                          </a:solidFill>
                          <a:latin typeface="Arial Narrow" panose="020B0606020202030204" pitchFamily="34" charset="0"/>
                        </a:defRPr>
                      </a:lvl1pPr>
                      <a:lvl2pPr marL="742950" indent="-285750" algn="l" defTabSz="914400" rtl="0" eaLnBrk="0" latinLnBrk="0" hangingPunct="0">
                        <a:spcBef>
                          <a:spcPct val="20000"/>
                        </a:spcBef>
                        <a:defRPr sz="2400" kern="1200">
                          <a:solidFill>
                            <a:srgbClr val="49634B"/>
                          </a:solidFill>
                          <a:latin typeface="Arial Narrow" panose="020B0606020202030204" pitchFamily="34" charset="0"/>
                        </a:defRPr>
                      </a:lvl2pPr>
                      <a:lvl3pPr marL="1143000" indent="-228600" algn="l" defTabSz="914400" rtl="0" eaLnBrk="0" latinLnBrk="0" hangingPunct="0">
                        <a:spcBef>
                          <a:spcPct val="20000"/>
                        </a:spcBef>
                        <a:defRPr sz="2000" kern="1200">
                          <a:solidFill>
                            <a:srgbClr val="49634B"/>
                          </a:solidFill>
                          <a:latin typeface="Arial Narrow" panose="020B0606020202030204" pitchFamily="34" charset="0"/>
                        </a:defRPr>
                      </a:lvl3pPr>
                      <a:lvl4pPr marL="1600200" indent="-228600" algn="l" defTabSz="914400" rtl="0" eaLnBrk="0" latinLnBrk="0" hangingPunct="0">
                        <a:spcBef>
                          <a:spcPct val="20000"/>
                        </a:spcBef>
                        <a:defRPr sz="1800" kern="1200">
                          <a:solidFill>
                            <a:srgbClr val="49634B"/>
                          </a:solidFill>
                          <a:latin typeface="Arial Narrow" panose="020B0606020202030204" pitchFamily="34" charset="0"/>
                        </a:defRPr>
                      </a:lvl4pPr>
                      <a:lvl5pPr marL="2057400" indent="-228600" algn="l" defTabSz="914400" rtl="0" eaLnBrk="0" latinLnBrk="0" hangingPunct="0">
                        <a:spcBef>
                          <a:spcPct val="20000"/>
                        </a:spcBef>
                        <a:defRPr sz="1800" kern="1200">
                          <a:solidFill>
                            <a:srgbClr val="49634B"/>
                          </a:solidFill>
                          <a:latin typeface="Arial Narrow" panose="020B0606020202030204" pitchFamily="34" charset="0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rgbClr val="49634B"/>
                          </a:solidFill>
                          <a:latin typeface="Arial Narrow" panose="020B0606020202030204" pitchFamily="34" charset="0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rgbClr val="49634B"/>
                          </a:solidFill>
                          <a:latin typeface="Arial Narrow" panose="020B0606020202030204" pitchFamily="34" charset="0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rgbClr val="49634B"/>
                          </a:solidFill>
                          <a:latin typeface="Arial Narrow" panose="020B0606020202030204" pitchFamily="34" charset="0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rgbClr val="49634B"/>
                          </a:solidFill>
                          <a:latin typeface="Arial Narrow" panose="020B0606020202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ECDE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rgbClr val="49634B"/>
                          </a:solidFill>
                          <a:latin typeface="Arial Narrow" panose="020B0606020202030204" pitchFamily="34" charset="0"/>
                        </a:defRPr>
                      </a:lvl1pPr>
                      <a:lvl2pPr marL="742950" indent="-285750" algn="l" defTabSz="914400" rtl="0" eaLnBrk="0" latinLnBrk="0" hangingPunct="0">
                        <a:spcBef>
                          <a:spcPct val="20000"/>
                        </a:spcBef>
                        <a:defRPr sz="2400" kern="1200">
                          <a:solidFill>
                            <a:srgbClr val="49634B"/>
                          </a:solidFill>
                          <a:latin typeface="Arial Narrow" panose="020B0606020202030204" pitchFamily="34" charset="0"/>
                        </a:defRPr>
                      </a:lvl2pPr>
                      <a:lvl3pPr marL="1143000" indent="-228600" algn="l" defTabSz="914400" rtl="0" eaLnBrk="0" latinLnBrk="0" hangingPunct="0">
                        <a:spcBef>
                          <a:spcPct val="20000"/>
                        </a:spcBef>
                        <a:defRPr sz="2000" kern="1200">
                          <a:solidFill>
                            <a:srgbClr val="49634B"/>
                          </a:solidFill>
                          <a:latin typeface="Arial Narrow" panose="020B0606020202030204" pitchFamily="34" charset="0"/>
                        </a:defRPr>
                      </a:lvl3pPr>
                      <a:lvl4pPr marL="1600200" indent="-228600" algn="l" defTabSz="914400" rtl="0" eaLnBrk="0" latinLnBrk="0" hangingPunct="0">
                        <a:spcBef>
                          <a:spcPct val="20000"/>
                        </a:spcBef>
                        <a:defRPr sz="1800" kern="1200">
                          <a:solidFill>
                            <a:srgbClr val="49634B"/>
                          </a:solidFill>
                          <a:latin typeface="Arial Narrow" panose="020B0606020202030204" pitchFamily="34" charset="0"/>
                        </a:defRPr>
                      </a:lvl4pPr>
                      <a:lvl5pPr marL="2057400" indent="-228600" algn="l" defTabSz="914400" rtl="0" eaLnBrk="0" latinLnBrk="0" hangingPunct="0">
                        <a:spcBef>
                          <a:spcPct val="20000"/>
                        </a:spcBef>
                        <a:defRPr sz="1800" kern="1200">
                          <a:solidFill>
                            <a:srgbClr val="49634B"/>
                          </a:solidFill>
                          <a:latin typeface="Arial Narrow" panose="020B0606020202030204" pitchFamily="34" charset="0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rgbClr val="49634B"/>
                          </a:solidFill>
                          <a:latin typeface="Arial Narrow" panose="020B0606020202030204" pitchFamily="34" charset="0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rgbClr val="49634B"/>
                          </a:solidFill>
                          <a:latin typeface="Arial Narrow" panose="020B0606020202030204" pitchFamily="34" charset="0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rgbClr val="49634B"/>
                          </a:solidFill>
                          <a:latin typeface="Arial Narrow" panose="020B0606020202030204" pitchFamily="34" charset="0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rgbClr val="49634B"/>
                          </a:solidFill>
                          <a:latin typeface="Arial Narrow" panose="020B0606020202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宋体" panose="02010600030101010101" pitchFamily="2" charset="-122"/>
                        </a:rPr>
                        <a:t>(1.389, 1.491)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ECDE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rgbClr val="49634B"/>
                          </a:solidFill>
                          <a:latin typeface="Arial Narrow" panose="020B0606020202030204" pitchFamily="34" charset="0"/>
                        </a:defRPr>
                      </a:lvl1pPr>
                      <a:lvl2pPr marL="742950" indent="-285750" algn="l" defTabSz="914400" rtl="0" eaLnBrk="0" latinLnBrk="0" hangingPunct="0">
                        <a:spcBef>
                          <a:spcPct val="20000"/>
                        </a:spcBef>
                        <a:defRPr sz="2400" kern="1200">
                          <a:solidFill>
                            <a:srgbClr val="49634B"/>
                          </a:solidFill>
                          <a:latin typeface="Arial Narrow" panose="020B0606020202030204" pitchFamily="34" charset="0"/>
                        </a:defRPr>
                      </a:lvl2pPr>
                      <a:lvl3pPr marL="1143000" indent="-228600" algn="l" defTabSz="914400" rtl="0" eaLnBrk="0" latinLnBrk="0" hangingPunct="0">
                        <a:spcBef>
                          <a:spcPct val="20000"/>
                        </a:spcBef>
                        <a:defRPr sz="2000" kern="1200">
                          <a:solidFill>
                            <a:srgbClr val="49634B"/>
                          </a:solidFill>
                          <a:latin typeface="Arial Narrow" panose="020B0606020202030204" pitchFamily="34" charset="0"/>
                        </a:defRPr>
                      </a:lvl3pPr>
                      <a:lvl4pPr marL="1600200" indent="-228600" algn="l" defTabSz="914400" rtl="0" eaLnBrk="0" latinLnBrk="0" hangingPunct="0">
                        <a:spcBef>
                          <a:spcPct val="20000"/>
                        </a:spcBef>
                        <a:defRPr sz="1800" kern="1200">
                          <a:solidFill>
                            <a:srgbClr val="49634B"/>
                          </a:solidFill>
                          <a:latin typeface="Arial Narrow" panose="020B0606020202030204" pitchFamily="34" charset="0"/>
                        </a:defRPr>
                      </a:lvl4pPr>
                      <a:lvl5pPr marL="2057400" indent="-228600" algn="l" defTabSz="914400" rtl="0" eaLnBrk="0" latinLnBrk="0" hangingPunct="0">
                        <a:spcBef>
                          <a:spcPct val="20000"/>
                        </a:spcBef>
                        <a:defRPr sz="1800" kern="1200">
                          <a:solidFill>
                            <a:srgbClr val="49634B"/>
                          </a:solidFill>
                          <a:latin typeface="Arial Narrow" panose="020B0606020202030204" pitchFamily="34" charset="0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rgbClr val="49634B"/>
                          </a:solidFill>
                          <a:latin typeface="Arial Narrow" panose="020B0606020202030204" pitchFamily="34" charset="0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rgbClr val="49634B"/>
                          </a:solidFill>
                          <a:latin typeface="Arial Narrow" panose="020B0606020202030204" pitchFamily="34" charset="0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rgbClr val="49634B"/>
                          </a:solidFill>
                          <a:latin typeface="Arial Narrow" panose="020B0606020202030204" pitchFamily="34" charset="0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rgbClr val="49634B"/>
                          </a:solidFill>
                          <a:latin typeface="Arial Narrow" panose="020B0606020202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ECDE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rgbClr val="49634B"/>
                          </a:solidFill>
                          <a:latin typeface="Arial Narrow" panose="020B0606020202030204" pitchFamily="34" charset="0"/>
                        </a:defRPr>
                      </a:lvl1pPr>
                      <a:lvl2pPr marL="742950" indent="-285750" algn="l" defTabSz="914400" rtl="0" eaLnBrk="0" latinLnBrk="0" hangingPunct="0">
                        <a:spcBef>
                          <a:spcPct val="20000"/>
                        </a:spcBef>
                        <a:defRPr sz="2400" kern="1200">
                          <a:solidFill>
                            <a:srgbClr val="49634B"/>
                          </a:solidFill>
                          <a:latin typeface="Arial Narrow" panose="020B0606020202030204" pitchFamily="34" charset="0"/>
                        </a:defRPr>
                      </a:lvl2pPr>
                      <a:lvl3pPr marL="1143000" indent="-228600" algn="l" defTabSz="914400" rtl="0" eaLnBrk="0" latinLnBrk="0" hangingPunct="0">
                        <a:spcBef>
                          <a:spcPct val="20000"/>
                        </a:spcBef>
                        <a:defRPr sz="2000" kern="1200">
                          <a:solidFill>
                            <a:srgbClr val="49634B"/>
                          </a:solidFill>
                          <a:latin typeface="Arial Narrow" panose="020B0606020202030204" pitchFamily="34" charset="0"/>
                        </a:defRPr>
                      </a:lvl3pPr>
                      <a:lvl4pPr marL="1600200" indent="-228600" algn="l" defTabSz="914400" rtl="0" eaLnBrk="0" latinLnBrk="0" hangingPunct="0">
                        <a:spcBef>
                          <a:spcPct val="20000"/>
                        </a:spcBef>
                        <a:defRPr sz="1800" kern="1200">
                          <a:solidFill>
                            <a:srgbClr val="49634B"/>
                          </a:solidFill>
                          <a:latin typeface="Arial Narrow" panose="020B0606020202030204" pitchFamily="34" charset="0"/>
                        </a:defRPr>
                      </a:lvl4pPr>
                      <a:lvl5pPr marL="2057400" indent="-228600" algn="l" defTabSz="914400" rtl="0" eaLnBrk="0" latinLnBrk="0" hangingPunct="0">
                        <a:spcBef>
                          <a:spcPct val="20000"/>
                        </a:spcBef>
                        <a:defRPr sz="1800" kern="1200">
                          <a:solidFill>
                            <a:srgbClr val="49634B"/>
                          </a:solidFill>
                          <a:latin typeface="Arial Narrow" panose="020B0606020202030204" pitchFamily="34" charset="0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rgbClr val="49634B"/>
                          </a:solidFill>
                          <a:latin typeface="Arial Narrow" panose="020B0606020202030204" pitchFamily="34" charset="0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rgbClr val="49634B"/>
                          </a:solidFill>
                          <a:latin typeface="Arial Narrow" panose="020B0606020202030204" pitchFamily="34" charset="0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rgbClr val="49634B"/>
                          </a:solidFill>
                          <a:latin typeface="Arial Narrow" panose="020B0606020202030204" pitchFamily="34" charset="0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rgbClr val="49634B"/>
                          </a:solidFill>
                          <a:latin typeface="Arial Narrow" panose="020B0606020202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ECDE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rgbClr val="49634B"/>
                          </a:solidFill>
                          <a:latin typeface="Arial Narrow" panose="020B0606020202030204" pitchFamily="34" charset="0"/>
                        </a:defRPr>
                      </a:lvl1pPr>
                      <a:lvl2pPr marL="742950" indent="-285750" algn="l" defTabSz="914400" rtl="0" eaLnBrk="0" latinLnBrk="0" hangingPunct="0">
                        <a:spcBef>
                          <a:spcPct val="20000"/>
                        </a:spcBef>
                        <a:defRPr sz="2400" kern="1200">
                          <a:solidFill>
                            <a:srgbClr val="49634B"/>
                          </a:solidFill>
                          <a:latin typeface="Arial Narrow" panose="020B0606020202030204" pitchFamily="34" charset="0"/>
                        </a:defRPr>
                      </a:lvl2pPr>
                      <a:lvl3pPr marL="1143000" indent="-228600" algn="l" defTabSz="914400" rtl="0" eaLnBrk="0" latinLnBrk="0" hangingPunct="0">
                        <a:spcBef>
                          <a:spcPct val="20000"/>
                        </a:spcBef>
                        <a:defRPr sz="2000" kern="1200">
                          <a:solidFill>
                            <a:srgbClr val="49634B"/>
                          </a:solidFill>
                          <a:latin typeface="Arial Narrow" panose="020B0606020202030204" pitchFamily="34" charset="0"/>
                        </a:defRPr>
                      </a:lvl3pPr>
                      <a:lvl4pPr marL="1600200" indent="-228600" algn="l" defTabSz="914400" rtl="0" eaLnBrk="0" latinLnBrk="0" hangingPunct="0">
                        <a:spcBef>
                          <a:spcPct val="20000"/>
                        </a:spcBef>
                        <a:defRPr sz="1800" kern="1200">
                          <a:solidFill>
                            <a:srgbClr val="49634B"/>
                          </a:solidFill>
                          <a:latin typeface="Arial Narrow" panose="020B0606020202030204" pitchFamily="34" charset="0"/>
                        </a:defRPr>
                      </a:lvl4pPr>
                      <a:lvl5pPr marL="2057400" indent="-228600" algn="l" defTabSz="914400" rtl="0" eaLnBrk="0" latinLnBrk="0" hangingPunct="0">
                        <a:spcBef>
                          <a:spcPct val="20000"/>
                        </a:spcBef>
                        <a:defRPr sz="1800" kern="1200">
                          <a:solidFill>
                            <a:srgbClr val="49634B"/>
                          </a:solidFill>
                          <a:latin typeface="Arial Narrow" panose="020B0606020202030204" pitchFamily="34" charset="0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rgbClr val="49634B"/>
                          </a:solidFill>
                          <a:latin typeface="Arial Narrow" panose="020B0606020202030204" pitchFamily="34" charset="0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rgbClr val="49634B"/>
                          </a:solidFill>
                          <a:latin typeface="Arial Narrow" panose="020B0606020202030204" pitchFamily="34" charset="0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rgbClr val="49634B"/>
                          </a:solidFill>
                          <a:latin typeface="Arial Narrow" panose="020B0606020202030204" pitchFamily="34" charset="0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rgbClr val="49634B"/>
                          </a:solidFill>
                          <a:latin typeface="Arial Narrow" panose="020B0606020202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ECDE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0" hangingPunct="0">
                        <a:spcBef>
                          <a:spcPct val="20000"/>
                        </a:spcBef>
                        <a:defRPr sz="2800" kern="1200">
                          <a:solidFill>
                            <a:srgbClr val="49634B"/>
                          </a:solidFill>
                          <a:latin typeface="Arial Narrow" panose="020B0606020202030204" pitchFamily="34" charset="0"/>
                        </a:defRPr>
                      </a:lvl1pPr>
                      <a:lvl2pPr marL="742950" indent="-285750" algn="l" defTabSz="914400" rtl="0" eaLnBrk="0" latinLnBrk="0" hangingPunct="0">
                        <a:spcBef>
                          <a:spcPct val="20000"/>
                        </a:spcBef>
                        <a:defRPr sz="2400" kern="1200">
                          <a:solidFill>
                            <a:srgbClr val="49634B"/>
                          </a:solidFill>
                          <a:latin typeface="Arial Narrow" panose="020B0606020202030204" pitchFamily="34" charset="0"/>
                        </a:defRPr>
                      </a:lvl2pPr>
                      <a:lvl3pPr marL="1143000" indent="-228600" algn="l" defTabSz="914400" rtl="0" eaLnBrk="0" latinLnBrk="0" hangingPunct="0">
                        <a:spcBef>
                          <a:spcPct val="20000"/>
                        </a:spcBef>
                        <a:defRPr sz="2000" kern="1200">
                          <a:solidFill>
                            <a:srgbClr val="49634B"/>
                          </a:solidFill>
                          <a:latin typeface="Arial Narrow" panose="020B0606020202030204" pitchFamily="34" charset="0"/>
                        </a:defRPr>
                      </a:lvl3pPr>
                      <a:lvl4pPr marL="1600200" indent="-228600" algn="l" defTabSz="914400" rtl="0" eaLnBrk="0" latinLnBrk="0" hangingPunct="0">
                        <a:spcBef>
                          <a:spcPct val="20000"/>
                        </a:spcBef>
                        <a:defRPr sz="1800" kern="1200">
                          <a:solidFill>
                            <a:srgbClr val="49634B"/>
                          </a:solidFill>
                          <a:latin typeface="Arial Narrow" panose="020B0606020202030204" pitchFamily="34" charset="0"/>
                        </a:defRPr>
                      </a:lvl4pPr>
                      <a:lvl5pPr marL="2057400" indent="-228600" algn="l" defTabSz="914400" rtl="0" eaLnBrk="0" latinLnBrk="0" hangingPunct="0">
                        <a:spcBef>
                          <a:spcPct val="20000"/>
                        </a:spcBef>
                        <a:defRPr sz="1800" kern="1200">
                          <a:solidFill>
                            <a:srgbClr val="49634B"/>
                          </a:solidFill>
                          <a:latin typeface="Arial Narrow" panose="020B0606020202030204" pitchFamily="34" charset="0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rgbClr val="49634B"/>
                          </a:solidFill>
                          <a:latin typeface="Arial Narrow" panose="020B0606020202030204" pitchFamily="34" charset="0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rgbClr val="49634B"/>
                          </a:solidFill>
                          <a:latin typeface="Arial Narrow" panose="020B0606020202030204" pitchFamily="34" charset="0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rgbClr val="49634B"/>
                          </a:solidFill>
                          <a:latin typeface="Arial Narrow" panose="020B0606020202030204" pitchFamily="34" charset="0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rgbClr val="49634B"/>
                          </a:solidFill>
                          <a:latin typeface="Arial Narrow" panose="020B0606020202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EC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AEF71-069A-4090-8ABA-5936DD2B5E64}" type="datetime1">
              <a:rPr lang="en-US" altLang="zh-CN" smtClean="0"/>
              <a:pPr/>
              <a:t>3/31/2025</a:t>
            </a:fld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86800" y="18288"/>
            <a:ext cx="1066800" cy="329184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70</a:t>
            </a:fld>
            <a:endParaRPr lang="en-US" dirty="0"/>
          </a:p>
        </p:txBody>
      </p:sp>
      <p:sp>
        <p:nvSpPr>
          <p:cNvPr id="8" name="页脚占位符 2">
            <a:extLst>
              <a:ext uri="{FF2B5EF4-FFF2-40B4-BE49-F238E27FC236}">
                <a16:creationId xmlns:a16="http://schemas.microsoft.com/office/drawing/2014/main" id="{D5ACCD7C-F98D-4359-8DDB-EF17FA2E6E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8905" y="19050"/>
            <a:ext cx="4831731" cy="328613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交通大数据</a:t>
            </a: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· </a:t>
            </a: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东南大学 刘志远教授</a:t>
            </a:r>
            <a:endParaRPr kumimoji="0" lang="en-US" altLang="zh-CN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22847"/>
            <a:ext cx="8229600" cy="990600"/>
          </a:xfrm>
        </p:spPr>
        <p:txBody>
          <a:bodyPr>
            <a:normAutofit/>
          </a:bodyPr>
          <a:lstStyle/>
          <a:p>
            <a:pPr lvl="0">
              <a:spcBef>
                <a:spcPts val="0"/>
              </a:spcBef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梯度下降法</a:t>
            </a:r>
            <a:endParaRPr lang="zh-CN" altLang="en-US" sz="48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20510"/>
            <a:ext cx="8229600" cy="4876800"/>
          </a:xfrm>
        </p:spPr>
        <p:txBody>
          <a:bodyPr/>
          <a:lstStyle/>
          <a:p>
            <a:pPr marL="0" lvl="0" indent="0">
              <a:spcBef>
                <a:spcPct val="50000"/>
              </a:spcBef>
              <a:buClrTx/>
              <a:buSzPct val="60000"/>
              <a:buFont typeface="Wingdings" panose="05000000000000000000" pitchFamily="2" charset="2"/>
              <a:buChar char="q"/>
            </a:pPr>
            <a:r>
              <a:rPr lang="en-US" altLang="zh-CN" b="1" kern="0" dirty="0">
                <a:solidFill>
                  <a:srgbClr val="0000FF"/>
                </a:solidFill>
              </a:rPr>
              <a:t> </a:t>
            </a:r>
            <a:r>
              <a:rPr lang="zh-CN" altLang="en-US" sz="2800" kern="0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讨论</a:t>
            </a:r>
            <a:endParaRPr lang="zh-CN" altLang="en-US" sz="28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Content Placeholder 2"/>
          <p:cNvSpPr txBox="1"/>
          <p:nvPr/>
        </p:nvSpPr>
        <p:spPr bwMode="auto">
          <a:xfrm>
            <a:off x="457200" y="1810484"/>
            <a:ext cx="8763000" cy="2819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49634B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49634B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49634B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49634B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rgbClr val="49634B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rgbClr val="49634B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rgbClr val="49634B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rgbClr val="49634B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rgbClr val="49634B"/>
                </a:solidFill>
                <a:latin typeface="+mn-lt"/>
              </a:defRPr>
            </a:lvl9pPr>
          </a:lstStyle>
          <a:p>
            <a:pPr defTabSz="914400">
              <a:lnSpc>
                <a:spcPts val="4500"/>
              </a:lnSpc>
            </a:pPr>
            <a:r>
              <a:rPr lang="zh-CN" altLang="en-US" sz="2400" kern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当</a:t>
            </a:r>
            <a:r>
              <a:rPr lang="en-US" altLang="zh-CN" sz="2400" kern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z(x) </a:t>
            </a:r>
            <a:r>
              <a:rPr lang="zh-CN" altLang="en-US" sz="2400" kern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是凸函数时</a:t>
            </a:r>
            <a:r>
              <a:rPr lang="en-US" altLang="zh-CN" sz="2400" kern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zh-CN" altLang="en-US" sz="2400" kern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梯度下降法将在一个全局最优解处停止</a:t>
            </a:r>
            <a:endParaRPr lang="en-US" altLang="zh-CN" sz="2400" kern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defTabSz="914400">
              <a:lnSpc>
                <a:spcPts val="4500"/>
              </a:lnSpc>
            </a:pPr>
            <a:r>
              <a:rPr lang="zh-CN" altLang="en-US" sz="2400" kern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由于梯度下降法“</a:t>
            </a:r>
            <a:r>
              <a:rPr lang="en-US" altLang="zh-CN" sz="2400" kern="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zigzaging</a:t>
            </a:r>
            <a:r>
              <a:rPr lang="zh-CN" altLang="en-US" sz="2400" kern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”的性质，该方法收敛速度慢</a:t>
            </a:r>
            <a:endParaRPr lang="en-US" altLang="zh-CN" sz="2400" kern="0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defTabSz="914400"/>
            <a:r>
              <a:rPr lang="zh-CN" altLang="en-US" sz="2400" kern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二次函数</a:t>
            </a:r>
            <a:endParaRPr lang="en-US" altLang="zh-CN" sz="2400" kern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defTabSz="914400"/>
            <a:r>
              <a:rPr lang="zh-CN" altLang="en-US" sz="2400" kern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罗森布鲁克函数（</a:t>
            </a:r>
            <a:r>
              <a:rPr lang="en-US" altLang="zh-CN" sz="2400" kern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 kern="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Rosenbrock</a:t>
            </a:r>
            <a:r>
              <a:rPr lang="en-US" altLang="zh-CN" sz="2400" kern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function </a:t>
            </a:r>
            <a:r>
              <a:rPr lang="zh-CN" altLang="en-US" sz="2400" kern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endParaRPr lang="en-US" altLang="zh-CN" sz="2400" kern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6" name="Object 1"/>
          <p:cNvGraphicFramePr>
            <a:graphicFrameLocks noChangeAspect="1"/>
          </p:cNvGraphicFramePr>
          <p:nvPr/>
        </p:nvGraphicFramePr>
        <p:xfrm>
          <a:off x="2117860" y="4210784"/>
          <a:ext cx="44196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17" name="Equation" r:id="rId4" imgW="4419600" imgH="419100" progId="Equation.DSMT4">
                  <p:embed/>
                </p:oleObj>
              </mc:Choice>
              <mc:Fallback>
                <p:oleObj name="Equation" r:id="rId4" imgW="4419600" imgH="419100" progId="Equation.DSMT4">
                  <p:embed/>
                  <p:pic>
                    <p:nvPicPr>
                      <p:cNvPr id="6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7860" y="4210784"/>
                        <a:ext cx="4419600" cy="419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74777-ABDB-4952-8797-D071A0CA8A2A}" type="datetime1">
              <a:rPr lang="en-US" altLang="zh-CN" smtClean="0"/>
              <a:pPr/>
              <a:t>3/31/2025</a:t>
            </a:fld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86800" y="-11155"/>
            <a:ext cx="1066800" cy="329184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71</a:t>
            </a:fld>
            <a:endParaRPr lang="en-US" dirty="0"/>
          </a:p>
        </p:txBody>
      </p:sp>
      <p:sp>
        <p:nvSpPr>
          <p:cNvPr id="8" name="页脚占位符 2">
            <a:extLst>
              <a:ext uri="{FF2B5EF4-FFF2-40B4-BE49-F238E27FC236}">
                <a16:creationId xmlns:a16="http://schemas.microsoft.com/office/drawing/2014/main" id="{3F299360-ABF7-4037-9D08-0210311BB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8905" y="19050"/>
            <a:ext cx="4831731" cy="328613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交通大数据</a:t>
            </a: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· </a:t>
            </a: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东南大学 刘志远教授</a:t>
            </a:r>
            <a:endParaRPr kumimoji="0" lang="en-US" altLang="zh-CN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14131" y="332653"/>
            <a:ext cx="8229600" cy="990600"/>
          </a:xfrm>
        </p:spPr>
        <p:txBody>
          <a:bodyPr>
            <a:normAutofit/>
          </a:bodyPr>
          <a:lstStyle/>
          <a:p>
            <a:pPr lvl="0">
              <a:spcBef>
                <a:spcPts val="0"/>
              </a:spcBef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梯度下降法</a:t>
            </a:r>
            <a:endParaRPr lang="zh-CN" altLang="en-US" sz="48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358314"/>
            <a:ext cx="8229600" cy="4876800"/>
          </a:xfrm>
        </p:spPr>
        <p:txBody>
          <a:bodyPr/>
          <a:lstStyle/>
          <a:p>
            <a:pPr marL="0" lvl="0" indent="0">
              <a:spcBef>
                <a:spcPct val="50000"/>
              </a:spcBef>
              <a:buClrTx/>
              <a:buSzPct val="60000"/>
              <a:buFont typeface="Wingdings" panose="05000000000000000000" pitchFamily="2" charset="2"/>
              <a:buChar char="q"/>
            </a:pPr>
            <a:r>
              <a:rPr lang="en-US" altLang="zh-CN" b="1" kern="0" dirty="0">
                <a:solidFill>
                  <a:srgbClr val="0000FF"/>
                </a:solidFill>
              </a:rPr>
              <a:t> </a:t>
            </a:r>
            <a:r>
              <a:rPr lang="zh-CN" altLang="en-US" kern="0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讨论</a:t>
            </a:r>
            <a:endParaRPr lang="en-US" altLang="zh-CN" kern="0" dirty="0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zh-CN" altLang="en-US" dirty="0"/>
          </a:p>
        </p:txBody>
      </p:sp>
      <p:sp>
        <p:nvSpPr>
          <p:cNvPr id="5" name="Content Placeholder 2"/>
          <p:cNvSpPr txBox="1"/>
          <p:nvPr/>
        </p:nvSpPr>
        <p:spPr>
          <a:xfrm>
            <a:off x="457200" y="1874385"/>
            <a:ext cx="7772400" cy="685800"/>
          </a:xfrm>
          <a:prstGeom prst="rect">
            <a:avLst/>
          </a:prstGeom>
        </p:spPr>
        <p:txBody>
          <a:bodyPr/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800" dirty="0" err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Zigzaging</a:t>
            </a:r>
            <a:endParaRPr lang="en-US" altLang="zh-CN" sz="2800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7" name="图片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59296" y="2334095"/>
            <a:ext cx="7825407" cy="3982894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7C9EE-4546-4764-BF4B-66915D73FFF4}" type="datetime1">
              <a:rPr lang="en-US" altLang="zh-CN" smtClean="0"/>
              <a:pPr/>
              <a:t>3/31/2025</a:t>
            </a:fld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86800" y="18288"/>
            <a:ext cx="1066800" cy="329184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72</a:t>
            </a:fld>
            <a:endParaRPr lang="en-US" dirty="0"/>
          </a:p>
        </p:txBody>
      </p:sp>
      <p:sp>
        <p:nvSpPr>
          <p:cNvPr id="8" name="页脚占位符 2">
            <a:extLst>
              <a:ext uri="{FF2B5EF4-FFF2-40B4-BE49-F238E27FC236}">
                <a16:creationId xmlns:a16="http://schemas.microsoft.com/office/drawing/2014/main" id="{1658CF39-9E24-4093-9D31-17B780AB45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8905" y="19050"/>
            <a:ext cx="4831731" cy="328613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交通大数据</a:t>
            </a: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· </a:t>
            </a: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东南大学 刘志远教授</a:t>
            </a:r>
            <a:endParaRPr kumimoji="0" lang="en-US" altLang="zh-CN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786" y="347472"/>
            <a:ext cx="8229600" cy="990600"/>
          </a:xfrm>
        </p:spPr>
        <p:txBody>
          <a:bodyPr>
            <a:normAutofit/>
          </a:bodyPr>
          <a:lstStyle/>
          <a:p>
            <a:pPr lvl="0">
              <a:spcBef>
                <a:spcPts val="0"/>
              </a:spcBef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梯度下降法</a:t>
            </a:r>
            <a:endParaRPr lang="zh-CN" altLang="en-US" sz="48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41981"/>
            <a:ext cx="8229600" cy="4876800"/>
          </a:xfrm>
        </p:spPr>
        <p:txBody>
          <a:bodyPr/>
          <a:lstStyle/>
          <a:p>
            <a:pPr marL="0" lvl="0" indent="0">
              <a:spcBef>
                <a:spcPct val="50000"/>
              </a:spcBef>
              <a:buClrTx/>
              <a:buSzPct val="60000"/>
              <a:buFont typeface="Wingdings" panose="05000000000000000000" pitchFamily="2" charset="2"/>
              <a:buChar char="q"/>
            </a:pPr>
            <a:r>
              <a:rPr lang="en-US" altLang="zh-CN" b="1" kern="0" dirty="0">
                <a:solidFill>
                  <a:srgbClr val="0000FF"/>
                </a:solidFill>
              </a:rPr>
              <a:t> </a:t>
            </a:r>
            <a:r>
              <a:rPr lang="zh-CN" altLang="en-US" kern="0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讨论</a:t>
            </a:r>
            <a:endParaRPr lang="en-US" altLang="zh-CN" kern="0" dirty="0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zh-CN" altLang="en-US" dirty="0"/>
          </a:p>
        </p:txBody>
      </p:sp>
      <p:sp>
        <p:nvSpPr>
          <p:cNvPr id="5" name="Content Placeholder 2"/>
          <p:cNvSpPr txBox="1"/>
          <p:nvPr/>
        </p:nvSpPr>
        <p:spPr>
          <a:xfrm>
            <a:off x="457200" y="1779798"/>
            <a:ext cx="7772400" cy="685800"/>
          </a:xfrm>
          <a:prstGeom prst="rect">
            <a:avLst/>
          </a:prstGeom>
        </p:spPr>
        <p:txBody>
          <a:bodyPr/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ea typeface="宋体" panose="02010600030101010101" pitchFamily="2" charset="-122"/>
              </a:rPr>
              <a:t>罗森布鲁克函数（</a:t>
            </a:r>
            <a:r>
              <a:rPr lang="en-US" altLang="zh-CN" dirty="0">
                <a:ea typeface="宋体" panose="02010600030101010101" pitchFamily="2" charset="-122"/>
              </a:rPr>
              <a:t> </a:t>
            </a:r>
            <a:r>
              <a:rPr lang="en-US" altLang="zh-CN" dirty="0" err="1">
                <a:ea typeface="宋体" panose="02010600030101010101" pitchFamily="2" charset="-122"/>
              </a:rPr>
              <a:t>Rosenbrock</a:t>
            </a:r>
            <a:r>
              <a:rPr lang="en-US" altLang="zh-CN" dirty="0">
                <a:ea typeface="宋体" panose="02010600030101010101" pitchFamily="2" charset="-122"/>
              </a:rPr>
              <a:t> function </a:t>
            </a:r>
            <a:r>
              <a:rPr lang="zh-CN" altLang="en-US" dirty="0">
                <a:ea typeface="宋体" panose="02010600030101010101" pitchFamily="2" charset="-122"/>
              </a:rPr>
              <a:t>）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pic>
        <p:nvPicPr>
          <p:cNvPr id="6" name="Picture 8" descr="File:Banana-SteepDesc.gif">
            <a:hlinkClick r:id="rId2"/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9713" y="2232581"/>
            <a:ext cx="4949483" cy="39637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81E258-60C9-4CE6-AC99-280C3CFB6F21}" type="datetime1">
              <a:rPr lang="en-US" altLang="zh-CN" smtClean="0"/>
              <a:pPr/>
              <a:t>3/31/2025</a:t>
            </a:fld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1386" y="18288"/>
            <a:ext cx="1066800" cy="329184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73</a:t>
            </a:fld>
            <a:endParaRPr lang="en-US"/>
          </a:p>
        </p:txBody>
      </p:sp>
      <p:sp>
        <p:nvSpPr>
          <p:cNvPr id="8" name="页脚占位符 2">
            <a:extLst>
              <a:ext uri="{FF2B5EF4-FFF2-40B4-BE49-F238E27FC236}">
                <a16:creationId xmlns:a16="http://schemas.microsoft.com/office/drawing/2014/main" id="{3AB61EA7-4FA8-4F06-8A1C-3B4DE8D63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8905" y="19050"/>
            <a:ext cx="4831731" cy="328613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交通大数据</a:t>
            </a: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· </a:t>
            </a: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东南大学 刘志远教授</a:t>
            </a:r>
            <a:endParaRPr kumimoji="0" lang="en-US" altLang="zh-CN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0"/>
          <p:cNvSpPr>
            <a:spLocks noChangeArrowheads="1"/>
          </p:cNvSpPr>
          <p:nvPr/>
        </p:nvSpPr>
        <p:spPr bwMode="auto">
          <a:xfrm>
            <a:off x="2630291" y="2960687"/>
            <a:ext cx="4081594" cy="792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Frank-Wolf</a:t>
            </a:r>
            <a:r>
              <a:rPr kumimoji="0" lang="en-US" altLang="zh-CN" sz="4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kumimoji="0" lang="zh-CN" altLang="en-US" sz="400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算</a:t>
            </a:r>
            <a:r>
              <a:rPr kumimoji="0" lang="zh-CN" altLang="en-US" sz="400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法</a:t>
            </a:r>
            <a:endParaRPr kumimoji="0" lang="en-US" sz="400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0F625-94B0-443A-96D9-873D0E4C1AE3}" type="datetime1">
              <a:rPr lang="en-US" altLang="zh-CN" smtClean="0"/>
              <a:pPr/>
              <a:t>3/31/2025</a:t>
            </a:fld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86800" y="18945"/>
            <a:ext cx="1066800" cy="329184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74</a:t>
            </a:fld>
            <a:endParaRPr lang="en-US"/>
          </a:p>
        </p:txBody>
      </p:sp>
      <p:sp>
        <p:nvSpPr>
          <p:cNvPr id="5" name="页脚占位符 2">
            <a:extLst>
              <a:ext uri="{FF2B5EF4-FFF2-40B4-BE49-F238E27FC236}">
                <a16:creationId xmlns:a16="http://schemas.microsoft.com/office/drawing/2014/main" id="{FB567446-7690-4E6E-961C-5F6EB7FEE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8905" y="19050"/>
            <a:ext cx="4831731" cy="328613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交通大数据</a:t>
            </a: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· </a:t>
            </a: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东南大学 刘志远教授</a:t>
            </a:r>
            <a:endParaRPr kumimoji="0" lang="en-US" altLang="zh-CN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10474"/>
            <a:ext cx="8229600" cy="990600"/>
          </a:xfrm>
        </p:spPr>
        <p:txBody>
          <a:bodyPr>
            <a:normAutofit/>
          </a:bodyPr>
          <a:lstStyle/>
          <a:p>
            <a:pPr lvl="0">
              <a:spcBef>
                <a:spcPts val="0"/>
              </a:spcBef>
              <a:defRPr/>
            </a:pPr>
            <a:r>
              <a:rPr lang="en-US" altLang="zh-CN" b="1" kern="0" spc="0" dirty="0">
                <a:solidFill>
                  <a:srgbClr val="1F497D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Frank-Wolfe </a:t>
            </a:r>
            <a:r>
              <a:rPr lang="zh-CN" altLang="en-US" kern="0" spc="0" dirty="0">
                <a:solidFill>
                  <a:srgbClr val="1F497D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算法</a:t>
            </a:r>
            <a:endParaRPr lang="zh-CN" altLang="en-US" sz="48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82350"/>
            <a:ext cx="8523514" cy="4876800"/>
          </a:xfrm>
        </p:spPr>
        <p:txBody>
          <a:bodyPr/>
          <a:lstStyle/>
          <a:p>
            <a:pPr marL="0" lvl="0" indent="0">
              <a:spcBef>
                <a:spcPct val="50000"/>
              </a:spcBef>
              <a:buClrTx/>
              <a:buSzPct val="60000"/>
              <a:buFont typeface="Wingdings" panose="05000000000000000000" pitchFamily="2" charset="2"/>
              <a:buChar char="q"/>
              <a:defRPr/>
            </a:pPr>
            <a:r>
              <a:rPr lang="en-US" altLang="zh-CN" b="1" kern="0" dirty="0">
                <a:solidFill>
                  <a:srgbClr val="0000FF"/>
                </a:solidFill>
              </a:rPr>
              <a:t> </a:t>
            </a:r>
            <a:r>
              <a:rPr lang="en-US" altLang="zh-CN" b="1" kern="0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Frank</a:t>
            </a:r>
            <a:r>
              <a:rPr lang="zh-CN" altLang="en-US" b="1" kern="0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b="1" kern="0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Wolfe Algorithm (convex combination algorithm)</a:t>
            </a:r>
          </a:p>
          <a:p>
            <a:pPr marL="0" lvl="0" indent="0">
              <a:lnSpc>
                <a:spcPct val="150000"/>
              </a:lnSpc>
              <a:spcBef>
                <a:spcPct val="50000"/>
              </a:spcBef>
              <a:buClrTx/>
              <a:buSzPct val="60000"/>
              <a:buNone/>
              <a:defRPr/>
            </a:pPr>
            <a:r>
              <a:rPr lang="zh-CN" altLang="en-US" kern="0" dirty="0">
                <a:latin typeface="宋体" panose="02010600030101010101" pitchFamily="2" charset="-122"/>
                <a:ea typeface="宋体" panose="02010600030101010101" pitchFamily="2" charset="-122"/>
              </a:rPr>
              <a:t>求解下面</a:t>
            </a:r>
            <a:r>
              <a:rPr lang="zh-CN" altLang="en-US" kern="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凸规划</a:t>
            </a:r>
            <a:r>
              <a:rPr lang="zh-CN" altLang="en-US" kern="0" dirty="0">
                <a:latin typeface="宋体" panose="02010600030101010101" pitchFamily="2" charset="-122"/>
                <a:ea typeface="宋体" panose="02010600030101010101" pitchFamily="2" charset="-122"/>
              </a:rPr>
              <a:t>问题的最优解：</a:t>
            </a:r>
            <a:endParaRPr lang="en-US" altLang="zh-CN" kern="0" dirty="0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zh-CN" altLang="en-US" dirty="0"/>
          </a:p>
        </p:txBody>
      </p:sp>
      <p:sp>
        <p:nvSpPr>
          <p:cNvPr id="16" name="Text Box 33"/>
          <p:cNvSpPr txBox="1">
            <a:spLocks noChangeArrowheads="1"/>
          </p:cNvSpPr>
          <p:nvPr/>
        </p:nvSpPr>
        <p:spPr bwMode="auto">
          <a:xfrm>
            <a:off x="622300" y="5413062"/>
            <a:ext cx="80645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宋体" panose="02010600030101010101" pitchFamily="2" charset="-122"/>
              </a:rPr>
              <a:t> Frank, M. and Wolfe (1956) An algorithm for quadratic programming. Naval Research Logistics quarterly Research, Vol. 14, pp. 43-53.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29D19-DDD3-444E-9567-17C3091ACD9F}" type="datetime1">
              <a:rPr lang="en-US" altLang="zh-CN" smtClean="0"/>
              <a:pPr/>
              <a:t>3/31/2025</a:t>
            </a:fld>
            <a:endParaRPr lang="en-US"/>
          </a:p>
        </p:txBody>
      </p:sp>
      <p:sp>
        <p:nvSpPr>
          <p:cNvPr id="19" name="灯片编号占位符 18"/>
          <p:cNvSpPr>
            <a:spLocks noGrp="1"/>
          </p:cNvSpPr>
          <p:nvPr>
            <p:ph type="sldNum" sz="quarter" idx="12"/>
          </p:nvPr>
        </p:nvSpPr>
        <p:spPr>
          <a:xfrm>
            <a:off x="8686800" y="18288"/>
            <a:ext cx="1066800" cy="329184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75</a:t>
            </a:fld>
            <a:endParaRPr lang="en-US"/>
          </a:p>
        </p:txBody>
      </p:sp>
      <p:graphicFrame>
        <p:nvGraphicFramePr>
          <p:cNvPr id="18" name="Object 1">
            <a:extLst>
              <a:ext uri="{FF2B5EF4-FFF2-40B4-BE49-F238E27FC236}">
                <a16:creationId xmlns:a16="http://schemas.microsoft.com/office/drawing/2014/main" id="{84227042-5D54-4668-B932-6371B7D43F7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94981" y="2820490"/>
          <a:ext cx="2755824" cy="24073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41" name="Equation" r:id="rId3" imgW="2209680" imgH="1930320" progId="Equation.DSMT4">
                  <p:embed/>
                </p:oleObj>
              </mc:Choice>
              <mc:Fallback>
                <p:oleObj name="Equation" r:id="rId3" imgW="2209680" imgH="1930320" progId="Equation.DSMT4">
                  <p:embed/>
                  <p:pic>
                    <p:nvPicPr>
                      <p:cNvPr id="18" name="Object 1">
                        <a:extLst>
                          <a:ext uri="{FF2B5EF4-FFF2-40B4-BE49-F238E27FC236}">
                            <a16:creationId xmlns:a16="http://schemas.microsoft.com/office/drawing/2014/main" id="{84227042-5D54-4668-B932-6371B7D43F7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94981" y="2820490"/>
                        <a:ext cx="2755824" cy="240737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页脚占位符 2">
            <a:extLst>
              <a:ext uri="{FF2B5EF4-FFF2-40B4-BE49-F238E27FC236}">
                <a16:creationId xmlns:a16="http://schemas.microsoft.com/office/drawing/2014/main" id="{86D4F923-670B-4447-8D20-CE6E8D8C0E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8905" y="19050"/>
            <a:ext cx="4831731" cy="328613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交通大数据</a:t>
            </a: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· </a:t>
            </a: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东南大学 刘志远教授</a:t>
            </a:r>
            <a:endParaRPr kumimoji="0" lang="en-US" altLang="zh-CN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89902"/>
            <a:ext cx="8229600" cy="990600"/>
          </a:xfrm>
        </p:spPr>
        <p:txBody>
          <a:bodyPr>
            <a:normAutofit/>
          </a:bodyPr>
          <a:lstStyle/>
          <a:p>
            <a:pPr lvl="0">
              <a:spcBef>
                <a:spcPts val="0"/>
              </a:spcBef>
              <a:defRPr/>
            </a:pPr>
            <a:r>
              <a:rPr lang="en-US" altLang="zh-CN" b="1" kern="0" spc="0" dirty="0">
                <a:solidFill>
                  <a:srgbClr val="1F49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Frank-Wolfe </a:t>
            </a:r>
            <a:r>
              <a:rPr lang="zh-CN" altLang="en-US" kern="0" spc="0" dirty="0">
                <a:solidFill>
                  <a:srgbClr val="1F497D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算法</a:t>
            </a:r>
            <a:endParaRPr lang="zh-CN" altLang="en-US" sz="48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74750"/>
            <a:ext cx="8229600" cy="4876800"/>
          </a:xfrm>
        </p:spPr>
        <p:txBody>
          <a:bodyPr/>
          <a:lstStyle/>
          <a:p>
            <a:pPr marL="0" lvl="0" indent="0">
              <a:spcBef>
                <a:spcPct val="50000"/>
              </a:spcBef>
              <a:buClrTx/>
              <a:buSzPct val="70000"/>
              <a:buFont typeface="Wingdings" panose="05000000000000000000" pitchFamily="2" charset="2"/>
              <a:buChar char="q"/>
              <a:defRPr/>
            </a:pPr>
            <a:r>
              <a:rPr lang="en-US" altLang="zh-CN" b="1" kern="0" dirty="0">
                <a:solidFill>
                  <a:srgbClr val="0000FF"/>
                </a:solidFill>
                <a:ea typeface="宋体" panose="02010600030101010101" pitchFamily="2" charset="-122"/>
              </a:rPr>
              <a:t> </a:t>
            </a:r>
            <a:r>
              <a:rPr lang="zh-CN" altLang="en-US" b="1" kern="0" dirty="0">
                <a:solidFill>
                  <a:srgbClr val="0000FF"/>
                </a:solidFill>
                <a:ea typeface="宋体" panose="02010600030101010101" pitchFamily="2" charset="-122"/>
              </a:rPr>
              <a:t>算法步骤</a:t>
            </a:r>
            <a:endParaRPr lang="en-US" altLang="zh-CN" b="1" kern="0" dirty="0">
              <a:solidFill>
                <a:srgbClr val="0000FF"/>
              </a:solidFill>
              <a:ea typeface="宋体" panose="02010600030101010101" pitchFamily="2" charset="-122"/>
            </a:endParaRPr>
          </a:p>
          <a:p>
            <a:endParaRPr lang="zh-CN" altLang="en-US" dirty="0"/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457200" y="1726170"/>
            <a:ext cx="82835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Step 0: </a:t>
            </a:r>
            <a:r>
              <a:rPr lang="zh-CN" altLang="en-US" sz="2400" kern="0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选择一个初始可行点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x</a:t>
            </a:r>
            <a:r>
              <a:rPr kumimoji="0" lang="en-US" altLang="zh-CN" sz="2400" b="0" i="0" u="none" strike="noStrike" kern="0" cap="none" spc="0" normalizeH="0" baseline="3000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(0)</a:t>
            </a:r>
            <a:r>
              <a:rPr kumimoji="0" lang="en-US" altLang="zh-CN" sz="2400" b="0" i="0" u="none" strike="noStrike" kern="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2400" kern="0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，并令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k=0</a:t>
            </a:r>
            <a:endParaRPr kumimoji="0" lang="en-US" sz="2400" b="0" i="0" u="none" strike="noStrike" kern="0" cap="none" spc="0" normalizeH="0" baseline="-2500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Text Box 13"/>
          <p:cNvSpPr txBox="1">
            <a:spLocks noChangeArrowheads="1"/>
          </p:cNvSpPr>
          <p:nvPr/>
        </p:nvSpPr>
        <p:spPr bwMode="auto">
          <a:xfrm>
            <a:off x="457200" y="2257090"/>
            <a:ext cx="84582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812800" indent="-8128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99250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715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812800" marR="0" lvl="0" indent="-81280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Step 1: </a:t>
            </a:r>
            <a:r>
              <a:rPr lang="zh-CN" altLang="en-US" kern="0" dirty="0">
                <a:ea typeface="宋体" panose="02010600030101010101" pitchFamily="2" charset="-122"/>
              </a:rPr>
              <a:t>确定可行下降方向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r>
              <a:rPr kumimoji="0" lang="en-US" altLang="zh-CN" sz="2400" b="0" i="0" u="none" strike="noStrike" kern="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(k)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=y</a:t>
            </a:r>
            <a:r>
              <a:rPr kumimoji="0" lang="en-US" altLang="zh-CN" sz="2400" b="0" i="0" u="none" strike="noStrike" kern="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(k)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-x</a:t>
            </a:r>
            <a:r>
              <a:rPr kumimoji="0" lang="en-US" altLang="zh-CN" sz="2400" b="0" i="0" u="none" strike="noStrike" kern="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(k)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，其中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r>
              <a:rPr kumimoji="0" lang="en-US" altLang="zh-CN" sz="2400" b="0" i="0" u="none" strike="noStrike" kern="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(k)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kern="0" dirty="0">
                <a:ea typeface="宋体" panose="02010600030101010101" pitchFamily="2" charset="-122"/>
              </a:rPr>
              <a:t>是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kern="0" dirty="0">
                <a:ea typeface="宋体" panose="02010600030101010101" pitchFamily="2" charset="-122"/>
              </a:rPr>
              <a:t>如下问题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的最优解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: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AD95E-C63A-49BC-91A6-6BB7F5BD211C}" type="datetime1">
              <a:rPr lang="en-US" altLang="zh-CN" smtClean="0"/>
              <a:pPr/>
              <a:t>3/31/2025</a:t>
            </a:fld>
            <a:endParaRPr lang="en-US"/>
          </a:p>
        </p:txBody>
      </p:sp>
      <p:sp>
        <p:nvSpPr>
          <p:cNvPr id="20" name="灯片编号占位符 19"/>
          <p:cNvSpPr>
            <a:spLocks noGrp="1"/>
          </p:cNvSpPr>
          <p:nvPr>
            <p:ph type="sldNum" sz="quarter" idx="12"/>
          </p:nvPr>
        </p:nvSpPr>
        <p:spPr>
          <a:xfrm>
            <a:off x="8686800" y="18288"/>
            <a:ext cx="1066800" cy="329184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76</a:t>
            </a:fld>
            <a:endParaRPr lang="en-US"/>
          </a:p>
        </p:txBody>
      </p:sp>
      <p:graphicFrame>
        <p:nvGraphicFramePr>
          <p:cNvPr id="21" name="Object 1">
            <a:extLst>
              <a:ext uri="{FF2B5EF4-FFF2-40B4-BE49-F238E27FC236}">
                <a16:creationId xmlns:a16="http://schemas.microsoft.com/office/drawing/2014/main" id="{2E79551F-BB32-43C1-8DF5-5EDF53470D0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65197" y="3068218"/>
          <a:ext cx="3625850" cy="2501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165" name="Equation" r:id="rId3" imgW="2908080" imgH="2006280" progId="Equation.DSMT4">
                  <p:embed/>
                </p:oleObj>
              </mc:Choice>
              <mc:Fallback>
                <p:oleObj name="Equation" r:id="rId3" imgW="2908080" imgH="2006280" progId="Equation.DSMT4">
                  <p:embed/>
                  <p:pic>
                    <p:nvPicPr>
                      <p:cNvPr id="21" name="Object 1">
                        <a:extLst>
                          <a:ext uri="{FF2B5EF4-FFF2-40B4-BE49-F238E27FC236}">
                            <a16:creationId xmlns:a16="http://schemas.microsoft.com/office/drawing/2014/main" id="{2E79551F-BB32-43C1-8DF5-5EDF53470D0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5197" y="3068218"/>
                        <a:ext cx="3625850" cy="25019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页脚占位符 2">
            <a:extLst>
              <a:ext uri="{FF2B5EF4-FFF2-40B4-BE49-F238E27FC236}">
                <a16:creationId xmlns:a16="http://schemas.microsoft.com/office/drawing/2014/main" id="{173B36A4-843E-4ED7-8885-06D211DD7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8905" y="19050"/>
            <a:ext cx="4831731" cy="328613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交通大数据</a:t>
            </a: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· </a:t>
            </a: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东南大学 刘志远教授</a:t>
            </a:r>
            <a:endParaRPr kumimoji="0" lang="en-US" altLang="zh-CN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3F0E93-FF9A-4D4F-8F57-8C778FF3D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02E03A6-70BD-48A1-8A57-FA2A98E1F5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E6A5FF7-EACF-403E-BEA2-9AB0BE9AF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4A043-2C3F-4A22-8E22-A75B87C4687B}" type="datetime1">
              <a:rPr lang="en-US" altLang="zh-CN" smtClean="0"/>
              <a:pPr/>
              <a:t>3/31/2025</a:t>
            </a:fld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411B1D8-38CF-4CDE-A146-994934025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86800" y="15463"/>
            <a:ext cx="1066800" cy="329184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77</a:t>
            </a:fld>
            <a:endParaRPr 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FDA71F4-4988-4FB9-B7D5-1E671A5C2B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9" y="1709928"/>
            <a:ext cx="2982337" cy="258329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9E06D07E-550B-4A2E-AF72-197815CF4E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99" y="1577586"/>
            <a:ext cx="3171825" cy="2847975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6444DE72-7B5D-450F-9D2D-3DBD3612A8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937" y="1577586"/>
            <a:ext cx="2895600" cy="343852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EB26AB52-3086-4CE3-AF3F-A6610D2260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81411" y="1572323"/>
            <a:ext cx="5413727" cy="2983416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E663189C-4C06-4B74-9CBA-DA16F268D7C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1703" y="1429948"/>
            <a:ext cx="3476625" cy="373380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E903BCAE-B329-4C55-9B56-E883DC0C444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5656" y="1850830"/>
            <a:ext cx="3962400" cy="2695575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B2E63180-9134-4736-B0E6-DF16335033D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60450" y="1381124"/>
            <a:ext cx="3341766" cy="3926200"/>
          </a:xfrm>
          <a:prstGeom prst="rect">
            <a:avLst/>
          </a:prstGeom>
        </p:spPr>
      </p:pic>
      <p:sp>
        <p:nvSpPr>
          <p:cNvPr id="13" name="页脚占位符 2">
            <a:extLst>
              <a:ext uri="{FF2B5EF4-FFF2-40B4-BE49-F238E27FC236}">
                <a16:creationId xmlns:a16="http://schemas.microsoft.com/office/drawing/2014/main" id="{FCCC899E-4DFE-4B5E-9789-2335E09EC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8905" y="19050"/>
            <a:ext cx="4831731" cy="328613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交通大数据</a:t>
            </a: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· </a:t>
            </a: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东南大学 刘志远教授</a:t>
            </a:r>
            <a:endParaRPr kumimoji="0" lang="en-US" altLang="zh-CN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17118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spcBef>
                <a:spcPts val="0"/>
              </a:spcBef>
              <a:defRPr/>
            </a:pPr>
            <a:r>
              <a:rPr lang="en-US" altLang="zh-CN" b="1" kern="0" spc="0" dirty="0">
                <a:solidFill>
                  <a:srgbClr val="1F49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Frank-Wolfe </a:t>
            </a:r>
            <a:r>
              <a:rPr lang="zh-CN" altLang="en-US" kern="0" spc="0" dirty="0">
                <a:solidFill>
                  <a:srgbClr val="1F497D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算法</a:t>
            </a:r>
            <a:endParaRPr lang="zh-CN" altLang="en-US" sz="4800" dirty="0"/>
          </a:p>
        </p:txBody>
      </p:sp>
      <p:graphicFrame>
        <p:nvGraphicFramePr>
          <p:cNvPr id="5" name="Object 10"/>
          <p:cNvGraphicFramePr>
            <a:graphicFrameLocks noChangeAspect="1"/>
          </p:cNvGraphicFramePr>
          <p:nvPr/>
        </p:nvGraphicFramePr>
        <p:xfrm>
          <a:off x="1979613" y="2931500"/>
          <a:ext cx="367665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33" name="Equation" r:id="rId3" imgW="3352800" imgH="571500" progId="Equation.DSMT4">
                  <p:embed/>
                </p:oleObj>
              </mc:Choice>
              <mc:Fallback>
                <p:oleObj name="Equation" r:id="rId3" imgW="3352800" imgH="571500" progId="Equation.DSMT4">
                  <p:embed/>
                  <p:pic>
                    <p:nvPicPr>
                      <p:cNvPr id="5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613" y="2931500"/>
                        <a:ext cx="3676650" cy="571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Group 21"/>
          <p:cNvGrpSpPr/>
          <p:nvPr/>
        </p:nvGrpSpPr>
        <p:grpSpPr bwMode="auto">
          <a:xfrm>
            <a:off x="371475" y="1654479"/>
            <a:ext cx="8839200" cy="1130301"/>
            <a:chOff x="234" y="1811"/>
            <a:chExt cx="5568" cy="712"/>
          </a:xfrm>
        </p:grpSpPr>
        <p:sp>
          <p:nvSpPr>
            <p:cNvPr id="7" name="Text Box 9"/>
            <p:cNvSpPr txBox="1">
              <a:spLocks noChangeArrowheads="1"/>
            </p:cNvSpPr>
            <p:nvPr/>
          </p:nvSpPr>
          <p:spPr bwMode="auto">
            <a:xfrm>
              <a:off x="234" y="1811"/>
              <a:ext cx="5568" cy="7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798830" indent="-79883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10287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lvl="0" defTabSz="914400">
                <a:lnSpc>
                  <a:spcPct val="150000"/>
                </a:lnSpc>
                <a:spcBef>
                  <a:spcPct val="50000"/>
                </a:spcBef>
                <a:defRPr/>
              </a:pP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 Step 2:</a:t>
              </a:r>
              <a:r>
                <a:rPr lang="zh-CN" altLang="en-US" dirty="0">
                  <a:ea typeface="宋体" panose="02010600030101010101" pitchFamily="2" charset="-122"/>
                </a:rPr>
                <a:t>确定</a:t>
              </a:r>
              <a:r>
                <a:rPr lang="en-US" altLang="zh-CN" dirty="0">
                  <a:ea typeface="宋体" panose="02010600030101010101" pitchFamily="2" charset="-122"/>
                </a:rPr>
                <a:t>    </a:t>
              </a:r>
              <a:r>
                <a:rPr lang="zh-CN" altLang="en-US" dirty="0">
                  <a:ea typeface="宋体" panose="02010600030101010101" pitchFamily="2" charset="-122"/>
                </a:rPr>
                <a:t>：</a:t>
              </a:r>
              <a:r>
                <a:rPr lang="zh-CN" altLang="en-US" dirty="0">
                  <a:ea typeface="宋体" panose="02010600030101010101" pitchFamily="2" charset="-122"/>
                  <a:cs typeface="Times New Roman" panose="02020603050405020304" pitchFamily="18" charset="0"/>
                </a:rPr>
                <a:t>通过一维搜索法求解如下一元最小化问题的最优解来确定 </a:t>
              </a:r>
              <a:endParaRPr kumimoji="0" lang="el-GR" sz="2400" b="0" i="0" strike="noStrike" kern="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8" name="Object 14"/>
            <p:cNvGraphicFramePr>
              <a:graphicFrameLocks noChangeAspect="1"/>
            </p:cNvGraphicFramePr>
            <p:nvPr/>
          </p:nvGraphicFramePr>
          <p:xfrm>
            <a:off x="1247" y="1885"/>
            <a:ext cx="176" cy="2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0234" name="Equation" r:id="rId5" imgW="279400" imgH="330200" progId="Equation.DSMT4">
                    <p:embed/>
                  </p:oleObj>
                </mc:Choice>
                <mc:Fallback>
                  <p:oleObj name="Equation" r:id="rId5" imgW="279400" imgH="330200" progId="Equation.DSMT4">
                    <p:embed/>
                    <p:pic>
                      <p:nvPicPr>
                        <p:cNvPr id="8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47" y="1885"/>
                          <a:ext cx="176" cy="20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" name="Group 17"/>
          <p:cNvGrpSpPr/>
          <p:nvPr/>
        </p:nvGrpSpPr>
        <p:grpSpPr bwMode="auto">
          <a:xfrm>
            <a:off x="506412" y="3838368"/>
            <a:ext cx="8569325" cy="558800"/>
            <a:chOff x="249" y="2387"/>
            <a:chExt cx="5398" cy="352"/>
          </a:xfrm>
        </p:grpSpPr>
        <p:sp>
          <p:nvSpPr>
            <p:cNvPr id="10" name="Text Box 4"/>
            <p:cNvSpPr txBox="1">
              <a:spLocks noChangeArrowheads="1"/>
            </p:cNvSpPr>
            <p:nvPr/>
          </p:nvSpPr>
          <p:spPr bwMode="auto">
            <a:xfrm>
              <a:off x="249" y="2387"/>
              <a:ext cx="5398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977900" indent="-9779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10922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2065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977900" marR="0" lvl="0" indent="-97790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Step 3: </a:t>
              </a:r>
              <a:r>
                <a:rPr lang="zh-CN" altLang="en-US" kern="0" dirty="0">
                  <a:ea typeface="宋体" panose="02010600030101010101" pitchFamily="2" charset="-122"/>
                </a:rPr>
                <a:t>令</a:t>
              </a: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                                             </a:t>
              </a:r>
              <a:r>
                <a:rPr lang="zh-CN" altLang="en-US" kern="0" dirty="0">
                  <a:ea typeface="宋体" panose="02010600030101010101" pitchFamily="2" charset="-122"/>
                  <a:cs typeface="Times New Roman" panose="02020603050405020304" pitchFamily="18" charset="0"/>
                </a:rPr>
                <a:t>和</a:t>
              </a: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k=k+1</a:t>
              </a:r>
              <a:endParaRPr kumimoji="0" lang="el-GR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11" name="Object 16"/>
            <p:cNvGraphicFramePr>
              <a:graphicFrameLocks noChangeAspect="1"/>
            </p:cNvGraphicFramePr>
            <p:nvPr/>
          </p:nvGraphicFramePr>
          <p:xfrm>
            <a:off x="1060" y="2387"/>
            <a:ext cx="2120" cy="3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0235" name="Equation" r:id="rId7" imgW="3365500" imgH="558800" progId="Equation.DSMT4">
                    <p:embed/>
                  </p:oleObj>
                </mc:Choice>
                <mc:Fallback>
                  <p:oleObj name="Equation" r:id="rId7" imgW="3365500" imgH="558800" progId="Equation.DSMT4">
                    <p:embed/>
                    <p:pic>
                      <p:nvPicPr>
                        <p:cNvPr id="11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60" y="2387"/>
                          <a:ext cx="2120" cy="35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2" name="Group 18"/>
          <p:cNvGrpSpPr/>
          <p:nvPr/>
        </p:nvGrpSpPr>
        <p:grpSpPr bwMode="auto">
          <a:xfrm>
            <a:off x="503493" y="4659470"/>
            <a:ext cx="8507413" cy="1276352"/>
            <a:chOff x="288" y="3612"/>
            <a:chExt cx="5359" cy="804"/>
          </a:xfrm>
        </p:grpSpPr>
        <p:sp>
          <p:nvSpPr>
            <p:cNvPr id="13" name="Text Box 19"/>
            <p:cNvSpPr txBox="1">
              <a:spLocks noChangeArrowheads="1"/>
            </p:cNvSpPr>
            <p:nvPr/>
          </p:nvSpPr>
          <p:spPr bwMode="auto">
            <a:xfrm>
              <a:off x="288" y="3702"/>
              <a:ext cx="5359" cy="7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914400" indent="-9144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10287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914400" marR="0" lvl="0" indent="-914400" defTabSz="914400" eaLnBrk="1" fontAlgn="auto" latinLnBrk="0" hangingPunct="1">
                <a:lnSpc>
                  <a:spcPct val="15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Step 4: </a:t>
              </a:r>
              <a:r>
                <a:rPr kumimoji="0" lang="zh-CN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如果</a:t>
              </a: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                                           ,</a:t>
              </a:r>
              <a:r>
                <a:rPr lang="zh-CN" altLang="en-US" kern="0" dirty="0">
                  <a:ea typeface="宋体" panose="02010600030101010101" pitchFamily="2" charset="-122"/>
                </a:rPr>
                <a:t>则停止迭代；否则，转到</a:t>
              </a: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 Step 1 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14" name="Object 20"/>
            <p:cNvGraphicFramePr>
              <a:graphicFrameLocks noChangeAspect="1"/>
            </p:cNvGraphicFramePr>
            <p:nvPr/>
          </p:nvGraphicFramePr>
          <p:xfrm>
            <a:off x="1349" y="3612"/>
            <a:ext cx="1938" cy="5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0236" name="Equation" r:id="rId9" imgW="2590560" imgH="812520" progId="Equation.DSMT4">
                    <p:embed/>
                  </p:oleObj>
                </mc:Choice>
                <mc:Fallback>
                  <p:oleObj name="Equation" r:id="rId9" imgW="2590560" imgH="812520" progId="Equation.DSMT4">
                    <p:embed/>
                    <p:pic>
                      <p:nvPicPr>
                        <p:cNvPr id="14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49" y="3612"/>
                          <a:ext cx="1938" cy="51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5" name="Object 14"/>
          <p:cNvGraphicFramePr>
            <a:graphicFrameLocks noChangeAspect="1"/>
          </p:cNvGraphicFramePr>
          <p:nvPr/>
        </p:nvGraphicFramePr>
        <p:xfrm>
          <a:off x="2469864" y="2373154"/>
          <a:ext cx="2794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37" name="Equation" r:id="rId11" imgW="279400" imgH="330200" progId="Equation.DSMT4">
                  <p:embed/>
                </p:oleObj>
              </mc:Choice>
              <mc:Fallback>
                <p:oleObj name="Equation" r:id="rId11" imgW="279400" imgH="330200" progId="Equation.DSMT4">
                  <p:embed/>
                  <p:pic>
                    <p:nvPicPr>
                      <p:cNvPr id="15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9864" y="2373154"/>
                        <a:ext cx="279400" cy="330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F206F-F5B8-4B38-8E0F-4171C8883A1C}" type="datetime1">
              <a:rPr lang="en-US" altLang="zh-CN" smtClean="0"/>
              <a:pPr/>
              <a:t>3/31/2025</a:t>
            </a:fld>
            <a:endParaRPr lang="en-US"/>
          </a:p>
        </p:txBody>
      </p:sp>
      <p:sp>
        <p:nvSpPr>
          <p:cNvPr id="17" name="灯片编号占位符 16"/>
          <p:cNvSpPr>
            <a:spLocks noGrp="1"/>
          </p:cNvSpPr>
          <p:nvPr>
            <p:ph type="sldNum" sz="quarter" idx="12"/>
          </p:nvPr>
        </p:nvSpPr>
        <p:spPr>
          <a:xfrm>
            <a:off x="8686800" y="36532"/>
            <a:ext cx="1066800" cy="329184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78</a:t>
            </a:fld>
            <a:endParaRPr lang="en-US" dirty="0"/>
          </a:p>
        </p:txBody>
      </p:sp>
      <p:sp>
        <p:nvSpPr>
          <p:cNvPr id="16" name="页脚占位符 2">
            <a:extLst>
              <a:ext uri="{FF2B5EF4-FFF2-40B4-BE49-F238E27FC236}">
                <a16:creationId xmlns:a16="http://schemas.microsoft.com/office/drawing/2014/main" id="{BB74FBB0-A292-41FA-B468-5FA45416BA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8905" y="19050"/>
            <a:ext cx="4831731" cy="328613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交通大数据</a:t>
            </a: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· </a:t>
            </a: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东南大学 刘志远教授</a:t>
            </a:r>
            <a:endParaRPr kumimoji="0" lang="en-US" altLang="zh-CN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b="1" kern="0" spc="0" dirty="0">
                <a:solidFill>
                  <a:srgbClr val="1F49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Frank-Wolfe </a:t>
            </a:r>
            <a:r>
              <a:rPr lang="zh-CN" altLang="en-US" kern="0" spc="0" dirty="0">
                <a:solidFill>
                  <a:srgbClr val="1F497D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算法</a:t>
            </a:r>
            <a:endParaRPr lang="zh-CN" altLang="en-US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ct val="50000"/>
              </a:spcBef>
              <a:buClrTx/>
              <a:buSzPct val="70000"/>
              <a:buFont typeface="Wingdings" panose="05000000000000000000" pitchFamily="2" charset="2"/>
              <a:buChar char="q"/>
              <a:defRPr/>
            </a:pPr>
            <a:r>
              <a:rPr lang="en-US" altLang="zh-CN" b="1" kern="0" dirty="0">
                <a:solidFill>
                  <a:srgbClr val="0000FF"/>
                </a:solidFill>
                <a:ea typeface="宋体" panose="02010600030101010101" pitchFamily="2" charset="-122"/>
              </a:rPr>
              <a:t> </a:t>
            </a:r>
            <a:r>
              <a:rPr lang="zh-CN" altLang="en-US" b="1" kern="0" dirty="0">
                <a:solidFill>
                  <a:srgbClr val="0000FF"/>
                </a:solidFill>
                <a:ea typeface="宋体" panose="02010600030101010101" pitchFamily="2" charset="-122"/>
              </a:rPr>
              <a:t>例</a:t>
            </a:r>
            <a:endParaRPr lang="en-US" altLang="zh-CN" b="1" kern="0" dirty="0">
              <a:solidFill>
                <a:srgbClr val="0000FF"/>
              </a:solidFill>
              <a:ea typeface="宋体" panose="02010600030101010101" pitchFamily="2" charset="-122"/>
            </a:endParaRPr>
          </a:p>
          <a:p>
            <a:endParaRPr lang="zh-CN" altLang="en-US" dirty="0"/>
          </a:p>
        </p:txBody>
      </p:sp>
      <p:graphicFrame>
        <p:nvGraphicFramePr>
          <p:cNvPr id="5" name="Object 6"/>
          <p:cNvGraphicFramePr>
            <a:graphicFrameLocks noChangeAspect="1"/>
          </p:cNvGraphicFramePr>
          <p:nvPr/>
        </p:nvGraphicFramePr>
        <p:xfrm>
          <a:off x="787400" y="3432175"/>
          <a:ext cx="37846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46" name="Equation" r:id="rId3" imgW="3784600" imgH="495300" progId="Equation.DSMT4">
                  <p:embed/>
                </p:oleObj>
              </mc:Choice>
              <mc:Fallback>
                <p:oleObj name="Equation" r:id="rId3" imgW="3784600" imgH="495300" progId="Equation.DSMT4">
                  <p:embed/>
                  <p:pic>
                    <p:nvPicPr>
                      <p:cNvPr id="5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7400" y="3432175"/>
                        <a:ext cx="3784600" cy="495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7"/>
          <p:cNvGraphicFramePr>
            <a:graphicFrameLocks noChangeAspect="1"/>
          </p:cNvGraphicFramePr>
          <p:nvPr/>
        </p:nvGraphicFramePr>
        <p:xfrm>
          <a:off x="1219200" y="4656137"/>
          <a:ext cx="12700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47" name="Equation" r:id="rId5" imgW="1269449" imgH="380835" progId="Equation.DSMT4">
                  <p:embed/>
                </p:oleObj>
              </mc:Choice>
              <mc:Fallback>
                <p:oleObj name="Equation" r:id="rId5" imgW="1269449" imgH="380835" progId="Equation.DSMT4">
                  <p:embed/>
                  <p:pic>
                    <p:nvPicPr>
                      <p:cNvPr id="6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4656137"/>
                        <a:ext cx="1270000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8"/>
          <p:cNvGraphicFramePr>
            <a:graphicFrameLocks noChangeAspect="1"/>
          </p:cNvGraphicFramePr>
          <p:nvPr/>
        </p:nvGraphicFramePr>
        <p:xfrm>
          <a:off x="1290638" y="5232400"/>
          <a:ext cx="7239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48" name="Equation" r:id="rId7" imgW="723586" imgH="380835" progId="Equation.DSMT4">
                  <p:embed/>
                </p:oleObj>
              </mc:Choice>
              <mc:Fallback>
                <p:oleObj name="Equation" r:id="rId7" imgW="723586" imgH="380835" progId="Equation.DSMT4">
                  <p:embed/>
                  <p:pic>
                    <p:nvPicPr>
                      <p:cNvPr id="7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0638" y="5232400"/>
                        <a:ext cx="723900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9"/>
          <p:cNvGraphicFramePr>
            <a:graphicFrameLocks noChangeAspect="1"/>
          </p:cNvGraphicFramePr>
          <p:nvPr/>
        </p:nvGraphicFramePr>
        <p:xfrm>
          <a:off x="1290638" y="5808662"/>
          <a:ext cx="7493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49" name="Equation" r:id="rId9" imgW="748975" imgH="380835" progId="Equation.DSMT4">
                  <p:embed/>
                </p:oleObj>
              </mc:Choice>
              <mc:Fallback>
                <p:oleObj name="Equation" r:id="rId9" imgW="748975" imgH="380835" progId="Equation.DSMT4">
                  <p:embed/>
                  <p:pic>
                    <p:nvPicPr>
                      <p:cNvPr id="8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0638" y="5808662"/>
                        <a:ext cx="749300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10"/>
          <p:cNvSpPr txBox="1">
            <a:spLocks noChangeArrowheads="1"/>
          </p:cNvSpPr>
          <p:nvPr/>
        </p:nvSpPr>
        <p:spPr bwMode="auto">
          <a:xfrm>
            <a:off x="282575" y="4079875"/>
            <a:ext cx="15113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subject to</a:t>
            </a:r>
          </a:p>
        </p:txBody>
      </p:sp>
      <p:sp>
        <p:nvSpPr>
          <p:cNvPr id="10" name="Text Box 11"/>
          <p:cNvSpPr txBox="1">
            <a:spLocks noChangeArrowheads="1"/>
          </p:cNvSpPr>
          <p:nvPr/>
        </p:nvSpPr>
        <p:spPr bwMode="auto">
          <a:xfrm>
            <a:off x="715963" y="2136775"/>
            <a:ext cx="8002587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FF66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5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用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F-W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算</a:t>
            </a:r>
            <a:r>
              <a:rPr kumimoji="0" lang="zh-CN" altLang="en-US" sz="240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法求解下面最小化问题的最优解，停止条件为</a:t>
            </a:r>
            <a:r>
              <a:rPr kumimoji="0" lang="en-US" sz="240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kumimoji="0" lang="el-GR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cs typeface="Times New Roman" panose="02020603050405020304" pitchFamily="18" charset="0"/>
              </a:rPr>
              <a:t>ε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cs typeface="Times New Roman" panose="02020603050405020304" pitchFamily="18" charset="0"/>
              </a:rPr>
              <a:t>=0.01 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cs typeface="Times New Roman" panose="02020603050405020304" pitchFamily="18" charset="0"/>
              </a:rPr>
              <a:t>，</a:t>
            </a:r>
            <a:r>
              <a:rPr kumimoji="0" lang="zh-CN" altLang="en-US" sz="240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初始解为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cs typeface="Times New Roman" panose="02020603050405020304" pitchFamily="18" charset="0"/>
              </a:rPr>
              <a:t> x</a:t>
            </a:r>
            <a:r>
              <a:rPr kumimoji="0" lang="en-US" sz="2400" b="0" i="0" u="none" strike="noStrike" kern="0" cap="none" spc="0" normalizeH="0" baseline="30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cs typeface="Times New Roman" panose="02020603050405020304" pitchFamily="18" charset="0"/>
              </a:rPr>
              <a:t>(0)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cs typeface="Times New Roman" panose="02020603050405020304" pitchFamily="18" charset="0"/>
              </a:rPr>
              <a:t> =(0,0)</a:t>
            </a:r>
            <a:endParaRPr kumimoji="0" lang="el-GR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cs typeface="Times New Roman" panose="02020603050405020304" pitchFamily="18" charset="0"/>
            </a:endParaRPr>
          </a:p>
        </p:txBody>
      </p:sp>
      <p:grpSp>
        <p:nvGrpSpPr>
          <p:cNvPr id="22" name="Group 12"/>
          <p:cNvGrpSpPr/>
          <p:nvPr/>
        </p:nvGrpSpPr>
        <p:grpSpPr bwMode="auto">
          <a:xfrm>
            <a:off x="5364163" y="3573463"/>
            <a:ext cx="3311525" cy="2616200"/>
            <a:chOff x="2880" y="709"/>
            <a:chExt cx="2086" cy="1648"/>
          </a:xfrm>
        </p:grpSpPr>
        <p:sp>
          <p:nvSpPr>
            <p:cNvPr id="23" name="Line 13"/>
            <p:cNvSpPr>
              <a:spLocks noChangeShapeType="1"/>
            </p:cNvSpPr>
            <p:nvPr/>
          </p:nvSpPr>
          <p:spPr bwMode="auto">
            <a:xfrm flipV="1">
              <a:off x="3243" y="2024"/>
              <a:ext cx="1587" cy="0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4" name="Line 14"/>
            <p:cNvSpPr>
              <a:spLocks noChangeShapeType="1"/>
            </p:cNvSpPr>
            <p:nvPr/>
          </p:nvSpPr>
          <p:spPr bwMode="auto">
            <a:xfrm flipV="1">
              <a:off x="3243" y="845"/>
              <a:ext cx="0" cy="1179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5" name="Text Box 15"/>
            <p:cNvSpPr txBox="1">
              <a:spLocks noChangeArrowheads="1"/>
            </p:cNvSpPr>
            <p:nvPr/>
          </p:nvSpPr>
          <p:spPr bwMode="auto">
            <a:xfrm>
              <a:off x="4649" y="2069"/>
              <a:ext cx="31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accent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x</a:t>
              </a:r>
              <a:r>
                <a:rPr kumimoji="0" lang="en-US" sz="2400" b="0" i="0" u="none" strike="noStrike" kern="0" cap="none" spc="0" normalizeH="0" baseline="-2500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1</a:t>
              </a:r>
            </a:p>
          </p:txBody>
        </p:sp>
        <p:sp>
          <p:nvSpPr>
            <p:cNvPr id="26" name="Text Box 16"/>
            <p:cNvSpPr txBox="1">
              <a:spLocks noChangeArrowheads="1"/>
            </p:cNvSpPr>
            <p:nvPr/>
          </p:nvSpPr>
          <p:spPr bwMode="auto">
            <a:xfrm>
              <a:off x="2880" y="709"/>
              <a:ext cx="31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accent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x</a:t>
              </a:r>
              <a:r>
                <a:rPr kumimoji="0" lang="en-US" sz="2400" b="0" i="0" u="none" strike="noStrike" kern="0" cap="none" spc="0" normalizeH="0" baseline="-2500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2</a:t>
              </a:r>
            </a:p>
          </p:txBody>
        </p:sp>
        <p:sp>
          <p:nvSpPr>
            <p:cNvPr id="27" name="Line 17"/>
            <p:cNvSpPr>
              <a:spLocks noChangeShapeType="1"/>
            </p:cNvSpPr>
            <p:nvPr/>
          </p:nvSpPr>
          <p:spPr bwMode="auto">
            <a:xfrm>
              <a:off x="3061" y="1071"/>
              <a:ext cx="1271" cy="1180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8" name="Text Box 18"/>
            <p:cNvSpPr txBox="1">
              <a:spLocks noChangeArrowheads="1"/>
            </p:cNvSpPr>
            <p:nvPr/>
          </p:nvSpPr>
          <p:spPr bwMode="auto">
            <a:xfrm>
              <a:off x="3560" y="1117"/>
              <a:ext cx="99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accent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x</a:t>
              </a:r>
              <a:r>
                <a:rPr kumimoji="0" lang="en-US" sz="2400" b="0" i="0" u="none" strike="noStrike" kern="0" cap="none" spc="0" normalizeH="0" baseline="-2500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1</a:t>
              </a:r>
              <a:r>
                <a: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+x</a:t>
              </a:r>
              <a:r>
                <a:rPr kumimoji="0" lang="en-US" sz="2400" b="0" i="0" u="none" strike="noStrike" kern="0" cap="none" spc="0" normalizeH="0" baseline="-2500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2</a:t>
              </a:r>
              <a:r>
                <a: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=2</a:t>
              </a:r>
            </a:p>
          </p:txBody>
        </p:sp>
        <p:grpSp>
          <p:nvGrpSpPr>
            <p:cNvPr id="29" name="Group 19"/>
            <p:cNvGrpSpPr/>
            <p:nvPr/>
          </p:nvGrpSpPr>
          <p:grpSpPr bwMode="auto">
            <a:xfrm>
              <a:off x="3243" y="1253"/>
              <a:ext cx="817" cy="771"/>
              <a:chOff x="3242" y="1253"/>
              <a:chExt cx="817" cy="771"/>
            </a:xfrm>
          </p:grpSpPr>
          <p:sp>
            <p:nvSpPr>
              <p:cNvPr id="30" name="Line 20"/>
              <p:cNvSpPr>
                <a:spLocks noChangeShapeType="1"/>
              </p:cNvSpPr>
              <p:nvPr/>
            </p:nvSpPr>
            <p:spPr bwMode="auto">
              <a:xfrm>
                <a:off x="3242" y="1255"/>
                <a:ext cx="1" cy="769"/>
              </a:xfrm>
              <a:prstGeom prst="line">
                <a:avLst/>
              </a:prstGeom>
              <a:noFill/>
              <a:ln w="25400">
                <a:solidFill>
                  <a:srgbClr val="FF66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1" name="Line 21"/>
              <p:cNvSpPr>
                <a:spLocks noChangeShapeType="1"/>
              </p:cNvSpPr>
              <p:nvPr/>
            </p:nvSpPr>
            <p:spPr bwMode="auto">
              <a:xfrm>
                <a:off x="3243" y="2024"/>
                <a:ext cx="816" cy="0"/>
              </a:xfrm>
              <a:prstGeom prst="line">
                <a:avLst/>
              </a:prstGeom>
              <a:noFill/>
              <a:ln w="25400">
                <a:solidFill>
                  <a:srgbClr val="FF66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2" name="Line 22"/>
              <p:cNvSpPr>
                <a:spLocks noChangeShapeType="1"/>
              </p:cNvSpPr>
              <p:nvPr/>
            </p:nvSpPr>
            <p:spPr bwMode="auto">
              <a:xfrm>
                <a:off x="3243" y="1253"/>
                <a:ext cx="816" cy="771"/>
              </a:xfrm>
              <a:prstGeom prst="line">
                <a:avLst/>
              </a:prstGeom>
              <a:noFill/>
              <a:ln w="25400">
                <a:solidFill>
                  <a:srgbClr val="FF66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</p:grpSp>
      </p:grpSp>
      <p:sp>
        <p:nvSpPr>
          <p:cNvPr id="33" name="Oval 23"/>
          <p:cNvSpPr>
            <a:spLocks noChangeArrowheads="1"/>
          </p:cNvSpPr>
          <p:nvPr/>
        </p:nvSpPr>
        <p:spPr bwMode="auto">
          <a:xfrm>
            <a:off x="5867400" y="5589588"/>
            <a:ext cx="144463" cy="144462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accent2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AU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4" name="Oval 24"/>
          <p:cNvSpPr>
            <a:spLocks noChangeArrowheads="1"/>
          </p:cNvSpPr>
          <p:nvPr/>
        </p:nvSpPr>
        <p:spPr bwMode="auto">
          <a:xfrm>
            <a:off x="6084888" y="4581525"/>
            <a:ext cx="144462" cy="144463"/>
          </a:xfrm>
          <a:prstGeom prst="ellipse">
            <a:avLst/>
          </a:prstGeom>
          <a:solidFill>
            <a:srgbClr val="FF0000"/>
          </a:solidFill>
          <a:ln w="25400">
            <a:solidFill>
              <a:srgbClr val="FF66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AU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5" name="Text Box 25"/>
          <p:cNvSpPr txBox="1">
            <a:spLocks noChangeArrowheads="1"/>
          </p:cNvSpPr>
          <p:nvPr/>
        </p:nvSpPr>
        <p:spPr bwMode="auto">
          <a:xfrm>
            <a:off x="4932363" y="5949950"/>
            <a:ext cx="15843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FF66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x</a:t>
            </a:r>
            <a:r>
              <a:rPr kumimoji="0" lang="en-US" sz="2400" b="0" i="0" u="none" strike="noStrike" kern="0" cap="none" spc="0" normalizeH="0" baseline="30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(0)</a:t>
            </a: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=(0,0)</a:t>
            </a:r>
          </a:p>
        </p:txBody>
      </p:sp>
      <p:sp>
        <p:nvSpPr>
          <p:cNvPr id="36" name="Text Box 26"/>
          <p:cNvSpPr txBox="1">
            <a:spLocks noChangeArrowheads="1"/>
          </p:cNvSpPr>
          <p:nvPr/>
        </p:nvSpPr>
        <p:spPr bwMode="auto">
          <a:xfrm>
            <a:off x="6156325" y="3573463"/>
            <a:ext cx="19431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FF66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x</a:t>
            </a:r>
            <a:r>
              <a:rPr kumimoji="0" lang="en-US" sz="2400" b="0" i="0" u="none" strike="noStrike" kern="0" cap="none" spc="0" normalizeH="0" baseline="30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*</a:t>
            </a: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=(0.5,1.5)</a:t>
            </a:r>
          </a:p>
        </p:txBody>
      </p:sp>
      <p:sp>
        <p:nvSpPr>
          <p:cNvPr id="37" name="Line 27"/>
          <p:cNvSpPr>
            <a:spLocks noChangeShapeType="1"/>
          </p:cNvSpPr>
          <p:nvPr/>
        </p:nvSpPr>
        <p:spPr bwMode="auto">
          <a:xfrm flipV="1">
            <a:off x="5580063" y="5734050"/>
            <a:ext cx="287337" cy="358775"/>
          </a:xfrm>
          <a:prstGeom prst="line">
            <a:avLst/>
          </a:prstGeom>
          <a:noFill/>
          <a:ln w="25400">
            <a:solidFill>
              <a:srgbClr val="FF66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AU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8" name="Line 28"/>
          <p:cNvSpPr>
            <a:spLocks noChangeShapeType="1"/>
          </p:cNvSpPr>
          <p:nvPr/>
        </p:nvSpPr>
        <p:spPr bwMode="auto">
          <a:xfrm flipH="1">
            <a:off x="6156325" y="3933825"/>
            <a:ext cx="144463" cy="647700"/>
          </a:xfrm>
          <a:prstGeom prst="line">
            <a:avLst/>
          </a:prstGeom>
          <a:noFill/>
          <a:ln w="25400">
            <a:solidFill>
              <a:srgbClr val="FF66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AU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6A01C-FFD5-41BB-B6AF-84D00A300B9F}" type="datetime1">
              <a:rPr lang="en-US" altLang="zh-CN" smtClean="0"/>
              <a:pPr/>
              <a:t>3/31/2025</a:t>
            </a:fld>
            <a:endParaRPr lang="en-US"/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2"/>
          </p:nvPr>
        </p:nvSpPr>
        <p:spPr>
          <a:xfrm>
            <a:off x="8718550" y="18288"/>
            <a:ext cx="1066800" cy="329184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79</a:t>
            </a:fld>
            <a:endParaRPr lang="en-US"/>
          </a:p>
        </p:txBody>
      </p:sp>
      <p:sp>
        <p:nvSpPr>
          <p:cNvPr id="39" name="页脚占位符 2">
            <a:extLst>
              <a:ext uri="{FF2B5EF4-FFF2-40B4-BE49-F238E27FC236}">
                <a16:creationId xmlns:a16="http://schemas.microsoft.com/office/drawing/2014/main" id="{F3756BDA-A6F8-4E6C-93C3-F6BE05C1B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8905" y="19050"/>
            <a:ext cx="4831731" cy="328613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交通大数据</a:t>
            </a: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· </a:t>
            </a: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东南大学 刘志远教授</a:t>
            </a:r>
            <a:endParaRPr kumimoji="0" lang="en-US" altLang="zh-CN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4" grpId="0" animBg="1"/>
      <p:bldP spid="35" grpId="0"/>
      <p:bldP spid="36" grpId="0"/>
      <p:bldP spid="37" grpId="0" animBg="1"/>
      <p:bldP spid="38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7818" y="260401"/>
            <a:ext cx="8229600" cy="990600"/>
          </a:xfrm>
        </p:spPr>
        <p:txBody>
          <a:bodyPr>
            <a:normAutofit/>
          </a:bodyPr>
          <a:lstStyle/>
          <a:p>
            <a:r>
              <a:rPr lang="en-US" altLang="zh-CN" b="1" kern="0" spc="0" dirty="0">
                <a:solidFill>
                  <a:srgbClr val="1F49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Frank-Wolfe </a:t>
            </a:r>
            <a:r>
              <a:rPr lang="zh-CN" altLang="en-US" kern="0" spc="0" dirty="0">
                <a:solidFill>
                  <a:srgbClr val="1F497D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算法</a:t>
            </a:r>
            <a:endParaRPr lang="zh-CN" altLang="en-US" b="1" dirty="0"/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378280" y="1081933"/>
            <a:ext cx="259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FF66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400" u="sng" kern="0" dirty="0">
                <a:solidFill>
                  <a:sysClr val="windowText" lastClr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迭代</a:t>
            </a:r>
            <a:r>
              <a:rPr kumimoji="0" lang="en-US" sz="2400" b="1" i="0" u="sng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</a:t>
            </a:r>
            <a:r>
              <a:rPr kumimoji="0" lang="en-US" sz="2400" u="sng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1(k=0)</a:t>
            </a:r>
          </a:p>
        </p:txBody>
      </p:sp>
      <p:graphicFrame>
        <p:nvGraphicFramePr>
          <p:cNvPr id="6" name="Object 6"/>
          <p:cNvGraphicFramePr>
            <a:graphicFrameLocks noChangeAspect="1"/>
          </p:cNvGraphicFramePr>
          <p:nvPr/>
        </p:nvGraphicFramePr>
        <p:xfrm>
          <a:off x="495756" y="1666421"/>
          <a:ext cx="248920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03" name="Equation" r:id="rId3" imgW="2489200" imgH="558800" progId="Equation.DSMT4">
                  <p:embed/>
                </p:oleObj>
              </mc:Choice>
              <mc:Fallback>
                <p:oleObj name="Equation" r:id="rId3" imgW="2489200" imgH="558800" progId="Equation.DSMT4">
                  <p:embed/>
                  <p:pic>
                    <p:nvPicPr>
                      <p:cNvPr id="6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756" y="1666421"/>
                        <a:ext cx="2489200" cy="558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11"/>
          <p:cNvSpPr txBox="1">
            <a:spLocks noChangeArrowheads="1"/>
          </p:cNvSpPr>
          <p:nvPr/>
        </p:nvSpPr>
        <p:spPr bwMode="auto">
          <a:xfrm>
            <a:off x="378280" y="2293195"/>
            <a:ext cx="58324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FF66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(1)</a:t>
            </a:r>
            <a:r>
              <a:rPr lang="zh-CN" altLang="en-US" sz="2400" kern="0" dirty="0">
                <a:solidFill>
                  <a:sysClr val="windowText" lastClr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解下面的线性规划问题确定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y</a:t>
            </a:r>
            <a:r>
              <a:rPr kumimoji="0" lang="en-US" sz="2400" b="0" i="0" u="none" strike="noStrike" kern="0" cap="none" spc="0" normalizeH="0" baseline="30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(0)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:</a:t>
            </a:r>
          </a:p>
        </p:txBody>
      </p:sp>
      <p:grpSp>
        <p:nvGrpSpPr>
          <p:cNvPr id="8" name="Group 13"/>
          <p:cNvGrpSpPr/>
          <p:nvPr/>
        </p:nvGrpSpPr>
        <p:grpSpPr bwMode="auto">
          <a:xfrm>
            <a:off x="5886905" y="1248461"/>
            <a:ext cx="3311525" cy="2616200"/>
            <a:chOff x="2880" y="709"/>
            <a:chExt cx="2086" cy="1648"/>
          </a:xfrm>
        </p:grpSpPr>
        <p:sp>
          <p:nvSpPr>
            <p:cNvPr id="9" name="Line 14"/>
            <p:cNvSpPr>
              <a:spLocks noChangeShapeType="1"/>
            </p:cNvSpPr>
            <p:nvPr/>
          </p:nvSpPr>
          <p:spPr bwMode="auto">
            <a:xfrm flipV="1">
              <a:off x="3243" y="2024"/>
              <a:ext cx="1587" cy="0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" name="Line 15"/>
            <p:cNvSpPr>
              <a:spLocks noChangeShapeType="1"/>
            </p:cNvSpPr>
            <p:nvPr/>
          </p:nvSpPr>
          <p:spPr bwMode="auto">
            <a:xfrm flipV="1">
              <a:off x="3243" y="845"/>
              <a:ext cx="0" cy="1179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" name="Text Box 16"/>
            <p:cNvSpPr txBox="1">
              <a:spLocks noChangeArrowheads="1"/>
            </p:cNvSpPr>
            <p:nvPr/>
          </p:nvSpPr>
          <p:spPr bwMode="auto">
            <a:xfrm>
              <a:off x="4649" y="2069"/>
              <a:ext cx="31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accent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y</a:t>
              </a:r>
              <a:r>
                <a:rPr kumimoji="0" lang="en-US" sz="2400" b="0" i="0" u="none" strike="noStrike" kern="0" cap="none" spc="0" normalizeH="0" baseline="-2500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1</a:t>
              </a:r>
            </a:p>
          </p:txBody>
        </p:sp>
        <p:sp>
          <p:nvSpPr>
            <p:cNvPr id="12" name="Text Box 17"/>
            <p:cNvSpPr txBox="1">
              <a:spLocks noChangeArrowheads="1"/>
            </p:cNvSpPr>
            <p:nvPr/>
          </p:nvSpPr>
          <p:spPr bwMode="auto">
            <a:xfrm>
              <a:off x="2880" y="709"/>
              <a:ext cx="31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accent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y</a:t>
              </a:r>
              <a:r>
                <a:rPr kumimoji="0" lang="en-US" sz="2400" b="0" i="0" u="none" strike="noStrike" kern="0" cap="none" spc="0" normalizeH="0" baseline="-2500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2</a:t>
              </a:r>
            </a:p>
          </p:txBody>
        </p:sp>
        <p:sp>
          <p:nvSpPr>
            <p:cNvPr id="13" name="Line 18"/>
            <p:cNvSpPr>
              <a:spLocks noChangeShapeType="1"/>
            </p:cNvSpPr>
            <p:nvPr/>
          </p:nvSpPr>
          <p:spPr bwMode="auto">
            <a:xfrm>
              <a:off x="3061" y="1071"/>
              <a:ext cx="1271" cy="1180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4" name="Text Box 19"/>
            <p:cNvSpPr txBox="1">
              <a:spLocks noChangeArrowheads="1"/>
            </p:cNvSpPr>
            <p:nvPr/>
          </p:nvSpPr>
          <p:spPr bwMode="auto">
            <a:xfrm>
              <a:off x="3560" y="1117"/>
              <a:ext cx="99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accent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y</a:t>
              </a:r>
              <a:r>
                <a:rPr kumimoji="0" lang="en-US" sz="2400" b="0" i="0" u="none" strike="noStrike" kern="0" cap="none" spc="0" normalizeH="0" baseline="-2500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1</a:t>
              </a:r>
              <a:r>
                <a: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+y</a:t>
              </a:r>
              <a:r>
                <a:rPr kumimoji="0" lang="en-US" sz="2400" b="0" i="0" u="none" strike="noStrike" kern="0" cap="none" spc="0" normalizeH="0" baseline="-2500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2</a:t>
              </a:r>
              <a:r>
                <a: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=2</a:t>
              </a:r>
            </a:p>
          </p:txBody>
        </p:sp>
        <p:grpSp>
          <p:nvGrpSpPr>
            <p:cNvPr id="15" name="Group 20"/>
            <p:cNvGrpSpPr/>
            <p:nvPr/>
          </p:nvGrpSpPr>
          <p:grpSpPr bwMode="auto">
            <a:xfrm>
              <a:off x="3243" y="1253"/>
              <a:ext cx="817" cy="771"/>
              <a:chOff x="3242" y="1253"/>
              <a:chExt cx="817" cy="771"/>
            </a:xfrm>
          </p:grpSpPr>
          <p:sp>
            <p:nvSpPr>
              <p:cNvPr id="16" name="Line 21"/>
              <p:cNvSpPr>
                <a:spLocks noChangeShapeType="1"/>
              </p:cNvSpPr>
              <p:nvPr/>
            </p:nvSpPr>
            <p:spPr bwMode="auto">
              <a:xfrm>
                <a:off x="3242" y="1255"/>
                <a:ext cx="1" cy="769"/>
              </a:xfrm>
              <a:prstGeom prst="line">
                <a:avLst/>
              </a:prstGeom>
              <a:noFill/>
              <a:ln w="25400">
                <a:solidFill>
                  <a:srgbClr val="FF66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" name="Line 22"/>
              <p:cNvSpPr>
                <a:spLocks noChangeShapeType="1"/>
              </p:cNvSpPr>
              <p:nvPr/>
            </p:nvSpPr>
            <p:spPr bwMode="auto">
              <a:xfrm>
                <a:off x="3243" y="2024"/>
                <a:ext cx="816" cy="0"/>
              </a:xfrm>
              <a:prstGeom prst="line">
                <a:avLst/>
              </a:prstGeom>
              <a:noFill/>
              <a:ln w="25400">
                <a:solidFill>
                  <a:srgbClr val="FF66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" name="Line 23"/>
              <p:cNvSpPr>
                <a:spLocks noChangeShapeType="1"/>
              </p:cNvSpPr>
              <p:nvPr/>
            </p:nvSpPr>
            <p:spPr bwMode="auto">
              <a:xfrm>
                <a:off x="3243" y="1253"/>
                <a:ext cx="816" cy="771"/>
              </a:xfrm>
              <a:prstGeom prst="line">
                <a:avLst/>
              </a:prstGeom>
              <a:noFill/>
              <a:ln w="25400">
                <a:solidFill>
                  <a:srgbClr val="FF66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</p:grpSp>
      </p:grpSp>
      <p:sp>
        <p:nvSpPr>
          <p:cNvPr id="19" name="AutoShape 24"/>
          <p:cNvSpPr>
            <a:spLocks noChangeArrowheads="1"/>
          </p:cNvSpPr>
          <p:nvPr/>
        </p:nvSpPr>
        <p:spPr bwMode="auto">
          <a:xfrm>
            <a:off x="3576136" y="3613995"/>
            <a:ext cx="936625" cy="288925"/>
          </a:xfrm>
          <a:prstGeom prst="rightArrow">
            <a:avLst>
              <a:gd name="adj1" fmla="val 50000"/>
              <a:gd name="adj2" fmla="val 81044"/>
            </a:avLst>
          </a:prstGeom>
          <a:solidFill>
            <a:schemeClr val="accent1"/>
          </a:solidFill>
          <a:ln w="25400">
            <a:solidFill>
              <a:srgbClr val="FF66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AU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0" name="Text Box 25"/>
          <p:cNvSpPr txBox="1">
            <a:spLocks noChangeArrowheads="1"/>
          </p:cNvSpPr>
          <p:nvPr/>
        </p:nvSpPr>
        <p:spPr bwMode="auto">
          <a:xfrm>
            <a:off x="4589918" y="3533064"/>
            <a:ext cx="15843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FF66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y</a:t>
            </a:r>
            <a:r>
              <a:rPr kumimoji="0" lang="en-US" sz="2400" b="0" i="0" u="none" strike="noStrike" kern="0" cap="none" spc="0" normalizeH="0" baseline="30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(0)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 =(0,2)</a:t>
            </a:r>
          </a:p>
        </p:txBody>
      </p:sp>
      <p:sp>
        <p:nvSpPr>
          <p:cNvPr id="21" name="Text Box 26"/>
          <p:cNvSpPr txBox="1">
            <a:spLocks noChangeArrowheads="1"/>
          </p:cNvSpPr>
          <p:nvPr/>
        </p:nvSpPr>
        <p:spPr bwMode="auto">
          <a:xfrm>
            <a:off x="378280" y="5133413"/>
            <a:ext cx="86407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FF66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06400" indent="-4064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207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406400" marR="0" lvl="0" indent="-40640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</a:rPr>
              <a:t>(2) </a:t>
            </a:r>
            <a:r>
              <a:rPr kumimoji="0" lang="zh-CN" altLang="en-US" sz="240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检查停止条件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</a:rPr>
              <a:t>:</a:t>
            </a:r>
          </a:p>
        </p:txBody>
      </p:sp>
      <p:graphicFrame>
        <p:nvGraphicFramePr>
          <p:cNvPr id="22" name="Object 29"/>
          <p:cNvGraphicFramePr>
            <a:graphicFrameLocks noChangeAspect="1"/>
          </p:cNvGraphicFramePr>
          <p:nvPr/>
        </p:nvGraphicFramePr>
        <p:xfrm>
          <a:off x="487818" y="5585759"/>
          <a:ext cx="83058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04" name="Equation" r:id="rId5" imgW="8305800" imgH="812800" progId="Equation.DSMT4">
                  <p:embed/>
                </p:oleObj>
              </mc:Choice>
              <mc:Fallback>
                <p:oleObj name="Equation" r:id="rId5" imgW="8305800" imgH="812800" progId="Equation.DSMT4">
                  <p:embed/>
                  <p:pic>
                    <p:nvPicPr>
                      <p:cNvPr id="22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818" y="5585759"/>
                        <a:ext cx="8305800" cy="812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31"/>
          <p:cNvGraphicFramePr>
            <a:graphicFrameLocks noChangeAspect="1"/>
          </p:cNvGraphicFramePr>
          <p:nvPr/>
        </p:nvGraphicFramePr>
        <p:xfrm>
          <a:off x="4266068" y="1392923"/>
          <a:ext cx="15240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05" name="Equation" r:id="rId7" imgW="1524000" imgH="495300" progId="Equation.DSMT4">
                  <p:embed/>
                </p:oleObj>
              </mc:Choice>
              <mc:Fallback>
                <p:oleObj name="Equation" r:id="rId7" imgW="1524000" imgH="495300" progId="Equation.DSMT4">
                  <p:embed/>
                  <p:pic>
                    <p:nvPicPr>
                      <p:cNvPr id="23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6068" y="1392923"/>
                        <a:ext cx="1524000" cy="495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4" name="Group 33"/>
          <p:cNvGrpSpPr/>
          <p:nvPr/>
        </p:nvGrpSpPr>
        <p:grpSpPr bwMode="auto">
          <a:xfrm>
            <a:off x="228600" y="2869458"/>
            <a:ext cx="3352800" cy="2252663"/>
            <a:chOff x="113" y="1888"/>
            <a:chExt cx="2112" cy="1419"/>
          </a:xfrm>
        </p:grpSpPr>
        <p:graphicFrame>
          <p:nvGraphicFramePr>
            <p:cNvPr id="25" name="Object 7"/>
            <p:cNvGraphicFramePr>
              <a:graphicFrameLocks noChangeAspect="1"/>
            </p:cNvGraphicFramePr>
            <p:nvPr/>
          </p:nvGraphicFramePr>
          <p:xfrm>
            <a:off x="521" y="1888"/>
            <a:ext cx="1704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306" name="Equation" r:id="rId9" imgW="2705100" imgH="431800" progId="Equation.DSMT4">
                    <p:embed/>
                  </p:oleObj>
                </mc:Choice>
                <mc:Fallback>
                  <p:oleObj name="Equation" r:id="rId9" imgW="2705100" imgH="431800" progId="Equation.DSMT4">
                    <p:embed/>
                    <p:pic>
                      <p:nvPicPr>
                        <p:cNvPr id="25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1" y="1888"/>
                          <a:ext cx="1704" cy="27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" name="Object 8"/>
            <p:cNvGraphicFramePr>
              <a:graphicFrameLocks noChangeAspect="1"/>
            </p:cNvGraphicFramePr>
            <p:nvPr/>
          </p:nvGraphicFramePr>
          <p:xfrm>
            <a:off x="657" y="2478"/>
            <a:ext cx="824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307" name="Equation" r:id="rId11" imgW="1308100" imgH="381000" progId="Equation.DSMT4">
                    <p:embed/>
                  </p:oleObj>
                </mc:Choice>
                <mc:Fallback>
                  <p:oleObj name="Equation" r:id="rId11" imgW="1308100" imgH="381000" progId="Equation.DSMT4">
                    <p:embed/>
                    <p:pic>
                      <p:nvPicPr>
                        <p:cNvPr id="26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57" y="2478"/>
                          <a:ext cx="824" cy="24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" name="Object 9"/>
            <p:cNvGraphicFramePr>
              <a:graphicFrameLocks noChangeAspect="1"/>
            </p:cNvGraphicFramePr>
            <p:nvPr/>
          </p:nvGraphicFramePr>
          <p:xfrm>
            <a:off x="657" y="2795"/>
            <a:ext cx="464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308" name="Equation" r:id="rId13" imgW="736600" imgH="381000" progId="Equation.DSMT4">
                    <p:embed/>
                  </p:oleObj>
                </mc:Choice>
                <mc:Fallback>
                  <p:oleObj name="Equation" r:id="rId13" imgW="736600" imgH="381000" progId="Equation.DSMT4">
                    <p:embed/>
                    <p:pic>
                      <p:nvPicPr>
                        <p:cNvPr id="27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57" y="2795"/>
                          <a:ext cx="464" cy="24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" name="Object 10"/>
            <p:cNvGraphicFramePr>
              <a:graphicFrameLocks noChangeAspect="1"/>
            </p:cNvGraphicFramePr>
            <p:nvPr/>
          </p:nvGraphicFramePr>
          <p:xfrm>
            <a:off x="657" y="3067"/>
            <a:ext cx="488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309" name="Equation" r:id="rId15" imgW="774364" imgH="380835" progId="Equation.DSMT4">
                    <p:embed/>
                  </p:oleObj>
                </mc:Choice>
                <mc:Fallback>
                  <p:oleObj name="Equation" r:id="rId15" imgW="774364" imgH="380835" progId="Equation.DSMT4">
                    <p:embed/>
                    <p:pic>
                      <p:nvPicPr>
                        <p:cNvPr id="28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57" y="3067"/>
                          <a:ext cx="488" cy="24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" name="Text Box 32"/>
            <p:cNvSpPr txBox="1">
              <a:spLocks noChangeArrowheads="1"/>
            </p:cNvSpPr>
            <p:nvPr/>
          </p:nvSpPr>
          <p:spPr bwMode="auto">
            <a:xfrm>
              <a:off x="113" y="2160"/>
              <a:ext cx="90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FF66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subject to</a:t>
              </a:r>
            </a:p>
          </p:txBody>
        </p:sp>
      </p:grp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6537A-AAA3-46B1-B7F7-BF264EFC4787}" type="datetime1">
              <a:rPr lang="en-US" altLang="zh-CN" smtClean="0"/>
              <a:pPr/>
              <a:t>3/31/2025</a:t>
            </a:fld>
            <a:endParaRPr lang="en-US"/>
          </a:p>
        </p:txBody>
      </p:sp>
      <p:sp>
        <p:nvSpPr>
          <p:cNvPr id="31" name="灯片编号占位符 30"/>
          <p:cNvSpPr>
            <a:spLocks noGrp="1"/>
          </p:cNvSpPr>
          <p:nvPr>
            <p:ph type="sldNum" sz="quarter" idx="12"/>
          </p:nvPr>
        </p:nvSpPr>
        <p:spPr>
          <a:xfrm>
            <a:off x="8717418" y="18288"/>
            <a:ext cx="1066800" cy="329184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80</a:t>
            </a:fld>
            <a:endParaRPr lang="en-US"/>
          </a:p>
        </p:txBody>
      </p: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B6988E74-2267-4447-9C5D-B41C8E88315F}"/>
              </a:ext>
            </a:extLst>
          </p:cNvPr>
          <p:cNvCxnSpPr/>
          <p:nvPr/>
        </p:nvCxnSpPr>
        <p:spPr>
          <a:xfrm flipH="1">
            <a:off x="5942660" y="3340555"/>
            <a:ext cx="503238" cy="7796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6FCD1DAB-E47E-4C04-9F60-01BBFDF0A6BA}"/>
              </a:ext>
            </a:extLst>
          </p:cNvPr>
          <p:cNvCxnSpPr>
            <a:cxnSpLocks/>
          </p:cNvCxnSpPr>
          <p:nvPr/>
        </p:nvCxnSpPr>
        <p:spPr>
          <a:xfrm flipV="1">
            <a:off x="6475637" y="2186094"/>
            <a:ext cx="716902" cy="11395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页脚占位符 2">
            <a:extLst>
              <a:ext uri="{FF2B5EF4-FFF2-40B4-BE49-F238E27FC236}">
                <a16:creationId xmlns:a16="http://schemas.microsoft.com/office/drawing/2014/main" id="{DF52AD2F-FC2B-4527-B742-A9A3347B7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8905" y="19050"/>
            <a:ext cx="4831731" cy="328613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交通大数据</a:t>
            </a: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· </a:t>
            </a: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东南大学 刘志远教授</a:t>
            </a:r>
            <a:endParaRPr kumimoji="0" lang="en-US" altLang="zh-CN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85559"/>
            <a:ext cx="8229600" cy="990600"/>
          </a:xfrm>
        </p:spPr>
        <p:txBody>
          <a:bodyPr>
            <a:normAutofit/>
          </a:bodyPr>
          <a:lstStyle/>
          <a:p>
            <a:r>
              <a:rPr lang="en-US" altLang="zh-CN" b="1" kern="0" spc="0" dirty="0">
                <a:solidFill>
                  <a:srgbClr val="1F49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Frank-Wolfe </a:t>
            </a:r>
            <a:r>
              <a:rPr lang="zh-CN" altLang="en-US" kern="0" spc="0" dirty="0">
                <a:solidFill>
                  <a:srgbClr val="1F497D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算法</a:t>
            </a:r>
            <a:endParaRPr lang="zh-CN" altLang="en-US" b="1" dirty="0"/>
          </a:p>
        </p:txBody>
      </p:sp>
      <p:graphicFrame>
        <p:nvGraphicFramePr>
          <p:cNvPr id="5" name="Object 6"/>
          <p:cNvGraphicFramePr>
            <a:graphicFrameLocks noChangeAspect="1"/>
          </p:cNvGraphicFramePr>
          <p:nvPr/>
        </p:nvGraphicFramePr>
        <p:xfrm>
          <a:off x="657225" y="2524541"/>
          <a:ext cx="5886450" cy="566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94" name="Equation" r:id="rId3" imgW="5930900" imgH="571500" progId="Equation.DSMT4">
                  <p:embed/>
                </p:oleObj>
              </mc:Choice>
              <mc:Fallback>
                <p:oleObj name="Equation" r:id="rId3" imgW="5930900" imgH="571500" progId="Equation.DSMT4">
                  <p:embed/>
                  <p:pic>
                    <p:nvPicPr>
                      <p:cNvPr id="5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7225" y="2524541"/>
                        <a:ext cx="5886450" cy="5667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323850" y="1149496"/>
            <a:ext cx="864076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FF66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06400" indent="-4064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207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406400" marR="0" lvl="0" indent="-40640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</a:rPr>
              <a:t>(3) </a:t>
            </a:r>
            <a:r>
              <a:rPr kumimoji="0" lang="zh-CN" altLang="en-US" sz="240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通过二分法求下面一元最优化问题的最优解</a:t>
            </a:r>
            <a:r>
              <a:rPr kumimoji="0" lang="en-US" sz="240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kumimoji="0" lang="el-GR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kumimoji="0" lang="en-US" sz="2400" b="0" i="0" u="none" strike="noStrike" kern="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</a:rPr>
              <a:t>  :</a:t>
            </a:r>
          </a:p>
        </p:txBody>
      </p:sp>
      <p:graphicFrame>
        <p:nvGraphicFramePr>
          <p:cNvPr id="7" name="Object 8"/>
          <p:cNvGraphicFramePr>
            <a:graphicFrameLocks noChangeAspect="1"/>
          </p:cNvGraphicFramePr>
          <p:nvPr/>
        </p:nvGraphicFramePr>
        <p:xfrm>
          <a:off x="3600450" y="3091279"/>
          <a:ext cx="5543550" cy="3452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95" name="Chart" r:id="rId5" imgW="5029200" imgH="3133649" progId="Excel.Sheet.8">
                  <p:embed/>
                </p:oleObj>
              </mc:Choice>
              <mc:Fallback>
                <p:oleObj name="Chart" r:id="rId5" imgW="5029200" imgH="3133649" progId="Excel.Sheet.8">
                  <p:embed/>
                  <p:pic>
                    <p:nvPicPr>
                      <p:cNvPr id="7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00450" y="3091279"/>
                        <a:ext cx="5543550" cy="34528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AutoShape 11"/>
          <p:cNvSpPr>
            <a:spLocks noChangeArrowheads="1"/>
          </p:cNvSpPr>
          <p:nvPr/>
        </p:nvSpPr>
        <p:spPr bwMode="auto">
          <a:xfrm>
            <a:off x="6599368" y="2676569"/>
            <a:ext cx="792163" cy="287337"/>
          </a:xfrm>
          <a:prstGeom prst="rightArrow">
            <a:avLst>
              <a:gd name="adj1" fmla="val 50000"/>
              <a:gd name="adj2" fmla="val 68923"/>
            </a:avLst>
          </a:prstGeom>
          <a:solidFill>
            <a:schemeClr val="accent1"/>
          </a:solidFill>
          <a:ln w="25400">
            <a:solidFill>
              <a:srgbClr val="FF66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AU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9" name="Text Box 12"/>
          <p:cNvSpPr txBox="1">
            <a:spLocks noChangeArrowheads="1"/>
          </p:cNvSpPr>
          <p:nvPr/>
        </p:nvSpPr>
        <p:spPr bwMode="auto">
          <a:xfrm>
            <a:off x="7524750" y="2596072"/>
            <a:ext cx="10795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FF66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cs typeface="Times New Roman" panose="02020603050405020304" pitchFamily="18" charset="0"/>
              </a:rPr>
              <a:t>α</a:t>
            </a:r>
            <a:r>
              <a:rPr kumimoji="0" lang="en-US" sz="2400" b="0" i="0" u="none" strike="noStrike" kern="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cs typeface="Times New Roman" panose="02020603050405020304" pitchFamily="18" charset="0"/>
              </a:rPr>
              <a:t>0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cs typeface="Times New Roman" panose="02020603050405020304" pitchFamily="18" charset="0"/>
              </a:rPr>
              <a:t>=1</a:t>
            </a:r>
            <a:endParaRPr kumimoji="0" lang="el-GR" sz="24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cs typeface="Times New Roman" panose="02020603050405020304" pitchFamily="18" charset="0"/>
            </a:endParaRPr>
          </a:p>
        </p:txBody>
      </p:sp>
      <p:sp>
        <p:nvSpPr>
          <p:cNvPr id="10" name="Text Box 13"/>
          <p:cNvSpPr txBox="1">
            <a:spLocks noChangeArrowheads="1"/>
          </p:cNvSpPr>
          <p:nvPr/>
        </p:nvSpPr>
        <p:spPr bwMode="auto">
          <a:xfrm>
            <a:off x="323850" y="3148423"/>
            <a:ext cx="16557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FF66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(4) </a:t>
            </a:r>
            <a:r>
              <a:rPr lang="zh-CN" altLang="en-US" sz="2400" kern="0" dirty="0">
                <a:solidFill>
                  <a:sysClr val="windowText" lastClr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更新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</a:t>
            </a:r>
          </a:p>
        </p:txBody>
      </p:sp>
      <p:graphicFrame>
        <p:nvGraphicFramePr>
          <p:cNvPr id="11" name="Object 14"/>
          <p:cNvGraphicFramePr>
            <a:graphicFrameLocks noChangeAspect="1"/>
          </p:cNvGraphicFramePr>
          <p:nvPr/>
        </p:nvGraphicFramePr>
        <p:xfrm>
          <a:off x="457200" y="3719097"/>
          <a:ext cx="3124200" cy="243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96" name="Equation" r:id="rId7" imgW="3124200" imgH="2438400" progId="Equation.DSMT4">
                  <p:embed/>
                </p:oleObj>
              </mc:Choice>
              <mc:Fallback>
                <p:oleObj name="Equation" r:id="rId7" imgW="3124200" imgH="2438400" progId="Equation.DSMT4">
                  <p:embed/>
                  <p:pic>
                    <p:nvPicPr>
                      <p:cNvPr id="11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3719097"/>
                        <a:ext cx="3124200" cy="2438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5"/>
          <p:cNvGraphicFramePr>
            <a:graphicFrameLocks noChangeAspect="1"/>
          </p:cNvGraphicFramePr>
          <p:nvPr/>
        </p:nvGraphicFramePr>
        <p:xfrm>
          <a:off x="749300" y="1676488"/>
          <a:ext cx="731520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97" name="Equation" r:id="rId9" imgW="7315200" imgH="558800" progId="Equation.DSMT4">
                  <p:embed/>
                </p:oleObj>
              </mc:Choice>
              <mc:Fallback>
                <p:oleObj name="Equation" r:id="rId9" imgW="7315200" imgH="558800" progId="Equation.DSMT4">
                  <p:embed/>
                  <p:pic>
                    <p:nvPicPr>
                      <p:cNvPr id="12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9300" y="1676488"/>
                        <a:ext cx="7315200" cy="558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AutoShape 17"/>
          <p:cNvSpPr>
            <a:spLocks noChangeArrowheads="1"/>
          </p:cNvSpPr>
          <p:nvPr/>
        </p:nvSpPr>
        <p:spPr bwMode="auto">
          <a:xfrm>
            <a:off x="3727253" y="2175515"/>
            <a:ext cx="287338" cy="287337"/>
          </a:xfrm>
          <a:prstGeom prst="down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25400">
            <a:solidFill>
              <a:srgbClr val="FF66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AU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C63E7-6B37-468B-B4F4-C66D4CAA651E}" type="datetime1">
              <a:rPr lang="en-US" altLang="zh-CN" smtClean="0"/>
              <a:pPr/>
              <a:t>3/31/2025</a:t>
            </a:fld>
            <a:endParaRPr lang="en-US"/>
          </a:p>
        </p:txBody>
      </p:sp>
      <p:sp>
        <p:nvSpPr>
          <p:cNvPr id="15" name="灯片编号占位符 14"/>
          <p:cNvSpPr>
            <a:spLocks noGrp="1"/>
          </p:cNvSpPr>
          <p:nvPr>
            <p:ph type="sldNum" sz="quarter" idx="12"/>
          </p:nvPr>
        </p:nvSpPr>
        <p:spPr>
          <a:xfrm>
            <a:off x="8686800" y="18288"/>
            <a:ext cx="1066800" cy="329184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81</a:t>
            </a:fld>
            <a:endParaRPr lang="en-US"/>
          </a:p>
        </p:txBody>
      </p:sp>
      <p:sp>
        <p:nvSpPr>
          <p:cNvPr id="14" name="页脚占位符 2">
            <a:extLst>
              <a:ext uri="{FF2B5EF4-FFF2-40B4-BE49-F238E27FC236}">
                <a16:creationId xmlns:a16="http://schemas.microsoft.com/office/drawing/2014/main" id="{0E83E923-9D8A-4E1B-BEB8-8951380D0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8905" y="19050"/>
            <a:ext cx="4831731" cy="328613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交通大数据</a:t>
            </a: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· </a:t>
            </a: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东南大学 刘志远教授</a:t>
            </a:r>
            <a:endParaRPr kumimoji="0" lang="en-US" altLang="zh-CN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OleChart spid="7" grpId="0"/>
      <p:bldP spid="9" grpId="0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5763" y="277813"/>
            <a:ext cx="8229600" cy="990600"/>
          </a:xfrm>
        </p:spPr>
        <p:txBody>
          <a:bodyPr>
            <a:normAutofit/>
          </a:bodyPr>
          <a:lstStyle/>
          <a:p>
            <a:r>
              <a:rPr lang="en-US" altLang="zh-CN" b="1" kern="0" spc="0" dirty="0">
                <a:solidFill>
                  <a:srgbClr val="1F49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Frank-Wolfe </a:t>
            </a:r>
            <a:r>
              <a:rPr lang="zh-CN" altLang="en-US" kern="0" spc="0" dirty="0">
                <a:solidFill>
                  <a:srgbClr val="1F497D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算法</a:t>
            </a:r>
            <a:endParaRPr lang="zh-CN" altLang="en-US" b="1" dirty="0"/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377581" y="1086644"/>
            <a:ext cx="259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FF66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400" u="sng" kern="0" dirty="0">
                <a:solidFill>
                  <a:sysClr val="windowText" lastClr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迭代</a:t>
            </a:r>
            <a:r>
              <a:rPr kumimoji="0" lang="en-US" sz="2400" u="sng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 2(k=1)</a:t>
            </a:r>
          </a:p>
        </p:txBody>
      </p:sp>
      <p:graphicFrame>
        <p:nvGraphicFramePr>
          <p:cNvPr id="6" name="Object 4"/>
          <p:cNvGraphicFramePr>
            <a:graphicFrameLocks noChangeAspect="1"/>
          </p:cNvGraphicFramePr>
          <p:nvPr/>
        </p:nvGraphicFramePr>
        <p:xfrm>
          <a:off x="457200" y="1653529"/>
          <a:ext cx="246380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51" name="Equation" r:id="rId3" imgW="2463800" imgH="558800" progId="Equation.DSMT4">
                  <p:embed/>
                </p:oleObj>
              </mc:Choice>
              <mc:Fallback>
                <p:oleObj name="Equation" r:id="rId3" imgW="2463800" imgH="558800" progId="Equation.DSMT4">
                  <p:embed/>
                  <p:pic>
                    <p:nvPicPr>
                      <p:cNvPr id="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1653529"/>
                        <a:ext cx="2463800" cy="558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Group 5"/>
          <p:cNvGrpSpPr/>
          <p:nvPr/>
        </p:nvGrpSpPr>
        <p:grpSpPr bwMode="auto">
          <a:xfrm>
            <a:off x="630238" y="2794877"/>
            <a:ext cx="2717800" cy="1749425"/>
            <a:chOff x="880" y="1706"/>
            <a:chExt cx="1712" cy="1102"/>
          </a:xfrm>
        </p:grpSpPr>
        <p:graphicFrame>
          <p:nvGraphicFramePr>
            <p:cNvPr id="8" name="Object 6"/>
            <p:cNvGraphicFramePr>
              <a:graphicFrameLocks noChangeAspect="1"/>
            </p:cNvGraphicFramePr>
            <p:nvPr/>
          </p:nvGraphicFramePr>
          <p:xfrm>
            <a:off x="880" y="1706"/>
            <a:ext cx="1712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4352" name="Equation" r:id="rId5" imgW="2717800" imgH="431800" progId="Equation.DSMT4">
                    <p:embed/>
                  </p:oleObj>
                </mc:Choice>
                <mc:Fallback>
                  <p:oleObj name="Equation" r:id="rId5" imgW="2717800" imgH="431800" progId="Equation.DSMT4">
                    <p:embed/>
                    <p:pic>
                      <p:nvPicPr>
                        <p:cNvPr id="8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80" y="1706"/>
                          <a:ext cx="1712" cy="27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" name="Object 7"/>
            <p:cNvGraphicFramePr>
              <a:graphicFrameLocks noChangeAspect="1"/>
            </p:cNvGraphicFramePr>
            <p:nvPr/>
          </p:nvGraphicFramePr>
          <p:xfrm>
            <a:off x="975" y="2568"/>
            <a:ext cx="824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4353" name="Equation" r:id="rId7" imgW="1308100" imgH="381000" progId="Equation.DSMT4">
                    <p:embed/>
                  </p:oleObj>
                </mc:Choice>
                <mc:Fallback>
                  <p:oleObj name="Equation" r:id="rId7" imgW="1308100" imgH="381000" progId="Equation.DSMT4">
                    <p:embed/>
                    <p:pic>
                      <p:nvPicPr>
                        <p:cNvPr id="9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75" y="2568"/>
                          <a:ext cx="824" cy="24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" name="Object 8"/>
            <p:cNvGraphicFramePr>
              <a:graphicFrameLocks noChangeAspect="1"/>
            </p:cNvGraphicFramePr>
            <p:nvPr/>
          </p:nvGraphicFramePr>
          <p:xfrm>
            <a:off x="1020" y="2024"/>
            <a:ext cx="464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4354" name="Equation" r:id="rId9" imgW="736600" imgH="381000" progId="Equation.DSMT4">
                    <p:embed/>
                  </p:oleObj>
                </mc:Choice>
                <mc:Fallback>
                  <p:oleObj name="Equation" r:id="rId9" imgW="736600" imgH="381000" progId="Equation.DSMT4">
                    <p:embed/>
                    <p:pic>
                      <p:nvPicPr>
                        <p:cNvPr id="1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20" y="2024"/>
                          <a:ext cx="464" cy="24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" name="Object 9"/>
            <p:cNvGraphicFramePr>
              <a:graphicFrameLocks noChangeAspect="1"/>
            </p:cNvGraphicFramePr>
            <p:nvPr/>
          </p:nvGraphicFramePr>
          <p:xfrm>
            <a:off x="1020" y="2296"/>
            <a:ext cx="488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4355" name="Equation" r:id="rId11" imgW="774364" imgH="380835" progId="Equation.DSMT4">
                    <p:embed/>
                  </p:oleObj>
                </mc:Choice>
                <mc:Fallback>
                  <p:oleObj name="Equation" r:id="rId11" imgW="774364" imgH="380835" progId="Equation.DSMT4">
                    <p:embed/>
                    <p:pic>
                      <p:nvPicPr>
                        <p:cNvPr id="11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20" y="2296"/>
                          <a:ext cx="488" cy="24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2" name="Text Box 10"/>
          <p:cNvSpPr txBox="1">
            <a:spLocks noChangeArrowheads="1"/>
          </p:cNvSpPr>
          <p:nvPr/>
        </p:nvSpPr>
        <p:spPr bwMode="auto">
          <a:xfrm>
            <a:off x="297272" y="2268538"/>
            <a:ext cx="58324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FF66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lvl="0" defTabSz="914400">
              <a:spcBef>
                <a:spcPct val="50000"/>
              </a:spcBef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(1)</a:t>
            </a:r>
            <a:r>
              <a:rPr lang="zh-CN" altLang="en-US" sz="2400" kern="0" dirty="0">
                <a:solidFill>
                  <a:sysClr val="windowText" lastClr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解下面的线性规划问题确定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y</a:t>
            </a:r>
            <a:r>
              <a:rPr kumimoji="0" lang="en-US" sz="2400" b="0" i="0" u="none" strike="noStrike" kern="0" cap="none" spc="0" normalizeH="0" baseline="30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(</a:t>
            </a:r>
            <a:r>
              <a:rPr kumimoji="0" lang="en-US" sz="2400" b="0" i="0" u="none" strike="noStrike" kern="0" cap="none" spc="0" normalizeH="0" baseline="30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1</a:t>
            </a:r>
            <a:r>
              <a:rPr kumimoji="0" lang="en-US" sz="2400" b="0" i="0" u="none" strike="noStrike" kern="0" cap="none" spc="0" normalizeH="0" baseline="30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)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:</a:t>
            </a:r>
          </a:p>
        </p:txBody>
      </p:sp>
      <p:grpSp>
        <p:nvGrpSpPr>
          <p:cNvPr id="13" name="Group 11"/>
          <p:cNvGrpSpPr/>
          <p:nvPr/>
        </p:nvGrpSpPr>
        <p:grpSpPr bwMode="auto">
          <a:xfrm>
            <a:off x="5832475" y="1357313"/>
            <a:ext cx="3311525" cy="2616200"/>
            <a:chOff x="2880" y="709"/>
            <a:chExt cx="2086" cy="1648"/>
          </a:xfrm>
        </p:grpSpPr>
        <p:sp>
          <p:nvSpPr>
            <p:cNvPr id="14" name="Line 12"/>
            <p:cNvSpPr>
              <a:spLocks noChangeShapeType="1"/>
            </p:cNvSpPr>
            <p:nvPr/>
          </p:nvSpPr>
          <p:spPr bwMode="auto">
            <a:xfrm flipV="1">
              <a:off x="3243" y="2024"/>
              <a:ext cx="1587" cy="0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5" name="Line 13"/>
            <p:cNvSpPr>
              <a:spLocks noChangeShapeType="1"/>
            </p:cNvSpPr>
            <p:nvPr/>
          </p:nvSpPr>
          <p:spPr bwMode="auto">
            <a:xfrm flipV="1">
              <a:off x="3243" y="845"/>
              <a:ext cx="0" cy="1179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6" name="Text Box 14"/>
            <p:cNvSpPr txBox="1">
              <a:spLocks noChangeArrowheads="1"/>
            </p:cNvSpPr>
            <p:nvPr/>
          </p:nvSpPr>
          <p:spPr bwMode="auto">
            <a:xfrm>
              <a:off x="4649" y="2069"/>
              <a:ext cx="31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accent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y</a:t>
              </a:r>
              <a:r>
                <a:rPr kumimoji="0" lang="en-US" sz="2400" b="0" i="0" u="none" strike="noStrike" kern="0" cap="none" spc="0" normalizeH="0" baseline="-2500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1</a:t>
              </a:r>
            </a:p>
          </p:txBody>
        </p:sp>
        <p:sp>
          <p:nvSpPr>
            <p:cNvPr id="17" name="Text Box 15"/>
            <p:cNvSpPr txBox="1">
              <a:spLocks noChangeArrowheads="1"/>
            </p:cNvSpPr>
            <p:nvPr/>
          </p:nvSpPr>
          <p:spPr bwMode="auto">
            <a:xfrm>
              <a:off x="2880" y="709"/>
              <a:ext cx="31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accent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y</a:t>
              </a:r>
              <a:r>
                <a:rPr kumimoji="0" lang="en-US" sz="2400" b="0" i="0" u="none" strike="noStrike" kern="0" cap="none" spc="0" normalizeH="0" baseline="-2500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2</a:t>
              </a:r>
            </a:p>
          </p:txBody>
        </p:sp>
        <p:sp>
          <p:nvSpPr>
            <p:cNvPr id="18" name="Line 16"/>
            <p:cNvSpPr>
              <a:spLocks noChangeShapeType="1"/>
            </p:cNvSpPr>
            <p:nvPr/>
          </p:nvSpPr>
          <p:spPr bwMode="auto">
            <a:xfrm>
              <a:off x="3061" y="1071"/>
              <a:ext cx="1271" cy="1180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9" name="Text Box 17"/>
            <p:cNvSpPr txBox="1">
              <a:spLocks noChangeArrowheads="1"/>
            </p:cNvSpPr>
            <p:nvPr/>
          </p:nvSpPr>
          <p:spPr bwMode="auto">
            <a:xfrm>
              <a:off x="3560" y="1117"/>
              <a:ext cx="99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accent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y</a:t>
              </a:r>
              <a:r>
                <a:rPr kumimoji="0" lang="en-US" sz="2400" b="0" i="0" u="none" strike="noStrike" kern="0" cap="none" spc="0" normalizeH="0" baseline="-2500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1</a:t>
              </a:r>
              <a:r>
                <a: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+y</a:t>
              </a:r>
              <a:r>
                <a:rPr kumimoji="0" lang="en-US" sz="2400" b="0" i="0" u="none" strike="noStrike" kern="0" cap="none" spc="0" normalizeH="0" baseline="-2500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2</a:t>
              </a:r>
              <a:r>
                <a: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=2</a:t>
              </a:r>
            </a:p>
          </p:txBody>
        </p:sp>
        <p:grpSp>
          <p:nvGrpSpPr>
            <p:cNvPr id="20" name="Group 18"/>
            <p:cNvGrpSpPr/>
            <p:nvPr/>
          </p:nvGrpSpPr>
          <p:grpSpPr bwMode="auto">
            <a:xfrm>
              <a:off x="3243" y="1253"/>
              <a:ext cx="817" cy="771"/>
              <a:chOff x="3242" y="1253"/>
              <a:chExt cx="817" cy="771"/>
            </a:xfrm>
          </p:grpSpPr>
          <p:sp>
            <p:nvSpPr>
              <p:cNvPr id="21" name="Line 19"/>
              <p:cNvSpPr>
                <a:spLocks noChangeShapeType="1"/>
              </p:cNvSpPr>
              <p:nvPr/>
            </p:nvSpPr>
            <p:spPr bwMode="auto">
              <a:xfrm>
                <a:off x="3242" y="1255"/>
                <a:ext cx="1" cy="769"/>
              </a:xfrm>
              <a:prstGeom prst="line">
                <a:avLst/>
              </a:prstGeom>
              <a:noFill/>
              <a:ln w="25400">
                <a:solidFill>
                  <a:srgbClr val="FF66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2" name="Line 20"/>
              <p:cNvSpPr>
                <a:spLocks noChangeShapeType="1"/>
              </p:cNvSpPr>
              <p:nvPr/>
            </p:nvSpPr>
            <p:spPr bwMode="auto">
              <a:xfrm>
                <a:off x="3243" y="2024"/>
                <a:ext cx="816" cy="0"/>
              </a:xfrm>
              <a:prstGeom prst="line">
                <a:avLst/>
              </a:prstGeom>
              <a:noFill/>
              <a:ln w="25400">
                <a:solidFill>
                  <a:srgbClr val="FF66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3" name="Line 21"/>
              <p:cNvSpPr>
                <a:spLocks noChangeShapeType="1"/>
              </p:cNvSpPr>
              <p:nvPr/>
            </p:nvSpPr>
            <p:spPr bwMode="auto">
              <a:xfrm>
                <a:off x="3243" y="1253"/>
                <a:ext cx="816" cy="771"/>
              </a:xfrm>
              <a:prstGeom prst="line">
                <a:avLst/>
              </a:prstGeom>
              <a:noFill/>
              <a:ln w="25400">
                <a:solidFill>
                  <a:srgbClr val="FF66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</p:grpSp>
      </p:grpSp>
      <p:sp>
        <p:nvSpPr>
          <p:cNvPr id="24" name="AutoShape 22"/>
          <p:cNvSpPr>
            <a:spLocks noChangeArrowheads="1"/>
          </p:cNvSpPr>
          <p:nvPr/>
        </p:nvSpPr>
        <p:spPr bwMode="auto">
          <a:xfrm>
            <a:off x="3246683" y="3455988"/>
            <a:ext cx="936625" cy="288925"/>
          </a:xfrm>
          <a:prstGeom prst="rightArrow">
            <a:avLst>
              <a:gd name="adj1" fmla="val 50000"/>
              <a:gd name="adj2" fmla="val 81044"/>
            </a:avLst>
          </a:prstGeom>
          <a:solidFill>
            <a:schemeClr val="accent1"/>
          </a:solidFill>
          <a:ln w="25400">
            <a:solidFill>
              <a:srgbClr val="FF66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AU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5" name="Text Box 23"/>
          <p:cNvSpPr txBox="1">
            <a:spLocks noChangeArrowheads="1"/>
          </p:cNvSpPr>
          <p:nvPr/>
        </p:nvSpPr>
        <p:spPr bwMode="auto">
          <a:xfrm>
            <a:off x="4356100" y="3362859"/>
            <a:ext cx="15843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FF66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y</a:t>
            </a:r>
            <a:r>
              <a:rPr kumimoji="0" lang="en-US" sz="2400" b="0" i="0" u="none" strike="noStrike" kern="0" cap="none" spc="0" normalizeH="0" baseline="30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(1)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 =(2,0)</a:t>
            </a:r>
          </a:p>
        </p:txBody>
      </p:sp>
      <p:sp>
        <p:nvSpPr>
          <p:cNvPr id="26" name="Text Box 24"/>
          <p:cNvSpPr txBox="1">
            <a:spLocks noChangeArrowheads="1"/>
          </p:cNvSpPr>
          <p:nvPr/>
        </p:nvSpPr>
        <p:spPr bwMode="auto">
          <a:xfrm>
            <a:off x="372737" y="4614863"/>
            <a:ext cx="86407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FF66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06400" indent="-4064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207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lvl="0" defTabSz="914400">
              <a:spcBef>
                <a:spcPct val="50000"/>
              </a:spcBef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</a:rPr>
              <a:t>(2)</a:t>
            </a:r>
            <a:r>
              <a:rPr lang="zh-CN" altLang="en-US" kern="0" dirty="0">
                <a:latin typeface="宋体" panose="02010600030101010101" pitchFamily="2" charset="-122"/>
                <a:ea typeface="宋体" panose="02010600030101010101" pitchFamily="2" charset="-122"/>
              </a:rPr>
              <a:t>检查停止条件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</a:rPr>
              <a:t>:</a:t>
            </a:r>
          </a:p>
        </p:txBody>
      </p:sp>
      <p:graphicFrame>
        <p:nvGraphicFramePr>
          <p:cNvPr id="27" name="Object 25"/>
          <p:cNvGraphicFramePr>
            <a:graphicFrameLocks noChangeAspect="1"/>
          </p:cNvGraphicFramePr>
          <p:nvPr/>
        </p:nvGraphicFramePr>
        <p:xfrm>
          <a:off x="457200" y="5193424"/>
          <a:ext cx="82169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56" name="Equation" r:id="rId13" imgW="8216900" imgH="812800" progId="Equation.DSMT4">
                  <p:embed/>
                </p:oleObj>
              </mc:Choice>
              <mc:Fallback>
                <p:oleObj name="Equation" r:id="rId13" imgW="8216900" imgH="812800" progId="Equation.DSMT4">
                  <p:embed/>
                  <p:pic>
                    <p:nvPicPr>
                      <p:cNvPr id="27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5193424"/>
                        <a:ext cx="8216900" cy="812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26"/>
          <p:cNvGraphicFramePr>
            <a:graphicFrameLocks noChangeAspect="1"/>
          </p:cNvGraphicFramePr>
          <p:nvPr/>
        </p:nvGraphicFramePr>
        <p:xfrm>
          <a:off x="4356100" y="1663700"/>
          <a:ext cx="13716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57" name="Equation" r:id="rId15" imgW="1371600" imgH="469900" progId="Equation.DSMT4">
                  <p:embed/>
                </p:oleObj>
              </mc:Choice>
              <mc:Fallback>
                <p:oleObj name="Equation" r:id="rId15" imgW="1371600" imgH="469900" progId="Equation.DSMT4">
                  <p:embed/>
                  <p:pic>
                    <p:nvPicPr>
                      <p:cNvPr id="28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6100" y="1663700"/>
                        <a:ext cx="1371600" cy="469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8D8A1-E6C2-4525-9CD1-774120047396}" type="datetime1">
              <a:rPr lang="en-US" altLang="zh-CN" smtClean="0"/>
              <a:pPr/>
              <a:t>3/31/2025</a:t>
            </a:fld>
            <a:endParaRPr lang="en-US"/>
          </a:p>
        </p:txBody>
      </p:sp>
      <p:sp>
        <p:nvSpPr>
          <p:cNvPr id="30" name="灯片编号占位符 29"/>
          <p:cNvSpPr>
            <a:spLocks noGrp="1"/>
          </p:cNvSpPr>
          <p:nvPr>
            <p:ph type="sldNum" sz="quarter" idx="12"/>
          </p:nvPr>
        </p:nvSpPr>
        <p:spPr>
          <a:xfrm>
            <a:off x="8686800" y="18288"/>
            <a:ext cx="1066800" cy="329184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82</a:t>
            </a:fld>
            <a:endParaRPr lang="en-US"/>
          </a:p>
        </p:txBody>
      </p:sp>
      <p:sp>
        <p:nvSpPr>
          <p:cNvPr id="29" name="页脚占位符 2">
            <a:extLst>
              <a:ext uri="{FF2B5EF4-FFF2-40B4-BE49-F238E27FC236}">
                <a16:creationId xmlns:a16="http://schemas.microsoft.com/office/drawing/2014/main" id="{8A02918B-EE20-4A0D-8D4F-70AD4A3AED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8905" y="19050"/>
            <a:ext cx="4831731" cy="328613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交通大数据</a:t>
            </a: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· </a:t>
            </a: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东南大学 刘志远教授</a:t>
            </a:r>
            <a:endParaRPr kumimoji="0" lang="en-US" altLang="zh-CN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Object 11"/>
          <p:cNvGraphicFramePr>
            <a:graphicFrameLocks noChangeAspect="1"/>
          </p:cNvGraphicFramePr>
          <p:nvPr/>
        </p:nvGraphicFramePr>
        <p:xfrm>
          <a:off x="3419475" y="2746863"/>
          <a:ext cx="5724525" cy="314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31" name="Chart" r:id="rId3" imgW="6705600" imgH="3676802" progId="Excel.Sheet.8">
                  <p:embed/>
                </p:oleObj>
              </mc:Choice>
              <mc:Fallback>
                <p:oleObj name="Chart" r:id="rId3" imgW="6705600" imgH="3676802" progId="Excel.Sheet.8">
                  <p:embed/>
                  <p:pic>
                    <p:nvPicPr>
                      <p:cNvPr id="13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9475" y="2746863"/>
                        <a:ext cx="5724525" cy="3140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23850" y="304800"/>
            <a:ext cx="8229600" cy="990600"/>
          </a:xfrm>
        </p:spPr>
        <p:txBody>
          <a:bodyPr>
            <a:normAutofit/>
          </a:bodyPr>
          <a:lstStyle/>
          <a:p>
            <a:r>
              <a:rPr lang="en-US" altLang="zh-CN" b="1" kern="0" spc="0" dirty="0">
                <a:solidFill>
                  <a:srgbClr val="1F49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Frank-Wolfe </a:t>
            </a:r>
            <a:r>
              <a:rPr lang="zh-CN" altLang="en-US" kern="0" spc="0" dirty="0">
                <a:solidFill>
                  <a:srgbClr val="1F497D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算法</a:t>
            </a:r>
            <a:endParaRPr lang="zh-CN" altLang="en-US" b="1" dirty="0"/>
          </a:p>
        </p:txBody>
      </p:sp>
      <p:graphicFrame>
        <p:nvGraphicFramePr>
          <p:cNvPr id="6" name="Object 3"/>
          <p:cNvGraphicFramePr>
            <a:graphicFrameLocks noGrp="1" noChangeAspect="1"/>
          </p:cNvGraphicFramePr>
          <p:nvPr>
            <p:ph sz="half" idx="1"/>
          </p:nvPr>
        </p:nvGraphicFramePr>
        <p:xfrm>
          <a:off x="323850" y="1887538"/>
          <a:ext cx="6216650" cy="576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32" name="Equation" r:id="rId5" imgW="6172200" imgH="571500" progId="Equation.DSMT4">
                  <p:embed/>
                </p:oleObj>
              </mc:Choice>
              <mc:Fallback>
                <p:oleObj name="Equation" r:id="rId5" imgW="6172200" imgH="571500" progId="Equation.DSMT4">
                  <p:embed/>
                  <p:pic>
                    <p:nvPicPr>
                      <p:cNvPr id="6" name="Object 3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" y="1887538"/>
                        <a:ext cx="6216650" cy="5762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179388" y="1252835"/>
            <a:ext cx="864076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FF66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06400" indent="-4064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207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lvl="0" defTabSz="914400">
              <a:spcBef>
                <a:spcPct val="50000"/>
              </a:spcBef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</a:rPr>
              <a:t>(3)</a:t>
            </a:r>
            <a:r>
              <a:rPr lang="zh-CN" altLang="en-US" kern="0" dirty="0">
                <a:latin typeface="宋体" panose="02010600030101010101" pitchFamily="2" charset="-122"/>
                <a:ea typeface="宋体" panose="02010600030101010101" pitchFamily="2" charset="-122"/>
              </a:rPr>
              <a:t>通过二分法求下面一元最优化问题的最优解</a:t>
            </a:r>
            <a:r>
              <a:rPr lang="en-US" altLang="zh-CN" kern="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l-GR" altLang="zh-CN" kern="0" dirty="0">
                <a:cs typeface="Times New Roman" panose="02020603050405020304" pitchFamily="18" charset="0"/>
              </a:rPr>
              <a:t>α</a:t>
            </a:r>
            <a:r>
              <a:rPr lang="en-US" altLang="zh-CN" kern="0" baseline="-25000" dirty="0">
                <a:cs typeface="Times New Roman" panose="02020603050405020304" pitchFamily="18" charset="0"/>
              </a:rPr>
              <a:t>0</a:t>
            </a:r>
            <a:r>
              <a:rPr lang="en-US" altLang="zh-CN" kern="0" dirty="0"/>
              <a:t>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</a:rPr>
              <a:t>:</a:t>
            </a:r>
          </a:p>
        </p:txBody>
      </p:sp>
      <p:sp>
        <p:nvSpPr>
          <p:cNvPr id="9" name="AutoShape 7"/>
          <p:cNvSpPr>
            <a:spLocks noChangeArrowheads="1"/>
          </p:cNvSpPr>
          <p:nvPr/>
        </p:nvSpPr>
        <p:spPr bwMode="auto">
          <a:xfrm>
            <a:off x="6603444" y="2057094"/>
            <a:ext cx="720725" cy="287338"/>
          </a:xfrm>
          <a:prstGeom prst="rightArrow">
            <a:avLst>
              <a:gd name="adj1" fmla="val 50000"/>
              <a:gd name="adj2" fmla="val 62707"/>
            </a:avLst>
          </a:prstGeom>
          <a:solidFill>
            <a:schemeClr val="accent1"/>
          </a:solidFill>
          <a:ln w="25400">
            <a:solidFill>
              <a:srgbClr val="FF66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AU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0" name="Text Box 8"/>
          <p:cNvSpPr txBox="1">
            <a:spLocks noChangeArrowheads="1"/>
          </p:cNvSpPr>
          <p:nvPr/>
        </p:nvSpPr>
        <p:spPr bwMode="auto">
          <a:xfrm>
            <a:off x="7493794" y="1947069"/>
            <a:ext cx="13954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FF66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cs typeface="Times New Roman" panose="02020603050405020304" pitchFamily="18" charset="0"/>
              </a:rPr>
              <a:t>α</a:t>
            </a:r>
            <a:r>
              <a:rPr kumimoji="0" lang="en-US" sz="2400" b="0" i="0" u="none" strike="noStrike" kern="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cs typeface="Times New Roman" panose="02020603050405020304" pitchFamily="18" charset="0"/>
              </a:rPr>
              <a:t>1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cs typeface="Times New Roman" panose="02020603050405020304" pitchFamily="18" charset="0"/>
              </a:rPr>
              <a:t>=0.25</a:t>
            </a:r>
            <a:endParaRPr kumimoji="0" lang="el-GR" sz="24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cs typeface="Times New Roman" panose="02020603050405020304" pitchFamily="18" charset="0"/>
            </a:endParaRPr>
          </a:p>
        </p:txBody>
      </p:sp>
      <p:sp>
        <p:nvSpPr>
          <p:cNvPr id="11" name="Text Box 9"/>
          <p:cNvSpPr txBox="1">
            <a:spLocks noChangeArrowheads="1"/>
          </p:cNvSpPr>
          <p:nvPr/>
        </p:nvSpPr>
        <p:spPr bwMode="auto">
          <a:xfrm>
            <a:off x="179388" y="2560945"/>
            <a:ext cx="16557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FF66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lvl="0" defTabSz="914400">
              <a:spcBef>
                <a:spcPct val="50000"/>
              </a:spcBef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(4)</a:t>
            </a:r>
            <a:r>
              <a:rPr lang="zh-CN" altLang="en-US" sz="2400" kern="0" dirty="0">
                <a:solidFill>
                  <a:sysClr val="windowText" lastClr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更新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</a:t>
            </a:r>
          </a:p>
        </p:txBody>
      </p:sp>
      <p:graphicFrame>
        <p:nvGraphicFramePr>
          <p:cNvPr id="12" name="Object 10"/>
          <p:cNvGraphicFramePr>
            <a:graphicFrameLocks noChangeAspect="1"/>
          </p:cNvGraphicFramePr>
          <p:nvPr/>
        </p:nvGraphicFramePr>
        <p:xfrm>
          <a:off x="317500" y="3115290"/>
          <a:ext cx="3035300" cy="243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33" name="Equation" r:id="rId7" imgW="3035300" imgH="2438400" progId="Equation.DSMT4">
                  <p:embed/>
                </p:oleObj>
              </mc:Choice>
              <mc:Fallback>
                <p:oleObj name="Equation" r:id="rId7" imgW="3035300" imgH="2438400" progId="Equation.DSMT4">
                  <p:embed/>
                  <p:pic>
                    <p:nvPicPr>
                      <p:cNvPr id="12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7500" y="3115290"/>
                        <a:ext cx="3035300" cy="2438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Line 14"/>
          <p:cNvSpPr>
            <a:spLocks noChangeShapeType="1"/>
          </p:cNvSpPr>
          <p:nvPr/>
        </p:nvSpPr>
        <p:spPr bwMode="auto">
          <a:xfrm flipV="1">
            <a:off x="6732588" y="5516563"/>
            <a:ext cx="0" cy="504825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dash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AU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D2860-B8FA-4C7F-A133-2C55BC6C69A2}" type="datetime1">
              <a:rPr lang="en-US" altLang="zh-CN" smtClean="0"/>
              <a:pPr/>
              <a:t>3/31/2025</a:t>
            </a:fld>
            <a:endParaRPr lang="en-US"/>
          </a:p>
        </p:txBody>
      </p:sp>
      <p:sp>
        <p:nvSpPr>
          <p:cNvPr id="16" name="灯片编号占位符 15"/>
          <p:cNvSpPr>
            <a:spLocks noGrp="1"/>
          </p:cNvSpPr>
          <p:nvPr>
            <p:ph type="sldNum" sz="quarter" idx="12"/>
          </p:nvPr>
        </p:nvSpPr>
        <p:spPr>
          <a:xfrm>
            <a:off x="8697912" y="18288"/>
            <a:ext cx="1066800" cy="329184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83</a:t>
            </a:fld>
            <a:endParaRPr lang="en-US" dirty="0"/>
          </a:p>
        </p:txBody>
      </p:sp>
      <p:sp>
        <p:nvSpPr>
          <p:cNvPr id="15" name="页脚占位符 2">
            <a:extLst>
              <a:ext uri="{FF2B5EF4-FFF2-40B4-BE49-F238E27FC236}">
                <a16:creationId xmlns:a16="http://schemas.microsoft.com/office/drawing/2014/main" id="{B7980FB6-68B3-4828-BC2D-3A79D2F95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8905" y="19050"/>
            <a:ext cx="4831731" cy="328613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交通大数据</a:t>
            </a: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· </a:t>
            </a: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东南大学 刘志远教授</a:t>
            </a:r>
            <a:endParaRPr kumimoji="0" lang="en-US" altLang="zh-CN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OleChart spid="13" grpId="0"/>
      <p:bldP spid="10" grpId="0"/>
    </p:bldLst>
  </p:timing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Clarity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3C1DA"/>
      </a:accent5>
      <a:accent6>
        <a:srgbClr val="AC4744"/>
      </a:accent6>
      <a:hlink>
        <a:srgbClr val="0000FF"/>
      </a:hlink>
      <a:folHlink>
        <a:srgbClr val="800080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Clarity">
  <a:themeElements>
    <a:clrScheme name="Office">
      <a:dk1>
        <a:sysClr val="windowText" lastClr="000000"/>
      </a:dk1>
      <a:lt1>
        <a:sysClr val="window" lastClr="CAEACE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Clarity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3C1DA"/>
      </a:accent5>
      <a:accent6>
        <a:srgbClr val="AC4744"/>
      </a:accent6>
      <a:hlink>
        <a:srgbClr val="0000FF"/>
      </a:hlink>
      <a:folHlink>
        <a:srgbClr val="800080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CAEACE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3386</TotalTime>
  <Words>4816</Words>
  <Application>Microsoft Office PowerPoint</Application>
  <PresentationFormat>全屏显示(4:3)</PresentationFormat>
  <Paragraphs>936</Paragraphs>
  <Slides>83</Slides>
  <Notes>12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3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83</vt:i4>
      </vt:variant>
    </vt:vector>
  </HeadingPairs>
  <TitlesOfParts>
    <vt:vector size="101" baseType="lpstr">
      <vt:lpstr>Arial (Headings)</vt:lpstr>
      <vt:lpstr>Arial Unicode MS</vt:lpstr>
      <vt:lpstr>等线</vt:lpstr>
      <vt:lpstr>楷体</vt:lpstr>
      <vt:lpstr>宋体</vt:lpstr>
      <vt:lpstr>微软雅黑</vt:lpstr>
      <vt:lpstr>Arial</vt:lpstr>
      <vt:lpstr>Arial Narrow</vt:lpstr>
      <vt:lpstr>Cambria Math</vt:lpstr>
      <vt:lpstr>Tahoma</vt:lpstr>
      <vt:lpstr>Times New Roman</vt:lpstr>
      <vt:lpstr>Wingdings</vt:lpstr>
      <vt:lpstr>Clarity</vt:lpstr>
      <vt:lpstr>1_Clarity</vt:lpstr>
      <vt:lpstr>2_Clarity</vt:lpstr>
      <vt:lpstr>Equation</vt:lpstr>
      <vt:lpstr>Chart</vt:lpstr>
      <vt:lpstr>Visio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多元函数--梯度</vt:lpstr>
      <vt:lpstr>多元函数--梯度</vt:lpstr>
      <vt:lpstr>多元函数—海塞矩阵</vt:lpstr>
      <vt:lpstr>矩阵正定的定义</vt:lpstr>
      <vt:lpstr>基础知识： NLP的可行方向</vt:lpstr>
      <vt:lpstr>基础知识： NLP的可行方向</vt:lpstr>
      <vt:lpstr>基础知识： NLP的可行方向</vt:lpstr>
      <vt:lpstr>基础知识： NLP的下降方向</vt:lpstr>
      <vt:lpstr>基础知识： NLP的下降方向</vt:lpstr>
      <vt:lpstr>基础知识： NLP的下降方向</vt:lpstr>
      <vt:lpstr>基础知识： NLP的下降方向</vt:lpstr>
      <vt:lpstr>PowerPoint 演示文稿</vt:lpstr>
      <vt:lpstr>凸优化</vt:lpstr>
      <vt:lpstr>凸集（Convex Set）</vt:lpstr>
      <vt:lpstr>凸集</vt:lpstr>
      <vt:lpstr>凸函数(Convex Function)：定义</vt:lpstr>
      <vt:lpstr>凸函数：一阶等价条件</vt:lpstr>
      <vt:lpstr>凸函数：二阶等价条件</vt:lpstr>
      <vt:lpstr>凸函数</vt:lpstr>
      <vt:lpstr>凸函数</vt:lpstr>
      <vt:lpstr>凸函数</vt:lpstr>
      <vt:lpstr>PowerPoint 演示文稿</vt:lpstr>
      <vt:lpstr>PowerPoint 演示文稿</vt:lpstr>
      <vt:lpstr>KKT条件</vt:lpstr>
      <vt:lpstr>KKT条件</vt:lpstr>
      <vt:lpstr>约束条件 (CQ) 或正则条件（阅读）</vt:lpstr>
      <vt:lpstr>KKT 条件</vt:lpstr>
      <vt:lpstr>KKT 条件</vt:lpstr>
      <vt:lpstr>KKT 条件</vt:lpstr>
      <vt:lpstr>KKT条件</vt:lpstr>
      <vt:lpstr>KKT条件</vt:lpstr>
      <vt:lpstr>KKT条件</vt:lpstr>
      <vt:lpstr>小结：KKT条件</vt:lpstr>
      <vt:lpstr>凸规划问题的求解算法</vt:lpstr>
      <vt:lpstr>算法 (Algorithm)</vt:lpstr>
      <vt:lpstr>算法</vt:lpstr>
      <vt:lpstr>算法</vt:lpstr>
      <vt:lpstr>二分法</vt:lpstr>
      <vt:lpstr>二分法</vt:lpstr>
      <vt:lpstr>二分法</vt:lpstr>
      <vt:lpstr>二分法</vt:lpstr>
      <vt:lpstr>关于二分法的讨论</vt:lpstr>
      <vt:lpstr>关于二分法的讨论</vt:lpstr>
      <vt:lpstr>结论</vt:lpstr>
      <vt:lpstr>黄金分割法</vt:lpstr>
      <vt:lpstr>黄金分割法</vt:lpstr>
      <vt:lpstr>牛顿法</vt:lpstr>
      <vt:lpstr>PowerPoint 演示文稿</vt:lpstr>
      <vt:lpstr>牛顿法</vt:lpstr>
      <vt:lpstr>牛顿法</vt:lpstr>
      <vt:lpstr>PowerPoint 演示文稿</vt:lpstr>
      <vt:lpstr>梯度下降法</vt:lpstr>
      <vt:lpstr>梯度下降法</vt:lpstr>
      <vt:lpstr>梯度下降法</vt:lpstr>
      <vt:lpstr>梯度下降法</vt:lpstr>
      <vt:lpstr>梯度下降法</vt:lpstr>
      <vt:lpstr>梯度下降法</vt:lpstr>
      <vt:lpstr>梯度下降法</vt:lpstr>
      <vt:lpstr>梯度下降法</vt:lpstr>
      <vt:lpstr>梯度下降法</vt:lpstr>
      <vt:lpstr>梯度下降法</vt:lpstr>
      <vt:lpstr>梯度下降法</vt:lpstr>
      <vt:lpstr>PowerPoint 演示文稿</vt:lpstr>
      <vt:lpstr>Frank-Wolfe 算法</vt:lpstr>
      <vt:lpstr>Frank-Wolfe 算法</vt:lpstr>
      <vt:lpstr>PowerPoint 演示文稿</vt:lpstr>
      <vt:lpstr>Frank-Wolfe 算法</vt:lpstr>
      <vt:lpstr>Frank-Wolfe 算法</vt:lpstr>
      <vt:lpstr>Frank-Wolfe 算法</vt:lpstr>
      <vt:lpstr>Frank-Wolfe 算法</vt:lpstr>
      <vt:lpstr>Frank-Wolfe 算法</vt:lpstr>
      <vt:lpstr>Frank-Wolfe 算法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Di Huang</dc:creator>
  <cp:lastModifiedBy>刘志远</cp:lastModifiedBy>
  <cp:revision>659</cp:revision>
  <dcterms:created xsi:type="dcterms:W3CDTF">2016-02-04T07:12:00Z</dcterms:created>
  <dcterms:modified xsi:type="dcterms:W3CDTF">2025-03-31T15:52:54Z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2052-10.1.0.6260</vt:lpwstr>
  </property>
</Properties>
</file>