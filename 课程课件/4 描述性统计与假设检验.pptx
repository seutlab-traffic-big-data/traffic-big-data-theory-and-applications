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6"/>
  </p:notesMasterIdLst>
  <p:handoutMasterIdLst>
    <p:handoutMasterId r:id="rId67"/>
  </p:handoutMasterIdLst>
  <p:sldIdLst>
    <p:sldId id="315" r:id="rId2"/>
    <p:sldId id="316" r:id="rId3"/>
    <p:sldId id="379" r:id="rId4"/>
    <p:sldId id="378" r:id="rId5"/>
    <p:sldId id="380" r:id="rId6"/>
    <p:sldId id="381" r:id="rId7"/>
    <p:sldId id="382" r:id="rId8"/>
    <p:sldId id="384" r:id="rId9"/>
    <p:sldId id="385" r:id="rId10"/>
    <p:sldId id="386" r:id="rId11"/>
    <p:sldId id="387" r:id="rId12"/>
    <p:sldId id="388" r:id="rId13"/>
    <p:sldId id="389" r:id="rId14"/>
    <p:sldId id="390" r:id="rId15"/>
    <p:sldId id="392" r:id="rId16"/>
    <p:sldId id="394" r:id="rId17"/>
    <p:sldId id="393" r:id="rId18"/>
    <p:sldId id="396" r:id="rId19"/>
    <p:sldId id="397" r:id="rId20"/>
    <p:sldId id="398" r:id="rId21"/>
    <p:sldId id="399" r:id="rId22"/>
    <p:sldId id="400" r:id="rId23"/>
    <p:sldId id="401" r:id="rId24"/>
    <p:sldId id="402" r:id="rId25"/>
    <p:sldId id="403" r:id="rId26"/>
    <p:sldId id="405" r:id="rId27"/>
    <p:sldId id="407" r:id="rId28"/>
    <p:sldId id="408" r:id="rId29"/>
    <p:sldId id="409" r:id="rId30"/>
    <p:sldId id="411" r:id="rId31"/>
    <p:sldId id="410" r:id="rId32"/>
    <p:sldId id="412" r:id="rId33"/>
    <p:sldId id="413" r:id="rId34"/>
    <p:sldId id="414" r:id="rId35"/>
    <p:sldId id="415" r:id="rId36"/>
    <p:sldId id="416" r:id="rId37"/>
    <p:sldId id="417" r:id="rId38"/>
    <p:sldId id="444" r:id="rId39"/>
    <p:sldId id="418" r:id="rId40"/>
    <p:sldId id="419" r:id="rId41"/>
    <p:sldId id="420" r:id="rId42"/>
    <p:sldId id="421" r:id="rId43"/>
    <p:sldId id="422" r:id="rId44"/>
    <p:sldId id="423" r:id="rId45"/>
    <p:sldId id="424" r:id="rId46"/>
    <p:sldId id="426" r:id="rId47"/>
    <p:sldId id="425" r:id="rId48"/>
    <p:sldId id="427" r:id="rId49"/>
    <p:sldId id="428" r:id="rId50"/>
    <p:sldId id="429" r:id="rId51"/>
    <p:sldId id="430" r:id="rId52"/>
    <p:sldId id="431" r:id="rId53"/>
    <p:sldId id="432" r:id="rId54"/>
    <p:sldId id="433" r:id="rId55"/>
    <p:sldId id="434" r:id="rId56"/>
    <p:sldId id="436" r:id="rId57"/>
    <p:sldId id="435" r:id="rId58"/>
    <p:sldId id="437" r:id="rId59"/>
    <p:sldId id="438" r:id="rId60"/>
    <p:sldId id="439" r:id="rId61"/>
    <p:sldId id="440" r:id="rId62"/>
    <p:sldId id="441" r:id="rId63"/>
    <p:sldId id="442" r:id="rId64"/>
    <p:sldId id="443" r:id="rId6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2EDBE2-000D-4933-A132-D041B0C8B24B}" v="8" dt="2021-01-21T07:44:45.8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03" autoAdjust="0"/>
    <p:restoredTop sz="95148" autoAdjust="0"/>
  </p:normalViewPr>
  <p:slideViewPr>
    <p:cSldViewPr snapToGrid="0" showGuides="1">
      <p:cViewPr varScale="1">
        <p:scale>
          <a:sx n="85" d="100"/>
          <a:sy n="85" d="100"/>
        </p:scale>
        <p:origin x="448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364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351EFD-4D26-4A8D-94EC-0B39933D292F}" type="datetimeFigureOut">
              <a:rPr lang="zh-CN" altLang="en-US" smtClean="0"/>
              <a:t>2024/3/4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92A5A-E16C-4068-A5D1-640E6E0AC7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690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6BBA7-2751-4186-92D7-BAFE14A83317}" type="datetimeFigureOut">
              <a:rPr lang="zh-CN" altLang="en-US" smtClean="0"/>
              <a:pPr/>
              <a:t>2024/3/4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12F08-2C51-4761-8379-7BF5B777E40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525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980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96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687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421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893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、两个变量各自的方差不变的情况下，两个变量的正相关性越强烈，协方差越大，负相关性越强烈，协方差越小；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、两个变量的相关性不变的情况下，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变量的方差越大，协方差的绝对值越大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反过来的推论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如果协方差的值是个很大的正数，我们可以得到两个结论：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 两者有很大概率是正相关的；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 这个值很大到底是因为①：正相关很强烈造成的呢？还是②：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的方差很大造成的呢，这个①和②我们是区分不出来的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36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095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356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745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294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596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929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8030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299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1094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1436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3904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94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5324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611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284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1064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621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9058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2006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682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5D6D641-91D2-4812-8C0F-927D5CADD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F93C1C7-6316-47B2-BDE0-7ED4EC057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郭延永教授</a:t>
            </a:r>
            <a:endParaRPr lang="en-US" altLang="zh-C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F15C0EA-2A71-4D49-978B-60AA0C1D2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F8962F3-5C89-4ACE-9D39-2CB78D9751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863" y="6150864"/>
            <a:ext cx="632774" cy="62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99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225ECE-2AD3-40C3-8EA9-72D1C5F82C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8327" y="6021054"/>
            <a:ext cx="836946" cy="836946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5D6D641-91D2-4812-8C0F-927D5CADD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F93C1C7-6316-47B2-BDE0-7ED4EC057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郭延永教授</a:t>
            </a:r>
            <a:endParaRPr lang="en-US" altLang="zh-C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F15C0EA-2A71-4D49-978B-60AA0C1D2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84052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E55C9-70B6-49A9-B285-7B6B9329A27F}" type="datetime1">
              <a:rPr lang="en-US" altLang="zh-CN" smtClean="0"/>
              <a:t>3/4/2024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5E73D-1069-4824-94AF-7FF34A7BE3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087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C70DC-E5E3-476E-B719-7C406A24E276}" type="datetime1">
              <a:rPr lang="en-US" altLang="zh-CN" smtClean="0"/>
              <a:t>3/4/2024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10F76-1A24-4AF4-8A91-362659113F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036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E8E72B-6C0E-4F25-B3EF-88ADA2D92673}" type="datetime1">
              <a:rPr lang="en-US" altLang="zh-CN" smtClean="0"/>
              <a:t>3/4/2024</a:t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051D9-6CDB-4A19-9498-B1F31800CB7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8281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0FD39B-8021-4531-8CE2-8D21302A74ED}" type="datetime1">
              <a:rPr lang="en-US" altLang="zh-CN" smtClean="0"/>
              <a:t>3/4/2024</a:t>
            </a:fld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2B37D-33B6-4C69-9BD0-32187E70694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19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F5701F-746E-469B-BDDA-F93B22D4DB72}" type="datetime1">
              <a:rPr lang="en-US" altLang="zh-CN" smtClean="0"/>
              <a:t>3/4/2024</a:t>
            </a:fld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009943-BA82-4F6A-BD7C-764069224C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065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7B1553-8BA7-4889-BEC6-891C13E10B98}" type="datetime1">
              <a:rPr lang="en-US" altLang="zh-CN" smtClean="0"/>
              <a:t>3/4/2024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F26E5-2ED2-4F85-94A6-41EA43600B3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183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2BEB2-F18B-4C21-9638-A76426A31BD0}" type="datetime1">
              <a:rPr lang="en-US" altLang="zh-CN" smtClean="0"/>
              <a:t>3/4/2024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8C9128-8DD9-4172-A865-72B9B18E9A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88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F3C754-25BE-4F5C-AB68-D771A03BCC90}" type="datetime1">
              <a:rPr lang="en-US" altLang="zh-CN" smtClean="0"/>
              <a:t>3/4/2024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15748A-C05D-4102-BCCF-66D346F700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5952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33400"/>
            <a:ext cx="2057400" cy="59436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52930" cy="59436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" y="19050"/>
            <a:ext cx="929393" cy="3286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3D20E-ACC7-4DDD-AC28-33869E6ABE9A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>
              <a:defRPr/>
            </a:pPr>
            <a:r>
              <a:rPr lang="en-US" altLang="zh-CN" dirty="0"/>
              <a:t>Modelling Transportation Systems · Southeast University · </a:t>
            </a:r>
            <a:r>
              <a:rPr lang="en-US" altLang="zh-CN" dirty="0" err="1"/>
              <a:t>Zhiyuan</a:t>
            </a:r>
            <a:r>
              <a:rPr lang="en-US" altLang="zh-CN" dirty="0"/>
              <a:t>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0738" y="19050"/>
            <a:ext cx="416560" cy="3286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8EEBC-8FFF-48D5-BA20-8C9570EB2408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21025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/>
        </p:nvSpPr>
        <p:spPr bwMode="auto">
          <a:xfrm>
            <a:off x="0" y="220663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027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>
                <a:sym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anose="020B0604020202020204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Arial" panose="020B0604020202020204" pitchFamily="34" charset="0"/>
              </a:rPr>
              <a:t>Second level</a:t>
            </a:r>
          </a:p>
          <a:p>
            <a:pPr lvl="2"/>
            <a:r>
              <a:rPr lang="en-US" altLang="zh-CN">
                <a:sym typeface="Arial" panose="020B0604020202020204" pitchFamily="34" charset="0"/>
              </a:rPr>
              <a:t>Third level</a:t>
            </a:r>
          </a:p>
          <a:p>
            <a:pPr lvl="3"/>
            <a:r>
              <a:rPr lang="en-US" altLang="zh-CN">
                <a:sym typeface="Arial" panose="020B0604020202020204" pitchFamily="34" charset="0"/>
              </a:rPr>
              <a:t>Fourth level</a:t>
            </a:r>
          </a:p>
          <a:p>
            <a:pPr lvl="4"/>
            <a:r>
              <a:rPr lang="en-US" altLang="zh-CN">
                <a:sym typeface="Arial" panose="020B0604020202020204" pitchFamily="34" charset="0"/>
              </a:rPr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0" y="0"/>
            <a:ext cx="9144000" cy="365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郭延永教授</a:t>
            </a:r>
            <a:endParaRPr lang="en-US" altLang="zh-C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47073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13716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18288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22860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27432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18256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457200" lvl="1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731838" lvl="2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006475" lvl="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189038" lvl="4" indent="-1365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5.png"/><Relationship Id="rId5" Type="http://schemas.openxmlformats.org/officeDocument/2006/relationships/image" Target="../media/image34.wmf"/><Relationship Id="rId4" Type="http://schemas.openxmlformats.org/officeDocument/2006/relationships/oleObject" Target="../embeddings/oleObject10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8.png"/><Relationship Id="rId5" Type="http://schemas.openxmlformats.org/officeDocument/2006/relationships/image" Target="../media/image37.wmf"/><Relationship Id="rId4" Type="http://schemas.openxmlformats.org/officeDocument/2006/relationships/oleObject" Target="../embeddings/oleObject11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390.png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42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4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15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52.wmf"/><Relationship Id="rId4" Type="http://schemas.openxmlformats.org/officeDocument/2006/relationships/oleObject" Target="../embeddings/oleObject17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57.wmf"/><Relationship Id="rId4" Type="http://schemas.openxmlformats.org/officeDocument/2006/relationships/oleObject" Target="../embeddings/oleObject18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61.wmf"/><Relationship Id="rId4" Type="http://schemas.openxmlformats.org/officeDocument/2006/relationships/oleObject" Target="../embeddings/oleObject19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jpeg"/><Relationship Id="rId5" Type="http://schemas.openxmlformats.org/officeDocument/2006/relationships/image" Target="../media/image72.jpeg"/><Relationship Id="rId4" Type="http://schemas.openxmlformats.org/officeDocument/2006/relationships/image" Target="../media/image7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04.wmf"/><Relationship Id="rId4" Type="http://schemas.openxmlformats.org/officeDocument/2006/relationships/oleObject" Target="../embeddings/oleObject20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3" Type="http://schemas.openxmlformats.org/officeDocument/2006/relationships/notesSlide" Target="../notesSlides/notesSlide26.xml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07.png"/><Relationship Id="rId9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</a:t>
            </a:fld>
            <a:endParaRPr lang="en-US" altLang="zh-CN" dirty="0"/>
          </a:p>
        </p:txBody>
      </p:sp>
      <p:sp>
        <p:nvSpPr>
          <p:cNvPr id="18" name="Straight Connector 7">
            <a:extLst>
              <a:ext uri="{FF2B5EF4-FFF2-40B4-BE49-F238E27FC236}">
                <a16:creationId xmlns:a16="http://schemas.microsoft.com/office/drawing/2014/main" id="{2A233031-8D03-4901-8383-A2AA18EAE9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827213"/>
            <a:ext cx="7848600" cy="15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EA2EE785-CA96-4F3C-84BF-759A95B42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9060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(Headings)" charset="0"/>
                <a:ea typeface="宋体" panose="02010600030101010101" pitchFamily="2" charset="-122"/>
                <a:sym typeface="Arial (Headings)" charset="0"/>
              </a:rPr>
              <a:t> 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CEDA5244-A09E-44E8-A507-0DA628E35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990600"/>
            <a:ext cx="863092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交通大数据</a:t>
            </a:r>
          </a:p>
        </p:txBody>
      </p:sp>
      <p:sp>
        <p:nvSpPr>
          <p:cNvPr id="22" name="文本框 1">
            <a:extLst>
              <a:ext uri="{FF2B5EF4-FFF2-40B4-BE49-F238E27FC236}">
                <a16:creationId xmlns:a16="http://schemas.microsoft.com/office/drawing/2014/main" id="{35E0AA4D-0668-44C2-BF4E-282BE8760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4999" y="2877344"/>
            <a:ext cx="56999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描述性统计分析与假设检验</a:t>
            </a:r>
          </a:p>
        </p:txBody>
      </p:sp>
    </p:spTree>
    <p:extLst>
      <p:ext uri="{BB962C8B-B14F-4D97-AF65-F5344CB8AC3E}">
        <p14:creationId xmlns:p14="http://schemas.microsoft.com/office/powerpoint/2010/main" val="3214666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描述性统计分析与假设检验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描述性统计分析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基本统计分布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置信区间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单样本、多样本假设检验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8450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描述性统计分析与假设检验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描述性统计分析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基本统计分布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置信区间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单样本、多样本假设检验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95856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描述性统计分析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定量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数值方法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通过计算样本的某个或某些参数，对总体参数进行估计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样本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vs.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总体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定性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图示法：通过不同的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绘图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方式对数据进行直观的解释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列表法：通过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列表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对数据进行直观的解释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</a:t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360" y="1174603"/>
            <a:ext cx="6369377" cy="286399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959" y="3987652"/>
            <a:ext cx="6496384" cy="287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08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定量描述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相对位置（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relative standing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百分位 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percentile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90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分位数：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90%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的观测数据小于该值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四分位（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quartile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把观测数据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一分为四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的百分位数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第一（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first or lower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）四分位数：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的观测数据小于该值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第二（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second or middle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）四分位数：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50%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的观测数据小于该值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第三（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third or upper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）四分位数：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75%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的观测数据小于该值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四分位距（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interquartile range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）：第一、三四分位数之差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6971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定量描述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集中趋势（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central tendency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中位数（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median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分位数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平均值（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arithmetic mean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众数（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mode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）：出现最多次的观测值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</a:t>
            </a:fld>
            <a:endParaRPr lang="en-US" altLang="zh-CN" dirty="0"/>
          </a:p>
        </p:txBody>
      </p:sp>
      <p:graphicFrame>
        <p:nvGraphicFramePr>
          <p:cNvPr id="9" name="Object 1">
            <a:extLst>
              <a:ext uri="{FF2B5EF4-FFF2-40B4-BE49-F238E27FC236}">
                <a16:creationId xmlns:a16="http://schemas.microsoft.com/office/drawing/2014/main" id="{C6E5DAE1-C97A-45F4-8261-87B692C61D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293208"/>
              </p:ext>
            </p:extLst>
          </p:nvPr>
        </p:nvGraphicFramePr>
        <p:xfrm>
          <a:off x="2554814" y="3429000"/>
          <a:ext cx="121443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公式" r:id="rId3" imgW="647700" imgH="609600" progId="Equation.3">
                  <p:embed/>
                </p:oleObj>
              </mc:Choice>
              <mc:Fallback>
                <p:oleObj name="公式" r:id="rId3" imgW="647700" imgH="609600" progId="Equation.3">
                  <p:embed/>
                  <p:pic>
                    <p:nvPicPr>
                      <p:cNvPr id="1741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814" y="3429000"/>
                        <a:ext cx="1214438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51A88821-5411-4D02-A2A3-7073787658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792949"/>
              </p:ext>
            </p:extLst>
          </p:nvPr>
        </p:nvGraphicFramePr>
        <p:xfrm>
          <a:off x="5374749" y="3425825"/>
          <a:ext cx="1270000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公式" r:id="rId5" imgW="672808" imgH="609336" progId="Equation.3">
                  <p:embed/>
                </p:oleObj>
              </mc:Choice>
              <mc:Fallback>
                <p:oleObj name="公式" r:id="rId5" imgW="672808" imgH="609336" progId="Equation.3">
                  <p:embed/>
                  <p:pic>
                    <p:nvPicPr>
                      <p:cNvPr id="174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4749" y="3425825"/>
                        <a:ext cx="1270000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1953491" y="4679806"/>
            <a:ext cx="2428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Population Mean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131654" y="4251180"/>
            <a:ext cx="500063" cy="500063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6046762" y="4179744"/>
            <a:ext cx="500062" cy="500062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4" name="TextBox 7"/>
          <p:cNvSpPr txBox="1">
            <a:spLocks noChangeArrowheads="1"/>
          </p:cNvSpPr>
          <p:nvPr/>
        </p:nvSpPr>
        <p:spPr bwMode="auto">
          <a:xfrm>
            <a:off x="5031798" y="4679806"/>
            <a:ext cx="2428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Sample Mean</a:t>
            </a:r>
            <a:endParaRPr lang="zh-CN" alt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42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定量描述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变化性（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variability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定义：衡量数据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离散性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的统计指标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四分位距（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interquartile range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区间（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range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）：最大、最小观测值之差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方差（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variance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）或标准偏差（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standard deviation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7</a:t>
            </a:fld>
            <a:endParaRPr lang="en-US" altLang="zh-CN" dirty="0"/>
          </a:p>
        </p:txBody>
      </p:sp>
      <p:sp>
        <p:nvSpPr>
          <p:cNvPr id="9" name="TextBox 11"/>
          <p:cNvSpPr txBox="1">
            <a:spLocks noChangeArrowheads="1"/>
          </p:cNvSpPr>
          <p:nvPr/>
        </p:nvSpPr>
        <p:spPr bwMode="auto">
          <a:xfrm>
            <a:off x="1415097" y="5929031"/>
            <a:ext cx="32861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Population Standard Deviation</a:t>
            </a:r>
          </a:p>
        </p:txBody>
      </p:sp>
      <p:sp>
        <p:nvSpPr>
          <p:cNvPr id="10" name="TextBox 12"/>
          <p:cNvSpPr txBox="1">
            <a:spLocks noChangeArrowheads="1"/>
          </p:cNvSpPr>
          <p:nvPr/>
        </p:nvSpPr>
        <p:spPr bwMode="auto">
          <a:xfrm>
            <a:off x="4637764" y="5929030"/>
            <a:ext cx="32861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Sample Standard Deviation</a:t>
            </a:r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826358"/>
              </p:ext>
            </p:extLst>
          </p:nvPr>
        </p:nvGraphicFramePr>
        <p:xfrm>
          <a:off x="1651677" y="4767916"/>
          <a:ext cx="2986087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" name="Equation" r:id="rId4" imgW="1587500" imgH="660400" progId="Equation.DSMT4">
                  <p:embed/>
                </p:oleObj>
              </mc:Choice>
              <mc:Fallback>
                <p:oleObj name="Equation" r:id="rId4" imgW="1587500" imgH="660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677" y="4767916"/>
                        <a:ext cx="2986087" cy="1233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30896"/>
              </p:ext>
            </p:extLst>
          </p:nvPr>
        </p:nvGraphicFramePr>
        <p:xfrm>
          <a:off x="5100182" y="4774843"/>
          <a:ext cx="2136775" cy="124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name="Equation" r:id="rId6" imgW="1129810" imgH="660113" progId="Equation.DSMT4">
                  <p:embed/>
                </p:oleObj>
              </mc:Choice>
              <mc:Fallback>
                <p:oleObj name="Equation" r:id="rId6" imgW="1129810" imgH="6601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182" y="4774843"/>
                        <a:ext cx="2136775" cy="1243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182" y="1782040"/>
            <a:ext cx="3693618" cy="1541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867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定量描述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变化性（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variability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只看标准偏差够吗？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标准偏差是数据离散性的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绝对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衡量指标，未考虑数据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量级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如何解决？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变异系数（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coefficient of variation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8</a:t>
            </a:fld>
            <a:endParaRPr lang="en-US" altLang="zh-CN" dirty="0"/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F9E55A71-A0F5-43EF-90C9-AFAA5EA659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816825"/>
              </p:ext>
            </p:extLst>
          </p:nvPr>
        </p:nvGraphicFramePr>
        <p:xfrm>
          <a:off x="4028281" y="4981327"/>
          <a:ext cx="108743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公式" r:id="rId3" imgW="571252" imgH="393529" progId="Equation.3">
                  <p:embed/>
                </p:oleObj>
              </mc:Choice>
              <mc:Fallback>
                <p:oleObj name="公式" r:id="rId3" imgW="571252" imgH="393529" progId="Equation.3">
                  <p:embed/>
                  <p:pic>
                    <p:nvPicPr>
                      <p:cNvPr id="2048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8281" y="4981327"/>
                        <a:ext cx="1087437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0367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定量描述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定量描述性统计分析案例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9</a:t>
            </a:fld>
            <a:endParaRPr lang="en-US" altLang="zh-CN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A7C9264-16E6-4C07-9A21-B56CBAA6B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000" y="2137900"/>
            <a:ext cx="6480000" cy="470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2681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定量描述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偏度（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skewness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描述数据分布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偏斜方向和程度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描述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数据分布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不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对称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程度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描述概率分布密度曲线相对于平均值不对称程度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又叫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第三中心距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third central moment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当概率分布向右延伸，即右侧有“长尾巴”，此概率分布是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右偏斜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的（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right-skewed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）或正偏斜的（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positively skewed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）；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当概率分布向左延伸，即左侧有“长尾巴”，此概率分布是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左偏斜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的（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left-skewed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）或负偏斜的（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negatively skewed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）。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14330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定量描述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偏度（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skewness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11</a:t>
            </a:fld>
            <a:endParaRPr lang="en-US" altLang="zh-CN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47BCD5C-8947-42C0-85D3-A60113A62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00" y="2087985"/>
            <a:ext cx="7920000" cy="290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6E1F5559-139F-4FE1-BEEA-F983CDF4A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731" y="4872809"/>
            <a:ext cx="12239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Arial" charset="0"/>
              </a:rPr>
              <a:t>g&gt;0</a:t>
            </a:r>
            <a:endParaRPr lang="zh-CN" altLang="en-US" sz="3600" dirty="0">
              <a:latin typeface="Arial" charset="0"/>
            </a:endParaRP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C81A649E-6EED-44A1-9B3D-EFCED6F4C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524" y="4872809"/>
            <a:ext cx="12239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Arial" charset="0"/>
              </a:rPr>
              <a:t>g&lt;0</a:t>
            </a:r>
            <a:endParaRPr lang="zh-CN" altLang="en-US" sz="3600" dirty="0">
              <a:latin typeface="Arial" charset="0"/>
            </a:endParaRP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124AD9CA-29A2-4BBC-84FD-B4C6BABAF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845" y="4872809"/>
            <a:ext cx="12239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Arial" charset="0"/>
              </a:rPr>
              <a:t>g=0</a:t>
            </a:r>
            <a:endParaRPr lang="zh-CN" altLang="en-US" sz="3600" dirty="0">
              <a:latin typeface="Arial" charset="0"/>
            </a:endParaRPr>
          </a:p>
        </p:txBody>
      </p:sp>
      <p:pic>
        <p:nvPicPr>
          <p:cNvPr id="13" name="Picture 1" descr="C:\Users\adm\AppData\Roaming\Tencent\Users\394197411\QQ\WinTemp\RichOle\P]YPE_G6N]DQ[NXJZE8@]6J.png">
            <a:extLst>
              <a:ext uri="{FF2B5EF4-FFF2-40B4-BE49-F238E27FC236}">
                <a16:creationId xmlns:a16="http://schemas.microsoft.com/office/drawing/2014/main" id="{69439861-8C46-4B96-B86A-D29F109C6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97" y="5737995"/>
            <a:ext cx="22193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 descr="C:\Users\adm\AppData\Roaming\Tencent\Users\394197411\QQ\WinTemp\RichOle\THG%4}{CK3W[@BC7FJ(IBN5.png">
            <a:extLst>
              <a:ext uri="{FF2B5EF4-FFF2-40B4-BE49-F238E27FC236}">
                <a16:creationId xmlns:a16="http://schemas.microsoft.com/office/drawing/2014/main" id="{E19BE12A-118D-496D-B6EC-2F35FFE8A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157" y="5834840"/>
            <a:ext cx="32385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 descr="C:\Users\adm\AppData\Roaming\Tencent\Users\394197411\QQ\WinTemp\RichOle\9`EMJVN74%T_I0SYY(UWOAE.png">
            <a:extLst>
              <a:ext uri="{FF2B5EF4-FFF2-40B4-BE49-F238E27FC236}">
                <a16:creationId xmlns:a16="http://schemas.microsoft.com/office/drawing/2014/main" id="{9E608BB7-ED63-409B-A550-E4BDD3A7B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657" y="5737995"/>
            <a:ext cx="30099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9049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定量描述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峰度（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kurtosis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描述数据分布的平坦（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flatness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）或拔尖（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peakness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）程度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又叫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第四中心距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fourth central moment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637" lvl="1" indent="0">
              <a:lnSpc>
                <a:spcPct val="150000"/>
              </a:lnSpc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12</a:t>
            </a:fld>
            <a:endParaRPr lang="en-US" altLang="zh-CN" dirty="0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58384F87-C671-4C5B-8325-7B4636384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00" y="3167743"/>
            <a:ext cx="7920000" cy="2606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1" descr="C:\Users\adm\AppData\Roaming\Tencent\Users\394197411\QQ\WinTemp\RichOle\Z9EAI@XFZD)DI]{CVN)PKTF.png">
            <a:extLst>
              <a:ext uri="{FF2B5EF4-FFF2-40B4-BE49-F238E27FC236}">
                <a16:creationId xmlns:a16="http://schemas.microsoft.com/office/drawing/2014/main" id="{ABD6D87F-504B-499F-B14F-0DCBF5797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91" y="5859815"/>
            <a:ext cx="371475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C:\Users\adm\AppData\Roaming\Tencent\Users\394197411\QQ\WinTemp\RichOle\]KQX$AIRZ1IF_MG{%8TO7R1.png">
            <a:extLst>
              <a:ext uri="{FF2B5EF4-FFF2-40B4-BE49-F238E27FC236}">
                <a16:creationId xmlns:a16="http://schemas.microsoft.com/office/drawing/2014/main" id="{948EB3D7-5EF7-480D-A5B6-B6EEC4057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400" y="5774090"/>
            <a:ext cx="310515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971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定量描述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峰度（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kurtosis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637" lvl="1" indent="0">
              <a:lnSpc>
                <a:spcPct val="150000"/>
              </a:lnSpc>
              <a:buNone/>
            </a:pP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637" lvl="1" indent="0">
              <a:lnSpc>
                <a:spcPct val="150000"/>
              </a:lnSpc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13</a:t>
            </a:fld>
            <a:endParaRPr lang="en-US" altLang="zh-CN" dirty="0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58384F87-C671-4C5B-8325-7B4636384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490" y="2220325"/>
            <a:ext cx="7063728" cy="2324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818078" y="2809883"/>
            <a:ext cx="2240082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尖峰态分布的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&gt;0</a:t>
            </a:r>
          </a:p>
        </p:txBody>
      </p:sp>
      <p:sp>
        <p:nvSpPr>
          <p:cNvPr id="11" name="矩形 10"/>
          <p:cNvSpPr/>
          <p:nvPr/>
        </p:nvSpPr>
        <p:spPr>
          <a:xfrm>
            <a:off x="6693836" y="2775592"/>
            <a:ext cx="2405496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低峰态分布的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&lt;0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0087" y="4490114"/>
            <a:ext cx="5076533" cy="224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6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定量描述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定量描述性统计分析案例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经统计分析，南京市区和郊区道路车速分布的偏度分别为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-0.67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0.056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。问，南京市区和郊区道路车速分布分别是右偏斜的还是左偏斜的？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经统计分析，南京市区和郊区道路车速分布的峰度分别为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0.49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-2.74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。问，南京市区和郊区道路车速分布分别是尖峰态的还是低峰态的？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77291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定量描述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相关性（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association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之前的描述指标仅针对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单一变量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，未描述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两个变量间的相关关系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相关性（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correlation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）指标衡量了两个变量间的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线性关联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协方差（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covariance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大于（小于）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，两个变量延同（反）方向变化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，两个变量线性无关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637" lvl="1" indent="0">
              <a:lnSpc>
                <a:spcPct val="150000"/>
              </a:lnSpc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15</a:t>
            </a:fld>
            <a:endParaRPr lang="en-US" altLang="zh-CN" dirty="0"/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92240764-822A-4732-B6F8-DB177CA436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804715"/>
              </p:ext>
            </p:extLst>
          </p:nvPr>
        </p:nvGraphicFramePr>
        <p:xfrm>
          <a:off x="666750" y="4434918"/>
          <a:ext cx="390525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name="公式" r:id="rId4" imgW="2298700" imgH="609600" progId="Equation.3">
                  <p:embed/>
                </p:oleObj>
              </mc:Choice>
              <mc:Fallback>
                <p:oleObj name="公式" r:id="rId4" imgW="2298700" imgH="609600" progId="Equation.3">
                  <p:embed/>
                  <p:pic>
                    <p:nvPicPr>
                      <p:cNvPr id="2765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4434918"/>
                        <a:ext cx="3905250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20EC3022-51A4-4A39-AD5B-4201299C3B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557412"/>
              </p:ext>
            </p:extLst>
          </p:nvPr>
        </p:nvGraphicFramePr>
        <p:xfrm>
          <a:off x="4943475" y="4434919"/>
          <a:ext cx="3743325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公式" r:id="rId6" imgW="2197100" imgH="609600" progId="Equation.3">
                  <p:embed/>
                </p:oleObj>
              </mc:Choice>
              <mc:Fallback>
                <p:oleObj name="公式" r:id="rId6" imgW="2197100" imgH="609600" progId="Equation.3">
                  <p:embed/>
                  <p:pic>
                    <p:nvPicPr>
                      <p:cNvPr id="2766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4434919"/>
                        <a:ext cx="3743325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7154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定量描述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相关性（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association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皮尔逊相关系数（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Pearson product-moment correlation parameter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始终取值在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[-1, 1]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16</a:t>
            </a:fld>
            <a:endParaRPr lang="en-US" altLang="zh-CN" dirty="0"/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15503D28-38A2-4EAA-9448-CABF2ECD73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726201"/>
              </p:ext>
            </p:extLst>
          </p:nvPr>
        </p:nvGraphicFramePr>
        <p:xfrm>
          <a:off x="1872446" y="3713409"/>
          <a:ext cx="183197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" name="公式" r:id="rId4" imgW="1079500" imgH="457200" progId="Equation.3">
                  <p:embed/>
                </p:oleObj>
              </mc:Choice>
              <mc:Fallback>
                <p:oleObj name="公式" r:id="rId4" imgW="1079500" imgH="457200" progId="Equation.3">
                  <p:embed/>
                  <p:pic>
                    <p:nvPicPr>
                      <p:cNvPr id="2868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2446" y="3713409"/>
                        <a:ext cx="183197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2DCD2FB7-8FB0-4893-993B-46A98CD86F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1363855"/>
              </p:ext>
            </p:extLst>
          </p:nvPr>
        </p:nvGraphicFramePr>
        <p:xfrm>
          <a:off x="4572000" y="3713409"/>
          <a:ext cx="17780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5" name="公式" r:id="rId6" imgW="1054100" imgH="444500" progId="Equation.3">
                  <p:embed/>
                </p:oleObj>
              </mc:Choice>
              <mc:Fallback>
                <p:oleObj name="公式" r:id="rId6" imgW="1054100" imgH="444500" progId="Equation.3">
                  <p:embed/>
                  <p:pic>
                    <p:nvPicPr>
                      <p:cNvPr id="2868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713409"/>
                        <a:ext cx="17780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9644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定量描述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相关性（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association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637" lvl="1" indent="0">
              <a:lnSpc>
                <a:spcPct val="150000"/>
              </a:lnSpc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17</a:t>
            </a:fld>
            <a:endParaRPr lang="en-US" altLang="zh-CN" dirty="0"/>
          </a:p>
        </p:txBody>
      </p:sp>
      <p:pic>
        <p:nvPicPr>
          <p:cNvPr id="3" name="图片 2" descr="图示, 散点图&#10;&#10;描述已自动生成">
            <a:extLst>
              <a:ext uri="{FF2B5EF4-FFF2-40B4-BE49-F238E27FC236}">
                <a16:creationId xmlns:a16="http://schemas.microsoft.com/office/drawing/2014/main" id="{623BD789-1EFD-4FCF-B332-D7AF3F20F2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0" y="2396041"/>
            <a:ext cx="7920000" cy="361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210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定性描述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直方图（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histogram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18</a:t>
            </a:fld>
            <a:endParaRPr lang="en-US" altLang="zh-CN" dirty="0"/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70B040B9-489D-49ED-8CEF-D23A9ACA7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06613"/>
            <a:ext cx="7920000" cy="457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331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定性描述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累积曲线图（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ogive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19</a:t>
            </a:fld>
            <a:endParaRPr lang="en-US" altLang="zh-CN" dirty="0"/>
          </a:p>
        </p:txBody>
      </p:sp>
      <p:pic>
        <p:nvPicPr>
          <p:cNvPr id="10" name="Picture 3" descr="Fig 1">
            <a:extLst>
              <a:ext uri="{FF2B5EF4-FFF2-40B4-BE49-F238E27FC236}">
                <a16:creationId xmlns:a16="http://schemas.microsoft.com/office/drawing/2014/main" id="{EB18F25B-020C-4CB4-BFE5-F81CF3AEB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000" y="2156031"/>
            <a:ext cx="6480000" cy="4244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6073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定性描述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箱型图（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box plot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20</a:t>
            </a:fld>
            <a:endParaRPr lang="en-US" altLang="zh-CN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13BA28F2-7508-4A38-BC6A-0F384B93C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00" y="2233299"/>
            <a:ext cx="7920000" cy="3267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4264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定性描述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散点图（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scatter plot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21</a:t>
            </a:fld>
            <a:endParaRPr lang="en-US" altLang="zh-CN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B3E9F8C6-AC0E-47FA-873B-5A00A2E8C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000" y="2158587"/>
            <a:ext cx="6480000" cy="469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4816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定性描述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饼图（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pie chart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22</a:t>
            </a:fld>
            <a:endParaRPr lang="en-US" altLang="zh-CN" dirty="0"/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AC6BD0FA-D253-441E-8409-703AA29B3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" y="2520950"/>
            <a:ext cx="4673600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FC48AB65-6BD2-4F9A-AC53-1311A4EAA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053" y="2274887"/>
            <a:ext cx="4243387" cy="352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4090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定性描述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条形图（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bar chart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23</a:t>
            </a:fld>
            <a:endParaRPr lang="en-US" altLang="zh-CN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A52818F-D5A4-4025-969D-18C2B217C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" y="2545509"/>
            <a:ext cx="4500000" cy="2881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E099ED6D-66B9-4C45-AAE9-F1D6ECADE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734431"/>
            <a:ext cx="4500000" cy="260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7057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定性描述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线性图（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line chart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24</a:t>
            </a:fld>
            <a:endParaRPr lang="en-US" altLang="zh-CN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8E5152-5364-4FF1-A9C6-2C0E9A649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000" y="2168192"/>
            <a:ext cx="6480000" cy="3969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3337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定性描述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表格（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table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25</a:t>
            </a:fld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C982CFF-1784-4D40-BE7D-1F6CE966F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0" y="2314579"/>
            <a:ext cx="7200000" cy="369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507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描述性统计分析与假设检验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描述性统计分析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基本统计分布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置信区间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单样本、多样本假设检验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582516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基本统计分布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两类概率分布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连续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vs.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离散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二项分布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泊松分布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正态分布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两类描述方式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概率密度函数（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probability density function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PDF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概率质量函数（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probability mass function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PMF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累积分布函数 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cumulative distribution function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1190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正态分布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PDF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有两个参数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期望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 和方差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637" lvl="1" indent="0">
                  <a:lnSpc>
                    <a:spcPct val="150000"/>
                  </a:lnSpc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637" lvl="1" indent="0">
                  <a:lnSpc>
                    <a:spcPct val="150000"/>
                  </a:lnSpc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如果 </a:t>
                </a:r>
                <a:r>
                  <a:rPr lang="en-US" altLang="zh-CN" sz="2000" i="1" dirty="0">
                    <a:latin typeface="Times New Roman" pitchFamily="18" charset="0"/>
                    <a:cs typeface="Times New Roman" pitchFamily="18" charset="0"/>
                  </a:rPr>
                  <a:t>X ~ N</a:t>
                </a: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l-GR" altLang="zh-CN" sz="2000" i="1" dirty="0">
                    <a:latin typeface="Times New Roman" pitchFamily="18" charset="0"/>
                    <a:cs typeface="Times New Roman" pitchFamily="18" charset="0"/>
                  </a:rPr>
                  <a:t>μ</a:t>
                </a:r>
                <a:r>
                  <a:rPr lang="en-US" altLang="zh-CN" sz="2000" i="1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l-GR" altLang="zh-CN" sz="2000" i="1" dirty="0">
                    <a:latin typeface="Times New Roman" pitchFamily="18" charset="0"/>
                    <a:cs typeface="Times New Roman" pitchFamily="18" charset="0"/>
                  </a:rPr>
                  <a:t>σ</a:t>
                </a:r>
                <a:r>
                  <a:rPr lang="el-GR" altLang="zh-CN" sz="2000" baseline="30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  <a:r>
                  <a:rPr lang="zh-CN" altLang="en-US" dirty="0">
                    <a:latin typeface="Times New Roman" pitchFamily="18" charset="0"/>
                    <a:cs typeface="Times New Roman" pitchFamily="18" charset="0"/>
                  </a:rPr>
                  <a:t>，</a:t>
                </a:r>
                <a:r>
                  <a:rPr lang="zh-CN" altLang="en-US" sz="2000" dirty="0">
                    <a:latin typeface="Times New Roman" pitchFamily="18" charset="0"/>
                    <a:cs typeface="Times New Roman" pitchFamily="18" charset="0"/>
                  </a:rPr>
                  <a:t>那么 </a:t>
                </a: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altLang="zh-CN" sz="2000" i="1" dirty="0">
                    <a:latin typeface="Times New Roman" pitchFamily="18" charset="0"/>
                    <a:cs typeface="Times New Roman" pitchFamily="18" charset="0"/>
                  </a:rPr>
                  <a:t>X - </a:t>
                </a:r>
                <a:r>
                  <a:rPr lang="el-GR" altLang="zh-CN" sz="2000" i="1" dirty="0">
                    <a:latin typeface="Times New Roman" pitchFamily="18" charset="0"/>
                    <a:cs typeface="Times New Roman" pitchFamily="18" charset="0"/>
                  </a:rPr>
                  <a:t>μ</a:t>
                </a: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) </a:t>
                </a:r>
                <a:r>
                  <a:rPr lang="en-US" altLang="zh-CN" dirty="0">
                    <a:latin typeface="Times New Roman" pitchFamily="18" charset="0"/>
                    <a:cs typeface="Times New Roman" pitchFamily="18" charset="0"/>
                  </a:rPr>
                  <a:t>/ </a:t>
                </a:r>
                <a:r>
                  <a:rPr lang="el-GR" altLang="zh-CN" sz="2000" i="1" dirty="0">
                    <a:latin typeface="Times New Roman" pitchFamily="18" charset="0"/>
                    <a:cs typeface="Times New Roman" pitchFamily="18" charset="0"/>
                  </a:rPr>
                  <a:t>σ</a:t>
                </a:r>
                <a:r>
                  <a:rPr lang="en-US" altLang="zh-CN" sz="2000" i="1" dirty="0">
                    <a:latin typeface="Times New Roman" pitchFamily="18" charset="0"/>
                    <a:cs typeface="Times New Roman" pitchFamily="18" charset="0"/>
                  </a:rPr>
                  <a:t> ~ N</a:t>
                </a: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(0, 1)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28</a:t>
            </a:fld>
            <a:endParaRPr lang="en-US" altLang="zh-CN" dirty="0"/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01E90588-721D-4A85-8841-46EECFEA90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899823"/>
              </p:ext>
            </p:extLst>
          </p:nvPr>
        </p:nvGraphicFramePr>
        <p:xfrm>
          <a:off x="2447131" y="2619375"/>
          <a:ext cx="4249738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name="公式" r:id="rId4" imgW="2235200" imgH="482600" progId="Equation.3">
                  <p:embed/>
                </p:oleObj>
              </mc:Choice>
              <mc:Fallback>
                <p:oleObj name="公式" r:id="rId4" imgW="2235200" imgH="482600" progId="Equation.3">
                  <p:embed/>
                  <p:pic>
                    <p:nvPicPr>
                      <p:cNvPr id="4813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131" y="2619375"/>
                        <a:ext cx="4249738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5" descr="500px-Normal_Distribution_PDF.svg">
            <a:extLst>
              <a:ext uri="{FF2B5EF4-FFF2-40B4-BE49-F238E27FC236}">
                <a16:creationId xmlns:a16="http://schemas.microsoft.com/office/drawing/2014/main" id="{809B3F7D-2C5B-4EFE-82B6-8FC59C7812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215793"/>
            <a:ext cx="3960000" cy="2526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6" descr="500px-Normal_Distribution_CDF.svg">
            <a:extLst>
              <a:ext uri="{FF2B5EF4-FFF2-40B4-BE49-F238E27FC236}">
                <a16:creationId xmlns:a16="http://schemas.microsoft.com/office/drawing/2014/main" id="{06198CFC-2A6D-4B99-99F2-64B81200ED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680" y="4216303"/>
            <a:ext cx="3960000" cy="2526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83873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泊松分布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PMF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有一个参数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单位时间内事件平均发生率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事件在单位时间内发生 </a:t>
                </a:r>
                <a:r>
                  <a:rPr lang="en-US" altLang="zh-CN" sz="2000" i="1" dirty="0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zh-CN" alt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次的概率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事件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独立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发生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期望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 =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方差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637" lvl="1" indent="0">
                  <a:lnSpc>
                    <a:spcPct val="150000"/>
                  </a:lnSpc>
                  <a:buNone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29</a:t>
            </a:fld>
            <a:endParaRPr lang="en-US" altLang="zh-CN" dirty="0"/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03B91590-6D40-4BB1-B78F-C459FDB71A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934536"/>
              </p:ext>
            </p:extLst>
          </p:nvPr>
        </p:nvGraphicFramePr>
        <p:xfrm>
          <a:off x="1149985" y="2818606"/>
          <a:ext cx="1908175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name="公式" r:id="rId4" imgW="1002865" imgH="418918" progId="Equation.3">
                  <p:embed/>
                </p:oleObj>
              </mc:Choice>
              <mc:Fallback>
                <p:oleObj name="公式" r:id="rId4" imgW="1002865" imgH="418918" progId="Equation.3">
                  <p:embed/>
                  <p:pic>
                    <p:nvPicPr>
                      <p:cNvPr id="5222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985" y="2818606"/>
                        <a:ext cx="1908175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7" descr="500px-Poisson_pmf.svg">
            <a:extLst>
              <a:ext uri="{FF2B5EF4-FFF2-40B4-BE49-F238E27FC236}">
                <a16:creationId xmlns:a16="http://schemas.microsoft.com/office/drawing/2014/main" id="{AEE6C605-AB18-4CEF-B189-ADEC235DF0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50" y="2377800"/>
            <a:ext cx="3600000" cy="28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50730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描述性统计分析与假设检验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描述性统计分析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基本统计分布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置信区间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单样本、多样本假设检验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861060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置信区间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点估计（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point estimate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通过一个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样本参数值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对总体参数进行估计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区间估计（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interval estimate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通过一个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置信区间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对总体参数进行估计（考虑某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置信水平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置信水平：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总体参数落在该区间的概率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置信下限（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lower confidence limit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置信上限（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upper confidence limit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637" lvl="1" indent="0">
              <a:lnSpc>
                <a:spcPct val="150000"/>
              </a:lnSpc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604298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置信区间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总体 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已知，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未知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中心极限定理（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central limit theorem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）：若总体均值和标准偏差分别表示为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和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，当独立取样足够多时，样本均值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近似服从均值为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、标准偏差为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zh-CN" altLang="en-US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的正态分布。</a:t>
                </a: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32</a:t>
            </a:fld>
            <a:endParaRPr lang="en-US" altLang="zh-CN" dirty="0"/>
          </a:p>
        </p:txBody>
      </p:sp>
      <p:pic>
        <p:nvPicPr>
          <p:cNvPr id="3" name="图片 2" descr="图示&#10;&#10;低可信度描述已自动生成">
            <a:extLst>
              <a:ext uri="{FF2B5EF4-FFF2-40B4-BE49-F238E27FC236}">
                <a16:creationId xmlns:a16="http://schemas.microsoft.com/office/drawing/2014/main" id="{543BDEF4-6A2C-46E1-976C-DEC1D4B43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000" y="4038600"/>
            <a:ext cx="2160000" cy="169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066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置信区间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总体 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已知，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未知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标准正态分布变量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落在区间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[-1.96, 1.96]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的概率是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0.95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33</a:t>
            </a:fld>
            <a:endParaRPr lang="en-US" altLang="zh-CN" dirty="0"/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DB9F246F-45CC-4E0D-B3A6-C1605F185B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244303"/>
              </p:ext>
            </p:extLst>
          </p:nvPr>
        </p:nvGraphicFramePr>
        <p:xfrm>
          <a:off x="2824956" y="2883477"/>
          <a:ext cx="3494087" cy="147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6" name="公式" r:id="rId4" imgW="2057400" imgH="863600" progId="Equation.3">
                  <p:embed/>
                </p:oleObj>
              </mc:Choice>
              <mc:Fallback>
                <p:oleObj name="公式" r:id="rId4" imgW="2057400" imgH="863600" progId="Equation.3">
                  <p:embed/>
                  <p:pic>
                    <p:nvPicPr>
                      <p:cNvPr id="5427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4956" y="2883477"/>
                        <a:ext cx="3494087" cy="1471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1FD80F97-0205-42AA-A87F-5A4AA00ECB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423224"/>
              </p:ext>
            </p:extLst>
          </p:nvPr>
        </p:nvGraphicFramePr>
        <p:xfrm>
          <a:off x="2441574" y="4529180"/>
          <a:ext cx="426085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7" name="公式" r:id="rId6" imgW="2501900" imgH="457200" progId="Equation.3">
                  <p:embed/>
                </p:oleObj>
              </mc:Choice>
              <mc:Fallback>
                <p:oleObj name="公式" r:id="rId6" imgW="2501900" imgH="457200" progId="Equation.3">
                  <p:embed/>
                  <p:pic>
                    <p:nvPicPr>
                      <p:cNvPr id="542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574" y="4529180"/>
                        <a:ext cx="426085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31724D60-5F7D-445D-B85A-73E16F4DCF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590698"/>
              </p:ext>
            </p:extLst>
          </p:nvPr>
        </p:nvGraphicFramePr>
        <p:xfrm>
          <a:off x="2305049" y="5481146"/>
          <a:ext cx="45339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8" name="公式" r:id="rId8" imgW="2667000" imgH="457200" progId="Equation.3">
                  <p:embed/>
                </p:oleObj>
              </mc:Choice>
              <mc:Fallback>
                <p:oleObj name="公式" r:id="rId8" imgW="2667000" imgH="457200" progId="Equation.3">
                  <p:embed/>
                  <p:pic>
                    <p:nvPicPr>
                      <p:cNvPr id="5427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049" y="5481146"/>
                        <a:ext cx="45339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642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置信区间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总体 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已知，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未知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总体均值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落入区间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637" lvl="1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的概率为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95%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；该区间称为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95%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置信区间。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置信区间为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：当标准正态分布两端曲线下面积之和为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时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的取值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1375" b="-6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34</a:t>
            </a:fld>
            <a:endParaRPr lang="en-US" altLang="zh-CN" dirty="0"/>
          </a:p>
        </p:txBody>
      </p:sp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930A5D24-A0F4-47AD-93F4-928A87C488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699628"/>
              </p:ext>
            </p:extLst>
          </p:nvPr>
        </p:nvGraphicFramePr>
        <p:xfrm>
          <a:off x="3103562" y="2834966"/>
          <a:ext cx="2936875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" name="公式" r:id="rId4" imgW="1727200" imgH="419100" progId="Equation.3">
                  <p:embed/>
                </p:oleObj>
              </mc:Choice>
              <mc:Fallback>
                <p:oleObj name="公式" r:id="rId4" imgW="1727200" imgH="419100" progId="Equation.3">
                  <p:embed/>
                  <p:pic>
                    <p:nvPicPr>
                      <p:cNvPr id="5530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2" y="2834966"/>
                        <a:ext cx="2936875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05F24563-2236-4CC2-A224-914FB0D30B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563823"/>
              </p:ext>
            </p:extLst>
          </p:nvPr>
        </p:nvGraphicFramePr>
        <p:xfrm>
          <a:off x="3775074" y="4879975"/>
          <a:ext cx="15938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" name="公式" r:id="rId6" imgW="939600" imgH="444240" progId="Equation.3">
                  <p:embed/>
                </p:oleObj>
              </mc:Choice>
              <mc:Fallback>
                <p:oleObj name="公式" r:id="rId6" imgW="939600" imgH="444240" progId="Equation.3">
                  <p:embed/>
                  <p:pic>
                    <p:nvPicPr>
                      <p:cNvPr id="5530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5074" y="4879975"/>
                        <a:ext cx="15938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97522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置信区间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总体 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已知，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未知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35</a:t>
            </a:fld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868A04-CDC2-4713-9C50-D586546EA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51858" cy="6858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0411BED-3693-4F4A-BFEE-4AE755053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858" y="-9057"/>
            <a:ext cx="42921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343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置信区间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总体 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已知，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未知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——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案例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36</a:t>
            </a:fld>
            <a:endParaRPr lang="en-US" altLang="zh-CN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779B2597-570B-460D-BE89-ECB190D52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01" y="2154654"/>
            <a:ext cx="7610597" cy="2058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24B766D3-1F18-48BD-89C9-70C3D6B88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6" y="4434267"/>
            <a:ext cx="721042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BD71DC74-B037-4E5E-8D0D-25ABEF89B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01" y="5320158"/>
            <a:ext cx="7615238" cy="119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331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置信区间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总体 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和 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均未知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在实际数据分析中，总体标准偏差获取较难；因此，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置信区间为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：当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自由度的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分布两端曲线下面积之和为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时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的取值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37</a:t>
            </a:fld>
            <a:endParaRPr lang="en-US" altLang="zh-CN" dirty="0"/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84DB7E11-7CC0-43D7-B7A9-C505026072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956325"/>
              </p:ext>
            </p:extLst>
          </p:nvPr>
        </p:nvGraphicFramePr>
        <p:xfrm>
          <a:off x="3926681" y="3236912"/>
          <a:ext cx="1290637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name="公式" r:id="rId4" imgW="761669" imgH="418918" progId="Equation.3">
                  <p:embed/>
                </p:oleObj>
              </mc:Choice>
              <mc:Fallback>
                <p:oleObj name="公式" r:id="rId4" imgW="761669" imgH="418918" progId="Equation.3">
                  <p:embed/>
                  <p:pic>
                    <p:nvPicPr>
                      <p:cNvPr id="5734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6681" y="3236912"/>
                        <a:ext cx="1290637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04188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38</a:t>
            </a:fld>
            <a:endParaRPr lang="en-US" altLang="zh-CN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D03B7DD-FD1A-448D-A9CA-20BC8ECF3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92" y="0"/>
            <a:ext cx="41624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634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置信区间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总体 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和 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均未知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——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案例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39</a:t>
            </a:fld>
            <a:endParaRPr lang="en-US" altLang="zh-CN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E041D6E9-402D-425D-AE2A-53F3D3D73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91" y="2404581"/>
            <a:ext cx="7276618" cy="1634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F01E9CA2-44DA-4B6C-81A4-D036A93DA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4229318"/>
            <a:ext cx="552450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292FEBE-9202-4CB7-BD62-C34D7CA9782A}"/>
              </a:ext>
            </a:extLst>
          </p:cNvPr>
          <p:cNvSpPr txBox="1"/>
          <p:nvPr/>
        </p:nvSpPr>
        <p:spPr>
          <a:xfrm>
            <a:off x="8210309" y="3429000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S=4.41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4418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置信区间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总体比例（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population proportion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某特征在总体中的发生比例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二项分布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𝐵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足够大（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𝑛𝑝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≥5,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≥5 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），二项分布趋近于正态分布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𝑛𝑝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𝑛𝑝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𝑝𝑞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×100%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置信区间为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40</a:t>
            </a:fld>
            <a:endParaRPr lang="en-US" altLang="zh-CN" dirty="0"/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90743789-73CA-4604-B6CD-BAC0F54C19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661633"/>
              </p:ext>
            </p:extLst>
          </p:nvPr>
        </p:nvGraphicFramePr>
        <p:xfrm>
          <a:off x="3842543" y="5064570"/>
          <a:ext cx="145891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公式" r:id="rId4" imgW="863225" imgH="444307" progId="Equation.3">
                  <p:embed/>
                </p:oleObj>
              </mc:Choice>
              <mc:Fallback>
                <p:oleObj name="公式" r:id="rId4" imgW="863225" imgH="444307" progId="Equation.3">
                  <p:embed/>
                  <p:pic>
                    <p:nvPicPr>
                      <p:cNvPr id="583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2543" y="5064570"/>
                        <a:ext cx="1458913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27577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置信区间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总体比例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41</a:t>
            </a:fld>
            <a:endParaRPr lang="en-US" altLang="zh-CN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227C8762-8F9A-4E8C-8D09-838AC72A1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71" y="2235978"/>
            <a:ext cx="7982857" cy="1576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131A984E-4A7D-46A3-9DFF-E1BAFE364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4" y="4038600"/>
            <a:ext cx="78295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4F6FBF79-F60D-4ACD-B5CB-AF9A24876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71" y="5388201"/>
            <a:ext cx="7982857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7066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置信区间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总体方差（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population variance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×100%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置信区间为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𝜒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和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𝜒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：当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自由度的卡方分布两端曲线下面积分别为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和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时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的取值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42</a:t>
            </a:fld>
            <a:endParaRPr lang="en-US" altLang="zh-CN" dirty="0"/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8D781CB7-F8B1-4A1F-A9E7-045EBDBF74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025476"/>
              </p:ext>
            </p:extLst>
          </p:nvPr>
        </p:nvGraphicFramePr>
        <p:xfrm>
          <a:off x="3465512" y="2741613"/>
          <a:ext cx="2212975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name="公式" r:id="rId4" imgW="1307532" imgH="482391" progId="Equation.3">
                  <p:embed/>
                </p:oleObj>
              </mc:Choice>
              <mc:Fallback>
                <p:oleObj name="公式" r:id="rId4" imgW="1307532" imgH="482391" progId="Equation.3">
                  <p:embed/>
                  <p:pic>
                    <p:nvPicPr>
                      <p:cNvPr id="6042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5512" y="2741613"/>
                        <a:ext cx="2212975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60479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置信区间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总体方差（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population variance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43</a:t>
            </a:fld>
            <a:endParaRPr lang="en-US" altLang="zh-CN" dirty="0"/>
          </a:p>
        </p:txBody>
      </p:sp>
      <p:pic>
        <p:nvPicPr>
          <p:cNvPr id="9" name="Picture 1" descr="C:\Users\cheng\AppData\Roaming\Tencent\Users\394197411\QQ\WinTemp\RichOle\8DD~D)]N(8VY[VPJTS0Z]XF.jpg">
            <a:extLst>
              <a:ext uri="{FF2B5EF4-FFF2-40B4-BE49-F238E27FC236}">
                <a16:creationId xmlns:a16="http://schemas.microsoft.com/office/drawing/2014/main" id="{8B970211-72FA-40F8-B96C-83F920422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28" y="2155239"/>
            <a:ext cx="5638856" cy="3098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C:\Users\cheng\AppData\Roaming\Tencent\Users\394197411\QQ\WinTemp\RichOle\72VEH_][J4IQ%UM(BU8CD3O.jpg">
            <a:extLst>
              <a:ext uri="{FF2B5EF4-FFF2-40B4-BE49-F238E27FC236}">
                <a16:creationId xmlns:a16="http://schemas.microsoft.com/office/drawing/2014/main" id="{23EBF63C-70CA-405E-BAAC-F65C3510D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099" y="5254137"/>
            <a:ext cx="5966473" cy="614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 descr="C:\Users\cheng\AppData\Roaming\Tencent\Users\394197411\QQ\WinTemp\RichOle\R~$7SX[[PRPG]H@ONBQ)6{5.jpg">
            <a:extLst>
              <a:ext uri="{FF2B5EF4-FFF2-40B4-BE49-F238E27FC236}">
                <a16:creationId xmlns:a16="http://schemas.microsoft.com/office/drawing/2014/main" id="{2D852DDE-CC6E-4046-8C03-CEA569311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188" y="5740231"/>
            <a:ext cx="5875384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42459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置信区间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总体方差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44</a:t>
            </a:fld>
            <a:endParaRPr lang="en-US" altLang="zh-CN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1DD7D0B4-E1FD-4D0D-A683-B12D008EE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2228624"/>
            <a:ext cx="7829550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39984FED-2394-4CD4-8C7A-7099CF26D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287" y="3953434"/>
            <a:ext cx="454342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A3AE22F2-F6CB-454C-A588-5FE6169CE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5101982"/>
            <a:ext cx="7829550" cy="610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717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描述性统计分析与假设检验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描述性统计分析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基本统计分布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置信区间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单样本、多样本假设检验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453952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目的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判断样本与样本、样本与总体的差异</a:t>
                </a:r>
                <a:r>
                  <a:rPr lang="zh-CN" altLang="en-US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（均值、方差、比例等）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是由</a:t>
                </a:r>
                <a:r>
                  <a:rPr lang="zh-CN" altLang="en-US" b="1" i="0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抽样误差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引起还是</a:t>
                </a:r>
                <a:r>
                  <a:rPr lang="zh-CN" altLang="en-US" b="1" i="0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本质差别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造成的</a:t>
                </a:r>
                <a:endParaRPr lang="en-US" altLang="zh-CN" b="0" i="0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显著性检验（</a:t>
                </a:r>
                <a:r>
                  <a:rPr lang="en-US" altLang="zh-CN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significance test</a:t>
                </a:r>
                <a:r>
                  <a:rPr lang="zh-CN" altLang="en-US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基本原理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先对总体的特征做出某种</a:t>
                </a:r>
                <a:r>
                  <a:rPr lang="zh-CN" altLang="en-US" b="1" i="0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假设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，然后通过</a:t>
                </a:r>
                <a:r>
                  <a:rPr lang="zh-CN" altLang="en-US" b="1" i="0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抽样</a:t>
                </a:r>
                <a:r>
                  <a:rPr lang="zh-CN" altLang="en-US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进行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统计分析，推断此假设应该被</a:t>
                </a:r>
                <a:r>
                  <a:rPr lang="zh-CN" altLang="en-US" b="1" i="0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拒绝</a:t>
                </a:r>
                <a:r>
                  <a:rPr lang="zh-CN" altLang="en-US" b="0" i="0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还是</a:t>
                </a:r>
                <a:r>
                  <a:rPr lang="zh-CN" altLang="en-US" b="1" i="0" dirty="0">
                    <a:solidFill>
                      <a:srgbClr val="333333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不拒绝</a:t>
                </a:r>
                <a:endParaRPr lang="en-US" altLang="zh-CN" i="0" dirty="0">
                  <a:solidFill>
                    <a:srgbClr val="333333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小概率事件实际不可能性：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data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null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hypothesis</m:t>
                        </m:r>
                      </m:e>
                    </m:d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891383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基本步骤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提出假设检验，即</a:t>
                </a:r>
                <a:r>
                  <a:rPr lang="zh-CN" altLang="en-US" b="1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无效假设</a:t>
                </a:r>
                <a:r>
                  <a:rPr lang="zh-CN" altLang="en-US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null hypothesis</a:t>
                </a:r>
                <a:r>
                  <a:rPr lang="zh-CN" altLang="en-US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），和</a:t>
                </a:r>
                <a:r>
                  <a:rPr lang="zh-CN" altLang="en-US" b="1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备择假设</a:t>
                </a:r>
                <a:r>
                  <a:rPr lang="zh-CN" altLang="en-US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alternative hypothesis</a:t>
                </a:r>
                <a:r>
                  <a:rPr lang="zh-CN" altLang="en-US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）；选定</a:t>
                </a:r>
                <a:r>
                  <a:rPr lang="zh-CN" altLang="en-US" b="1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显著性水平</a:t>
                </a:r>
                <a:r>
                  <a:rPr lang="zh-CN" altLang="en-US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0.05</a:t>
                </a:r>
                <a:r>
                  <a:rPr lang="zh-CN" altLang="en-US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选定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检验统计量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test statistic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计算检验统计量及相应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值；若在拒绝域（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rejection or critical region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），拒绝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，否则不拒绝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47</a:t>
            </a:fld>
            <a:endParaRPr lang="en-US" altLang="zh-CN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A164B9D0-0FA9-4285-950A-F02A0A5D1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640" y="4842445"/>
            <a:ext cx="7315200" cy="1710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13341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两类错误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统计检验力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637" lvl="1" indent="0">
                  <a:buNone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power of the test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48</a:t>
            </a:fld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EB0404-5F54-4930-BA9D-88304698D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25" y="3429000"/>
            <a:ext cx="3657600" cy="2454523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F805528C-D59C-4BCA-AD6D-0E6BB59D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925" y="1541462"/>
            <a:ext cx="5029200" cy="249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F7EFA1EB-C00E-46FF-BE8A-D2D857A0A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925" y="4038600"/>
            <a:ext cx="5029200" cy="249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09DB67-6351-473A-99A5-3743F32A1C76}"/>
              </a:ext>
            </a:extLst>
          </p:cNvPr>
          <p:cNvSpPr txBox="1"/>
          <p:nvPr/>
        </p:nvSpPr>
        <p:spPr>
          <a:xfrm>
            <a:off x="457200" y="64770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https://zhuanlan.zhihu.com/p/133448119</a:t>
            </a:r>
          </a:p>
        </p:txBody>
      </p:sp>
    </p:spTree>
    <p:extLst>
      <p:ext uri="{BB962C8B-B14F-4D97-AF65-F5344CB8AC3E}">
        <p14:creationId xmlns:p14="http://schemas.microsoft.com/office/powerpoint/2010/main" val="20427863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假设检验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49</a:t>
            </a:fld>
            <a:endParaRPr lang="en-US" altLang="zh-CN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AD7DAB1-D9E7-4598-B244-752918794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014" y="2215747"/>
            <a:ext cx="7300686" cy="831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AED74004-8A70-4E45-8FD3-6A414F15F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45" y="3026937"/>
            <a:ext cx="7202909" cy="334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2165FAB4-3119-4B9D-AB1B-7C9D9D59B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434" y="3348309"/>
            <a:ext cx="7325130" cy="166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BC8DD309-9423-4130-9E60-D16422DFD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878" y="5257800"/>
            <a:ext cx="7276242" cy="114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27955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假设检验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marL="0" indent="0"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50</a:t>
            </a:fld>
            <a:endParaRPr lang="en-US" altLang="zh-CN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F6EDFB33-6309-43ED-8723-69E1AF50A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2243704"/>
            <a:ext cx="7416800" cy="794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D780558E-8C6D-46A2-84E3-A0B0D37CE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214" y="3292531"/>
            <a:ext cx="3385571" cy="976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F4091FFE-B512-4DE0-BB18-BA26F26A0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1" y="4523467"/>
            <a:ext cx="74168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1635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114800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值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拒绝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333333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的最小显著性水平</a:t>
                </a:r>
                <a:endParaRPr lang="en-US" altLang="zh-CN" dirty="0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接受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的统计论据</a:t>
                </a:r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检验统计量越大</a:t>
                </a:r>
                <a:r>
                  <a:rPr lang="zh-CN" altLang="en-US" dirty="0">
                    <a:solidFill>
                      <a:schemeClr val="tx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值越小，越接受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，拒绝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如果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=0.031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，在显著性水平</a:t>
                </a:r>
                <a:r>
                  <a:rPr lang="en-US" altLang="zh-CN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0.05</a:t>
                </a:r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的条件下拒绝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在显著性水平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0.01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的条件下不拒绝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114800" cy="4876800"/>
              </a:xfrm>
              <a:blipFill>
                <a:blip r:embed="rId2"/>
                <a:stretch>
                  <a:fillRect l="-1926" t="-1375" r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51</a:t>
            </a:fld>
            <a:endParaRPr lang="en-US" altLang="zh-C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2764BA4-E666-40A4-B221-15A3E9497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525565"/>
            <a:ext cx="4572000" cy="302606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8886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单样本检验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总体均值：方差未知</a:t>
            </a:r>
            <a:endParaRPr lang="en-US" altLang="zh-CN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总体方差</a:t>
            </a:r>
            <a:endParaRPr lang="en-US" altLang="zh-CN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总体比例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多样本检验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两个总体均值：独立或配对样本</a:t>
            </a:r>
            <a:endParaRPr lang="en-US" altLang="zh-CN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两个总体方差</a:t>
            </a:r>
            <a:endParaRPr lang="en-US" altLang="zh-CN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两个总体比例</a:t>
            </a:r>
            <a:endParaRPr lang="en-US" altLang="zh-CN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274637" lvl="1" indent="0">
              <a:lnSpc>
                <a:spcPct val="1500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260618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/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 单样本总体均值：方差未知</a:t>
                </a:r>
                <a:endParaRPr lang="en-US" altLang="zh-CN" sz="2800" dirty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单样本总体方差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总体比例</a:t>
                </a:r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li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  <m:acc>
                                    <m:accPr>
                                      <m:chr m:val="̂"/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𝑞</m:t>
                                      </m:r>
                                    </m:e>
                                  </m:acc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sz="28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F984BA27-ECA8-4318-812E-E49B080E7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>
                <a:blip r:embed="rId2"/>
                <a:stretch>
                  <a:fillRect l="-963" t="-1375" b="-3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53</a:t>
            </a:fld>
            <a:endParaRPr lang="en-US" altLang="zh-CN" dirty="0"/>
          </a:p>
        </p:txBody>
      </p:sp>
      <p:pic>
        <p:nvPicPr>
          <p:cNvPr id="9" name="Picture 1" descr="C:\Users\adm\AppData\Roaming\Tencent\Users\394197411\QQ\WinTemp\RichOle\}WTFG@`RQYE_0R{GL6)Q9]X.png">
            <a:extLst>
              <a:ext uri="{FF2B5EF4-FFF2-40B4-BE49-F238E27FC236}">
                <a16:creationId xmlns:a16="http://schemas.microsoft.com/office/drawing/2014/main" id="{DAC219FC-3A50-47A9-813C-4255EFD3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567" y="2327275"/>
            <a:ext cx="187642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 descr="C:\Users\adm\AppData\Roaming\Tencent\Users\394197411\QQ\WinTemp\RichOle\%`_E}WF}M_]6WL)8D(X}BIT.png">
            <a:extLst>
              <a:ext uri="{FF2B5EF4-FFF2-40B4-BE49-F238E27FC236}">
                <a16:creationId xmlns:a16="http://schemas.microsoft.com/office/drawing/2014/main" id="{3645A50A-5070-446C-909A-D5E828CA5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010" y="2360612"/>
            <a:ext cx="151447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 descr="C:\Users\adm\AppData\Roaming\Tencent\Users\394197411\QQ\WinTemp\RichOle\MBWZ9{WWKYHBPXKA8HDC}YP.png">
            <a:extLst>
              <a:ext uri="{FF2B5EF4-FFF2-40B4-BE49-F238E27FC236}">
                <a16:creationId xmlns:a16="http://schemas.microsoft.com/office/drawing/2014/main" id="{E34A4E4E-6086-44A0-8D6F-B46BE7F12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837" y="4297542"/>
            <a:ext cx="183832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33563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两个总体均值：独立样本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54</a:t>
            </a:fld>
            <a:endParaRPr lang="en-US" altLang="zh-CN" dirty="0"/>
          </a:p>
        </p:txBody>
      </p:sp>
      <p:pic>
        <p:nvPicPr>
          <p:cNvPr id="12" name="Picture 1" descr="C:\Users\adm\AppData\Roaming\Tencent\Users\394197411\QQ\WinTemp\RichOle\KGW82U%IO(@8YQ3{ZC1H%$N.png">
            <a:extLst>
              <a:ext uri="{FF2B5EF4-FFF2-40B4-BE49-F238E27FC236}">
                <a16:creationId xmlns:a16="http://schemas.microsoft.com/office/drawing/2014/main" id="{033C4BA6-1A62-4B78-9D06-5002DE189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975" y="2381250"/>
            <a:ext cx="192405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 descr="C:\Users\adm\AppData\Roaming\Tencent\Users\394197411\QQ\WinTemp\RichOle\49E{B_](`4_)3G9W{$@D77P.png">
            <a:extLst>
              <a:ext uri="{FF2B5EF4-FFF2-40B4-BE49-F238E27FC236}">
                <a16:creationId xmlns:a16="http://schemas.microsoft.com/office/drawing/2014/main" id="{0996F47E-79B8-452E-80DF-9D2324173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075" y="4038600"/>
            <a:ext cx="337185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54243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两个总体均值：配对样本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55</a:t>
            </a:fld>
            <a:endParaRPr lang="en-US" altLang="zh-CN" dirty="0"/>
          </a:p>
        </p:txBody>
      </p:sp>
      <p:pic>
        <p:nvPicPr>
          <p:cNvPr id="9" name="Picture 3" descr="C:\Users\adm\AppData\Roaming\Tencent\Users\394197411\QQ\WinTemp\RichOle\_U7531WR5GYB)ZU7J6A81_T.png">
            <a:extLst>
              <a:ext uri="{FF2B5EF4-FFF2-40B4-BE49-F238E27FC236}">
                <a16:creationId xmlns:a16="http://schemas.microsoft.com/office/drawing/2014/main" id="{1A0B8ADE-04BD-4DE8-B7B7-A6147E78C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662" y="2537453"/>
            <a:ext cx="1590675" cy="1133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2" descr="C:\Users\adm\AppData\Roaming\Tencent\Users\394197411\QQ\WinTemp\RichOle\(~~K@IKCO@33@HU$ZYFJ4@W.png">
            <a:extLst>
              <a:ext uri="{FF2B5EF4-FFF2-40B4-BE49-F238E27FC236}">
                <a16:creationId xmlns:a16="http://schemas.microsoft.com/office/drawing/2014/main" id="{04C30866-A380-41B7-AC3B-F0053CAE5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299" y="4038600"/>
            <a:ext cx="1855400" cy="146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95169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两个总体方差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56</a:t>
            </a:fld>
            <a:endParaRPr lang="en-US" altLang="zh-CN" dirty="0"/>
          </a:p>
        </p:txBody>
      </p:sp>
      <p:pic>
        <p:nvPicPr>
          <p:cNvPr id="12" name="Picture 1" descr="C:\Users\adm\AppData\Roaming\Tencent\Users\394197411\QQ\WinTemp\RichOle\LHW%V3H0HDK~WM}T}7Q)0KE.png">
            <a:extLst>
              <a:ext uri="{FF2B5EF4-FFF2-40B4-BE49-F238E27FC236}">
                <a16:creationId xmlns:a16="http://schemas.microsoft.com/office/drawing/2014/main" id="{98756227-9B86-4CEE-A01C-C9CC0F97D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597" y="2481077"/>
            <a:ext cx="1750804" cy="1221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 descr="C:\Users\adm\AppData\Roaming\Tencent\Users\394197411\QQ\WinTemp\RichOle\2}B2TKW68R144CY)DC)7K50.png">
            <a:extLst>
              <a:ext uri="{FF2B5EF4-FFF2-40B4-BE49-F238E27FC236}">
                <a16:creationId xmlns:a16="http://schemas.microsoft.com/office/drawing/2014/main" id="{57342FA8-9257-408B-AA28-83EF06617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316" y="3991891"/>
            <a:ext cx="2161367" cy="974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62156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两个总体比例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57</a:t>
            </a:fld>
            <a:endParaRPr lang="en-US" altLang="zh-CN" dirty="0"/>
          </a:p>
        </p:txBody>
      </p:sp>
      <p:pic>
        <p:nvPicPr>
          <p:cNvPr id="9" name="Picture 1" descr="C:\Users\adm\AppData\Roaming\Tencent\Users\394197411\QQ\WinTemp\RichOle\4G@]0DXPQ28)O{SQ`RV@`1O.png">
            <a:extLst>
              <a:ext uri="{FF2B5EF4-FFF2-40B4-BE49-F238E27FC236}">
                <a16:creationId xmlns:a16="http://schemas.microsoft.com/office/drawing/2014/main" id="{1322D769-744B-413D-A5FF-C06E408CA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411" y="2320926"/>
            <a:ext cx="1838325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C:\Users\adm\AppData\Roaming\Tencent\Users\394197411\QQ\WinTemp\RichOle\OS8QV}48X)(R[3DJ7)IV{~P.png">
            <a:extLst>
              <a:ext uri="{FF2B5EF4-FFF2-40B4-BE49-F238E27FC236}">
                <a16:creationId xmlns:a16="http://schemas.microsoft.com/office/drawing/2014/main" id="{C8905F84-4347-486C-AD7D-485E2343B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848" y="3657600"/>
            <a:ext cx="321945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 descr="C:\Users\adm\AppData\Roaming\Tencent\Users\394197411\QQ\WinTemp\RichOle\)I~H]KK43@O]S{5]H5Q8M0Y.png">
            <a:extLst>
              <a:ext uri="{FF2B5EF4-FFF2-40B4-BE49-F238E27FC236}">
                <a16:creationId xmlns:a16="http://schemas.microsoft.com/office/drawing/2014/main" id="{B37293B1-4358-4E87-9879-ADBE1365F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860" y="5384799"/>
            <a:ext cx="149542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20106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假设检验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58</a:t>
            </a:fld>
            <a:endParaRPr lang="en-US" altLang="zh-CN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8B128CF0-3C5D-421C-ABFF-0246EE3E2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44" y="2186945"/>
            <a:ext cx="7939314" cy="2740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E7499594-CFA0-449C-AA3C-95AD4E56F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972" y="4991804"/>
            <a:ext cx="313805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">
            <a:extLst>
              <a:ext uri="{FF2B5EF4-FFF2-40B4-BE49-F238E27FC236}">
                <a16:creationId xmlns:a16="http://schemas.microsoft.com/office/drawing/2014/main" id="{0B8EE9FB-109F-4023-ADF7-0327F72FCBC9}"/>
              </a:ext>
            </a:extLst>
          </p:cNvPr>
          <p:cNvSpPr/>
          <p:nvPr/>
        </p:nvSpPr>
        <p:spPr>
          <a:xfrm>
            <a:off x="602344" y="5970657"/>
            <a:ext cx="79393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检验统计量非常大，拒绝无效假设；即如果平均速度是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60mph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，观测到这些数据的可能性极小。</a:t>
            </a:r>
          </a:p>
        </p:txBody>
      </p:sp>
    </p:spTree>
    <p:extLst>
      <p:ext uri="{BB962C8B-B14F-4D97-AF65-F5344CB8AC3E}">
        <p14:creationId xmlns:p14="http://schemas.microsoft.com/office/powerpoint/2010/main" val="276984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假设检验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59</a:t>
            </a:fld>
            <a:endParaRPr lang="en-US" altLang="zh-CN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618818E1-029A-4671-B28E-25A64006A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61" y="2064115"/>
            <a:ext cx="7686275" cy="2418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8FA447A5-BD0A-4903-96BB-31987BF5E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9566" y="4631770"/>
            <a:ext cx="1544864" cy="811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4231EEBF-E82D-4510-AAB6-EB7D642C0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255" y="5592691"/>
            <a:ext cx="5441878" cy="121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0898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假设检验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60</a:t>
            </a:fld>
            <a:endParaRPr lang="en-US" altLang="zh-CN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618818E1-029A-4671-B28E-25A64006A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61" y="2064115"/>
            <a:ext cx="7686275" cy="2418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CDF2D114-31FB-4CD5-97EF-BA7E1051C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5" y="4710112"/>
            <a:ext cx="732472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43938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假设检验</a:t>
            </a:r>
            <a:r>
              <a:rPr lang="en-US" altLang="zh-CN" sz="2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案例</a:t>
            </a:r>
            <a:r>
              <a:rPr lang="en-US" altLang="zh-CN" sz="2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61</a:t>
            </a:fld>
            <a:endParaRPr lang="en-US" altLang="zh-CN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A780C11-7C66-4DBE-983F-29BEB1A6C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93" y="2157995"/>
            <a:ext cx="7841414" cy="187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86D4A221-A47E-4C5B-BB4A-1D6A47E22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651" y="4170102"/>
            <a:ext cx="1558698" cy="833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FBF69DBB-AB02-4E90-8214-61AE22A7B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337" y="5144610"/>
            <a:ext cx="4251325" cy="851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矩形 1">
            <a:extLst>
              <a:ext uri="{FF2B5EF4-FFF2-40B4-BE49-F238E27FC236}">
                <a16:creationId xmlns:a16="http://schemas.microsoft.com/office/drawing/2014/main" id="{327CFF4A-666D-4A3E-9142-CF8B5944CDA7}"/>
              </a:ext>
            </a:extLst>
          </p:cNvPr>
          <p:cNvSpPr/>
          <p:nvPr/>
        </p:nvSpPr>
        <p:spPr>
          <a:xfrm>
            <a:off x="651292" y="6131064"/>
            <a:ext cx="78414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显著性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0.01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条件下的检验统计量关键值是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，拒绝无效假设；即如果前后方差相等，观测到这个差别的可能性较低。</a:t>
            </a:r>
          </a:p>
        </p:txBody>
      </p:sp>
    </p:spTree>
    <p:extLst>
      <p:ext uri="{BB962C8B-B14F-4D97-AF65-F5344CB8AC3E}">
        <p14:creationId xmlns:p14="http://schemas.microsoft.com/office/powerpoint/2010/main" val="2810997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参数 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vs.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非参数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参数检验有诸多假设：分布正态性，数据连续性，样本量大等</a:t>
            </a:r>
            <a:endParaRPr lang="en-US" altLang="zh-CN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非参数检验假设较少，使用数据信息量也较少</a:t>
            </a:r>
            <a:endParaRPr lang="en-US" altLang="zh-CN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同时运用两种检验时，非参数检验犯</a:t>
            </a:r>
            <a:r>
              <a:rPr lang="en-US" altLang="zh-CN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II</a:t>
            </a: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类错误的可能性较大</a:t>
            </a:r>
            <a:endParaRPr lang="en-US" altLang="zh-CN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参数检验：近似问题的精确解</a:t>
            </a:r>
            <a:endParaRPr lang="en-US" altLang="zh-CN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非参数检验：精确问题的近似解</a:t>
            </a:r>
            <a:endParaRPr lang="en-US" altLang="zh-CN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何时使用非参数检验？</a:t>
            </a:r>
            <a:endParaRPr lang="en-US" altLang="zh-CN" sz="280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480"/>
              </a:spcBef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参数检验假设不满足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480"/>
              </a:spcBef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研究对象不是总体参数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886949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卡方检测（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chi-square test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提出无效假设和备择假设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在无效假设的条件下，基于某统计模型（理论分布、经验分布等）计算事件期望发生频率（所有类别均大于等于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把观测数据分门别类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计算卡方检测统计量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与卡方分布关键值比较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63</a:t>
            </a:fld>
            <a:endParaRPr lang="en-US" altLang="zh-CN" dirty="0"/>
          </a:p>
        </p:txBody>
      </p:sp>
      <p:graphicFrame>
        <p:nvGraphicFramePr>
          <p:cNvPr id="9" name="对象 1">
            <a:extLst>
              <a:ext uri="{FF2B5EF4-FFF2-40B4-BE49-F238E27FC236}">
                <a16:creationId xmlns:a16="http://schemas.microsoft.com/office/drawing/2014/main" id="{1FCC9BE9-91A7-499D-A501-B0129692E8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584392"/>
              </p:ext>
            </p:extLst>
          </p:nvPr>
        </p:nvGraphicFramePr>
        <p:xfrm>
          <a:off x="3595687" y="5551487"/>
          <a:ext cx="1952625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Equation" r:id="rId4" imgW="1155700" imgH="457200" progId="Equation.DSMT4">
                  <p:embed/>
                </p:oleObj>
              </mc:Choice>
              <mc:Fallback>
                <p:oleObj name="Equation" r:id="rId4" imgW="1155700" imgH="457200" progId="Equation.DSMT4">
                  <p:embed/>
                  <p:pic>
                    <p:nvPicPr>
                      <p:cNvPr id="9" name="对象 1">
                        <a:extLst>
                          <a:ext uri="{FF2B5EF4-FFF2-40B4-BE49-F238E27FC236}">
                            <a16:creationId xmlns:a16="http://schemas.microsoft.com/office/drawing/2014/main" id="{E468B212-6355-420D-A333-F1CC698A9D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687" y="5551487"/>
                        <a:ext cx="1952625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11885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假设检验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Arial (Headings)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卡方检测：列联表（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contingency table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3/4/2024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64</a:t>
            </a:fld>
            <a:endParaRPr lang="en-US" altLang="zh-CN" dirty="0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D5AD46F4-004D-4F41-84F1-D9BE16F6B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162" y="2220232"/>
            <a:ext cx="7333676" cy="3130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1" name="对象 1">
            <a:extLst>
              <a:ext uri="{FF2B5EF4-FFF2-40B4-BE49-F238E27FC236}">
                <a16:creationId xmlns:a16="http://schemas.microsoft.com/office/drawing/2014/main" id="{98944B1B-FE95-4F32-8DE7-0DE165EAC0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111162"/>
              </p:ext>
            </p:extLst>
          </p:nvPr>
        </p:nvGraphicFramePr>
        <p:xfrm>
          <a:off x="905162" y="5559765"/>
          <a:ext cx="23606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6" name="Equation" r:id="rId5" imgW="1396800" imgH="482400" progId="Equation.DSMT4">
                  <p:embed/>
                </p:oleObj>
              </mc:Choice>
              <mc:Fallback>
                <p:oleObj name="Equation" r:id="rId5" imgW="1396800" imgH="482400" progId="Equation.DSMT4">
                  <p:embed/>
                  <p:pic>
                    <p:nvPicPr>
                      <p:cNvPr id="77827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162" y="5559765"/>
                        <a:ext cx="236061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2">
            <a:extLst>
              <a:ext uri="{FF2B5EF4-FFF2-40B4-BE49-F238E27FC236}">
                <a16:creationId xmlns:a16="http://schemas.microsoft.com/office/drawing/2014/main" id="{0ED629BF-8326-4A0A-A50F-DED9A3636D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006796"/>
              </p:ext>
            </p:extLst>
          </p:nvPr>
        </p:nvGraphicFramePr>
        <p:xfrm>
          <a:off x="3637152" y="5613739"/>
          <a:ext cx="1138237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7" name="Equation" r:id="rId7" imgW="672808" imgH="418918" progId="Equation.DSMT4">
                  <p:embed/>
                </p:oleObj>
              </mc:Choice>
              <mc:Fallback>
                <p:oleObj name="Equation" r:id="rId7" imgW="672808" imgH="418918" progId="Equation.DSMT4">
                  <p:embed/>
                  <p:pic>
                    <p:nvPicPr>
                      <p:cNvPr id="77828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7152" y="5613739"/>
                        <a:ext cx="1138237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010" y="5732450"/>
            <a:ext cx="2486149" cy="47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95936"/>
      </p:ext>
    </p:extLst>
  </p:cSld>
  <p:clrMapOvr>
    <a:masterClrMapping/>
  </p:clrMapOvr>
</p:sld>
</file>

<file path=ppt/theme/theme1.xml><?xml version="1.0" encoding="utf-8"?>
<a:theme xmlns:a="http://schemas.openxmlformats.org/drawingml/2006/main" name="Clarity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4943</TotalTime>
  <Words>2109</Words>
  <Application>Microsoft Office PowerPoint</Application>
  <PresentationFormat>全屏显示(4:3)</PresentationFormat>
  <Paragraphs>513</Paragraphs>
  <Slides>64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64</vt:i4>
      </vt:variant>
    </vt:vector>
  </HeadingPairs>
  <TitlesOfParts>
    <vt:vector size="76" baseType="lpstr">
      <vt:lpstr>Arial (Headings)</vt:lpstr>
      <vt:lpstr>等线</vt:lpstr>
      <vt:lpstr>Microsoft YaHei</vt:lpstr>
      <vt:lpstr>Microsoft YaHei</vt:lpstr>
      <vt:lpstr>Arial</vt:lpstr>
      <vt:lpstr>Calibri</vt:lpstr>
      <vt:lpstr>Cambria Math</vt:lpstr>
      <vt:lpstr>Times New Roman</vt:lpstr>
      <vt:lpstr>Wingdings</vt:lpstr>
      <vt:lpstr>Clarity</vt:lpstr>
      <vt:lpstr>公式</vt:lpstr>
      <vt:lpstr>Equation</vt:lpstr>
      <vt:lpstr>PowerPoint 演示文稿</vt:lpstr>
      <vt:lpstr>描述性统计分析与假设检验</vt:lpstr>
      <vt:lpstr>描述性统计分析与假设检验</vt:lpstr>
      <vt:lpstr>描述性统计分析</vt:lpstr>
      <vt:lpstr>定量描述</vt:lpstr>
      <vt:lpstr>定量描述</vt:lpstr>
      <vt:lpstr>定量描述</vt:lpstr>
      <vt:lpstr>定量描述</vt:lpstr>
      <vt:lpstr>定量描述</vt:lpstr>
      <vt:lpstr>定量描述</vt:lpstr>
      <vt:lpstr>定量描述</vt:lpstr>
      <vt:lpstr>定量描述</vt:lpstr>
      <vt:lpstr>定量描述</vt:lpstr>
      <vt:lpstr>定量描述</vt:lpstr>
      <vt:lpstr>定量描述</vt:lpstr>
      <vt:lpstr>定量描述</vt:lpstr>
      <vt:lpstr>定量描述</vt:lpstr>
      <vt:lpstr>定性描述</vt:lpstr>
      <vt:lpstr>定性描述</vt:lpstr>
      <vt:lpstr>定性描述</vt:lpstr>
      <vt:lpstr>定性描述</vt:lpstr>
      <vt:lpstr>定性描述</vt:lpstr>
      <vt:lpstr>定性描述</vt:lpstr>
      <vt:lpstr>定性描述</vt:lpstr>
      <vt:lpstr>定性描述</vt:lpstr>
      <vt:lpstr>描述性统计分析与假设检验</vt:lpstr>
      <vt:lpstr>基本统计分布</vt:lpstr>
      <vt:lpstr>正态分布</vt:lpstr>
      <vt:lpstr>泊松分布</vt:lpstr>
      <vt:lpstr>描述性统计分析与假设检验</vt:lpstr>
      <vt:lpstr>置信区间</vt:lpstr>
      <vt:lpstr>置信区间</vt:lpstr>
      <vt:lpstr>置信区间</vt:lpstr>
      <vt:lpstr>置信区间</vt:lpstr>
      <vt:lpstr>置信区间</vt:lpstr>
      <vt:lpstr>置信区间</vt:lpstr>
      <vt:lpstr>置信区间</vt:lpstr>
      <vt:lpstr>PowerPoint 演示文稿</vt:lpstr>
      <vt:lpstr>置信区间</vt:lpstr>
      <vt:lpstr>置信区间</vt:lpstr>
      <vt:lpstr>置信区间</vt:lpstr>
      <vt:lpstr>置信区间</vt:lpstr>
      <vt:lpstr>置信区间</vt:lpstr>
      <vt:lpstr>置信区间</vt:lpstr>
      <vt:lpstr>描述性统计分析与假设检验</vt:lpstr>
      <vt:lpstr>假设检验</vt:lpstr>
      <vt:lpstr>假设检验</vt:lpstr>
      <vt:lpstr>假设检验</vt:lpstr>
      <vt:lpstr>假设检验</vt:lpstr>
      <vt:lpstr>假设检验</vt:lpstr>
      <vt:lpstr>假设检验</vt:lpstr>
      <vt:lpstr>假设检验</vt:lpstr>
      <vt:lpstr>假设检验</vt:lpstr>
      <vt:lpstr>假设检验</vt:lpstr>
      <vt:lpstr>假设检验</vt:lpstr>
      <vt:lpstr>假设检验</vt:lpstr>
      <vt:lpstr>假设检验</vt:lpstr>
      <vt:lpstr>假设检验</vt:lpstr>
      <vt:lpstr>假设检验</vt:lpstr>
      <vt:lpstr>假设检验</vt:lpstr>
      <vt:lpstr>假设检验</vt:lpstr>
      <vt:lpstr>假设检验</vt:lpstr>
      <vt:lpstr>假设检验</vt:lpstr>
      <vt:lpstr>假设检验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 Huang</dc:creator>
  <cp:lastModifiedBy>明 余</cp:lastModifiedBy>
  <cp:revision>700</cp:revision>
  <dcterms:created xsi:type="dcterms:W3CDTF">2016-02-16T07:55:59Z</dcterms:created>
  <dcterms:modified xsi:type="dcterms:W3CDTF">2024-03-04T04:14:55Z</dcterms:modified>
</cp:coreProperties>
</file>