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2"/>
  </p:notesMasterIdLst>
  <p:sldIdLst>
    <p:sldId id="315" r:id="rId2"/>
    <p:sldId id="316" r:id="rId3"/>
    <p:sldId id="317" r:id="rId4"/>
    <p:sldId id="452" r:id="rId5"/>
    <p:sldId id="453" r:id="rId6"/>
    <p:sldId id="455" r:id="rId7"/>
    <p:sldId id="456" r:id="rId8"/>
    <p:sldId id="457" r:id="rId9"/>
    <p:sldId id="458" r:id="rId10"/>
    <p:sldId id="459" r:id="rId11"/>
    <p:sldId id="460" r:id="rId12"/>
    <p:sldId id="461" r:id="rId13"/>
    <p:sldId id="462" r:id="rId14"/>
    <p:sldId id="463" r:id="rId15"/>
    <p:sldId id="464" r:id="rId16"/>
    <p:sldId id="465" r:id="rId17"/>
    <p:sldId id="466" r:id="rId18"/>
    <p:sldId id="467" r:id="rId19"/>
    <p:sldId id="470" r:id="rId20"/>
    <p:sldId id="468" r:id="rId21"/>
    <p:sldId id="469" r:id="rId22"/>
    <p:sldId id="471" r:id="rId23"/>
    <p:sldId id="472" r:id="rId24"/>
    <p:sldId id="473" r:id="rId25"/>
    <p:sldId id="474" r:id="rId26"/>
    <p:sldId id="475" r:id="rId27"/>
    <p:sldId id="476" r:id="rId28"/>
    <p:sldId id="477" r:id="rId29"/>
    <p:sldId id="478" r:id="rId30"/>
    <p:sldId id="479" r:id="rId31"/>
    <p:sldId id="480" r:id="rId32"/>
    <p:sldId id="481" r:id="rId33"/>
    <p:sldId id="482" r:id="rId34"/>
    <p:sldId id="483" r:id="rId35"/>
    <p:sldId id="484" r:id="rId36"/>
    <p:sldId id="485" r:id="rId37"/>
    <p:sldId id="486" r:id="rId38"/>
    <p:sldId id="487" r:id="rId39"/>
    <p:sldId id="488" r:id="rId40"/>
    <p:sldId id="489" r:id="rId41"/>
    <p:sldId id="491" r:id="rId42"/>
    <p:sldId id="490" r:id="rId43"/>
    <p:sldId id="492" r:id="rId44"/>
    <p:sldId id="493" r:id="rId45"/>
    <p:sldId id="494" r:id="rId46"/>
    <p:sldId id="495" r:id="rId47"/>
    <p:sldId id="496" r:id="rId48"/>
    <p:sldId id="497" r:id="rId49"/>
    <p:sldId id="498" r:id="rId50"/>
    <p:sldId id="425"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2EDBE2-000D-4933-A132-D041B0C8B24B}" v="8" dt="2021-01-21T07:44:45.86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48" autoAdjust="0"/>
  </p:normalViewPr>
  <p:slideViewPr>
    <p:cSldViewPr snapToGrid="0" showGuides="1">
      <p:cViewPr>
        <p:scale>
          <a:sx n="60" d="100"/>
          <a:sy n="60" d="100"/>
        </p:scale>
        <p:origin x="1168" y="536"/>
      </p:cViewPr>
      <p:guideLst>
        <p:guide orient="horz" pos="2160"/>
        <p:guide pos="2880"/>
      </p:guideLst>
    </p:cSldViewPr>
  </p:slideViewPr>
  <p:notesTextViewPr>
    <p:cViewPr>
      <p:scale>
        <a:sx n="1" d="1"/>
        <a:sy n="1" d="1"/>
      </p:scale>
      <p:origin x="0" y="0"/>
    </p:cViewPr>
  </p:notesTextViewPr>
  <p:sorterViewPr>
    <p:cViewPr>
      <p:scale>
        <a:sx n="100" d="100"/>
        <a:sy n="100" d="100"/>
      </p:scale>
      <p:origin x="0" y="-514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6"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6BBA7-2751-4186-92D7-BAFE14A83317}" type="datetimeFigureOut">
              <a:rPr lang="zh-CN" altLang="en-US" smtClean="0"/>
              <a:pPr/>
              <a:t>2023/3/8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12F08-2C51-4761-8379-7BF5B777E402}" type="slidenum">
              <a:rPr lang="zh-CN" altLang="en-US" smtClean="0"/>
              <a:pPr/>
              <a:t>‹#›</a:t>
            </a:fld>
            <a:endParaRPr lang="zh-CN" altLang="en-US"/>
          </a:p>
        </p:txBody>
      </p:sp>
    </p:spTree>
    <p:extLst>
      <p:ext uri="{BB962C8B-B14F-4D97-AF65-F5344CB8AC3E}">
        <p14:creationId xmlns:p14="http://schemas.microsoft.com/office/powerpoint/2010/main" val="1614525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a:t>
            </a:fld>
            <a:endParaRPr lang="zh-CN" altLang="en-US"/>
          </a:p>
        </p:txBody>
      </p:sp>
    </p:spTree>
    <p:extLst>
      <p:ext uri="{BB962C8B-B14F-4D97-AF65-F5344CB8AC3E}">
        <p14:creationId xmlns:p14="http://schemas.microsoft.com/office/powerpoint/2010/main" val="2850647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a:t>
            </a:fld>
            <a:endParaRPr lang="zh-CN" altLang="en-US"/>
          </a:p>
        </p:txBody>
      </p:sp>
    </p:spTree>
    <p:extLst>
      <p:ext uri="{BB962C8B-B14F-4D97-AF65-F5344CB8AC3E}">
        <p14:creationId xmlns:p14="http://schemas.microsoft.com/office/powerpoint/2010/main" val="2795523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[2]</a:t>
            </a:r>
            <a:r>
              <a:rPr lang="zh-CN" altLang="en-US" dirty="0" smtClean="0"/>
              <a:t> 刘汝焯，戴佳筑，何玉洁</a:t>
            </a:r>
            <a:r>
              <a:rPr lang="en-US" altLang="zh-CN" dirty="0" smtClean="0"/>
              <a:t>.</a:t>
            </a:r>
            <a:r>
              <a:rPr lang="zh-CN" altLang="en-US" dirty="0" smtClean="0"/>
              <a:t>大数据应用分析技术与方法［</a:t>
            </a:r>
            <a:r>
              <a:rPr lang="en-US" altLang="zh-CN" dirty="0" smtClean="0"/>
              <a:t>M</a:t>
            </a:r>
            <a:r>
              <a:rPr lang="zh-CN" altLang="en-US" dirty="0" smtClean="0"/>
              <a:t>］</a:t>
            </a:r>
            <a:r>
              <a:rPr lang="en-US" altLang="zh-CN" dirty="0" smtClean="0"/>
              <a:t>.</a:t>
            </a:r>
            <a:r>
              <a:rPr lang="zh-CN" altLang="en-US" dirty="0" smtClean="0"/>
              <a:t>北京：清华大学出版社，</a:t>
            </a:r>
            <a:r>
              <a:rPr lang="en-US" altLang="zh-CN" dirty="0" smtClean="0"/>
              <a:t>2018.</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[4</a:t>
            </a:r>
            <a:r>
              <a:rPr lang="zh-CN" altLang="en-US" dirty="0" smtClean="0"/>
              <a:t>］张良均</a:t>
            </a:r>
            <a:r>
              <a:rPr lang="en-US" altLang="zh-CN" dirty="0" smtClean="0"/>
              <a:t>.Python</a:t>
            </a:r>
            <a:r>
              <a:rPr lang="zh-CN" altLang="en-US" dirty="0" smtClean="0"/>
              <a:t>数据分析与挖掘实战［</a:t>
            </a:r>
            <a:r>
              <a:rPr lang="en-US" altLang="zh-CN" dirty="0" smtClean="0"/>
              <a:t>M</a:t>
            </a:r>
            <a:r>
              <a:rPr lang="zh-CN" altLang="en-US" dirty="0" smtClean="0"/>
              <a:t>］</a:t>
            </a:r>
            <a:r>
              <a:rPr lang="en-US" altLang="zh-CN" dirty="0" smtClean="0"/>
              <a:t>.</a:t>
            </a:r>
            <a:r>
              <a:rPr lang="zh-CN" altLang="en-US" dirty="0" smtClean="0"/>
              <a:t>北京：机械工业出版社</a:t>
            </a:r>
            <a:r>
              <a:rPr lang="en-US" altLang="zh-CN" dirty="0" smtClean="0"/>
              <a:t>, 2016.</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a:t>
            </a:fld>
            <a:endParaRPr lang="zh-CN" altLang="en-US"/>
          </a:p>
        </p:txBody>
      </p:sp>
    </p:spTree>
    <p:extLst>
      <p:ext uri="{BB962C8B-B14F-4D97-AF65-F5344CB8AC3E}">
        <p14:creationId xmlns:p14="http://schemas.microsoft.com/office/powerpoint/2010/main" val="693579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知乎上</a:t>
            </a:r>
            <a:r>
              <a:rPr lang="en-US" altLang="zh-CN" sz="1200" b="0" i="0" kern="1200" dirty="0" smtClean="0">
                <a:solidFill>
                  <a:schemeClr val="tx1"/>
                </a:solidFill>
                <a:effectLst/>
                <a:latin typeface="+mn-lt"/>
                <a:ea typeface="+mn-ea"/>
                <a:cs typeface="+mn-cs"/>
              </a:rPr>
              <a:t>——python</a:t>
            </a:r>
            <a:r>
              <a:rPr lang="zh-CN" altLang="en-US" sz="1200" b="0" i="0" kern="1200" dirty="0" smtClean="0">
                <a:solidFill>
                  <a:schemeClr val="tx1"/>
                </a:solidFill>
                <a:effectLst/>
                <a:latin typeface="+mn-lt"/>
                <a:ea typeface="+mn-ea"/>
                <a:cs typeface="+mn-cs"/>
              </a:rPr>
              <a:t>数据分析之清洗数据：缺失值处理</a:t>
            </a:r>
            <a:r>
              <a:rPr lang="en-US" altLang="zh-CN"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0" dirty="0" smtClean="0"/>
              <a:t>https://zhuanlan.zhihu.com/p/109951445</a:t>
            </a:r>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a:t>
            </a:fld>
            <a:endParaRPr lang="zh-CN" altLang="en-US"/>
          </a:p>
        </p:txBody>
      </p:sp>
    </p:spTree>
    <p:extLst>
      <p:ext uri="{BB962C8B-B14F-4D97-AF65-F5344CB8AC3E}">
        <p14:creationId xmlns:p14="http://schemas.microsoft.com/office/powerpoint/2010/main" val="680912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baseline="0" dirty="0" smtClean="0">
                <a:solidFill>
                  <a:schemeClr val="tx1"/>
                </a:solidFill>
                <a:latin typeface="+mn-lt"/>
                <a:ea typeface="+mn-ea"/>
                <a:cs typeface="+mn-cs"/>
              </a:rPr>
              <a:t>异常值检查方法，主要包括如下几种</a:t>
            </a:r>
            <a:r>
              <a:rPr lang="en-US" altLang="zh-CN" sz="1200" b="0" i="0" u="none" strike="noStrike" kern="1200" baseline="0" dirty="0" smtClean="0">
                <a:solidFill>
                  <a:schemeClr val="tx1"/>
                </a:solidFill>
                <a:latin typeface="+mn-lt"/>
                <a:ea typeface="+mn-ea"/>
                <a:cs typeface="+mn-cs"/>
              </a:rPr>
              <a:t>[5]</a:t>
            </a:r>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smtClean="0">
                <a:solidFill>
                  <a:schemeClr val="tx1"/>
                </a:solidFill>
                <a:latin typeface="+mn-lt"/>
                <a:ea typeface="+mn-ea"/>
                <a:cs typeface="+mn-cs"/>
              </a:rPr>
              <a:t>[5</a:t>
            </a:r>
            <a:r>
              <a:rPr lang="zh-CN" altLang="en-US" sz="1200" b="0" i="0" u="none" strike="noStrike" kern="1200" baseline="0" dirty="0" smtClean="0">
                <a:solidFill>
                  <a:schemeClr val="tx1"/>
                </a:solidFill>
                <a:latin typeface="+mn-lt"/>
                <a:ea typeface="+mn-ea"/>
                <a:cs typeface="+mn-cs"/>
              </a:rPr>
              <a:t>］韦斯</a:t>
            </a:r>
            <a:r>
              <a:rPr lang="en-US" altLang="zh-CN" sz="1200" b="0" i="0" u="none" strike="noStrike" kern="1200" baseline="0" dirty="0" smtClean="0">
                <a:solidFill>
                  <a:schemeClr val="tx1"/>
                </a:solidFill>
                <a:latin typeface="+mn-lt"/>
                <a:ea typeface="+mn-ea"/>
                <a:cs typeface="+mn-cs"/>
              </a:rPr>
              <a:t>·</a:t>
            </a:r>
            <a:r>
              <a:rPr lang="zh-CN" altLang="en-US" sz="1200" b="0" i="0" u="none" strike="noStrike" kern="1200" baseline="0" dirty="0" smtClean="0">
                <a:solidFill>
                  <a:schemeClr val="tx1"/>
                </a:solidFill>
                <a:latin typeface="+mn-lt"/>
                <a:ea typeface="+mn-ea"/>
                <a:cs typeface="+mn-cs"/>
              </a:rPr>
              <a:t>麦金尼</a:t>
            </a:r>
            <a:r>
              <a:rPr lang="en-US" altLang="zh-CN" sz="1200" b="0" i="0" u="none" strike="noStrike" kern="1200" baseline="0" dirty="0" smtClean="0">
                <a:solidFill>
                  <a:schemeClr val="tx1"/>
                </a:solidFill>
                <a:latin typeface="+mn-lt"/>
                <a:ea typeface="+mn-ea"/>
                <a:cs typeface="+mn-cs"/>
              </a:rPr>
              <a:t>.</a:t>
            </a:r>
            <a:r>
              <a:rPr lang="zh-CN" altLang="en-US" sz="1200" b="0" i="0" u="none" strike="noStrike" kern="1200" baseline="0" dirty="0" smtClean="0">
                <a:solidFill>
                  <a:schemeClr val="tx1"/>
                </a:solidFill>
                <a:latin typeface="+mn-lt"/>
                <a:ea typeface="+mn-ea"/>
                <a:cs typeface="+mn-cs"/>
              </a:rPr>
              <a:t>利用</a:t>
            </a:r>
            <a:r>
              <a:rPr lang="en-US" altLang="zh-CN" sz="1200" b="0" i="0" u="none" strike="noStrike" kern="1200" baseline="0" dirty="0" smtClean="0">
                <a:solidFill>
                  <a:schemeClr val="tx1"/>
                </a:solidFill>
                <a:latin typeface="+mn-lt"/>
                <a:ea typeface="+mn-ea"/>
                <a:cs typeface="+mn-cs"/>
              </a:rPr>
              <a:t>Python</a:t>
            </a:r>
            <a:r>
              <a:rPr lang="zh-CN" altLang="en-US" sz="1200" b="0" i="0" u="none" strike="noStrike" kern="1200" baseline="0" dirty="0" smtClean="0">
                <a:solidFill>
                  <a:schemeClr val="tx1"/>
                </a:solidFill>
                <a:latin typeface="+mn-lt"/>
                <a:ea typeface="+mn-ea"/>
                <a:cs typeface="+mn-cs"/>
              </a:rPr>
              <a:t>进行数据分析</a:t>
            </a:r>
            <a:r>
              <a:rPr lang="en-US" altLang="zh-CN" sz="1200" b="0" i="0" u="none" strike="noStrike" kern="1200" baseline="0" dirty="0" smtClean="0">
                <a:solidFill>
                  <a:schemeClr val="tx1"/>
                </a:solidFill>
                <a:latin typeface="+mn-lt"/>
                <a:ea typeface="+mn-ea"/>
                <a:cs typeface="+mn-cs"/>
              </a:rPr>
              <a:t>.3</a:t>
            </a:r>
            <a:r>
              <a:rPr lang="zh-CN" altLang="en-US" sz="1200" b="0" i="0" u="none" strike="noStrike" kern="1200" baseline="0" dirty="0" smtClean="0">
                <a:solidFill>
                  <a:schemeClr val="tx1"/>
                </a:solidFill>
                <a:latin typeface="+mn-lt"/>
                <a:ea typeface="+mn-ea"/>
                <a:cs typeface="+mn-cs"/>
              </a:rPr>
              <a:t>版</a:t>
            </a:r>
            <a:r>
              <a:rPr lang="en-US" altLang="zh-CN" sz="1200" b="0" i="0" u="none" strike="noStrike" kern="1200" baseline="0" dirty="0" smtClean="0">
                <a:solidFill>
                  <a:schemeClr val="tx1"/>
                </a:solidFill>
                <a:latin typeface="+mn-lt"/>
                <a:ea typeface="+mn-ea"/>
                <a:cs typeface="+mn-cs"/>
              </a:rPr>
              <a:t>.</a:t>
            </a:r>
            <a:r>
              <a:rPr lang="zh-CN" altLang="en-US" sz="1200" b="0" i="0" u="none" strike="noStrike" kern="1200" baseline="0" dirty="0" smtClean="0">
                <a:solidFill>
                  <a:schemeClr val="tx1"/>
                </a:solidFill>
                <a:latin typeface="+mn-lt"/>
                <a:ea typeface="+mn-ea"/>
                <a:cs typeface="+mn-cs"/>
              </a:rPr>
              <a:t>北京：机械工业出版社，</a:t>
            </a:r>
            <a:r>
              <a:rPr lang="en-US" altLang="zh-CN" sz="1200" b="0" i="0" u="none" strike="noStrike" kern="1200" baseline="0" dirty="0" smtClean="0">
                <a:solidFill>
                  <a:schemeClr val="tx1"/>
                </a:solidFill>
                <a:latin typeface="+mn-lt"/>
                <a:ea typeface="+mn-ea"/>
                <a:cs typeface="+mn-cs"/>
              </a:rPr>
              <a:t>2018.</a:t>
            </a:r>
          </a:p>
          <a:p>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smtClean="0">
                <a:solidFill>
                  <a:schemeClr val="tx1"/>
                </a:solidFill>
                <a:latin typeface="+mn-lt"/>
                <a:ea typeface="+mn-ea"/>
                <a:cs typeface="+mn-cs"/>
              </a:rPr>
              <a:t>1</a:t>
            </a:r>
            <a:r>
              <a:rPr lang="zh-CN" altLang="en-US" sz="1200" b="0" i="0" u="none" strike="noStrike" kern="1200" baseline="0" dirty="0" smtClean="0">
                <a:solidFill>
                  <a:schemeClr val="tx1"/>
                </a:solidFill>
                <a:latin typeface="+mn-lt"/>
                <a:ea typeface="+mn-ea"/>
                <a:cs typeface="+mn-cs"/>
              </a:rPr>
              <a:t>）基础统计量分析。先对变量做一个“描述性统计”分析，得到一些基础统计量，从而查看哪些数据是不合理的。最常用的统计量是最大值和最小值，用来判断这个变量的取值是否超过了合理的范围。如某用户数据集中年龄最大值为</a:t>
            </a:r>
            <a:r>
              <a:rPr lang="en-US" altLang="zh-CN" sz="1200" b="0" i="0" u="none" strike="noStrike" kern="1200" baseline="0" dirty="0" smtClean="0">
                <a:solidFill>
                  <a:schemeClr val="tx1"/>
                </a:solidFill>
                <a:latin typeface="+mn-lt"/>
                <a:ea typeface="+mn-ea"/>
                <a:cs typeface="+mn-cs"/>
              </a:rPr>
              <a:t>199</a:t>
            </a:r>
            <a:r>
              <a:rPr lang="zh-CN" altLang="en-US" sz="1200" b="0" i="0" u="none" strike="noStrike" kern="1200" baseline="0" dirty="0" smtClean="0">
                <a:solidFill>
                  <a:schemeClr val="tx1"/>
                </a:solidFill>
                <a:latin typeface="+mn-lt"/>
                <a:ea typeface="+mn-ea"/>
                <a:cs typeface="+mn-cs"/>
              </a:rPr>
              <a:t>岁，则该值显然是个异常值。</a:t>
            </a:r>
          </a:p>
          <a:p>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smtClean="0">
                <a:solidFill>
                  <a:schemeClr val="tx1"/>
                </a:solidFill>
                <a:latin typeface="+mn-lt"/>
                <a:ea typeface="+mn-ea"/>
                <a:cs typeface="+mn-cs"/>
              </a:rPr>
              <a:t>2</a:t>
            </a:r>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smtClean="0">
                <a:solidFill>
                  <a:schemeClr val="tx1"/>
                </a:solidFill>
                <a:latin typeface="+mn-lt"/>
                <a:ea typeface="+mn-ea"/>
                <a:cs typeface="+mn-cs"/>
              </a:rPr>
              <a:t>3σ</a:t>
            </a:r>
            <a:r>
              <a:rPr lang="zh-CN" altLang="en-US" sz="1200" b="0" i="0" u="none" strike="noStrike" kern="1200" baseline="0" dirty="0" smtClean="0">
                <a:solidFill>
                  <a:schemeClr val="tx1"/>
                </a:solidFill>
                <a:latin typeface="+mn-lt"/>
                <a:ea typeface="+mn-ea"/>
                <a:cs typeface="+mn-cs"/>
              </a:rPr>
              <a:t>原则。如果数据服从正态分布，在</a:t>
            </a:r>
            <a:r>
              <a:rPr lang="en-US" altLang="zh-CN" sz="1200" b="0" i="0" u="none" strike="noStrike" kern="1200" baseline="0" dirty="0" smtClean="0">
                <a:solidFill>
                  <a:schemeClr val="tx1"/>
                </a:solidFill>
                <a:latin typeface="+mn-lt"/>
                <a:ea typeface="+mn-ea"/>
                <a:cs typeface="+mn-cs"/>
              </a:rPr>
              <a:t>3σ</a:t>
            </a:r>
            <a:r>
              <a:rPr lang="zh-CN" altLang="en-US" sz="1200" b="0" i="0" u="none" strike="noStrike" kern="1200" baseline="0" dirty="0" smtClean="0">
                <a:solidFill>
                  <a:schemeClr val="tx1"/>
                </a:solidFill>
                <a:latin typeface="+mn-lt"/>
                <a:ea typeface="+mn-ea"/>
                <a:cs typeface="+mn-cs"/>
              </a:rPr>
              <a:t>原则下，异常值被定义为一组测定值中与平均值的偏差超过</a:t>
            </a:r>
            <a:r>
              <a:rPr lang="en-US" altLang="zh-CN" sz="1200" b="0" i="0" u="none" strike="noStrike" kern="1200" baseline="0" dirty="0" smtClean="0">
                <a:solidFill>
                  <a:schemeClr val="tx1"/>
                </a:solidFill>
                <a:latin typeface="+mn-lt"/>
                <a:ea typeface="+mn-ea"/>
                <a:cs typeface="+mn-cs"/>
              </a:rPr>
              <a:t>3</a:t>
            </a:r>
            <a:r>
              <a:rPr lang="zh-CN" altLang="en-US" sz="1200" b="0" i="0" u="none" strike="noStrike" kern="1200" baseline="0" dirty="0" smtClean="0">
                <a:solidFill>
                  <a:schemeClr val="tx1"/>
                </a:solidFill>
                <a:latin typeface="+mn-lt"/>
                <a:ea typeface="+mn-ea"/>
                <a:cs typeface="+mn-cs"/>
              </a:rPr>
              <a:t>倍标准差的值。此时，距离平均值</a:t>
            </a:r>
            <a:r>
              <a:rPr lang="en-US" altLang="zh-CN" sz="1200" b="0" i="0" u="none" strike="noStrike" kern="1200" baseline="0" dirty="0" smtClean="0">
                <a:solidFill>
                  <a:schemeClr val="tx1"/>
                </a:solidFill>
                <a:latin typeface="+mn-lt"/>
                <a:ea typeface="+mn-ea"/>
                <a:cs typeface="+mn-cs"/>
              </a:rPr>
              <a:t>3σ</a:t>
            </a:r>
            <a:r>
              <a:rPr lang="zh-CN" altLang="en-US" sz="1200" b="0" i="0" u="none" strike="noStrike" kern="1200" baseline="0" dirty="0" smtClean="0">
                <a:solidFill>
                  <a:schemeClr val="tx1"/>
                </a:solidFill>
                <a:latin typeface="+mn-lt"/>
                <a:ea typeface="+mn-ea"/>
                <a:cs typeface="+mn-cs"/>
              </a:rPr>
              <a:t>之外的值出现的概率为</a:t>
            </a:r>
            <a:r>
              <a:rPr lang="en-US" altLang="zh-CN" sz="1200" b="0" i="1" u="none" strike="noStrike" kern="1200" baseline="0" dirty="0" smtClean="0">
                <a:solidFill>
                  <a:schemeClr val="tx1"/>
                </a:solidFill>
                <a:latin typeface="+mn-lt"/>
                <a:ea typeface="+mn-ea"/>
                <a:cs typeface="+mn-cs"/>
              </a:rPr>
              <a:t>P</a:t>
            </a:r>
            <a:r>
              <a:rPr lang="en-US" altLang="zh-CN" sz="1200" b="0" i="0" u="none" strike="noStrike" kern="1200" baseline="0" dirty="0" smtClean="0">
                <a:solidFill>
                  <a:schemeClr val="tx1"/>
                </a:solidFill>
                <a:latin typeface="+mn-lt"/>
                <a:ea typeface="+mn-ea"/>
                <a:cs typeface="+mn-cs"/>
              </a:rPr>
              <a:t>( | </a:t>
            </a:r>
            <a:r>
              <a:rPr lang="en-US" altLang="zh-CN" sz="1200" b="0" i="1" u="none" strike="noStrike" kern="1200" baseline="0" dirty="0" smtClean="0">
                <a:solidFill>
                  <a:schemeClr val="tx1"/>
                </a:solidFill>
                <a:latin typeface="+mn-lt"/>
                <a:ea typeface="+mn-ea"/>
                <a:cs typeface="+mn-cs"/>
              </a:rPr>
              <a:t>x</a:t>
            </a:r>
            <a:r>
              <a:rPr lang="en-US" altLang="zh-CN" sz="1200" b="0" i="0" u="none" strike="noStrike" kern="1200" baseline="0" dirty="0" smtClean="0">
                <a:solidFill>
                  <a:schemeClr val="tx1"/>
                </a:solidFill>
                <a:latin typeface="+mn-lt"/>
                <a:ea typeface="+mn-ea"/>
                <a:cs typeface="+mn-cs"/>
              </a:rPr>
              <a:t>-</a:t>
            </a:r>
            <a:r>
              <a:rPr lang="en-US" altLang="zh-CN" sz="1200" b="0" i="1" u="none" strike="noStrike" kern="1200" baseline="0" dirty="0" smtClean="0">
                <a:solidFill>
                  <a:schemeClr val="tx1"/>
                </a:solidFill>
                <a:latin typeface="+mn-lt"/>
                <a:ea typeface="+mn-ea"/>
                <a:cs typeface="+mn-cs"/>
              </a:rPr>
              <a:t>μ </a:t>
            </a:r>
            <a:r>
              <a:rPr lang="en-US" altLang="zh-CN" sz="1200" b="0" i="0" u="none" strike="noStrike" kern="1200" baseline="0" dirty="0" smtClean="0">
                <a:solidFill>
                  <a:schemeClr val="tx1"/>
                </a:solidFill>
                <a:latin typeface="+mn-lt"/>
                <a:ea typeface="+mn-ea"/>
                <a:cs typeface="+mn-cs"/>
              </a:rPr>
              <a:t>| )&gt; 3</a:t>
            </a:r>
            <a:r>
              <a:rPr lang="en-US" altLang="zh-CN" sz="1200" b="0" i="1" u="none" strike="noStrike" kern="1200" baseline="0" dirty="0" smtClean="0">
                <a:solidFill>
                  <a:schemeClr val="tx1"/>
                </a:solidFill>
                <a:latin typeface="+mn-lt"/>
                <a:ea typeface="+mn-ea"/>
                <a:cs typeface="+mn-cs"/>
              </a:rPr>
              <a:t>σ </a:t>
            </a:r>
            <a:r>
              <a:rPr lang="en-US" altLang="zh-CN" sz="1200" b="0" i="0" u="none" strike="noStrike" kern="1200" baseline="0" dirty="0" smtClean="0">
                <a:solidFill>
                  <a:schemeClr val="tx1"/>
                </a:solidFill>
                <a:latin typeface="+mn-lt"/>
                <a:ea typeface="+mn-ea"/>
                <a:cs typeface="+mn-cs"/>
              </a:rPr>
              <a:t>)=0.003</a:t>
            </a:r>
            <a:r>
              <a:rPr lang="zh-CN" altLang="en-US" sz="1200" b="0" i="0" u="none" strike="noStrike" kern="1200" baseline="0" dirty="0" smtClean="0">
                <a:solidFill>
                  <a:schemeClr val="tx1"/>
                </a:solidFill>
                <a:latin typeface="+mn-lt"/>
                <a:ea typeface="+mn-ea"/>
                <a:cs typeface="+mn-cs"/>
              </a:rPr>
              <a:t>，属于极小概率事件。如果数据不服从正态分布，也可以使用数据点远离平均值的</a:t>
            </a:r>
            <a:r>
              <a:rPr lang="en-US" altLang="zh-CN" sz="1200" b="0" i="1" u="none" strike="noStrike" kern="1200" baseline="0" dirty="0" smtClean="0">
                <a:solidFill>
                  <a:schemeClr val="tx1"/>
                </a:solidFill>
                <a:latin typeface="+mn-lt"/>
                <a:ea typeface="+mn-ea"/>
                <a:cs typeface="+mn-cs"/>
              </a:rPr>
              <a:t>n </a:t>
            </a:r>
            <a:r>
              <a:rPr lang="zh-CN" altLang="en-US" sz="1200" b="0" i="0" u="none" strike="noStrike" kern="1200" baseline="0" dirty="0" smtClean="0">
                <a:solidFill>
                  <a:schemeClr val="tx1"/>
                </a:solidFill>
                <a:latin typeface="+mn-lt"/>
                <a:ea typeface="+mn-ea"/>
                <a:cs typeface="+mn-cs"/>
              </a:rPr>
              <a:t>倍标准差（</a:t>
            </a:r>
            <a:r>
              <a:rPr lang="en-US" altLang="zh-CN" sz="1200" b="0" i="1" u="none" strike="noStrike" kern="1200" baseline="0" dirty="0" smtClean="0">
                <a:solidFill>
                  <a:schemeClr val="tx1"/>
                </a:solidFill>
                <a:latin typeface="+mn-lt"/>
                <a:ea typeface="+mn-ea"/>
                <a:cs typeface="+mn-cs"/>
              </a:rPr>
              <a:t>n </a:t>
            </a:r>
            <a:r>
              <a:rPr lang="zh-CN" altLang="en-US" sz="1200" b="0" i="0" u="none" strike="noStrike" kern="1200" baseline="0" dirty="0" smtClean="0">
                <a:solidFill>
                  <a:schemeClr val="tx1"/>
                </a:solidFill>
                <a:latin typeface="+mn-lt"/>
                <a:ea typeface="+mn-ea"/>
                <a:cs typeface="+mn-cs"/>
              </a:rPr>
              <a:t>的取值根据实际数据而定）进行描述。</a:t>
            </a:r>
          </a:p>
          <a:p>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smtClean="0">
                <a:solidFill>
                  <a:schemeClr val="tx1"/>
                </a:solidFill>
                <a:latin typeface="+mn-lt"/>
                <a:ea typeface="+mn-ea"/>
                <a:cs typeface="+mn-cs"/>
              </a:rPr>
              <a:t>3</a:t>
            </a:r>
            <a:r>
              <a:rPr lang="zh-CN" altLang="en-US" sz="1200" b="0" i="0" u="none" strike="noStrike" kern="1200" baseline="0" dirty="0" smtClean="0">
                <a:solidFill>
                  <a:schemeClr val="tx1"/>
                </a:solidFill>
                <a:latin typeface="+mn-lt"/>
                <a:ea typeface="+mn-ea"/>
                <a:cs typeface="+mn-cs"/>
              </a:rPr>
              <a:t>）箱型图分析。箱型图识别异常值的标准是：小于</a:t>
            </a:r>
            <a:r>
              <a:rPr lang="en-US" altLang="zh-CN" sz="1200" b="0" i="1" u="none" strike="noStrike" kern="1200" baseline="0" dirty="0" smtClean="0">
                <a:solidFill>
                  <a:schemeClr val="tx1"/>
                </a:solidFill>
                <a:latin typeface="+mn-lt"/>
                <a:ea typeface="+mn-ea"/>
                <a:cs typeface="+mn-cs"/>
              </a:rPr>
              <a:t>QL </a:t>
            </a:r>
            <a:r>
              <a:rPr lang="en-US" altLang="zh-CN" sz="1200" b="0" i="0" u="none" strike="noStrike" kern="1200" baseline="0" dirty="0" smtClean="0">
                <a:solidFill>
                  <a:schemeClr val="tx1"/>
                </a:solidFill>
                <a:latin typeface="+mn-lt"/>
                <a:ea typeface="+mn-ea"/>
                <a:cs typeface="+mn-cs"/>
              </a:rPr>
              <a:t>- 1.5</a:t>
            </a:r>
            <a:r>
              <a:rPr lang="en-US" altLang="zh-CN" sz="1200" b="0" i="1" u="none" strike="noStrike" kern="1200" baseline="0" dirty="0" smtClean="0">
                <a:solidFill>
                  <a:schemeClr val="tx1"/>
                </a:solidFill>
                <a:latin typeface="+mn-lt"/>
                <a:ea typeface="+mn-ea"/>
                <a:cs typeface="+mn-cs"/>
              </a:rPr>
              <a:t>IQR </a:t>
            </a:r>
            <a:r>
              <a:rPr lang="zh-CN" altLang="en-US" sz="1200" b="0" i="0" u="none" strike="noStrike" kern="1200" baseline="0" dirty="0" smtClean="0">
                <a:solidFill>
                  <a:schemeClr val="tx1"/>
                </a:solidFill>
                <a:latin typeface="+mn-lt"/>
                <a:ea typeface="+mn-ea"/>
                <a:cs typeface="+mn-cs"/>
              </a:rPr>
              <a:t>或大于</a:t>
            </a:r>
            <a:r>
              <a:rPr lang="en-US" altLang="zh-CN" sz="1200" b="0" i="1" u="none" strike="noStrike" kern="1200" baseline="0" dirty="0" smtClean="0">
                <a:solidFill>
                  <a:schemeClr val="tx1"/>
                </a:solidFill>
                <a:latin typeface="+mn-lt"/>
                <a:ea typeface="+mn-ea"/>
                <a:cs typeface="+mn-cs"/>
              </a:rPr>
              <a:t>QU </a:t>
            </a:r>
            <a:r>
              <a:rPr lang="en-US" altLang="zh-CN" sz="1200" b="0" i="0" u="none" strike="noStrike" kern="1200" baseline="0" dirty="0" smtClean="0">
                <a:solidFill>
                  <a:schemeClr val="tx1"/>
                </a:solidFill>
                <a:latin typeface="+mn-lt"/>
                <a:ea typeface="+mn-ea"/>
                <a:cs typeface="+mn-cs"/>
              </a:rPr>
              <a:t>+ 1.5</a:t>
            </a:r>
            <a:r>
              <a:rPr lang="en-US" altLang="zh-CN" sz="1200" b="0" i="1" u="none" strike="noStrike" kern="1200" baseline="0" dirty="0" smtClean="0">
                <a:solidFill>
                  <a:schemeClr val="tx1"/>
                </a:solidFill>
                <a:latin typeface="+mn-lt"/>
                <a:ea typeface="+mn-ea"/>
                <a:cs typeface="+mn-cs"/>
              </a:rPr>
              <a:t>IQR </a:t>
            </a:r>
            <a:r>
              <a:rPr lang="zh-CN" altLang="en-US" sz="1200" b="0" i="0" u="none" strike="noStrike" kern="1200" baseline="0" dirty="0" smtClean="0">
                <a:solidFill>
                  <a:schemeClr val="tx1"/>
                </a:solidFill>
                <a:latin typeface="+mn-lt"/>
                <a:ea typeface="+mn-ea"/>
                <a:cs typeface="+mn-cs"/>
              </a:rPr>
              <a:t>的值。如图</a:t>
            </a:r>
            <a:r>
              <a:rPr lang="en-US" altLang="zh-CN" sz="1200" b="0" i="0" u="none" strike="noStrike" kern="1200" baseline="0" dirty="0" smtClean="0">
                <a:solidFill>
                  <a:schemeClr val="tx1"/>
                </a:solidFill>
                <a:latin typeface="+mn-lt"/>
                <a:ea typeface="+mn-ea"/>
                <a:cs typeface="+mn-cs"/>
              </a:rPr>
              <a:t>3-1</a:t>
            </a:r>
            <a:r>
              <a:rPr lang="zh-CN" altLang="en-US" sz="1200" b="0" i="0" u="none" strike="noStrike" kern="1200" baseline="0" dirty="0" smtClean="0">
                <a:solidFill>
                  <a:schemeClr val="tx1"/>
                </a:solidFill>
                <a:latin typeface="+mn-lt"/>
                <a:ea typeface="+mn-ea"/>
                <a:cs typeface="+mn-cs"/>
              </a:rPr>
              <a:t>所示，</a:t>
            </a:r>
            <a:r>
              <a:rPr lang="en-US" altLang="zh-CN" sz="1200" b="0" i="1" u="none" strike="noStrike" kern="1200" baseline="0" dirty="0" smtClean="0">
                <a:solidFill>
                  <a:schemeClr val="tx1"/>
                </a:solidFill>
                <a:latin typeface="+mn-lt"/>
                <a:ea typeface="+mn-ea"/>
                <a:cs typeface="+mn-cs"/>
              </a:rPr>
              <a:t>QL </a:t>
            </a:r>
            <a:r>
              <a:rPr lang="zh-CN" altLang="en-US" sz="1200" b="0" i="0" u="none" strike="noStrike" kern="1200" baseline="0" dirty="0" smtClean="0">
                <a:solidFill>
                  <a:schemeClr val="tx1"/>
                </a:solidFill>
                <a:latin typeface="+mn-lt"/>
                <a:ea typeface="+mn-ea"/>
                <a:cs typeface="+mn-cs"/>
              </a:rPr>
              <a:t>是“下四分位数”，表示全部样本中有四分之一的数据取值比它小；</a:t>
            </a:r>
            <a:r>
              <a:rPr lang="en-US" altLang="zh-CN" sz="1200" b="0" i="1" u="none" strike="noStrike" kern="1200" baseline="0" dirty="0" smtClean="0">
                <a:solidFill>
                  <a:schemeClr val="tx1"/>
                </a:solidFill>
                <a:latin typeface="+mn-lt"/>
                <a:ea typeface="+mn-ea"/>
                <a:cs typeface="+mn-cs"/>
              </a:rPr>
              <a:t>QU </a:t>
            </a:r>
            <a:r>
              <a:rPr lang="zh-CN" altLang="en-US" sz="1200" b="0" i="0" u="none" strike="noStrike" kern="1200" baseline="0" dirty="0" smtClean="0">
                <a:solidFill>
                  <a:schemeClr val="tx1"/>
                </a:solidFill>
                <a:latin typeface="+mn-lt"/>
                <a:ea typeface="+mn-ea"/>
                <a:cs typeface="+mn-cs"/>
              </a:rPr>
              <a:t>是“上四分位数”，表示全部样本中有四分之一的数据取值比它大；</a:t>
            </a:r>
            <a:r>
              <a:rPr lang="en-US" altLang="zh-CN" sz="1200" b="0" i="1" u="none" strike="noStrike" kern="1200" baseline="0" dirty="0" smtClean="0">
                <a:solidFill>
                  <a:schemeClr val="tx1"/>
                </a:solidFill>
                <a:latin typeface="+mn-lt"/>
                <a:ea typeface="+mn-ea"/>
                <a:cs typeface="+mn-cs"/>
              </a:rPr>
              <a:t>IQR </a:t>
            </a:r>
            <a:r>
              <a:rPr lang="en-US" altLang="zh-CN" sz="1200" b="0" i="0" u="none" strike="noStrike" kern="1200" baseline="0" dirty="0" smtClean="0">
                <a:solidFill>
                  <a:schemeClr val="tx1"/>
                </a:solidFill>
                <a:latin typeface="+mn-lt"/>
                <a:ea typeface="+mn-ea"/>
                <a:cs typeface="+mn-cs"/>
              </a:rPr>
              <a:t>= </a:t>
            </a:r>
            <a:r>
              <a:rPr lang="en-US" altLang="zh-CN" sz="1200" b="0" i="1" u="none" strike="noStrike" kern="1200" baseline="0" dirty="0" smtClean="0">
                <a:solidFill>
                  <a:schemeClr val="tx1"/>
                </a:solidFill>
                <a:latin typeface="+mn-lt"/>
                <a:ea typeface="+mn-ea"/>
                <a:cs typeface="+mn-cs"/>
              </a:rPr>
              <a:t>QU </a:t>
            </a:r>
            <a:r>
              <a:rPr lang="en-US" altLang="zh-CN" sz="1200" b="0" i="0" u="none" strike="noStrike" kern="1200" baseline="0" dirty="0" smtClean="0">
                <a:solidFill>
                  <a:schemeClr val="tx1"/>
                </a:solidFill>
                <a:latin typeface="+mn-lt"/>
                <a:ea typeface="+mn-ea"/>
                <a:cs typeface="+mn-cs"/>
              </a:rPr>
              <a:t>- </a:t>
            </a:r>
            <a:r>
              <a:rPr lang="en-US" altLang="zh-CN" sz="1200" b="0" i="1" u="none" strike="noStrike" kern="1200" baseline="0" dirty="0" smtClean="0">
                <a:solidFill>
                  <a:schemeClr val="tx1"/>
                </a:solidFill>
                <a:latin typeface="+mn-lt"/>
                <a:ea typeface="+mn-ea"/>
                <a:cs typeface="+mn-cs"/>
              </a:rPr>
              <a:t>QL </a:t>
            </a:r>
            <a:r>
              <a:rPr lang="zh-CN" altLang="en-US" sz="1200" b="0" i="0" u="none" strike="noStrike" kern="1200" baseline="0" dirty="0" smtClean="0">
                <a:solidFill>
                  <a:schemeClr val="tx1"/>
                </a:solidFill>
                <a:latin typeface="+mn-lt"/>
                <a:ea typeface="+mn-ea"/>
                <a:cs typeface="+mn-cs"/>
              </a:rPr>
              <a:t>被称为四分位数间距。</a:t>
            </a:r>
            <a:endParaRPr lang="en-US" altLang="zh-CN" sz="1200" b="0" i="0" u="none" strike="noStrike" kern="1200" baseline="0" dirty="0" smtClean="0">
              <a:solidFill>
                <a:schemeClr val="tx1"/>
              </a:solidFill>
              <a:latin typeface="+mn-lt"/>
              <a:ea typeface="+mn-ea"/>
              <a:cs typeface="+mn-cs"/>
            </a:endParaRPr>
          </a:p>
          <a:p>
            <a:r>
              <a:rPr lang="zh-CN" altLang="en-US" b="0" dirty="0" smtClean="0"/>
              <a:t>箱型图在识别异常值方面有一定的优越性。一方面，箱型图不需要确定数据的分布形式，适用性广。另一方面，四分位数不会因离群点而产生很大的扰动，所以异常值本身不会对判定标准造成很大影响，因此箱型图分析具有一定的鲁棒性，其识别结果比较客观。</a:t>
            </a:r>
          </a:p>
          <a:p>
            <a:r>
              <a:rPr lang="zh-CN" altLang="en-US" b="0" dirty="0" smtClean="0"/>
              <a:t>（</a:t>
            </a:r>
            <a:r>
              <a:rPr lang="en-US" altLang="zh-CN" b="0" dirty="0" smtClean="0"/>
              <a:t>4</a:t>
            </a:r>
            <a:r>
              <a:rPr lang="zh-CN" altLang="en-US" b="0" dirty="0" smtClean="0"/>
              <a:t>）一致性检查。一致性检查是指，检查数据间是否存在互相矛盾、冲突、不相关等不一致的情况。直接对不一致的数据进行分析，会产生与实际相悖的结论。不一致数据的产生，主要发生在数据集成过程中，可能是由于数据来自于不同的数据源，或者对重复存储数据未能进行一致性更新。例如，两张表都存储了某个用户的电话号码，但其电话号码发生变更时，只更新了一张表中的数据，那么这两张表中就产生了不一致的数据。</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6</a:t>
            </a:fld>
            <a:endParaRPr lang="zh-CN" altLang="en-US"/>
          </a:p>
        </p:txBody>
      </p:sp>
    </p:spTree>
    <p:extLst>
      <p:ext uri="{BB962C8B-B14F-4D97-AF65-F5344CB8AC3E}">
        <p14:creationId xmlns:p14="http://schemas.microsoft.com/office/powerpoint/2010/main" val="441195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处理缺失值的方法包括删除记录和数据插补。要注意的是，对于部分缺失的数据，如果缺失的部分不影响分析，那么即使对这些缺失数据不做处理也不会影响数据的分析结果。</a:t>
            </a:r>
            <a:endParaRPr lang="en-US" altLang="zh-CN" sz="1200" b="0" i="0" u="none" strike="noStrike" kern="1200" baseline="0" dirty="0" smtClean="0">
              <a:solidFill>
                <a:schemeClr val="tx1"/>
              </a:solidFill>
              <a:latin typeface="+mn-lt"/>
              <a:ea typeface="+mn-ea"/>
              <a:cs typeface="+mn-cs"/>
            </a:endParaRPr>
          </a:p>
          <a:p>
            <a:r>
              <a:rPr lang="en-US" altLang="zh-CN" b="0" dirty="0" smtClean="0"/>
              <a:t>【5】</a:t>
            </a:r>
            <a:r>
              <a:rPr lang="zh-CN" altLang="en-US" b="0" dirty="0" smtClean="0"/>
              <a:t>韦斯</a:t>
            </a:r>
            <a:r>
              <a:rPr lang="en-US" altLang="zh-CN" b="0" dirty="0" smtClean="0"/>
              <a:t>·</a:t>
            </a:r>
            <a:r>
              <a:rPr lang="zh-CN" altLang="en-US" b="0" dirty="0" smtClean="0"/>
              <a:t>麦金尼</a:t>
            </a:r>
            <a:r>
              <a:rPr lang="en-US" altLang="zh-CN" b="0" dirty="0" smtClean="0"/>
              <a:t>.</a:t>
            </a:r>
            <a:r>
              <a:rPr lang="zh-CN" altLang="en-US" b="0" dirty="0" smtClean="0"/>
              <a:t>利用</a:t>
            </a:r>
            <a:r>
              <a:rPr lang="en-US" altLang="zh-CN" b="0" dirty="0" smtClean="0"/>
              <a:t>Python</a:t>
            </a:r>
            <a:r>
              <a:rPr lang="zh-CN" altLang="en-US" b="0" dirty="0" smtClean="0"/>
              <a:t>进行数据分析</a:t>
            </a:r>
            <a:r>
              <a:rPr lang="en-US" altLang="zh-CN" b="0" dirty="0" smtClean="0"/>
              <a:t>.3</a:t>
            </a:r>
            <a:r>
              <a:rPr lang="zh-CN" altLang="en-US" b="0" dirty="0" smtClean="0"/>
              <a:t>版</a:t>
            </a:r>
            <a:r>
              <a:rPr lang="en-US" altLang="zh-CN" b="0" dirty="0" smtClean="0"/>
              <a:t>.</a:t>
            </a:r>
            <a:r>
              <a:rPr lang="zh-CN" altLang="en-US" b="0" dirty="0" smtClean="0"/>
              <a:t>北京：机械工业出版社，</a:t>
            </a:r>
            <a:r>
              <a:rPr lang="en-US" altLang="zh-CN" b="0" dirty="0" smtClean="0"/>
              <a:t>2018.</a:t>
            </a:r>
          </a:p>
          <a:p>
            <a:r>
              <a:rPr lang="zh-CN" altLang="en-US" b="0" dirty="0" smtClean="0"/>
              <a:t>［</a:t>
            </a:r>
            <a:r>
              <a:rPr lang="en-US" altLang="zh-CN" b="0" dirty="0" smtClean="0"/>
              <a:t>6</a:t>
            </a:r>
            <a:r>
              <a:rPr lang="zh-CN" altLang="en-US" b="0" dirty="0" smtClean="0"/>
              <a:t>］吴翌琳，房祥忠</a:t>
            </a:r>
            <a:r>
              <a:rPr lang="en-US" altLang="zh-CN" b="0" dirty="0" smtClean="0"/>
              <a:t>.</a:t>
            </a:r>
            <a:r>
              <a:rPr lang="zh-CN" altLang="en-US" b="0" dirty="0" smtClean="0"/>
              <a:t>大数据探索性分析［</a:t>
            </a:r>
            <a:r>
              <a:rPr lang="en-US" altLang="zh-CN" b="0" dirty="0" smtClean="0"/>
              <a:t>M</a:t>
            </a:r>
            <a:r>
              <a:rPr lang="zh-CN" altLang="en-US" b="0" dirty="0" smtClean="0"/>
              <a:t>］</a:t>
            </a:r>
            <a:r>
              <a:rPr lang="en-US" altLang="zh-CN" b="0" dirty="0" smtClean="0"/>
              <a:t>.</a:t>
            </a:r>
            <a:r>
              <a:rPr lang="zh-CN" altLang="en-US" b="0" dirty="0" smtClean="0"/>
              <a:t>北京：中国人民大学出版社，</a:t>
            </a:r>
            <a:r>
              <a:rPr lang="en-US" altLang="zh-CN" b="0" dirty="0" smtClean="0"/>
              <a:t>2016.</a:t>
            </a:r>
          </a:p>
          <a:p>
            <a:r>
              <a:rPr lang="zh-CN" altLang="en-US" b="0" dirty="0" smtClean="0"/>
              <a:t>［</a:t>
            </a:r>
            <a:r>
              <a:rPr lang="en-US" altLang="zh-CN" b="0" dirty="0" smtClean="0"/>
              <a:t>7</a:t>
            </a:r>
            <a:r>
              <a:rPr lang="zh-CN" altLang="en-US" b="0" dirty="0" smtClean="0"/>
              <a:t>］</a:t>
            </a:r>
            <a:r>
              <a:rPr lang="en-US" altLang="zh-CN" b="0" dirty="0" smtClean="0"/>
              <a:t>Nell F. Python</a:t>
            </a:r>
            <a:r>
              <a:rPr lang="zh-CN" altLang="en-US" b="0" dirty="0" smtClean="0"/>
              <a:t>数据分析实战［</a:t>
            </a:r>
            <a:r>
              <a:rPr lang="en-US" altLang="zh-CN" b="0" dirty="0" smtClean="0"/>
              <a:t>M</a:t>
            </a:r>
            <a:r>
              <a:rPr lang="zh-CN" altLang="en-US" b="0" dirty="0" smtClean="0"/>
              <a:t>］</a:t>
            </a:r>
            <a:r>
              <a:rPr lang="en-US" altLang="zh-CN" b="0" dirty="0" smtClean="0"/>
              <a:t>.</a:t>
            </a:r>
            <a:r>
              <a:rPr lang="zh-CN" altLang="en-US" b="0" dirty="0" smtClean="0"/>
              <a:t>北京</a:t>
            </a:r>
            <a:r>
              <a:rPr lang="en-US" altLang="zh-CN" b="0" dirty="0" smtClean="0"/>
              <a:t>:</a:t>
            </a:r>
            <a:r>
              <a:rPr lang="zh-CN" altLang="en-US" b="0" dirty="0" smtClean="0"/>
              <a:t>人民邮电出版社，</a:t>
            </a:r>
            <a:r>
              <a:rPr lang="en-US" altLang="zh-CN" b="0" dirty="0" smtClean="0"/>
              <a:t>2016.</a:t>
            </a:r>
          </a:p>
          <a:p>
            <a:r>
              <a:rPr lang="en-US" altLang="zh-CN" sz="1200" b="0" i="0" u="none" strike="noStrike" kern="1200" baseline="0" dirty="0" smtClean="0">
                <a:solidFill>
                  <a:schemeClr val="tx1"/>
                </a:solidFill>
                <a:latin typeface="+mn-lt"/>
                <a:ea typeface="+mn-ea"/>
                <a:cs typeface="+mn-cs"/>
              </a:rPr>
              <a:t>1.</a:t>
            </a:r>
            <a:r>
              <a:rPr lang="zh-CN" altLang="en-US" sz="1200" b="0" i="0" u="none" strike="noStrike" kern="1200" baseline="0" dirty="0" smtClean="0">
                <a:solidFill>
                  <a:schemeClr val="tx1"/>
                </a:solidFill>
                <a:latin typeface="+mn-lt"/>
                <a:ea typeface="+mn-ea"/>
                <a:cs typeface="+mn-cs"/>
              </a:rPr>
              <a:t>删除记录。</a:t>
            </a:r>
            <a:r>
              <a:rPr lang="en-US" altLang="zh-CN" sz="1200" b="0" i="0" u="none" strike="noStrike" kern="1200" baseline="0" dirty="0" smtClean="0">
                <a:solidFill>
                  <a:schemeClr val="tx1"/>
                </a:solidFill>
                <a:latin typeface="+mn-lt"/>
                <a:ea typeface="+mn-ea"/>
                <a:cs typeface="+mn-cs"/>
              </a:rPr>
              <a:t>Pandas</a:t>
            </a:r>
            <a:r>
              <a:rPr lang="zh-CN" altLang="en-US" sz="1200" b="0" i="0" u="none" strike="noStrike" kern="1200" baseline="0" dirty="0" smtClean="0">
                <a:solidFill>
                  <a:schemeClr val="tx1"/>
                </a:solidFill>
                <a:latin typeface="+mn-lt"/>
                <a:ea typeface="+mn-ea"/>
                <a:cs typeface="+mn-cs"/>
              </a:rPr>
              <a:t>中使用</a:t>
            </a:r>
            <a:r>
              <a:rPr lang="en-US" altLang="zh-CN" sz="1200" b="0" i="0" u="none" strike="noStrike" kern="1200" baseline="0" dirty="0" err="1" smtClean="0">
                <a:solidFill>
                  <a:schemeClr val="tx1"/>
                </a:solidFill>
                <a:latin typeface="+mn-lt"/>
                <a:ea typeface="+mn-ea"/>
                <a:cs typeface="+mn-cs"/>
              </a:rPr>
              <a:t>dropna</a:t>
            </a:r>
            <a:r>
              <a:rPr lang="zh-CN" altLang="en-US" sz="1200" b="0" i="0" u="none" strike="noStrike" kern="1200" baseline="0" dirty="0" smtClean="0">
                <a:solidFill>
                  <a:schemeClr val="tx1"/>
                </a:solidFill>
                <a:latin typeface="+mn-lt"/>
                <a:ea typeface="+mn-ea"/>
                <a:cs typeface="+mn-cs"/>
              </a:rPr>
              <a:t>函数来执行此类删除操作。但只要该行或列中有一个</a:t>
            </a:r>
            <a:r>
              <a:rPr lang="en-US" altLang="zh-CN" sz="1200" b="0" i="0" u="none" strike="noStrike" kern="1200" baseline="0" dirty="0" err="1" smtClean="0">
                <a:solidFill>
                  <a:schemeClr val="tx1"/>
                </a:solidFill>
                <a:latin typeface="+mn-lt"/>
                <a:ea typeface="+mn-ea"/>
                <a:cs typeface="+mn-cs"/>
              </a:rPr>
              <a:t>NaN</a:t>
            </a:r>
            <a:r>
              <a:rPr lang="zh-CN" altLang="en-US" sz="1200" b="0" i="0" u="none" strike="noStrike" kern="1200" baseline="0" dirty="0" smtClean="0">
                <a:solidFill>
                  <a:schemeClr val="tx1"/>
                </a:solidFill>
                <a:latin typeface="+mn-lt"/>
                <a:ea typeface="+mn-ea"/>
                <a:cs typeface="+mn-cs"/>
              </a:rPr>
              <a:t>元素（即缺失值），该行或列全部都会被删除，所以在实际应用中可以添加特定的条件，使用</a:t>
            </a:r>
            <a:r>
              <a:rPr lang="en-US" altLang="zh-CN" sz="1200" b="0" i="0" u="none" strike="noStrike" kern="1200" baseline="0" dirty="0" smtClean="0">
                <a:solidFill>
                  <a:schemeClr val="tx1"/>
                </a:solidFill>
                <a:latin typeface="+mn-lt"/>
                <a:ea typeface="+mn-ea"/>
                <a:cs typeface="+mn-cs"/>
              </a:rPr>
              <a:t>how</a:t>
            </a:r>
            <a:r>
              <a:rPr lang="zh-CN" altLang="en-US" sz="1200" b="0" i="0" u="none" strike="noStrike" kern="1200" baseline="0" dirty="0" smtClean="0">
                <a:solidFill>
                  <a:schemeClr val="tx1"/>
                </a:solidFill>
                <a:latin typeface="+mn-lt"/>
                <a:ea typeface="+mn-ea"/>
                <a:cs typeface="+mn-cs"/>
              </a:rPr>
              <a:t>选项指定删除所有元素都为</a:t>
            </a:r>
            <a:r>
              <a:rPr lang="en-US" altLang="zh-CN" sz="1200" b="0" i="0" u="none" strike="noStrike" kern="1200" baseline="0" dirty="0" err="1" smtClean="0">
                <a:solidFill>
                  <a:schemeClr val="tx1"/>
                </a:solidFill>
                <a:latin typeface="+mn-lt"/>
                <a:ea typeface="+mn-ea"/>
                <a:cs typeface="+mn-cs"/>
              </a:rPr>
              <a:t>NaN</a:t>
            </a:r>
            <a:r>
              <a:rPr lang="zh-CN" altLang="en-US" sz="1200" b="0" i="0" u="none" strike="noStrike" kern="1200" baseline="0" dirty="0" smtClean="0">
                <a:solidFill>
                  <a:schemeClr val="tx1"/>
                </a:solidFill>
                <a:latin typeface="+mn-lt"/>
                <a:ea typeface="+mn-ea"/>
                <a:cs typeface="+mn-cs"/>
              </a:rPr>
              <a:t>的行或列。</a:t>
            </a:r>
            <a:endParaRPr lang="en-US" altLang="zh-CN" sz="1200" b="0" i="0" u="none" strike="noStrike" kern="1200" baseline="0" dirty="0" smtClean="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baseline="0" dirty="0" smtClean="0">
                <a:solidFill>
                  <a:schemeClr val="tx1"/>
                </a:solidFill>
                <a:latin typeface="+mn-lt"/>
                <a:ea typeface="+mn-ea"/>
                <a:cs typeface="+mn-cs"/>
              </a:rPr>
              <a:t>2.</a:t>
            </a:r>
            <a:r>
              <a:rPr lang="zh-CN" altLang="en-US" sz="1200" b="0" i="0" u="none" strike="noStrike" kern="1200" baseline="0" dirty="0" smtClean="0">
                <a:solidFill>
                  <a:schemeClr val="tx1"/>
                </a:solidFill>
                <a:latin typeface="+mn-lt"/>
                <a:ea typeface="+mn-ea"/>
                <a:cs typeface="+mn-cs"/>
              </a:rPr>
              <a:t>缺失值插补。一般情况下，为了提高插补数据的可靠度，常采用插值法。插值法是指利用函数</a:t>
            </a:r>
            <a:r>
              <a:rPr lang="en-US" altLang="zh-CN" sz="1200" b="0" i="0" u="none" strike="noStrike" kern="1200" baseline="0" dirty="0" smtClean="0">
                <a:solidFill>
                  <a:schemeClr val="tx1"/>
                </a:solidFill>
                <a:latin typeface="+mn-lt"/>
                <a:ea typeface="+mn-ea"/>
                <a:cs typeface="+mn-cs"/>
              </a:rPr>
              <a:t>f ( x )</a:t>
            </a:r>
            <a:r>
              <a:rPr lang="zh-CN" altLang="en-US" sz="1200" b="0" i="0" u="none" strike="noStrike" kern="1200" baseline="0" dirty="0" smtClean="0">
                <a:solidFill>
                  <a:schemeClr val="tx1"/>
                </a:solidFill>
                <a:latin typeface="+mn-lt"/>
                <a:ea typeface="+mn-ea"/>
                <a:cs typeface="+mn-cs"/>
              </a:rPr>
              <a:t>在某区间中已知的若干点的函数值，拟合出适当的函数，在区间的其他点上用这特定函数的值作为函数</a:t>
            </a:r>
            <a:r>
              <a:rPr lang="en-US" altLang="zh-CN" sz="1200" b="0" i="0" u="none" strike="noStrike" kern="1200" baseline="0" dirty="0" smtClean="0">
                <a:solidFill>
                  <a:schemeClr val="tx1"/>
                </a:solidFill>
                <a:latin typeface="+mn-lt"/>
                <a:ea typeface="+mn-ea"/>
                <a:cs typeface="+mn-cs"/>
              </a:rPr>
              <a:t>f ( x )</a:t>
            </a:r>
            <a:r>
              <a:rPr lang="zh-CN" altLang="en-US" sz="1200" b="0" i="0" u="none" strike="noStrike" kern="1200" baseline="0" dirty="0" smtClean="0">
                <a:solidFill>
                  <a:schemeClr val="tx1"/>
                </a:solidFill>
                <a:latin typeface="+mn-lt"/>
                <a:ea typeface="+mn-ea"/>
                <a:cs typeface="+mn-cs"/>
              </a:rPr>
              <a:t>的近似值。根据函数选取不同，插值方法也包括线性插值法、拉格朗日插值法、牛顿插值法、</a:t>
            </a:r>
            <a:r>
              <a:rPr lang="en-US" altLang="zh-CN" sz="1200" b="0" i="0" u="none" strike="noStrike" kern="1200" baseline="0" dirty="0" err="1" smtClean="0">
                <a:solidFill>
                  <a:schemeClr val="tx1"/>
                </a:solidFill>
                <a:latin typeface="+mn-lt"/>
                <a:ea typeface="+mn-ea"/>
                <a:cs typeface="+mn-cs"/>
              </a:rPr>
              <a:t>Hermite</a:t>
            </a:r>
            <a:r>
              <a:rPr lang="zh-CN" altLang="en-US" sz="1200" b="0" i="0" u="none" strike="noStrike" kern="1200" baseline="0" dirty="0" smtClean="0">
                <a:solidFill>
                  <a:schemeClr val="tx1"/>
                </a:solidFill>
                <a:latin typeface="+mn-lt"/>
                <a:ea typeface="+mn-ea"/>
                <a:cs typeface="+mn-cs"/>
              </a:rPr>
              <a:t>插值法、分段插值法和样条插值法等</a:t>
            </a:r>
            <a:r>
              <a:rPr lang="en-US" altLang="zh-CN" sz="1200" b="0" i="0" u="none" strike="noStrike" kern="1200" baseline="0" dirty="0" smtClean="0">
                <a:solidFill>
                  <a:schemeClr val="tx1"/>
                </a:solidFill>
                <a:latin typeface="+mn-lt"/>
                <a:ea typeface="+mn-ea"/>
                <a:cs typeface="+mn-cs"/>
              </a:rPr>
              <a:t>[6]</a:t>
            </a:r>
            <a:r>
              <a:rPr lang="zh-CN" altLang="en-US" sz="1200" b="0" i="0" u="none" strike="noStrike" kern="1200" baseline="0" dirty="0" smtClean="0">
                <a:solidFill>
                  <a:schemeClr val="tx1"/>
                </a:solidFill>
                <a:latin typeface="+mn-lt"/>
                <a:ea typeface="+mn-ea"/>
                <a:cs typeface="+mn-cs"/>
              </a:rPr>
              <a:t>。</a:t>
            </a:r>
            <a:r>
              <a:rPr lang="zh-CN" altLang="en-US" b="0" dirty="0" smtClean="0"/>
              <a:t>［</a:t>
            </a:r>
            <a:r>
              <a:rPr lang="en-US" altLang="zh-CN" b="0" dirty="0" smtClean="0"/>
              <a:t>6</a:t>
            </a:r>
            <a:r>
              <a:rPr lang="zh-CN" altLang="en-US" b="0" dirty="0" smtClean="0"/>
              <a:t>］吴翌琳，房祥忠</a:t>
            </a:r>
            <a:r>
              <a:rPr lang="en-US" altLang="zh-CN" b="0" dirty="0" smtClean="0"/>
              <a:t>.</a:t>
            </a:r>
            <a:r>
              <a:rPr lang="zh-CN" altLang="en-US" b="0" dirty="0" smtClean="0"/>
              <a:t>大数据探索性分析［</a:t>
            </a:r>
            <a:r>
              <a:rPr lang="en-US" altLang="zh-CN" b="0" dirty="0" smtClean="0"/>
              <a:t>M</a:t>
            </a:r>
            <a:r>
              <a:rPr lang="zh-CN" altLang="en-US" b="0" dirty="0" smtClean="0"/>
              <a:t>］</a:t>
            </a:r>
            <a:r>
              <a:rPr lang="en-US" altLang="zh-CN" b="0" dirty="0" smtClean="0"/>
              <a:t>.</a:t>
            </a:r>
            <a:r>
              <a:rPr lang="zh-CN" altLang="en-US" b="0" dirty="0" smtClean="0"/>
              <a:t>北京：中国人民大学出版社，</a:t>
            </a:r>
            <a:r>
              <a:rPr lang="en-US" altLang="zh-CN" b="0" dirty="0" smtClean="0"/>
              <a:t>2016.</a:t>
            </a:r>
          </a:p>
          <a:p>
            <a:endParaRPr lang="en-US" altLang="zh-CN" sz="1200" b="0" i="0" u="none" strike="noStrike" kern="1200" baseline="0" dirty="0" smtClean="0">
              <a:solidFill>
                <a:schemeClr val="tx1"/>
              </a:solidFill>
              <a:latin typeface="+mn-lt"/>
              <a:ea typeface="+mn-ea"/>
              <a:cs typeface="+mn-cs"/>
            </a:endParaRPr>
          </a:p>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7</a:t>
            </a:fld>
            <a:endParaRPr lang="zh-CN" altLang="en-US"/>
          </a:p>
        </p:txBody>
      </p:sp>
    </p:spTree>
    <p:extLst>
      <p:ext uri="{BB962C8B-B14F-4D97-AF65-F5344CB8AC3E}">
        <p14:creationId xmlns:p14="http://schemas.microsoft.com/office/powerpoint/2010/main" val="893598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8</a:t>
            </a:fld>
            <a:endParaRPr lang="zh-CN" altLang="en-US"/>
          </a:p>
        </p:txBody>
      </p:sp>
    </p:spTree>
    <p:extLst>
      <p:ext uri="{BB962C8B-B14F-4D97-AF65-F5344CB8AC3E}">
        <p14:creationId xmlns:p14="http://schemas.microsoft.com/office/powerpoint/2010/main" val="154064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9</a:t>
            </a:fld>
            <a:endParaRPr lang="zh-CN" altLang="en-US"/>
          </a:p>
        </p:txBody>
      </p:sp>
    </p:spTree>
    <p:extLst>
      <p:ext uri="{BB962C8B-B14F-4D97-AF65-F5344CB8AC3E}">
        <p14:creationId xmlns:p14="http://schemas.microsoft.com/office/powerpoint/2010/main" val="83910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10</a:t>
            </a:fld>
            <a:endParaRPr lang="zh-CN" altLang="en-US"/>
          </a:p>
        </p:txBody>
      </p:sp>
    </p:spTree>
    <p:extLst>
      <p:ext uri="{BB962C8B-B14F-4D97-AF65-F5344CB8AC3E}">
        <p14:creationId xmlns:p14="http://schemas.microsoft.com/office/powerpoint/2010/main" val="2098361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11</a:t>
            </a:fld>
            <a:endParaRPr lang="zh-CN" altLang="en-US"/>
          </a:p>
        </p:txBody>
      </p:sp>
    </p:spTree>
    <p:extLst>
      <p:ext uri="{BB962C8B-B14F-4D97-AF65-F5344CB8AC3E}">
        <p14:creationId xmlns:p14="http://schemas.microsoft.com/office/powerpoint/2010/main" val="2994401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smtClean="0"/>
              <a:t>【5】</a:t>
            </a:r>
            <a:r>
              <a:rPr lang="zh-CN" altLang="en-US" b="0" dirty="0" smtClean="0"/>
              <a:t>韦斯</a:t>
            </a:r>
            <a:r>
              <a:rPr lang="en-US" altLang="zh-CN" b="0" dirty="0" smtClean="0"/>
              <a:t>·</a:t>
            </a:r>
            <a:r>
              <a:rPr lang="zh-CN" altLang="en-US" b="0" dirty="0" smtClean="0"/>
              <a:t>麦金尼</a:t>
            </a:r>
            <a:r>
              <a:rPr lang="en-US" altLang="zh-CN" b="0" dirty="0" smtClean="0"/>
              <a:t>.</a:t>
            </a:r>
            <a:r>
              <a:rPr lang="zh-CN" altLang="en-US" b="0" dirty="0" smtClean="0"/>
              <a:t>利用</a:t>
            </a:r>
            <a:r>
              <a:rPr lang="en-US" altLang="zh-CN" b="0" dirty="0" smtClean="0"/>
              <a:t>Python</a:t>
            </a:r>
            <a:r>
              <a:rPr lang="zh-CN" altLang="en-US" b="0" dirty="0" smtClean="0"/>
              <a:t>进行数据分析</a:t>
            </a:r>
            <a:r>
              <a:rPr lang="en-US" altLang="zh-CN" b="0" dirty="0" smtClean="0"/>
              <a:t>.3</a:t>
            </a:r>
            <a:r>
              <a:rPr lang="zh-CN" altLang="en-US" b="0" dirty="0" smtClean="0"/>
              <a:t>版</a:t>
            </a:r>
            <a:r>
              <a:rPr lang="en-US" altLang="zh-CN" b="0" dirty="0" smtClean="0"/>
              <a:t>.</a:t>
            </a:r>
            <a:r>
              <a:rPr lang="zh-CN" altLang="en-US" b="0" dirty="0" smtClean="0"/>
              <a:t>北京：机械工业出版社，</a:t>
            </a:r>
            <a:r>
              <a:rPr lang="en-US" altLang="zh-CN" b="0" dirty="0" smtClean="0"/>
              <a:t>2018.</a:t>
            </a:r>
          </a:p>
          <a:p>
            <a:r>
              <a:rPr lang="zh-CN" altLang="en-US" b="0" dirty="0" smtClean="0"/>
              <a:t>［</a:t>
            </a:r>
            <a:r>
              <a:rPr lang="en-US" altLang="zh-CN" b="0" dirty="0" smtClean="0"/>
              <a:t>7</a:t>
            </a:r>
            <a:r>
              <a:rPr lang="zh-CN" altLang="en-US" b="0" dirty="0" smtClean="0"/>
              <a:t>］</a:t>
            </a:r>
            <a:r>
              <a:rPr lang="en-US" altLang="zh-CN" b="0" dirty="0" smtClean="0"/>
              <a:t>Nell F. Python</a:t>
            </a:r>
            <a:r>
              <a:rPr lang="zh-CN" altLang="en-US" b="0" dirty="0" smtClean="0"/>
              <a:t>数据分析实战［</a:t>
            </a:r>
            <a:r>
              <a:rPr lang="en-US" altLang="zh-CN" b="0" dirty="0" smtClean="0"/>
              <a:t>M</a:t>
            </a:r>
            <a:r>
              <a:rPr lang="zh-CN" altLang="en-US" b="0" dirty="0" smtClean="0"/>
              <a:t>］</a:t>
            </a:r>
            <a:r>
              <a:rPr lang="en-US" altLang="zh-CN" b="0" dirty="0" smtClean="0"/>
              <a:t>.</a:t>
            </a:r>
            <a:r>
              <a:rPr lang="zh-CN" altLang="en-US" b="0" dirty="0" smtClean="0"/>
              <a:t>北京</a:t>
            </a:r>
            <a:r>
              <a:rPr lang="en-US" altLang="zh-CN" b="0" dirty="0" smtClean="0"/>
              <a:t>:</a:t>
            </a:r>
            <a:r>
              <a:rPr lang="zh-CN" altLang="en-US" b="0" dirty="0" smtClean="0"/>
              <a:t>人民邮电出版社，</a:t>
            </a:r>
            <a:r>
              <a:rPr lang="en-US" altLang="zh-CN" b="0" dirty="0" smtClean="0"/>
              <a:t>2016.</a:t>
            </a:r>
          </a:p>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12</a:t>
            </a:fld>
            <a:endParaRPr lang="zh-CN" altLang="en-US"/>
          </a:p>
        </p:txBody>
      </p:sp>
    </p:spTree>
    <p:extLst>
      <p:ext uri="{BB962C8B-B14F-4D97-AF65-F5344CB8AC3E}">
        <p14:creationId xmlns:p14="http://schemas.microsoft.com/office/powerpoint/2010/main" val="3247295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13</a:t>
            </a:fld>
            <a:endParaRPr lang="zh-CN" altLang="en-US"/>
          </a:p>
        </p:txBody>
      </p:sp>
    </p:spTree>
    <p:extLst>
      <p:ext uri="{BB962C8B-B14F-4D97-AF65-F5344CB8AC3E}">
        <p14:creationId xmlns:p14="http://schemas.microsoft.com/office/powerpoint/2010/main" val="1948730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14</a:t>
            </a:fld>
            <a:endParaRPr lang="zh-CN" altLang="en-US"/>
          </a:p>
        </p:txBody>
      </p:sp>
    </p:spTree>
    <p:extLst>
      <p:ext uri="{BB962C8B-B14F-4D97-AF65-F5344CB8AC3E}">
        <p14:creationId xmlns:p14="http://schemas.microsoft.com/office/powerpoint/2010/main" val="2166762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在此场景下，可以通过多项式插值的方法进行填充。通过以下代码处理，使用拉格朗日插值法，可以得到插值结果。</a:t>
            </a:r>
            <a:endParaRPr lang="en-US" altLang="zh-CN" sz="1600" dirty="0" smtClean="0">
              <a:sym typeface="Wingdings" panose="05000000000000000000" pitchFamily="2" charset="2"/>
            </a:endParaRPr>
          </a:p>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15</a:t>
            </a:fld>
            <a:endParaRPr lang="zh-CN" altLang="en-US"/>
          </a:p>
        </p:txBody>
      </p:sp>
    </p:spTree>
    <p:extLst>
      <p:ext uri="{BB962C8B-B14F-4D97-AF65-F5344CB8AC3E}">
        <p14:creationId xmlns:p14="http://schemas.microsoft.com/office/powerpoint/2010/main" val="3758661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在此场景下，可以通过多项式插值的方法进行填充。通过以下代码处理，使用拉格朗日插值法，可以得到插值结果如表所示。</a:t>
            </a:r>
            <a:endParaRPr lang="en-US" altLang="zh-CN" sz="1600" dirty="0" smtClean="0">
              <a:sym typeface="Wingdings" panose="05000000000000000000" pitchFamily="2" charset="2"/>
            </a:endParaRPr>
          </a:p>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16</a:t>
            </a:fld>
            <a:endParaRPr lang="zh-CN" altLang="en-US"/>
          </a:p>
        </p:txBody>
      </p:sp>
    </p:spTree>
    <p:extLst>
      <p:ext uri="{BB962C8B-B14F-4D97-AF65-F5344CB8AC3E}">
        <p14:creationId xmlns:p14="http://schemas.microsoft.com/office/powerpoint/2010/main" val="2590011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将含有异常值的记录直接删除这一方法简单易行，但缺点也很明显。在观测值很少的情况下，这种删除异常值的做法会造成样本量不足，而且可能会改变数据的原有分布，从而造成分析结果的不准确。因此可以将异常值视为缺失值来进行处理，这种处理方法的好处是可以利用现有变量的信息，对异常值（缺失值）进行填补。具体操作与上述缺失值的处理方法一致，在此就不再赘述。</a:t>
            </a:r>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17</a:t>
            </a:fld>
            <a:endParaRPr lang="zh-CN" altLang="en-US"/>
          </a:p>
        </p:txBody>
      </p:sp>
    </p:spTree>
    <p:extLst>
      <p:ext uri="{BB962C8B-B14F-4D97-AF65-F5344CB8AC3E}">
        <p14:creationId xmlns:p14="http://schemas.microsoft.com/office/powerpoint/2010/main" val="463142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smtClean="0"/>
              <a:t>为了消除不同类型数据间的量纲和取值范围差异的影响，需要对其进行标准化处理，将数据按照比例进行缩放，使之落入一个特定的区域，便于进行综合分析，如将工</a:t>
            </a:r>
          </a:p>
          <a:p>
            <a:r>
              <a:rPr lang="zh-CN" altLang="en-US" b="0" dirty="0" smtClean="0"/>
              <a:t>资属性值映射到</a:t>
            </a:r>
            <a:r>
              <a:rPr lang="en-US" altLang="zh-CN" b="0" dirty="0" smtClean="0"/>
              <a:t>[-1,1]</a:t>
            </a:r>
            <a:r>
              <a:rPr lang="zh-CN" altLang="en-US" b="0" dirty="0" smtClean="0"/>
              <a:t>或者</a:t>
            </a:r>
            <a:r>
              <a:rPr lang="en-US" altLang="zh-CN" b="0" dirty="0" smtClean="0"/>
              <a:t>[0,1]</a:t>
            </a:r>
            <a:r>
              <a:rPr lang="zh-CN" altLang="en-US" b="0" dirty="0" smtClean="0"/>
              <a:t>内。此外，数据标准化对于涉及神经网络的分类算法或基于距离度量的分类（如最邻近分类）和聚类算法都十分有用。例如训练神经网络模型时，对数据集中的数值标准化将有助于加快模型训练的速度；而对于基于距离的模型，标准化可以帮助防止具有较大初始值域的属性与有较小初始值域的属性相比权重过大。更多的具体应用场景会在后续章节案例中进行介绍。</a:t>
            </a: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18</a:t>
            </a:fld>
            <a:endParaRPr lang="zh-CN" altLang="en-US"/>
          </a:p>
        </p:txBody>
      </p:sp>
    </p:spTree>
    <p:extLst>
      <p:ext uri="{BB962C8B-B14F-4D97-AF65-F5344CB8AC3E}">
        <p14:creationId xmlns:p14="http://schemas.microsoft.com/office/powerpoint/2010/main" val="501051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19</a:t>
            </a:fld>
            <a:endParaRPr lang="zh-CN" altLang="en-US"/>
          </a:p>
        </p:txBody>
      </p:sp>
    </p:spTree>
    <p:extLst>
      <p:ext uri="{BB962C8B-B14F-4D97-AF65-F5344CB8AC3E}">
        <p14:creationId xmlns:p14="http://schemas.microsoft.com/office/powerpoint/2010/main" val="3701336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上一节介绍了常用的数据预处理技术。交通大数据具有其特殊性，它包含一类含有时空属性的结构化数据。对于这类时空数据，一般该如何处理和分析呢？本节将详细介绍时空数据的分析方法。</a:t>
            </a:r>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20</a:t>
            </a:fld>
            <a:endParaRPr lang="zh-CN" altLang="en-US"/>
          </a:p>
        </p:txBody>
      </p:sp>
    </p:spTree>
    <p:extLst>
      <p:ext uri="{BB962C8B-B14F-4D97-AF65-F5344CB8AC3E}">
        <p14:creationId xmlns:p14="http://schemas.microsoft.com/office/powerpoint/2010/main" val="2548358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见表，第一列和第二列分别是是加密处理后的司机</a:t>
            </a:r>
            <a:r>
              <a:rPr lang="en-US" altLang="zh-CN" sz="1200" b="0" i="0" u="none" strike="noStrike" kern="1200" baseline="0" dirty="0" smtClean="0">
                <a:solidFill>
                  <a:schemeClr val="tx1"/>
                </a:solidFill>
                <a:latin typeface="+mn-lt"/>
                <a:ea typeface="+mn-ea"/>
                <a:cs typeface="+mn-cs"/>
              </a:rPr>
              <a:t>id</a:t>
            </a:r>
            <a:r>
              <a:rPr lang="zh-CN" altLang="en-US" sz="1200" b="0" i="0" u="none" strike="noStrike" kern="1200" baseline="0" dirty="0" smtClean="0">
                <a:solidFill>
                  <a:schemeClr val="tx1"/>
                </a:solidFill>
                <a:latin typeface="+mn-lt"/>
                <a:ea typeface="+mn-ea"/>
                <a:cs typeface="+mn-cs"/>
              </a:rPr>
              <a:t>和订单</a:t>
            </a:r>
            <a:r>
              <a:rPr lang="en-US" altLang="zh-CN" sz="1200" b="0" i="0" u="none" strike="noStrike" kern="1200" baseline="0" dirty="0" smtClean="0">
                <a:solidFill>
                  <a:schemeClr val="tx1"/>
                </a:solidFill>
                <a:latin typeface="+mn-lt"/>
                <a:ea typeface="+mn-ea"/>
                <a:cs typeface="+mn-cs"/>
              </a:rPr>
              <a:t>id</a:t>
            </a:r>
            <a:r>
              <a:rPr lang="zh-CN" altLang="en-US" sz="1200" b="0" i="0" u="none" strike="noStrike" kern="1200" baseline="0" dirty="0" smtClean="0">
                <a:solidFill>
                  <a:schemeClr val="tx1"/>
                </a:solidFill>
                <a:latin typeface="+mn-lt"/>
                <a:ea typeface="+mn-ea"/>
                <a:cs typeface="+mn-cs"/>
              </a:rPr>
              <a:t>，第三列指的是时间戳（</a:t>
            </a:r>
            <a:r>
              <a:rPr lang="en-US" altLang="zh-CN" sz="1200" b="0" i="0" u="none" strike="noStrike" kern="1200" baseline="0" dirty="0" smtClean="0">
                <a:solidFill>
                  <a:schemeClr val="tx1"/>
                </a:solidFill>
                <a:latin typeface="+mn-lt"/>
                <a:ea typeface="+mn-ea"/>
                <a:cs typeface="+mn-cs"/>
              </a:rPr>
              <a:t>timestamp</a:t>
            </a:r>
            <a:r>
              <a:rPr lang="zh-CN" altLang="en-US" sz="1200" b="0" i="0" u="none" strike="noStrike" kern="1200" baseline="0" dirty="0" smtClean="0">
                <a:solidFill>
                  <a:schemeClr val="tx1"/>
                </a:solidFill>
                <a:latin typeface="+mn-lt"/>
                <a:ea typeface="+mn-ea"/>
                <a:cs typeface="+mn-cs"/>
              </a:rPr>
              <a:t>），最后两列分别是经纬度数据，来源于</a:t>
            </a:r>
            <a:r>
              <a:rPr lang="en-US" altLang="zh-CN" sz="1200" b="0" i="0" u="none" strike="noStrike" kern="1200" baseline="0" dirty="0" smtClean="0">
                <a:solidFill>
                  <a:schemeClr val="tx1"/>
                </a:solidFill>
                <a:latin typeface="+mn-lt"/>
                <a:ea typeface="+mn-ea"/>
                <a:cs typeface="+mn-cs"/>
              </a:rPr>
              <a:t>GCJ-02</a:t>
            </a:r>
            <a:r>
              <a:rPr lang="zh-CN" altLang="en-US" sz="1200" b="0" i="0" u="none" strike="noStrike" kern="1200" baseline="0" dirty="0" smtClean="0">
                <a:solidFill>
                  <a:schemeClr val="tx1"/>
                </a:solidFill>
                <a:latin typeface="+mn-lt"/>
                <a:ea typeface="+mn-ea"/>
                <a:cs typeface="+mn-cs"/>
              </a:rPr>
              <a:t>坐标系。该表中的每一条数据记录，代表该订单在“</a:t>
            </a:r>
            <a:r>
              <a:rPr lang="en-US" altLang="zh-CN" sz="1200" b="0" i="0" u="none" strike="noStrike" kern="1200" baseline="0" dirty="0" smtClean="0">
                <a:solidFill>
                  <a:schemeClr val="tx1"/>
                </a:solidFill>
                <a:latin typeface="+mn-lt"/>
                <a:ea typeface="+mn-ea"/>
                <a:cs typeface="+mn-cs"/>
              </a:rPr>
              <a:t>timestamp</a:t>
            </a:r>
            <a:r>
              <a:rPr lang="zh-CN" altLang="en-US" sz="1200" b="0" i="0" u="none" strike="noStrike" kern="1200" baseline="0" dirty="0" smtClean="0">
                <a:solidFill>
                  <a:schemeClr val="tx1"/>
                </a:solidFill>
                <a:latin typeface="+mn-lt"/>
                <a:ea typeface="+mn-ea"/>
                <a:cs typeface="+mn-cs"/>
              </a:rPr>
              <a:t>”对应的时间点所处的具体位置。本节就将以原始的网约车轨迹数据（即</a:t>
            </a:r>
            <a:r>
              <a:rPr lang="en-US" altLang="zh-CN" sz="1200" b="0" i="0" u="none" strike="noStrike" kern="1200" baseline="0" dirty="0" smtClean="0">
                <a:solidFill>
                  <a:schemeClr val="tx1"/>
                </a:solidFill>
                <a:latin typeface="+mn-lt"/>
                <a:ea typeface="+mn-ea"/>
                <a:cs typeface="+mn-cs"/>
              </a:rPr>
              <a:t>DATASET-A</a:t>
            </a:r>
            <a:r>
              <a:rPr lang="zh-CN" altLang="en-US" sz="1200" b="0" i="0" u="none" strike="noStrike" kern="1200" baseline="0" dirty="0" smtClean="0">
                <a:solidFill>
                  <a:schemeClr val="tx1"/>
                </a:solidFill>
                <a:latin typeface="+mn-lt"/>
                <a:ea typeface="+mn-ea"/>
                <a:cs typeface="+mn-cs"/>
              </a:rPr>
              <a:t>）为例介绍时空数据相关的基本分析方法。由于原始数据量过大，本章选用</a:t>
            </a:r>
            <a:r>
              <a:rPr lang="en-US" altLang="zh-CN" sz="1200" b="0" i="0" u="none" strike="noStrike" kern="1200" baseline="0" dirty="0" smtClean="0">
                <a:solidFill>
                  <a:schemeClr val="tx1"/>
                </a:solidFill>
                <a:latin typeface="+mn-lt"/>
                <a:ea typeface="+mn-ea"/>
                <a:cs typeface="+mn-cs"/>
              </a:rPr>
              <a:t>2016</a:t>
            </a:r>
            <a:r>
              <a:rPr lang="zh-CN" altLang="en-US" sz="1200" b="0" i="0" u="none" strike="noStrike" kern="1200" baseline="0" dirty="0" smtClean="0">
                <a:solidFill>
                  <a:schemeClr val="tx1"/>
                </a:solidFill>
                <a:latin typeface="+mn-lt"/>
                <a:ea typeface="+mn-ea"/>
                <a:cs typeface="+mn-cs"/>
              </a:rPr>
              <a:t>年</a:t>
            </a:r>
            <a:r>
              <a:rPr lang="en-US" altLang="zh-CN" sz="1200" b="0" i="0" u="none" strike="noStrike" kern="1200" baseline="0" dirty="0" smtClean="0">
                <a:solidFill>
                  <a:schemeClr val="tx1"/>
                </a:solidFill>
                <a:latin typeface="+mn-lt"/>
                <a:ea typeface="+mn-ea"/>
                <a:cs typeface="+mn-cs"/>
              </a:rPr>
              <a:t>11</a:t>
            </a:r>
            <a:r>
              <a:rPr lang="zh-CN" altLang="en-US" sz="1200" b="0" i="0" u="none" strike="noStrike" kern="1200" baseline="0" dirty="0" smtClean="0">
                <a:solidFill>
                  <a:schemeClr val="tx1"/>
                </a:solidFill>
                <a:latin typeface="+mn-lt"/>
                <a:ea typeface="+mn-ea"/>
                <a:cs typeface="+mn-cs"/>
              </a:rPr>
              <a:t>月</a:t>
            </a:r>
            <a:r>
              <a:rPr lang="en-US" altLang="zh-CN" sz="1200" b="0" i="0" u="none" strike="noStrike" kern="1200" baseline="0" dirty="0" smtClean="0">
                <a:solidFill>
                  <a:schemeClr val="tx1"/>
                </a:solidFill>
                <a:latin typeface="+mn-lt"/>
                <a:ea typeface="+mn-ea"/>
                <a:cs typeface="+mn-cs"/>
              </a:rPr>
              <a:t>1</a:t>
            </a:r>
            <a:r>
              <a:rPr lang="zh-CN" altLang="en-US" sz="1200" b="0" i="0" u="none" strike="noStrike" kern="1200" baseline="0" dirty="0" smtClean="0">
                <a:solidFill>
                  <a:schemeClr val="tx1"/>
                </a:solidFill>
                <a:latin typeface="+mn-lt"/>
                <a:ea typeface="+mn-ea"/>
                <a:cs typeface="+mn-cs"/>
              </a:rPr>
              <a:t>日</a:t>
            </a:r>
            <a:r>
              <a:rPr lang="en-US" altLang="zh-CN" sz="1200" b="0" i="0" u="none" strike="noStrike" kern="1200" baseline="0" dirty="0" smtClean="0">
                <a:solidFill>
                  <a:schemeClr val="tx1"/>
                </a:solidFill>
                <a:latin typeface="+mn-lt"/>
                <a:ea typeface="+mn-ea"/>
                <a:cs typeface="+mn-cs"/>
              </a:rPr>
              <a:t>08:00:00</a:t>
            </a:r>
            <a:r>
              <a:rPr lang="zh-CN" altLang="en-US" sz="1200" b="0" i="0" u="none" strike="noStrike" kern="1200" baseline="0" dirty="0" smtClean="0">
                <a:solidFill>
                  <a:schemeClr val="tx1"/>
                </a:solidFill>
                <a:latin typeface="+mn-lt"/>
                <a:ea typeface="+mn-ea"/>
                <a:cs typeface="+mn-cs"/>
              </a:rPr>
              <a:t>至</a:t>
            </a:r>
            <a:r>
              <a:rPr lang="en-US" altLang="zh-CN" sz="1200" b="0" i="0" u="none" strike="noStrike" kern="1200" baseline="0" dirty="0" smtClean="0">
                <a:solidFill>
                  <a:schemeClr val="tx1"/>
                </a:solidFill>
                <a:latin typeface="+mn-lt"/>
                <a:ea typeface="+mn-ea"/>
                <a:cs typeface="+mn-cs"/>
              </a:rPr>
              <a:t>09:00:00</a:t>
            </a:r>
            <a:r>
              <a:rPr lang="zh-CN" altLang="en-US" sz="1200" b="0" i="0" u="none" strike="noStrike" kern="1200" baseline="0" dirty="0" smtClean="0">
                <a:solidFill>
                  <a:schemeClr val="tx1"/>
                </a:solidFill>
                <a:latin typeface="+mn-lt"/>
                <a:ea typeface="+mn-ea"/>
                <a:cs typeface="+mn-cs"/>
              </a:rPr>
              <a:t>的数据进行示。</a:t>
            </a:r>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21</a:t>
            </a:fld>
            <a:endParaRPr lang="zh-CN" altLang="en-US"/>
          </a:p>
        </p:txBody>
      </p:sp>
    </p:spTree>
    <p:extLst>
      <p:ext uri="{BB962C8B-B14F-4D97-AF65-F5344CB8AC3E}">
        <p14:creationId xmlns:p14="http://schemas.microsoft.com/office/powerpoint/2010/main" val="3275713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空间位置信息的格式和数值与其所对应的空间坐标系相关，而不同空间数据的坐标系往往不同。常见的坐标系有</a:t>
            </a:r>
            <a:r>
              <a:rPr lang="en-US" altLang="zh-CN" sz="1200" b="0" i="0" u="none" strike="noStrike" kern="1200" baseline="0" dirty="0" smtClean="0">
                <a:solidFill>
                  <a:schemeClr val="tx1"/>
                </a:solidFill>
                <a:latin typeface="+mn-lt"/>
                <a:ea typeface="+mn-ea"/>
                <a:cs typeface="+mn-cs"/>
              </a:rPr>
              <a:t>WGS84</a:t>
            </a:r>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smtClean="0">
                <a:solidFill>
                  <a:schemeClr val="tx1"/>
                </a:solidFill>
                <a:latin typeface="+mn-lt"/>
                <a:ea typeface="+mn-ea"/>
                <a:cs typeface="+mn-cs"/>
              </a:rPr>
              <a:t>GCJ-02</a:t>
            </a:r>
            <a:r>
              <a:rPr lang="zh-CN" altLang="en-US" sz="1200" b="0" i="0" u="none" strike="noStrike" kern="1200" baseline="0" dirty="0" smtClean="0">
                <a:solidFill>
                  <a:schemeClr val="tx1"/>
                </a:solidFill>
                <a:latin typeface="+mn-lt"/>
                <a:ea typeface="+mn-ea"/>
                <a:cs typeface="+mn-cs"/>
              </a:rPr>
              <a:t>（火星坐标系）、</a:t>
            </a:r>
            <a:r>
              <a:rPr lang="en-US" altLang="zh-CN" sz="1200" b="0" i="0" u="none" strike="noStrike" kern="1200" baseline="0" dirty="0" smtClean="0">
                <a:solidFill>
                  <a:schemeClr val="tx1"/>
                </a:solidFill>
                <a:latin typeface="+mn-lt"/>
                <a:ea typeface="+mn-ea"/>
                <a:cs typeface="+mn-cs"/>
              </a:rPr>
              <a:t>BD09</a:t>
            </a:r>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smtClean="0">
                <a:solidFill>
                  <a:schemeClr val="tx1"/>
                </a:solidFill>
                <a:latin typeface="+mn-lt"/>
                <a:ea typeface="+mn-ea"/>
                <a:cs typeface="+mn-cs"/>
              </a:rPr>
              <a:t>UTM</a:t>
            </a:r>
            <a:r>
              <a:rPr lang="zh-CN" altLang="en-US" sz="1200" b="0" i="0" u="none" strike="noStrike" kern="1200" baseline="0" dirty="0" smtClean="0">
                <a:solidFill>
                  <a:schemeClr val="tx1"/>
                </a:solidFill>
                <a:latin typeface="+mn-lt"/>
                <a:ea typeface="+mn-ea"/>
                <a:cs typeface="+mn-cs"/>
              </a:rPr>
              <a:t>坐标系。其中，</a:t>
            </a:r>
            <a:r>
              <a:rPr lang="en-US" altLang="zh-CN" sz="1200" b="0" i="0" u="none" strike="noStrike" kern="1200" baseline="0" dirty="0" smtClean="0">
                <a:solidFill>
                  <a:schemeClr val="tx1"/>
                </a:solidFill>
                <a:latin typeface="+mn-lt"/>
                <a:ea typeface="+mn-ea"/>
                <a:cs typeface="+mn-cs"/>
              </a:rPr>
              <a:t>WGS84</a:t>
            </a:r>
            <a:r>
              <a:rPr lang="zh-CN" altLang="en-US" sz="1200" b="0" i="0" u="none" strike="noStrike" kern="1200" baseline="0" dirty="0" smtClean="0">
                <a:solidFill>
                  <a:schemeClr val="tx1"/>
                </a:solidFill>
                <a:latin typeface="+mn-lt"/>
                <a:ea typeface="+mn-ea"/>
                <a:cs typeface="+mn-cs"/>
              </a:rPr>
              <a:t>是国际上采用的以经纬度为存储单位的球面地理坐标系统，而</a:t>
            </a:r>
            <a:r>
              <a:rPr lang="en-US" altLang="zh-CN" sz="1200" b="0" i="0" u="none" strike="noStrike" kern="1200" baseline="0" dirty="0" smtClean="0">
                <a:solidFill>
                  <a:schemeClr val="tx1"/>
                </a:solidFill>
                <a:latin typeface="+mn-lt"/>
                <a:ea typeface="+mn-ea"/>
                <a:cs typeface="+mn-cs"/>
              </a:rPr>
              <a:t>GCJ-02</a:t>
            </a:r>
            <a:r>
              <a:rPr lang="zh-CN" altLang="en-US" sz="1200" b="0" i="0" u="none" strike="noStrike" kern="1200" baseline="0" dirty="0" smtClean="0">
                <a:solidFill>
                  <a:schemeClr val="tx1"/>
                </a:solidFill>
                <a:latin typeface="+mn-lt"/>
                <a:ea typeface="+mn-ea"/>
                <a:cs typeface="+mn-cs"/>
              </a:rPr>
              <a:t>和</a:t>
            </a:r>
            <a:r>
              <a:rPr lang="en-US" altLang="zh-CN" sz="1200" b="0" i="0" u="none" strike="noStrike" kern="1200" baseline="0" dirty="0" smtClean="0">
                <a:solidFill>
                  <a:schemeClr val="tx1"/>
                </a:solidFill>
                <a:latin typeface="+mn-lt"/>
                <a:ea typeface="+mn-ea"/>
                <a:cs typeface="+mn-cs"/>
              </a:rPr>
              <a:t>BD09</a:t>
            </a:r>
            <a:r>
              <a:rPr lang="zh-CN" altLang="en-US" sz="1200" b="0" i="0" u="none" strike="noStrike" kern="1200" baseline="0" dirty="0" smtClean="0">
                <a:solidFill>
                  <a:schemeClr val="tx1"/>
                </a:solidFill>
                <a:latin typeface="+mn-lt"/>
                <a:ea typeface="+mn-ea"/>
                <a:cs typeface="+mn-cs"/>
              </a:rPr>
              <a:t>是在前者基础上对经纬度进行单次和多次非线性偏移形成的投影坐标系统。</a:t>
            </a:r>
            <a:r>
              <a:rPr lang="en-US" altLang="zh-CN" sz="1200" b="0" i="0" u="none" strike="noStrike" kern="1200" baseline="0" dirty="0" smtClean="0">
                <a:solidFill>
                  <a:schemeClr val="tx1"/>
                </a:solidFill>
                <a:latin typeface="+mn-lt"/>
                <a:ea typeface="+mn-ea"/>
                <a:cs typeface="+mn-cs"/>
              </a:rPr>
              <a:t>UTM</a:t>
            </a:r>
            <a:r>
              <a:rPr lang="zh-CN" altLang="en-US" sz="1200" b="0" i="0" u="none" strike="noStrike" kern="1200" baseline="0" dirty="0" smtClean="0">
                <a:solidFill>
                  <a:schemeClr val="tx1"/>
                </a:solidFill>
                <a:latin typeface="+mn-lt"/>
                <a:ea typeface="+mn-ea"/>
                <a:cs typeface="+mn-cs"/>
              </a:rPr>
              <a:t>不同于前三个，是平面直角坐标系统，可以从任意一个地理坐标系转化而来，但大多数情况都采用</a:t>
            </a:r>
            <a:r>
              <a:rPr lang="en-US" altLang="zh-CN" sz="1200" b="0" i="0" u="none" strike="noStrike" kern="1200" baseline="0" dirty="0" smtClean="0">
                <a:solidFill>
                  <a:schemeClr val="tx1"/>
                </a:solidFill>
                <a:latin typeface="+mn-lt"/>
                <a:ea typeface="+mn-ea"/>
                <a:cs typeface="+mn-cs"/>
              </a:rPr>
              <a:t>WGS84</a:t>
            </a:r>
            <a:r>
              <a:rPr lang="zh-CN" altLang="en-US" sz="1200" b="0" i="0" u="none" strike="noStrike" kern="1200" baseline="0" dirty="0" smtClean="0">
                <a:solidFill>
                  <a:schemeClr val="tx1"/>
                </a:solidFill>
                <a:latin typeface="+mn-lt"/>
                <a:ea typeface="+mn-ea"/>
                <a:cs typeface="+mn-cs"/>
              </a:rPr>
              <a:t>椭球投影。因此，在融合不同空间数据时，需要通过调用坐标系转换算法或者直接运用</a:t>
            </a:r>
            <a:r>
              <a:rPr lang="en-US" altLang="zh-CN" sz="1200" b="0" i="0" u="none" strike="noStrike" kern="1200" baseline="0" dirty="0" smtClean="0">
                <a:solidFill>
                  <a:schemeClr val="tx1"/>
                </a:solidFill>
                <a:latin typeface="+mn-lt"/>
                <a:ea typeface="+mn-ea"/>
                <a:cs typeface="+mn-cs"/>
              </a:rPr>
              <a:t>Web API</a:t>
            </a:r>
            <a:r>
              <a:rPr lang="zh-CN" altLang="en-US" sz="1200" b="0" i="0" u="none" strike="noStrike" kern="1200" baseline="0" dirty="0" smtClean="0">
                <a:solidFill>
                  <a:schemeClr val="tx1"/>
                </a:solidFill>
                <a:latin typeface="+mn-lt"/>
                <a:ea typeface="+mn-ea"/>
                <a:cs typeface="+mn-cs"/>
              </a:rPr>
              <a:t>来统一坐标系，具体可参考本章文献［</a:t>
            </a:r>
            <a:r>
              <a:rPr lang="en-US" altLang="zh-CN" sz="1200" b="0" i="0" u="none" strike="noStrike" kern="1200" baseline="0" dirty="0" smtClean="0">
                <a:solidFill>
                  <a:schemeClr val="tx1"/>
                </a:solidFill>
                <a:latin typeface="+mn-lt"/>
                <a:ea typeface="+mn-ea"/>
                <a:cs typeface="+mn-cs"/>
              </a:rPr>
              <a:t>6</a:t>
            </a:r>
            <a:r>
              <a:rPr lang="zh-CN" altLang="en-US" sz="1200" b="0" i="0" u="none" strike="noStrike" kern="1200" baseline="0" dirty="0" smtClean="0">
                <a:solidFill>
                  <a:schemeClr val="tx1"/>
                </a:solidFill>
                <a:latin typeface="+mn-lt"/>
                <a:ea typeface="+mn-ea"/>
                <a:cs typeface="+mn-cs"/>
              </a:rPr>
              <a:t>］。例如可以通过下述代码将经纬度（</a:t>
            </a:r>
            <a:r>
              <a:rPr lang="en-US" altLang="zh-CN" sz="1200" b="0" i="0" u="none" strike="noStrike" kern="1200" baseline="0" dirty="0" smtClean="0">
                <a:solidFill>
                  <a:schemeClr val="tx1"/>
                </a:solidFill>
                <a:latin typeface="+mn-lt"/>
                <a:ea typeface="+mn-ea"/>
                <a:cs typeface="+mn-cs"/>
              </a:rPr>
              <a:t>GCJ-02</a:t>
            </a:r>
            <a:r>
              <a:rPr lang="zh-CN" altLang="en-US" sz="1200" b="0" i="0" u="none" strike="noStrike" kern="1200" baseline="0" dirty="0" smtClean="0">
                <a:solidFill>
                  <a:schemeClr val="tx1"/>
                </a:solidFill>
                <a:latin typeface="+mn-lt"/>
                <a:ea typeface="+mn-ea"/>
                <a:cs typeface="+mn-cs"/>
              </a:rPr>
              <a:t>）转化为</a:t>
            </a:r>
            <a:r>
              <a:rPr lang="en-US" altLang="zh-CN" sz="1200" b="0" i="0" u="none" strike="noStrike" kern="1200" baseline="0" dirty="0" smtClean="0">
                <a:solidFill>
                  <a:schemeClr val="tx1"/>
                </a:solidFill>
                <a:latin typeface="+mn-lt"/>
                <a:ea typeface="+mn-ea"/>
                <a:cs typeface="+mn-cs"/>
              </a:rPr>
              <a:t>UTM</a:t>
            </a:r>
            <a:r>
              <a:rPr lang="zh-CN" altLang="en-US" sz="1200" b="0" i="0" u="none" strike="noStrike" kern="1200" baseline="0" dirty="0" smtClean="0">
                <a:solidFill>
                  <a:schemeClr val="tx1"/>
                </a:solidFill>
                <a:latin typeface="+mn-lt"/>
                <a:ea typeface="+mn-ea"/>
                <a:cs typeface="+mn-cs"/>
              </a:rPr>
              <a:t>坐标系下的横纵坐标。</a:t>
            </a:r>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22</a:t>
            </a:fld>
            <a:endParaRPr lang="zh-CN" altLang="en-US"/>
          </a:p>
        </p:txBody>
      </p:sp>
    </p:spTree>
    <p:extLst>
      <p:ext uri="{BB962C8B-B14F-4D97-AF65-F5344CB8AC3E}">
        <p14:creationId xmlns:p14="http://schemas.microsoft.com/office/powerpoint/2010/main" val="385693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23</a:t>
            </a:fld>
            <a:endParaRPr lang="zh-CN" altLang="en-US"/>
          </a:p>
        </p:txBody>
      </p:sp>
    </p:spTree>
    <p:extLst>
      <p:ext uri="{BB962C8B-B14F-4D97-AF65-F5344CB8AC3E}">
        <p14:creationId xmlns:p14="http://schemas.microsoft.com/office/powerpoint/2010/main" val="2482158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24</a:t>
            </a:fld>
            <a:endParaRPr lang="zh-CN" altLang="en-US"/>
          </a:p>
        </p:txBody>
      </p:sp>
    </p:spTree>
    <p:extLst>
      <p:ext uri="{BB962C8B-B14F-4D97-AF65-F5344CB8AC3E}">
        <p14:creationId xmlns:p14="http://schemas.microsoft.com/office/powerpoint/2010/main" val="35592051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对于网约车轨迹数据而言，在对定位点进行归类的同时也将矢量的轨迹栅格化为网格的序列，实现了将轨迹数据打散成点坐标转化为张量的过程。每个网格单元就是“图”中的一个像素点，像素点的颗粒度越低，清晰度越高，当网格颗粒度精细到一定程度时，能够真实、精细地反映区域内的特征。但粒度太细会带来数据稀疏和计算复杂度增大等问题。</a:t>
            </a:r>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25</a:t>
            </a:fld>
            <a:endParaRPr lang="zh-CN" altLang="en-US"/>
          </a:p>
        </p:txBody>
      </p:sp>
    </p:spTree>
    <p:extLst>
      <p:ext uri="{BB962C8B-B14F-4D97-AF65-F5344CB8AC3E}">
        <p14:creationId xmlns:p14="http://schemas.microsoft.com/office/powerpoint/2010/main" val="37626880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26</a:t>
            </a:fld>
            <a:endParaRPr lang="zh-CN" altLang="en-US"/>
          </a:p>
        </p:txBody>
      </p:sp>
    </p:spTree>
    <p:extLst>
      <p:ext uri="{BB962C8B-B14F-4D97-AF65-F5344CB8AC3E}">
        <p14:creationId xmlns:p14="http://schemas.microsoft.com/office/powerpoint/2010/main" val="7058527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Times New Roman" panose="02020603050405020304" pitchFamily="18" charset="0"/>
                <a:cs typeface="Times New Roman" panose="02020603050405020304" pitchFamily="18" charset="0"/>
              </a:rPr>
              <a:t>时空数据挖掘的目的是提取更深层次的时空特征。依旧以网约车轨迹数据为例，原始轨迹数据中只包含时空位置信息，不包含每个时刻的运动状态的信息。要获取运动状态信息，首先需要计算每个轨迹点处的瞬时速度。由于网约车轨迹数据采集时间间隔短，因此可采用相邻点之间的行程车速代替每个点处的瞬时速度，基于此瞬时速度计算加速度。</a:t>
            </a:r>
            <a:endParaRPr lang="en-US" altLang="zh-CN" dirty="0" smtClean="0">
              <a:latin typeface="Times New Roman" panose="02020603050405020304" pitchFamily="18" charset="0"/>
              <a:cs typeface="Times New Roman" panose="02020603050405020304" pitchFamily="18" charset="0"/>
            </a:endParaRPr>
          </a:p>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27</a:t>
            </a:fld>
            <a:endParaRPr lang="zh-CN" altLang="en-US"/>
          </a:p>
        </p:txBody>
      </p:sp>
    </p:spTree>
    <p:extLst>
      <p:ext uri="{BB962C8B-B14F-4D97-AF65-F5344CB8AC3E}">
        <p14:creationId xmlns:p14="http://schemas.microsoft.com/office/powerpoint/2010/main" val="3607809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28</a:t>
            </a:fld>
            <a:endParaRPr lang="zh-CN" altLang="en-US"/>
          </a:p>
        </p:txBody>
      </p:sp>
    </p:spTree>
    <p:extLst>
      <p:ext uri="{BB962C8B-B14F-4D97-AF65-F5344CB8AC3E}">
        <p14:creationId xmlns:p14="http://schemas.microsoft.com/office/powerpoint/2010/main" val="3852286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在交通大数据分析中，常用的时空数据分析特征包括区域平均速度、流量、最小行程速度、自由流速度等，这里将详细介绍这几类特征的计算。前文基于连续的轨迹点以及时间戳，已经获得了各车辆的行驶速度、加速度等车辆基本行驶状态参数。下一步，根据前文时空单元划分的结果，按照不同的计算方法对速度、加速度指标进行集计，从而得到表征网格交通流状态的相关参数，这些参数也是本章后续建模和分析的重要依据。</a:t>
            </a:r>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29</a:t>
            </a:fld>
            <a:endParaRPr lang="zh-CN" altLang="en-US"/>
          </a:p>
        </p:txBody>
      </p:sp>
    </p:spTree>
    <p:extLst>
      <p:ext uri="{BB962C8B-B14F-4D97-AF65-F5344CB8AC3E}">
        <p14:creationId xmlns:p14="http://schemas.microsoft.com/office/powerpoint/2010/main" val="3637428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a:t>
            </a:r>
            <a:r>
              <a:rPr lang="en-US" altLang="zh-CN" dirty="0" smtClean="0"/>
              <a:t>3</a:t>
            </a:r>
            <a:r>
              <a:rPr lang="zh-CN" altLang="en-US" dirty="0" smtClean="0"/>
              <a:t>）根据每个网格中的轨迹点数量确定，同一辆浮动车的轨迹点仅计数一次。由于浮动车数据只占道路全部车辆的一小部分，所以通过浮动车数据获取得到的网格流量无法直接表征实际流量，但不同路段之间的流量相对值却能在一定程度上反映真实情况。</a:t>
            </a:r>
            <a:endParaRPr lang="zh-CN" altLang="en-US" dirty="0" smtClean="0">
              <a:latin typeface="Times New Roman" panose="02020603050405020304" pitchFamily="18" charset="0"/>
              <a:cs typeface="Times New Roman" panose="02020603050405020304" pitchFamily="18" charset="0"/>
            </a:endParaRPr>
          </a:p>
          <a:p>
            <a:endParaRPr lang="zh-CN" altLang="en-US" b="0"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30</a:t>
            </a:fld>
            <a:endParaRPr lang="zh-CN" altLang="en-US"/>
          </a:p>
        </p:txBody>
      </p:sp>
    </p:spTree>
    <p:extLst>
      <p:ext uri="{BB962C8B-B14F-4D97-AF65-F5344CB8AC3E}">
        <p14:creationId xmlns:p14="http://schemas.microsoft.com/office/powerpoint/2010/main" val="21430205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a:t>
            </a:r>
            <a:r>
              <a:rPr lang="en-US" altLang="zh-CN" dirty="0" smtClean="0"/>
              <a:t>5</a:t>
            </a:r>
            <a:r>
              <a:rPr lang="zh-CN" altLang="en-US" dirty="0" smtClean="0"/>
              <a:t>）</a:t>
            </a:r>
            <a:r>
              <a:rPr lang="zh-CN" altLang="en-US" dirty="0" smtClean="0">
                <a:latin typeface="Times New Roman" panose="02020603050405020304" pitchFamily="18" charset="0"/>
                <a:cs typeface="Times New Roman" panose="02020603050405020304" pitchFamily="18" charset="0"/>
              </a:rPr>
              <a:t>拥堵路段的车辆往往会间歇性地停驶，因此可以利用原始数据中的瞬时速度计算网格中车辆的平均停驶次数，以此作为表征交通流的一个特征。假设某时空单元中共出现了</a:t>
            </a:r>
            <a:r>
              <a:rPr lang="en-US" altLang="zh-CN" dirty="0" smtClean="0">
                <a:latin typeface="Times New Roman" panose="02020603050405020304" pitchFamily="18" charset="0"/>
                <a:cs typeface="Times New Roman" panose="02020603050405020304" pitchFamily="18" charset="0"/>
              </a:rPr>
              <a:t>m </a:t>
            </a:r>
            <a:r>
              <a:rPr lang="zh-CN" altLang="en-US" dirty="0" smtClean="0">
                <a:latin typeface="Times New Roman" panose="02020603050405020304" pitchFamily="18" charset="0"/>
                <a:cs typeface="Times New Roman" panose="02020603050405020304" pitchFamily="18" charset="0"/>
              </a:rPr>
              <a:t>辆车，每辆车均测量到几个速度值，其中车辆</a:t>
            </a:r>
            <a:r>
              <a:rPr lang="en-US" altLang="zh-CN" dirty="0" err="1" smtClean="0">
                <a:latin typeface="Times New Roman" panose="02020603050405020304" pitchFamily="18" charset="0"/>
                <a:cs typeface="Times New Roman" panose="02020603050405020304" pitchFamily="18" charset="0"/>
              </a:rPr>
              <a:t>i</a:t>
            </a:r>
            <a:r>
              <a:rPr lang="en-US" altLang="zh-CN"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的速度序列为</a:t>
            </a:r>
            <a:r>
              <a:rPr lang="en-US" altLang="zh-CN" dirty="0" smtClean="0">
                <a:latin typeface="Times New Roman" panose="02020603050405020304" pitchFamily="18" charset="0"/>
                <a:cs typeface="Times New Roman" panose="02020603050405020304" pitchFamily="18" charset="0"/>
              </a:rPr>
              <a:t>[ v1i, v2i, ⋯, </a:t>
            </a:r>
            <a:r>
              <a:rPr lang="en-US" altLang="zh-CN" dirty="0" err="1" smtClean="0">
                <a:latin typeface="Times New Roman" panose="02020603050405020304" pitchFamily="18" charset="0"/>
                <a:cs typeface="Times New Roman" panose="02020603050405020304" pitchFamily="18" charset="0"/>
              </a:rPr>
              <a:t>vni</a:t>
            </a:r>
            <a:r>
              <a:rPr lang="en-US" altLang="zh-CN" dirty="0" smtClean="0">
                <a:latin typeface="Times New Roman" panose="02020603050405020304" pitchFamily="18" charset="0"/>
                <a:cs typeface="Times New Roman" panose="02020603050405020304" pitchFamily="18" charset="0"/>
              </a:rPr>
              <a:t> ] </a:t>
            </a:r>
            <a:r>
              <a:rPr lang="en-US" altLang="zh-CN" dirty="0" err="1" smtClean="0">
                <a:latin typeface="Times New Roman" panose="02020603050405020304" pitchFamily="18" charset="0"/>
                <a:cs typeface="Times New Roman" panose="02020603050405020304" pitchFamily="18" charset="0"/>
              </a:rPr>
              <a:t>i</a:t>
            </a:r>
            <a:r>
              <a:rPr lang="en-US" altLang="zh-CN" dirty="0" smtClean="0">
                <a:latin typeface="Times New Roman" panose="02020603050405020304" pitchFamily="18" charset="0"/>
                <a:cs typeface="Times New Roman" panose="02020603050405020304" pitchFamily="18" charset="0"/>
              </a:rPr>
              <a:t>, j</a:t>
            </a:r>
            <a:r>
              <a:rPr lang="zh-CN" altLang="en-US" dirty="0" smtClean="0">
                <a:latin typeface="Times New Roman" panose="02020603050405020304" pitchFamily="18" charset="0"/>
                <a:cs typeface="Times New Roman" panose="02020603050405020304" pitchFamily="18" charset="0"/>
              </a:rPr>
              <a:t>，足以该网格平均停车次数为</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31</a:t>
            </a:fld>
            <a:endParaRPr lang="zh-CN" altLang="en-US"/>
          </a:p>
        </p:txBody>
      </p:sp>
    </p:spTree>
    <p:extLst>
      <p:ext uri="{BB962C8B-B14F-4D97-AF65-F5344CB8AC3E}">
        <p14:creationId xmlns:p14="http://schemas.microsoft.com/office/powerpoint/2010/main" val="1343799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32</a:t>
            </a:fld>
            <a:endParaRPr lang="zh-CN" altLang="en-US"/>
          </a:p>
        </p:txBody>
      </p:sp>
    </p:spTree>
    <p:extLst>
      <p:ext uri="{BB962C8B-B14F-4D97-AF65-F5344CB8AC3E}">
        <p14:creationId xmlns:p14="http://schemas.microsoft.com/office/powerpoint/2010/main" val="8382563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采用上述时空数据处理方法，将成都市</a:t>
            </a:r>
            <a:r>
              <a:rPr lang="en-US" altLang="zh-CN" sz="1200" b="0" i="0" u="none" strike="noStrike" kern="1200" baseline="0" dirty="0" smtClean="0">
                <a:solidFill>
                  <a:schemeClr val="tx1"/>
                </a:solidFill>
                <a:latin typeface="+mn-lt"/>
                <a:ea typeface="+mn-ea"/>
                <a:cs typeface="+mn-cs"/>
              </a:rPr>
              <a:t>2016</a:t>
            </a:r>
            <a:r>
              <a:rPr lang="zh-CN" altLang="en-US" sz="1200" b="0" i="0" u="none" strike="noStrike" kern="1200" baseline="0" dirty="0" smtClean="0">
                <a:solidFill>
                  <a:schemeClr val="tx1"/>
                </a:solidFill>
                <a:latin typeface="+mn-lt"/>
                <a:ea typeface="+mn-ea"/>
                <a:cs typeface="+mn-cs"/>
              </a:rPr>
              <a:t>年</a:t>
            </a:r>
            <a:r>
              <a:rPr lang="en-US" altLang="zh-CN" sz="1200" b="0" i="0" u="none" strike="noStrike" kern="1200" baseline="0" dirty="0" smtClean="0">
                <a:solidFill>
                  <a:schemeClr val="tx1"/>
                </a:solidFill>
                <a:latin typeface="+mn-lt"/>
                <a:ea typeface="+mn-ea"/>
                <a:cs typeface="+mn-cs"/>
              </a:rPr>
              <a:t>11</a:t>
            </a:r>
            <a:r>
              <a:rPr lang="zh-CN" altLang="en-US" sz="1200" b="0" i="0" u="none" strike="noStrike" kern="1200" baseline="0" dirty="0" smtClean="0">
                <a:solidFill>
                  <a:schemeClr val="tx1"/>
                </a:solidFill>
                <a:latin typeface="+mn-lt"/>
                <a:ea typeface="+mn-ea"/>
                <a:cs typeface="+mn-cs"/>
              </a:rPr>
              <a:t>月</a:t>
            </a:r>
            <a:r>
              <a:rPr lang="en-US" altLang="zh-CN" sz="1200" b="0" i="0" u="none" strike="noStrike" kern="1200" baseline="0" dirty="0" smtClean="0">
                <a:solidFill>
                  <a:schemeClr val="tx1"/>
                </a:solidFill>
                <a:latin typeface="+mn-lt"/>
                <a:ea typeface="+mn-ea"/>
                <a:cs typeface="+mn-cs"/>
              </a:rPr>
              <a:t>1</a:t>
            </a:r>
            <a:r>
              <a:rPr lang="zh-CN" altLang="en-US" sz="1200" b="0" i="0" u="none" strike="noStrike" kern="1200" baseline="0" dirty="0" smtClean="0">
                <a:solidFill>
                  <a:schemeClr val="tx1"/>
                </a:solidFill>
                <a:latin typeface="+mn-lt"/>
                <a:ea typeface="+mn-ea"/>
                <a:cs typeface="+mn-cs"/>
              </a:rPr>
              <a:t>日至</a:t>
            </a:r>
            <a:r>
              <a:rPr lang="en-US" altLang="zh-CN" sz="1200" b="0" i="0" u="none" strike="noStrike" kern="1200" baseline="0" dirty="0" smtClean="0">
                <a:solidFill>
                  <a:schemeClr val="tx1"/>
                </a:solidFill>
                <a:latin typeface="+mn-lt"/>
                <a:ea typeface="+mn-ea"/>
                <a:cs typeface="+mn-cs"/>
              </a:rPr>
              <a:t>2016</a:t>
            </a:r>
            <a:r>
              <a:rPr lang="zh-CN" altLang="en-US" sz="1200" b="0" i="0" u="none" strike="noStrike" kern="1200" baseline="0" dirty="0" smtClean="0">
                <a:solidFill>
                  <a:schemeClr val="tx1"/>
                </a:solidFill>
                <a:latin typeface="+mn-lt"/>
                <a:ea typeface="+mn-ea"/>
                <a:cs typeface="+mn-cs"/>
              </a:rPr>
              <a:t>年</a:t>
            </a:r>
            <a:r>
              <a:rPr lang="en-US" altLang="zh-CN" sz="1200" b="0" i="0" u="none" strike="noStrike" kern="1200" baseline="0" dirty="0" smtClean="0">
                <a:solidFill>
                  <a:schemeClr val="tx1"/>
                </a:solidFill>
                <a:latin typeface="+mn-lt"/>
                <a:ea typeface="+mn-ea"/>
                <a:cs typeface="+mn-cs"/>
              </a:rPr>
              <a:t>11</a:t>
            </a:r>
            <a:r>
              <a:rPr lang="zh-CN" altLang="en-US" sz="1200" b="0" i="0" u="none" strike="noStrike" kern="1200" baseline="0" dirty="0" smtClean="0">
                <a:solidFill>
                  <a:schemeClr val="tx1"/>
                </a:solidFill>
                <a:latin typeface="+mn-lt"/>
                <a:ea typeface="+mn-ea"/>
                <a:cs typeface="+mn-cs"/>
              </a:rPr>
              <a:t>月</a:t>
            </a:r>
            <a:r>
              <a:rPr lang="en-US" altLang="zh-CN" sz="1200" b="0" i="0" u="none" strike="noStrike" kern="1200" baseline="0" dirty="0" smtClean="0">
                <a:solidFill>
                  <a:schemeClr val="tx1"/>
                </a:solidFill>
                <a:latin typeface="+mn-lt"/>
                <a:ea typeface="+mn-ea"/>
                <a:cs typeface="+mn-cs"/>
              </a:rPr>
              <a:t>30</a:t>
            </a:r>
            <a:r>
              <a:rPr lang="zh-CN" altLang="en-US" sz="1200" b="0" i="0" u="none" strike="noStrike" kern="1200" baseline="0" dirty="0" smtClean="0">
                <a:solidFill>
                  <a:schemeClr val="tx1"/>
                </a:solidFill>
                <a:latin typeface="+mn-lt"/>
                <a:ea typeface="+mn-ea"/>
                <a:cs typeface="+mn-cs"/>
              </a:rPr>
              <a:t>日的网约车轨迹数据分别进行处理，得到</a:t>
            </a:r>
            <a:r>
              <a:rPr lang="en-US" altLang="zh-CN" sz="1200" b="0" i="0" u="none" strike="noStrike" kern="1200" baseline="0" dirty="0" smtClean="0">
                <a:solidFill>
                  <a:schemeClr val="tx1"/>
                </a:solidFill>
                <a:latin typeface="+mn-lt"/>
                <a:ea typeface="+mn-ea"/>
                <a:cs typeface="+mn-cs"/>
              </a:rPr>
              <a:t>DATASET-B</a:t>
            </a:r>
            <a:r>
              <a:rPr lang="zh-CN" altLang="en-US" sz="1200" b="0" i="0" u="none" strike="noStrike" kern="1200" baseline="0" dirty="0" smtClean="0">
                <a:solidFill>
                  <a:schemeClr val="tx1"/>
                </a:solidFill>
                <a:latin typeface="+mn-lt"/>
                <a:ea typeface="+mn-ea"/>
                <a:cs typeface="+mn-cs"/>
              </a:rPr>
              <a:t>（除了</a:t>
            </a:r>
            <a:r>
              <a:rPr lang="en-US" altLang="zh-CN" sz="1200" b="0" i="0" u="none" strike="noStrike" kern="1200" baseline="0" dirty="0" smtClean="0">
                <a:solidFill>
                  <a:schemeClr val="tx1"/>
                </a:solidFill>
                <a:latin typeface="+mn-lt"/>
                <a:ea typeface="+mn-ea"/>
                <a:cs typeface="+mn-cs"/>
              </a:rPr>
              <a:t>label</a:t>
            </a:r>
            <a:r>
              <a:rPr lang="zh-CN" altLang="en-US" sz="1200" b="0" i="0" u="none" strike="noStrike" kern="1200" baseline="0" dirty="0" smtClean="0">
                <a:solidFill>
                  <a:schemeClr val="tx1"/>
                </a:solidFill>
                <a:latin typeface="+mn-lt"/>
                <a:ea typeface="+mn-ea"/>
                <a:cs typeface="+mn-cs"/>
              </a:rPr>
              <a:t>字段），表</a:t>
            </a:r>
            <a:r>
              <a:rPr lang="en-US" altLang="zh-CN" sz="1200" b="0" i="0" u="none" strike="noStrike" kern="1200" baseline="0" dirty="0" smtClean="0">
                <a:solidFill>
                  <a:schemeClr val="tx1"/>
                </a:solidFill>
                <a:latin typeface="+mn-lt"/>
                <a:ea typeface="+mn-ea"/>
                <a:cs typeface="+mn-cs"/>
              </a:rPr>
              <a:t>3-6</a:t>
            </a:r>
            <a:r>
              <a:rPr lang="zh-CN" altLang="en-US" sz="1200" b="0" i="0" u="none" strike="noStrike" kern="1200" baseline="0" dirty="0" smtClean="0">
                <a:solidFill>
                  <a:schemeClr val="tx1"/>
                </a:solidFill>
                <a:latin typeface="+mn-lt"/>
                <a:ea typeface="+mn-ea"/>
                <a:cs typeface="+mn-cs"/>
              </a:rPr>
              <a:t>展示了部分数据。该表的各字段的定义为：</a:t>
            </a:r>
            <a:r>
              <a:rPr lang="en-US" altLang="zh-CN" sz="1200" b="0" i="0" u="none" strike="noStrike" kern="1200" baseline="0" dirty="0" err="1" smtClean="0">
                <a:solidFill>
                  <a:schemeClr val="tx1"/>
                </a:solidFill>
                <a:latin typeface="+mn-lt"/>
                <a:ea typeface="+mn-ea"/>
                <a:cs typeface="+mn-cs"/>
              </a:rPr>
              <a:t>rowid</a:t>
            </a:r>
            <a:r>
              <a:rPr lang="zh-CN" altLang="en-US" sz="1200" b="0" i="0" u="none" strike="noStrike" kern="1200" baseline="0" dirty="0" smtClean="0">
                <a:solidFill>
                  <a:schemeClr val="tx1"/>
                </a:solidFill>
                <a:latin typeface="+mn-lt"/>
                <a:ea typeface="+mn-ea"/>
                <a:cs typeface="+mn-cs"/>
              </a:rPr>
              <a:t>（行</a:t>
            </a:r>
            <a:r>
              <a:rPr lang="en-US" altLang="zh-CN" sz="1200" b="0" i="0" u="none" strike="noStrike" kern="1200" baseline="0" dirty="0" smtClean="0">
                <a:solidFill>
                  <a:schemeClr val="tx1"/>
                </a:solidFill>
                <a:latin typeface="+mn-lt"/>
                <a:ea typeface="+mn-ea"/>
                <a:cs typeface="+mn-cs"/>
              </a:rPr>
              <a:t>id</a:t>
            </a:r>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colid</a:t>
            </a:r>
            <a:r>
              <a:rPr lang="zh-CN" altLang="en-US" sz="1200" b="0" i="0" u="none" strike="noStrike" kern="1200" baseline="0" dirty="0" smtClean="0">
                <a:solidFill>
                  <a:schemeClr val="tx1"/>
                </a:solidFill>
                <a:latin typeface="+mn-lt"/>
                <a:ea typeface="+mn-ea"/>
                <a:cs typeface="+mn-cs"/>
              </a:rPr>
              <a:t>（列</a:t>
            </a:r>
            <a:r>
              <a:rPr lang="en-US" altLang="zh-CN" sz="1200" b="0" i="0" u="none" strike="noStrike" kern="1200" baseline="0" dirty="0" smtClean="0">
                <a:solidFill>
                  <a:schemeClr val="tx1"/>
                </a:solidFill>
                <a:latin typeface="+mn-lt"/>
                <a:ea typeface="+mn-ea"/>
                <a:cs typeface="+mn-cs"/>
              </a:rPr>
              <a:t>id</a:t>
            </a:r>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time_id</a:t>
            </a:r>
            <a:r>
              <a:rPr lang="zh-CN" altLang="en-US" sz="1200" b="0" i="0" u="none" strike="noStrike" kern="1200" baseline="0" dirty="0" smtClean="0">
                <a:solidFill>
                  <a:schemeClr val="tx1"/>
                </a:solidFill>
                <a:latin typeface="+mn-lt"/>
                <a:ea typeface="+mn-ea"/>
                <a:cs typeface="+mn-cs"/>
              </a:rPr>
              <a:t>（时间网格</a:t>
            </a:r>
            <a:r>
              <a:rPr lang="en-US" altLang="zh-CN" sz="1200" b="0" i="0" u="none" strike="noStrike" kern="1200" baseline="0" dirty="0" smtClean="0">
                <a:solidFill>
                  <a:schemeClr val="tx1"/>
                </a:solidFill>
                <a:latin typeface="+mn-lt"/>
                <a:ea typeface="+mn-ea"/>
                <a:cs typeface="+mn-cs"/>
              </a:rPr>
              <a:t>id</a:t>
            </a:r>
            <a:r>
              <a:rPr lang="zh-CN" altLang="en-US"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aveSpeed</a:t>
            </a:r>
            <a:r>
              <a:rPr lang="zh-CN" altLang="en-US" sz="1200" b="0" i="0" u="none" strike="noStrike" kern="1200" baseline="0" dirty="0" smtClean="0">
                <a:solidFill>
                  <a:schemeClr val="tx1"/>
                </a:solidFill>
                <a:latin typeface="+mn-lt"/>
                <a:ea typeface="+mn-ea"/>
                <a:cs typeface="+mn-cs"/>
              </a:rPr>
              <a:t>（网格平均速度）、</a:t>
            </a:r>
            <a:r>
              <a:rPr lang="en-US" altLang="zh-CN" sz="1200" b="0" i="0" u="none" strike="noStrike" kern="1200" baseline="0" dirty="0" err="1" smtClean="0">
                <a:solidFill>
                  <a:schemeClr val="tx1"/>
                </a:solidFill>
                <a:latin typeface="+mn-lt"/>
                <a:ea typeface="+mn-ea"/>
                <a:cs typeface="+mn-cs"/>
              </a:rPr>
              <a:t>gridAcc</a:t>
            </a:r>
            <a:r>
              <a:rPr lang="zh-CN" altLang="en-US" sz="1200" b="0" i="0" u="none" strike="noStrike" kern="1200" baseline="0" dirty="0" smtClean="0">
                <a:solidFill>
                  <a:schemeClr val="tx1"/>
                </a:solidFill>
                <a:latin typeface="+mn-lt"/>
                <a:ea typeface="+mn-ea"/>
                <a:cs typeface="+mn-cs"/>
              </a:rPr>
              <a:t>（网格平均加速度）、</a:t>
            </a:r>
            <a:r>
              <a:rPr lang="en-US" altLang="zh-CN" sz="1200" b="0" i="0" u="none" strike="noStrike" kern="1200" baseline="0" dirty="0" smtClean="0">
                <a:solidFill>
                  <a:schemeClr val="tx1"/>
                </a:solidFill>
                <a:latin typeface="+mn-lt"/>
                <a:ea typeface="+mn-ea"/>
                <a:cs typeface="+mn-cs"/>
              </a:rPr>
              <a:t>volume</a:t>
            </a:r>
            <a:r>
              <a:rPr lang="zh-CN" altLang="en-US" sz="1200" b="0" i="0" u="none" strike="noStrike" kern="1200" baseline="0" dirty="0" smtClean="0">
                <a:solidFill>
                  <a:schemeClr val="tx1"/>
                </a:solidFill>
                <a:latin typeface="+mn-lt"/>
                <a:ea typeface="+mn-ea"/>
                <a:cs typeface="+mn-cs"/>
              </a:rPr>
              <a:t>（网格浮动车流量）、</a:t>
            </a:r>
            <a:r>
              <a:rPr lang="en-US" altLang="zh-CN" sz="1200" b="0" i="0" u="none" strike="noStrike" kern="1200" baseline="0" dirty="0" err="1" smtClean="0">
                <a:solidFill>
                  <a:schemeClr val="tx1"/>
                </a:solidFill>
                <a:latin typeface="+mn-lt"/>
                <a:ea typeface="+mn-ea"/>
                <a:cs typeface="+mn-cs"/>
              </a:rPr>
              <a:t>speed_std</a:t>
            </a:r>
            <a:r>
              <a:rPr lang="zh-CN" altLang="en-US" sz="1200" b="0" i="0" u="none" strike="noStrike" kern="1200" baseline="0" dirty="0" smtClean="0">
                <a:solidFill>
                  <a:schemeClr val="tx1"/>
                </a:solidFill>
                <a:latin typeface="+mn-lt"/>
                <a:ea typeface="+mn-ea"/>
                <a:cs typeface="+mn-cs"/>
              </a:rPr>
              <a:t>（网格速度标准差）、</a:t>
            </a:r>
            <a:r>
              <a:rPr lang="en-US" altLang="zh-CN" sz="1200" b="0" i="0" u="none" strike="noStrike" kern="1200" baseline="0" dirty="0" err="1" smtClean="0">
                <a:solidFill>
                  <a:schemeClr val="tx1"/>
                </a:solidFill>
                <a:latin typeface="+mn-lt"/>
                <a:ea typeface="+mn-ea"/>
                <a:cs typeface="+mn-cs"/>
              </a:rPr>
              <a:t>stopNum</a:t>
            </a:r>
            <a:r>
              <a:rPr lang="zh-CN" altLang="en-US" sz="1200" b="0" i="0" u="none" strike="noStrike" kern="1200" baseline="0" dirty="0" smtClean="0">
                <a:solidFill>
                  <a:schemeClr val="tx1"/>
                </a:solidFill>
                <a:latin typeface="+mn-lt"/>
                <a:ea typeface="+mn-ea"/>
                <a:cs typeface="+mn-cs"/>
              </a:rPr>
              <a:t>（网格平均停车次数）、</a:t>
            </a:r>
            <a:r>
              <a:rPr lang="en-US" altLang="zh-CN" sz="1200" b="0" i="0" u="none" strike="noStrike" kern="1200" baseline="0" dirty="0" smtClean="0">
                <a:solidFill>
                  <a:schemeClr val="tx1"/>
                </a:solidFill>
                <a:latin typeface="+mn-lt"/>
                <a:ea typeface="+mn-ea"/>
                <a:cs typeface="+mn-cs"/>
              </a:rPr>
              <a:t>date</a:t>
            </a:r>
            <a:r>
              <a:rPr lang="zh-CN" altLang="en-US" sz="1200" b="0" i="0" u="none" strike="noStrike" kern="1200" baseline="0" dirty="0" smtClean="0">
                <a:solidFill>
                  <a:schemeClr val="tx1"/>
                </a:solidFill>
                <a:latin typeface="+mn-lt"/>
                <a:ea typeface="+mn-ea"/>
                <a:cs typeface="+mn-cs"/>
              </a:rPr>
              <a:t>（日期）。</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33</a:t>
            </a:fld>
            <a:endParaRPr lang="zh-CN" altLang="en-US"/>
          </a:p>
        </p:txBody>
      </p:sp>
    </p:spTree>
    <p:extLst>
      <p:ext uri="{BB962C8B-B14F-4D97-AF65-F5344CB8AC3E}">
        <p14:creationId xmlns:p14="http://schemas.microsoft.com/office/powerpoint/2010/main" val="24321760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前两节中介绍了数据预处理的基本方法以及交通问题中重要的时空数据分析技术，并基于这些方法对完整的滴滴网约车轨迹数据集进行处理和挖掘，得到了前表（网约车轨迹数据</a:t>
            </a:r>
            <a:r>
              <a:rPr lang="en-US" altLang="zh-CN" sz="1200" b="0" i="0" u="none" strike="noStrike" kern="1200" baseline="0" dirty="0" smtClean="0">
                <a:solidFill>
                  <a:schemeClr val="tx1"/>
                </a:solidFill>
                <a:latin typeface="+mn-lt"/>
                <a:ea typeface="+mn-ea"/>
                <a:cs typeface="+mn-cs"/>
              </a:rPr>
              <a:t>10min </a:t>
            </a:r>
            <a:r>
              <a:rPr lang="zh-CN" altLang="en-US" sz="1200" b="0" i="0" u="none" strike="noStrike" kern="1200" baseline="0" dirty="0" smtClean="0">
                <a:solidFill>
                  <a:schemeClr val="tx1"/>
                </a:solidFill>
                <a:latin typeface="+mn-lt"/>
                <a:ea typeface="+mn-ea"/>
                <a:cs typeface="+mn-cs"/>
              </a:rPr>
              <a:t>网格化特征）中的结果。本节将介绍建模前的最后一步工作，即探索性数据分析，并获取包括分布特性、统计特性、对比特性等在内的多项数据特征。</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34</a:t>
            </a:fld>
            <a:endParaRPr lang="zh-CN" altLang="en-US"/>
          </a:p>
        </p:txBody>
      </p:sp>
    </p:spTree>
    <p:extLst>
      <p:ext uri="{BB962C8B-B14F-4D97-AF65-F5344CB8AC3E}">
        <p14:creationId xmlns:p14="http://schemas.microsoft.com/office/powerpoint/2010/main" val="27510784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作为一个统计量，均值对极端值非常敏感。如果数据中存在极端值或者数据是偏分布的，那么均值就不能很好地度量数据的集中趋势。为了消除少数极端值的影响，可以使用截断均值或者中位数来度量数据的集中趋势。截断均值是指去掉高、低极端值之后的平均数。</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35</a:t>
            </a:fld>
            <a:endParaRPr lang="zh-CN" altLang="en-US"/>
          </a:p>
        </p:txBody>
      </p:sp>
    </p:spTree>
    <p:extLst>
      <p:ext uri="{BB962C8B-B14F-4D97-AF65-F5344CB8AC3E}">
        <p14:creationId xmlns:p14="http://schemas.microsoft.com/office/powerpoint/2010/main" val="41464296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36</a:t>
            </a:fld>
            <a:endParaRPr lang="zh-CN" altLang="en-US"/>
          </a:p>
        </p:txBody>
      </p:sp>
    </p:spTree>
    <p:extLst>
      <p:ext uri="{BB962C8B-B14F-4D97-AF65-F5344CB8AC3E}">
        <p14:creationId xmlns:p14="http://schemas.microsoft.com/office/powerpoint/2010/main" val="509196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37</a:t>
            </a:fld>
            <a:endParaRPr lang="zh-CN" altLang="en-US"/>
          </a:p>
        </p:txBody>
      </p:sp>
    </p:spTree>
    <p:extLst>
      <p:ext uri="{BB962C8B-B14F-4D97-AF65-F5344CB8AC3E}">
        <p14:creationId xmlns:p14="http://schemas.microsoft.com/office/powerpoint/2010/main" val="25960593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a:t>
            </a:r>
            <a:r>
              <a:rPr lang="en-US" altLang="zh-CN" dirty="0" smtClean="0"/>
              <a:t>4</a:t>
            </a:r>
            <a:r>
              <a:rPr lang="zh-CN" altLang="en-US" dirty="0" smtClean="0"/>
              <a:t>）四分位数间距。四分位数包括上四分位数和下四分位数。将所有数值由小到大排列并分成四等份，处于第一个分割点位置的数值是下四分位数，处于第二个分割点位置（中间位置）数值是中位数，处于第三个分割点位置的数值是上四分位数。</a:t>
            </a:r>
          </a:p>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38</a:t>
            </a:fld>
            <a:endParaRPr lang="zh-CN" altLang="en-US"/>
          </a:p>
        </p:txBody>
      </p:sp>
    </p:spTree>
    <p:extLst>
      <p:ext uri="{BB962C8B-B14F-4D97-AF65-F5344CB8AC3E}">
        <p14:creationId xmlns:p14="http://schemas.microsoft.com/office/powerpoint/2010/main" val="14711659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从统计量的结果分析，可以得到研究时段的最小平均车速为</a:t>
            </a:r>
            <a:r>
              <a:rPr lang="en-US" altLang="zh-CN" sz="1200" b="0" i="0" u="none" strike="noStrike" kern="1200" baseline="0" dirty="0" smtClean="0">
                <a:solidFill>
                  <a:schemeClr val="tx1"/>
                </a:solidFill>
                <a:latin typeface="+mn-lt"/>
                <a:ea typeface="+mn-ea"/>
                <a:cs typeface="+mn-cs"/>
              </a:rPr>
              <a:t>3.98m/s</a:t>
            </a:r>
            <a:r>
              <a:rPr lang="zh-CN" altLang="en-US" sz="1200" b="0" i="0" u="none" strike="noStrike" kern="1200" baseline="0" dirty="0" smtClean="0">
                <a:solidFill>
                  <a:schemeClr val="tx1"/>
                </a:solidFill>
                <a:latin typeface="+mn-lt"/>
                <a:ea typeface="+mn-ea"/>
                <a:cs typeface="+mn-cs"/>
              </a:rPr>
              <a:t>，最大车速为</a:t>
            </a:r>
            <a:r>
              <a:rPr lang="en-US" altLang="zh-CN" sz="1200" b="0" i="0" u="none" strike="noStrike" kern="1200" baseline="0" dirty="0" smtClean="0">
                <a:solidFill>
                  <a:schemeClr val="tx1"/>
                </a:solidFill>
                <a:latin typeface="+mn-lt"/>
                <a:ea typeface="+mn-ea"/>
                <a:cs typeface="+mn-cs"/>
              </a:rPr>
              <a:t>17.45m/s</a:t>
            </a:r>
            <a:r>
              <a:rPr lang="zh-CN" altLang="en-US" sz="1200" b="0" i="0" u="none" strike="noStrike" kern="1200" baseline="0" dirty="0" smtClean="0">
                <a:solidFill>
                  <a:schemeClr val="tx1"/>
                </a:solidFill>
                <a:latin typeface="+mn-lt"/>
                <a:ea typeface="+mn-ea"/>
                <a:cs typeface="+mn-cs"/>
              </a:rPr>
              <a:t>，平均值为</a:t>
            </a:r>
            <a:r>
              <a:rPr lang="en-US" altLang="zh-CN" sz="1200" b="0" i="0" u="none" strike="noStrike" kern="1200" baseline="0" dirty="0" smtClean="0">
                <a:solidFill>
                  <a:schemeClr val="tx1"/>
                </a:solidFill>
                <a:latin typeface="+mn-lt"/>
                <a:ea typeface="+mn-ea"/>
                <a:cs typeface="+mn-cs"/>
              </a:rPr>
              <a:t>10.94m/s</a:t>
            </a:r>
            <a:r>
              <a:rPr lang="zh-CN" altLang="en-US" sz="1200" b="0" i="0" u="none" strike="noStrike" kern="1200" baseline="0" dirty="0" smtClean="0">
                <a:solidFill>
                  <a:schemeClr val="tx1"/>
                </a:solidFill>
                <a:latin typeface="+mn-lt"/>
                <a:ea typeface="+mn-ea"/>
                <a:cs typeface="+mn-cs"/>
              </a:rPr>
              <a:t>，并且变异系数约为</a:t>
            </a:r>
            <a:r>
              <a:rPr lang="en-US" altLang="zh-CN" sz="1200" b="0" i="0" u="none" strike="noStrike" kern="1200" baseline="0" dirty="0" smtClean="0">
                <a:solidFill>
                  <a:schemeClr val="tx1"/>
                </a:solidFill>
                <a:latin typeface="+mn-lt"/>
                <a:ea typeface="+mn-ea"/>
                <a:cs typeface="+mn-cs"/>
              </a:rPr>
              <a:t>0.40</a:t>
            </a:r>
            <a:r>
              <a:rPr lang="zh-CN" altLang="en-US" sz="1200" b="0" i="0" u="none" strike="noStrike" kern="1200" baseline="0" dirty="0" smtClean="0">
                <a:solidFill>
                  <a:schemeClr val="tx1"/>
                </a:solidFill>
                <a:latin typeface="+mn-lt"/>
                <a:ea typeface="+mn-ea"/>
                <a:cs typeface="+mn-cs"/>
              </a:rPr>
              <a:t>。因此总体来讲，车速分布较为离散。</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39</a:t>
            </a:fld>
            <a:endParaRPr lang="zh-CN" altLang="en-US"/>
          </a:p>
        </p:txBody>
      </p:sp>
    </p:spTree>
    <p:extLst>
      <p:ext uri="{BB962C8B-B14F-4D97-AF65-F5344CB8AC3E}">
        <p14:creationId xmlns:p14="http://schemas.microsoft.com/office/powerpoint/2010/main" val="65702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smtClean="0">
                <a:solidFill>
                  <a:schemeClr val="tx1"/>
                </a:solidFill>
                <a:latin typeface="+mn-lt"/>
                <a:ea typeface="+mn-ea"/>
                <a:cs typeface="+mn-cs"/>
              </a:rPr>
              <a:t>对比分析是指把两个相互联系的指标进行比较，从数量上展示和说明研究对象规模的大小，水平的高低，速度的快慢，以及各种关系是否协调。对比分析特别适用于指标间的横纵向比较、时间序列的纵向比较。在对比分析中，选择合适的对比标准是十分关键的步骤，只有选择合适的对比标准，才能做出客观的评价。对比分析主要有以下两种形式</a:t>
            </a:r>
            <a:r>
              <a:rPr lang="en-US" altLang="zh-CN" sz="1200" b="0" i="0" u="none" strike="noStrike" kern="1200" baseline="0" dirty="0" smtClean="0">
                <a:solidFill>
                  <a:schemeClr val="tx1"/>
                </a:solidFill>
                <a:latin typeface="+mn-lt"/>
                <a:ea typeface="+mn-ea"/>
                <a:cs typeface="+mn-cs"/>
              </a:rPr>
              <a:t>[4]</a:t>
            </a:r>
            <a:r>
              <a:rPr lang="zh-CN" altLang="en-US" sz="1200" b="0" i="0" u="none" strike="noStrike" kern="1200" baseline="0" dirty="0" smtClean="0">
                <a:solidFill>
                  <a:schemeClr val="tx1"/>
                </a:solidFill>
                <a:latin typeface="+mn-lt"/>
                <a:ea typeface="+mn-ea"/>
                <a:cs typeface="+mn-cs"/>
              </a:rPr>
              <a:t>：</a:t>
            </a:r>
            <a:endParaRPr lang="en-US" altLang="zh-CN" sz="1200" b="0" i="0" u="none" strike="noStrike" kern="1200" baseline="0" dirty="0" smtClean="0">
              <a:solidFill>
                <a:schemeClr val="tx1"/>
              </a:solidFill>
              <a:latin typeface="+mn-lt"/>
              <a:ea typeface="+mn-ea"/>
              <a:cs typeface="+mn-cs"/>
            </a:endParaRPr>
          </a:p>
          <a:p>
            <a:r>
              <a:rPr lang="en-US" altLang="zh-CN" sz="1200" b="0" i="0" u="none" strike="noStrike" kern="1200" baseline="0" dirty="0" smtClean="0">
                <a:solidFill>
                  <a:schemeClr val="tx1"/>
                </a:solidFill>
                <a:latin typeface="+mn-lt"/>
                <a:ea typeface="+mn-ea"/>
                <a:cs typeface="+mn-cs"/>
              </a:rPr>
              <a:t>[4]</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40</a:t>
            </a:fld>
            <a:endParaRPr lang="zh-CN" altLang="en-US"/>
          </a:p>
        </p:txBody>
      </p:sp>
    </p:spTree>
    <p:extLst>
      <p:ext uri="{BB962C8B-B14F-4D97-AF65-F5344CB8AC3E}">
        <p14:creationId xmlns:p14="http://schemas.microsoft.com/office/powerpoint/2010/main" val="31575203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baseline="0" dirty="0" smtClean="0">
                <a:solidFill>
                  <a:schemeClr val="tx1"/>
                </a:solidFill>
                <a:latin typeface="+mn-lt"/>
                <a:ea typeface="+mn-ea"/>
                <a:cs typeface="+mn-cs"/>
              </a:rPr>
              <a:t>为了研究城市不同日期的平均速度日变化情况，可以基于网格数据，对相同时段的网格速度平均值进行计算，并绘制平均速度时变折线图，具体方法可以参考下一章内容。</a:t>
            </a:r>
            <a:endParaRPr lang="zh-CN" altLang="en-US" dirty="0" smtClean="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41</a:t>
            </a:fld>
            <a:endParaRPr lang="zh-CN" altLang="en-US"/>
          </a:p>
        </p:txBody>
      </p:sp>
    </p:spTree>
    <p:extLst>
      <p:ext uri="{BB962C8B-B14F-4D97-AF65-F5344CB8AC3E}">
        <p14:creationId xmlns:p14="http://schemas.microsoft.com/office/powerpoint/2010/main" val="32728287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baseline="0" dirty="0" smtClean="0">
                <a:solidFill>
                  <a:schemeClr val="tx1"/>
                </a:solidFill>
                <a:latin typeface="+mn-lt"/>
                <a:ea typeface="+mn-ea"/>
                <a:cs typeface="+mn-cs"/>
              </a:rPr>
              <a:t>周期性分析是探索某个变量是否随着时间变化而呈现出某种周期变化趋势。时间尺度相对较长的周期性趋势有年度周期性趋势、季节性周期性趋势，相对较短的有月度周期性趋势、周度周期性趋势，甚至更短的日、小时周期性趋势。例如，一个城市的网约车需求就具有明显的周期性。</a:t>
            </a:r>
            <a:endParaRPr lang="zh-CN" altLang="en-US" dirty="0" smtClean="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42</a:t>
            </a:fld>
            <a:endParaRPr lang="zh-CN" altLang="en-US"/>
          </a:p>
        </p:txBody>
      </p:sp>
    </p:spTree>
    <p:extLst>
      <p:ext uri="{BB962C8B-B14F-4D97-AF65-F5344CB8AC3E}">
        <p14:creationId xmlns:p14="http://schemas.microsoft.com/office/powerpoint/2010/main" val="24179685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baseline="0" dirty="0" smtClean="0">
                <a:solidFill>
                  <a:schemeClr val="tx1"/>
                </a:solidFill>
                <a:latin typeface="+mn-lt"/>
                <a:ea typeface="+mn-ea"/>
                <a:cs typeface="+mn-cs"/>
              </a:rPr>
              <a:t>周期性分析是探索某个变量是否随着时间变化而呈现出某种周期变化趋势。时间尺度相对较长的周期性趋势有年度周期性趋势、季节性周期性趋势，相对较短的有月度周期性趋势、周度周期性趋势，甚至更短的日、小时周期性趋势。例如，一个城市的网约车需求就具有明显的周期性。</a:t>
            </a:r>
            <a:endParaRPr lang="zh-CN" altLang="en-US" dirty="0" smtClean="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43</a:t>
            </a:fld>
            <a:endParaRPr lang="zh-CN" altLang="en-US"/>
          </a:p>
        </p:txBody>
      </p:sp>
    </p:spTree>
    <p:extLst>
      <p:ext uri="{BB962C8B-B14F-4D97-AF65-F5344CB8AC3E}">
        <p14:creationId xmlns:p14="http://schemas.microsoft.com/office/powerpoint/2010/main" val="33582274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baseline="0" dirty="0" smtClean="0">
                <a:solidFill>
                  <a:schemeClr val="tx1"/>
                </a:solidFill>
                <a:latin typeface="+mn-lt"/>
                <a:ea typeface="+mn-ea"/>
                <a:cs typeface="+mn-cs"/>
              </a:rPr>
              <a:t>在对交通大数据进行分析并建立算法模型之前，常常需要考虑目标值与影响因子之间的相关关系，从而选用合适的模型。分析连续变量之间线性相关程度的强弱，并用适当的统计指标表示出来的过程称为相关分析。</a:t>
            </a:r>
            <a:endParaRPr lang="en-US" altLang="zh-CN" sz="1200" b="0" i="0" u="none" strike="noStrike" kern="1200" baseline="0" dirty="0" smtClean="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判断两个变量是否具有线性相关关系的最直观的方法是直接绘制散点图，散点的分布特征常常有</a:t>
            </a:r>
            <a:r>
              <a:rPr lang="en-US" altLang="zh-CN" dirty="0" smtClean="0"/>
              <a:t>6</a:t>
            </a:r>
            <a:r>
              <a:rPr lang="zh-CN" altLang="en-US" dirty="0" smtClean="0"/>
              <a:t>种：</a:t>
            </a:r>
          </a:p>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44</a:t>
            </a:fld>
            <a:endParaRPr lang="zh-CN" altLang="en-US"/>
          </a:p>
        </p:txBody>
      </p:sp>
    </p:spTree>
    <p:extLst>
      <p:ext uri="{BB962C8B-B14F-4D97-AF65-F5344CB8AC3E}">
        <p14:creationId xmlns:p14="http://schemas.microsoft.com/office/powerpoint/2010/main" val="9180290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45</a:t>
            </a:fld>
            <a:endParaRPr lang="zh-CN" altLang="en-US"/>
          </a:p>
        </p:txBody>
      </p:sp>
    </p:spTree>
    <p:extLst>
      <p:ext uri="{BB962C8B-B14F-4D97-AF65-F5344CB8AC3E}">
        <p14:creationId xmlns:p14="http://schemas.microsoft.com/office/powerpoint/2010/main" val="7822649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46</a:t>
            </a:fld>
            <a:endParaRPr lang="zh-CN" altLang="en-US"/>
          </a:p>
        </p:txBody>
      </p:sp>
    </p:spTree>
    <p:extLst>
      <p:ext uri="{BB962C8B-B14F-4D97-AF65-F5344CB8AC3E}">
        <p14:creationId xmlns:p14="http://schemas.microsoft.com/office/powerpoint/2010/main" val="38358472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ts val="600"/>
              </a:spcBef>
            </a:pPr>
            <a:r>
              <a:rPr lang="zh-CN" altLang="en-US" dirty="0" smtClean="0"/>
              <a:t>公式后读：对两个变量成对的取值分别按照从小到大（或者从大到小）顺序编秩，</a:t>
            </a:r>
            <a:r>
              <a:rPr lang="en-US" altLang="zh-CN" dirty="0" err="1" smtClean="0"/>
              <a:t>R</a:t>
            </a:r>
            <a:r>
              <a:rPr lang="en-US" altLang="zh-CN" sz="600" dirty="0" err="1" smtClean="0"/>
              <a:t>i</a:t>
            </a:r>
            <a:r>
              <a:rPr lang="en-US" altLang="zh-CN" dirty="0" smtClean="0"/>
              <a:t> </a:t>
            </a:r>
            <a:r>
              <a:rPr lang="zh-CN" altLang="en-US" dirty="0" smtClean="0"/>
              <a:t>代表</a:t>
            </a:r>
            <a:r>
              <a:rPr lang="en-US" altLang="zh-CN" dirty="0" smtClean="0"/>
              <a:t>xi </a:t>
            </a:r>
            <a:r>
              <a:rPr lang="zh-CN" altLang="en-US" dirty="0" smtClean="0"/>
              <a:t>的秩次，</a:t>
            </a:r>
            <a:r>
              <a:rPr lang="en-US" altLang="zh-CN" dirty="0" smtClean="0"/>
              <a:t>Qi </a:t>
            </a:r>
            <a:r>
              <a:rPr lang="zh-CN" altLang="en-US" dirty="0" smtClean="0"/>
              <a:t>代表</a:t>
            </a:r>
            <a:r>
              <a:rPr lang="en-US" altLang="zh-CN" dirty="0" err="1" smtClean="0"/>
              <a:t>yi</a:t>
            </a:r>
            <a:r>
              <a:rPr lang="en-US" altLang="zh-CN" dirty="0" smtClean="0"/>
              <a:t> </a:t>
            </a:r>
            <a:r>
              <a:rPr lang="zh-CN" altLang="en-US" dirty="0" smtClean="0"/>
              <a:t>的秩次，</a:t>
            </a:r>
            <a:r>
              <a:rPr lang="en-US" altLang="zh-CN" dirty="0" err="1" smtClean="0"/>
              <a:t>Ri</a:t>
            </a:r>
            <a:r>
              <a:rPr lang="en-US" altLang="zh-CN" dirty="0" smtClean="0"/>
              <a:t> - Qi </a:t>
            </a:r>
            <a:r>
              <a:rPr lang="zh-CN" altLang="en-US" dirty="0" smtClean="0"/>
              <a:t>为</a:t>
            </a:r>
            <a:r>
              <a:rPr lang="en-US" altLang="zh-CN" dirty="0" smtClean="0"/>
              <a:t>xi, </a:t>
            </a:r>
            <a:r>
              <a:rPr lang="en-US" altLang="zh-CN" dirty="0" err="1" smtClean="0"/>
              <a:t>yi</a:t>
            </a:r>
            <a:r>
              <a:rPr lang="en-US" altLang="zh-CN" dirty="0" smtClean="0"/>
              <a:t> </a:t>
            </a:r>
            <a:r>
              <a:rPr lang="zh-CN" altLang="en-US" dirty="0" smtClean="0"/>
              <a:t>的秩次之差。表</a:t>
            </a:r>
            <a:r>
              <a:rPr lang="en-US" altLang="zh-CN" dirty="0" smtClean="0"/>
              <a:t>3-8</a:t>
            </a:r>
            <a:r>
              <a:rPr lang="zh-CN" altLang="en-US" dirty="0" smtClean="0"/>
              <a:t>给出了变量</a:t>
            </a:r>
            <a:r>
              <a:rPr lang="en-US" altLang="zh-CN" dirty="0" smtClean="0"/>
              <a:t>( x1, x2, ⋯xi, ⋯</a:t>
            </a:r>
            <a:r>
              <a:rPr lang="en-US" altLang="zh-CN" dirty="0" err="1" smtClean="0"/>
              <a:t>xn</a:t>
            </a:r>
            <a:r>
              <a:rPr lang="en-US" altLang="zh-CN" dirty="0" smtClean="0"/>
              <a:t> )</a:t>
            </a:r>
            <a:r>
              <a:rPr lang="zh-CN" altLang="en-US" dirty="0" smtClean="0"/>
              <a:t>的秩次计算过程。</a:t>
            </a:r>
          </a:p>
          <a:p>
            <a:pPr>
              <a:spcBef>
                <a:spcPts val="600"/>
              </a:spcBef>
            </a:pPr>
            <a:r>
              <a:rPr lang="zh-CN" altLang="en-US" dirty="0" smtClean="0"/>
              <a:t>表前读：因为一个变量相同的取值必须有相同的秩次，所以在计算中采用的秩次是排序后所在位置的平均值。只要两个变量存在严格单调的函数关系，那么它们就是完全</a:t>
            </a:r>
            <a:r>
              <a:rPr lang="en-US" altLang="zh-CN" dirty="0" smtClean="0"/>
              <a:t>Spearman </a:t>
            </a:r>
            <a:r>
              <a:rPr lang="zh-CN" altLang="en-US" dirty="0" smtClean="0"/>
              <a:t>相关的，这与</a:t>
            </a:r>
            <a:r>
              <a:rPr lang="en-US" altLang="zh-CN" dirty="0" smtClean="0"/>
              <a:t>Pearson </a:t>
            </a:r>
            <a:r>
              <a:rPr lang="zh-CN" altLang="en-US" dirty="0" smtClean="0"/>
              <a:t>相关不同，</a:t>
            </a:r>
            <a:r>
              <a:rPr lang="en-US" altLang="zh-CN" dirty="0" smtClean="0"/>
              <a:t>Pearson</a:t>
            </a:r>
            <a:r>
              <a:rPr lang="zh-CN" altLang="en-US" dirty="0" smtClean="0"/>
              <a:t>相关只有在变量具有线性关系时才完全相关。相关系数</a:t>
            </a:r>
            <a:r>
              <a:rPr lang="en-US" altLang="zh-CN" i="1" dirty="0" smtClean="0"/>
              <a:t>r </a:t>
            </a:r>
            <a:r>
              <a:rPr lang="zh-CN" altLang="en-US" dirty="0" smtClean="0"/>
              <a:t>的取值范围为：</a:t>
            </a:r>
            <a:r>
              <a:rPr lang="en-US" altLang="zh-CN" dirty="0" smtClean="0">
                <a:latin typeface="Times New Roman" panose="02020603050405020304" pitchFamily="18" charset="0"/>
                <a:cs typeface="Times New Roman" panose="02020603050405020304" pitchFamily="18" charset="0"/>
              </a:rPr>
              <a:t>-1 ≤ </a:t>
            </a:r>
            <a:r>
              <a:rPr lang="en-US" altLang="zh-CN" i="1" dirty="0" smtClean="0">
                <a:latin typeface="Times New Roman" panose="02020603050405020304" pitchFamily="18" charset="0"/>
                <a:cs typeface="Times New Roman" panose="02020603050405020304" pitchFamily="18" charset="0"/>
              </a:rPr>
              <a:t>r </a:t>
            </a:r>
            <a:r>
              <a:rPr lang="zh-CN" altLang="en-US"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1</a:t>
            </a:r>
            <a:r>
              <a:rPr lang="zh-CN" altLang="en-US" dirty="0" smtClean="0"/>
              <a:t>。</a:t>
            </a:r>
            <a:endParaRPr lang="en-US" altLang="zh-CN" dirty="0" smtClean="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47</a:t>
            </a:fld>
            <a:endParaRPr lang="zh-CN" altLang="en-US"/>
          </a:p>
        </p:txBody>
      </p:sp>
    </p:spTree>
    <p:extLst>
      <p:ext uri="{BB962C8B-B14F-4D97-AF65-F5344CB8AC3E}">
        <p14:creationId xmlns:p14="http://schemas.microsoft.com/office/powerpoint/2010/main" val="37939859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48</a:t>
            </a:fld>
            <a:endParaRPr lang="zh-CN" altLang="en-US"/>
          </a:p>
        </p:txBody>
      </p:sp>
    </p:spTree>
    <p:extLst>
      <p:ext uri="{BB962C8B-B14F-4D97-AF65-F5344CB8AC3E}">
        <p14:creationId xmlns:p14="http://schemas.microsoft.com/office/powerpoint/2010/main" val="2259118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49</a:t>
            </a:fld>
            <a:endParaRPr lang="zh-CN" altLang="en-US"/>
          </a:p>
        </p:txBody>
      </p:sp>
    </p:spTree>
    <p:extLst>
      <p:ext uri="{BB962C8B-B14F-4D97-AF65-F5344CB8AC3E}">
        <p14:creationId xmlns:p14="http://schemas.microsoft.com/office/powerpoint/2010/main" val="18810116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D0A12F08-2C51-4761-8379-7BF5B777E402}" type="slidenum">
              <a:rPr lang="zh-CN" altLang="en-US" smtClean="0"/>
              <a:pPr/>
              <a:t>50</a:t>
            </a:fld>
            <a:endParaRPr lang="zh-CN" altLang="en-US"/>
          </a:p>
        </p:txBody>
      </p:sp>
    </p:spTree>
    <p:extLst>
      <p:ext uri="{BB962C8B-B14F-4D97-AF65-F5344CB8AC3E}">
        <p14:creationId xmlns:p14="http://schemas.microsoft.com/office/powerpoint/2010/main" val="29622938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Date Placeholder 3">
            <a:extLst>
              <a:ext uri="{FF2B5EF4-FFF2-40B4-BE49-F238E27FC236}">
                <a16:creationId xmlns:a16="http://schemas.microsoft.com/office/drawing/2014/main" id="{25D6D641-91D2-4812-8C0F-927D5CADD3D3}"/>
              </a:ext>
            </a:extLst>
          </p:cNvPr>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3/8/2023</a:t>
            </a:fld>
            <a:endParaRPr lang="en-US" altLang="zh-CN" dirty="0"/>
          </a:p>
        </p:txBody>
      </p:sp>
      <p:sp>
        <p:nvSpPr>
          <p:cNvPr id="10" name="Footer Placeholder 4">
            <a:extLst>
              <a:ext uri="{FF2B5EF4-FFF2-40B4-BE49-F238E27FC236}">
                <a16:creationId xmlns:a16="http://schemas.microsoft.com/office/drawing/2014/main" id="{3F93C1C7-6316-47B2-BDE0-7ED4EC05753D}"/>
              </a:ext>
            </a:extLst>
          </p:cNvPr>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 </a:t>
            </a:r>
            <a:r>
              <a:rPr lang="en-US" altLang="zh-CN" dirty="0"/>
              <a:t>· </a:t>
            </a:r>
            <a:r>
              <a:rPr lang="zh-CN" altLang="en-US" dirty="0"/>
              <a:t>东南大学 </a:t>
            </a:r>
            <a:r>
              <a:rPr lang="en-US" altLang="zh-CN" dirty="0"/>
              <a:t>· </a:t>
            </a:r>
            <a:r>
              <a:rPr lang="zh-CN" altLang="en-US" dirty="0" smtClean="0"/>
              <a:t>郭延永教授</a:t>
            </a:r>
            <a:endParaRPr lang="en-US" altLang="zh-CN" dirty="0"/>
          </a:p>
        </p:txBody>
      </p:sp>
      <p:sp>
        <p:nvSpPr>
          <p:cNvPr id="11" name="Slide Number Placeholder 5">
            <a:extLst>
              <a:ext uri="{FF2B5EF4-FFF2-40B4-BE49-F238E27FC236}">
                <a16:creationId xmlns:a16="http://schemas.microsoft.com/office/drawing/2014/main" id="{FF15C0EA-2A71-4D49-978B-60AA0C1D21BC}"/>
              </a:ext>
            </a:extLst>
          </p:cNvPr>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pic>
        <p:nvPicPr>
          <p:cNvPr id="16" name="图片 15">
            <a:extLst>
              <a:ext uri="{FF2B5EF4-FFF2-40B4-BE49-F238E27FC236}">
                <a16:creationId xmlns:a16="http://schemas.microsoft.com/office/drawing/2014/main" id="{0F8962F3-5C89-4ACE-9D39-2CB78D975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extLst>
      <p:ext uri="{BB962C8B-B14F-4D97-AF65-F5344CB8AC3E}">
        <p14:creationId xmlns:p14="http://schemas.microsoft.com/office/powerpoint/2010/main" val="3053399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pic>
        <p:nvPicPr>
          <p:cNvPr id="5" name="图片 4">
            <a:extLst>
              <a:ext uri="{FF2B5EF4-FFF2-40B4-BE49-F238E27FC236}">
                <a16:creationId xmlns:a16="http://schemas.microsoft.com/office/drawing/2014/main" id="{9A225ECE-2AD3-40C3-8EA9-72D1C5F82C6E}"/>
              </a:ext>
            </a:extLst>
          </p:cNvPr>
          <p:cNvPicPr>
            <a:picLocks noChangeAspect="1"/>
          </p:cNvPicPr>
          <p:nvPr userDrawn="1"/>
        </p:nvPicPr>
        <p:blipFill>
          <a:blip r:embed="rId2"/>
          <a:stretch>
            <a:fillRect/>
          </a:stretch>
        </p:blipFill>
        <p:spPr>
          <a:xfrm>
            <a:off x="8268327" y="6021054"/>
            <a:ext cx="836946" cy="836946"/>
          </a:xfrm>
          <a:prstGeom prst="rect">
            <a:avLst/>
          </a:prstGeom>
        </p:spPr>
      </p:pic>
      <p:sp>
        <p:nvSpPr>
          <p:cNvPr id="9" name="Date Placeholder 3">
            <a:extLst>
              <a:ext uri="{FF2B5EF4-FFF2-40B4-BE49-F238E27FC236}">
                <a16:creationId xmlns:a16="http://schemas.microsoft.com/office/drawing/2014/main" id="{25D6D641-91D2-4812-8C0F-927D5CADD3D3}"/>
              </a:ext>
            </a:extLst>
          </p:cNvPr>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3/8/2023</a:t>
            </a:fld>
            <a:endParaRPr lang="en-US" altLang="zh-CN" dirty="0"/>
          </a:p>
        </p:txBody>
      </p:sp>
      <p:sp>
        <p:nvSpPr>
          <p:cNvPr id="10" name="Footer Placeholder 4">
            <a:extLst>
              <a:ext uri="{FF2B5EF4-FFF2-40B4-BE49-F238E27FC236}">
                <a16:creationId xmlns:a16="http://schemas.microsoft.com/office/drawing/2014/main" id="{3F93C1C7-6316-47B2-BDE0-7ED4EC05753D}"/>
              </a:ext>
            </a:extLst>
          </p:cNvPr>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a:t>交通大数据</a:t>
            </a:r>
            <a:r>
              <a:rPr lang="en-US" altLang="zh-CN" dirty="0"/>
              <a:t>——</a:t>
            </a:r>
            <a:r>
              <a:rPr lang="zh-CN" altLang="en-US" dirty="0"/>
              <a:t>理论与方法 </a:t>
            </a:r>
            <a:r>
              <a:rPr lang="en-US" altLang="zh-CN" dirty="0"/>
              <a:t>· </a:t>
            </a:r>
            <a:r>
              <a:rPr lang="zh-CN" altLang="en-US" dirty="0"/>
              <a:t>东南大学 </a:t>
            </a:r>
            <a:r>
              <a:rPr lang="en-US" altLang="zh-CN" dirty="0"/>
              <a:t>· </a:t>
            </a:r>
            <a:r>
              <a:rPr lang="zh-CN" altLang="en-US" dirty="0" smtClean="0"/>
              <a:t>郭延永教授</a:t>
            </a:r>
            <a:endParaRPr lang="en-US" altLang="zh-CN" dirty="0"/>
          </a:p>
        </p:txBody>
      </p:sp>
      <p:sp>
        <p:nvSpPr>
          <p:cNvPr id="11" name="Slide Number Placeholder 5">
            <a:extLst>
              <a:ext uri="{FF2B5EF4-FFF2-40B4-BE49-F238E27FC236}">
                <a16:creationId xmlns:a16="http://schemas.microsoft.com/office/drawing/2014/main" id="{FF15C0EA-2A71-4D49-978B-60AA0C1D21BC}"/>
              </a:ext>
            </a:extLst>
          </p:cNvPr>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3984052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a:ln/>
        </p:spPr>
        <p:txBody>
          <a:bodyPr/>
          <a:lstStyle>
            <a:lvl1pPr>
              <a:defRPr/>
            </a:lvl1pPr>
          </a:lstStyle>
          <a:p>
            <a:pPr>
              <a:defRPr/>
            </a:pPr>
            <a:fld id="{A10E55C9-70B6-49A9-B285-7B6B9329A27F}" type="datetime1">
              <a:rPr lang="en-US" altLang="zh-CN" smtClean="0"/>
              <a:t>3/8/2023</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6" name="Slide Number Placeholder 5"/>
          <p:cNvSpPr>
            <a:spLocks noGrp="1"/>
          </p:cNvSpPr>
          <p:nvPr>
            <p:ph type="sldNum" sz="quarter" idx="12"/>
          </p:nvPr>
        </p:nvSpPr>
        <p:spPr>
          <a:ln/>
        </p:spPr>
        <p:txBody>
          <a:bodyPr/>
          <a:lstStyle>
            <a:lvl1pPr>
              <a:defRPr/>
            </a:lvl1pPr>
          </a:lstStyle>
          <a:p>
            <a:pPr>
              <a:defRPr/>
            </a:pPr>
            <a:fld id="{5BF5E73D-1069-4824-94AF-7FF34A7BE33D}" type="slidenum">
              <a:rPr lang="zh-CN" altLang="en-US"/>
              <a:pPr>
                <a:defRPr/>
              </a:pPr>
              <a:t>‹#›</a:t>
            </a:fld>
            <a:endParaRPr lang="en-US" altLang="zh-CN"/>
          </a:p>
        </p:txBody>
      </p:sp>
    </p:spTree>
    <p:extLst>
      <p:ext uri="{BB962C8B-B14F-4D97-AF65-F5344CB8AC3E}">
        <p14:creationId xmlns:p14="http://schemas.microsoft.com/office/powerpoint/2010/main" val="54087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a:ln/>
        </p:spPr>
        <p:txBody>
          <a:bodyPr/>
          <a:lstStyle>
            <a:lvl1pPr>
              <a:defRPr/>
            </a:lvl1pPr>
          </a:lstStyle>
          <a:p>
            <a:pPr>
              <a:defRPr/>
            </a:pPr>
            <a:fld id="{0D7C70DC-E5E3-476E-B719-7C406A24E276}" type="datetime1">
              <a:rPr lang="en-US" altLang="zh-CN" smtClean="0"/>
              <a:t>3/8/2023</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7" name="Slide Number Placeholder 5"/>
          <p:cNvSpPr>
            <a:spLocks noGrp="1"/>
          </p:cNvSpPr>
          <p:nvPr>
            <p:ph type="sldNum" sz="quarter" idx="12"/>
          </p:nvPr>
        </p:nvSpPr>
        <p:spPr>
          <a:ln/>
        </p:spPr>
        <p:txBody>
          <a:bodyPr/>
          <a:lstStyle>
            <a:lvl1pPr>
              <a:defRPr/>
            </a:lvl1pPr>
          </a:lstStyle>
          <a:p>
            <a:pPr>
              <a:defRPr/>
            </a:pPr>
            <a:fld id="{11810F76-1A24-4AF4-8A91-362659113F1F}" type="slidenum">
              <a:rPr lang="zh-CN" altLang="en-US"/>
              <a:pPr>
                <a:defRPr/>
              </a:pPr>
              <a:t>‹#›</a:t>
            </a:fld>
            <a:endParaRPr lang="en-US" altLang="zh-CN"/>
          </a:p>
        </p:txBody>
      </p:sp>
    </p:spTree>
    <p:extLst>
      <p:ext uri="{BB962C8B-B14F-4D97-AF65-F5344CB8AC3E}">
        <p14:creationId xmlns:p14="http://schemas.microsoft.com/office/powerpoint/2010/main" val="1680367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a:ln/>
        </p:spPr>
        <p:txBody>
          <a:bodyPr/>
          <a:lstStyle>
            <a:lvl1pPr>
              <a:defRPr/>
            </a:lvl1pPr>
          </a:lstStyle>
          <a:p>
            <a:pPr>
              <a:defRPr/>
            </a:pPr>
            <a:fld id="{EAE8E72B-6C0E-4F25-B3EF-88ADA2D92673}" type="datetime1">
              <a:rPr lang="en-US" altLang="zh-CN" smtClean="0"/>
              <a:t>3/8/2023</a:t>
            </a:fld>
            <a:endParaRPr lang="en-US" altLang="zh-CN"/>
          </a:p>
        </p:txBody>
      </p:sp>
      <p:sp>
        <p:nvSpPr>
          <p:cNvPr id="8"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9" name="Slide Number Placeholder 5"/>
          <p:cNvSpPr>
            <a:spLocks noGrp="1"/>
          </p:cNvSpPr>
          <p:nvPr>
            <p:ph type="sldNum" sz="quarter" idx="12"/>
          </p:nvPr>
        </p:nvSpPr>
        <p:spPr>
          <a:ln/>
        </p:spPr>
        <p:txBody>
          <a:bodyPr/>
          <a:lstStyle>
            <a:lvl1pPr>
              <a:defRPr/>
            </a:lvl1pPr>
          </a:lstStyle>
          <a:p>
            <a:pPr>
              <a:defRPr/>
            </a:pPr>
            <a:fld id="{3B8051D9-6CDB-4A19-9498-B1F31800CB75}" type="slidenum">
              <a:rPr lang="zh-CN" altLang="en-US"/>
              <a:pPr>
                <a:defRPr/>
              </a:pPr>
              <a:t>‹#›</a:t>
            </a:fld>
            <a:endParaRPr lang="en-US" altLang="zh-CN"/>
          </a:p>
        </p:txBody>
      </p:sp>
    </p:spTree>
    <p:extLst>
      <p:ext uri="{BB962C8B-B14F-4D97-AF65-F5344CB8AC3E}">
        <p14:creationId xmlns:p14="http://schemas.microsoft.com/office/powerpoint/2010/main" val="1528281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a:ln/>
        </p:spPr>
        <p:txBody>
          <a:bodyPr/>
          <a:lstStyle>
            <a:lvl1pPr>
              <a:defRPr/>
            </a:lvl1pPr>
          </a:lstStyle>
          <a:p>
            <a:pPr>
              <a:defRPr/>
            </a:pPr>
            <a:fld id="{4B0FD39B-8021-4531-8CE2-8D21302A74ED}" type="datetime1">
              <a:rPr lang="en-US" altLang="zh-CN" smtClean="0"/>
              <a:t>3/8/2023</a:t>
            </a:fld>
            <a:endParaRPr lang="en-US" altLang="zh-CN"/>
          </a:p>
        </p:txBody>
      </p:sp>
      <p:sp>
        <p:nvSpPr>
          <p:cNvPr id="4"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5" name="Slide Number Placeholder 5"/>
          <p:cNvSpPr>
            <a:spLocks noGrp="1"/>
          </p:cNvSpPr>
          <p:nvPr>
            <p:ph type="sldNum" sz="quarter" idx="12"/>
          </p:nvPr>
        </p:nvSpPr>
        <p:spPr>
          <a:ln/>
        </p:spPr>
        <p:txBody>
          <a:bodyPr/>
          <a:lstStyle>
            <a:lvl1pPr>
              <a:defRPr/>
            </a:lvl1pPr>
          </a:lstStyle>
          <a:p>
            <a:pPr>
              <a:defRPr/>
            </a:pPr>
            <a:fld id="{65F2B37D-33B6-4C69-9BD0-32187E706945}" type="slidenum">
              <a:rPr lang="zh-CN" altLang="en-US"/>
              <a:pPr>
                <a:defRPr/>
              </a:pPr>
              <a:t>‹#›</a:t>
            </a:fld>
            <a:endParaRPr lang="en-US" altLang="zh-CN"/>
          </a:p>
        </p:txBody>
      </p:sp>
    </p:spTree>
    <p:extLst>
      <p:ext uri="{BB962C8B-B14F-4D97-AF65-F5344CB8AC3E}">
        <p14:creationId xmlns:p14="http://schemas.microsoft.com/office/powerpoint/2010/main" val="1499192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ln/>
        </p:spPr>
        <p:txBody>
          <a:bodyPr/>
          <a:lstStyle>
            <a:lvl1pPr>
              <a:defRPr/>
            </a:lvl1pPr>
          </a:lstStyle>
          <a:p>
            <a:pPr>
              <a:defRPr/>
            </a:pPr>
            <a:fld id="{ACF5701F-746E-469B-BDDA-F93B22D4DB72}" type="datetime1">
              <a:rPr lang="en-US" altLang="zh-CN" smtClean="0"/>
              <a:t>3/8/2023</a:t>
            </a:fld>
            <a:endParaRPr lang="en-US" altLang="zh-CN"/>
          </a:p>
        </p:txBody>
      </p:sp>
      <p:sp>
        <p:nvSpPr>
          <p:cNvPr id="3"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4" name="Slide Number Placeholder 5"/>
          <p:cNvSpPr>
            <a:spLocks noGrp="1"/>
          </p:cNvSpPr>
          <p:nvPr>
            <p:ph type="sldNum" sz="quarter" idx="12"/>
          </p:nvPr>
        </p:nvSpPr>
        <p:spPr>
          <a:ln/>
        </p:spPr>
        <p:txBody>
          <a:bodyPr/>
          <a:lstStyle>
            <a:lvl1pPr>
              <a:defRPr/>
            </a:lvl1pPr>
          </a:lstStyle>
          <a:p>
            <a:pPr>
              <a:defRPr/>
            </a:pPr>
            <a:fld id="{D1009943-BA82-4F6A-BD7C-764069224CD2}" type="slidenum">
              <a:rPr lang="zh-CN" altLang="en-US"/>
              <a:pPr>
                <a:defRPr/>
              </a:pPr>
              <a:t>‹#›</a:t>
            </a:fld>
            <a:endParaRPr lang="en-US" altLang="zh-CN"/>
          </a:p>
        </p:txBody>
      </p:sp>
    </p:spTree>
    <p:extLst>
      <p:ext uri="{BB962C8B-B14F-4D97-AF65-F5344CB8AC3E}">
        <p14:creationId xmlns:p14="http://schemas.microsoft.com/office/powerpoint/2010/main" val="329065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07B1553-8BA7-4889-BEC6-891C13E10B98}" type="datetime1">
              <a:rPr lang="en-US" altLang="zh-CN" smtClean="0"/>
              <a:t>3/8/2023</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7" name="Slide Number Placeholder 5"/>
          <p:cNvSpPr>
            <a:spLocks noGrp="1"/>
          </p:cNvSpPr>
          <p:nvPr>
            <p:ph type="sldNum" sz="quarter" idx="12"/>
          </p:nvPr>
        </p:nvSpPr>
        <p:spPr>
          <a:ln/>
        </p:spPr>
        <p:txBody>
          <a:bodyPr/>
          <a:lstStyle>
            <a:lvl1pPr>
              <a:defRPr/>
            </a:lvl1pPr>
          </a:lstStyle>
          <a:p>
            <a:pPr>
              <a:defRPr/>
            </a:pPr>
            <a:fld id="{E8CF26E5-2ED2-4F85-94A6-41EA43600B3E}" type="slidenum">
              <a:rPr lang="zh-CN" altLang="en-US"/>
              <a:pPr>
                <a:defRPr/>
              </a:pPr>
              <a:t>‹#›</a:t>
            </a:fld>
            <a:endParaRPr lang="en-US" altLang="zh-CN"/>
          </a:p>
        </p:txBody>
      </p:sp>
    </p:spTree>
    <p:extLst>
      <p:ext uri="{BB962C8B-B14F-4D97-AF65-F5344CB8AC3E}">
        <p14:creationId xmlns:p14="http://schemas.microsoft.com/office/powerpoint/2010/main" val="49183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a:ln/>
        </p:spPr>
        <p:txBody>
          <a:bodyPr/>
          <a:lstStyle>
            <a:lvl1pPr>
              <a:defRPr/>
            </a:lvl1pPr>
          </a:lstStyle>
          <a:p>
            <a:pPr>
              <a:defRPr/>
            </a:pPr>
            <a:fld id="{7A62BEB2-F18B-4C21-9638-A76426A31BD0}" type="datetime1">
              <a:rPr lang="en-US" altLang="zh-CN" smtClean="0"/>
              <a:t>3/8/2023</a:t>
            </a:fld>
            <a:endParaRPr lang="en-US" altLang="zh-CN"/>
          </a:p>
        </p:txBody>
      </p:sp>
      <p:sp>
        <p:nvSpPr>
          <p:cNvPr id="6"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7" name="Slide Number Placeholder 5"/>
          <p:cNvSpPr>
            <a:spLocks noGrp="1"/>
          </p:cNvSpPr>
          <p:nvPr>
            <p:ph type="sldNum" sz="quarter" idx="12"/>
          </p:nvPr>
        </p:nvSpPr>
        <p:spPr>
          <a:ln/>
        </p:spPr>
        <p:txBody>
          <a:bodyPr/>
          <a:lstStyle>
            <a:lvl1pPr>
              <a:defRPr/>
            </a:lvl1pPr>
          </a:lstStyle>
          <a:p>
            <a:pPr>
              <a:defRPr/>
            </a:pPr>
            <a:fld id="{9F8C9128-8DD9-4172-A865-72B9B18E9A1F}" type="slidenum">
              <a:rPr lang="zh-CN" altLang="en-US"/>
              <a:pPr>
                <a:defRPr/>
              </a:pPr>
              <a:t>‹#›</a:t>
            </a:fld>
            <a:endParaRPr lang="en-US" altLang="zh-CN"/>
          </a:p>
        </p:txBody>
      </p:sp>
    </p:spTree>
    <p:extLst>
      <p:ext uri="{BB962C8B-B14F-4D97-AF65-F5344CB8AC3E}">
        <p14:creationId xmlns:p14="http://schemas.microsoft.com/office/powerpoint/2010/main" val="1973188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ln/>
        </p:spPr>
        <p:txBody>
          <a:bodyPr/>
          <a:lstStyle>
            <a:lvl1pPr>
              <a:defRPr/>
            </a:lvl1pPr>
          </a:lstStyle>
          <a:p>
            <a:pPr>
              <a:defRPr/>
            </a:pPr>
            <a:fld id="{7CF3C754-25BE-4F5C-AB68-D771A03BCC90}" type="datetime1">
              <a:rPr lang="en-US" altLang="zh-CN" smtClean="0"/>
              <a:t>3/8/2023</a:t>
            </a:fld>
            <a:endParaRPr lang="en-US" altLang="zh-CN"/>
          </a:p>
        </p:txBody>
      </p:sp>
      <p:sp>
        <p:nvSpPr>
          <p:cNvPr id="5"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6" name="Slide Number Placeholder 5"/>
          <p:cNvSpPr>
            <a:spLocks noGrp="1"/>
          </p:cNvSpPr>
          <p:nvPr>
            <p:ph type="sldNum" sz="quarter" idx="12"/>
          </p:nvPr>
        </p:nvSpPr>
        <p:spPr>
          <a:ln/>
        </p:spPr>
        <p:txBody>
          <a:bodyPr/>
          <a:lstStyle>
            <a:lvl1pPr>
              <a:defRPr/>
            </a:lvl1pPr>
          </a:lstStyle>
          <a:p>
            <a:pPr>
              <a:defRPr/>
            </a:pPr>
            <a:fld id="{D815748A-C05D-4102-BCCF-66D346F70087}" type="slidenum">
              <a:rPr lang="zh-CN" altLang="en-US"/>
              <a:pPr>
                <a:defRPr/>
              </a:pPr>
              <a:t>‹#›</a:t>
            </a:fld>
            <a:endParaRPr lang="en-US" altLang="zh-CN"/>
          </a:p>
        </p:txBody>
      </p:sp>
    </p:spTree>
    <p:extLst>
      <p:ext uri="{BB962C8B-B14F-4D97-AF65-F5344CB8AC3E}">
        <p14:creationId xmlns:p14="http://schemas.microsoft.com/office/powerpoint/2010/main" val="685952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a:ln/>
        </p:spPr>
        <p:txBody>
          <a:bodyPr/>
          <a:lstStyle>
            <a:lvl1pPr>
              <a:defRPr/>
            </a:lvl1pPr>
          </a:lstStyle>
          <a:p>
            <a:pPr>
              <a:defRPr/>
            </a:pPr>
            <a:fld id="{2343D20E-ACC7-4DDD-AC28-33869E6ABE9A}" type="datetime1">
              <a:rPr lang="en-US" altLang="zh-CN" smtClean="0"/>
              <a:t>3/8/2023</a:t>
            </a:fld>
            <a:endParaRPr lang="en-US" altLang="zh-CN" dirty="0"/>
          </a:p>
        </p:txBody>
      </p:sp>
      <p:sp>
        <p:nvSpPr>
          <p:cNvPr id="5" name="Footer Placeholder 4"/>
          <p:cNvSpPr>
            <a:spLocks noGrp="1"/>
          </p:cNvSpPr>
          <p:nvPr>
            <p:ph type="ftr" sz="quarter" idx="11"/>
          </p:nvPr>
        </p:nvSpPr>
        <p:spPr>
          <a:ln/>
        </p:spPr>
        <p:txBody>
          <a:bodyPr/>
          <a:lstStyle>
            <a:lvl1pPr>
              <a:defRPr/>
            </a:lvl1pPr>
          </a:lstStyle>
          <a:p>
            <a:pPr>
              <a:defRPr/>
            </a:pPr>
            <a:r>
              <a:rPr lang="en-US" altLang="zh-CN" dirty="0" smtClean="0"/>
              <a:t>The Big Data of  Transportation · Southeast University · </a:t>
            </a:r>
            <a:r>
              <a:rPr lang="en-US" altLang="zh-CN" dirty="0" err="1" smtClean="0"/>
              <a:t>Yanyong</a:t>
            </a:r>
            <a:r>
              <a:rPr lang="en-US" altLang="zh-CN" dirty="0" smtClean="0"/>
              <a:t> </a:t>
            </a:r>
            <a:r>
              <a:rPr lang="en-US" altLang="zh-CN" dirty="0" err="1" smtClean="0"/>
              <a:t>Guo</a:t>
            </a:r>
            <a:endParaRPr lang="en-US" altLang="zh-CN" dirty="0"/>
          </a:p>
        </p:txBody>
      </p:sp>
      <p:sp>
        <p:nvSpPr>
          <p:cNvPr id="6" name="Slide Number Placeholder 5"/>
          <p:cNvSpPr>
            <a:spLocks noGrp="1"/>
          </p:cNvSpPr>
          <p:nvPr>
            <p:ph type="sldNum" sz="quarter" idx="12"/>
          </p:nvPr>
        </p:nvSpPr>
        <p:spPr>
          <a:xfrm>
            <a:off x="8720738" y="19050"/>
            <a:ext cx="416560" cy="328613"/>
          </a:xfrm>
          <a:ln/>
        </p:spPr>
        <p:txBody>
          <a:bodyPr/>
          <a:lstStyle>
            <a:lvl1pPr>
              <a:defRPr/>
            </a:lvl1pPr>
          </a:lstStyle>
          <a:p>
            <a:pPr>
              <a:defRPr/>
            </a:pPr>
            <a:fld id="{93D8EEBC-8FFF-48D5-BA20-8C9570EB2408}" type="slidenum">
              <a:rPr lang="zh-CN" altLang="en-US"/>
              <a:pPr>
                <a:defRPr/>
              </a:pPr>
              <a:t>‹#›</a:t>
            </a:fld>
            <a:endParaRPr lang="en-US" altLang="zh-CN" dirty="0"/>
          </a:p>
        </p:txBody>
      </p:sp>
    </p:spTree>
    <p:extLst>
      <p:ext uri="{BB962C8B-B14F-4D97-AF65-F5344CB8AC3E}">
        <p14:creationId xmlns:p14="http://schemas.microsoft.com/office/powerpoint/2010/main" val="132102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dirty="0">
                <a:sym typeface="Arial" panose="020B0604020202020204" pitchFamily="34" charset="0"/>
              </a:rPr>
              <a:t>Click to edit Master title style</a:t>
            </a:r>
          </a:p>
        </p:txBody>
      </p:sp>
      <p:sp>
        <p:nvSpPr>
          <p:cNvPr id="1028" name="Text Placeholder 2"/>
          <p:cNvSpPr>
            <a:spLocks noGrp="1" noChangeArrowheads="1"/>
          </p:cNvSpPr>
          <p:nvPr>
            <p:ph type="body" idx="4294967295"/>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3/8/2023</a:t>
            </a:fld>
            <a:endParaRPr lang="en-US" altLang="zh-CN" dirty="0"/>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b="1">
                <a:solidFill>
                  <a:srgbClr val="FFFFFF"/>
                </a:solidFill>
              </a:defRPr>
            </a:lvl1pPr>
          </a:lstStyle>
          <a:p>
            <a:pPr algn="r">
              <a:defRPr/>
            </a:pPr>
            <a:r>
              <a:rPr lang="zh-CN" altLang="en-US" dirty="0" smtClean="0"/>
              <a:t>交通大数据</a:t>
            </a:r>
            <a:r>
              <a:rPr lang="en-US" altLang="zh-CN" dirty="0" smtClean="0"/>
              <a:t>——</a:t>
            </a:r>
            <a:r>
              <a:rPr lang="zh-CN" altLang="en-US" dirty="0" smtClean="0"/>
              <a:t>理论与方法 </a:t>
            </a:r>
            <a:r>
              <a:rPr lang="en-US" altLang="zh-CN" dirty="0" smtClean="0"/>
              <a:t>· </a:t>
            </a:r>
            <a:r>
              <a:rPr lang="zh-CN" altLang="en-US" dirty="0" smtClean="0"/>
              <a:t>东南大学 </a:t>
            </a:r>
            <a:r>
              <a:rPr lang="en-US" altLang="zh-CN" dirty="0" smtClean="0"/>
              <a:t>· </a:t>
            </a:r>
            <a:r>
              <a:rPr lang="zh-CN" altLang="en-US" dirty="0" smtClean="0"/>
              <a:t>郭延永教授</a:t>
            </a:r>
            <a:endParaRPr lang="en-US" altLang="zh-CN" dirty="0"/>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pPr>
                <a:defRPr/>
              </a:pPr>
              <a:t>‹#›</a:t>
            </a:fld>
            <a:endParaRPr lang="en-US" altLang="zh-CN" dirty="0"/>
          </a:p>
        </p:txBody>
      </p:sp>
    </p:spTree>
    <p:extLst>
      <p:ext uri="{BB962C8B-B14F-4D97-AF65-F5344CB8AC3E}">
        <p14:creationId xmlns:p14="http://schemas.microsoft.com/office/powerpoint/2010/main" val="4047073764"/>
      </p:ext>
    </p:extLst>
  </p:cSld>
  <p:clrMap bg1="lt1" tx1="dk1" bg2="lt2" tx2="dk2" accent1="accent1" accent2="accent2" accent3="accent3" accent4="accent4" accent5="accent5" accent6="accent6" hlink="hlink" folHlink="folHlink"/>
  <p:sldLayoutIdLst>
    <p:sldLayoutId id="2147483674" r:id="rId1"/>
    <p:sldLayoutId id="214748368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p:bodyStyle>
    <p:otherStyle>
      <a:lvl1pPr marL="0" lvl="0"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a:t>
            </a:fld>
            <a:endParaRPr lang="en-US" altLang="zh-CN" dirty="0"/>
          </a:p>
        </p:txBody>
      </p:sp>
      <p:sp>
        <p:nvSpPr>
          <p:cNvPr id="18" name="Straight Connector 7">
            <a:extLst>
              <a:ext uri="{FF2B5EF4-FFF2-40B4-BE49-F238E27FC236}">
                <a16:creationId xmlns:a16="http://schemas.microsoft.com/office/drawing/2014/main" id="{2A233031-8D03-4901-8383-A2AA18EAE906}"/>
              </a:ext>
            </a:extLst>
          </p:cNvPr>
          <p:cNvSpPr>
            <a:spLocks noChangeShapeType="1"/>
          </p:cNvSpPr>
          <p:nvPr/>
        </p:nvSpPr>
        <p:spPr bwMode="auto">
          <a:xfrm>
            <a:off x="685800" y="1827213"/>
            <a:ext cx="7848600" cy="158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 name="TextBox 8">
            <a:extLst>
              <a:ext uri="{FF2B5EF4-FFF2-40B4-BE49-F238E27FC236}">
                <a16:creationId xmlns:a16="http://schemas.microsoft.com/office/drawing/2014/main" id="{EA2EE785-CA96-4F3C-84BF-759A95B426E2}"/>
              </a:ext>
            </a:extLst>
          </p:cNvPr>
          <p:cNvSpPr>
            <a:spLocks noChangeArrowheads="1"/>
          </p:cNvSpPr>
          <p:nvPr/>
        </p:nvSpPr>
        <p:spPr bwMode="auto">
          <a:xfrm>
            <a:off x="838200" y="990600"/>
            <a:ext cx="754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4000" b="1" i="0" u="none" strike="noStrike" kern="0" cap="none" spc="0" normalizeH="0" baseline="0" noProof="0">
                <a:ln>
                  <a:noFill/>
                </a:ln>
                <a:solidFill>
                  <a:schemeClr val="tx2"/>
                </a:solidFill>
                <a:effectLst/>
                <a:uLnTx/>
                <a:uFillTx/>
                <a:latin typeface="Arial (Headings)" charset="0"/>
                <a:ea typeface="宋体" panose="02010600030101010101" pitchFamily="2" charset="-122"/>
                <a:sym typeface="Arial (Headings)" charset="0"/>
              </a:rPr>
              <a:t> </a:t>
            </a:r>
          </a:p>
        </p:txBody>
      </p:sp>
      <p:sp>
        <p:nvSpPr>
          <p:cNvPr id="21" name="TextBox 3">
            <a:extLst>
              <a:ext uri="{FF2B5EF4-FFF2-40B4-BE49-F238E27FC236}">
                <a16:creationId xmlns:a16="http://schemas.microsoft.com/office/drawing/2014/main" id="{CEDA5244-A09E-44E8-A507-0DA628E357D4}"/>
              </a:ext>
            </a:extLst>
          </p:cNvPr>
          <p:cNvSpPr>
            <a:spLocks noChangeArrowheads="1"/>
          </p:cNvSpPr>
          <p:nvPr/>
        </p:nvSpPr>
        <p:spPr bwMode="auto">
          <a:xfrm>
            <a:off x="279400" y="990600"/>
            <a:ext cx="86309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4000" b="1" dirty="0">
                <a:solidFill>
                  <a:schemeClr val="tx2"/>
                </a:solidFill>
                <a:latin typeface="微软雅黑" panose="020B0503020204020204" pitchFamily="34" charset="-122"/>
                <a:ea typeface="微软雅黑" panose="020B0503020204020204" pitchFamily="34" charset="-122"/>
                <a:sym typeface="Arial (Headings)" charset="0"/>
              </a:rPr>
              <a:t>交通大数据</a:t>
            </a:r>
          </a:p>
        </p:txBody>
      </p:sp>
      <p:sp>
        <p:nvSpPr>
          <p:cNvPr id="22" name="文本框 1">
            <a:extLst>
              <a:ext uri="{FF2B5EF4-FFF2-40B4-BE49-F238E27FC236}">
                <a16:creationId xmlns:a16="http://schemas.microsoft.com/office/drawing/2014/main" id="{35E0AA4D-0668-44C2-BF4E-282BE87605D5}"/>
              </a:ext>
            </a:extLst>
          </p:cNvPr>
          <p:cNvSpPr txBox="1">
            <a:spLocks noChangeArrowheads="1"/>
          </p:cNvSpPr>
          <p:nvPr/>
        </p:nvSpPr>
        <p:spPr bwMode="auto">
          <a:xfrm>
            <a:off x="1610360" y="2851834"/>
            <a:ext cx="6324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defTabSz="914400">
              <a:defRPr/>
            </a:pPr>
            <a:r>
              <a:rPr lang="zh-CN" altLang="en-US" sz="3600" b="1" kern="0" dirty="0" smtClean="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数据预处理</a:t>
            </a:r>
            <a:r>
              <a:rPr lang="zh-CN" altLang="en-US" sz="3600" b="1" kern="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与探索性数据分析</a:t>
            </a:r>
            <a:endParaRPr kumimoji="0" lang="zh-CN" altLang="en-US" sz="36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14666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数据预处理</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与探索性数据分析</a:t>
            </a:r>
          </a:p>
        </p:txBody>
      </p:sp>
      <p:sp>
        <p:nvSpPr>
          <p:cNvPr id="8" name="内容占位符 2">
            <a:extLst>
              <a:ext uri="{FF2B5EF4-FFF2-40B4-BE49-F238E27FC236}">
                <a16:creationId xmlns:a16="http://schemas.microsoft.com/office/drawing/2014/main" id="{F984BA27-ECA8-4318-812E-E49B080E7F81}"/>
              </a:ext>
            </a:extLst>
          </p:cNvPr>
          <p:cNvSpPr>
            <a:spLocks noGrp="1"/>
          </p:cNvSpPr>
          <p:nvPr>
            <p:ph idx="1"/>
          </p:nvPr>
        </p:nvSpPr>
        <p:spPr>
          <a:xfrm>
            <a:off x="457200" y="1441807"/>
            <a:ext cx="8229600" cy="4876800"/>
          </a:xfrm>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a:t>
            </a:r>
            <a:r>
              <a:rPr lang="zh-CN" altLang="en-US" dirty="0"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目标及内容</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buNone/>
            </a:pPr>
            <a:r>
              <a:rPr lang="en-US" altLang="zh-CN" sz="2000" dirty="0" smtClean="0">
                <a:latin typeface="微软雅黑" panose="020B0503020204020204" pitchFamily="34" charset="-122"/>
                <a:ea typeface="微软雅黑" panose="020B0503020204020204" pitchFamily="34" charset="-122"/>
              </a:rPr>
              <a:t>1. </a:t>
            </a:r>
            <a:r>
              <a:rPr lang="zh-CN" altLang="en-US" sz="2000" dirty="0" smtClean="0">
                <a:latin typeface="微软雅黑" panose="020B0503020204020204" pitchFamily="34" charset="-122"/>
                <a:ea typeface="微软雅黑" panose="020B0503020204020204" pitchFamily="34" charset="-122"/>
              </a:rPr>
              <a:t>数据预处理</a:t>
            </a:r>
            <a:r>
              <a:rPr lang="en-US" altLang="zh-CN" sz="2000" dirty="0" smtClean="0">
                <a:latin typeface="微软雅黑" panose="020B0503020204020204" pitchFamily="34" charset="-122"/>
                <a:ea typeface="微软雅黑" panose="020B0503020204020204" pitchFamily="34" charset="-122"/>
              </a:rPr>
              <a:t> </a:t>
            </a:r>
          </a:p>
          <a:p>
            <a:pPr marL="288000" indent="0">
              <a:lnSpc>
                <a:spcPct val="150000"/>
              </a:lnSpc>
              <a:buNone/>
            </a:pPr>
            <a:r>
              <a:rPr lang="zh-CN" altLang="en-US"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rPr>
              <a:t>数据质量分析             </a:t>
            </a:r>
            <a:r>
              <a:rPr lang="zh-CN"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rPr>
              <a:t>缺失值处理</a:t>
            </a:r>
            <a:endParaRPr lang="en-US" altLang="zh-CN" sz="2000" dirty="0" smtClean="0">
              <a:latin typeface="微软雅黑" panose="020B0503020204020204" pitchFamily="34" charset="-122"/>
              <a:ea typeface="微软雅黑" panose="020B0503020204020204" pitchFamily="34" charset="-122"/>
            </a:endParaRPr>
          </a:p>
          <a:p>
            <a:pPr marL="0" indent="0">
              <a:lnSpc>
                <a:spcPct val="150000"/>
              </a:lnSpc>
              <a:buNone/>
            </a:pPr>
            <a:r>
              <a:rPr lang="zh-CN" altLang="en-US"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rPr>
              <a:t>异常值处理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rPr>
              <a:t>数据标准化处理</a:t>
            </a:r>
            <a:endParaRPr lang="en-US" altLang="zh-CN" sz="2000" dirty="0">
              <a:latin typeface="微软雅黑" panose="020B0503020204020204" pitchFamily="34" charset="-122"/>
              <a:ea typeface="微软雅黑" panose="020B0503020204020204" pitchFamily="34" charset="-122"/>
            </a:endParaRPr>
          </a:p>
          <a:p>
            <a:pPr marL="0" indent="0">
              <a:lnSpc>
                <a:spcPct val="150000"/>
              </a:lnSpc>
              <a:buNone/>
            </a:pPr>
            <a:r>
              <a:rPr lang="en-US" altLang="zh-CN" sz="2000" dirty="0">
                <a:latin typeface="微软雅黑" panose="020B0503020204020204" pitchFamily="34" charset="-122"/>
                <a:ea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时空</a:t>
            </a:r>
            <a:r>
              <a:rPr lang="zh-CN" altLang="en-US" sz="2000" dirty="0">
                <a:latin typeface="微软雅黑" panose="020B0503020204020204" pitchFamily="34" charset="-122"/>
                <a:ea typeface="微软雅黑" panose="020B0503020204020204" pitchFamily="34" charset="-122"/>
              </a:rPr>
              <a:t>数据分析</a:t>
            </a:r>
            <a:r>
              <a:rPr lang="zh-CN" altLang="en-US" sz="2000" dirty="0" smtClean="0">
                <a:latin typeface="微软雅黑" panose="020B0503020204020204" pitchFamily="34" charset="-122"/>
                <a:ea typeface="微软雅黑" panose="020B0503020204020204" pitchFamily="34" charset="-122"/>
              </a:rPr>
              <a:t>基础</a:t>
            </a:r>
            <a:endParaRPr lang="en-US" altLang="zh-CN" sz="2000" dirty="0" smtClean="0">
              <a:latin typeface="微软雅黑" panose="020B0503020204020204" pitchFamily="34" charset="-122"/>
              <a:ea typeface="微软雅黑" panose="020B0503020204020204" pitchFamily="34" charset="-122"/>
            </a:endParaRPr>
          </a:p>
          <a:p>
            <a:pPr marL="288000" indent="0">
              <a:lnSpc>
                <a:spcPct val="150000"/>
              </a:lnSpc>
              <a:buNone/>
            </a:pPr>
            <a:r>
              <a:rPr lang="zh-CN" altLang="en-US" sz="2000" dirty="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rPr>
              <a:t>时空坐标</a:t>
            </a:r>
            <a:r>
              <a:rPr lang="zh-CN" altLang="en-US" sz="2000" dirty="0">
                <a:latin typeface="微软雅黑" panose="020B0503020204020204" pitchFamily="34" charset="-122"/>
                <a:ea typeface="微软雅黑" panose="020B0503020204020204" pitchFamily="34" charset="-122"/>
              </a:rPr>
              <a:t>系</a:t>
            </a:r>
            <a:r>
              <a:rPr lang="zh-CN" altLang="en-US" sz="2000" dirty="0" smtClean="0">
                <a:latin typeface="微软雅黑" panose="020B0503020204020204" pitchFamily="34" charset="-122"/>
                <a:ea typeface="微软雅黑" panose="020B0503020204020204" pitchFamily="34" charset="-122"/>
              </a:rPr>
              <a:t>转化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 时空</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单元</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划分</a:t>
            </a:r>
            <a:endParaRPr lang="en-US" altLang="zh-CN" sz="2000" dirty="0" smtClean="0">
              <a:latin typeface="微软雅黑" panose="020B0503020204020204" pitchFamily="34" charset="-122"/>
              <a:ea typeface="微软雅黑" panose="020B0503020204020204" pitchFamily="34" charset="-122"/>
              <a:sym typeface="Wingdings" panose="05000000000000000000" pitchFamily="2" charset="2"/>
            </a:endParaRPr>
          </a:p>
          <a:p>
            <a:pPr marL="288000" indent="0">
              <a:lnSpc>
                <a:spcPct val="150000"/>
              </a:lnSpc>
              <a:buNone/>
            </a:pPr>
            <a:r>
              <a:rPr lang="zh-CN" altLang="en-US"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rPr>
              <a:t>时空特征提取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rPr>
              <a:t>案例解析</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滴滴网约车轨迹数据分析</a:t>
            </a:r>
            <a:endParaRPr lang="en-US" altLang="zh-CN" sz="2000" dirty="0">
              <a:latin typeface="微软雅黑" panose="020B0503020204020204" pitchFamily="34" charset="-122"/>
              <a:ea typeface="微软雅黑" panose="020B0503020204020204" pitchFamily="34" charset="-122"/>
            </a:endParaRPr>
          </a:p>
          <a:p>
            <a:pPr marL="0" indent="0">
              <a:lnSpc>
                <a:spcPct val="150000"/>
              </a:lnSpc>
              <a:buNone/>
            </a:pPr>
            <a:r>
              <a:rPr lang="en-US" altLang="zh-CN" sz="2000" dirty="0" smtClean="0">
                <a:latin typeface="微软雅黑" panose="020B0503020204020204" pitchFamily="34" charset="-122"/>
                <a:ea typeface="微软雅黑" panose="020B0503020204020204" pitchFamily="34" charset="-122"/>
              </a:rPr>
              <a:t>3. </a:t>
            </a:r>
            <a:r>
              <a:rPr lang="zh-CN" altLang="en-US" sz="2000" dirty="0" smtClean="0">
                <a:latin typeface="微软雅黑" panose="020B0503020204020204" pitchFamily="34" charset="-122"/>
                <a:ea typeface="微软雅黑" panose="020B0503020204020204" pitchFamily="34" charset="-122"/>
              </a:rPr>
              <a:t>探索性数据分析</a:t>
            </a:r>
            <a:endParaRPr lang="en-US" altLang="zh-CN" sz="2000" dirty="0" smtClean="0">
              <a:latin typeface="微软雅黑" panose="020B0503020204020204" pitchFamily="34" charset="-122"/>
              <a:ea typeface="微软雅黑" panose="020B0503020204020204" pitchFamily="34" charset="-122"/>
            </a:endParaRPr>
          </a:p>
          <a:p>
            <a:pPr marL="288000" indent="0">
              <a:lnSpc>
                <a:spcPct val="150000"/>
              </a:lnSpc>
              <a:buNone/>
            </a:pPr>
            <a:r>
              <a:rPr lang="zh-CN" altLang="en-US" sz="2000" dirty="0" smtClean="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数据分布特征   </a:t>
            </a:r>
            <a:r>
              <a:rPr lang="zh-CN" altLang="en-US" sz="2000" dirty="0" smtClean="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统计量分析</a:t>
            </a:r>
            <a:endParaRPr lang="en-US" altLang="zh-CN" sz="2000" dirty="0">
              <a:latin typeface="微软雅黑" panose="020B0503020204020204" pitchFamily="34" charset="-122"/>
              <a:ea typeface="微软雅黑" panose="020B0503020204020204" pitchFamily="34" charset="-122"/>
              <a:sym typeface="Wingdings" panose="05000000000000000000" pitchFamily="2" charset="2"/>
            </a:endParaRPr>
          </a:p>
          <a:p>
            <a:pPr marL="288000" indent="0">
              <a:lnSpc>
                <a:spcPct val="150000"/>
              </a:lnSpc>
              <a:buNone/>
            </a:pPr>
            <a:r>
              <a:rPr lang="zh-CN"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数据周期性分析 </a:t>
            </a:r>
            <a:r>
              <a:rPr lang="zh-CN" altLang="en-US" sz="2000" dirty="0" smtClean="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smtClean="0">
                <a:latin typeface="微软雅黑" panose="020B0503020204020204" pitchFamily="34" charset="-122"/>
                <a:ea typeface="微软雅黑" panose="020B0503020204020204" pitchFamily="34" charset="-122"/>
                <a:sym typeface="Wingdings" panose="05000000000000000000" pitchFamily="2" charset="2"/>
              </a:rPr>
              <a:t>数据相关性分析</a:t>
            </a:r>
            <a:endParaRPr lang="en-AU" altLang="zh-CN" sz="2000" dirty="0">
              <a:latin typeface="微软雅黑" panose="020B0503020204020204" pitchFamily="34" charset="-122"/>
              <a:ea typeface="微软雅黑" panose="020B0503020204020204" pitchFamily="34" charset="-122"/>
            </a:endParaRP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a:t>
            </a:fld>
            <a:endParaRPr lang="en-US" altLang="zh-CN" dirty="0"/>
          </a:p>
        </p:txBody>
      </p:sp>
    </p:spTree>
    <p:extLst>
      <p:ext uri="{BB962C8B-B14F-4D97-AF65-F5344CB8AC3E}">
        <p14:creationId xmlns:p14="http://schemas.microsoft.com/office/powerpoint/2010/main" val="4084509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3"/>
            <a:ext cx="8229600" cy="1262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1800" b="1" dirty="0" smtClean="0"/>
              <a:t>针对</a:t>
            </a:r>
            <a:r>
              <a:rPr lang="zh-CN" altLang="en-US" sz="1800" b="1" dirty="0"/>
              <a:t>多源、非结构化和高维交通大</a:t>
            </a:r>
            <a:r>
              <a:rPr lang="zh-CN" altLang="en-US" sz="1800" b="1" dirty="0" smtClean="0"/>
              <a:t>数据等海量数据，</a:t>
            </a:r>
            <a:r>
              <a:rPr lang="zh-CN" altLang="en-US" sz="1800" b="1" dirty="0"/>
              <a:t>不能直接进行建模处理，必须分为“探索”和“证实”两个阶段进行分析</a:t>
            </a:r>
            <a:r>
              <a:rPr lang="zh-CN" altLang="en-US" sz="1800" b="1" dirty="0" smtClean="0"/>
              <a:t>。探索</a:t>
            </a:r>
            <a:r>
              <a:rPr lang="zh-CN" altLang="en-US" sz="1800" b="1" dirty="0"/>
              <a:t>阶段，就是本章的核心</a:t>
            </a:r>
            <a:r>
              <a:rPr lang="en-US" altLang="zh-CN" sz="1800" b="1" dirty="0"/>
              <a:t>——</a:t>
            </a:r>
            <a:r>
              <a:rPr lang="zh-CN" altLang="en-US" sz="1800" b="1" dirty="0"/>
              <a:t>探索性数据分析</a:t>
            </a:r>
            <a:endParaRPr lang="en-US" altLang="zh-CN" sz="18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4F6F1582-44EB-4473-AB90-D16D7D5562B8}"/>
              </a:ext>
            </a:extLst>
          </p:cNvPr>
          <p:cNvGrpSpPr/>
          <p:nvPr/>
        </p:nvGrpSpPr>
        <p:grpSpPr>
          <a:xfrm>
            <a:off x="457200" y="3343171"/>
            <a:ext cx="8521701" cy="3115626"/>
            <a:chOff x="6478926" y="1756521"/>
            <a:chExt cx="5850837" cy="2364484"/>
          </a:xfrm>
        </p:grpSpPr>
        <p:sp>
          <p:nvSpPr>
            <p:cNvPr id="13" name="文本框 12">
              <a:extLst>
                <a:ext uri="{FF2B5EF4-FFF2-40B4-BE49-F238E27FC236}">
                  <a16:creationId xmlns:a16="http://schemas.microsoft.com/office/drawing/2014/main" id="{696C20D7-A2FF-4F1C-9761-0A0F37CA5169}"/>
                </a:ext>
              </a:extLst>
            </p:cNvPr>
            <p:cNvSpPr txBox="1"/>
            <p:nvPr/>
          </p:nvSpPr>
          <p:spPr>
            <a:xfrm>
              <a:off x="6478926" y="1756521"/>
              <a:ext cx="5712997" cy="1226270"/>
            </a:xfrm>
            <a:prstGeom prst="rect">
              <a:avLst/>
            </a:prstGeom>
            <a:noFill/>
          </p:spPr>
          <p:txBody>
            <a:bodyPr wrap="square" rtlCol="0">
              <a:spAutoFit/>
            </a:bodyPr>
            <a:lstStyle/>
            <a:p>
              <a:pPr>
                <a:spcAft>
                  <a:spcPts val="600"/>
                </a:spcAft>
              </a:pPr>
              <a:r>
                <a:rPr lang="zh-CN" altLang="en-US" b="1" dirty="0" smtClean="0">
                  <a:latin typeface="Times New Roman" panose="02020603050405020304" pitchFamily="18" charset="0"/>
                  <a:cs typeface="Times New Roman" panose="02020603050405020304" pitchFamily="18" charset="0"/>
                </a:rPr>
                <a:t>数据获取手段</a:t>
              </a:r>
              <a:endParaRPr lang="en-US" altLang="zh-CN" b="1" dirty="0" smtClean="0">
                <a:latin typeface="Times New Roman" panose="02020603050405020304" pitchFamily="18" charset="0"/>
                <a:cs typeface="Times New Roman" panose="02020603050405020304" pitchFamily="18" charset="0"/>
              </a:endParaRPr>
            </a:p>
            <a:p>
              <a:pPr marL="285750" indent="-285750">
                <a:spcAft>
                  <a:spcPts val="600"/>
                </a:spcAft>
                <a:buFont typeface="Wingdings" panose="05000000000000000000" pitchFamily="2" charset="2"/>
                <a:buChar char="Ø"/>
              </a:pPr>
              <a:r>
                <a:rPr lang="zh-CN" altLang="en-US" b="1" dirty="0" smtClean="0">
                  <a:latin typeface="Times New Roman" panose="02020603050405020304" pitchFamily="18" charset="0"/>
                  <a:cs typeface="Times New Roman" panose="02020603050405020304" pitchFamily="18" charset="0"/>
                </a:rPr>
                <a:t>人工</a:t>
              </a:r>
              <a:r>
                <a:rPr lang="zh-CN" altLang="en-US" b="1" dirty="0">
                  <a:latin typeface="Times New Roman" panose="02020603050405020304" pitchFamily="18" charset="0"/>
                  <a:cs typeface="Times New Roman" panose="02020603050405020304" pitchFamily="18" charset="0"/>
                </a:rPr>
                <a:t>采集</a:t>
              </a:r>
              <a:r>
                <a:rPr lang="zh-CN" altLang="en-US" dirty="0">
                  <a:latin typeface="Times New Roman" panose="02020603050405020304" pitchFamily="18" charset="0"/>
                  <a:cs typeface="Times New Roman" panose="02020603050405020304" pitchFamily="18" charset="0"/>
                </a:rPr>
                <a:t>数据是人工使用仪器</a:t>
              </a:r>
              <a:r>
                <a:rPr lang="zh-CN" altLang="en-US" dirty="0" smtClean="0">
                  <a:latin typeface="Times New Roman" panose="02020603050405020304" pitchFamily="18" charset="0"/>
                  <a:cs typeface="Times New Roman" panose="02020603050405020304" pitchFamily="18" charset="0"/>
                </a:rPr>
                <a:t>对研究</a:t>
              </a:r>
              <a:r>
                <a:rPr lang="zh-CN" altLang="en-US" dirty="0">
                  <a:latin typeface="Times New Roman" panose="02020603050405020304" pitchFamily="18" charset="0"/>
                  <a:cs typeface="Times New Roman" panose="02020603050405020304" pitchFamily="18" charset="0"/>
                </a:rPr>
                <a:t>对象进行观测和记录</a:t>
              </a:r>
              <a:r>
                <a:rPr lang="zh-CN" altLang="en-US"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400" dirty="0" smtClean="0">
                <a:latin typeface="Times New Roman" panose="02020603050405020304" pitchFamily="18" charset="0"/>
                <a:cs typeface="Times New Roman" panose="02020603050405020304" pitchFamily="18" charset="0"/>
              </a:endParaRPr>
            </a:p>
            <a:p>
              <a:pPr marL="285750" indent="-285750">
                <a:spcAft>
                  <a:spcPts val="600"/>
                </a:spcAft>
                <a:buFont typeface="Wingdings" panose="05000000000000000000" pitchFamily="2" charset="2"/>
                <a:buChar char="Ø"/>
              </a:pPr>
              <a:r>
                <a:rPr lang="zh-CN" altLang="en-US" b="1" dirty="0" smtClean="0">
                  <a:latin typeface="Times New Roman" panose="02020603050405020304" pitchFamily="18" charset="0"/>
                  <a:cs typeface="Times New Roman" panose="02020603050405020304" pitchFamily="18" charset="0"/>
                </a:rPr>
                <a:t>自动</a:t>
              </a:r>
              <a:r>
                <a:rPr lang="zh-CN" altLang="en-US" b="1" dirty="0">
                  <a:latin typeface="Times New Roman" panose="02020603050405020304" pitchFamily="18" charset="0"/>
                  <a:cs typeface="Times New Roman" panose="02020603050405020304" pitchFamily="18" charset="0"/>
                </a:rPr>
                <a:t>采集</a:t>
              </a:r>
              <a:r>
                <a:rPr lang="zh-CN" altLang="en-US" dirty="0">
                  <a:latin typeface="Times New Roman" panose="02020603050405020304" pitchFamily="18" charset="0"/>
                  <a:cs typeface="Times New Roman" panose="02020603050405020304" pitchFamily="18" charset="0"/>
                </a:rPr>
                <a:t>是由传感器自动测量，并将测量信息自动转换成数字信号，传送至终</a:t>
              </a:r>
            </a:p>
            <a:p>
              <a:pPr>
                <a:spcAft>
                  <a:spcPts val="600"/>
                </a:spcAft>
              </a:pPr>
              <a:r>
                <a:rPr lang="zh-CN" altLang="en-US" dirty="0">
                  <a:latin typeface="Times New Roman" panose="02020603050405020304" pitchFamily="18" charset="0"/>
                  <a:cs typeface="Times New Roman" panose="02020603050405020304" pitchFamily="18" charset="0"/>
                </a:rPr>
                <a:t>端数据存储设备</a:t>
              </a:r>
              <a:r>
                <a:rPr lang="zh-CN" altLang="en-US"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sym typeface="Wingdings" panose="05000000000000000000" pitchFamily="2" charset="2"/>
                </a:rPr>
                <a:t></a:t>
              </a:r>
              <a:endParaRPr lang="zh-CN" altLang="en-US" sz="2400" b="1"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6478926" y="2859700"/>
              <a:ext cx="5850837" cy="1261305"/>
            </a:xfrm>
            <a:prstGeom prst="rect">
              <a:avLst/>
            </a:prstGeom>
            <a:noFill/>
          </p:spPr>
          <p:txBody>
            <a:bodyPr wrap="square" rtlCol="0">
              <a:spAutoFit/>
            </a:bodyPr>
            <a:lstStyle/>
            <a:p>
              <a:pPr>
                <a:lnSpc>
                  <a:spcPct val="150000"/>
                </a:lnSpc>
                <a:spcAft>
                  <a:spcPts val="600"/>
                </a:spcAft>
              </a:pPr>
              <a:r>
                <a:rPr lang="zh-CN" altLang="en-US" sz="2800" b="1"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zh-CN" altLang="en-US" b="1" dirty="0" smtClean="0">
                  <a:latin typeface="Times New Roman" panose="02020603050405020304" pitchFamily="18" charset="0"/>
                  <a:cs typeface="Times New Roman" panose="02020603050405020304" pitchFamily="18" charset="0"/>
                </a:rPr>
                <a:t>采集到的数据存在哪些问题？可能会造成那些后果？</a:t>
              </a:r>
              <a:r>
                <a:rPr lang="zh-CN" altLang="en-US" b="1" dirty="0" smtClean="0"/>
                <a:t>数据预处理的重要性？</a:t>
              </a:r>
              <a:endParaRPr lang="en-US" altLang="zh-CN" b="1" dirty="0" smtClean="0"/>
            </a:p>
            <a:p>
              <a:r>
                <a:rPr lang="zh-CN" altLang="en-US" sz="2800" dirty="0" smtClean="0">
                  <a:latin typeface="Times New Roman" panose="02020603050405020304" pitchFamily="18" charset="0"/>
                  <a:cs typeface="Times New Roman" panose="02020603050405020304" pitchFamily="18" charset="0"/>
                  <a:sym typeface="Wingdings" panose="05000000000000000000" pitchFamily="2" charset="2"/>
                </a:rPr>
                <a:t></a:t>
              </a:r>
              <a:r>
                <a:rPr lang="zh-CN" altLang="en-US" dirty="0" smtClean="0"/>
                <a:t>本</a:t>
              </a:r>
              <a:r>
                <a:rPr lang="zh-CN" altLang="en-US" dirty="0"/>
                <a:t>节将介绍交通大</a:t>
              </a:r>
              <a:r>
                <a:rPr lang="zh-CN" altLang="en-US" b="1" dirty="0"/>
                <a:t>数据预处理的四个核心阶段</a:t>
              </a:r>
              <a:r>
                <a:rPr lang="zh-CN" altLang="en-US" dirty="0" smtClean="0"/>
                <a:t>：</a:t>
              </a:r>
              <a:endParaRPr lang="en-US" altLang="zh-CN" dirty="0" smtClean="0"/>
            </a:p>
            <a:p>
              <a:pPr>
                <a:lnSpc>
                  <a:spcPct val="150000"/>
                </a:lnSpc>
              </a:pPr>
              <a:r>
                <a:rPr lang="zh-CN" altLang="en-US" b="1" u="sng" dirty="0" smtClean="0"/>
                <a:t>数据质量分析</a:t>
              </a:r>
              <a:r>
                <a:rPr lang="en-US" altLang="zh-CN" b="1" dirty="0" smtClean="0"/>
                <a:t>——</a:t>
              </a:r>
              <a:r>
                <a:rPr lang="zh-CN" altLang="en-US" b="1" u="sng" dirty="0" smtClean="0"/>
                <a:t>缺失</a:t>
              </a:r>
              <a:r>
                <a:rPr lang="zh-CN" altLang="en-US" b="1" u="sng" dirty="0"/>
                <a:t>值</a:t>
              </a:r>
              <a:r>
                <a:rPr lang="zh-CN" altLang="en-US" b="1" u="sng" dirty="0" smtClean="0"/>
                <a:t>处理</a:t>
              </a:r>
              <a:r>
                <a:rPr lang="en-US" altLang="zh-CN" b="1" dirty="0" smtClean="0"/>
                <a:t>——</a:t>
              </a:r>
              <a:r>
                <a:rPr lang="zh-CN" altLang="en-US" b="1" u="sng" dirty="0" smtClean="0"/>
                <a:t>异常值处理</a:t>
              </a:r>
              <a:r>
                <a:rPr lang="en-US" altLang="zh-CN" b="1" dirty="0" smtClean="0"/>
                <a:t>——</a:t>
              </a:r>
              <a:r>
                <a:rPr lang="zh-CN" altLang="en-US" b="1" u="sng" dirty="0" smtClean="0"/>
                <a:t>数据</a:t>
              </a:r>
              <a:r>
                <a:rPr lang="zh-CN" altLang="en-US" b="1" u="sng" dirty="0"/>
                <a:t>标准化处理</a:t>
              </a:r>
            </a:p>
          </p:txBody>
        </p:sp>
      </p:grpSp>
    </p:spTree>
    <p:extLst>
      <p:ext uri="{BB962C8B-B14F-4D97-AF65-F5344CB8AC3E}">
        <p14:creationId xmlns:p14="http://schemas.microsoft.com/office/powerpoint/2010/main" val="2303342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数据质量分析</a:t>
            </a:r>
            <a:endParaRPr lang="en-US" altLang="zh-CN" dirty="0">
              <a:solidFill>
                <a:srgbClr val="4F81BD"/>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4F6F1582-44EB-4473-AB90-D16D7D5562B8}"/>
              </a:ext>
            </a:extLst>
          </p:cNvPr>
          <p:cNvGrpSpPr/>
          <p:nvPr/>
        </p:nvGrpSpPr>
        <p:grpSpPr>
          <a:xfrm>
            <a:off x="457200" y="2517170"/>
            <a:ext cx="8521701" cy="3893374"/>
            <a:chOff x="6478926" y="1756521"/>
            <a:chExt cx="5850837" cy="3893374"/>
          </a:xfrm>
        </p:grpSpPr>
        <p:sp>
          <p:nvSpPr>
            <p:cNvPr id="13" name="文本框 12">
              <a:extLst>
                <a:ext uri="{FF2B5EF4-FFF2-40B4-BE49-F238E27FC236}">
                  <a16:creationId xmlns:a16="http://schemas.microsoft.com/office/drawing/2014/main" id="{696C20D7-A2FF-4F1C-9761-0A0F37CA5169}"/>
                </a:ext>
              </a:extLst>
            </p:cNvPr>
            <p:cNvSpPr txBox="1"/>
            <p:nvPr/>
          </p:nvSpPr>
          <p:spPr>
            <a:xfrm>
              <a:off x="6478926" y="1756521"/>
              <a:ext cx="5788098" cy="1200329"/>
            </a:xfrm>
            <a:prstGeom prst="rect">
              <a:avLst/>
            </a:prstGeom>
            <a:noFill/>
          </p:spPr>
          <p:txBody>
            <a:bodyPr wrap="square" rtlCol="0">
              <a:spAutoFit/>
            </a:bodyPr>
            <a:lstStyle/>
            <a:p>
              <a:r>
                <a:rPr lang="zh-CN" altLang="en-US" b="1" dirty="0" smtClean="0"/>
                <a:t>数据质量</a:t>
              </a:r>
              <a:r>
                <a:rPr lang="zh-CN" altLang="en-US" b="1" dirty="0"/>
                <a:t>分析</a:t>
              </a:r>
              <a:r>
                <a:rPr lang="zh-CN" altLang="en-US" dirty="0"/>
                <a:t>是预处理的重要一环，也是确保数据分析结论有效性和准确性的基础。数据质量分析的主要任务是检查是否存在</a:t>
              </a:r>
              <a:r>
                <a:rPr lang="zh-CN" altLang="en-US" b="1" dirty="0"/>
                <a:t>“脏数据”</a:t>
              </a:r>
              <a:r>
                <a:rPr lang="zh-CN" altLang="en-US" dirty="0" smtClean="0"/>
                <a:t>。</a:t>
              </a:r>
              <a:endParaRPr lang="en-US" altLang="zh-CN" dirty="0" smtClean="0"/>
            </a:p>
            <a:p>
              <a:r>
                <a:rPr lang="zh-CN" altLang="en-US" dirty="0" smtClean="0"/>
                <a:t>脏数据</a:t>
              </a:r>
              <a:r>
                <a:rPr lang="zh-CN" altLang="en-US" dirty="0"/>
                <a:t>：</a:t>
              </a:r>
              <a:r>
                <a:rPr lang="zh-CN" altLang="en-US" dirty="0" smtClean="0"/>
                <a:t>指不符合</a:t>
              </a:r>
              <a:r>
                <a:rPr lang="zh-CN" altLang="en-US" dirty="0"/>
                <a:t>要求、不能直接进行相应分析的数据，包括</a:t>
              </a:r>
              <a:r>
                <a:rPr lang="zh-CN" altLang="en-US" b="1" u="sng" dirty="0">
                  <a:latin typeface="黑体" panose="02010609060101010101" pitchFamily="49" charset="-122"/>
                  <a:ea typeface="黑体" panose="02010609060101010101" pitchFamily="49" charset="-122"/>
                </a:rPr>
                <a:t>缺失值</a:t>
              </a:r>
              <a:r>
                <a:rPr lang="zh-CN" altLang="en-US" b="1" dirty="0">
                  <a:latin typeface="黑体" panose="02010609060101010101" pitchFamily="49" charset="-122"/>
                  <a:ea typeface="黑体" panose="02010609060101010101" pitchFamily="49" charset="-122"/>
                </a:rPr>
                <a:t>、</a:t>
              </a:r>
              <a:r>
                <a:rPr lang="zh-CN" altLang="en-US" b="1" u="sng" dirty="0">
                  <a:latin typeface="黑体" panose="02010609060101010101" pitchFamily="49" charset="-122"/>
                  <a:ea typeface="黑体" panose="02010609060101010101" pitchFamily="49" charset="-122"/>
                </a:rPr>
                <a:t>异常值</a:t>
              </a:r>
              <a:r>
                <a:rPr lang="zh-CN" altLang="en-US" b="1" dirty="0">
                  <a:latin typeface="黑体" panose="02010609060101010101" pitchFamily="49" charset="-122"/>
                  <a:ea typeface="黑体" panose="02010609060101010101" pitchFamily="49" charset="-122"/>
                </a:rPr>
                <a:t>、格式不一致的值、重复数据及含有特殊</a:t>
              </a:r>
              <a:r>
                <a:rPr lang="zh-CN" altLang="en-US" b="1" dirty="0" smtClean="0">
                  <a:latin typeface="黑体" panose="02010609060101010101" pitchFamily="49" charset="-122"/>
                  <a:ea typeface="黑体" panose="02010609060101010101" pitchFamily="49" charset="-122"/>
                </a:rPr>
                <a:t>符号</a:t>
              </a:r>
              <a:r>
                <a:rPr lang="zh-CN" altLang="en-US" dirty="0" smtClean="0"/>
                <a:t>（</a:t>
              </a:r>
              <a:r>
                <a:rPr lang="zh-CN" altLang="en-US" dirty="0"/>
                <a:t>如</a:t>
              </a:r>
              <a:r>
                <a:rPr lang="en-US" altLang="zh-CN" dirty="0"/>
                <a:t>#</a:t>
              </a:r>
              <a:r>
                <a:rPr lang="zh-CN" altLang="en-US" dirty="0"/>
                <a:t>、￥、*）的数据</a:t>
              </a:r>
              <a:r>
                <a:rPr lang="zh-CN" altLang="en-US" dirty="0" smtClean="0"/>
                <a:t>等。</a:t>
              </a:r>
              <a:endParaRPr lang="zh-CN" altLang="en-US" b="1"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6478926" y="2956850"/>
              <a:ext cx="5850837" cy="2693045"/>
            </a:xfrm>
            <a:prstGeom prst="rect">
              <a:avLst/>
            </a:prstGeom>
            <a:no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1. </a:t>
              </a:r>
              <a:r>
                <a:rPr lang="zh-CN" altLang="en-US" b="1" dirty="0" smtClean="0">
                  <a:latin typeface="Times New Roman" panose="02020603050405020304" pitchFamily="18" charset="0"/>
                  <a:cs typeface="Times New Roman" panose="02020603050405020304" pitchFamily="18" charset="0"/>
                </a:rPr>
                <a:t>缺失值检查</a:t>
              </a:r>
              <a:endParaRPr lang="en-US" altLang="zh-CN" b="1" dirty="0" smtClean="0">
                <a:latin typeface="Times New Roman" panose="02020603050405020304" pitchFamily="18" charset="0"/>
                <a:cs typeface="Times New Roman" panose="02020603050405020304" pitchFamily="18" charset="0"/>
              </a:endParaRPr>
            </a:p>
            <a:p>
              <a:pPr>
                <a:spcAft>
                  <a:spcPts val="600"/>
                </a:spcAft>
              </a:pPr>
              <a:r>
                <a:rPr lang="zh-CN" altLang="en-US" dirty="0"/>
                <a:t>缺失值主要包括数据记录的整体缺失，以及记录中某些字段信息的缺失。这两者都会造成计算中断</a:t>
              </a:r>
              <a:r>
                <a:rPr lang="zh-CN" altLang="en-US" dirty="0" smtClean="0"/>
                <a:t>或者</a:t>
              </a:r>
              <a:r>
                <a:rPr lang="zh-CN" altLang="en-US" dirty="0"/>
                <a:t>分析结果的不</a:t>
              </a:r>
              <a:r>
                <a:rPr lang="zh-CN" altLang="en-US" dirty="0" smtClean="0"/>
                <a:t>准确。</a:t>
              </a:r>
              <a:endParaRPr lang="en-US" altLang="zh-CN" dirty="0" smtClean="0"/>
            </a:p>
            <a:p>
              <a:pPr>
                <a:spcAft>
                  <a:spcPts val="600"/>
                </a:spcAft>
              </a:pPr>
              <a:r>
                <a:rPr lang="zh-CN" altLang="en-US" b="1" dirty="0" smtClean="0"/>
                <a:t>（</a:t>
              </a:r>
              <a:r>
                <a:rPr lang="en-US" altLang="zh-CN" b="1" dirty="0"/>
                <a:t>1</a:t>
              </a:r>
              <a:r>
                <a:rPr lang="zh-CN" altLang="en-US" b="1" dirty="0"/>
                <a:t>）缺失值产生原因有：</a:t>
              </a:r>
            </a:p>
            <a:p>
              <a:pPr>
                <a:spcAft>
                  <a:spcPts val="600"/>
                </a:spcAft>
              </a:pPr>
              <a:r>
                <a:rPr lang="zh-CN" altLang="en-US" dirty="0"/>
                <a:t>①交通数据中部分信息</a:t>
              </a:r>
              <a:r>
                <a:rPr lang="zh-CN" altLang="en-US" b="1" dirty="0">
                  <a:solidFill>
                    <a:srgbClr val="FF0000"/>
                  </a:solidFill>
                  <a:latin typeface="黑体" panose="02010609060101010101" pitchFamily="49" charset="-122"/>
                  <a:ea typeface="黑体" panose="02010609060101010101" pitchFamily="49" charset="-122"/>
                </a:rPr>
                <a:t>无法获取</a:t>
              </a:r>
              <a:r>
                <a:rPr lang="zh-CN" altLang="en-US" dirty="0"/>
                <a:t>，或者获取信息的代价太大</a:t>
              </a:r>
              <a:r>
                <a:rPr lang="zh-CN" altLang="en-US" dirty="0" smtClean="0"/>
                <a:t>。</a:t>
              </a:r>
              <a:endParaRPr lang="en-US" altLang="zh-CN" dirty="0" smtClean="0"/>
            </a:p>
            <a:p>
              <a:pPr>
                <a:spcAft>
                  <a:spcPts val="600"/>
                </a:spcAft>
              </a:pPr>
              <a:r>
                <a:rPr lang="zh-CN" altLang="en-US" dirty="0" smtClean="0"/>
                <a:t>②</a:t>
              </a:r>
              <a:r>
                <a:rPr lang="zh-CN" altLang="en-US" dirty="0"/>
                <a:t>部分信息由于某些特定原因被</a:t>
              </a:r>
              <a:r>
                <a:rPr lang="zh-CN" altLang="en-US" b="1" dirty="0">
                  <a:solidFill>
                    <a:srgbClr val="FF0000"/>
                  </a:solidFill>
                  <a:latin typeface="黑体" panose="02010609060101010101" pitchFamily="49" charset="-122"/>
                  <a:ea typeface="黑体" panose="02010609060101010101" pitchFamily="49" charset="-122"/>
                </a:rPr>
                <a:t>遗漏</a:t>
              </a:r>
              <a:r>
                <a:rPr lang="zh-CN" altLang="en-US" dirty="0" smtClean="0"/>
                <a:t>。</a:t>
              </a:r>
              <a:endParaRPr lang="en-US" altLang="zh-CN" dirty="0" smtClean="0"/>
            </a:p>
            <a:p>
              <a:pPr>
                <a:spcAft>
                  <a:spcPts val="600"/>
                </a:spcAft>
              </a:pPr>
              <a:r>
                <a:rPr lang="zh-CN" altLang="en-US" dirty="0" smtClean="0"/>
                <a:t>③</a:t>
              </a:r>
              <a:r>
                <a:rPr lang="zh-CN" altLang="en-US" dirty="0"/>
                <a:t>在某些情况下，缺失值并不意味着数据有错误，而是由于某些属性值对一些对象来说是不存在的</a:t>
              </a:r>
              <a:r>
                <a:rPr lang="zh-CN" altLang="en-US" dirty="0" smtClean="0"/>
                <a:t>。</a:t>
              </a:r>
              <a:endParaRPr lang="zh-CN" altLang="en-US" dirty="0"/>
            </a:p>
          </p:txBody>
        </p:sp>
      </p:grpSp>
    </p:spTree>
    <p:extLst>
      <p:ext uri="{BB962C8B-B14F-4D97-AF65-F5344CB8AC3E}">
        <p14:creationId xmlns:p14="http://schemas.microsoft.com/office/powerpoint/2010/main" val="28262196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数据质量分析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57200" y="2513734"/>
            <a:ext cx="8521701" cy="1708160"/>
          </a:xfrm>
          <a:prstGeom prst="rect">
            <a:avLst/>
          </a:prstGeom>
          <a:noFill/>
        </p:spPr>
        <p:txBody>
          <a:bodyPr wrap="square" rtlCol="0">
            <a:spAutoFit/>
          </a:bodyPr>
          <a:lstStyle/>
          <a:p>
            <a:pPr>
              <a:spcAft>
                <a:spcPts val="600"/>
              </a:spcAft>
            </a:pPr>
            <a:r>
              <a:rPr lang="zh-CN" altLang="en-US" dirty="0" smtClean="0"/>
              <a:t>（</a:t>
            </a:r>
            <a:r>
              <a:rPr lang="en-US" altLang="zh-CN" dirty="0" smtClean="0"/>
              <a:t>2</a:t>
            </a:r>
            <a:r>
              <a:rPr lang="zh-CN" altLang="en-US" dirty="0" smtClean="0"/>
              <a:t>）</a:t>
            </a:r>
            <a:r>
              <a:rPr lang="zh-CN" altLang="en-US" dirty="0"/>
              <a:t>缺失值的影响有：</a:t>
            </a:r>
          </a:p>
          <a:p>
            <a:pPr>
              <a:spcAft>
                <a:spcPts val="600"/>
              </a:spcAft>
            </a:pPr>
            <a:r>
              <a:rPr lang="zh-CN" altLang="en-US" dirty="0"/>
              <a:t>①缺失值本身可能丢失了大量的有用信息；</a:t>
            </a:r>
          </a:p>
          <a:p>
            <a:pPr>
              <a:spcAft>
                <a:spcPts val="600"/>
              </a:spcAft>
            </a:pPr>
            <a:r>
              <a:rPr lang="zh-CN" altLang="en-US" dirty="0"/>
              <a:t>②缺失值使数据分析时所表现出来的不确定性更加显著，其隐藏的规律更难把握；</a:t>
            </a:r>
          </a:p>
          <a:p>
            <a:pPr>
              <a:spcAft>
                <a:spcPts val="600"/>
              </a:spcAft>
            </a:pPr>
            <a:r>
              <a:rPr lang="zh-CN" altLang="en-US" dirty="0"/>
              <a:t>③包含空值的数据可能会使数据分析过程陷入混乱，导致输出存在误差或者输出没有具有数字</a:t>
            </a:r>
            <a:r>
              <a:rPr lang="zh-CN" altLang="en-US" dirty="0" smtClean="0"/>
              <a:t>意义的</a:t>
            </a:r>
            <a:r>
              <a:rPr lang="zh-CN" altLang="en-US" dirty="0"/>
              <a:t>值</a:t>
            </a:r>
            <a:r>
              <a:rPr lang="zh-CN" altLang="en-US" dirty="0" smtClean="0"/>
              <a:t>。</a:t>
            </a:r>
            <a:endParaRPr lang="zh-CN" altLang="en-US" dirty="0"/>
          </a:p>
        </p:txBody>
      </p:sp>
      <p:sp>
        <p:nvSpPr>
          <p:cNvPr id="8" name="文本框 7">
            <a:extLst>
              <a:ext uri="{FF2B5EF4-FFF2-40B4-BE49-F238E27FC236}">
                <a16:creationId xmlns:a16="http://schemas.microsoft.com/office/drawing/2014/main" id="{803F80B7-51B4-43C4-8D0C-E2DBF631AC6E}"/>
              </a:ext>
            </a:extLst>
          </p:cNvPr>
          <p:cNvSpPr txBox="1"/>
          <p:nvPr/>
        </p:nvSpPr>
        <p:spPr>
          <a:xfrm>
            <a:off x="457199" y="4278973"/>
            <a:ext cx="8521701" cy="2339102"/>
          </a:xfrm>
          <a:prstGeom prst="rect">
            <a:avLst/>
          </a:prstGeom>
          <a:no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异常值检查</a:t>
            </a:r>
          </a:p>
          <a:p>
            <a:pPr>
              <a:spcAft>
                <a:spcPts val="600"/>
              </a:spcAft>
            </a:pPr>
            <a:r>
              <a:rPr lang="zh-CN" altLang="en-US" b="1" dirty="0">
                <a:latin typeface="Times New Roman" panose="02020603050405020304" pitchFamily="18" charset="0"/>
                <a:cs typeface="Times New Roman" panose="02020603050405020304" pitchFamily="18" charset="0"/>
              </a:rPr>
              <a:t>异常值</a:t>
            </a:r>
            <a:r>
              <a:rPr lang="zh-CN" altLang="en-US" dirty="0">
                <a:latin typeface="Times New Roman" panose="02020603050405020304" pitchFamily="18" charset="0"/>
                <a:cs typeface="Times New Roman" panose="02020603050405020304" pitchFamily="18" charset="0"/>
              </a:rPr>
              <a:t>是指录入错误或者不合常理的数据，异常值通常明显偏离大部分观测值的取值范围</a:t>
            </a:r>
            <a:r>
              <a:rPr lang="zh-CN" altLang="en-US" dirty="0" smtClean="0">
                <a:latin typeface="Times New Roman" panose="02020603050405020304" pitchFamily="18" charset="0"/>
                <a:cs typeface="Times New Roman" panose="02020603050405020304" pitchFamily="18" charset="0"/>
              </a:rPr>
              <a:t>。</a:t>
            </a:r>
            <a:r>
              <a:rPr lang="zh-CN" altLang="en-US" dirty="0" smtClean="0">
                <a:solidFill>
                  <a:srgbClr val="FF0000"/>
                </a:solidFill>
                <a:latin typeface="Times New Roman" panose="02020603050405020304" pitchFamily="18" charset="0"/>
                <a:cs typeface="Times New Roman" panose="02020603050405020304" pitchFamily="18" charset="0"/>
              </a:rPr>
              <a:t>？</a:t>
            </a:r>
            <a:endParaRPr lang="en-US" altLang="zh-CN" dirty="0" smtClean="0">
              <a:solidFill>
                <a:srgbClr val="FF0000"/>
              </a:solidFill>
              <a:latin typeface="Times New Roman" panose="02020603050405020304" pitchFamily="18" charset="0"/>
              <a:cs typeface="Times New Roman" panose="02020603050405020304" pitchFamily="18" charset="0"/>
            </a:endParaRPr>
          </a:p>
          <a:p>
            <a:pPr>
              <a:spcAft>
                <a:spcPts val="600"/>
              </a:spcAft>
            </a:pPr>
            <a:r>
              <a:rPr lang="zh-CN" altLang="en-US" dirty="0" smtClean="0"/>
              <a:t>（</a:t>
            </a:r>
            <a:r>
              <a:rPr lang="en-US" altLang="zh-CN" dirty="0"/>
              <a:t>1</a:t>
            </a:r>
            <a:r>
              <a:rPr lang="zh-CN" altLang="en-US" dirty="0" smtClean="0"/>
              <a:t>）异常值</a:t>
            </a:r>
            <a:r>
              <a:rPr lang="zh-CN" altLang="en-US" dirty="0"/>
              <a:t>产生原因</a:t>
            </a:r>
            <a:r>
              <a:rPr lang="zh-CN" altLang="en-US" dirty="0" smtClean="0"/>
              <a:t>有</a:t>
            </a:r>
            <a:endParaRPr lang="zh-CN" altLang="en-US" dirty="0"/>
          </a:p>
          <a:p>
            <a:pPr>
              <a:spcAft>
                <a:spcPts val="600"/>
              </a:spcAft>
            </a:pPr>
            <a:r>
              <a:rPr lang="zh-CN" altLang="en-US" b="1" dirty="0" smtClean="0"/>
              <a:t>人为原因</a:t>
            </a:r>
            <a:r>
              <a:rPr lang="zh-CN" altLang="en-US" dirty="0" smtClean="0"/>
              <a:t>包括</a:t>
            </a:r>
            <a:r>
              <a:rPr lang="zh-CN" altLang="en-US" b="1" dirty="0">
                <a:solidFill>
                  <a:srgbClr val="FF0000"/>
                </a:solidFill>
                <a:latin typeface="黑体" panose="02010609060101010101" pitchFamily="49" charset="-122"/>
                <a:ea typeface="黑体" panose="02010609060101010101" pitchFamily="49" charset="-122"/>
              </a:rPr>
              <a:t>数据输入错误、测量误差、实验误差、抽样错误</a:t>
            </a:r>
            <a:r>
              <a:rPr lang="zh-CN" altLang="en-US" dirty="0"/>
              <a:t>等</a:t>
            </a:r>
            <a:r>
              <a:rPr lang="zh-CN" altLang="en-US" dirty="0" smtClean="0"/>
              <a:t>因素</a:t>
            </a:r>
            <a:r>
              <a:rPr lang="zh-CN" altLang="en-US" dirty="0"/>
              <a:t>，会对后续分析带来较大的影响。</a:t>
            </a:r>
            <a:endParaRPr lang="en-US" altLang="zh-CN" dirty="0" smtClean="0"/>
          </a:p>
          <a:p>
            <a:pPr>
              <a:spcAft>
                <a:spcPts val="600"/>
              </a:spcAft>
            </a:pPr>
            <a:r>
              <a:rPr lang="zh-CN" altLang="en-US" b="1" dirty="0"/>
              <a:t>自然原因</a:t>
            </a:r>
            <a:r>
              <a:rPr lang="zh-CN" altLang="en-US" dirty="0"/>
              <a:t>造成的异常值，也称为</a:t>
            </a:r>
            <a:r>
              <a:rPr lang="zh-CN" altLang="en-US" b="1" dirty="0">
                <a:solidFill>
                  <a:srgbClr val="FF0000"/>
                </a:solidFill>
                <a:latin typeface="黑体" panose="02010609060101010101" pitchFamily="49" charset="-122"/>
                <a:ea typeface="黑体" panose="02010609060101010101" pitchFamily="49" charset="-122"/>
              </a:rPr>
              <a:t>离群点</a:t>
            </a:r>
            <a:r>
              <a:rPr lang="zh-CN" altLang="en-US" dirty="0"/>
              <a:t>，其在一定程度上反映了数据</a:t>
            </a:r>
            <a:r>
              <a:rPr lang="zh-CN" altLang="en-US" dirty="0" smtClean="0"/>
              <a:t>集的</a:t>
            </a:r>
            <a:r>
              <a:rPr lang="zh-CN" altLang="en-US" dirty="0"/>
              <a:t>分布特征</a:t>
            </a:r>
            <a:r>
              <a:rPr lang="zh-CN" altLang="en-US" dirty="0" smtClean="0"/>
              <a:t>。</a:t>
            </a:r>
            <a:endParaRPr lang="en-US" altLang="zh-CN" dirty="0" smtClean="0"/>
          </a:p>
        </p:txBody>
      </p:sp>
    </p:spTree>
    <p:extLst>
      <p:ext uri="{BB962C8B-B14F-4D97-AF65-F5344CB8AC3E}">
        <p14:creationId xmlns:p14="http://schemas.microsoft.com/office/powerpoint/2010/main" val="39677547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6</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数据质量分析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32728" y="2617531"/>
            <a:ext cx="8711272" cy="4170372"/>
          </a:xfrm>
          <a:prstGeom prst="rect">
            <a:avLst/>
          </a:prstGeom>
          <a:solidFill>
            <a:schemeClr val="bg1"/>
          </a:solid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2. </a:t>
            </a:r>
            <a:r>
              <a:rPr lang="zh-CN" altLang="en-US" b="1" dirty="0" smtClean="0">
                <a:latin typeface="Times New Roman" panose="02020603050405020304" pitchFamily="18" charset="0"/>
                <a:cs typeface="Times New Roman" panose="02020603050405020304" pitchFamily="18" charset="0"/>
              </a:rPr>
              <a:t>异常值检查</a:t>
            </a:r>
            <a:endParaRPr lang="en-US" altLang="zh-CN" b="1" dirty="0" smtClean="0">
              <a:latin typeface="Times New Roman" panose="02020603050405020304" pitchFamily="18" charset="0"/>
              <a:cs typeface="Times New Roman" panose="02020603050405020304" pitchFamily="18" charset="0"/>
            </a:endParaRPr>
          </a:p>
          <a:p>
            <a:pPr>
              <a:spcAft>
                <a:spcPts val="600"/>
              </a:spcAft>
            </a:pPr>
            <a:r>
              <a:rPr lang="zh-CN" altLang="en-US" dirty="0" smtClean="0"/>
              <a:t>（</a:t>
            </a:r>
            <a:r>
              <a:rPr lang="en-US" altLang="zh-CN" dirty="0" smtClean="0"/>
              <a:t>2</a:t>
            </a:r>
            <a:r>
              <a:rPr lang="zh-CN" altLang="en-US" dirty="0" smtClean="0"/>
              <a:t>）异常值检查方法</a:t>
            </a:r>
            <a:endParaRPr lang="zh-CN" altLang="en-US" dirty="0"/>
          </a:p>
          <a:p>
            <a:pPr marL="342900" indent="-342900">
              <a:spcAft>
                <a:spcPts val="600"/>
              </a:spcAft>
              <a:buFont typeface="+mj-ea"/>
              <a:buAutoNum type="circleNumDbPlain"/>
            </a:pPr>
            <a:r>
              <a:rPr lang="zh-CN" altLang="en-US" b="1" dirty="0" smtClean="0">
                <a:solidFill>
                  <a:srgbClr val="FF0000"/>
                </a:solidFill>
                <a:latin typeface="黑体" panose="02010609060101010101" pitchFamily="49" charset="-122"/>
                <a:ea typeface="黑体" panose="02010609060101010101" pitchFamily="49" charset="-122"/>
              </a:rPr>
              <a:t>基础</a:t>
            </a:r>
            <a:r>
              <a:rPr lang="zh-CN" altLang="en-US" b="1" dirty="0">
                <a:solidFill>
                  <a:srgbClr val="FF0000"/>
                </a:solidFill>
                <a:latin typeface="黑体" panose="02010609060101010101" pitchFamily="49" charset="-122"/>
                <a:ea typeface="黑体" panose="02010609060101010101" pitchFamily="49" charset="-122"/>
              </a:rPr>
              <a:t>统计量分析</a:t>
            </a:r>
            <a:r>
              <a:rPr lang="zh-CN" altLang="en-US" dirty="0"/>
              <a:t>。先对变量做一个“描述性统计”分析，得到一些基础统计量，从而查看哪些数据</a:t>
            </a:r>
            <a:r>
              <a:rPr lang="zh-CN" altLang="en-US" dirty="0" smtClean="0"/>
              <a:t>是不</a:t>
            </a:r>
            <a:r>
              <a:rPr lang="zh-CN" altLang="en-US" dirty="0"/>
              <a:t>合理的</a:t>
            </a:r>
            <a:r>
              <a:rPr lang="zh-CN" altLang="en-US" dirty="0" smtClean="0"/>
              <a:t>。最常用</a:t>
            </a:r>
            <a:r>
              <a:rPr lang="zh-CN" altLang="en-US" dirty="0"/>
              <a:t>的统计量是最大值和</a:t>
            </a:r>
            <a:r>
              <a:rPr lang="zh-CN" altLang="en-US" dirty="0" smtClean="0"/>
              <a:t>最小值。</a:t>
            </a:r>
            <a:endParaRPr lang="en-US" altLang="zh-CN" dirty="0"/>
          </a:p>
          <a:p>
            <a:pPr marL="342900" indent="-342900">
              <a:spcAft>
                <a:spcPts val="600"/>
              </a:spcAft>
              <a:buFont typeface="+mj-ea"/>
              <a:buAutoNum type="circleNumDbPlain"/>
            </a:pPr>
            <a:r>
              <a:rPr lang="zh-CN" altLang="en-US" dirty="0" smtClean="0"/>
              <a:t> </a:t>
            </a:r>
            <a:r>
              <a:rPr lang="el-GR" altLang="zh-CN" b="1" dirty="0">
                <a:solidFill>
                  <a:srgbClr val="FF0000"/>
                </a:solidFill>
                <a:latin typeface="黑体" panose="02010609060101010101" pitchFamily="49" charset="-122"/>
                <a:ea typeface="黑体" panose="02010609060101010101" pitchFamily="49" charset="-122"/>
              </a:rPr>
              <a:t>3σ</a:t>
            </a:r>
            <a:r>
              <a:rPr lang="zh-CN" altLang="en-US" b="1" dirty="0">
                <a:solidFill>
                  <a:srgbClr val="FF0000"/>
                </a:solidFill>
                <a:latin typeface="黑体" panose="02010609060101010101" pitchFamily="49" charset="-122"/>
                <a:ea typeface="黑体" panose="02010609060101010101" pitchFamily="49" charset="-122"/>
              </a:rPr>
              <a:t>原则</a:t>
            </a:r>
            <a:r>
              <a:rPr lang="zh-CN" altLang="en-US" dirty="0"/>
              <a:t>。如果数据服从正态分布，在</a:t>
            </a:r>
            <a:r>
              <a:rPr lang="en-US" altLang="zh-CN" dirty="0"/>
              <a:t>3σ</a:t>
            </a:r>
            <a:r>
              <a:rPr lang="zh-CN" altLang="en-US" dirty="0"/>
              <a:t>原则下，异常值被定义为一组测定值中与平均值的偏差</a:t>
            </a:r>
            <a:r>
              <a:rPr lang="zh-CN" altLang="en-US" dirty="0" smtClean="0"/>
              <a:t>超过</a:t>
            </a:r>
            <a:r>
              <a:rPr lang="en-US" altLang="zh-CN" dirty="0"/>
              <a:t>3</a:t>
            </a:r>
            <a:r>
              <a:rPr lang="zh-CN" altLang="en-US" dirty="0"/>
              <a:t>倍标准差的值。</a:t>
            </a:r>
          </a:p>
          <a:p>
            <a:pPr marL="342900" indent="-342900">
              <a:spcAft>
                <a:spcPts val="600"/>
              </a:spcAft>
              <a:buFont typeface="+mj-ea"/>
              <a:buAutoNum type="circleNumDbPlain"/>
            </a:pPr>
            <a:r>
              <a:rPr lang="zh-CN" altLang="en-US" b="1" dirty="0">
                <a:solidFill>
                  <a:srgbClr val="FF0000"/>
                </a:solidFill>
                <a:latin typeface="黑体" panose="02010609060101010101" pitchFamily="49" charset="-122"/>
                <a:ea typeface="黑体" panose="02010609060101010101" pitchFamily="49" charset="-122"/>
              </a:rPr>
              <a:t>箱型图分析</a:t>
            </a:r>
            <a:r>
              <a:rPr lang="zh-CN" altLang="en-US" dirty="0" smtClean="0"/>
              <a:t>。</a:t>
            </a:r>
            <a:endParaRPr lang="en-US" altLang="zh-CN" dirty="0" smtClean="0"/>
          </a:p>
          <a:p>
            <a:pPr>
              <a:spcAft>
                <a:spcPts val="600"/>
              </a:spcAft>
            </a:pPr>
            <a:r>
              <a:rPr lang="en-US" altLang="zh-CN" dirty="0"/>
              <a:t> </a:t>
            </a:r>
            <a:r>
              <a:rPr lang="en-US" altLang="zh-CN" dirty="0" smtClean="0"/>
              <a:t>     </a:t>
            </a:r>
            <a:r>
              <a:rPr lang="zh-CN" altLang="en-US" dirty="0" smtClean="0"/>
              <a:t>箱</a:t>
            </a:r>
            <a:r>
              <a:rPr lang="zh-CN" altLang="en-US" dirty="0"/>
              <a:t>型图识别异常值的</a:t>
            </a:r>
            <a:r>
              <a:rPr lang="zh-CN" altLang="en-US" dirty="0" smtClean="0"/>
              <a:t>标准是：小于</a:t>
            </a:r>
            <a:endParaRPr lang="en-US" altLang="zh-CN" dirty="0" smtClean="0"/>
          </a:p>
          <a:p>
            <a:pPr>
              <a:spcAft>
                <a:spcPts val="600"/>
              </a:spcAft>
            </a:pPr>
            <a:r>
              <a:rPr lang="en-US" altLang="zh-CN" i="1" dirty="0"/>
              <a:t> </a:t>
            </a:r>
            <a:r>
              <a:rPr lang="en-US" altLang="zh-CN" i="1" dirty="0" smtClean="0"/>
              <a:t>     Q</a:t>
            </a:r>
            <a:r>
              <a:rPr lang="en-US" altLang="zh-CN" sz="1050" i="1" dirty="0" smtClean="0"/>
              <a:t>L </a:t>
            </a:r>
            <a:r>
              <a:rPr lang="en-US" altLang="zh-CN" dirty="0"/>
              <a:t>- 1.5</a:t>
            </a:r>
            <a:r>
              <a:rPr lang="en-US" altLang="zh-CN" i="1" dirty="0"/>
              <a:t>IQR</a:t>
            </a:r>
            <a:r>
              <a:rPr lang="en-US" altLang="zh-CN" dirty="0"/>
              <a:t> </a:t>
            </a:r>
            <a:r>
              <a:rPr lang="zh-CN" altLang="en-US" dirty="0"/>
              <a:t>或大于</a:t>
            </a:r>
            <a:r>
              <a:rPr lang="en-US" altLang="zh-CN" i="1" dirty="0"/>
              <a:t>Q</a:t>
            </a:r>
            <a:r>
              <a:rPr lang="en-US" altLang="zh-CN" sz="1050" i="1" dirty="0"/>
              <a:t>U</a:t>
            </a:r>
            <a:r>
              <a:rPr lang="en-US" altLang="zh-CN" dirty="0"/>
              <a:t> + 1.5</a:t>
            </a:r>
            <a:r>
              <a:rPr lang="en-US" altLang="zh-CN" i="1" dirty="0"/>
              <a:t>IQR</a:t>
            </a:r>
            <a:r>
              <a:rPr lang="en-US" altLang="zh-CN" dirty="0"/>
              <a:t> </a:t>
            </a:r>
            <a:r>
              <a:rPr lang="zh-CN" altLang="en-US" dirty="0" smtClean="0"/>
              <a:t>的</a:t>
            </a:r>
            <a:endParaRPr lang="en-US" altLang="zh-CN" dirty="0" smtClean="0"/>
          </a:p>
          <a:p>
            <a:pPr>
              <a:spcAft>
                <a:spcPts val="600"/>
              </a:spcAft>
            </a:pPr>
            <a:r>
              <a:rPr lang="en-US" altLang="zh-CN" dirty="0"/>
              <a:t> </a:t>
            </a:r>
            <a:r>
              <a:rPr lang="en-US" altLang="zh-CN" dirty="0" smtClean="0"/>
              <a:t>     </a:t>
            </a:r>
            <a:r>
              <a:rPr lang="zh-CN" altLang="en-US" dirty="0" smtClean="0"/>
              <a:t>值，如图所示。</a:t>
            </a:r>
            <a:endParaRPr lang="en-US" altLang="zh-CN" dirty="0" smtClean="0"/>
          </a:p>
          <a:p>
            <a:pPr>
              <a:spcAft>
                <a:spcPts val="600"/>
              </a:spcAft>
            </a:pPr>
            <a:endParaRPr lang="en-US" altLang="zh-CN" dirty="0" smtClean="0"/>
          </a:p>
          <a:p>
            <a:pPr>
              <a:spcAft>
                <a:spcPts val="600"/>
              </a:spcAft>
            </a:pPr>
            <a:r>
              <a:rPr lang="zh-CN" altLang="en-US" sz="2200" dirty="0" smtClean="0">
                <a:sym typeface="Wingdings" panose="05000000000000000000" pitchFamily="2" charset="2"/>
              </a:rPr>
              <a:t></a:t>
            </a:r>
            <a:r>
              <a:rPr lang="zh-CN" altLang="en-US" b="1" dirty="0">
                <a:solidFill>
                  <a:srgbClr val="FF0000"/>
                </a:solidFill>
                <a:latin typeface="黑体" panose="02010609060101010101" pitchFamily="49" charset="-122"/>
                <a:ea typeface="黑体" panose="02010609060101010101" pitchFamily="49" charset="-122"/>
              </a:rPr>
              <a:t>一致性检查</a:t>
            </a:r>
            <a:r>
              <a:rPr lang="zh-CN" altLang="en-US" dirty="0" smtClean="0"/>
              <a:t>。是指检查</a:t>
            </a:r>
            <a:r>
              <a:rPr lang="zh-CN" altLang="en-US" dirty="0"/>
              <a:t>数据间是否存在互相矛盾、冲突、不相关等不一致的情况。</a:t>
            </a:r>
            <a:endParaRPr lang="en-US" altLang="zh-CN" dirty="0"/>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364" y="4272014"/>
            <a:ext cx="2886432" cy="2119153"/>
          </a:xfrm>
          <a:prstGeom prst="rect">
            <a:avLst/>
          </a:prstGeom>
        </p:spPr>
      </p:pic>
    </p:spTree>
    <p:extLst>
      <p:ext uri="{BB962C8B-B14F-4D97-AF65-F5344CB8AC3E}">
        <p14:creationId xmlns:p14="http://schemas.microsoft.com/office/powerpoint/2010/main" val="11601297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7</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9391"/>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32728" y="2617531"/>
            <a:ext cx="8711272" cy="3662541"/>
          </a:xfrm>
          <a:prstGeom prst="rect">
            <a:avLst/>
          </a:prstGeom>
          <a:solidFill>
            <a:schemeClr val="bg1"/>
          </a:solidFill>
        </p:spPr>
        <p:txBody>
          <a:bodyPr wrap="square" rtlCol="0">
            <a:spAutoFit/>
          </a:bodyPr>
          <a:lstStyle/>
          <a:p>
            <a:pPr>
              <a:spcAft>
                <a:spcPts val="600"/>
              </a:spcAft>
            </a:pPr>
            <a:r>
              <a:rPr lang="zh-CN" altLang="en-US" dirty="0">
                <a:latin typeface="Times New Roman" panose="02020603050405020304" pitchFamily="18" charset="0"/>
                <a:cs typeface="Times New Roman" panose="02020603050405020304" pitchFamily="18" charset="0"/>
              </a:rPr>
              <a:t>处理缺失值的方法包括</a:t>
            </a:r>
            <a:r>
              <a:rPr lang="zh-CN" altLang="en-US" b="1" dirty="0">
                <a:latin typeface="Times New Roman" panose="02020603050405020304" pitchFamily="18" charset="0"/>
                <a:cs typeface="Times New Roman" panose="02020603050405020304" pitchFamily="18" charset="0"/>
              </a:rPr>
              <a:t>删除记录</a:t>
            </a:r>
            <a:r>
              <a:rPr lang="zh-CN" altLang="en-US" dirty="0">
                <a:latin typeface="Times New Roman" panose="02020603050405020304" pitchFamily="18" charset="0"/>
                <a:cs typeface="Times New Roman" panose="02020603050405020304" pitchFamily="18" charset="0"/>
              </a:rPr>
              <a:t>和</a:t>
            </a:r>
            <a:r>
              <a:rPr lang="zh-CN" altLang="en-US" b="1" dirty="0">
                <a:latin typeface="Times New Roman" panose="02020603050405020304" pitchFamily="18" charset="0"/>
                <a:cs typeface="Times New Roman" panose="02020603050405020304" pitchFamily="18" charset="0"/>
              </a:rPr>
              <a:t>数据插补。</a:t>
            </a:r>
            <a:endParaRPr lang="en-US" altLang="zh-CN" b="1" dirty="0" smtClean="0">
              <a:latin typeface="Times New Roman" panose="02020603050405020304" pitchFamily="18" charset="0"/>
              <a:cs typeface="Times New Roman" panose="02020603050405020304" pitchFamily="18" charset="0"/>
            </a:endParaRPr>
          </a:p>
          <a:p>
            <a:pPr>
              <a:spcAft>
                <a:spcPts val="600"/>
              </a:spcAft>
            </a:pPr>
            <a:r>
              <a:rPr lang="en-US" altLang="zh-CN" b="1" dirty="0">
                <a:solidFill>
                  <a:srgbClr val="FF0000"/>
                </a:solidFill>
                <a:latin typeface="黑体" panose="02010609060101010101" pitchFamily="49" charset="-122"/>
                <a:ea typeface="黑体" panose="02010609060101010101" pitchFamily="49" charset="-122"/>
              </a:rPr>
              <a:t>1. </a:t>
            </a:r>
            <a:r>
              <a:rPr lang="zh-CN" altLang="en-US" b="1" dirty="0">
                <a:solidFill>
                  <a:srgbClr val="FF0000"/>
                </a:solidFill>
                <a:latin typeface="黑体" panose="02010609060101010101" pitchFamily="49" charset="-122"/>
                <a:ea typeface="黑体" panose="02010609060101010101" pitchFamily="49" charset="-122"/>
              </a:rPr>
              <a:t>删除记录</a:t>
            </a:r>
            <a:endParaRPr lang="en-US" altLang="zh-CN" b="1" dirty="0">
              <a:solidFill>
                <a:srgbClr val="FF0000"/>
              </a:solidFill>
              <a:latin typeface="黑体" panose="02010609060101010101" pitchFamily="49" charset="-122"/>
              <a:ea typeface="黑体" panose="02010609060101010101" pitchFamily="49" charset="-122"/>
            </a:endParaRPr>
          </a:p>
          <a:p>
            <a:pPr>
              <a:spcAft>
                <a:spcPts val="600"/>
              </a:spcAft>
            </a:pPr>
            <a:r>
              <a:rPr lang="zh-CN" altLang="en-US" dirty="0"/>
              <a:t>假设某条样本记录的大部分有效数据都缺失了，且插补操作可能改变该条记录原本的含义，所以</a:t>
            </a:r>
            <a:r>
              <a:rPr lang="zh-CN" altLang="en-US" dirty="0" smtClean="0"/>
              <a:t>常常将</a:t>
            </a:r>
            <a:r>
              <a:rPr lang="zh-CN" altLang="en-US" dirty="0"/>
              <a:t>之直接</a:t>
            </a:r>
            <a:r>
              <a:rPr lang="zh-CN" altLang="en-US" dirty="0" smtClean="0"/>
              <a:t>删除。</a:t>
            </a:r>
            <a:endParaRPr lang="en-US" altLang="zh-CN" dirty="0"/>
          </a:p>
          <a:p>
            <a:pPr>
              <a:spcAft>
                <a:spcPts val="600"/>
              </a:spcAft>
            </a:pPr>
            <a:r>
              <a:rPr lang="en-US" altLang="zh-CN" b="1" dirty="0">
                <a:solidFill>
                  <a:srgbClr val="FF0000"/>
                </a:solidFill>
                <a:latin typeface="黑体" panose="02010609060101010101" pitchFamily="49" charset="-122"/>
                <a:ea typeface="黑体" panose="02010609060101010101" pitchFamily="49" charset="-122"/>
              </a:rPr>
              <a:t>2. </a:t>
            </a:r>
            <a:r>
              <a:rPr lang="zh-CN" altLang="en-US" b="1" dirty="0">
                <a:solidFill>
                  <a:srgbClr val="FF0000"/>
                </a:solidFill>
                <a:latin typeface="黑体" panose="02010609060101010101" pitchFamily="49" charset="-122"/>
                <a:ea typeface="黑体" panose="02010609060101010101" pitchFamily="49" charset="-122"/>
              </a:rPr>
              <a:t>缺失值插补</a:t>
            </a:r>
            <a:endParaRPr lang="en-US" altLang="zh-CN" b="1" dirty="0">
              <a:solidFill>
                <a:srgbClr val="FF0000"/>
              </a:solidFill>
              <a:latin typeface="黑体" panose="02010609060101010101" pitchFamily="49" charset="-122"/>
              <a:ea typeface="黑体" panose="02010609060101010101" pitchFamily="49" charset="-122"/>
            </a:endParaRPr>
          </a:p>
          <a:p>
            <a:pPr>
              <a:spcAft>
                <a:spcPts val="600"/>
              </a:spcAft>
            </a:pPr>
            <a:r>
              <a:rPr lang="zh-CN" altLang="en-US" dirty="0"/>
              <a:t>对于分析中必不可少的缺失值，需要进行插补填充，常见的缺失值插补方法如</a:t>
            </a:r>
            <a:r>
              <a:rPr lang="zh-CN" altLang="en-US" dirty="0" smtClean="0"/>
              <a:t>表所</a:t>
            </a:r>
            <a:r>
              <a:rPr lang="zh-CN" altLang="en-US" dirty="0"/>
              <a:t>示。</a:t>
            </a:r>
          </a:p>
          <a:p>
            <a:pPr>
              <a:spcAft>
                <a:spcPts val="600"/>
              </a:spcAft>
            </a:pPr>
            <a:endParaRPr lang="en-US" altLang="zh-CN" dirty="0" smtClean="0"/>
          </a:p>
          <a:p>
            <a:pPr>
              <a:spcAft>
                <a:spcPts val="600"/>
              </a:spcAft>
            </a:pPr>
            <a:endParaRPr lang="en-US" altLang="zh-CN" sz="2200" dirty="0">
              <a:sym typeface="Wingdings" panose="05000000000000000000" pitchFamily="2" charset="2"/>
            </a:endParaRPr>
          </a:p>
          <a:p>
            <a:pPr>
              <a:spcAft>
                <a:spcPts val="600"/>
              </a:spcAft>
            </a:pPr>
            <a:endParaRPr lang="en-US" altLang="zh-CN" sz="2200" dirty="0" smtClean="0">
              <a:sym typeface="Wingdings" panose="05000000000000000000" pitchFamily="2" charset="2"/>
            </a:endParaRPr>
          </a:p>
          <a:p>
            <a:pPr>
              <a:spcAft>
                <a:spcPts val="600"/>
              </a:spcAft>
            </a:pPr>
            <a:endParaRPr lang="en-US" altLang="zh-CN" sz="2200" dirty="0">
              <a:sym typeface="Wingdings" panose="05000000000000000000" pitchFamily="2" charset="2"/>
            </a:endParaRPr>
          </a:p>
        </p:txBody>
      </p:sp>
      <p:pic>
        <p:nvPicPr>
          <p:cNvPr id="3" name="图片 2"/>
          <p:cNvPicPr>
            <a:picLocks noChangeAspect="1"/>
          </p:cNvPicPr>
          <p:nvPr/>
        </p:nvPicPr>
        <p:blipFill>
          <a:blip r:embed="rId3"/>
          <a:stretch>
            <a:fillRect/>
          </a:stretch>
        </p:blipFill>
        <p:spPr>
          <a:xfrm>
            <a:off x="490133" y="4683513"/>
            <a:ext cx="8424659" cy="2062974"/>
          </a:xfrm>
          <a:prstGeom prst="rect">
            <a:avLst/>
          </a:prstGeom>
        </p:spPr>
      </p:pic>
    </p:spTree>
    <p:extLst>
      <p:ext uri="{BB962C8B-B14F-4D97-AF65-F5344CB8AC3E}">
        <p14:creationId xmlns:p14="http://schemas.microsoft.com/office/powerpoint/2010/main" val="15937184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8</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32728" y="2617531"/>
            <a:ext cx="8711272" cy="3370153"/>
          </a:xfrm>
          <a:prstGeom prst="rect">
            <a:avLst/>
          </a:prstGeom>
          <a:solidFill>
            <a:schemeClr val="bg1"/>
          </a:solidFill>
        </p:spPr>
        <p:txBody>
          <a:bodyPr wrap="square" rtlCol="0">
            <a:spAutoFit/>
          </a:bodyPr>
          <a:lstStyle/>
          <a:p>
            <a:pPr>
              <a:spcAft>
                <a:spcPts val="600"/>
              </a:spcAft>
            </a:pPr>
            <a:r>
              <a:rPr lang="en-US" altLang="zh-CN" b="1" dirty="0" smtClean="0"/>
              <a:t>2. </a:t>
            </a:r>
            <a:r>
              <a:rPr lang="zh-CN" altLang="en-US" b="1" dirty="0" smtClean="0"/>
              <a:t>缺失值插补</a:t>
            </a:r>
            <a:endParaRPr lang="en-US" altLang="zh-CN" b="1" dirty="0" smtClean="0"/>
          </a:p>
          <a:p>
            <a:pPr>
              <a:spcAft>
                <a:spcPts val="600"/>
              </a:spcAft>
            </a:pPr>
            <a:r>
              <a:rPr lang="zh-CN" altLang="en-US" dirty="0"/>
              <a:t>在这里着重介绍一下两种多项式插值法的原理与实现</a:t>
            </a:r>
            <a:r>
              <a:rPr lang="zh-CN" altLang="en-US" dirty="0" smtClean="0"/>
              <a:t>。</a:t>
            </a:r>
            <a:endParaRPr lang="zh-CN" altLang="en-US" dirty="0"/>
          </a:p>
          <a:p>
            <a:pPr>
              <a:spcAft>
                <a:spcPts val="600"/>
              </a:spcAft>
            </a:pPr>
            <a:r>
              <a:rPr lang="zh-CN" altLang="en-US" b="1" dirty="0">
                <a:solidFill>
                  <a:srgbClr val="FF0000"/>
                </a:solidFill>
                <a:latin typeface="黑体" panose="02010609060101010101" pitchFamily="49" charset="-122"/>
                <a:ea typeface="黑体" panose="02010609060101010101" pitchFamily="49" charset="-122"/>
              </a:rPr>
              <a:t>（</a:t>
            </a:r>
            <a:r>
              <a:rPr lang="en-US" altLang="zh-CN" b="1" dirty="0">
                <a:solidFill>
                  <a:srgbClr val="FF0000"/>
                </a:solidFill>
                <a:latin typeface="黑体" panose="02010609060101010101" pitchFamily="49" charset="-122"/>
                <a:ea typeface="黑体" panose="02010609060101010101" pitchFamily="49" charset="-122"/>
              </a:rPr>
              <a:t>1</a:t>
            </a:r>
            <a:r>
              <a:rPr lang="zh-CN" altLang="en-US" b="1" dirty="0">
                <a:solidFill>
                  <a:srgbClr val="FF0000"/>
                </a:solidFill>
                <a:latin typeface="黑体" panose="02010609060101010101" pitchFamily="49" charset="-122"/>
                <a:ea typeface="黑体" panose="02010609060101010101" pitchFamily="49" charset="-122"/>
              </a:rPr>
              <a:t>）拉格朗日插值法</a:t>
            </a:r>
            <a:r>
              <a:rPr lang="zh-CN" altLang="en-US" dirty="0" smtClean="0"/>
              <a:t>。</a:t>
            </a:r>
            <a:endParaRPr lang="en-US" altLang="zh-CN" dirty="0" smtClean="0"/>
          </a:p>
          <a:p>
            <a:pPr>
              <a:spcAft>
                <a:spcPts val="600"/>
              </a:spcAft>
            </a:pPr>
            <a:r>
              <a:rPr lang="zh-CN" altLang="en-US" dirty="0" smtClean="0"/>
              <a:t>拉格朗日</a:t>
            </a:r>
            <a:r>
              <a:rPr lang="zh-CN" altLang="en-US" dirty="0"/>
              <a:t>插值成功地用构造插值基函数的方法解决了求</a:t>
            </a:r>
            <a:r>
              <a:rPr lang="en-US" altLang="zh-CN" dirty="0"/>
              <a:t>n </a:t>
            </a:r>
            <a:r>
              <a:rPr lang="zh-CN" altLang="en-US" dirty="0"/>
              <a:t>次多项式插值函数</a:t>
            </a:r>
            <a:r>
              <a:rPr lang="zh-CN" altLang="en-US" dirty="0" smtClean="0"/>
              <a:t>问题。它</a:t>
            </a:r>
            <a:r>
              <a:rPr lang="zh-CN" altLang="en-US" dirty="0"/>
              <a:t>的基本思想是将待求的</a:t>
            </a:r>
            <a:r>
              <a:rPr lang="en-US" altLang="zh-CN" i="1" dirty="0"/>
              <a:t>n </a:t>
            </a:r>
            <a:r>
              <a:rPr lang="zh-CN" altLang="en-US" dirty="0"/>
              <a:t>次多项式插值函数改写成另一种表示方式，再利用插值条件确定其中的</a:t>
            </a:r>
            <a:r>
              <a:rPr lang="zh-CN" altLang="en-US" dirty="0" smtClean="0"/>
              <a:t>待定</a:t>
            </a:r>
            <a:r>
              <a:rPr lang="zh-CN" altLang="en-US" dirty="0"/>
              <a:t>函数，从而求出插值多项式。对于平面上已知的</a:t>
            </a:r>
            <a:r>
              <a:rPr lang="en-US" altLang="zh-CN" i="1" dirty="0"/>
              <a:t>n </a:t>
            </a:r>
            <a:r>
              <a:rPr lang="zh-CN" altLang="en-US" dirty="0"/>
              <a:t>个点</a:t>
            </a:r>
            <a:r>
              <a:rPr lang="en-US" altLang="zh-CN" dirty="0"/>
              <a:t>( </a:t>
            </a:r>
            <a:r>
              <a:rPr lang="en-US" altLang="zh-CN" i="1" dirty="0"/>
              <a:t>x</a:t>
            </a:r>
            <a:r>
              <a:rPr lang="en-US" altLang="zh-CN" sz="1050" dirty="0"/>
              <a:t>1</a:t>
            </a:r>
            <a:r>
              <a:rPr lang="en-US" altLang="zh-CN" dirty="0"/>
              <a:t>, </a:t>
            </a:r>
            <a:r>
              <a:rPr lang="en-US" altLang="zh-CN" i="1" dirty="0"/>
              <a:t>y</a:t>
            </a:r>
            <a:r>
              <a:rPr lang="en-US" altLang="zh-CN" sz="1050" dirty="0"/>
              <a:t>1</a:t>
            </a:r>
            <a:r>
              <a:rPr lang="en-US" altLang="zh-CN" dirty="0"/>
              <a:t> ),( </a:t>
            </a:r>
            <a:r>
              <a:rPr lang="en-US" altLang="zh-CN" i="1" dirty="0"/>
              <a:t>x</a:t>
            </a:r>
            <a:r>
              <a:rPr lang="en-US" altLang="zh-CN" sz="1050" dirty="0"/>
              <a:t>2</a:t>
            </a:r>
            <a:r>
              <a:rPr lang="en-US" altLang="zh-CN" dirty="0"/>
              <a:t>, </a:t>
            </a:r>
            <a:r>
              <a:rPr lang="en-US" altLang="zh-CN" i="1" dirty="0"/>
              <a:t>y</a:t>
            </a:r>
            <a:r>
              <a:rPr lang="en-US" altLang="zh-CN" sz="1050" dirty="0"/>
              <a:t>2</a:t>
            </a:r>
            <a:r>
              <a:rPr lang="en-US" altLang="zh-CN" dirty="0"/>
              <a:t> )⋯( </a:t>
            </a:r>
            <a:r>
              <a:rPr lang="en-US" altLang="zh-CN" i="1" dirty="0" err="1"/>
              <a:t>x</a:t>
            </a:r>
            <a:r>
              <a:rPr lang="en-US" altLang="zh-CN" sz="1050" i="1" dirty="0" err="1"/>
              <a:t>n</a:t>
            </a:r>
            <a:r>
              <a:rPr lang="en-US" altLang="zh-CN" dirty="0"/>
              <a:t>, </a:t>
            </a:r>
            <a:r>
              <a:rPr lang="en-US" altLang="zh-CN" i="1" dirty="0" err="1"/>
              <a:t>y</a:t>
            </a:r>
            <a:r>
              <a:rPr lang="en-US" altLang="zh-CN" sz="1050" i="1" dirty="0" err="1"/>
              <a:t>n</a:t>
            </a:r>
            <a:r>
              <a:rPr lang="en-US" altLang="zh-CN" i="1" dirty="0"/>
              <a:t> </a:t>
            </a:r>
            <a:r>
              <a:rPr lang="en-US" altLang="zh-CN" dirty="0"/>
              <a:t>)</a:t>
            </a:r>
            <a:r>
              <a:rPr lang="zh-CN" altLang="en-US" dirty="0"/>
              <a:t>，可以找到一个</a:t>
            </a:r>
            <a:r>
              <a:rPr lang="en-US" altLang="zh-CN" i="1" dirty="0"/>
              <a:t>n </a:t>
            </a:r>
            <a:r>
              <a:rPr lang="en-US" altLang="zh-CN" dirty="0"/>
              <a:t>- 1 </a:t>
            </a:r>
            <a:r>
              <a:rPr lang="zh-CN" altLang="en-US" dirty="0"/>
              <a:t>次</a:t>
            </a:r>
            <a:r>
              <a:rPr lang="zh-CN" altLang="en-US" dirty="0" smtClean="0"/>
              <a:t>多项式</a:t>
            </a:r>
            <a:r>
              <a:rPr lang="en-US" altLang="zh-CN" i="1" dirty="0" smtClean="0"/>
              <a:t>                                                          </a:t>
            </a:r>
            <a:r>
              <a:rPr lang="zh-CN" altLang="en-US" dirty="0" smtClean="0"/>
              <a:t>，</a:t>
            </a:r>
            <a:r>
              <a:rPr lang="zh-CN" altLang="en-US" dirty="0"/>
              <a:t>使此多项式曲线过这</a:t>
            </a:r>
            <a:r>
              <a:rPr lang="en-US" altLang="zh-CN" i="1" dirty="0"/>
              <a:t>n </a:t>
            </a:r>
            <a:r>
              <a:rPr lang="zh-CN" altLang="en-US" dirty="0"/>
              <a:t>个点，通过代入未知点的</a:t>
            </a:r>
            <a:r>
              <a:rPr lang="en-US" altLang="zh-CN" i="1" dirty="0" err="1"/>
              <a:t>x</a:t>
            </a:r>
            <a:r>
              <a:rPr lang="en-US" altLang="zh-CN" sz="1000" i="1" dirty="0" err="1"/>
              <a:t>n</a:t>
            </a:r>
            <a:r>
              <a:rPr lang="en-US" altLang="zh-CN" sz="1000" i="1" dirty="0"/>
              <a:t> </a:t>
            </a:r>
            <a:r>
              <a:rPr lang="en-US" altLang="zh-CN" sz="1000" dirty="0"/>
              <a:t>+ 1</a:t>
            </a:r>
            <a:r>
              <a:rPr lang="zh-CN" altLang="en-US" dirty="0"/>
              <a:t>，可求得</a:t>
            </a:r>
            <a:r>
              <a:rPr lang="zh-CN" altLang="en-US" dirty="0" smtClean="0"/>
              <a:t>插补</a:t>
            </a:r>
            <a:r>
              <a:rPr lang="zh-CN" altLang="en-US" dirty="0"/>
              <a:t>值</a:t>
            </a:r>
            <a:r>
              <a:rPr lang="en-US" altLang="zh-CN" i="1" dirty="0" err="1"/>
              <a:t>y</a:t>
            </a:r>
            <a:r>
              <a:rPr lang="en-US" altLang="zh-CN" dirty="0" err="1"/>
              <a:t>̂</a:t>
            </a:r>
            <a:r>
              <a:rPr lang="en-US" altLang="zh-CN" sz="1200" i="1" dirty="0" err="1"/>
              <a:t>n</a:t>
            </a:r>
            <a:r>
              <a:rPr lang="en-US" altLang="zh-CN" i="1" dirty="0"/>
              <a:t> </a:t>
            </a:r>
            <a:r>
              <a:rPr lang="en-US" altLang="zh-CN" sz="1050" dirty="0"/>
              <a:t>+ 1</a:t>
            </a:r>
            <a:r>
              <a:rPr lang="zh-CN" altLang="en-US" dirty="0"/>
              <a:t>。</a:t>
            </a:r>
            <a:endParaRPr lang="en-US" altLang="zh-CN" sz="2200" dirty="0">
              <a:sym typeface="Wingdings" panose="05000000000000000000" pitchFamily="2" charset="2"/>
            </a:endParaRPr>
          </a:p>
          <a:p>
            <a:pPr>
              <a:spcAft>
                <a:spcPts val="600"/>
              </a:spcAft>
            </a:pPr>
            <a:endParaRPr lang="en-US" altLang="zh-CN" sz="2200" dirty="0" smtClean="0">
              <a:sym typeface="Wingdings" panose="05000000000000000000" pitchFamily="2" charset="2"/>
            </a:endParaRPr>
          </a:p>
          <a:p>
            <a:pPr>
              <a:spcAft>
                <a:spcPts val="600"/>
              </a:spcAft>
            </a:pPr>
            <a:endParaRPr lang="en-US" altLang="zh-CN" sz="2200" dirty="0">
              <a:sym typeface="Wingdings" panose="05000000000000000000" pitchFamily="2" charset="2"/>
            </a:endParaRPr>
          </a:p>
        </p:txBody>
      </p:sp>
      <p:pic>
        <p:nvPicPr>
          <p:cNvPr id="2" name="图片 1"/>
          <p:cNvPicPr>
            <a:picLocks noChangeAspect="1"/>
          </p:cNvPicPr>
          <p:nvPr/>
        </p:nvPicPr>
        <p:blipFill>
          <a:blip r:embed="rId3"/>
          <a:stretch>
            <a:fillRect/>
          </a:stretch>
        </p:blipFill>
        <p:spPr>
          <a:xfrm>
            <a:off x="4889525" y="4564135"/>
            <a:ext cx="3604500" cy="245205"/>
          </a:xfrm>
          <a:prstGeom prst="rect">
            <a:avLst/>
          </a:prstGeom>
        </p:spPr>
      </p:pic>
    </p:spTree>
    <p:extLst>
      <p:ext uri="{BB962C8B-B14F-4D97-AF65-F5344CB8AC3E}">
        <p14:creationId xmlns:p14="http://schemas.microsoft.com/office/powerpoint/2010/main" val="32495054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9</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32728" y="2617531"/>
            <a:ext cx="8711272" cy="2970044"/>
          </a:xfrm>
          <a:prstGeom prst="rect">
            <a:avLst/>
          </a:prstGeom>
          <a:solidFill>
            <a:schemeClr val="bg1"/>
          </a:solidFill>
        </p:spPr>
        <p:txBody>
          <a:bodyPr wrap="square" rtlCol="0">
            <a:spAutoFit/>
          </a:bodyPr>
          <a:lstStyle/>
          <a:p>
            <a:pPr>
              <a:spcAft>
                <a:spcPts val="600"/>
              </a:spcAft>
            </a:pPr>
            <a:r>
              <a:rPr lang="en-US" altLang="zh-CN" b="1" dirty="0" smtClean="0"/>
              <a:t>2. </a:t>
            </a:r>
            <a:r>
              <a:rPr lang="zh-CN" altLang="en-US" b="1" dirty="0" smtClean="0"/>
              <a:t>缺失值插补</a:t>
            </a:r>
            <a:endParaRPr lang="en-US" altLang="zh-CN" b="1" dirty="0" smtClean="0"/>
          </a:p>
          <a:p>
            <a:pPr>
              <a:spcAft>
                <a:spcPts val="600"/>
              </a:spcAft>
            </a:pPr>
            <a:endParaRPr lang="en-US" altLang="zh-CN" dirty="0" smtClean="0"/>
          </a:p>
          <a:p>
            <a:pPr>
              <a:spcAft>
                <a:spcPts val="600"/>
              </a:spcAft>
            </a:pPr>
            <a:r>
              <a:rPr lang="zh-CN" altLang="en-US" dirty="0" smtClean="0"/>
              <a:t>具体步骤：</a:t>
            </a:r>
            <a:endParaRPr lang="en-US" altLang="zh-CN" dirty="0" smtClean="0"/>
          </a:p>
          <a:p>
            <a:pPr>
              <a:spcAft>
                <a:spcPts val="600"/>
              </a:spcAft>
            </a:pPr>
            <a:r>
              <a:rPr lang="zh-CN" altLang="en-US" dirty="0"/>
              <a:t>①求已知的过</a:t>
            </a:r>
            <a:r>
              <a:rPr lang="en-US" altLang="zh-CN" i="1" dirty="0"/>
              <a:t>n </a:t>
            </a:r>
            <a:r>
              <a:rPr lang="zh-CN" altLang="en-US" dirty="0"/>
              <a:t>个点的</a:t>
            </a:r>
            <a:r>
              <a:rPr lang="en-US" altLang="zh-CN" i="1" dirty="0"/>
              <a:t>n </a:t>
            </a:r>
            <a:r>
              <a:rPr lang="en-US" altLang="zh-CN" dirty="0"/>
              <a:t>- 1 </a:t>
            </a:r>
            <a:r>
              <a:rPr lang="zh-CN" altLang="en-US" dirty="0"/>
              <a:t>次多项式</a:t>
            </a:r>
            <a:r>
              <a:rPr lang="zh-CN" altLang="en-US" dirty="0" smtClean="0"/>
              <a:t>：</a:t>
            </a:r>
            <a:endParaRPr lang="en-US" altLang="zh-CN" dirty="0" smtClean="0"/>
          </a:p>
          <a:p>
            <a:pPr>
              <a:spcAft>
                <a:spcPts val="600"/>
              </a:spcAft>
            </a:pPr>
            <a:r>
              <a:rPr lang="zh-CN" altLang="en-US" dirty="0" smtClean="0"/>
              <a:t>将</a:t>
            </a:r>
            <a:r>
              <a:rPr lang="en-US" altLang="zh-CN" i="1" dirty="0"/>
              <a:t>n </a:t>
            </a:r>
            <a:r>
              <a:rPr lang="zh-CN" altLang="en-US" dirty="0"/>
              <a:t>个点的</a:t>
            </a:r>
            <a:r>
              <a:rPr lang="zh-CN" altLang="en-US" dirty="0" smtClean="0"/>
              <a:t>坐标</a:t>
            </a:r>
            <a:r>
              <a:rPr lang="en-US" altLang="zh-CN" dirty="0"/>
              <a:t>( </a:t>
            </a:r>
            <a:r>
              <a:rPr lang="en-US" altLang="zh-CN" i="1" dirty="0"/>
              <a:t>x</a:t>
            </a:r>
            <a:r>
              <a:rPr lang="en-US" altLang="zh-CN" sz="1050" dirty="0"/>
              <a:t>1</a:t>
            </a:r>
            <a:r>
              <a:rPr lang="en-US" altLang="zh-CN" dirty="0"/>
              <a:t>, </a:t>
            </a:r>
            <a:r>
              <a:rPr lang="en-US" altLang="zh-CN" i="1" dirty="0"/>
              <a:t>y</a:t>
            </a:r>
            <a:r>
              <a:rPr lang="en-US" altLang="zh-CN" sz="1050" dirty="0"/>
              <a:t>1</a:t>
            </a:r>
            <a:r>
              <a:rPr lang="en-US" altLang="zh-CN" dirty="0"/>
              <a:t> ),( </a:t>
            </a:r>
            <a:r>
              <a:rPr lang="en-US" altLang="zh-CN" i="1" dirty="0"/>
              <a:t>x</a:t>
            </a:r>
            <a:r>
              <a:rPr lang="en-US" altLang="zh-CN" sz="1050" dirty="0"/>
              <a:t>2</a:t>
            </a:r>
            <a:r>
              <a:rPr lang="en-US" altLang="zh-CN" dirty="0"/>
              <a:t>, </a:t>
            </a:r>
            <a:r>
              <a:rPr lang="en-US" altLang="zh-CN" i="1" dirty="0"/>
              <a:t>y</a:t>
            </a:r>
            <a:r>
              <a:rPr lang="en-US" altLang="zh-CN" sz="1050" dirty="0"/>
              <a:t>2</a:t>
            </a:r>
            <a:r>
              <a:rPr lang="en-US" altLang="zh-CN" dirty="0"/>
              <a:t> )⋯( </a:t>
            </a:r>
            <a:r>
              <a:rPr lang="en-US" altLang="zh-CN" i="1" dirty="0" err="1"/>
              <a:t>x</a:t>
            </a:r>
            <a:r>
              <a:rPr lang="en-US" altLang="zh-CN" sz="1050" i="1" dirty="0" err="1"/>
              <a:t>n</a:t>
            </a:r>
            <a:r>
              <a:rPr lang="en-US" altLang="zh-CN" dirty="0"/>
              <a:t>, </a:t>
            </a:r>
            <a:r>
              <a:rPr lang="en-US" altLang="zh-CN" i="1" dirty="0" err="1"/>
              <a:t>y</a:t>
            </a:r>
            <a:r>
              <a:rPr lang="en-US" altLang="zh-CN" sz="1050" i="1" dirty="0" err="1"/>
              <a:t>n</a:t>
            </a:r>
            <a:r>
              <a:rPr lang="en-US" altLang="zh-CN" i="1" dirty="0"/>
              <a:t> </a:t>
            </a:r>
            <a:r>
              <a:rPr lang="en-US" altLang="zh-CN" dirty="0" smtClean="0"/>
              <a:t>)</a:t>
            </a:r>
            <a:r>
              <a:rPr lang="zh-CN" altLang="en-US" dirty="0"/>
              <a:t>代入多项式函数，得</a:t>
            </a:r>
            <a:r>
              <a:rPr lang="zh-CN" altLang="en-US" dirty="0" smtClean="0"/>
              <a:t>：</a:t>
            </a:r>
            <a:endParaRPr lang="en-US" altLang="zh-CN" dirty="0" smtClean="0"/>
          </a:p>
          <a:p>
            <a:pPr>
              <a:spcAft>
                <a:spcPts val="600"/>
              </a:spcAft>
            </a:pPr>
            <a:endParaRPr lang="en-US" altLang="zh-CN" dirty="0" smtClean="0"/>
          </a:p>
          <a:p>
            <a:pPr>
              <a:spcAft>
                <a:spcPts val="600"/>
              </a:spcAft>
            </a:pPr>
            <a:endParaRPr lang="en-US" altLang="zh-CN" sz="2200" dirty="0" smtClean="0">
              <a:sym typeface="Wingdings" panose="05000000000000000000" pitchFamily="2" charset="2"/>
            </a:endParaRPr>
          </a:p>
          <a:p>
            <a:pPr>
              <a:spcAft>
                <a:spcPts val="600"/>
              </a:spcAft>
            </a:pPr>
            <a:endParaRPr lang="en-US" altLang="zh-CN" sz="2200" dirty="0">
              <a:sym typeface="Wingdings" panose="05000000000000000000" pitchFamily="2" charset="2"/>
            </a:endParaRPr>
          </a:p>
        </p:txBody>
      </p:sp>
      <p:pic>
        <p:nvPicPr>
          <p:cNvPr id="8" name="图片 7"/>
          <p:cNvPicPr>
            <a:picLocks noChangeAspect="1"/>
          </p:cNvPicPr>
          <p:nvPr/>
        </p:nvPicPr>
        <p:blipFill>
          <a:blip r:embed="rId3"/>
          <a:stretch>
            <a:fillRect/>
          </a:stretch>
        </p:blipFill>
        <p:spPr>
          <a:xfrm>
            <a:off x="2630819" y="4649171"/>
            <a:ext cx="4053275" cy="275734"/>
          </a:xfrm>
          <a:prstGeom prst="rect">
            <a:avLst/>
          </a:prstGeom>
        </p:spPr>
      </p:pic>
      <p:pic>
        <p:nvPicPr>
          <p:cNvPr id="2" name="图片 1"/>
          <p:cNvPicPr>
            <a:picLocks noChangeAspect="1"/>
          </p:cNvPicPr>
          <p:nvPr/>
        </p:nvPicPr>
        <p:blipFill>
          <a:blip r:embed="rId4"/>
          <a:stretch>
            <a:fillRect/>
          </a:stretch>
        </p:blipFill>
        <p:spPr>
          <a:xfrm>
            <a:off x="2630819" y="5112952"/>
            <a:ext cx="4186752" cy="1302545"/>
          </a:xfrm>
          <a:prstGeom prst="rect">
            <a:avLst/>
          </a:prstGeom>
        </p:spPr>
      </p:pic>
    </p:spTree>
    <p:extLst>
      <p:ext uri="{BB962C8B-B14F-4D97-AF65-F5344CB8AC3E}">
        <p14:creationId xmlns:p14="http://schemas.microsoft.com/office/powerpoint/2010/main" val="42517928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10</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32728" y="2617531"/>
            <a:ext cx="8711272" cy="2616101"/>
          </a:xfrm>
          <a:prstGeom prst="rect">
            <a:avLst/>
          </a:prstGeom>
          <a:solidFill>
            <a:schemeClr val="bg1"/>
          </a:solidFill>
        </p:spPr>
        <p:txBody>
          <a:bodyPr wrap="square" rtlCol="0">
            <a:spAutoFit/>
          </a:bodyPr>
          <a:lstStyle/>
          <a:p>
            <a:pPr>
              <a:spcAft>
                <a:spcPts val="600"/>
              </a:spcAft>
            </a:pPr>
            <a:r>
              <a:rPr lang="en-US" altLang="zh-CN" b="1" dirty="0" smtClean="0"/>
              <a:t>2. </a:t>
            </a:r>
            <a:r>
              <a:rPr lang="zh-CN" altLang="en-US" b="1" dirty="0" smtClean="0"/>
              <a:t>缺失值插补</a:t>
            </a:r>
            <a:endParaRPr lang="en-US" altLang="zh-CN" b="1" dirty="0" smtClean="0"/>
          </a:p>
          <a:p>
            <a:pPr>
              <a:spcAft>
                <a:spcPts val="600"/>
              </a:spcAft>
            </a:pPr>
            <a:r>
              <a:rPr lang="zh-CN" altLang="en-US" dirty="0" smtClean="0"/>
              <a:t>（</a:t>
            </a:r>
            <a:r>
              <a:rPr lang="en-US" altLang="zh-CN" dirty="0"/>
              <a:t>1</a:t>
            </a:r>
            <a:r>
              <a:rPr lang="zh-CN" altLang="en-US" dirty="0"/>
              <a:t>）拉格朗日插值法</a:t>
            </a:r>
            <a:r>
              <a:rPr lang="zh-CN" altLang="en-US" dirty="0" smtClean="0"/>
              <a:t>。</a:t>
            </a:r>
            <a:endParaRPr lang="en-US" altLang="zh-CN" dirty="0" smtClean="0"/>
          </a:p>
          <a:p>
            <a:pPr>
              <a:spcAft>
                <a:spcPts val="600"/>
              </a:spcAft>
            </a:pPr>
            <a:r>
              <a:rPr lang="zh-CN" altLang="en-US" dirty="0" smtClean="0"/>
              <a:t>具体步骤：</a:t>
            </a:r>
            <a:endParaRPr lang="en-US" altLang="zh-CN" dirty="0" smtClean="0"/>
          </a:p>
          <a:p>
            <a:pPr>
              <a:spcAft>
                <a:spcPts val="600"/>
              </a:spcAft>
            </a:pPr>
            <a:r>
              <a:rPr lang="zh-CN" altLang="en-US" dirty="0" smtClean="0"/>
              <a:t>解</a:t>
            </a:r>
            <a:r>
              <a:rPr lang="zh-CN" altLang="en-US" dirty="0"/>
              <a:t>出拉格朗日插值多项式为：</a:t>
            </a:r>
            <a:endParaRPr lang="en-US" altLang="zh-CN" dirty="0" smtClean="0"/>
          </a:p>
          <a:p>
            <a:pPr>
              <a:spcAft>
                <a:spcPts val="600"/>
              </a:spcAft>
            </a:pPr>
            <a:endParaRPr lang="en-US" altLang="zh-CN" dirty="0" smtClean="0"/>
          </a:p>
          <a:p>
            <a:pPr>
              <a:spcAft>
                <a:spcPts val="600"/>
              </a:spcAft>
            </a:pPr>
            <a:endParaRPr lang="en-US" altLang="zh-CN" sz="2200" dirty="0" smtClean="0">
              <a:sym typeface="Wingdings" panose="05000000000000000000" pitchFamily="2" charset="2"/>
            </a:endParaRPr>
          </a:p>
          <a:p>
            <a:pPr>
              <a:spcAft>
                <a:spcPts val="600"/>
              </a:spcAft>
            </a:pPr>
            <a:endParaRPr lang="en-US" altLang="zh-CN" sz="2200" dirty="0">
              <a:sym typeface="Wingdings" panose="05000000000000000000" pitchFamily="2" charset="2"/>
            </a:endParaRPr>
          </a:p>
        </p:txBody>
      </p:sp>
      <p:pic>
        <p:nvPicPr>
          <p:cNvPr id="3" name="图片 2"/>
          <p:cNvPicPr>
            <a:picLocks noChangeAspect="1"/>
          </p:cNvPicPr>
          <p:nvPr/>
        </p:nvPicPr>
        <p:blipFill>
          <a:blip r:embed="rId3"/>
          <a:stretch>
            <a:fillRect/>
          </a:stretch>
        </p:blipFill>
        <p:spPr>
          <a:xfrm>
            <a:off x="2635655" y="4067299"/>
            <a:ext cx="4300404" cy="2634588"/>
          </a:xfrm>
          <a:prstGeom prst="rect">
            <a:avLst/>
          </a:prstGeom>
        </p:spPr>
      </p:pic>
    </p:spTree>
    <p:extLst>
      <p:ext uri="{BB962C8B-B14F-4D97-AF65-F5344CB8AC3E}">
        <p14:creationId xmlns:p14="http://schemas.microsoft.com/office/powerpoint/2010/main" val="40774867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11</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32728" y="2617531"/>
            <a:ext cx="8711272" cy="2862322"/>
          </a:xfrm>
          <a:prstGeom prst="rect">
            <a:avLst/>
          </a:prstGeom>
          <a:solidFill>
            <a:schemeClr val="bg1"/>
          </a:solidFill>
        </p:spPr>
        <p:txBody>
          <a:bodyPr wrap="square" rtlCol="0">
            <a:spAutoFit/>
          </a:bodyPr>
          <a:lstStyle/>
          <a:p>
            <a:pPr>
              <a:spcAft>
                <a:spcPts val="600"/>
              </a:spcAft>
            </a:pPr>
            <a:r>
              <a:rPr lang="en-US" altLang="zh-CN" b="1" dirty="0" smtClean="0"/>
              <a:t>2. </a:t>
            </a:r>
            <a:r>
              <a:rPr lang="zh-CN" altLang="en-US" b="1" dirty="0" smtClean="0"/>
              <a:t>缺失值插补</a:t>
            </a:r>
            <a:endParaRPr lang="en-US" altLang="zh-CN" b="1" dirty="0" smtClean="0"/>
          </a:p>
          <a:p>
            <a:endParaRPr lang="en-US" altLang="zh-CN" dirty="0"/>
          </a:p>
          <a:p>
            <a:r>
              <a:rPr lang="zh-CN" altLang="en-US" dirty="0" smtClean="0"/>
              <a:t>②</a:t>
            </a:r>
            <a:r>
              <a:rPr lang="zh-CN" altLang="en-US" dirty="0"/>
              <a:t>将缺失的函数值对应的点</a:t>
            </a:r>
            <a:r>
              <a:rPr lang="en-US" altLang="zh-CN" sz="1050" i="1" dirty="0" err="1"/>
              <a:t>xn</a:t>
            </a:r>
            <a:r>
              <a:rPr lang="en-US" altLang="zh-CN" sz="1050" i="1" dirty="0"/>
              <a:t> </a:t>
            </a:r>
            <a:r>
              <a:rPr lang="en-US" altLang="zh-CN" sz="1050" dirty="0"/>
              <a:t>+ 1 </a:t>
            </a:r>
            <a:r>
              <a:rPr lang="zh-CN" altLang="en-US" dirty="0"/>
              <a:t>代入插值多项式得到缺失值的近似值</a:t>
            </a:r>
            <a:r>
              <a:rPr lang="en-US" altLang="zh-CN" i="1" dirty="0"/>
              <a:t>y</a:t>
            </a:r>
            <a:r>
              <a:rPr lang="zh-CN" altLang="en-US" dirty="0"/>
              <a:t>̂</a:t>
            </a:r>
            <a:r>
              <a:rPr lang="en-US" altLang="zh-CN" sz="1050" i="1" dirty="0"/>
              <a:t>n </a:t>
            </a:r>
            <a:r>
              <a:rPr lang="en-US" altLang="zh-CN" sz="1050" dirty="0"/>
              <a:t>+ 1 </a:t>
            </a:r>
            <a:r>
              <a:rPr lang="en-US" altLang="zh-CN" dirty="0"/>
              <a:t>= </a:t>
            </a:r>
            <a:r>
              <a:rPr lang="en-US" altLang="zh-CN" i="1" dirty="0"/>
              <a:t>L</a:t>
            </a:r>
            <a:r>
              <a:rPr lang="en-US" altLang="zh-CN" dirty="0"/>
              <a:t>( </a:t>
            </a:r>
            <a:r>
              <a:rPr lang="en-US" altLang="zh-CN" i="1" dirty="0" err="1"/>
              <a:t>x</a:t>
            </a:r>
            <a:r>
              <a:rPr lang="en-US" altLang="zh-CN" sz="1050" i="1" dirty="0" err="1"/>
              <a:t>n</a:t>
            </a:r>
            <a:r>
              <a:rPr lang="en-US" altLang="zh-CN" sz="1050" i="1" dirty="0"/>
              <a:t> </a:t>
            </a:r>
            <a:r>
              <a:rPr lang="en-US" altLang="zh-CN" sz="1050" dirty="0"/>
              <a:t>+ 1 </a:t>
            </a:r>
            <a:r>
              <a:rPr lang="en-US" altLang="zh-CN" dirty="0"/>
              <a:t>)</a:t>
            </a:r>
            <a:r>
              <a:rPr lang="zh-CN" altLang="en-US" dirty="0"/>
              <a:t>。</a:t>
            </a:r>
          </a:p>
          <a:p>
            <a:endParaRPr lang="en-US" altLang="zh-CN" dirty="0" smtClean="0"/>
          </a:p>
          <a:p>
            <a:r>
              <a:rPr lang="zh-CN" altLang="en-US" dirty="0" smtClean="0"/>
              <a:t>拉格朗日插值公式</a:t>
            </a:r>
            <a:r>
              <a:rPr lang="zh-CN" altLang="en-US" dirty="0"/>
              <a:t>结构紧凑，理论分析方便，考虑了全局信息，但当插值节点增减时，插值多项式就</a:t>
            </a:r>
            <a:r>
              <a:rPr lang="zh-CN" altLang="en-US" dirty="0" smtClean="0"/>
              <a:t>会随</a:t>
            </a:r>
            <a:r>
              <a:rPr lang="zh-CN" altLang="en-US" dirty="0"/>
              <a:t>之变化，在实际计算中不方便。为了克服这一缺点，可以使用牛顿插值法。</a:t>
            </a:r>
            <a:endParaRPr lang="en-US" altLang="zh-CN" dirty="0" smtClean="0"/>
          </a:p>
          <a:p>
            <a:pPr>
              <a:spcAft>
                <a:spcPts val="600"/>
              </a:spcAft>
            </a:pPr>
            <a:endParaRPr lang="en-US" altLang="zh-CN" sz="2200" dirty="0" smtClean="0">
              <a:sym typeface="Wingdings" panose="05000000000000000000" pitchFamily="2" charset="2"/>
            </a:endParaRPr>
          </a:p>
          <a:p>
            <a:pPr>
              <a:spcAft>
                <a:spcPts val="600"/>
              </a:spcAft>
            </a:pPr>
            <a:endParaRPr lang="en-US" altLang="zh-CN" sz="2200" dirty="0">
              <a:sym typeface="Wingdings" panose="05000000000000000000" pitchFamily="2" charset="2"/>
            </a:endParaRPr>
          </a:p>
        </p:txBody>
      </p:sp>
    </p:spTree>
    <p:extLst>
      <p:ext uri="{BB962C8B-B14F-4D97-AF65-F5344CB8AC3E}">
        <p14:creationId xmlns:p14="http://schemas.microsoft.com/office/powerpoint/2010/main" val="7797227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12</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32728" y="2617531"/>
            <a:ext cx="8711272" cy="2246769"/>
          </a:xfrm>
          <a:prstGeom prst="rect">
            <a:avLst/>
          </a:prstGeom>
          <a:solidFill>
            <a:schemeClr val="bg1"/>
          </a:solidFill>
        </p:spPr>
        <p:txBody>
          <a:bodyPr wrap="square" rtlCol="0">
            <a:spAutoFit/>
          </a:bodyPr>
          <a:lstStyle/>
          <a:p>
            <a:pPr>
              <a:spcAft>
                <a:spcPts val="600"/>
              </a:spcAft>
            </a:pPr>
            <a:r>
              <a:rPr lang="en-US" altLang="zh-CN" b="1" dirty="0" smtClean="0"/>
              <a:t>2. </a:t>
            </a:r>
            <a:r>
              <a:rPr lang="zh-CN" altLang="en-US" b="1" dirty="0" smtClean="0"/>
              <a:t>缺失值插补</a:t>
            </a:r>
            <a:endParaRPr lang="en-US" altLang="zh-CN" b="1" dirty="0" smtClean="0"/>
          </a:p>
          <a:p>
            <a:r>
              <a:rPr lang="zh-CN" altLang="en-US" b="1" dirty="0" smtClean="0">
                <a:solidFill>
                  <a:srgbClr val="FF0000"/>
                </a:solidFill>
                <a:latin typeface="黑体" panose="02010609060101010101" pitchFamily="49" charset="-122"/>
                <a:ea typeface="黑体" panose="02010609060101010101" pitchFamily="49" charset="-122"/>
              </a:rPr>
              <a:t>（</a:t>
            </a:r>
            <a:r>
              <a:rPr lang="en-US" altLang="zh-CN" b="1" dirty="0" smtClean="0">
                <a:solidFill>
                  <a:srgbClr val="FF0000"/>
                </a:solidFill>
                <a:latin typeface="黑体" panose="02010609060101010101" pitchFamily="49" charset="-122"/>
                <a:ea typeface="黑体" panose="02010609060101010101" pitchFamily="49" charset="-122"/>
              </a:rPr>
              <a:t>2</a:t>
            </a:r>
            <a:r>
              <a:rPr lang="zh-CN" altLang="en-US" b="1" dirty="0" smtClean="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牛顿插值法</a:t>
            </a:r>
            <a:r>
              <a:rPr lang="zh-CN" altLang="en-US" dirty="0" smtClean="0"/>
              <a:t>。</a:t>
            </a:r>
            <a:endParaRPr lang="en-US" altLang="zh-CN" dirty="0" smtClean="0"/>
          </a:p>
          <a:p>
            <a:r>
              <a:rPr lang="zh-CN" altLang="en-US" dirty="0" smtClean="0"/>
              <a:t>牛顿</a:t>
            </a:r>
            <a:r>
              <a:rPr lang="zh-CN" altLang="en-US" dirty="0"/>
              <a:t>插值法也是多项式插值，但引入了差商的概念，相比于拉格朗日插值法优势在于</a:t>
            </a:r>
          </a:p>
          <a:p>
            <a:r>
              <a:rPr lang="zh-CN" altLang="en-US" dirty="0"/>
              <a:t>它在重新引入数据时可以仅仅更新</a:t>
            </a:r>
            <a:r>
              <a:rPr lang="en-US" altLang="zh-CN" i="1" dirty="0"/>
              <a:t>F </a:t>
            </a:r>
            <a:r>
              <a:rPr lang="zh-CN" altLang="en-US" dirty="0"/>
              <a:t>矩阵，具有承袭性和易于变动节点的特点</a:t>
            </a:r>
            <a:r>
              <a:rPr lang="zh-CN" altLang="en-US" dirty="0" smtClean="0"/>
              <a:t>。两者从本质上给</a:t>
            </a:r>
            <a:r>
              <a:rPr lang="zh-CN" altLang="en-US" dirty="0"/>
              <a:t>出</a:t>
            </a:r>
            <a:r>
              <a:rPr lang="zh-CN" altLang="en-US" dirty="0" smtClean="0"/>
              <a:t>的结果</a:t>
            </a:r>
            <a:r>
              <a:rPr lang="zh-CN" altLang="en-US" dirty="0"/>
              <a:t>是一样的（相同次数、相同系数的多项式</a:t>
            </a:r>
            <a:r>
              <a:rPr lang="zh-CN" altLang="en-US" dirty="0" smtClean="0"/>
              <a:t>），不过</a:t>
            </a:r>
            <a:r>
              <a:rPr lang="zh-CN" altLang="en-US" dirty="0"/>
              <a:t>表示形式不同</a:t>
            </a:r>
            <a:r>
              <a:rPr lang="zh-CN" altLang="en-US" dirty="0" smtClean="0"/>
              <a:t>。</a:t>
            </a:r>
            <a:endParaRPr lang="en-US" altLang="zh-CN" dirty="0" smtClean="0"/>
          </a:p>
          <a:p>
            <a:pPr>
              <a:spcAft>
                <a:spcPts val="600"/>
              </a:spcAft>
            </a:pPr>
            <a:r>
              <a:rPr lang="zh-CN" altLang="en-US" dirty="0"/>
              <a:t>①求已知的</a:t>
            </a:r>
            <a:r>
              <a:rPr lang="en-US" altLang="zh-CN" i="1" dirty="0"/>
              <a:t>n </a:t>
            </a:r>
            <a:r>
              <a:rPr lang="zh-CN" altLang="en-US" dirty="0"/>
              <a:t>个点</a:t>
            </a:r>
            <a:r>
              <a:rPr lang="zh-CN" altLang="en-US" dirty="0" smtClean="0"/>
              <a:t>对</a:t>
            </a:r>
            <a:r>
              <a:rPr lang="en-US" altLang="zh-CN" dirty="0"/>
              <a:t>( </a:t>
            </a:r>
            <a:r>
              <a:rPr lang="en-US" altLang="zh-CN" i="1" dirty="0"/>
              <a:t>x</a:t>
            </a:r>
            <a:r>
              <a:rPr lang="en-US" altLang="zh-CN" sz="1050" dirty="0"/>
              <a:t>1</a:t>
            </a:r>
            <a:r>
              <a:rPr lang="en-US" altLang="zh-CN" dirty="0"/>
              <a:t>, </a:t>
            </a:r>
            <a:r>
              <a:rPr lang="en-US" altLang="zh-CN" i="1" dirty="0"/>
              <a:t>y</a:t>
            </a:r>
            <a:r>
              <a:rPr lang="en-US" altLang="zh-CN" sz="1050" dirty="0"/>
              <a:t>1</a:t>
            </a:r>
            <a:r>
              <a:rPr lang="en-US" altLang="zh-CN" dirty="0"/>
              <a:t> ),( </a:t>
            </a:r>
            <a:r>
              <a:rPr lang="en-US" altLang="zh-CN" i="1" dirty="0"/>
              <a:t>x</a:t>
            </a:r>
            <a:r>
              <a:rPr lang="en-US" altLang="zh-CN" sz="1050" dirty="0"/>
              <a:t>2</a:t>
            </a:r>
            <a:r>
              <a:rPr lang="en-US" altLang="zh-CN" dirty="0"/>
              <a:t>, </a:t>
            </a:r>
            <a:r>
              <a:rPr lang="en-US" altLang="zh-CN" i="1" dirty="0"/>
              <a:t>y</a:t>
            </a:r>
            <a:r>
              <a:rPr lang="en-US" altLang="zh-CN" sz="1050" dirty="0"/>
              <a:t>2</a:t>
            </a:r>
            <a:r>
              <a:rPr lang="en-US" altLang="zh-CN" dirty="0"/>
              <a:t> )⋯( </a:t>
            </a:r>
            <a:r>
              <a:rPr lang="en-US" altLang="zh-CN" i="1" dirty="0" err="1"/>
              <a:t>x</a:t>
            </a:r>
            <a:r>
              <a:rPr lang="en-US" altLang="zh-CN" sz="1050" i="1" dirty="0" err="1"/>
              <a:t>n</a:t>
            </a:r>
            <a:r>
              <a:rPr lang="en-US" altLang="zh-CN" dirty="0"/>
              <a:t>, </a:t>
            </a:r>
            <a:r>
              <a:rPr lang="en-US" altLang="zh-CN" i="1" dirty="0" err="1"/>
              <a:t>y</a:t>
            </a:r>
            <a:r>
              <a:rPr lang="en-US" altLang="zh-CN" sz="1050" i="1" dirty="0" err="1"/>
              <a:t>n</a:t>
            </a:r>
            <a:r>
              <a:rPr lang="en-US" altLang="zh-CN" i="1" dirty="0"/>
              <a:t> </a:t>
            </a:r>
            <a:r>
              <a:rPr lang="en-US" altLang="zh-CN" dirty="0"/>
              <a:t>)</a:t>
            </a:r>
            <a:r>
              <a:rPr lang="zh-CN" altLang="en-US" dirty="0" smtClean="0"/>
              <a:t>的</a:t>
            </a:r>
            <a:r>
              <a:rPr lang="zh-CN" altLang="en-US" dirty="0"/>
              <a:t>所有阶差商</a:t>
            </a:r>
            <a:r>
              <a:rPr lang="zh-CN" altLang="en-US" dirty="0" smtClean="0"/>
              <a:t>公式：</a:t>
            </a:r>
            <a:endParaRPr lang="en-US" altLang="zh-CN" dirty="0" smtClean="0"/>
          </a:p>
          <a:p>
            <a:pPr>
              <a:spcAft>
                <a:spcPts val="600"/>
              </a:spcAft>
            </a:pPr>
            <a:endParaRPr lang="en-US" altLang="zh-CN" sz="2200" dirty="0">
              <a:sym typeface="Wingdings" panose="05000000000000000000" pitchFamily="2" charset="2"/>
            </a:endParaRPr>
          </a:p>
        </p:txBody>
      </p:sp>
      <p:pic>
        <p:nvPicPr>
          <p:cNvPr id="2" name="图片 1"/>
          <p:cNvPicPr>
            <a:picLocks noChangeAspect="1"/>
          </p:cNvPicPr>
          <p:nvPr/>
        </p:nvPicPr>
        <p:blipFill>
          <a:blip r:embed="rId3"/>
          <a:stretch>
            <a:fillRect/>
          </a:stretch>
        </p:blipFill>
        <p:spPr>
          <a:xfrm>
            <a:off x="2283669" y="4490194"/>
            <a:ext cx="5176497" cy="2222789"/>
          </a:xfrm>
          <a:prstGeom prst="rect">
            <a:avLst/>
          </a:prstGeom>
        </p:spPr>
      </p:pic>
    </p:spTree>
    <p:extLst>
      <p:ext uri="{BB962C8B-B14F-4D97-AF65-F5344CB8AC3E}">
        <p14:creationId xmlns:p14="http://schemas.microsoft.com/office/powerpoint/2010/main" val="42198931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13</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345688" y="2494870"/>
            <a:ext cx="8798312" cy="4355038"/>
          </a:xfrm>
          <a:prstGeom prst="rect">
            <a:avLst/>
          </a:prstGeom>
          <a:solidFill>
            <a:schemeClr val="bg1"/>
          </a:solidFill>
        </p:spPr>
        <p:txBody>
          <a:bodyPr wrap="square" rtlCol="0">
            <a:spAutoFit/>
          </a:bodyPr>
          <a:lstStyle/>
          <a:p>
            <a:pPr>
              <a:spcAft>
                <a:spcPts val="600"/>
              </a:spcAft>
            </a:pPr>
            <a:r>
              <a:rPr lang="en-US" altLang="zh-CN" b="1" dirty="0" smtClean="0"/>
              <a:t>2. </a:t>
            </a:r>
            <a:r>
              <a:rPr lang="zh-CN" altLang="en-US" b="1" dirty="0" smtClean="0"/>
              <a:t>缺失值插补</a:t>
            </a:r>
            <a:endParaRPr lang="en-US" altLang="zh-CN" b="1" dirty="0" smtClean="0"/>
          </a:p>
          <a:p>
            <a:r>
              <a:rPr lang="zh-CN" altLang="en-US" dirty="0" smtClean="0"/>
              <a:t>（</a:t>
            </a:r>
            <a:r>
              <a:rPr lang="en-US" altLang="zh-CN" dirty="0" smtClean="0"/>
              <a:t>2</a:t>
            </a:r>
            <a:r>
              <a:rPr lang="zh-CN" altLang="en-US" dirty="0" smtClean="0"/>
              <a:t>）</a:t>
            </a:r>
            <a:r>
              <a:rPr lang="zh-CN" altLang="en-US" dirty="0"/>
              <a:t>牛顿插值法</a:t>
            </a:r>
            <a:r>
              <a:rPr lang="zh-CN" altLang="en-US" dirty="0" smtClean="0"/>
              <a:t>。</a:t>
            </a:r>
            <a:endParaRPr lang="en-US" altLang="zh-CN" dirty="0" smtClean="0"/>
          </a:p>
          <a:p>
            <a:r>
              <a:rPr lang="zh-CN" altLang="en-US" dirty="0"/>
              <a:t>联立以上差商公式建立如下</a:t>
            </a:r>
            <a:r>
              <a:rPr lang="zh-CN" altLang="en-US" dirty="0" smtClean="0"/>
              <a:t>：</a:t>
            </a:r>
            <a:endParaRPr lang="en-US" altLang="zh-CN" dirty="0" smtClean="0"/>
          </a:p>
          <a:p>
            <a:endParaRPr lang="en-US" altLang="zh-CN" sz="2200" dirty="0">
              <a:sym typeface="Wingdings" panose="05000000000000000000" pitchFamily="2" charset="2"/>
            </a:endParaRPr>
          </a:p>
          <a:p>
            <a:endParaRPr lang="en-US" altLang="zh-CN" sz="2200" dirty="0" smtClean="0">
              <a:sym typeface="Wingdings" panose="05000000000000000000" pitchFamily="2" charset="2"/>
            </a:endParaRPr>
          </a:p>
          <a:p>
            <a:endParaRPr lang="en-US" altLang="zh-CN" sz="2200" dirty="0">
              <a:sym typeface="Wingdings" panose="05000000000000000000" pitchFamily="2" charset="2"/>
            </a:endParaRPr>
          </a:p>
          <a:p>
            <a:endParaRPr lang="en-US" altLang="zh-CN" sz="2200" dirty="0" smtClean="0">
              <a:sym typeface="Wingdings" panose="05000000000000000000" pitchFamily="2" charset="2"/>
            </a:endParaRPr>
          </a:p>
          <a:p>
            <a:endParaRPr lang="en-US" altLang="zh-CN" sz="2200" dirty="0">
              <a:sym typeface="Wingdings" panose="05000000000000000000" pitchFamily="2" charset="2"/>
            </a:endParaRPr>
          </a:p>
          <a:p>
            <a:r>
              <a:rPr lang="zh-CN" altLang="en-US" dirty="0" smtClean="0">
                <a:sym typeface="Wingdings" panose="05000000000000000000" pitchFamily="2" charset="2"/>
              </a:rPr>
              <a:t>其中：</a:t>
            </a:r>
            <a:endParaRPr lang="en-US" altLang="zh-CN" dirty="0" smtClean="0">
              <a:sym typeface="Wingdings" panose="05000000000000000000" pitchFamily="2" charset="2"/>
            </a:endParaRPr>
          </a:p>
          <a:p>
            <a:endParaRPr lang="en-US" altLang="zh-CN" dirty="0">
              <a:sym typeface="Wingdings" panose="05000000000000000000" pitchFamily="2" charset="2"/>
            </a:endParaRPr>
          </a:p>
          <a:p>
            <a:endParaRPr lang="en-US" altLang="zh-CN" dirty="0" smtClean="0">
              <a:sym typeface="Wingdings" panose="05000000000000000000" pitchFamily="2" charset="2"/>
            </a:endParaRPr>
          </a:p>
          <a:p>
            <a:r>
              <a:rPr lang="en-US" altLang="zh-CN" i="1" dirty="0"/>
              <a:t>P </a:t>
            </a:r>
            <a:r>
              <a:rPr lang="en-US" altLang="zh-CN" dirty="0"/>
              <a:t>( </a:t>
            </a:r>
            <a:r>
              <a:rPr lang="en-US" altLang="zh-CN" i="1" dirty="0"/>
              <a:t>x </a:t>
            </a:r>
            <a:r>
              <a:rPr lang="en-US" altLang="zh-CN" dirty="0"/>
              <a:t>)</a:t>
            </a:r>
            <a:r>
              <a:rPr lang="zh-CN" altLang="en-US" dirty="0"/>
              <a:t>是牛顿插值逼近函数，</a:t>
            </a:r>
            <a:r>
              <a:rPr lang="en-US" altLang="zh-CN" i="1" dirty="0"/>
              <a:t>R</a:t>
            </a:r>
            <a:r>
              <a:rPr lang="en-US" altLang="zh-CN" dirty="0"/>
              <a:t>( </a:t>
            </a:r>
            <a:r>
              <a:rPr lang="en-US" altLang="zh-CN" i="1" dirty="0"/>
              <a:t>x </a:t>
            </a:r>
            <a:r>
              <a:rPr lang="en-US" altLang="zh-CN" dirty="0"/>
              <a:t>)</a:t>
            </a:r>
            <a:r>
              <a:rPr lang="zh-CN" altLang="en-US" dirty="0"/>
              <a:t>是误差函数</a:t>
            </a:r>
            <a:r>
              <a:rPr lang="zh-CN" altLang="en-US" dirty="0" smtClean="0"/>
              <a:t>。</a:t>
            </a:r>
            <a:endParaRPr lang="en-US" altLang="zh-CN" dirty="0" smtClean="0"/>
          </a:p>
          <a:p>
            <a:endParaRPr lang="zh-CN" altLang="en-US" dirty="0"/>
          </a:p>
          <a:p>
            <a:r>
              <a:rPr lang="zh-CN" altLang="en-US" dirty="0"/>
              <a:t>②将缺失的函数值对应的点</a:t>
            </a:r>
            <a:r>
              <a:rPr lang="en-US" altLang="zh-CN" i="1" dirty="0" err="1"/>
              <a:t>x</a:t>
            </a:r>
            <a:r>
              <a:rPr lang="en-US" altLang="zh-CN" sz="1050" i="1" dirty="0" err="1"/>
              <a:t>n</a:t>
            </a:r>
            <a:r>
              <a:rPr lang="en-US" altLang="zh-CN" i="1" dirty="0"/>
              <a:t> </a:t>
            </a:r>
            <a:r>
              <a:rPr lang="en-US" altLang="zh-CN" sz="1050" dirty="0"/>
              <a:t>+ 1 </a:t>
            </a:r>
            <a:r>
              <a:rPr lang="zh-CN" altLang="en-US" dirty="0"/>
              <a:t>代入插值多项式得到缺失值的近似值</a:t>
            </a:r>
            <a:r>
              <a:rPr lang="en-US" altLang="zh-CN" i="1" dirty="0"/>
              <a:t>y</a:t>
            </a:r>
            <a:r>
              <a:rPr lang="zh-CN" altLang="en-US" dirty="0"/>
              <a:t>̂</a:t>
            </a:r>
            <a:r>
              <a:rPr lang="en-US" altLang="zh-CN" sz="1050" i="1" dirty="0"/>
              <a:t>n </a:t>
            </a:r>
            <a:r>
              <a:rPr lang="en-US" altLang="zh-CN" sz="1050" dirty="0"/>
              <a:t>+ 1 </a:t>
            </a:r>
            <a:r>
              <a:rPr lang="en-US" altLang="zh-CN" dirty="0"/>
              <a:t>= </a:t>
            </a:r>
            <a:r>
              <a:rPr lang="en-US" altLang="zh-CN" i="1" dirty="0"/>
              <a:t>f </a:t>
            </a:r>
            <a:r>
              <a:rPr lang="en-US" altLang="zh-CN" dirty="0"/>
              <a:t>( </a:t>
            </a:r>
            <a:r>
              <a:rPr lang="en-US" altLang="zh-CN" i="1" dirty="0" err="1"/>
              <a:t>x</a:t>
            </a:r>
            <a:r>
              <a:rPr lang="en-US" altLang="zh-CN" sz="1050" i="1" dirty="0" err="1"/>
              <a:t>n</a:t>
            </a:r>
            <a:r>
              <a:rPr lang="en-US" altLang="zh-CN" i="1" dirty="0"/>
              <a:t> </a:t>
            </a:r>
            <a:r>
              <a:rPr lang="en-US" altLang="zh-CN" sz="1050" dirty="0"/>
              <a:t>+ 1 </a:t>
            </a:r>
            <a:r>
              <a:rPr lang="en-US" altLang="zh-CN" dirty="0"/>
              <a:t>)</a:t>
            </a:r>
            <a:r>
              <a:rPr lang="zh-CN" altLang="en-US" dirty="0"/>
              <a:t>。</a:t>
            </a:r>
            <a:endParaRPr lang="en-US" altLang="zh-CN" dirty="0">
              <a:sym typeface="Wingdings" panose="05000000000000000000" pitchFamily="2" charset="2"/>
            </a:endParaRPr>
          </a:p>
        </p:txBody>
      </p:sp>
      <p:pic>
        <p:nvPicPr>
          <p:cNvPr id="3" name="图片 2"/>
          <p:cNvPicPr>
            <a:picLocks noChangeAspect="1"/>
          </p:cNvPicPr>
          <p:nvPr/>
        </p:nvPicPr>
        <p:blipFill>
          <a:blip r:embed="rId3"/>
          <a:stretch>
            <a:fillRect/>
          </a:stretch>
        </p:blipFill>
        <p:spPr>
          <a:xfrm>
            <a:off x="1242570" y="3421134"/>
            <a:ext cx="6028025" cy="2534861"/>
          </a:xfrm>
          <a:prstGeom prst="rect">
            <a:avLst/>
          </a:prstGeom>
        </p:spPr>
      </p:pic>
    </p:spTree>
    <p:extLst>
      <p:ext uri="{BB962C8B-B14F-4D97-AF65-F5344CB8AC3E}">
        <p14:creationId xmlns:p14="http://schemas.microsoft.com/office/powerpoint/2010/main" val="26977681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14</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缺失值处理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345688" y="2494870"/>
            <a:ext cx="2712472" cy="3770263"/>
          </a:xfrm>
          <a:prstGeom prst="rect">
            <a:avLst/>
          </a:prstGeom>
          <a:solidFill>
            <a:schemeClr val="bg1"/>
          </a:solidFill>
        </p:spPr>
        <p:txBody>
          <a:bodyPr wrap="square" rtlCol="0">
            <a:spAutoFit/>
          </a:bodyPr>
          <a:lstStyle/>
          <a:p>
            <a:pPr>
              <a:spcAft>
                <a:spcPts val="600"/>
              </a:spcAft>
            </a:pPr>
            <a:r>
              <a:rPr lang="en-US" altLang="zh-CN" b="1" dirty="0" smtClean="0"/>
              <a:t>2. </a:t>
            </a:r>
            <a:r>
              <a:rPr lang="zh-CN" altLang="en-US" b="1" dirty="0" smtClean="0"/>
              <a:t>缺失值插补</a:t>
            </a:r>
            <a:endParaRPr lang="en-US" altLang="zh-CN" b="1" dirty="0" smtClean="0"/>
          </a:p>
          <a:p>
            <a:r>
              <a:rPr lang="zh-CN" altLang="en-US" b="1" dirty="0" smtClean="0">
                <a:solidFill>
                  <a:srgbClr val="FF0000"/>
                </a:solidFill>
                <a:latin typeface="黑体" panose="02010609060101010101" pitchFamily="49" charset="-122"/>
                <a:ea typeface="黑体" panose="02010609060101010101" pitchFamily="49" charset="-122"/>
              </a:rPr>
              <a:t>（</a:t>
            </a:r>
            <a:r>
              <a:rPr lang="en-US" altLang="zh-CN" b="1" dirty="0">
                <a:solidFill>
                  <a:srgbClr val="FF0000"/>
                </a:solidFill>
                <a:latin typeface="黑体" panose="02010609060101010101" pitchFamily="49" charset="-122"/>
                <a:ea typeface="黑体" panose="02010609060101010101" pitchFamily="49" charset="-122"/>
              </a:rPr>
              <a:t>3</a:t>
            </a:r>
            <a:r>
              <a:rPr lang="zh-CN" altLang="en-US" b="1" dirty="0">
                <a:solidFill>
                  <a:srgbClr val="FF0000"/>
                </a:solidFill>
                <a:latin typeface="黑体" panose="02010609060101010101" pitchFamily="49" charset="-122"/>
                <a:ea typeface="黑体" panose="02010609060101010101" pitchFamily="49" charset="-122"/>
              </a:rPr>
              <a:t>）插值法在网约车轨迹数据的应用</a:t>
            </a:r>
            <a:r>
              <a:rPr lang="zh-CN" altLang="en-US" b="1" dirty="0" smtClean="0">
                <a:solidFill>
                  <a:srgbClr val="FF0000"/>
                </a:solidFill>
                <a:latin typeface="黑体" panose="02010609060101010101" pitchFamily="49" charset="-122"/>
                <a:ea typeface="黑体" panose="02010609060101010101" pitchFamily="49" charset="-122"/>
              </a:rPr>
              <a:t>。</a:t>
            </a:r>
            <a:endParaRPr lang="en-US" altLang="zh-CN" b="1" dirty="0" smtClean="0">
              <a:solidFill>
                <a:srgbClr val="FF0000"/>
              </a:solidFill>
              <a:latin typeface="黑体" panose="02010609060101010101" pitchFamily="49" charset="-122"/>
              <a:ea typeface="黑体" panose="02010609060101010101" pitchFamily="49" charset="-122"/>
            </a:endParaRPr>
          </a:p>
          <a:p>
            <a:r>
              <a:rPr lang="zh-CN" altLang="en-US" dirty="0" smtClean="0"/>
              <a:t>案例（某订单部分轨迹数据）数据如表，是</a:t>
            </a:r>
            <a:r>
              <a:rPr lang="zh-CN" altLang="en-US" dirty="0"/>
              <a:t>网约车轨迹数据</a:t>
            </a:r>
            <a:r>
              <a:rPr lang="en-US" altLang="zh-CN" dirty="0"/>
              <a:t>DATASET-A</a:t>
            </a:r>
            <a:r>
              <a:rPr lang="zh-CN" altLang="en-US" dirty="0" smtClean="0"/>
              <a:t>中某订单的</a:t>
            </a:r>
            <a:r>
              <a:rPr lang="zh-CN" altLang="en-US" dirty="0"/>
              <a:t>部分经纬度信息。传感器记录的</a:t>
            </a:r>
            <a:r>
              <a:rPr lang="zh-CN" altLang="en-US" dirty="0" smtClean="0"/>
              <a:t>时间间隔</a:t>
            </a:r>
            <a:r>
              <a:rPr lang="zh-CN" altLang="en-US" dirty="0"/>
              <a:t>一般为</a:t>
            </a:r>
            <a:r>
              <a:rPr lang="en-US" altLang="zh-CN" dirty="0"/>
              <a:t>3</a:t>
            </a:r>
            <a:r>
              <a:rPr lang="zh-CN" altLang="en-US" dirty="0"/>
              <a:t>秒左右，但有时会因为</a:t>
            </a:r>
            <a:r>
              <a:rPr lang="zh-CN" altLang="en-US" dirty="0" smtClean="0"/>
              <a:t>信号不佳等原因</a:t>
            </a:r>
            <a:r>
              <a:rPr lang="zh-CN" altLang="en-US" dirty="0"/>
              <a:t>产生缺失值（时间间隔</a:t>
            </a:r>
            <a:r>
              <a:rPr lang="zh-CN" altLang="en-US" dirty="0" smtClean="0"/>
              <a:t>大于等于</a:t>
            </a:r>
            <a:r>
              <a:rPr lang="en-US" altLang="zh-CN" dirty="0"/>
              <a:t>6</a:t>
            </a:r>
            <a:r>
              <a:rPr lang="zh-CN" altLang="en-US" dirty="0"/>
              <a:t>秒则被定义为缺失值）</a:t>
            </a:r>
            <a:r>
              <a:rPr lang="zh-CN" altLang="en-US" dirty="0" smtClean="0"/>
              <a:t>。</a:t>
            </a:r>
            <a:endParaRPr lang="en-US" altLang="zh-CN" sz="2200" dirty="0">
              <a:sym typeface="Wingdings" panose="05000000000000000000" pitchFamily="2" charset="2"/>
            </a:endParaRPr>
          </a:p>
        </p:txBody>
      </p:sp>
      <p:pic>
        <p:nvPicPr>
          <p:cNvPr id="2" name="图片 1"/>
          <p:cNvPicPr>
            <a:picLocks noChangeAspect="1"/>
          </p:cNvPicPr>
          <p:nvPr/>
        </p:nvPicPr>
        <p:blipFill>
          <a:blip r:embed="rId3"/>
          <a:stretch>
            <a:fillRect/>
          </a:stretch>
        </p:blipFill>
        <p:spPr>
          <a:xfrm>
            <a:off x="3058161" y="2585252"/>
            <a:ext cx="6073564" cy="4194692"/>
          </a:xfrm>
          <a:prstGeom prst="rect">
            <a:avLst/>
          </a:prstGeom>
        </p:spPr>
      </p:pic>
    </p:spTree>
    <p:extLst>
      <p:ext uri="{BB962C8B-B14F-4D97-AF65-F5344CB8AC3E}">
        <p14:creationId xmlns:p14="http://schemas.microsoft.com/office/powerpoint/2010/main" val="31536111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15</a:t>
            </a:fld>
            <a:endParaRPr lang="en-US" altLang="zh-CN" dirty="0"/>
          </a:p>
        </p:txBody>
      </p:sp>
      <p:sp>
        <p:nvSpPr>
          <p:cNvPr id="15" name="文本框 14">
            <a:extLst>
              <a:ext uri="{FF2B5EF4-FFF2-40B4-BE49-F238E27FC236}">
                <a16:creationId xmlns:a16="http://schemas.microsoft.com/office/drawing/2014/main" id="{803F80B7-51B4-43C4-8D0C-E2DBF631AC6E}"/>
              </a:ext>
            </a:extLst>
          </p:cNvPr>
          <p:cNvSpPr txBox="1"/>
          <p:nvPr/>
        </p:nvSpPr>
        <p:spPr>
          <a:xfrm>
            <a:off x="156116" y="347663"/>
            <a:ext cx="8753708" cy="646331"/>
          </a:xfrm>
          <a:prstGeom prst="rect">
            <a:avLst/>
          </a:prstGeom>
          <a:solidFill>
            <a:schemeClr val="bg1"/>
          </a:solidFill>
        </p:spPr>
        <p:txBody>
          <a:bodyPr wrap="square" rtlCol="0">
            <a:spAutoFit/>
          </a:bodyPr>
          <a:lstStyle/>
          <a:p>
            <a:r>
              <a:rPr lang="zh-CN" altLang="en-US" dirty="0" smtClean="0"/>
              <a:t>（</a:t>
            </a:r>
            <a:r>
              <a:rPr lang="en-US" altLang="zh-CN" dirty="0"/>
              <a:t>3</a:t>
            </a:r>
            <a:r>
              <a:rPr lang="zh-CN" altLang="en-US" dirty="0"/>
              <a:t>）插值法在网约车轨迹数据的应用。在此场景下，可以通过多项式插值的方法进行填充。通过以下代码处理，使用拉格朗日插值法。</a:t>
            </a:r>
            <a:endParaRPr lang="en-US" altLang="zh-CN" sz="2200" dirty="0">
              <a:sym typeface="Wingdings" panose="05000000000000000000" pitchFamily="2" charset="2"/>
            </a:endParaRPr>
          </a:p>
        </p:txBody>
      </p:sp>
      <p:sp>
        <p:nvSpPr>
          <p:cNvPr id="9" name="文本框 8">
            <a:extLst>
              <a:ext uri="{FF2B5EF4-FFF2-40B4-BE49-F238E27FC236}">
                <a16:creationId xmlns:a16="http://schemas.microsoft.com/office/drawing/2014/main" id="{803F80B7-51B4-43C4-8D0C-E2DBF631AC6E}"/>
              </a:ext>
            </a:extLst>
          </p:cNvPr>
          <p:cNvSpPr txBox="1"/>
          <p:nvPr/>
        </p:nvSpPr>
        <p:spPr>
          <a:xfrm>
            <a:off x="234175" y="1070938"/>
            <a:ext cx="8675649" cy="5632311"/>
          </a:xfrm>
          <a:prstGeom prst="rect">
            <a:avLst/>
          </a:prstGeom>
          <a:solidFill>
            <a:schemeClr val="bg1"/>
          </a:solidFill>
        </p:spPr>
        <p:txBody>
          <a:bodyPr wrap="square" rtlCol="0">
            <a:spAutoFit/>
          </a:bodyPr>
          <a:lstStyle/>
          <a:p>
            <a:r>
              <a:rPr lang="en-US" altLang="zh-CN" dirty="0" smtClean="0"/>
              <a:t>1. import </a:t>
            </a:r>
            <a:r>
              <a:rPr lang="en-US" altLang="zh-CN" dirty="0"/>
              <a:t>pandas as </a:t>
            </a:r>
            <a:r>
              <a:rPr lang="en-US" altLang="zh-CN" dirty="0" err="1" smtClean="0"/>
              <a:t>pd</a:t>
            </a:r>
            <a:endParaRPr lang="en-US" altLang="zh-CN" dirty="0" smtClean="0"/>
          </a:p>
          <a:p>
            <a:r>
              <a:rPr lang="en-US" altLang="zh-CN" dirty="0" smtClean="0"/>
              <a:t>2</a:t>
            </a:r>
            <a:r>
              <a:rPr lang="en-US" altLang="zh-CN" dirty="0"/>
              <a:t>. import </a:t>
            </a:r>
            <a:r>
              <a:rPr lang="en-US" altLang="zh-CN" dirty="0" err="1"/>
              <a:t>numpy</a:t>
            </a:r>
            <a:r>
              <a:rPr lang="en-US" altLang="zh-CN" dirty="0"/>
              <a:t> as np</a:t>
            </a:r>
          </a:p>
          <a:p>
            <a:r>
              <a:rPr lang="en-US" altLang="zh-CN" dirty="0"/>
              <a:t>3. # </a:t>
            </a:r>
            <a:r>
              <a:rPr lang="zh-CN" altLang="en-US" dirty="0"/>
              <a:t>拉格朗日插值</a:t>
            </a:r>
          </a:p>
          <a:p>
            <a:r>
              <a:rPr lang="en-US" altLang="zh-CN" dirty="0"/>
              <a:t>4. from </a:t>
            </a:r>
            <a:r>
              <a:rPr lang="en-US" altLang="zh-CN" dirty="0" err="1"/>
              <a:t>scipy.interpolate</a:t>
            </a:r>
            <a:r>
              <a:rPr lang="en-US" altLang="zh-CN" dirty="0"/>
              <a:t> import </a:t>
            </a:r>
            <a:r>
              <a:rPr lang="en-US" altLang="zh-CN" dirty="0" err="1"/>
              <a:t>lagrange</a:t>
            </a:r>
            <a:r>
              <a:rPr lang="en-US" altLang="zh-CN" dirty="0"/>
              <a:t> #</a:t>
            </a:r>
            <a:r>
              <a:rPr lang="en-US" altLang="zh-CN" dirty="0" err="1"/>
              <a:t>scipy.interpolate</a:t>
            </a:r>
            <a:r>
              <a:rPr lang="zh-CN" altLang="en-US" dirty="0"/>
              <a:t>是内置工具包</a:t>
            </a:r>
            <a:endParaRPr lang="en-US" altLang="zh-CN" dirty="0" smtClean="0"/>
          </a:p>
          <a:p>
            <a:r>
              <a:rPr lang="en-US" altLang="zh-CN" dirty="0"/>
              <a:t>5. </a:t>
            </a:r>
            <a:r>
              <a:rPr lang="en-US" altLang="zh-CN" dirty="0" err="1"/>
              <a:t>def</a:t>
            </a:r>
            <a:r>
              <a:rPr lang="en-US" altLang="zh-CN" dirty="0"/>
              <a:t> ploy (</a:t>
            </a:r>
            <a:r>
              <a:rPr lang="en-US" altLang="zh-CN" dirty="0" err="1"/>
              <a:t>s,n,k</a:t>
            </a:r>
            <a:r>
              <a:rPr lang="en-US" altLang="zh-CN" dirty="0"/>
              <a:t>=5):</a:t>
            </a:r>
          </a:p>
          <a:p>
            <a:r>
              <a:rPr lang="en-US" altLang="zh-CN" dirty="0"/>
              <a:t>6. y=s[list(range(n-</a:t>
            </a:r>
            <a:r>
              <a:rPr lang="en-US" altLang="zh-CN" dirty="0" err="1"/>
              <a:t>k,n</a:t>
            </a:r>
            <a:r>
              <a:rPr lang="en-US" altLang="zh-CN" dirty="0"/>
              <a:t>))+list(range(n+1,n+1+k))] #</a:t>
            </a:r>
            <a:r>
              <a:rPr lang="zh-CN" altLang="en-US" dirty="0"/>
              <a:t>取出插值位置前后</a:t>
            </a:r>
            <a:r>
              <a:rPr lang="en-US" altLang="zh-CN" dirty="0"/>
              <a:t>k</a:t>
            </a:r>
            <a:r>
              <a:rPr lang="zh-CN" altLang="en-US" dirty="0"/>
              <a:t>个数据</a:t>
            </a:r>
          </a:p>
          <a:p>
            <a:r>
              <a:rPr lang="en-US" altLang="zh-CN" dirty="0"/>
              <a:t>7. y=y[</a:t>
            </a:r>
            <a:r>
              <a:rPr lang="en-US" altLang="zh-CN" dirty="0" err="1"/>
              <a:t>y.notnull</a:t>
            </a:r>
            <a:r>
              <a:rPr lang="en-US" altLang="zh-CN" dirty="0"/>
              <a:t>()] #</a:t>
            </a:r>
            <a:r>
              <a:rPr lang="zh-CN" altLang="en-US" dirty="0"/>
              <a:t>剔除空值</a:t>
            </a:r>
          </a:p>
          <a:p>
            <a:r>
              <a:rPr lang="en-US" altLang="zh-CN" dirty="0"/>
              <a:t>8. return </a:t>
            </a:r>
            <a:r>
              <a:rPr lang="en-US" altLang="zh-CN" dirty="0" err="1"/>
              <a:t>lagrange</a:t>
            </a:r>
            <a:r>
              <a:rPr lang="en-US" altLang="zh-CN" dirty="0"/>
              <a:t>(</a:t>
            </a:r>
            <a:r>
              <a:rPr lang="en-US" altLang="zh-CN" dirty="0" err="1"/>
              <a:t>y.index,list</a:t>
            </a:r>
            <a:r>
              <a:rPr lang="en-US" altLang="zh-CN" dirty="0"/>
              <a:t>(y))(n)</a:t>
            </a:r>
          </a:p>
          <a:p>
            <a:r>
              <a:rPr lang="en-US" altLang="zh-CN" dirty="0"/>
              <a:t>9. </a:t>
            </a:r>
            <a:r>
              <a:rPr lang="en-US" altLang="zh-CN" dirty="0" err="1"/>
              <a:t>traj</a:t>
            </a:r>
            <a:r>
              <a:rPr lang="en-US" altLang="zh-CN" dirty="0"/>
              <a:t> = </a:t>
            </a:r>
            <a:r>
              <a:rPr lang="en-US" altLang="zh-CN" dirty="0" err="1"/>
              <a:t>pd.read_csv</a:t>
            </a:r>
            <a:r>
              <a:rPr lang="en-US" altLang="zh-CN" dirty="0"/>
              <a:t>(</a:t>
            </a:r>
            <a:r>
              <a:rPr lang="zh-CN" altLang="en-US" dirty="0"/>
              <a:t>＇</a:t>
            </a:r>
            <a:r>
              <a:rPr lang="en-US" altLang="zh-CN" dirty="0"/>
              <a:t>DATASET-A.csv</a:t>
            </a:r>
            <a:r>
              <a:rPr lang="zh-CN" altLang="en-US" dirty="0"/>
              <a:t>＇</a:t>
            </a:r>
            <a:r>
              <a:rPr lang="en-US" altLang="zh-CN" dirty="0"/>
              <a:t>, header=None, </a:t>
            </a:r>
            <a:r>
              <a:rPr lang="en-US" altLang="zh-CN" dirty="0" err="1"/>
              <a:t>usecols</a:t>
            </a:r>
            <a:r>
              <a:rPr lang="en-US" altLang="zh-CN" dirty="0"/>
              <a:t>=[2,3,4]).</a:t>
            </a:r>
            <a:r>
              <a:rPr lang="en-US" altLang="zh-CN" dirty="0" err="1"/>
              <a:t>iloc</a:t>
            </a:r>
            <a:r>
              <a:rPr lang="en-US" altLang="zh-CN" dirty="0"/>
              <a:t>[:15]</a:t>
            </a:r>
          </a:p>
          <a:p>
            <a:r>
              <a:rPr lang="en-US" altLang="zh-CN" dirty="0"/>
              <a:t>10. </a:t>
            </a:r>
            <a:r>
              <a:rPr lang="en-US" altLang="zh-CN" dirty="0" err="1"/>
              <a:t>traj.columns</a:t>
            </a:r>
            <a:r>
              <a:rPr lang="en-US" altLang="zh-CN" dirty="0"/>
              <a:t> = </a:t>
            </a:r>
            <a:r>
              <a:rPr lang="en-US" altLang="zh-CN" dirty="0" smtClean="0"/>
              <a:t>[‘timestamp’,’</a:t>
            </a:r>
            <a:r>
              <a:rPr lang="en-US" altLang="zh-CN" dirty="0" err="1" smtClean="0"/>
              <a:t>lon</a:t>
            </a:r>
            <a:r>
              <a:rPr lang="en-US" altLang="zh-CN" dirty="0" smtClean="0"/>
              <a:t>’,’</a:t>
            </a:r>
            <a:r>
              <a:rPr lang="en-US" altLang="zh-CN" dirty="0" err="1" smtClean="0"/>
              <a:t>lat</a:t>
            </a:r>
            <a:r>
              <a:rPr lang="en-US" altLang="zh-CN" dirty="0" smtClean="0"/>
              <a:t>’]</a:t>
            </a:r>
            <a:endParaRPr lang="en-US" altLang="zh-CN" dirty="0"/>
          </a:p>
          <a:p>
            <a:r>
              <a:rPr lang="en-US" altLang="zh-CN" dirty="0"/>
              <a:t>11. </a:t>
            </a:r>
            <a:r>
              <a:rPr lang="en-US" altLang="zh-CN" dirty="0" err="1" smtClean="0"/>
              <a:t>traj</a:t>
            </a:r>
            <a:r>
              <a:rPr lang="en-US" altLang="zh-CN" dirty="0" smtClean="0"/>
              <a:t>[‘</a:t>
            </a:r>
            <a:r>
              <a:rPr lang="en-US" altLang="zh-CN" dirty="0" err="1" smtClean="0"/>
              <a:t>time_interval</a:t>
            </a:r>
            <a:r>
              <a:rPr lang="en-US" altLang="zh-CN" dirty="0" smtClean="0"/>
              <a:t>’] </a:t>
            </a:r>
            <a:r>
              <a:rPr lang="en-US" altLang="zh-CN" dirty="0"/>
              <a:t>= </a:t>
            </a:r>
            <a:r>
              <a:rPr lang="en-US" altLang="zh-CN" dirty="0" err="1" smtClean="0"/>
              <a:t>traj</a:t>
            </a:r>
            <a:r>
              <a:rPr lang="en-US" altLang="zh-CN" dirty="0" smtClean="0"/>
              <a:t>[‘timestamp’]-</a:t>
            </a:r>
            <a:r>
              <a:rPr lang="en-US" altLang="zh-CN" dirty="0" err="1" smtClean="0"/>
              <a:t>traj</a:t>
            </a:r>
            <a:r>
              <a:rPr lang="en-US" altLang="zh-CN" dirty="0" smtClean="0"/>
              <a:t>[‘timestamp’].</a:t>
            </a:r>
            <a:r>
              <a:rPr lang="en-US" altLang="zh-CN" dirty="0"/>
              <a:t>shift(1)</a:t>
            </a:r>
          </a:p>
          <a:p>
            <a:r>
              <a:rPr lang="en-US" altLang="zh-CN" dirty="0"/>
              <a:t>12. index = </a:t>
            </a:r>
            <a:r>
              <a:rPr lang="en-US" altLang="zh-CN" dirty="0" err="1"/>
              <a:t>traj</a:t>
            </a:r>
            <a:r>
              <a:rPr lang="en-US" altLang="zh-CN" dirty="0"/>
              <a:t>[</a:t>
            </a:r>
            <a:r>
              <a:rPr lang="en-US" altLang="zh-CN" dirty="0" err="1"/>
              <a:t>traj</a:t>
            </a:r>
            <a:r>
              <a:rPr lang="en-US" altLang="zh-CN" dirty="0" smtClean="0"/>
              <a:t>[‘</a:t>
            </a:r>
            <a:r>
              <a:rPr lang="en-US" altLang="zh-CN" dirty="0" err="1" smtClean="0"/>
              <a:t>time_interval</a:t>
            </a:r>
            <a:r>
              <a:rPr lang="en-US" altLang="zh-CN" dirty="0" smtClean="0"/>
              <a:t>’] </a:t>
            </a:r>
            <a:r>
              <a:rPr lang="en-US" altLang="zh-CN" dirty="0"/>
              <a:t>&gt;=6].</a:t>
            </a:r>
            <a:r>
              <a:rPr lang="en-US" altLang="zh-CN" dirty="0" err="1"/>
              <a:t>index.to_list</a:t>
            </a:r>
            <a:r>
              <a:rPr lang="en-US" altLang="zh-CN" dirty="0"/>
              <a:t>()</a:t>
            </a:r>
          </a:p>
          <a:p>
            <a:r>
              <a:rPr lang="en-US" altLang="zh-CN" dirty="0"/>
              <a:t>13. for </a:t>
            </a:r>
            <a:r>
              <a:rPr lang="en-US" altLang="zh-CN" dirty="0" err="1"/>
              <a:t>i</a:t>
            </a:r>
            <a:r>
              <a:rPr lang="en-US" altLang="zh-CN" dirty="0"/>
              <a:t> in index:</a:t>
            </a:r>
          </a:p>
          <a:p>
            <a:r>
              <a:rPr lang="en-US" altLang="zh-CN" dirty="0"/>
              <a:t>14. timestamp = </a:t>
            </a:r>
            <a:r>
              <a:rPr lang="en-US" altLang="zh-CN" dirty="0" err="1"/>
              <a:t>traj</a:t>
            </a:r>
            <a:r>
              <a:rPr lang="en-US" altLang="zh-CN" dirty="0" smtClean="0"/>
              <a:t>[‘timestamp’].</a:t>
            </a:r>
            <a:r>
              <a:rPr lang="en-US" altLang="zh-CN" dirty="0" err="1"/>
              <a:t>loc</a:t>
            </a:r>
            <a:r>
              <a:rPr lang="en-US" altLang="zh-CN" dirty="0"/>
              <a:t>[i-1] + 3</a:t>
            </a:r>
          </a:p>
          <a:p>
            <a:r>
              <a:rPr lang="en-US" altLang="zh-CN" dirty="0"/>
              <a:t>15. </a:t>
            </a:r>
            <a:r>
              <a:rPr lang="en-US" altLang="zh-CN" dirty="0" err="1"/>
              <a:t>insertRow</a:t>
            </a:r>
            <a:r>
              <a:rPr lang="en-US" altLang="zh-CN" dirty="0"/>
              <a:t> = </a:t>
            </a:r>
            <a:r>
              <a:rPr lang="en-US" altLang="zh-CN" dirty="0" err="1"/>
              <a:t>pd.DataFrame</a:t>
            </a:r>
            <a:r>
              <a:rPr lang="en-US" altLang="zh-CN" dirty="0"/>
              <a:t>([[</a:t>
            </a:r>
            <a:r>
              <a:rPr lang="en-US" altLang="zh-CN" dirty="0" err="1"/>
              <a:t>np.nan</a:t>
            </a:r>
            <a:r>
              <a:rPr lang="en-US" altLang="zh-CN" dirty="0"/>
              <a:t>, </a:t>
            </a:r>
            <a:r>
              <a:rPr lang="en-US" altLang="zh-CN" dirty="0" err="1"/>
              <a:t>np.nan</a:t>
            </a:r>
            <a:r>
              <a:rPr lang="en-US" altLang="zh-CN" dirty="0"/>
              <a:t>, timestamp]], </a:t>
            </a:r>
            <a:r>
              <a:rPr lang="en-US" altLang="zh-CN" dirty="0" smtClean="0"/>
              <a:t>columns=[‘</a:t>
            </a:r>
            <a:r>
              <a:rPr lang="en-US" altLang="zh-CN" dirty="0" err="1" smtClean="0"/>
              <a:t>lon</a:t>
            </a:r>
            <a:r>
              <a:rPr lang="en-US" altLang="zh-CN" dirty="0" smtClean="0"/>
              <a:t>’,’</a:t>
            </a:r>
            <a:r>
              <a:rPr lang="en-US" altLang="zh-CN" dirty="0" err="1" smtClean="0"/>
              <a:t>lat</a:t>
            </a:r>
            <a:r>
              <a:rPr lang="en-US" altLang="zh-CN" dirty="0" smtClean="0"/>
              <a:t>’,’timestamp’])</a:t>
            </a:r>
            <a:endParaRPr lang="en-US" altLang="zh-CN" dirty="0"/>
          </a:p>
          <a:p>
            <a:r>
              <a:rPr lang="en-US" altLang="zh-CN" dirty="0"/>
              <a:t>16. </a:t>
            </a:r>
            <a:r>
              <a:rPr lang="en-US" altLang="zh-CN" dirty="0" err="1"/>
              <a:t>traj</a:t>
            </a:r>
            <a:r>
              <a:rPr lang="en-US" altLang="zh-CN" dirty="0"/>
              <a:t> = </a:t>
            </a:r>
            <a:r>
              <a:rPr lang="en-US" altLang="zh-CN" dirty="0" err="1"/>
              <a:t>pd.concat</a:t>
            </a:r>
            <a:r>
              <a:rPr lang="en-US" altLang="zh-CN" dirty="0"/>
              <a:t>([</a:t>
            </a:r>
            <a:r>
              <a:rPr lang="en-US" altLang="zh-CN" dirty="0" err="1"/>
              <a:t>traj</a:t>
            </a:r>
            <a:r>
              <a:rPr lang="en-US" altLang="zh-CN" dirty="0"/>
              <a:t>[:</a:t>
            </a:r>
            <a:r>
              <a:rPr lang="en-US" altLang="zh-CN" dirty="0" err="1"/>
              <a:t>i</a:t>
            </a:r>
            <a:r>
              <a:rPr lang="en-US" altLang="zh-CN" dirty="0"/>
              <a:t>], </a:t>
            </a:r>
            <a:r>
              <a:rPr lang="en-US" altLang="zh-CN" dirty="0" err="1"/>
              <a:t>insertRow</a:t>
            </a:r>
            <a:r>
              <a:rPr lang="en-US" altLang="zh-CN" dirty="0"/>
              <a:t>, </a:t>
            </a:r>
            <a:r>
              <a:rPr lang="en-US" altLang="zh-CN" dirty="0" err="1"/>
              <a:t>traj</a:t>
            </a:r>
            <a:r>
              <a:rPr lang="en-US" altLang="zh-CN" dirty="0"/>
              <a:t>[</a:t>
            </a:r>
            <a:r>
              <a:rPr lang="en-US" altLang="zh-CN" dirty="0" err="1"/>
              <a:t>i</a:t>
            </a:r>
            <a:r>
              <a:rPr lang="en-US" altLang="zh-CN" dirty="0"/>
              <a:t>:]], </a:t>
            </a:r>
            <a:r>
              <a:rPr lang="en-US" altLang="zh-CN" dirty="0" err="1"/>
              <a:t>ignore_index</a:t>
            </a:r>
            <a:r>
              <a:rPr lang="en-US" altLang="zh-CN" dirty="0"/>
              <a:t>=True)</a:t>
            </a:r>
          </a:p>
          <a:p>
            <a:r>
              <a:rPr lang="en-US" altLang="zh-CN" dirty="0"/>
              <a:t>17. </a:t>
            </a:r>
            <a:r>
              <a:rPr lang="en-US" altLang="zh-CN" dirty="0" err="1"/>
              <a:t>traj</a:t>
            </a:r>
            <a:r>
              <a:rPr lang="en-US" altLang="zh-CN" dirty="0" smtClean="0"/>
              <a:t>[‘</a:t>
            </a:r>
            <a:r>
              <a:rPr lang="en-US" altLang="zh-CN" dirty="0" err="1" smtClean="0"/>
              <a:t>lon</a:t>
            </a:r>
            <a:r>
              <a:rPr lang="en-US" altLang="zh-CN" dirty="0" smtClean="0"/>
              <a:t>’][</a:t>
            </a:r>
            <a:r>
              <a:rPr lang="en-US" altLang="zh-CN" dirty="0" err="1"/>
              <a:t>i</a:t>
            </a:r>
            <a:r>
              <a:rPr lang="en-US" altLang="zh-CN" dirty="0"/>
              <a:t>]=ploy(</a:t>
            </a:r>
            <a:r>
              <a:rPr lang="en-US" altLang="zh-CN" dirty="0" err="1"/>
              <a:t>traj</a:t>
            </a:r>
            <a:r>
              <a:rPr lang="en-US" altLang="zh-CN" dirty="0" smtClean="0"/>
              <a:t>[‘</a:t>
            </a:r>
            <a:r>
              <a:rPr lang="en-US" altLang="zh-CN" dirty="0" err="1" smtClean="0"/>
              <a:t>lon</a:t>
            </a:r>
            <a:r>
              <a:rPr lang="en-US" altLang="zh-CN" dirty="0" smtClean="0"/>
              <a:t>’],</a:t>
            </a:r>
            <a:r>
              <a:rPr lang="en-US" altLang="zh-CN" dirty="0" err="1"/>
              <a:t>i</a:t>
            </a:r>
            <a:r>
              <a:rPr lang="en-US" altLang="zh-CN" dirty="0"/>
              <a:t>)</a:t>
            </a:r>
          </a:p>
          <a:p>
            <a:r>
              <a:rPr lang="en-US" altLang="zh-CN" dirty="0"/>
              <a:t>18. </a:t>
            </a:r>
            <a:r>
              <a:rPr lang="en-US" altLang="zh-CN" dirty="0" err="1"/>
              <a:t>traj</a:t>
            </a:r>
            <a:r>
              <a:rPr lang="en-US" altLang="zh-CN" dirty="0" smtClean="0"/>
              <a:t>[‘</a:t>
            </a:r>
            <a:r>
              <a:rPr lang="en-US" altLang="zh-CN" dirty="0" err="1" smtClean="0"/>
              <a:t>lat</a:t>
            </a:r>
            <a:r>
              <a:rPr lang="en-US" altLang="zh-CN" dirty="0" smtClean="0"/>
              <a:t>’][</a:t>
            </a:r>
            <a:r>
              <a:rPr lang="en-US" altLang="zh-CN" dirty="0" err="1"/>
              <a:t>i</a:t>
            </a:r>
            <a:r>
              <a:rPr lang="en-US" altLang="zh-CN" dirty="0"/>
              <a:t>]=ploy(</a:t>
            </a:r>
            <a:r>
              <a:rPr lang="en-US" altLang="zh-CN" dirty="0" err="1"/>
              <a:t>traj</a:t>
            </a:r>
            <a:r>
              <a:rPr lang="en-US" altLang="zh-CN" dirty="0" smtClean="0"/>
              <a:t>[‘</a:t>
            </a:r>
            <a:r>
              <a:rPr lang="en-US" altLang="zh-CN" dirty="0" err="1" smtClean="0"/>
              <a:t>lat</a:t>
            </a:r>
            <a:r>
              <a:rPr lang="en-US" altLang="zh-CN" dirty="0" smtClean="0"/>
              <a:t>’],</a:t>
            </a:r>
            <a:r>
              <a:rPr lang="en-US" altLang="zh-CN" dirty="0" err="1"/>
              <a:t>i</a:t>
            </a:r>
            <a:r>
              <a:rPr lang="en-US" altLang="zh-CN" dirty="0"/>
              <a:t>)</a:t>
            </a:r>
          </a:p>
          <a:p>
            <a:r>
              <a:rPr lang="en-US" altLang="zh-CN" dirty="0"/>
              <a:t>19. </a:t>
            </a:r>
            <a:r>
              <a:rPr lang="en-US" altLang="zh-CN" dirty="0" err="1"/>
              <a:t>traj</a:t>
            </a:r>
            <a:r>
              <a:rPr lang="en-US" altLang="zh-CN" dirty="0"/>
              <a:t> = </a:t>
            </a:r>
            <a:r>
              <a:rPr lang="en-US" altLang="zh-CN" dirty="0" err="1"/>
              <a:t>traj.drop</a:t>
            </a:r>
            <a:r>
              <a:rPr lang="en-US" altLang="zh-CN" dirty="0" smtClean="0"/>
              <a:t>([‘</a:t>
            </a:r>
            <a:r>
              <a:rPr lang="en-US" altLang="zh-CN" dirty="0" err="1" smtClean="0"/>
              <a:t>time_interval</a:t>
            </a:r>
            <a:r>
              <a:rPr lang="en-US" altLang="zh-CN" dirty="0" smtClean="0"/>
              <a:t>’], </a:t>
            </a:r>
            <a:r>
              <a:rPr lang="en-US" altLang="zh-CN" dirty="0"/>
              <a:t>axis=1)</a:t>
            </a:r>
            <a:endParaRPr lang="en-US" altLang="zh-CN" sz="2200" dirty="0">
              <a:sym typeface="Wingdings" panose="05000000000000000000" pitchFamily="2" charset="2"/>
            </a:endParaRPr>
          </a:p>
        </p:txBody>
      </p:sp>
    </p:spTree>
    <p:extLst>
      <p:ext uri="{BB962C8B-B14F-4D97-AF65-F5344CB8AC3E}">
        <p14:creationId xmlns:p14="http://schemas.microsoft.com/office/powerpoint/2010/main" val="36713760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16</a:t>
            </a:fld>
            <a:endParaRPr lang="en-US" altLang="zh-CN" dirty="0"/>
          </a:p>
        </p:txBody>
      </p:sp>
      <p:sp>
        <p:nvSpPr>
          <p:cNvPr id="15" name="文本框 14">
            <a:extLst>
              <a:ext uri="{FF2B5EF4-FFF2-40B4-BE49-F238E27FC236}">
                <a16:creationId xmlns:a16="http://schemas.microsoft.com/office/drawing/2014/main" id="{803F80B7-51B4-43C4-8D0C-E2DBF631AC6E}"/>
              </a:ext>
            </a:extLst>
          </p:cNvPr>
          <p:cNvSpPr txBox="1"/>
          <p:nvPr/>
        </p:nvSpPr>
        <p:spPr>
          <a:xfrm>
            <a:off x="156116" y="347663"/>
            <a:ext cx="8753708" cy="923330"/>
          </a:xfrm>
          <a:prstGeom prst="rect">
            <a:avLst/>
          </a:prstGeom>
          <a:solidFill>
            <a:schemeClr val="bg1"/>
          </a:solidFill>
        </p:spPr>
        <p:txBody>
          <a:bodyPr wrap="square" rtlCol="0">
            <a:spAutoFit/>
          </a:bodyPr>
          <a:lstStyle/>
          <a:p>
            <a:r>
              <a:rPr lang="en-US" altLang="zh-CN" b="1" dirty="0"/>
              <a:t>2. </a:t>
            </a:r>
            <a:r>
              <a:rPr lang="zh-CN" altLang="en-US" b="1" dirty="0"/>
              <a:t>缺失值插补</a:t>
            </a:r>
            <a:endParaRPr lang="en-US" altLang="zh-CN" b="1" dirty="0"/>
          </a:p>
          <a:p>
            <a:r>
              <a:rPr lang="zh-CN" altLang="en-US" dirty="0" smtClean="0"/>
              <a:t>（</a:t>
            </a:r>
            <a:r>
              <a:rPr lang="en-US" altLang="zh-CN" dirty="0"/>
              <a:t>3</a:t>
            </a:r>
            <a:r>
              <a:rPr lang="zh-CN" altLang="en-US" dirty="0"/>
              <a:t>）插值法在网约车轨迹数据的应用</a:t>
            </a:r>
            <a:r>
              <a:rPr lang="zh-CN" altLang="en-US" dirty="0" smtClean="0"/>
              <a:t>。通过</a:t>
            </a:r>
            <a:r>
              <a:rPr lang="zh-CN" altLang="en-US" dirty="0"/>
              <a:t>以下代码处理，使用拉格朗日插值法，可以</a:t>
            </a:r>
            <a:r>
              <a:rPr lang="zh-CN" altLang="en-US" dirty="0" smtClean="0"/>
              <a:t>得到</a:t>
            </a:r>
            <a:r>
              <a:rPr lang="zh-CN" altLang="en-US" dirty="0"/>
              <a:t>插值</a:t>
            </a:r>
            <a:r>
              <a:rPr lang="zh-CN" altLang="en-US" dirty="0" smtClean="0"/>
              <a:t>结果</a:t>
            </a:r>
            <a:r>
              <a:rPr lang="zh-CN" altLang="en-US" dirty="0"/>
              <a:t>如</a:t>
            </a:r>
            <a:r>
              <a:rPr lang="zh-CN" altLang="en-US" dirty="0" smtClean="0"/>
              <a:t>表所示。</a:t>
            </a:r>
            <a:endParaRPr lang="en-US" altLang="zh-CN" sz="2200" dirty="0">
              <a:sym typeface="Wingdings" panose="05000000000000000000" pitchFamily="2" charset="2"/>
            </a:endParaRPr>
          </a:p>
        </p:txBody>
      </p:sp>
      <p:pic>
        <p:nvPicPr>
          <p:cNvPr id="2" name="图片 1"/>
          <p:cNvPicPr>
            <a:picLocks noChangeAspect="1"/>
          </p:cNvPicPr>
          <p:nvPr/>
        </p:nvPicPr>
        <p:blipFill>
          <a:blip r:embed="rId3"/>
          <a:stretch>
            <a:fillRect/>
          </a:stretch>
        </p:blipFill>
        <p:spPr>
          <a:xfrm>
            <a:off x="245185" y="1256332"/>
            <a:ext cx="8704940" cy="5601668"/>
          </a:xfrm>
          <a:prstGeom prst="rect">
            <a:avLst/>
          </a:prstGeom>
        </p:spPr>
      </p:pic>
    </p:spTree>
    <p:extLst>
      <p:ext uri="{BB962C8B-B14F-4D97-AF65-F5344CB8AC3E}">
        <p14:creationId xmlns:p14="http://schemas.microsoft.com/office/powerpoint/2010/main" val="20056091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17</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异常值</a:t>
            </a:r>
            <a:r>
              <a:rPr lang="zh-CN" altLang="en-US" dirty="0" smtClean="0">
                <a:solidFill>
                  <a:srgbClr val="4F81BD"/>
                </a:solidFill>
                <a:latin typeface="微软雅黑" panose="020B0503020204020204" pitchFamily="34" charset="-122"/>
                <a:ea typeface="微软雅黑" panose="020B0503020204020204" pitchFamily="34" charset="-122"/>
              </a:rPr>
              <a:t>处理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613317" y="2517170"/>
            <a:ext cx="8164822" cy="1200329"/>
          </a:xfrm>
          <a:prstGeom prst="rect">
            <a:avLst/>
          </a:prstGeom>
          <a:solidFill>
            <a:schemeClr val="bg1"/>
          </a:solidFill>
        </p:spPr>
        <p:txBody>
          <a:bodyPr wrap="square" rtlCol="0">
            <a:spAutoFit/>
          </a:bodyPr>
          <a:lstStyle/>
          <a:p>
            <a:r>
              <a:rPr lang="zh-CN" altLang="en-US" dirty="0" smtClean="0"/>
              <a:t>在</a:t>
            </a:r>
            <a:r>
              <a:rPr lang="zh-CN" altLang="en-US" dirty="0"/>
              <a:t>数据预处理时，可以</a:t>
            </a:r>
            <a:r>
              <a:rPr lang="zh-CN" altLang="en-US" dirty="0" smtClean="0"/>
              <a:t>根据“数据质量分析”章节内容</a:t>
            </a:r>
            <a:r>
              <a:rPr lang="zh-CN" altLang="en-US" dirty="0"/>
              <a:t>对数据中的异常值进行检测和识别。但对于异常值的处理</a:t>
            </a:r>
            <a:r>
              <a:rPr lang="zh-CN" altLang="en-US" dirty="0" smtClean="0"/>
              <a:t>方法</a:t>
            </a:r>
            <a:r>
              <a:rPr lang="zh-CN" altLang="en-US" dirty="0"/>
              <a:t>，则需视其产生原因及其对数据分析任务和模型产生的影响而定，也需结合实际情况考虑，没有固定</a:t>
            </a:r>
            <a:r>
              <a:rPr lang="zh-CN" altLang="en-US" dirty="0" smtClean="0"/>
              <a:t>统一的</a:t>
            </a:r>
            <a:r>
              <a:rPr lang="zh-CN" altLang="en-US" dirty="0"/>
              <a:t>方法。常见的异常值处理方法见</a:t>
            </a:r>
            <a:r>
              <a:rPr lang="zh-CN" altLang="en-US" dirty="0" smtClean="0"/>
              <a:t>表。</a:t>
            </a:r>
            <a:endParaRPr lang="en-US" altLang="zh-CN" sz="2200" dirty="0">
              <a:sym typeface="Wingdings" panose="05000000000000000000" pitchFamily="2" charset="2"/>
            </a:endParaRPr>
          </a:p>
        </p:txBody>
      </p:sp>
      <p:pic>
        <p:nvPicPr>
          <p:cNvPr id="3" name="图片 2"/>
          <p:cNvPicPr>
            <a:picLocks noChangeAspect="1"/>
          </p:cNvPicPr>
          <p:nvPr/>
        </p:nvPicPr>
        <p:blipFill>
          <a:blip r:embed="rId3"/>
          <a:stretch>
            <a:fillRect/>
          </a:stretch>
        </p:blipFill>
        <p:spPr>
          <a:xfrm>
            <a:off x="217612" y="3863567"/>
            <a:ext cx="8758783" cy="1555925"/>
          </a:xfrm>
          <a:prstGeom prst="rect">
            <a:avLst/>
          </a:prstGeom>
        </p:spPr>
      </p:pic>
    </p:spTree>
    <p:extLst>
      <p:ext uri="{BB962C8B-B14F-4D97-AF65-F5344CB8AC3E}">
        <p14:creationId xmlns:p14="http://schemas.microsoft.com/office/powerpoint/2010/main" val="37034038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18</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a:t>
            </a:r>
            <a:r>
              <a:rPr lang="zh-CN" altLang="en-US" sz="2000" b="1" dirty="0"/>
              <a:t>的核心</a:t>
            </a:r>
            <a:r>
              <a:rPr lang="en-US" altLang="zh-CN" sz="2000" b="1" dirty="0"/>
              <a:t>——</a:t>
            </a:r>
            <a:r>
              <a:rPr lang="zh-CN" altLang="en-US" sz="2000" b="1" dirty="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数据</a:t>
            </a:r>
            <a:r>
              <a:rPr lang="zh-CN" altLang="en-US" dirty="0" smtClean="0">
                <a:solidFill>
                  <a:srgbClr val="4F81BD"/>
                </a:solidFill>
                <a:latin typeface="微软雅黑" panose="020B0503020204020204" pitchFamily="34" charset="-122"/>
                <a:ea typeface="微软雅黑" panose="020B0503020204020204" pitchFamily="34" charset="-122"/>
              </a:rPr>
              <a:t>标准化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57200" y="2517170"/>
            <a:ext cx="8320939" cy="4124206"/>
          </a:xfrm>
          <a:prstGeom prst="rect">
            <a:avLst/>
          </a:prstGeom>
          <a:solidFill>
            <a:schemeClr val="bg1"/>
          </a:solidFill>
        </p:spPr>
        <p:txBody>
          <a:bodyPr wrap="square" rtlCol="0">
            <a:spAutoFit/>
          </a:bodyPr>
          <a:lstStyle/>
          <a:p>
            <a:r>
              <a:rPr lang="zh-CN" altLang="en-US" dirty="0"/>
              <a:t>数据标准化（规范化或归一化）处理，是数据挖掘的一项非常重要的基础工作。因为不同类型的数据</a:t>
            </a:r>
            <a:r>
              <a:rPr lang="zh-CN" altLang="en-US" dirty="0" smtClean="0"/>
              <a:t>往往</a:t>
            </a:r>
            <a:r>
              <a:rPr lang="zh-CN" altLang="en-US" dirty="0"/>
              <a:t>具有不同的量纲，数值间的差别可能很大</a:t>
            </a:r>
            <a:r>
              <a:rPr lang="zh-CN" altLang="en-US" dirty="0" smtClean="0"/>
              <a:t>。</a:t>
            </a:r>
            <a:endParaRPr lang="en-US" altLang="zh-CN" dirty="0" smtClean="0"/>
          </a:p>
          <a:p>
            <a:pPr>
              <a:spcBef>
                <a:spcPts val="600"/>
              </a:spcBef>
            </a:pPr>
            <a:r>
              <a:rPr lang="zh-CN" altLang="en-US" dirty="0">
                <a:sym typeface="Wingdings" panose="05000000000000000000" pitchFamily="2" charset="2"/>
              </a:rPr>
              <a:t>在交通大数据分析问题中，常用的数据标准化方法有三种：</a:t>
            </a:r>
            <a:r>
              <a:rPr lang="zh-CN" altLang="en-US" b="1" dirty="0">
                <a:sym typeface="Wingdings" panose="05000000000000000000" pitchFamily="2" charset="2"/>
              </a:rPr>
              <a:t>最小</a:t>
            </a:r>
            <a:r>
              <a:rPr lang="en-US" altLang="zh-CN" b="1" dirty="0">
                <a:sym typeface="Wingdings" panose="05000000000000000000" pitchFamily="2" charset="2"/>
              </a:rPr>
              <a:t>-</a:t>
            </a:r>
            <a:r>
              <a:rPr lang="zh-CN" altLang="en-US" b="1" dirty="0">
                <a:sym typeface="Wingdings" panose="05000000000000000000" pitchFamily="2" charset="2"/>
              </a:rPr>
              <a:t>最大标准化</a:t>
            </a:r>
            <a:r>
              <a:rPr lang="zh-CN" altLang="en-US" dirty="0">
                <a:sym typeface="Wingdings" panose="05000000000000000000" pitchFamily="2" charset="2"/>
              </a:rPr>
              <a:t>、</a:t>
            </a:r>
            <a:r>
              <a:rPr lang="zh-CN" altLang="en-US" b="1" dirty="0">
                <a:sym typeface="Wingdings" panose="05000000000000000000" pitchFamily="2" charset="2"/>
              </a:rPr>
              <a:t>零均值标准化</a:t>
            </a:r>
            <a:r>
              <a:rPr lang="zh-CN" altLang="en-US" dirty="0">
                <a:sym typeface="Wingdings" panose="05000000000000000000" pitchFamily="2" charset="2"/>
              </a:rPr>
              <a:t>和</a:t>
            </a:r>
            <a:r>
              <a:rPr lang="zh-CN" altLang="en-US" b="1" dirty="0">
                <a:sym typeface="Wingdings" panose="05000000000000000000" pitchFamily="2" charset="2"/>
              </a:rPr>
              <a:t>小数</a:t>
            </a:r>
            <a:r>
              <a:rPr lang="zh-CN" altLang="en-US" b="1" dirty="0" smtClean="0">
                <a:sym typeface="Wingdings" panose="05000000000000000000" pitchFamily="2" charset="2"/>
              </a:rPr>
              <a:t>定标</a:t>
            </a:r>
            <a:r>
              <a:rPr lang="zh-CN" altLang="en-US" b="1" dirty="0">
                <a:sym typeface="Wingdings" panose="05000000000000000000" pitchFamily="2" charset="2"/>
              </a:rPr>
              <a:t>标准化</a:t>
            </a:r>
            <a:r>
              <a:rPr lang="zh-CN" altLang="en-US" dirty="0" smtClean="0">
                <a:sym typeface="Wingdings" panose="05000000000000000000" pitchFamily="2" charset="2"/>
              </a:rPr>
              <a:t>。</a:t>
            </a:r>
            <a:endParaRPr lang="en-US" altLang="zh-CN" dirty="0" smtClean="0">
              <a:sym typeface="Wingdings" panose="05000000000000000000" pitchFamily="2" charset="2"/>
            </a:endParaRPr>
          </a:p>
          <a:p>
            <a:pPr>
              <a:spcBef>
                <a:spcPts val="600"/>
              </a:spcBef>
            </a:pPr>
            <a:r>
              <a:rPr lang="en-US" altLang="zh-CN" b="1"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1. </a:t>
            </a:r>
            <a:r>
              <a:rPr lang="zh-CN" altLang="en-US" b="1"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最小</a:t>
            </a:r>
            <a:r>
              <a:rPr lang="en-US" altLang="zh-CN" b="1" dirty="0">
                <a:solidFill>
                  <a:srgbClr val="FF0000"/>
                </a:solidFill>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a:t>
            </a:r>
            <a:r>
              <a:rPr lang="zh-CN" altLang="en-US" b="1" dirty="0">
                <a:solidFill>
                  <a:srgbClr val="FF0000"/>
                </a:solidFill>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最大</a:t>
            </a:r>
            <a:r>
              <a:rPr lang="zh-CN" altLang="en-US" b="1"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rPr>
              <a:t>标准化</a:t>
            </a:r>
            <a:endParaRPr lang="en-US" altLang="zh-CN" b="1"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sym typeface="Wingdings" panose="05000000000000000000" pitchFamily="2" charset="2"/>
            </a:endParaRPr>
          </a:p>
          <a:p>
            <a:r>
              <a:rPr lang="zh-CN" altLang="en-US" dirty="0">
                <a:latin typeface="Times New Roman" panose="02020603050405020304" pitchFamily="18" charset="0"/>
                <a:cs typeface="Times New Roman" panose="02020603050405020304" pitchFamily="18" charset="0"/>
              </a:rPr>
              <a:t>最小</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最大标准化也称为离差标准化，是对原始数据的线性变换，将数值映射到</a:t>
            </a:r>
            <a:r>
              <a:rPr lang="en-US" altLang="zh-CN" dirty="0">
                <a:latin typeface="Times New Roman" panose="02020603050405020304" pitchFamily="18" charset="0"/>
                <a:cs typeface="Times New Roman" panose="02020603050405020304" pitchFamily="18" charset="0"/>
              </a:rPr>
              <a:t>[0,1]</a:t>
            </a:r>
            <a:r>
              <a:rPr lang="zh-CN" altLang="en-US" dirty="0">
                <a:latin typeface="Times New Roman" panose="02020603050405020304" pitchFamily="18" charset="0"/>
                <a:cs typeface="Times New Roman" panose="02020603050405020304" pitchFamily="18" charset="0"/>
              </a:rPr>
              <a:t>之间。</a:t>
            </a:r>
            <a:r>
              <a:rPr lang="zh-CN" altLang="en-US" dirty="0" smtClean="0">
                <a:latin typeface="Times New Roman" panose="02020603050405020304" pitchFamily="18" charset="0"/>
                <a:cs typeface="Times New Roman" panose="02020603050405020304" pitchFamily="18" charset="0"/>
              </a:rPr>
              <a:t>转换公式如下：</a:t>
            </a:r>
            <a:endParaRPr lang="en-US" altLang="zh-CN" dirty="0" smtClean="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sym typeface="Wingdings" panose="05000000000000000000" pitchFamily="2" charset="2"/>
            </a:endParaRPr>
          </a:p>
          <a:p>
            <a:endParaRPr lang="en-US" altLang="zh-CN" b="1" dirty="0" smtClean="0">
              <a:latin typeface="Times New Roman" panose="02020603050405020304" pitchFamily="18" charset="0"/>
              <a:cs typeface="Times New Roman" panose="02020603050405020304" pitchFamily="18" charset="0"/>
              <a:sym typeface="Wingdings" panose="05000000000000000000" pitchFamily="2" charset="2"/>
            </a:endParaRPr>
          </a:p>
          <a:p>
            <a:r>
              <a:rPr lang="zh-CN" altLang="en-US" dirty="0"/>
              <a:t>其中，</a:t>
            </a:r>
            <a:r>
              <a:rPr lang="en-US" altLang="zh-CN" dirty="0"/>
              <a:t>max</a:t>
            </a:r>
            <a:r>
              <a:rPr lang="zh-CN" altLang="en-US" dirty="0"/>
              <a:t>为样本数据的最大值，</a:t>
            </a:r>
            <a:r>
              <a:rPr lang="en-US" altLang="zh-CN" dirty="0"/>
              <a:t>min</a:t>
            </a:r>
            <a:r>
              <a:rPr lang="zh-CN" altLang="en-US" dirty="0"/>
              <a:t>为样本数据的最小值，</a:t>
            </a:r>
            <a:r>
              <a:rPr lang="en-US" altLang="zh-CN" dirty="0"/>
              <a:t>max-min</a:t>
            </a:r>
            <a:r>
              <a:rPr lang="zh-CN" altLang="en-US" dirty="0"/>
              <a:t>为极差。离差标准化保留了原来数据</a:t>
            </a:r>
            <a:r>
              <a:rPr lang="zh-CN" altLang="en-US" dirty="0" smtClean="0"/>
              <a:t>中存在</a:t>
            </a:r>
            <a:r>
              <a:rPr lang="zh-CN" altLang="en-US" dirty="0"/>
              <a:t>的关系，是消除量纲和数据取值范围影响的最简单方法。这种处理方法的缺点是：如果数据集中且</a:t>
            </a:r>
            <a:r>
              <a:rPr lang="zh-CN" altLang="en-US" dirty="0" smtClean="0"/>
              <a:t>某个</a:t>
            </a:r>
            <a:r>
              <a:rPr lang="zh-CN" altLang="en-US" dirty="0"/>
              <a:t>数值很大，则标准化后各值会接近于</a:t>
            </a:r>
            <a:r>
              <a:rPr lang="en-US" altLang="zh-CN" dirty="0"/>
              <a:t>0</a:t>
            </a:r>
            <a:r>
              <a:rPr lang="zh-CN" altLang="en-US" dirty="0"/>
              <a:t>，并且标准化后的数据之间将会相差不大。同时，如果遇到超过</a:t>
            </a:r>
            <a:r>
              <a:rPr lang="zh-CN" altLang="en-US" dirty="0" smtClean="0"/>
              <a:t>目前</a:t>
            </a:r>
            <a:r>
              <a:rPr lang="zh-CN" altLang="en-US" dirty="0"/>
              <a:t>属性取值范围</a:t>
            </a:r>
            <a:r>
              <a:rPr lang="en-US" altLang="zh-CN" dirty="0"/>
              <a:t>[</a:t>
            </a:r>
            <a:r>
              <a:rPr lang="en-US" altLang="zh-CN" dirty="0" err="1"/>
              <a:t>min,max</a:t>
            </a:r>
            <a:r>
              <a:rPr lang="en-US" altLang="zh-CN" dirty="0"/>
              <a:t>]</a:t>
            </a:r>
            <a:r>
              <a:rPr lang="zh-CN" altLang="en-US" dirty="0"/>
              <a:t>的时候，会引起系统出错，需要重新确定</a:t>
            </a:r>
            <a:r>
              <a:rPr lang="en-US" altLang="zh-CN" dirty="0"/>
              <a:t>min</a:t>
            </a:r>
            <a:r>
              <a:rPr lang="zh-CN" altLang="en-US" dirty="0"/>
              <a:t>和</a:t>
            </a:r>
            <a:r>
              <a:rPr lang="en-US" altLang="zh-CN" dirty="0"/>
              <a:t>max</a:t>
            </a:r>
            <a:r>
              <a:rPr lang="zh-CN" altLang="en-US" dirty="0"/>
              <a:t>。</a:t>
            </a:r>
            <a:endParaRPr lang="en-US" altLang="zh-CN" b="1" dirty="0" smtClean="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8" name="图片 7"/>
          <p:cNvPicPr>
            <a:picLocks noChangeAspect="1"/>
          </p:cNvPicPr>
          <p:nvPr/>
        </p:nvPicPr>
        <p:blipFill>
          <a:blip r:embed="rId3"/>
          <a:stretch>
            <a:fillRect/>
          </a:stretch>
        </p:blipFill>
        <p:spPr>
          <a:xfrm>
            <a:off x="3430285" y="4397820"/>
            <a:ext cx="2081952" cy="577714"/>
          </a:xfrm>
          <a:prstGeom prst="rect">
            <a:avLst/>
          </a:prstGeom>
        </p:spPr>
      </p:pic>
    </p:spTree>
    <p:extLst>
      <p:ext uri="{BB962C8B-B14F-4D97-AF65-F5344CB8AC3E}">
        <p14:creationId xmlns:p14="http://schemas.microsoft.com/office/powerpoint/2010/main" val="4369122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19</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dirty="0" smtClean="0">
                <a:solidFill>
                  <a:srgbClr val="4F81BD"/>
                </a:solidFill>
                <a:latin typeface="微软雅黑" panose="020B0503020204020204" pitchFamily="34" charset="-122"/>
                <a:ea typeface="微软雅黑" panose="020B0503020204020204" pitchFamily="34" charset="-122"/>
              </a:rPr>
              <a:t>数据预处理</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数据</a:t>
            </a:r>
            <a:r>
              <a:rPr lang="zh-CN" altLang="en-US" dirty="0" smtClean="0">
                <a:solidFill>
                  <a:srgbClr val="4F81BD"/>
                </a:solidFill>
                <a:latin typeface="微软雅黑" panose="020B0503020204020204" pitchFamily="34" charset="-122"/>
                <a:ea typeface="微软雅黑" panose="020B0503020204020204" pitchFamily="34" charset="-122"/>
              </a:rPr>
              <a:t>标准化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57200" y="1958753"/>
            <a:ext cx="8320939" cy="4524315"/>
          </a:xfrm>
          <a:prstGeom prst="rect">
            <a:avLst/>
          </a:prstGeom>
          <a:solidFill>
            <a:schemeClr val="bg1"/>
          </a:solidFill>
        </p:spPr>
        <p:txBody>
          <a:bodyPr wrap="square" rtlCol="0">
            <a:spAutoFit/>
          </a:bodyPr>
          <a:lstStyle/>
          <a:p>
            <a:r>
              <a:rPr lang="en-US" altLang="zh-CN" b="1" dirty="0">
                <a:solidFill>
                  <a:srgbClr val="FF0000"/>
                </a:solidFill>
                <a:latin typeface="黑体" panose="02010609060101010101" pitchFamily="49" charset="-122"/>
                <a:ea typeface="黑体" panose="02010609060101010101" pitchFamily="49" charset="-122"/>
              </a:rPr>
              <a:t>2. </a:t>
            </a:r>
            <a:r>
              <a:rPr lang="zh-CN" altLang="en-US" b="1" dirty="0">
                <a:solidFill>
                  <a:srgbClr val="FF0000"/>
                </a:solidFill>
                <a:latin typeface="黑体" panose="02010609060101010101" pitchFamily="49" charset="-122"/>
                <a:ea typeface="黑体" panose="02010609060101010101" pitchFamily="49" charset="-122"/>
              </a:rPr>
              <a:t>零均值标准化</a:t>
            </a:r>
          </a:p>
          <a:p>
            <a:r>
              <a:rPr lang="zh-CN" altLang="en-US" dirty="0"/>
              <a:t>零均值标准化也称标准差标准化，是当前用得最多的数据标准化方法。经过零均值标准化处理的</a:t>
            </a:r>
            <a:r>
              <a:rPr lang="zh-CN" altLang="en-US" dirty="0" smtClean="0"/>
              <a:t>数据均值</a:t>
            </a:r>
            <a:r>
              <a:rPr lang="zh-CN" altLang="en-US" dirty="0"/>
              <a:t>为</a:t>
            </a:r>
            <a:r>
              <a:rPr lang="en-US" altLang="zh-CN" dirty="0"/>
              <a:t>0</a:t>
            </a:r>
            <a:r>
              <a:rPr lang="zh-CN" altLang="en-US" dirty="0"/>
              <a:t>，标准差为</a:t>
            </a:r>
            <a:r>
              <a:rPr lang="en-US" altLang="zh-CN" dirty="0"/>
              <a:t>1</a:t>
            </a:r>
            <a:r>
              <a:rPr lang="zh-CN" altLang="en-US" dirty="0"/>
              <a:t>。变换公式如下：</a:t>
            </a:r>
          </a:p>
          <a:p>
            <a:endParaRPr lang="en-US" altLang="zh-CN" dirty="0" smtClean="0"/>
          </a:p>
          <a:p>
            <a:endParaRPr lang="en-US" altLang="zh-CN" dirty="0" smtClean="0"/>
          </a:p>
          <a:p>
            <a:endParaRPr lang="en-US" altLang="zh-CN" dirty="0"/>
          </a:p>
          <a:p>
            <a:r>
              <a:rPr lang="zh-CN" altLang="en-US" dirty="0" smtClean="0"/>
              <a:t>其中</a:t>
            </a:r>
            <a:r>
              <a:rPr lang="zh-CN" altLang="en-US" dirty="0"/>
              <a:t>，</a:t>
            </a:r>
            <a:r>
              <a:rPr lang="en-US" altLang="zh-CN" dirty="0"/>
              <a:t>xˉ</a:t>
            </a:r>
            <a:r>
              <a:rPr lang="zh-CN" altLang="en-US" dirty="0"/>
              <a:t>为原始数据的均值，</a:t>
            </a:r>
            <a:r>
              <a:rPr lang="en-US" altLang="zh-CN" dirty="0"/>
              <a:t>σ </a:t>
            </a:r>
            <a:r>
              <a:rPr lang="zh-CN" altLang="en-US" dirty="0"/>
              <a:t>为原始数据的标准差。</a:t>
            </a:r>
          </a:p>
          <a:p>
            <a:r>
              <a:rPr lang="en-US" altLang="zh-CN" b="1" dirty="0">
                <a:solidFill>
                  <a:srgbClr val="FF0000"/>
                </a:solidFill>
                <a:latin typeface="黑体" panose="02010609060101010101" pitchFamily="49" charset="-122"/>
                <a:ea typeface="黑体" panose="02010609060101010101" pitchFamily="49" charset="-122"/>
              </a:rPr>
              <a:t>3. </a:t>
            </a:r>
            <a:r>
              <a:rPr lang="zh-CN" altLang="en-US" b="1" dirty="0">
                <a:solidFill>
                  <a:srgbClr val="FF0000"/>
                </a:solidFill>
                <a:latin typeface="黑体" panose="02010609060101010101" pitchFamily="49" charset="-122"/>
                <a:ea typeface="黑体" panose="02010609060101010101" pitchFamily="49" charset="-122"/>
              </a:rPr>
              <a:t>小数定标标准化</a:t>
            </a:r>
          </a:p>
          <a:p>
            <a:r>
              <a:rPr lang="zh-CN" altLang="en-US" dirty="0"/>
              <a:t>通过移动属性值的小数位数，将属性值映射到</a:t>
            </a:r>
            <a:r>
              <a:rPr lang="en-US" altLang="zh-CN" dirty="0"/>
              <a:t>[-1,1]</a:t>
            </a:r>
            <a:r>
              <a:rPr lang="zh-CN" altLang="en-US" dirty="0"/>
              <a:t>之间，移动的小数位数取决于属性值绝对值的</a:t>
            </a:r>
            <a:r>
              <a:rPr lang="zh-CN" altLang="en-US" dirty="0" smtClean="0"/>
              <a:t>最大值</a:t>
            </a:r>
            <a:r>
              <a:rPr lang="zh-CN" altLang="en-US" dirty="0"/>
              <a:t>。变换公式如下：</a:t>
            </a:r>
          </a:p>
          <a:p>
            <a:endParaRPr lang="en-US" altLang="zh-CN" dirty="0" smtClean="0"/>
          </a:p>
          <a:p>
            <a:r>
              <a:rPr lang="en-US" altLang="zh-CN" dirty="0" smtClean="0"/>
              <a:t> </a:t>
            </a:r>
          </a:p>
          <a:p>
            <a:endParaRPr lang="en-US" altLang="zh-CN" dirty="0"/>
          </a:p>
          <a:p>
            <a:r>
              <a:rPr lang="zh-CN" altLang="en-US" dirty="0" smtClean="0"/>
              <a:t>最小</a:t>
            </a:r>
            <a:r>
              <a:rPr lang="en-US" altLang="zh-CN" dirty="0"/>
              <a:t>-</a:t>
            </a:r>
            <a:r>
              <a:rPr lang="zh-CN" altLang="en-US" dirty="0"/>
              <a:t>最大标准化可以通过</a:t>
            </a:r>
            <a:r>
              <a:rPr lang="en-US" altLang="zh-CN" dirty="0" err="1"/>
              <a:t>sklearn</a:t>
            </a:r>
            <a:r>
              <a:rPr lang="zh-CN" altLang="en-US" dirty="0"/>
              <a:t>中的</a:t>
            </a:r>
            <a:r>
              <a:rPr lang="en-US" altLang="zh-CN" dirty="0" err="1"/>
              <a:t>preprocessing.MinMaxScaler</a:t>
            </a:r>
            <a:r>
              <a:rPr lang="en-US" altLang="zh-CN" dirty="0"/>
              <a:t>()</a:t>
            </a:r>
            <a:r>
              <a:rPr lang="zh-CN" altLang="en-US" dirty="0"/>
              <a:t>函数实现，零均值标准化可以</a:t>
            </a:r>
            <a:r>
              <a:rPr lang="zh-CN" altLang="en-US" dirty="0" smtClean="0"/>
              <a:t>通过</a:t>
            </a:r>
            <a:r>
              <a:rPr lang="en-US" altLang="zh-CN" dirty="0" err="1" smtClean="0"/>
              <a:t>preprocessing.StandardScaler</a:t>
            </a:r>
            <a:r>
              <a:rPr lang="en-US" altLang="zh-CN" dirty="0"/>
              <a:t>()</a:t>
            </a:r>
            <a:r>
              <a:rPr lang="zh-CN" altLang="en-US" dirty="0"/>
              <a:t>函数实现。大多数模型训练之前会进行数据标准化，具体代码实现方法可以</a:t>
            </a:r>
            <a:r>
              <a:rPr lang="zh-CN" altLang="en-US" dirty="0" smtClean="0"/>
              <a:t>参考</a:t>
            </a:r>
            <a:r>
              <a:rPr lang="zh-CN" altLang="en-US" dirty="0"/>
              <a:t>后续章节内容。</a:t>
            </a:r>
            <a:endParaRPr lang="en-US" altLang="zh-CN" b="1" dirty="0" smtClean="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2" name="图片 1"/>
          <p:cNvPicPr>
            <a:picLocks noChangeAspect="1"/>
          </p:cNvPicPr>
          <p:nvPr/>
        </p:nvPicPr>
        <p:blipFill>
          <a:blip r:embed="rId3"/>
          <a:stretch>
            <a:fillRect/>
          </a:stretch>
        </p:blipFill>
        <p:spPr>
          <a:xfrm>
            <a:off x="3880940" y="2893326"/>
            <a:ext cx="1473458" cy="655927"/>
          </a:xfrm>
          <a:prstGeom prst="rect">
            <a:avLst/>
          </a:prstGeom>
        </p:spPr>
      </p:pic>
      <p:pic>
        <p:nvPicPr>
          <p:cNvPr id="3" name="图片 2"/>
          <p:cNvPicPr>
            <a:picLocks noChangeAspect="1"/>
          </p:cNvPicPr>
          <p:nvPr/>
        </p:nvPicPr>
        <p:blipFill>
          <a:blip r:embed="rId4"/>
          <a:stretch>
            <a:fillRect/>
          </a:stretch>
        </p:blipFill>
        <p:spPr>
          <a:xfrm>
            <a:off x="3880940" y="4749285"/>
            <a:ext cx="1756345" cy="780597"/>
          </a:xfrm>
          <a:prstGeom prst="rect">
            <a:avLst/>
          </a:prstGeom>
        </p:spPr>
      </p:pic>
    </p:spTree>
    <p:extLst>
      <p:ext uri="{BB962C8B-B14F-4D97-AF65-F5344CB8AC3E}">
        <p14:creationId xmlns:p14="http://schemas.microsoft.com/office/powerpoint/2010/main" val="29159811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20</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marL="0" indent="0" defTabSz="914400">
              <a:lnSpc>
                <a:spcPct val="150000"/>
              </a:lnSpc>
              <a:buNone/>
            </a:pPr>
            <a:r>
              <a:rPr lang="zh-CN" altLang="en-US" sz="2000" b="1" dirty="0" smtClean="0"/>
              <a:t>本章的核心</a:t>
            </a:r>
            <a:r>
              <a:rPr lang="en-US" altLang="zh-CN" sz="2000" b="1" dirty="0" smtClean="0"/>
              <a:t>——</a:t>
            </a:r>
            <a:r>
              <a:rPr lang="zh-CN" altLang="en-US" sz="2000" b="1" dirty="0" smtClean="0"/>
              <a:t>探索性数据分析</a:t>
            </a:r>
            <a:endParaRPr lang="en-US" altLang="zh-CN" sz="2000" b="1" dirty="0" smtClean="0"/>
          </a:p>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时空数据分析基础</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57200" y="2517170"/>
            <a:ext cx="8530683" cy="2816156"/>
          </a:xfrm>
          <a:prstGeom prst="rect">
            <a:avLst/>
          </a:prstGeom>
          <a:solidFill>
            <a:schemeClr val="bg1"/>
          </a:solidFill>
        </p:spPr>
        <p:txBody>
          <a:bodyPr wrap="square" rtlCol="0">
            <a:spAutoFit/>
          </a:bodyPr>
          <a:lstStyle/>
          <a:p>
            <a:pPr marL="285750" indent="-285750">
              <a:spcAft>
                <a:spcPts val="600"/>
              </a:spcAft>
              <a:buFont typeface="Wingdings" panose="05000000000000000000" pitchFamily="2" charset="2"/>
              <a:buChar char="Ø"/>
            </a:pPr>
            <a:r>
              <a:rPr lang="zh-CN" altLang="en-US" b="1" dirty="0" smtClean="0">
                <a:solidFill>
                  <a:srgbClr val="FF0000"/>
                </a:solidFill>
                <a:latin typeface="Times New Roman" panose="02020603050405020304" pitchFamily="18" charset="0"/>
                <a:cs typeface="Times New Roman" panose="02020603050405020304" pitchFamily="18" charset="0"/>
              </a:rPr>
              <a:t>时间</a:t>
            </a:r>
            <a:r>
              <a:rPr lang="zh-CN" altLang="en-US" b="1" dirty="0">
                <a:solidFill>
                  <a:srgbClr val="FF0000"/>
                </a:solidFill>
                <a:latin typeface="Times New Roman" panose="02020603050405020304" pitchFamily="18" charset="0"/>
                <a:cs typeface="Times New Roman" panose="02020603050405020304" pitchFamily="18" charset="0"/>
              </a:rPr>
              <a:t>型数据</a:t>
            </a:r>
            <a:r>
              <a:rPr lang="zh-CN" altLang="en-US" dirty="0">
                <a:latin typeface="Times New Roman" panose="02020603050405020304" pitchFamily="18" charset="0"/>
                <a:cs typeface="Times New Roman" panose="02020603050405020304" pitchFamily="18" charset="0"/>
              </a:rPr>
              <a:t>具有典型的序列性，根据其应用场景可以分为两种</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     一类</a:t>
            </a:r>
            <a:r>
              <a:rPr lang="zh-CN" altLang="en-US" dirty="0">
                <a:latin typeface="Times New Roman" panose="02020603050405020304" pitchFamily="18" charset="0"/>
                <a:cs typeface="Times New Roman" panose="02020603050405020304" pitchFamily="18" charset="0"/>
              </a:rPr>
              <a:t>是</a:t>
            </a:r>
            <a:r>
              <a:rPr lang="zh-CN" altLang="en-US" b="1" dirty="0">
                <a:latin typeface="Times New Roman" panose="02020603050405020304" pitchFamily="18" charset="0"/>
                <a:cs typeface="Times New Roman" panose="02020603050405020304" pitchFamily="18" charset="0"/>
              </a:rPr>
              <a:t>时间戳</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timestamp</a:t>
            </a:r>
            <a:r>
              <a:rPr lang="zh-CN" altLang="en-US" dirty="0">
                <a:latin typeface="Times New Roman" panose="02020603050405020304" pitchFamily="18" charset="0"/>
                <a:cs typeface="Times New Roman" panose="02020603050405020304" pitchFamily="18" charset="0"/>
              </a:rPr>
              <a:t>），记录的是</a:t>
            </a:r>
            <a:r>
              <a:rPr lang="zh-CN" altLang="en-US" dirty="0" smtClean="0">
                <a:latin typeface="Times New Roman" panose="02020603050405020304" pitchFamily="18" charset="0"/>
                <a:cs typeface="Times New Roman" panose="02020603050405020304" pitchFamily="18" charset="0"/>
              </a:rPr>
              <a:t>某个</a:t>
            </a:r>
            <a:r>
              <a:rPr lang="zh-CN" altLang="en-US" dirty="0">
                <a:latin typeface="Times New Roman" panose="02020603050405020304" pitchFamily="18" charset="0"/>
                <a:cs typeface="Times New Roman" panose="02020603050405020304" pitchFamily="18" charset="0"/>
              </a:rPr>
              <a:t>特定时刻，比如</a:t>
            </a:r>
            <a:r>
              <a:rPr lang="en-US" altLang="zh-CN" dirty="0">
                <a:latin typeface="Times New Roman" panose="02020603050405020304" pitchFamily="18" charset="0"/>
                <a:cs typeface="Times New Roman" panose="02020603050405020304" pitchFamily="18" charset="0"/>
              </a:rPr>
              <a:t>GPS</a:t>
            </a:r>
            <a:r>
              <a:rPr lang="zh-CN" altLang="en-US" dirty="0">
                <a:latin typeface="Times New Roman" panose="02020603050405020304" pitchFamily="18" charset="0"/>
                <a:cs typeface="Times New Roman" panose="02020603050405020304" pitchFamily="18" charset="0"/>
              </a:rPr>
              <a:t>定位时间、</a:t>
            </a:r>
            <a:r>
              <a:rPr lang="en-US" altLang="zh-CN" dirty="0">
                <a:latin typeface="Times New Roman" panose="02020603050405020304" pitchFamily="18" charset="0"/>
                <a:cs typeface="Times New Roman" panose="02020603050405020304" pitchFamily="18" charset="0"/>
              </a:rPr>
              <a:t>IC</a:t>
            </a:r>
            <a:r>
              <a:rPr lang="zh-CN" altLang="en-US" dirty="0">
                <a:latin typeface="Times New Roman" panose="02020603050405020304" pitchFamily="18" charset="0"/>
                <a:cs typeface="Times New Roman" panose="02020603050405020304" pitchFamily="18" charset="0"/>
              </a:rPr>
              <a:t>卡刷卡时间等</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     另</a:t>
            </a:r>
            <a:r>
              <a:rPr lang="zh-CN" altLang="en-US" dirty="0">
                <a:latin typeface="Times New Roman" panose="02020603050405020304" pitchFamily="18" charset="0"/>
                <a:cs typeface="Times New Roman" panose="02020603050405020304" pitchFamily="18" charset="0"/>
              </a:rPr>
              <a:t>一种是</a:t>
            </a:r>
            <a:r>
              <a:rPr lang="zh-CN" altLang="en-US" b="1" dirty="0">
                <a:latin typeface="Times New Roman" panose="02020603050405020304" pitchFamily="18" charset="0"/>
                <a:cs typeface="Times New Roman" panose="02020603050405020304" pitchFamily="18" charset="0"/>
              </a:rPr>
              <a:t>时间间隔</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interval</a:t>
            </a:r>
            <a:r>
              <a:rPr lang="zh-CN" altLang="en-US" dirty="0">
                <a:latin typeface="Times New Roman" panose="02020603050405020304" pitchFamily="18" charset="0"/>
                <a:cs typeface="Times New Roman" panose="02020603050405020304" pitchFamily="18" charset="0"/>
              </a:rPr>
              <a:t>），与统计性特征相关，比如</a:t>
            </a:r>
            <a:r>
              <a:rPr lang="zh-CN" altLang="en-US" dirty="0" smtClean="0">
                <a:latin typeface="Times New Roman" panose="02020603050405020304" pitchFamily="18" charset="0"/>
                <a:cs typeface="Times New Roman" panose="02020603050405020304" pitchFamily="18" charset="0"/>
              </a:rPr>
              <a:t>观测</a:t>
            </a:r>
            <a:r>
              <a:rPr lang="zh-CN" altLang="en-US" dirty="0">
                <a:latin typeface="Times New Roman" panose="02020603050405020304" pitchFamily="18" charset="0"/>
                <a:cs typeface="Times New Roman" panose="02020603050405020304" pitchFamily="18" charset="0"/>
              </a:rPr>
              <a:t>到的小时交通流量</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marL="285750" indent="-285750">
              <a:spcBef>
                <a:spcPts val="600"/>
              </a:spcBef>
              <a:spcAft>
                <a:spcPts val="600"/>
              </a:spcAft>
              <a:buFont typeface="Wingdings" panose="05000000000000000000" pitchFamily="2" charset="2"/>
              <a:buChar char="Ø"/>
            </a:pPr>
            <a:r>
              <a:rPr lang="zh-CN" altLang="en-US" b="1" dirty="0" smtClean="0">
                <a:solidFill>
                  <a:srgbClr val="FF0000"/>
                </a:solidFill>
                <a:latin typeface="Times New Roman" panose="02020603050405020304" pitchFamily="18" charset="0"/>
                <a:cs typeface="Times New Roman" panose="02020603050405020304" pitchFamily="18" charset="0"/>
              </a:rPr>
              <a:t>空间型数据</a:t>
            </a:r>
            <a:r>
              <a:rPr lang="zh-CN" altLang="en-US" dirty="0" smtClean="0"/>
              <a:t>是</a:t>
            </a:r>
            <a:r>
              <a:rPr lang="zh-CN" altLang="en-US" dirty="0"/>
              <a:t>指带有空间坐标的数据，用点（轨迹点）、线（路段）、面（城市）等</a:t>
            </a:r>
            <a:r>
              <a:rPr lang="zh-CN" altLang="en-US" dirty="0" smtClean="0"/>
              <a:t>基本空间</a:t>
            </a:r>
            <a:r>
              <a:rPr lang="zh-CN" altLang="en-US" dirty="0"/>
              <a:t>数据结构来表示。</a:t>
            </a:r>
            <a:endParaRPr lang="en-US" altLang="zh-CN" dirty="0"/>
          </a:p>
          <a:p>
            <a:r>
              <a:rPr lang="zh-CN" altLang="en-US" b="1" dirty="0" smtClean="0"/>
              <a:t>时空</a:t>
            </a:r>
            <a:r>
              <a:rPr lang="zh-CN" altLang="en-US" b="1" dirty="0"/>
              <a:t>数据处理的基本思想</a:t>
            </a:r>
            <a:r>
              <a:rPr lang="zh-CN" altLang="en-US" dirty="0"/>
              <a:t>是在充分理解时间数据、空间数据、其他特征数据及其</a:t>
            </a:r>
            <a:r>
              <a:rPr lang="zh-CN" altLang="en-US" dirty="0" smtClean="0"/>
              <a:t>关联性</a:t>
            </a:r>
            <a:r>
              <a:rPr lang="zh-CN" altLang="en-US" dirty="0"/>
              <a:t>的基础上，通过整合、清洗和转换不同来源的时空数据，以满足特定时空特征分析与数据挖掘算法</a:t>
            </a:r>
            <a:r>
              <a:rPr lang="zh-CN" altLang="en-US" dirty="0" smtClean="0"/>
              <a:t>的需求</a:t>
            </a:r>
            <a:r>
              <a:rPr lang="zh-CN" altLang="en-US" dirty="0"/>
              <a:t>。</a:t>
            </a:r>
            <a:endParaRPr lang="en-US" altLang="zh-CN"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4938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21</a:t>
            </a:fld>
            <a:endParaRPr lang="en-US" altLang="zh-CN" dirty="0"/>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723275"/>
          </a:xfrm>
          <a:prstGeom prst="rect">
            <a:avLst/>
          </a:prstGeom>
          <a:solidFill>
            <a:schemeClr val="bg1"/>
          </a:solidFill>
        </p:spPr>
        <p:txBody>
          <a:bodyPr wrap="square" rtlCol="0">
            <a:spAutoFit/>
          </a:bodyPr>
          <a:lstStyle/>
          <a:p>
            <a:pPr>
              <a:spcAft>
                <a:spcPts val="600"/>
              </a:spcAft>
            </a:pPr>
            <a:r>
              <a:rPr lang="zh-CN" altLang="en-US" dirty="0">
                <a:latin typeface="Times New Roman" panose="02020603050405020304" pitchFamily="18" charset="0"/>
                <a:cs typeface="Times New Roman" panose="02020603050405020304" pitchFamily="18" charset="0"/>
              </a:rPr>
              <a:t>网约车轨迹数据是一类最典型的时空</a:t>
            </a:r>
            <a:r>
              <a:rPr lang="zh-CN" altLang="en-US" dirty="0" smtClean="0">
                <a:latin typeface="Times New Roman" panose="02020603050405020304" pitchFamily="18" charset="0"/>
                <a:cs typeface="Times New Roman" panose="02020603050405020304" pitchFamily="18" charset="0"/>
              </a:rPr>
              <a:t>数据，如表</a:t>
            </a:r>
            <a:endParaRPr lang="en-US" altLang="zh-CN" dirty="0" smtClean="0">
              <a:latin typeface="Times New Roman" panose="02020603050405020304" pitchFamily="18" charset="0"/>
              <a:cs typeface="Times New Roman" panose="02020603050405020304" pitchFamily="18" charset="0"/>
            </a:endParaRPr>
          </a:p>
          <a:p>
            <a:pPr>
              <a:spcAft>
                <a:spcPts val="600"/>
              </a:spcAft>
            </a:pPr>
            <a:endParaRPr lang="zh-CN" altLang="en-US" b="1" dirty="0" smtClean="0"/>
          </a:p>
        </p:txBody>
      </p:sp>
      <p:pic>
        <p:nvPicPr>
          <p:cNvPr id="2" name="图片 1"/>
          <p:cNvPicPr>
            <a:picLocks noChangeAspect="1"/>
          </p:cNvPicPr>
          <p:nvPr/>
        </p:nvPicPr>
        <p:blipFill>
          <a:blip r:embed="rId3"/>
          <a:stretch>
            <a:fillRect/>
          </a:stretch>
        </p:blipFill>
        <p:spPr>
          <a:xfrm>
            <a:off x="47748" y="2441550"/>
            <a:ext cx="9048503" cy="3624712"/>
          </a:xfrm>
          <a:prstGeom prst="rect">
            <a:avLst/>
          </a:prstGeom>
        </p:spPr>
      </p:pic>
      <p:sp>
        <p:nvSpPr>
          <p:cNvPr id="9" name="Content Placeholder 2">
            <a:extLst>
              <a:ext uri="{FF2B5EF4-FFF2-40B4-BE49-F238E27FC236}">
                <a16:creationId xmlns:a16="http://schemas.microsoft.com/office/drawing/2014/main" id="{4C546083-4028-4C8D-B01A-3914DDC6C900}"/>
              </a:ext>
            </a:extLst>
          </p:cNvPr>
          <p:cNvSpPr txBox="1">
            <a:spLocks/>
          </p:cNvSpPr>
          <p:nvPr/>
        </p:nvSpPr>
        <p:spPr bwMode="auto">
          <a:xfrm>
            <a:off x="419442" y="1308424"/>
            <a:ext cx="8229600" cy="113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b="1"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时空数据分析基础</a:t>
            </a:r>
            <a:endParaRPr lang="en-US" altLang="zh-CN" dirty="0">
              <a:solidFill>
                <a:srgbClr val="4F81B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53796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22</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空间坐标系转换</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69332"/>
          </a:xfrm>
          <a:prstGeom prst="rect">
            <a:avLst/>
          </a:prstGeom>
          <a:solidFill>
            <a:schemeClr val="bg1"/>
          </a:solidFill>
        </p:spPr>
        <p:txBody>
          <a:bodyPr wrap="square" rtlCol="0">
            <a:spAutoFit/>
          </a:bodyPr>
          <a:lstStyle/>
          <a:p>
            <a:pPr>
              <a:spcAft>
                <a:spcPts val="600"/>
              </a:spcAft>
            </a:pPr>
            <a:r>
              <a:rPr lang="zh-CN" altLang="en-US" dirty="0" smtClean="0">
                <a:latin typeface="Times New Roman" panose="02020603050405020304" pitchFamily="18" charset="0"/>
                <a:cs typeface="Times New Roman" panose="02020603050405020304" pitchFamily="18" charset="0"/>
              </a:rPr>
              <a:t>可以</a:t>
            </a:r>
            <a:r>
              <a:rPr lang="zh-CN" altLang="en-US" dirty="0">
                <a:latin typeface="Times New Roman" panose="02020603050405020304" pitchFamily="18" charset="0"/>
                <a:cs typeface="Times New Roman" panose="02020603050405020304" pitchFamily="18" charset="0"/>
              </a:rPr>
              <a:t>通过下述代码将经纬度（</a:t>
            </a:r>
            <a:r>
              <a:rPr lang="en-US" altLang="zh-CN" dirty="0">
                <a:latin typeface="Times New Roman" panose="02020603050405020304" pitchFamily="18" charset="0"/>
                <a:cs typeface="Times New Roman" panose="02020603050405020304" pitchFamily="18" charset="0"/>
              </a:rPr>
              <a:t>GCJ-02</a:t>
            </a:r>
            <a:r>
              <a:rPr lang="zh-CN" altLang="en-US" dirty="0">
                <a:latin typeface="Times New Roman" panose="02020603050405020304" pitchFamily="18" charset="0"/>
                <a:cs typeface="Times New Roman" panose="02020603050405020304" pitchFamily="18" charset="0"/>
              </a:rPr>
              <a:t>）转化</a:t>
            </a:r>
            <a:r>
              <a:rPr lang="zh-CN" altLang="en-US" dirty="0" smtClean="0">
                <a:latin typeface="Times New Roman" panose="02020603050405020304" pitchFamily="18" charset="0"/>
                <a:cs typeface="Times New Roman" panose="02020603050405020304" pitchFamily="18" charset="0"/>
              </a:rPr>
              <a:t>为</a:t>
            </a:r>
            <a:r>
              <a:rPr lang="en-US" altLang="zh-CN" dirty="0" smtClean="0">
                <a:latin typeface="Times New Roman" panose="02020603050405020304" pitchFamily="18" charset="0"/>
                <a:cs typeface="Times New Roman" panose="02020603050405020304" pitchFamily="18" charset="0"/>
              </a:rPr>
              <a:t>UTM</a:t>
            </a:r>
            <a:r>
              <a:rPr lang="zh-CN" altLang="en-US" dirty="0">
                <a:latin typeface="Times New Roman" panose="02020603050405020304" pitchFamily="18" charset="0"/>
                <a:cs typeface="Times New Roman" panose="02020603050405020304" pitchFamily="18" charset="0"/>
              </a:rPr>
              <a:t>坐标系下的横纵坐标</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rotWithShape="1">
          <a:blip r:embed="rId3"/>
          <a:srcRect b="48312"/>
          <a:stretch/>
        </p:blipFill>
        <p:spPr>
          <a:xfrm>
            <a:off x="631375" y="2374644"/>
            <a:ext cx="7487071" cy="4363613"/>
          </a:xfrm>
          <a:prstGeom prst="rect">
            <a:avLst/>
          </a:prstGeom>
        </p:spPr>
      </p:pic>
    </p:spTree>
    <p:extLst>
      <p:ext uri="{BB962C8B-B14F-4D97-AF65-F5344CB8AC3E}">
        <p14:creationId xmlns:p14="http://schemas.microsoft.com/office/powerpoint/2010/main" val="11864847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23</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空间坐标系转换</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69332"/>
          </a:xfrm>
          <a:prstGeom prst="rect">
            <a:avLst/>
          </a:prstGeom>
          <a:solidFill>
            <a:schemeClr val="bg1"/>
          </a:solidFill>
        </p:spPr>
        <p:txBody>
          <a:bodyPr wrap="square" rtlCol="0">
            <a:spAutoFit/>
          </a:bodyPr>
          <a:lstStyle/>
          <a:p>
            <a:pPr>
              <a:spcAft>
                <a:spcPts val="600"/>
              </a:spcAft>
            </a:pPr>
            <a:r>
              <a:rPr lang="zh-CN" altLang="en-US" dirty="0" smtClean="0">
                <a:latin typeface="Times New Roman" panose="02020603050405020304" pitchFamily="18" charset="0"/>
                <a:cs typeface="Times New Roman" panose="02020603050405020304" pitchFamily="18" charset="0"/>
              </a:rPr>
              <a:t>可以</a:t>
            </a:r>
            <a:r>
              <a:rPr lang="zh-CN" altLang="en-US" dirty="0">
                <a:latin typeface="Times New Roman" panose="02020603050405020304" pitchFamily="18" charset="0"/>
                <a:cs typeface="Times New Roman" panose="02020603050405020304" pitchFamily="18" charset="0"/>
              </a:rPr>
              <a:t>通过下述代码将经纬度（</a:t>
            </a:r>
            <a:r>
              <a:rPr lang="en-US" altLang="zh-CN" dirty="0">
                <a:latin typeface="Times New Roman" panose="02020603050405020304" pitchFamily="18" charset="0"/>
                <a:cs typeface="Times New Roman" panose="02020603050405020304" pitchFamily="18" charset="0"/>
              </a:rPr>
              <a:t>GCJ-02</a:t>
            </a:r>
            <a:r>
              <a:rPr lang="zh-CN" altLang="en-US" dirty="0">
                <a:latin typeface="Times New Roman" panose="02020603050405020304" pitchFamily="18" charset="0"/>
                <a:cs typeface="Times New Roman" panose="02020603050405020304" pitchFamily="18" charset="0"/>
              </a:rPr>
              <a:t>）转化</a:t>
            </a:r>
            <a:r>
              <a:rPr lang="zh-CN" altLang="en-US" dirty="0" smtClean="0">
                <a:latin typeface="Times New Roman" panose="02020603050405020304" pitchFamily="18" charset="0"/>
                <a:cs typeface="Times New Roman" panose="02020603050405020304" pitchFamily="18" charset="0"/>
              </a:rPr>
              <a:t>为</a:t>
            </a:r>
            <a:r>
              <a:rPr lang="en-US" altLang="zh-CN" dirty="0" smtClean="0">
                <a:latin typeface="Times New Roman" panose="02020603050405020304" pitchFamily="18" charset="0"/>
                <a:cs typeface="Times New Roman" panose="02020603050405020304" pitchFamily="18" charset="0"/>
              </a:rPr>
              <a:t>UTM</a:t>
            </a:r>
            <a:r>
              <a:rPr lang="zh-CN" altLang="en-US" dirty="0">
                <a:latin typeface="Times New Roman" panose="02020603050405020304" pitchFamily="18" charset="0"/>
                <a:cs typeface="Times New Roman" panose="02020603050405020304" pitchFamily="18" charset="0"/>
              </a:rPr>
              <a:t>坐标系下的横纵坐标</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rotWithShape="1">
          <a:blip r:embed="rId3"/>
          <a:srcRect t="51744" b="1"/>
          <a:stretch/>
        </p:blipFill>
        <p:spPr>
          <a:xfrm>
            <a:off x="696690" y="2416626"/>
            <a:ext cx="7162322" cy="3897086"/>
          </a:xfrm>
          <a:prstGeom prst="rect">
            <a:avLst/>
          </a:prstGeom>
        </p:spPr>
      </p:pic>
    </p:spTree>
    <p:extLst>
      <p:ext uri="{BB962C8B-B14F-4D97-AF65-F5344CB8AC3E}">
        <p14:creationId xmlns:p14="http://schemas.microsoft.com/office/powerpoint/2010/main" val="15318252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24</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时空单元</a:t>
            </a:r>
            <a:r>
              <a:rPr lang="zh-CN" altLang="en-US" dirty="0" smtClean="0">
                <a:solidFill>
                  <a:srgbClr val="4F81BD"/>
                </a:solidFill>
                <a:latin typeface="微软雅黑" panose="020B0503020204020204" pitchFamily="34" charset="-122"/>
                <a:ea typeface="微软雅黑" panose="020B0503020204020204" pitchFamily="34" charset="-122"/>
              </a:rPr>
              <a:t>划分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2160458"/>
            <a:ext cx="8530683" cy="2585323"/>
          </a:xfrm>
          <a:prstGeom prst="rect">
            <a:avLst/>
          </a:prstGeom>
          <a:solidFill>
            <a:schemeClr val="bg1"/>
          </a:solid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时空单元划分是时空数据处理的重要方法</a:t>
            </a:r>
            <a:r>
              <a:rPr lang="zh-CN" altLang="en-US" dirty="0" smtClean="0">
                <a:latin typeface="Times New Roman" panose="02020603050405020304" pitchFamily="18" charset="0"/>
                <a:cs typeface="Times New Roman" panose="02020603050405020304" pitchFamily="18" charset="0"/>
              </a:rPr>
              <a:t>，一方面</a:t>
            </a:r>
            <a:r>
              <a:rPr lang="zh-CN" altLang="en-US" dirty="0">
                <a:latin typeface="Times New Roman" panose="02020603050405020304" pitchFamily="18" charset="0"/>
                <a:cs typeface="Times New Roman" panose="02020603050405020304" pitchFamily="18" charset="0"/>
              </a:rPr>
              <a:t>可以高效地挖掘数据中隐含的时空特征</a:t>
            </a:r>
            <a:r>
              <a:rPr lang="zh-CN" altLang="en-US" dirty="0" smtClean="0">
                <a:latin typeface="Times New Roman" panose="02020603050405020304" pitchFamily="18" charset="0"/>
                <a:cs typeface="Times New Roman" panose="02020603050405020304" pitchFamily="18" charset="0"/>
              </a:rPr>
              <a:t>，另一方面便于</a:t>
            </a:r>
            <a:r>
              <a:rPr lang="zh-CN" altLang="en-US" dirty="0">
                <a:latin typeface="Times New Roman" panose="02020603050405020304" pitchFamily="18" charset="0"/>
                <a:cs typeface="Times New Roman" panose="02020603050405020304" pitchFamily="18" charset="0"/>
              </a:rPr>
              <a:t>不同类别的时空数据进行融合</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smtClean="0"/>
              <a:t>时间</a:t>
            </a:r>
            <a:r>
              <a:rPr lang="zh-CN" altLang="en-US" dirty="0"/>
              <a:t>数据只有一维属性且具有严格的序列性，因此可以按照起始时间和间隔将时间范围划分为若干个大小相等的时间窗</a:t>
            </a:r>
            <a:r>
              <a:rPr lang="zh-CN" altLang="en-US" dirty="0" smtClean="0"/>
              <a:t>。</a:t>
            </a:r>
            <a:endParaRPr lang="en-US" altLang="zh-CN" dirty="0" smtClean="0"/>
          </a:p>
          <a:p>
            <a:endParaRPr lang="en-US" altLang="zh-CN" dirty="0"/>
          </a:p>
          <a:p>
            <a:r>
              <a:rPr lang="zh-CN" altLang="en-US" dirty="0" smtClean="0"/>
              <a:t>空间数据</a:t>
            </a:r>
            <a:r>
              <a:rPr lang="zh-CN" altLang="en-US" dirty="0"/>
              <a:t>一般具有多维属性，单元之间的空间关系也更加复杂，往往需要用到网格划分的方法。如图所示，网格划分是指将区域划分为棋盘状的栅格，将空间数据点归类到各个网格中，是一种非常高效的空间数据处理方法</a:t>
            </a:r>
            <a:r>
              <a:rPr lang="zh-CN" altLang="en-US" dirty="0" smtClean="0"/>
              <a:t>。</a:t>
            </a:r>
            <a:endParaRPr lang="en-US" altLang="zh-CN"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0079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25</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时空单元</a:t>
            </a:r>
            <a:r>
              <a:rPr lang="zh-CN" altLang="en-US" dirty="0" smtClean="0">
                <a:solidFill>
                  <a:srgbClr val="4F81BD"/>
                </a:solidFill>
                <a:latin typeface="微软雅黑" panose="020B0503020204020204" pitchFamily="34" charset="-122"/>
                <a:ea typeface="微软雅黑" panose="020B0503020204020204" pitchFamily="34" charset="-122"/>
              </a:rPr>
              <a:t>划分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646331"/>
          </a:xfrm>
          <a:prstGeom prst="rect">
            <a:avLst/>
          </a:prstGeom>
          <a:solidFill>
            <a:schemeClr val="bg1"/>
          </a:solidFill>
        </p:spPr>
        <p:txBody>
          <a:bodyPr wrap="square" rtlCol="0">
            <a:spAutoFit/>
          </a:bodyPr>
          <a:lstStyle/>
          <a:p>
            <a:pPr>
              <a:spcAft>
                <a:spcPts val="600"/>
              </a:spcAft>
            </a:pPr>
            <a:r>
              <a:rPr lang="zh-CN" altLang="en-US" dirty="0">
                <a:latin typeface="Times New Roman" panose="02020603050405020304" pitchFamily="18" charset="0"/>
                <a:cs typeface="Times New Roman" panose="02020603050405020304" pitchFamily="18" charset="0"/>
              </a:rPr>
              <a:t>如</a:t>
            </a:r>
            <a:r>
              <a:rPr lang="zh-CN" altLang="en-US" dirty="0" smtClean="0">
                <a:latin typeface="Times New Roman" panose="02020603050405020304" pitchFamily="18" charset="0"/>
                <a:cs typeface="Times New Roman" panose="02020603050405020304" pitchFamily="18" charset="0"/>
              </a:rPr>
              <a:t>图所</a:t>
            </a:r>
            <a:r>
              <a:rPr lang="zh-CN" altLang="en-US" dirty="0">
                <a:latin typeface="Times New Roman" panose="02020603050405020304" pitchFamily="18" charset="0"/>
                <a:cs typeface="Times New Roman" panose="02020603050405020304" pitchFamily="18" charset="0"/>
              </a:rPr>
              <a:t>示，网格划分是指将区域划分为棋盘状的栅格</a:t>
            </a:r>
            <a:r>
              <a:rPr lang="zh-CN" altLang="en-US" dirty="0" smtClean="0">
                <a:latin typeface="Times New Roman" panose="02020603050405020304" pitchFamily="18" charset="0"/>
                <a:cs typeface="Times New Roman" panose="02020603050405020304" pitchFamily="18" charset="0"/>
              </a:rPr>
              <a:t>，将空间数据</a:t>
            </a:r>
            <a:r>
              <a:rPr lang="zh-CN" altLang="en-US" dirty="0">
                <a:latin typeface="Times New Roman" panose="02020603050405020304" pitchFamily="18" charset="0"/>
                <a:cs typeface="Times New Roman" panose="02020603050405020304" pitchFamily="18" charset="0"/>
              </a:rPr>
              <a:t>点归类到各个网格中，是一种非常高效的空间数据处理方法</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419442" y="2613485"/>
            <a:ext cx="8494649" cy="3441626"/>
          </a:xfrm>
          <a:prstGeom prst="rect">
            <a:avLst/>
          </a:prstGeom>
        </p:spPr>
      </p:pic>
    </p:spTree>
    <p:extLst>
      <p:ext uri="{BB962C8B-B14F-4D97-AF65-F5344CB8AC3E}">
        <p14:creationId xmlns:p14="http://schemas.microsoft.com/office/powerpoint/2010/main" val="26176218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26</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时空单元</a:t>
            </a:r>
            <a:r>
              <a:rPr lang="zh-CN" altLang="en-US" dirty="0" smtClean="0">
                <a:solidFill>
                  <a:srgbClr val="4F81BD"/>
                </a:solidFill>
                <a:latin typeface="微软雅黑" panose="020B0503020204020204" pitchFamily="34" charset="-122"/>
                <a:ea typeface="微软雅黑" panose="020B0503020204020204" pitchFamily="34" charset="-122"/>
              </a:rPr>
              <a:t>划分</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1631216"/>
          </a:xfrm>
          <a:prstGeom prst="rect">
            <a:avLst/>
          </a:prstGeom>
          <a:solidFill>
            <a:schemeClr val="bg1"/>
          </a:solidFill>
        </p:spPr>
        <p:txBody>
          <a:bodyPr wrap="square" rtlCol="0">
            <a:spAutoFit/>
          </a:bodyPr>
          <a:lstStyle/>
          <a:p>
            <a:pPr>
              <a:spcAft>
                <a:spcPts val="600"/>
              </a:spcAft>
            </a:pPr>
            <a:r>
              <a:rPr lang="zh-CN" altLang="en-US" dirty="0" smtClean="0">
                <a:latin typeface="Times New Roman" panose="02020603050405020304" pitchFamily="18" charset="0"/>
                <a:cs typeface="Times New Roman" panose="02020603050405020304" pitchFamily="18" charset="0"/>
              </a:rPr>
              <a:t>网格</a:t>
            </a:r>
            <a:r>
              <a:rPr lang="zh-CN" altLang="en-US" dirty="0">
                <a:latin typeface="Times New Roman" panose="02020603050405020304" pitchFamily="18" charset="0"/>
                <a:cs typeface="Times New Roman" panose="02020603050405020304" pitchFamily="18" charset="0"/>
              </a:rPr>
              <a:t>划分时需要依据区域大小、数据密度与精度及分析</a:t>
            </a:r>
            <a:r>
              <a:rPr lang="zh-CN" altLang="en-US" dirty="0" smtClean="0">
                <a:latin typeface="Times New Roman" panose="02020603050405020304" pitchFamily="18" charset="0"/>
                <a:cs typeface="Times New Roman" panose="02020603050405020304" pitchFamily="18" charset="0"/>
              </a:rPr>
              <a:t>对象的</a:t>
            </a:r>
            <a:r>
              <a:rPr lang="zh-CN" altLang="en-US" dirty="0">
                <a:latin typeface="Times New Roman" panose="02020603050405020304" pitchFamily="18" charset="0"/>
                <a:cs typeface="Times New Roman" panose="02020603050405020304" pitchFamily="18" charset="0"/>
              </a:rPr>
              <a:t>层次（中观、微观），选取合适的粒度。这里通过下述代码，计算轨迹点在时空网格中的索引，实现轨迹</a:t>
            </a:r>
            <a:r>
              <a:rPr lang="zh-CN" altLang="en-US" dirty="0" smtClean="0">
                <a:latin typeface="Times New Roman" panose="02020603050405020304" pitchFamily="18" charset="0"/>
                <a:cs typeface="Times New Roman" panose="02020603050405020304" pitchFamily="18" charset="0"/>
              </a:rPr>
              <a:t>数据</a:t>
            </a:r>
            <a:r>
              <a:rPr lang="zh-CN" altLang="en-US" dirty="0">
                <a:latin typeface="Times New Roman" panose="02020603050405020304" pitchFamily="18" charset="0"/>
                <a:cs typeface="Times New Roman" panose="02020603050405020304" pitchFamily="18" charset="0"/>
              </a:rPr>
              <a:t>的栅格化处理</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Aft>
                <a:spcPts val="600"/>
              </a:spcAft>
            </a:pPr>
            <a:endParaRPr lang="en-US" altLang="zh-CN" dirty="0">
              <a:latin typeface="Times New Roman" panose="02020603050405020304" pitchFamily="18" charset="0"/>
              <a:cs typeface="Times New Roman" panose="02020603050405020304" pitchFamily="18" charset="0"/>
            </a:endParaRPr>
          </a:p>
          <a:p>
            <a:pPr>
              <a:spcAft>
                <a:spcPts val="600"/>
              </a:spcAft>
            </a:pPr>
            <a:endParaRPr lang="en-US" altLang="zh-CN" dirty="0" smtClean="0">
              <a:latin typeface="Times New Roman" panose="02020603050405020304" pitchFamily="18" charset="0"/>
              <a:cs typeface="Times New Roman" panose="02020603050405020304" pitchFamily="18" charset="0"/>
            </a:endParaRPr>
          </a:p>
        </p:txBody>
      </p:sp>
      <p:grpSp>
        <p:nvGrpSpPr>
          <p:cNvPr id="8" name="组合 7"/>
          <p:cNvGrpSpPr/>
          <p:nvPr/>
        </p:nvGrpSpPr>
        <p:grpSpPr>
          <a:xfrm>
            <a:off x="354038" y="3136073"/>
            <a:ext cx="8435924" cy="2747579"/>
            <a:chOff x="354038" y="3136073"/>
            <a:chExt cx="8435924" cy="2747579"/>
          </a:xfrm>
        </p:grpSpPr>
        <p:pic>
          <p:nvPicPr>
            <p:cNvPr id="3" name="图片 2"/>
            <p:cNvPicPr>
              <a:picLocks noChangeAspect="1"/>
            </p:cNvPicPr>
            <p:nvPr/>
          </p:nvPicPr>
          <p:blipFill>
            <a:blip r:embed="rId3"/>
            <a:stretch>
              <a:fillRect/>
            </a:stretch>
          </p:blipFill>
          <p:spPr>
            <a:xfrm>
              <a:off x="354038" y="3136073"/>
              <a:ext cx="8435924" cy="2747579"/>
            </a:xfrm>
            <a:prstGeom prst="rect">
              <a:avLst/>
            </a:prstGeom>
          </p:spPr>
        </p:pic>
        <p:pic>
          <p:nvPicPr>
            <p:cNvPr id="11" name="图片 10"/>
            <p:cNvPicPr>
              <a:picLocks noChangeAspect="1"/>
            </p:cNvPicPr>
            <p:nvPr/>
          </p:nvPicPr>
          <p:blipFill rotWithShape="1">
            <a:blip r:embed="rId3"/>
            <a:srcRect l="81873" b="90131"/>
            <a:stretch/>
          </p:blipFill>
          <p:spPr>
            <a:xfrm>
              <a:off x="696684" y="3136073"/>
              <a:ext cx="1529191" cy="271156"/>
            </a:xfrm>
            <a:prstGeom prst="rect">
              <a:avLst/>
            </a:prstGeom>
          </p:spPr>
        </p:pic>
        <p:pic>
          <p:nvPicPr>
            <p:cNvPr id="12" name="图片 11"/>
            <p:cNvPicPr>
              <a:picLocks noChangeAspect="1"/>
            </p:cNvPicPr>
            <p:nvPr/>
          </p:nvPicPr>
          <p:blipFill rotWithShape="1">
            <a:blip r:embed="rId3"/>
            <a:srcRect l="36322" r="45096" b="88546"/>
            <a:stretch/>
          </p:blipFill>
          <p:spPr>
            <a:xfrm>
              <a:off x="7167990" y="3136073"/>
              <a:ext cx="1567543" cy="314697"/>
            </a:xfrm>
            <a:prstGeom prst="rect">
              <a:avLst/>
            </a:prstGeom>
          </p:spPr>
        </p:pic>
      </p:grpSp>
    </p:spTree>
    <p:extLst>
      <p:ext uri="{BB962C8B-B14F-4D97-AF65-F5344CB8AC3E}">
        <p14:creationId xmlns:p14="http://schemas.microsoft.com/office/powerpoint/2010/main" val="27343820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27</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a:t>
            </a:r>
            <a:r>
              <a:rPr lang="zh-CN" altLang="en-US" dirty="0" smtClean="0">
                <a:solidFill>
                  <a:srgbClr val="4F81BD"/>
                </a:solidFill>
                <a:latin typeface="微软雅黑" panose="020B0503020204020204" pitchFamily="34" charset="-122"/>
                <a:ea typeface="微软雅黑" panose="020B0503020204020204" pitchFamily="34" charset="-122"/>
              </a:rPr>
              <a:t>特征提取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69332"/>
          </a:xfrm>
          <a:prstGeom prst="rect">
            <a:avLst/>
          </a:prstGeom>
          <a:solidFill>
            <a:schemeClr val="bg1"/>
          </a:solidFill>
        </p:spPr>
        <p:txBody>
          <a:bodyPr wrap="square" rtlCol="0">
            <a:spAutoFit/>
          </a:bodyPr>
          <a:lstStyle/>
          <a:p>
            <a:pPr>
              <a:spcAft>
                <a:spcPts val="600"/>
              </a:spcAft>
            </a:pPr>
            <a:r>
              <a:rPr lang="en-US" altLang="zh-CN" b="1" dirty="0">
                <a:latin typeface="Times New Roman" panose="02020603050405020304" pitchFamily="18" charset="0"/>
                <a:cs typeface="Times New Roman" panose="02020603050405020304" pitchFamily="18" charset="0"/>
              </a:rPr>
              <a:t>1. </a:t>
            </a:r>
            <a:r>
              <a:rPr lang="zh-CN" altLang="en-US" b="1" dirty="0">
                <a:latin typeface="Times New Roman" panose="02020603050405020304" pitchFamily="18" charset="0"/>
                <a:cs typeface="Times New Roman" panose="02020603050405020304" pitchFamily="18" charset="0"/>
              </a:rPr>
              <a:t>个体特征</a:t>
            </a:r>
            <a:r>
              <a:rPr lang="zh-CN" altLang="en-US" b="1" dirty="0" smtClean="0">
                <a:latin typeface="Times New Roman" panose="02020603050405020304" pitchFamily="18" charset="0"/>
                <a:cs typeface="Times New Roman" panose="02020603050405020304" pitchFamily="18" charset="0"/>
              </a:rPr>
              <a:t>计算</a:t>
            </a:r>
            <a:endParaRPr lang="zh-CN" altLang="en-US" b="1" dirty="0">
              <a:latin typeface="Times New Roman" panose="02020603050405020304" pitchFamily="18" charset="0"/>
              <a:cs typeface="Times New Roman" panose="02020603050405020304" pitchFamily="18" charset="0"/>
            </a:endParaRPr>
          </a:p>
        </p:txBody>
      </p:sp>
      <p:pic>
        <p:nvPicPr>
          <p:cNvPr id="25" name="图片 24"/>
          <p:cNvPicPr>
            <a:picLocks noChangeAspect="1"/>
          </p:cNvPicPr>
          <p:nvPr/>
        </p:nvPicPr>
        <p:blipFill>
          <a:blip r:embed="rId3"/>
          <a:stretch>
            <a:fillRect/>
          </a:stretch>
        </p:blipFill>
        <p:spPr>
          <a:xfrm>
            <a:off x="1164040" y="2328279"/>
            <a:ext cx="6815919" cy="4529721"/>
          </a:xfrm>
          <a:prstGeom prst="rect">
            <a:avLst/>
          </a:prstGeom>
        </p:spPr>
      </p:pic>
    </p:spTree>
    <p:extLst>
      <p:ext uri="{BB962C8B-B14F-4D97-AF65-F5344CB8AC3E}">
        <p14:creationId xmlns:p14="http://schemas.microsoft.com/office/powerpoint/2010/main" val="20543059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28</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a:t>
            </a:r>
            <a:r>
              <a:rPr lang="zh-CN" altLang="en-US" dirty="0" smtClean="0">
                <a:solidFill>
                  <a:srgbClr val="4F81BD"/>
                </a:solidFill>
                <a:latin typeface="微软雅黑" panose="020B0503020204020204" pitchFamily="34" charset="-122"/>
                <a:ea typeface="微软雅黑" panose="020B0503020204020204" pitchFamily="34" charset="-122"/>
              </a:rPr>
              <a:t>特征提取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1000274"/>
          </a:xfrm>
          <a:prstGeom prst="rect">
            <a:avLst/>
          </a:prstGeom>
          <a:solidFill>
            <a:schemeClr val="bg1"/>
          </a:solid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1. </a:t>
            </a:r>
            <a:r>
              <a:rPr lang="zh-CN" altLang="en-US" b="1" dirty="0" smtClean="0">
                <a:latin typeface="Times New Roman" panose="02020603050405020304" pitchFamily="18" charset="0"/>
                <a:cs typeface="Times New Roman" panose="02020603050405020304" pitchFamily="18" charset="0"/>
              </a:rPr>
              <a:t>个体</a:t>
            </a:r>
            <a:r>
              <a:rPr lang="zh-CN" altLang="en-US" b="1" dirty="0">
                <a:latin typeface="Times New Roman" panose="02020603050405020304" pitchFamily="18" charset="0"/>
                <a:cs typeface="Times New Roman" panose="02020603050405020304" pitchFamily="18" charset="0"/>
              </a:rPr>
              <a:t>特征</a:t>
            </a:r>
            <a:r>
              <a:rPr lang="zh-CN" altLang="en-US" b="1" dirty="0" smtClean="0">
                <a:latin typeface="Times New Roman" panose="02020603050405020304" pitchFamily="18" charset="0"/>
                <a:cs typeface="Times New Roman" panose="02020603050405020304" pitchFamily="18" charset="0"/>
              </a:rPr>
              <a:t>计算</a:t>
            </a:r>
            <a:endParaRPr lang="en-US" altLang="zh-CN" b="1" dirty="0" smtClean="0">
              <a:latin typeface="Times New Roman" panose="02020603050405020304" pitchFamily="18" charset="0"/>
              <a:cs typeface="Times New Roman" panose="02020603050405020304" pitchFamily="18" charset="0"/>
            </a:endParaRPr>
          </a:p>
          <a:p>
            <a:r>
              <a:rPr lang="zh-CN" altLang="en-US" dirty="0"/>
              <a:t>基于计算得到的瞬时速度，还能够继续提取更深层次的特征，</a:t>
            </a:r>
            <a:r>
              <a:rPr lang="zh-CN" altLang="en-US" dirty="0">
                <a:solidFill>
                  <a:srgbClr val="FF0000"/>
                </a:solidFill>
              </a:rPr>
              <a:t>如</a:t>
            </a:r>
            <a:r>
              <a:rPr lang="zh-CN" altLang="en-US" b="1" dirty="0">
                <a:solidFill>
                  <a:srgbClr val="FF0000"/>
                </a:solidFill>
              </a:rPr>
              <a:t>加速度</a:t>
            </a:r>
            <a:r>
              <a:rPr lang="zh-CN" altLang="en-US" dirty="0"/>
              <a:t>，它代表了车辆的瞬时运行</a:t>
            </a:r>
            <a:r>
              <a:rPr lang="zh-CN" altLang="en-US" dirty="0" smtClean="0"/>
              <a:t>状态变化</a:t>
            </a:r>
            <a:r>
              <a:rPr lang="zh-CN" altLang="en-US" dirty="0"/>
              <a:t>情况。</a:t>
            </a:r>
            <a:endParaRPr lang="zh-CN" altLang="en-US" b="1"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457200" y="3136073"/>
            <a:ext cx="8385093" cy="2197927"/>
          </a:xfrm>
          <a:prstGeom prst="rect">
            <a:avLst/>
          </a:prstGeom>
        </p:spPr>
      </p:pic>
    </p:spTree>
    <p:extLst>
      <p:ext uri="{BB962C8B-B14F-4D97-AF65-F5344CB8AC3E}">
        <p14:creationId xmlns:p14="http://schemas.microsoft.com/office/powerpoint/2010/main" val="16112947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29</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a:t>
            </a:r>
            <a:r>
              <a:rPr lang="zh-CN" altLang="en-US" dirty="0" smtClean="0">
                <a:solidFill>
                  <a:srgbClr val="4F81BD"/>
                </a:solidFill>
                <a:latin typeface="微软雅黑" panose="020B0503020204020204" pitchFamily="34" charset="-122"/>
                <a:ea typeface="微软雅黑" panose="020B0503020204020204" pitchFamily="34" charset="-122"/>
              </a:rPr>
              <a:t>特征提取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2200602"/>
          </a:xfrm>
          <a:prstGeom prst="rect">
            <a:avLst/>
          </a:prstGeom>
          <a:solidFill>
            <a:schemeClr val="bg1"/>
          </a:solid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个体特征集计</a:t>
            </a:r>
            <a:endParaRPr lang="en-US" altLang="zh-CN" b="1" dirty="0" smtClean="0">
              <a:latin typeface="Times New Roman" panose="02020603050405020304" pitchFamily="18" charset="0"/>
              <a:cs typeface="Times New Roman" panose="02020603050405020304" pitchFamily="18" charset="0"/>
            </a:endParaRPr>
          </a:p>
          <a:p>
            <a:r>
              <a:rPr lang="zh-CN" altLang="en-US" dirty="0"/>
              <a:t>在交通大数据分析中，常用的时空数据分析特征包括区域</a:t>
            </a:r>
            <a:r>
              <a:rPr lang="zh-CN" altLang="en-US" b="1" dirty="0">
                <a:solidFill>
                  <a:srgbClr val="FF0000"/>
                </a:solidFill>
              </a:rPr>
              <a:t>平均速度、流量、最小行程速度、自由流速度</a:t>
            </a:r>
            <a:r>
              <a:rPr lang="zh-CN" altLang="en-US" dirty="0"/>
              <a:t>等，这里将详细介绍这几类特征的计算</a:t>
            </a:r>
            <a:r>
              <a:rPr lang="zh-CN" altLang="en-US" dirty="0" smtClean="0"/>
              <a:t>。</a:t>
            </a:r>
            <a:endParaRPr lang="en-US" altLang="zh-CN" dirty="0" smtClean="0"/>
          </a:p>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）网格平均速度</a:t>
            </a:r>
            <a:r>
              <a:rPr lang="en-US" altLang="zh-CN" sz="2400" b="1" dirty="0" err="1">
                <a:latin typeface="Times New Roman" panose="02020603050405020304" pitchFamily="18" charset="0"/>
                <a:cs typeface="Times New Roman" panose="02020603050405020304" pitchFamily="18" charset="0"/>
              </a:rPr>
              <a:t>v</a:t>
            </a:r>
            <a:r>
              <a:rPr lang="en-US" altLang="zh-CN" sz="1050" b="1" dirty="0" err="1">
                <a:latin typeface="Times New Roman" panose="02020603050405020304" pitchFamily="18" charset="0"/>
                <a:cs typeface="Times New Roman" panose="02020603050405020304" pitchFamily="18" charset="0"/>
              </a:rPr>
              <a:t>ins</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对于</a:t>
            </a:r>
            <a:r>
              <a:rPr lang="zh-CN" altLang="en-US" dirty="0">
                <a:latin typeface="Times New Roman" panose="02020603050405020304" pitchFamily="18" charset="0"/>
                <a:cs typeface="Times New Roman" panose="02020603050405020304" pitchFamily="18" charset="0"/>
              </a:rPr>
              <a:t>每个时段，计算每辆车在同一网格下的平均速度，然后对此再次求平均得到</a:t>
            </a:r>
          </a:p>
          <a:p>
            <a:r>
              <a:rPr lang="zh-CN" altLang="en-US" dirty="0">
                <a:latin typeface="Times New Roman" panose="02020603050405020304" pitchFamily="18" charset="0"/>
                <a:cs typeface="Times New Roman" panose="02020603050405020304" pitchFamily="18" charset="0"/>
              </a:rPr>
              <a:t>网格平均速度。这么做是因为低速车辆在网格中留下的轨迹点往往更多，直接求平均速度会导致</a:t>
            </a:r>
            <a:r>
              <a:rPr lang="zh-CN" altLang="en-US" dirty="0" smtClean="0">
                <a:latin typeface="Times New Roman" panose="02020603050405020304" pitchFamily="18" charset="0"/>
                <a:cs typeface="Times New Roman" panose="02020603050405020304" pitchFamily="18" charset="0"/>
              </a:rPr>
              <a:t>结果偏</a:t>
            </a:r>
            <a:r>
              <a:rPr lang="zh-CN" altLang="en-US" dirty="0">
                <a:latin typeface="Times New Roman" panose="02020603050405020304" pitchFamily="18" charset="0"/>
                <a:cs typeface="Times New Roman" panose="02020603050405020304" pitchFamily="18" charset="0"/>
              </a:rPr>
              <a:t>低。</a:t>
            </a:r>
          </a:p>
        </p:txBody>
      </p:sp>
      <p:grpSp>
        <p:nvGrpSpPr>
          <p:cNvPr id="12" name="组合 11"/>
          <p:cNvGrpSpPr/>
          <p:nvPr/>
        </p:nvGrpSpPr>
        <p:grpSpPr>
          <a:xfrm>
            <a:off x="665830" y="4216093"/>
            <a:ext cx="7683514" cy="2142491"/>
            <a:chOff x="457200" y="4632856"/>
            <a:chExt cx="6626469" cy="1761593"/>
          </a:xfrm>
        </p:grpSpPr>
        <p:pic>
          <p:nvPicPr>
            <p:cNvPr id="3" name="图片 2"/>
            <p:cNvPicPr>
              <a:picLocks noChangeAspect="1"/>
            </p:cNvPicPr>
            <p:nvPr/>
          </p:nvPicPr>
          <p:blipFill rotWithShape="1">
            <a:blip r:embed="rId3"/>
            <a:srcRect l="751" r="1326" b="2633"/>
            <a:stretch/>
          </p:blipFill>
          <p:spPr>
            <a:xfrm>
              <a:off x="457200" y="5875965"/>
              <a:ext cx="6626469" cy="518484"/>
            </a:xfrm>
            <a:prstGeom prst="rect">
              <a:avLst/>
            </a:prstGeom>
          </p:spPr>
        </p:pic>
        <p:pic>
          <p:nvPicPr>
            <p:cNvPr id="11" name="图片 10"/>
            <p:cNvPicPr>
              <a:picLocks noChangeAspect="1"/>
            </p:cNvPicPr>
            <p:nvPr/>
          </p:nvPicPr>
          <p:blipFill rotWithShape="1">
            <a:blip r:embed="rId4"/>
            <a:srcRect l="1" r="812"/>
            <a:stretch/>
          </p:blipFill>
          <p:spPr>
            <a:xfrm>
              <a:off x="457200" y="4632856"/>
              <a:ext cx="6623050" cy="1243109"/>
            </a:xfrm>
            <a:prstGeom prst="rect">
              <a:avLst/>
            </a:prstGeom>
          </p:spPr>
        </p:pic>
      </p:grpSp>
    </p:spTree>
    <p:extLst>
      <p:ext uri="{BB962C8B-B14F-4D97-AF65-F5344CB8AC3E}">
        <p14:creationId xmlns:p14="http://schemas.microsoft.com/office/powerpoint/2010/main" val="30090302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30</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a:t>
            </a:r>
            <a:r>
              <a:rPr lang="zh-CN" altLang="en-US" dirty="0" smtClean="0">
                <a:solidFill>
                  <a:srgbClr val="4F81BD"/>
                </a:solidFill>
                <a:latin typeface="微软雅黑" panose="020B0503020204020204" pitchFamily="34" charset="-122"/>
                <a:ea typeface="微软雅黑" panose="020B0503020204020204" pitchFamily="34" charset="-122"/>
              </a:rPr>
              <a:t>特征提取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2846933"/>
          </a:xfrm>
          <a:prstGeom prst="rect">
            <a:avLst/>
          </a:prstGeom>
          <a:solidFill>
            <a:schemeClr val="bg1"/>
          </a:solid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个体特征集计</a:t>
            </a:r>
            <a:endParaRPr lang="en-US" altLang="zh-CN" b="1" dirty="0" smtClean="0">
              <a:latin typeface="Times New Roman" panose="02020603050405020304" pitchFamily="18" charset="0"/>
              <a:cs typeface="Times New Roman" panose="02020603050405020304" pitchFamily="18" charset="0"/>
            </a:endParaRPr>
          </a:p>
          <a:p>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）网格平均加速度</a:t>
            </a:r>
            <a:r>
              <a:rPr lang="en-US" altLang="zh-CN" sz="2400" b="1" dirty="0" err="1" smtClean="0">
                <a:latin typeface="Times New Roman" panose="02020603050405020304" pitchFamily="18" charset="0"/>
                <a:cs typeface="Times New Roman" panose="02020603050405020304" pitchFamily="18" charset="0"/>
              </a:rPr>
              <a:t>acc</a:t>
            </a:r>
            <a:r>
              <a:rPr lang="en-US" altLang="zh-CN" sz="1050" b="1" dirty="0" err="1" smtClean="0">
                <a:latin typeface="Times New Roman" panose="02020603050405020304" pitchFamily="18" charset="0"/>
                <a:cs typeface="Times New Roman" panose="02020603050405020304" pitchFamily="18" charset="0"/>
              </a:rPr>
              <a:t>mean</a:t>
            </a:r>
            <a:endParaRPr lang="en-US" altLang="zh-CN" b="1"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对</a:t>
            </a:r>
            <a:r>
              <a:rPr lang="zh-CN" altLang="en-US" dirty="0">
                <a:latin typeface="Times New Roman" panose="02020603050405020304" pitchFamily="18" charset="0"/>
                <a:cs typeface="Times New Roman" panose="02020603050405020304" pitchFamily="18" charset="0"/>
              </a:rPr>
              <a:t>网格内单一时间段内的</a:t>
            </a:r>
            <a:r>
              <a:rPr lang="zh-CN" altLang="en-US" dirty="0" smtClean="0">
                <a:latin typeface="Times New Roman" panose="02020603050405020304" pitchFamily="18" charset="0"/>
                <a:cs typeface="Times New Roman" panose="02020603050405020304" pitchFamily="18" charset="0"/>
              </a:rPr>
              <a:t>车辆</a:t>
            </a:r>
            <a:r>
              <a:rPr lang="zh-CN" altLang="en-US" dirty="0">
                <a:latin typeface="Times New Roman" panose="02020603050405020304" pitchFamily="18" charset="0"/>
                <a:cs typeface="Times New Roman" panose="02020603050405020304" pitchFamily="18" charset="0"/>
              </a:rPr>
              <a:t>瞬时加速度求取平均值，即得到网格平均</a:t>
            </a:r>
            <a:r>
              <a:rPr lang="zh-CN" altLang="en-US" dirty="0" smtClean="0">
                <a:latin typeface="Times New Roman" panose="02020603050405020304" pitchFamily="18" charset="0"/>
                <a:cs typeface="Times New Roman" panose="02020603050405020304" pitchFamily="18" charset="0"/>
              </a:rPr>
              <a:t>加速度。</a:t>
            </a:r>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zh-CN" altLang="en-US" b="1" dirty="0" smtClean="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）网格浮动车流量</a:t>
            </a:r>
            <a:r>
              <a:rPr lang="en-US" altLang="zh-CN" sz="2400" b="1" i="1" dirty="0" err="1" smtClean="0">
                <a:latin typeface="Times New Roman" panose="02020603050405020304" pitchFamily="18" charset="0"/>
                <a:cs typeface="Times New Roman" panose="02020603050405020304" pitchFamily="18" charset="0"/>
              </a:rPr>
              <a:t>q</a:t>
            </a:r>
            <a:r>
              <a:rPr lang="en-US" altLang="zh-CN" sz="1050" b="1" i="1" dirty="0" err="1" smtClean="0">
                <a:latin typeface="Times New Roman" panose="02020603050405020304" pitchFamily="18" charset="0"/>
                <a:cs typeface="Times New Roman" panose="02020603050405020304" pitchFamily="18" charset="0"/>
              </a:rPr>
              <a:t>grid</a:t>
            </a:r>
            <a:endParaRPr lang="en-US" altLang="zh-CN" sz="1050" b="1" dirty="0" smtClean="0">
              <a:latin typeface="Times New Roman" panose="02020603050405020304" pitchFamily="18" charset="0"/>
              <a:cs typeface="Times New Roman" panose="02020603050405020304" pitchFamily="18" charset="0"/>
            </a:endParaRPr>
          </a:p>
          <a:p>
            <a:r>
              <a:rPr lang="zh-CN" altLang="en-US" dirty="0" smtClean="0"/>
              <a:t>根据</a:t>
            </a:r>
            <a:r>
              <a:rPr lang="zh-CN" altLang="en-US" dirty="0"/>
              <a:t>每个网格中的轨迹点数量确定，同一辆浮动车的轨迹点仅计数一次</a:t>
            </a:r>
            <a:r>
              <a:rPr lang="zh-CN" altLang="en-US" dirty="0" smtClean="0"/>
              <a:t>。</a:t>
            </a:r>
            <a:endParaRPr lang="zh-CN" altLang="en-US"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660622" y="3060602"/>
            <a:ext cx="5940900" cy="1056160"/>
          </a:xfrm>
          <a:prstGeom prst="rect">
            <a:avLst/>
          </a:prstGeom>
        </p:spPr>
      </p:pic>
      <p:pic>
        <p:nvPicPr>
          <p:cNvPr id="8" name="图片 7"/>
          <p:cNvPicPr>
            <a:picLocks noChangeAspect="1"/>
          </p:cNvPicPr>
          <p:nvPr/>
        </p:nvPicPr>
        <p:blipFill>
          <a:blip r:embed="rId4"/>
          <a:stretch>
            <a:fillRect/>
          </a:stretch>
        </p:blipFill>
        <p:spPr>
          <a:xfrm>
            <a:off x="660621" y="4941013"/>
            <a:ext cx="7767071" cy="1560148"/>
          </a:xfrm>
          <a:prstGeom prst="rect">
            <a:avLst/>
          </a:prstGeom>
        </p:spPr>
      </p:pic>
    </p:spTree>
    <p:extLst>
      <p:ext uri="{BB962C8B-B14F-4D97-AF65-F5344CB8AC3E}">
        <p14:creationId xmlns:p14="http://schemas.microsoft.com/office/powerpoint/2010/main" val="11876642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31</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a:t>
            </a:r>
            <a:r>
              <a:rPr lang="zh-CN" altLang="en-US" dirty="0" smtClean="0">
                <a:solidFill>
                  <a:srgbClr val="4F81BD"/>
                </a:solidFill>
                <a:latin typeface="微软雅黑" panose="020B0503020204020204" pitchFamily="34" charset="-122"/>
                <a:ea typeface="微软雅黑" panose="020B0503020204020204" pitchFamily="34" charset="-122"/>
              </a:rPr>
              <a:t>特征提取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2569934"/>
          </a:xfrm>
          <a:prstGeom prst="rect">
            <a:avLst/>
          </a:prstGeom>
          <a:solidFill>
            <a:schemeClr val="bg1"/>
          </a:solid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个体特征集计</a:t>
            </a:r>
            <a:endParaRPr lang="en-US" altLang="zh-CN" b="1" dirty="0" smtClean="0">
              <a:latin typeface="Times New Roman" panose="02020603050405020304" pitchFamily="18" charset="0"/>
              <a:cs typeface="Times New Roman" panose="02020603050405020304" pitchFamily="18" charset="0"/>
            </a:endParaRPr>
          </a:p>
          <a:p>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）网格速度标准差</a:t>
            </a:r>
            <a:r>
              <a:rPr lang="en-US" altLang="zh-CN" sz="2400" b="1" dirty="0" err="1" smtClean="0">
                <a:latin typeface="Times New Roman" panose="02020603050405020304" pitchFamily="18" charset="0"/>
                <a:cs typeface="Times New Roman" panose="02020603050405020304" pitchFamily="18" charset="0"/>
              </a:rPr>
              <a:t>std</a:t>
            </a:r>
            <a:r>
              <a:rPr lang="en-US" altLang="zh-CN" sz="1200" b="1" dirty="0" err="1" smtClean="0">
                <a:latin typeface="Times New Roman" panose="02020603050405020304" pitchFamily="18" charset="0"/>
                <a:cs typeface="Times New Roman" panose="02020603050405020304" pitchFamily="18" charset="0"/>
              </a:rPr>
              <a:t>v</a:t>
            </a:r>
            <a:endParaRPr lang="en-US" altLang="zh-CN" b="1"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速度</a:t>
            </a:r>
            <a:r>
              <a:rPr lang="zh-CN" altLang="en-US" dirty="0">
                <a:latin typeface="Times New Roman" panose="02020603050405020304" pitchFamily="18" charset="0"/>
                <a:cs typeface="Times New Roman" panose="02020603050405020304" pitchFamily="18" charset="0"/>
              </a:rPr>
              <a:t>标准差代表了网格交通流的稳定状态，当道路处于拥堵状态，车辆</a:t>
            </a:r>
            <a:r>
              <a:rPr lang="zh-CN" altLang="en-US" dirty="0" smtClean="0">
                <a:latin typeface="Times New Roman" panose="02020603050405020304" pitchFamily="18" charset="0"/>
                <a:cs typeface="Times New Roman" panose="02020603050405020304" pitchFamily="18" charset="0"/>
              </a:rPr>
              <a:t>往往需要</a:t>
            </a:r>
            <a:r>
              <a:rPr lang="zh-CN" altLang="en-US" dirty="0">
                <a:latin typeface="Times New Roman" panose="02020603050405020304" pitchFamily="18" charset="0"/>
                <a:cs typeface="Times New Roman" panose="02020603050405020304" pitchFamily="18" charset="0"/>
              </a:rPr>
              <a:t>进行多次加减速操作，由此造成网格的瞬时速度标准差在不同路况下具有不同的特征</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）网格平均停车次数</a:t>
            </a:r>
            <a:r>
              <a:rPr lang="en-US" altLang="zh-CN" sz="2400" b="1" dirty="0" err="1" smtClean="0">
                <a:latin typeface="Times New Roman" panose="02020603050405020304" pitchFamily="18" charset="0"/>
                <a:cs typeface="Times New Roman" panose="02020603050405020304" pitchFamily="18" charset="0"/>
              </a:rPr>
              <a:t>stop</a:t>
            </a:r>
            <a:r>
              <a:rPr lang="en-US" altLang="zh-CN" sz="1200" b="1" dirty="0" err="1" smtClean="0">
                <a:latin typeface="Times New Roman" panose="02020603050405020304" pitchFamily="18" charset="0"/>
                <a:cs typeface="Times New Roman" panose="02020603050405020304" pitchFamily="18" charset="0"/>
              </a:rPr>
              <a:t>grid</a:t>
            </a:r>
            <a:endParaRPr lang="en-US" altLang="zh-CN" b="1" dirty="0" smtClean="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828800" y="3311670"/>
            <a:ext cx="3810055" cy="578312"/>
          </a:xfrm>
          <a:prstGeom prst="rect">
            <a:avLst/>
          </a:prstGeom>
        </p:spPr>
      </p:pic>
      <p:pic>
        <p:nvPicPr>
          <p:cNvPr id="9" name="图片 8"/>
          <p:cNvPicPr>
            <a:picLocks noChangeAspect="1"/>
          </p:cNvPicPr>
          <p:nvPr/>
        </p:nvPicPr>
        <p:blipFill>
          <a:blip r:embed="rId4"/>
          <a:stretch>
            <a:fillRect/>
          </a:stretch>
        </p:blipFill>
        <p:spPr>
          <a:xfrm>
            <a:off x="4125415" y="3889982"/>
            <a:ext cx="2616907" cy="959532"/>
          </a:xfrm>
          <a:prstGeom prst="rect">
            <a:avLst/>
          </a:prstGeom>
        </p:spPr>
      </p:pic>
      <p:pic>
        <p:nvPicPr>
          <p:cNvPr id="11" name="图片 10"/>
          <p:cNvPicPr>
            <a:picLocks noChangeAspect="1"/>
          </p:cNvPicPr>
          <p:nvPr/>
        </p:nvPicPr>
        <p:blipFill>
          <a:blip r:embed="rId5"/>
          <a:stretch>
            <a:fillRect/>
          </a:stretch>
        </p:blipFill>
        <p:spPr>
          <a:xfrm>
            <a:off x="1828800" y="4861240"/>
            <a:ext cx="5778452" cy="1816710"/>
          </a:xfrm>
          <a:prstGeom prst="rect">
            <a:avLst/>
          </a:prstGeom>
        </p:spPr>
      </p:pic>
    </p:spTree>
    <p:extLst>
      <p:ext uri="{BB962C8B-B14F-4D97-AF65-F5344CB8AC3E}">
        <p14:creationId xmlns:p14="http://schemas.microsoft.com/office/powerpoint/2010/main" val="9206115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32</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时空</a:t>
            </a:r>
            <a:r>
              <a:rPr lang="zh-CN" altLang="en-US" dirty="0" smtClean="0">
                <a:solidFill>
                  <a:srgbClr val="4F81BD"/>
                </a:solidFill>
                <a:latin typeface="微软雅黑" panose="020B0503020204020204" pitchFamily="34" charset="-122"/>
                <a:ea typeface="微软雅黑" panose="020B0503020204020204" pitchFamily="34" charset="-122"/>
              </a:rPr>
              <a:t>特征提取</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1000274"/>
          </a:xfrm>
          <a:prstGeom prst="rect">
            <a:avLst/>
          </a:prstGeom>
          <a:solidFill>
            <a:schemeClr val="bg1"/>
          </a:solidFill>
        </p:spPr>
        <p:txBody>
          <a:bodyPr wrap="square" rtlCol="0">
            <a:spAutoFit/>
          </a:bodyPr>
          <a:lstStyle/>
          <a:p>
            <a:pPr>
              <a:spcAft>
                <a:spcPts val="600"/>
              </a:spcAft>
            </a:pP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个体特征集计</a:t>
            </a:r>
            <a:endParaRPr lang="en-US" altLang="zh-CN" b="1" dirty="0" smtClean="0">
              <a:latin typeface="Times New Roman" panose="02020603050405020304" pitchFamily="18" charset="0"/>
              <a:cs typeface="Times New Roman" panose="02020603050405020304" pitchFamily="18" charset="0"/>
            </a:endParaRPr>
          </a:p>
          <a:p>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6</a:t>
            </a:r>
            <a:r>
              <a:rPr lang="zh-CN" altLang="en-US" b="1" dirty="0" smtClean="0">
                <a:latin typeface="Times New Roman" panose="02020603050405020304" pitchFamily="18" charset="0"/>
                <a:cs typeface="Times New Roman" panose="02020603050405020304" pitchFamily="18" charset="0"/>
              </a:rPr>
              <a:t>）数据整理</a:t>
            </a:r>
            <a:endParaRPr lang="en-US" altLang="zh-CN" b="1"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将</a:t>
            </a:r>
            <a:r>
              <a:rPr lang="zh-CN" altLang="en-US" dirty="0">
                <a:latin typeface="Times New Roman" panose="02020603050405020304" pitchFamily="18" charset="0"/>
                <a:cs typeface="Times New Roman" panose="02020603050405020304" pitchFamily="18" charset="0"/>
              </a:rPr>
              <a:t>上面得到的各类特征进行整理，得到结构整齐的时空数据表</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236915" y="3022603"/>
            <a:ext cx="8713210" cy="554981"/>
          </a:xfrm>
          <a:prstGeom prst="rect">
            <a:avLst/>
          </a:prstGeom>
        </p:spPr>
      </p:pic>
      <p:sp>
        <p:nvSpPr>
          <p:cNvPr id="12" name="Content Placeholder 2">
            <a:extLst>
              <a:ext uri="{FF2B5EF4-FFF2-40B4-BE49-F238E27FC236}">
                <a16:creationId xmlns:a16="http://schemas.microsoft.com/office/drawing/2014/main" id="{4C546083-4028-4C8D-B01A-3914DDC6C900}"/>
              </a:ext>
            </a:extLst>
          </p:cNvPr>
          <p:cNvSpPr txBox="1">
            <a:spLocks/>
          </p:cNvSpPr>
          <p:nvPr/>
        </p:nvSpPr>
        <p:spPr bwMode="auto">
          <a:xfrm>
            <a:off x="419441" y="3619677"/>
            <a:ext cx="8530683"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网格化处理后的滴滴网约车轨迹</a:t>
            </a:r>
            <a:r>
              <a:rPr lang="zh-CN" altLang="en-US" dirty="0" smtClean="0">
                <a:solidFill>
                  <a:srgbClr val="4F81BD"/>
                </a:solidFill>
                <a:latin typeface="微软雅黑" panose="020B0503020204020204" pitchFamily="34" charset="-122"/>
                <a:ea typeface="微软雅黑" panose="020B0503020204020204" pitchFamily="34" charset="-122"/>
              </a:rPr>
              <a:t>数据</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803F80B7-51B4-43C4-8D0C-E2DBF631AC6E}"/>
              </a:ext>
            </a:extLst>
          </p:cNvPr>
          <p:cNvSpPr txBox="1"/>
          <p:nvPr/>
        </p:nvSpPr>
        <p:spPr>
          <a:xfrm>
            <a:off x="419440" y="4304452"/>
            <a:ext cx="8530683" cy="923330"/>
          </a:xfrm>
          <a:prstGeom prst="rect">
            <a:avLst/>
          </a:prstGeom>
          <a:solidFill>
            <a:schemeClr val="bg1"/>
          </a:solidFill>
        </p:spPr>
        <p:txBody>
          <a:bodyPr wrap="square" rtlCol="0">
            <a:spAutoFit/>
          </a:bodyPr>
          <a:lstStyle/>
          <a:p>
            <a:pPr>
              <a:spcAft>
                <a:spcPts val="600"/>
              </a:spcAft>
            </a:pPr>
            <a:r>
              <a:rPr lang="zh-CN" altLang="en-US" dirty="0" smtClean="0">
                <a:latin typeface="Times New Roman" panose="02020603050405020304" pitchFamily="18" charset="0"/>
                <a:cs typeface="Times New Roman" panose="02020603050405020304" pitchFamily="18" charset="0"/>
              </a:rPr>
              <a:t>经过前边</a:t>
            </a:r>
            <a:r>
              <a:rPr lang="en-US" altLang="zh-CN" dirty="0" smtClean="0">
                <a:latin typeface="Times New Roman" panose="02020603050405020304" pitchFamily="18" charset="0"/>
                <a:cs typeface="Times New Roman" panose="02020603050405020304" pitchFamily="18" charset="0"/>
              </a:rPr>
              <a:t>3</a:t>
            </a:r>
            <a:r>
              <a:rPr lang="zh-CN" altLang="en-US" dirty="0" smtClean="0">
                <a:latin typeface="Times New Roman" panose="02020603050405020304" pitchFamily="18" charset="0"/>
                <a:cs typeface="Times New Roman" panose="02020603050405020304" pitchFamily="18" charset="0"/>
              </a:rPr>
              <a:t>节内容的</a:t>
            </a:r>
            <a:r>
              <a:rPr lang="zh-CN" altLang="en-US" dirty="0">
                <a:latin typeface="Times New Roman" panose="02020603050405020304" pitchFamily="18" charset="0"/>
                <a:cs typeface="Times New Roman" panose="02020603050405020304" pitchFamily="18" charset="0"/>
              </a:rPr>
              <a:t>时空数据分析后，原始轨迹数据，已经被网格化，并提取出了很多与网约车相关的</a:t>
            </a:r>
            <a:r>
              <a:rPr lang="zh-CN" altLang="en-US" dirty="0" smtClean="0">
                <a:latin typeface="Times New Roman" panose="02020603050405020304" pitchFamily="18" charset="0"/>
                <a:cs typeface="Times New Roman" panose="02020603050405020304" pitchFamily="18" charset="0"/>
              </a:rPr>
              <a:t>二级</a:t>
            </a:r>
            <a:r>
              <a:rPr lang="zh-CN" altLang="en-US" dirty="0">
                <a:latin typeface="Times New Roman" panose="02020603050405020304" pitchFamily="18" charset="0"/>
                <a:cs typeface="Times New Roman" panose="02020603050405020304" pitchFamily="18" charset="0"/>
              </a:rPr>
              <a:t>特征，例如平均速度、平均加速度、浮动车流量等。这些特征都将为我们后续章节的建模和分析提供</a:t>
            </a:r>
            <a:r>
              <a:rPr lang="zh-CN" altLang="en-US" dirty="0" smtClean="0">
                <a:latin typeface="Times New Roman" panose="02020603050405020304" pitchFamily="18" charset="0"/>
                <a:cs typeface="Times New Roman" panose="02020603050405020304" pitchFamily="18" charset="0"/>
              </a:rPr>
              <a:t>有力的</a:t>
            </a:r>
            <a:r>
              <a:rPr lang="zh-CN" altLang="en-US" dirty="0">
                <a:latin typeface="Times New Roman" panose="02020603050405020304" pitchFamily="18" charset="0"/>
                <a:cs typeface="Times New Roman" panose="02020603050405020304" pitchFamily="18" charset="0"/>
              </a:rPr>
              <a:t>支持</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0572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33</a:t>
            </a:fld>
            <a:endParaRPr lang="en-US" altLang="zh-CN" dirty="0"/>
          </a:p>
        </p:txBody>
      </p:sp>
      <p:sp>
        <p:nvSpPr>
          <p:cNvPr id="12" name="Content Placeholder 2">
            <a:extLst>
              <a:ext uri="{FF2B5EF4-FFF2-40B4-BE49-F238E27FC236}">
                <a16:creationId xmlns:a16="http://schemas.microsoft.com/office/drawing/2014/main" id="{4C546083-4028-4C8D-B01A-3914DDC6C900}"/>
              </a:ext>
            </a:extLst>
          </p:cNvPr>
          <p:cNvSpPr txBox="1">
            <a:spLocks/>
          </p:cNvSpPr>
          <p:nvPr/>
        </p:nvSpPr>
        <p:spPr bwMode="auto">
          <a:xfrm>
            <a:off x="363685" y="1322526"/>
            <a:ext cx="8530683"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时空</a:t>
            </a:r>
            <a:r>
              <a:rPr lang="zh-CN" altLang="en-US" dirty="0">
                <a:solidFill>
                  <a:srgbClr val="4F81BD"/>
                </a:solidFill>
                <a:latin typeface="微软雅黑" panose="020B0503020204020204" pitchFamily="34" charset="-122"/>
                <a:ea typeface="微软雅黑" panose="020B0503020204020204" pitchFamily="34" charset="-122"/>
              </a:rPr>
              <a:t>数据分析</a:t>
            </a:r>
            <a:r>
              <a:rPr lang="zh-CN" altLang="en-US" dirty="0" smtClean="0">
                <a:solidFill>
                  <a:srgbClr val="4F81BD"/>
                </a:solidFill>
                <a:latin typeface="微软雅黑" panose="020B0503020204020204" pitchFamily="34" charset="-122"/>
                <a:ea typeface="微软雅黑" panose="020B0503020204020204" pitchFamily="34" charset="-122"/>
              </a:rPr>
              <a:t>基础</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网格化处理后的滴滴网约车轨迹</a:t>
            </a:r>
            <a:r>
              <a:rPr lang="zh-CN" altLang="en-US" dirty="0" smtClean="0">
                <a:solidFill>
                  <a:srgbClr val="4F81BD"/>
                </a:solidFill>
                <a:latin typeface="微软雅黑" panose="020B0503020204020204" pitchFamily="34" charset="-122"/>
                <a:ea typeface="微软雅黑" panose="020B0503020204020204" pitchFamily="34" charset="-122"/>
              </a:rPr>
              <a:t>数据</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803F80B7-51B4-43C4-8D0C-E2DBF631AC6E}"/>
              </a:ext>
            </a:extLst>
          </p:cNvPr>
          <p:cNvSpPr txBox="1"/>
          <p:nvPr/>
        </p:nvSpPr>
        <p:spPr>
          <a:xfrm>
            <a:off x="363685" y="1818720"/>
            <a:ext cx="8530683" cy="1277273"/>
          </a:xfrm>
          <a:prstGeom prst="rect">
            <a:avLst/>
          </a:prstGeom>
          <a:solidFill>
            <a:schemeClr val="bg1"/>
          </a:solidFill>
        </p:spPr>
        <p:txBody>
          <a:bodyPr wrap="square" rtlCol="0">
            <a:spAutoFit/>
          </a:bodyPr>
          <a:lstStyle/>
          <a:p>
            <a:pPr>
              <a:spcAft>
                <a:spcPts val="600"/>
              </a:spcAft>
            </a:pPr>
            <a:r>
              <a:rPr lang="zh-CN" altLang="en-US" dirty="0">
                <a:latin typeface="Times New Roman" panose="02020603050405020304" pitchFamily="18" charset="0"/>
                <a:cs typeface="Times New Roman" panose="02020603050405020304" pitchFamily="18" charset="0"/>
              </a:rPr>
              <a:t>采用上述时空数据处理方法，将成都市</a:t>
            </a:r>
            <a:r>
              <a:rPr lang="en-US" altLang="zh-CN" dirty="0">
                <a:latin typeface="Times New Roman" panose="02020603050405020304" pitchFamily="18" charset="0"/>
                <a:cs typeface="Times New Roman" panose="02020603050405020304" pitchFamily="18" charset="0"/>
              </a:rPr>
              <a:t>2016</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11</a:t>
            </a:r>
            <a:r>
              <a:rPr lang="zh-CN" altLang="en-US" dirty="0">
                <a:latin typeface="Times New Roman" panose="02020603050405020304" pitchFamily="18" charset="0"/>
                <a:cs typeface="Times New Roman" panose="02020603050405020304" pitchFamily="18" charset="0"/>
              </a:rPr>
              <a:t>月</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日至</a:t>
            </a:r>
            <a:r>
              <a:rPr lang="en-US" altLang="zh-CN" dirty="0">
                <a:latin typeface="Times New Roman" panose="02020603050405020304" pitchFamily="18" charset="0"/>
                <a:cs typeface="Times New Roman" panose="02020603050405020304" pitchFamily="18" charset="0"/>
              </a:rPr>
              <a:t>2016</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11</a:t>
            </a:r>
            <a:r>
              <a:rPr lang="zh-CN" altLang="en-US" dirty="0">
                <a:latin typeface="Times New Roman" panose="02020603050405020304" pitchFamily="18" charset="0"/>
                <a:cs typeface="Times New Roman" panose="02020603050405020304" pitchFamily="18" charset="0"/>
              </a:rPr>
              <a:t>月</a:t>
            </a:r>
            <a:r>
              <a:rPr lang="en-US" altLang="zh-CN" dirty="0">
                <a:latin typeface="Times New Roman" panose="02020603050405020304" pitchFamily="18" charset="0"/>
                <a:cs typeface="Times New Roman" panose="02020603050405020304" pitchFamily="18" charset="0"/>
              </a:rPr>
              <a:t>30</a:t>
            </a:r>
            <a:r>
              <a:rPr lang="zh-CN" altLang="en-US" dirty="0">
                <a:latin typeface="Times New Roman" panose="02020603050405020304" pitchFamily="18" charset="0"/>
                <a:cs typeface="Times New Roman" panose="02020603050405020304" pitchFamily="18" charset="0"/>
              </a:rPr>
              <a:t>日的网约车轨迹数据分别进行处理，得到</a:t>
            </a:r>
            <a:r>
              <a:rPr lang="en-US" altLang="zh-CN" dirty="0">
                <a:latin typeface="Times New Roman" panose="02020603050405020304" pitchFamily="18" charset="0"/>
                <a:cs typeface="Times New Roman" panose="02020603050405020304" pitchFamily="18" charset="0"/>
              </a:rPr>
              <a:t>DATASET-B</a:t>
            </a:r>
            <a:r>
              <a:rPr lang="zh-CN" altLang="en-US" dirty="0">
                <a:latin typeface="Times New Roman" panose="02020603050405020304" pitchFamily="18" charset="0"/>
                <a:cs typeface="Times New Roman" panose="02020603050405020304" pitchFamily="18" charset="0"/>
              </a:rPr>
              <a:t>（除了</a:t>
            </a:r>
            <a:r>
              <a:rPr lang="en-US" altLang="zh-CN" dirty="0">
                <a:latin typeface="Times New Roman" panose="02020603050405020304" pitchFamily="18" charset="0"/>
                <a:cs typeface="Times New Roman" panose="02020603050405020304" pitchFamily="18" charset="0"/>
              </a:rPr>
              <a:t>label</a:t>
            </a:r>
            <a:r>
              <a:rPr lang="zh-CN" altLang="en-US" dirty="0">
                <a:latin typeface="Times New Roman" panose="02020603050405020304" pitchFamily="18" charset="0"/>
                <a:cs typeface="Times New Roman" panose="02020603050405020304" pitchFamily="18" charset="0"/>
              </a:rPr>
              <a:t>字段</a:t>
            </a:r>
            <a:r>
              <a:rPr lang="zh-CN" altLang="en-US" dirty="0" smtClean="0">
                <a:latin typeface="Times New Roman" panose="02020603050405020304" pitchFamily="18" charset="0"/>
                <a:cs typeface="Times New Roman" panose="02020603050405020304" pitchFamily="18" charset="0"/>
              </a:rPr>
              <a:t>），下表（</a:t>
            </a:r>
            <a:r>
              <a:rPr lang="zh-CN" altLang="en-US" dirty="0"/>
              <a:t>网约车轨迹数据</a:t>
            </a:r>
            <a:r>
              <a:rPr lang="en-US" altLang="zh-CN" dirty="0"/>
              <a:t>10min </a:t>
            </a:r>
            <a:r>
              <a:rPr lang="zh-CN" altLang="en-US" dirty="0"/>
              <a:t>网格化特征</a:t>
            </a:r>
            <a:r>
              <a:rPr lang="zh-CN" altLang="en-US" dirty="0" smtClean="0">
                <a:latin typeface="Times New Roman" panose="02020603050405020304" pitchFamily="18" charset="0"/>
                <a:cs typeface="Times New Roman" panose="02020603050405020304" pitchFamily="18" charset="0"/>
              </a:rPr>
              <a:t>）展示</a:t>
            </a:r>
            <a:r>
              <a:rPr lang="zh-CN" altLang="en-US" dirty="0">
                <a:latin typeface="Times New Roman" panose="02020603050405020304" pitchFamily="18" charset="0"/>
                <a:cs typeface="Times New Roman" panose="02020603050405020304" pitchFamily="18" charset="0"/>
              </a:rPr>
              <a:t>了部分数据</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Aft>
                <a:spcPts val="600"/>
              </a:spcAft>
            </a:pPr>
            <a:endParaRPr lang="en-US" altLang="zh-CN" dirty="0" smtClean="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315140" y="3038515"/>
            <a:ext cx="8579228" cy="2605940"/>
          </a:xfrm>
          <a:prstGeom prst="rect">
            <a:avLst/>
          </a:prstGeom>
        </p:spPr>
      </p:pic>
    </p:spTree>
    <p:extLst>
      <p:ext uri="{BB962C8B-B14F-4D97-AF65-F5344CB8AC3E}">
        <p14:creationId xmlns:p14="http://schemas.microsoft.com/office/powerpoint/2010/main" val="4960585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34</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数据分布特征分析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4154984"/>
          </a:xfrm>
          <a:prstGeom prst="rect">
            <a:avLst/>
          </a:prstGeom>
          <a:solidFill>
            <a:schemeClr val="bg1"/>
          </a:solidFill>
        </p:spPr>
        <p:txBody>
          <a:bodyPr wrap="square" rtlCol="0">
            <a:spAutoFit/>
          </a:bodyPr>
          <a:lstStyle/>
          <a:p>
            <a:pPr>
              <a:spcBef>
                <a:spcPts val="600"/>
              </a:spcBef>
            </a:pPr>
            <a:r>
              <a:rPr lang="zh-CN" altLang="en-US" dirty="0" smtClean="0"/>
              <a:t>分布</a:t>
            </a:r>
            <a:r>
              <a:rPr lang="zh-CN" altLang="en-US" dirty="0"/>
              <a:t>分析可以解释数据的分布特征和分布类型。在介绍分布分析之前，我们先了解两类重要的数据</a:t>
            </a:r>
            <a:r>
              <a:rPr lang="zh-CN" altLang="en-US" dirty="0" smtClean="0"/>
              <a:t>概念</a:t>
            </a:r>
            <a:r>
              <a:rPr lang="zh-CN" altLang="en-US" dirty="0"/>
              <a:t>，即定量数据和定性数据</a:t>
            </a:r>
            <a:r>
              <a:rPr lang="zh-CN" altLang="en-US" dirty="0" smtClean="0"/>
              <a:t>：</a:t>
            </a:r>
            <a:endParaRPr lang="en-US" altLang="zh-CN" dirty="0" smtClean="0"/>
          </a:p>
          <a:p>
            <a:pPr>
              <a:spcBef>
                <a:spcPts val="600"/>
              </a:spcBef>
            </a:pPr>
            <a:endParaRPr lang="en-US" altLang="zh-CN" dirty="0" smtClean="0"/>
          </a:p>
          <a:p>
            <a:pPr>
              <a:spcBef>
                <a:spcPts val="600"/>
              </a:spcBef>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zh-CN" altLang="en-US" u="sng"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定量数据</a:t>
            </a:r>
            <a:r>
              <a:rPr lang="zh-CN" altLang="en-US" dirty="0">
                <a:latin typeface="Times New Roman" panose="02020603050405020304" pitchFamily="18" charset="0"/>
                <a:cs typeface="Times New Roman" panose="02020603050405020304" pitchFamily="18" charset="0"/>
              </a:rPr>
              <a:t>，可以认为是以数量形式存在着的属性，我们可以对其进行测量，并用数字表征。在</a:t>
            </a:r>
            <a:r>
              <a:rPr lang="zh-CN" altLang="en-US" dirty="0" smtClean="0">
                <a:latin typeface="Times New Roman" panose="02020603050405020304" pitchFamily="18" charset="0"/>
                <a:cs typeface="Times New Roman" panose="02020603050405020304" pitchFamily="18" charset="0"/>
              </a:rPr>
              <a:t>定量数据</a:t>
            </a:r>
            <a:r>
              <a:rPr lang="zh-CN" altLang="en-US" dirty="0">
                <a:latin typeface="Times New Roman" panose="02020603050405020304" pitchFamily="18" charset="0"/>
                <a:cs typeface="Times New Roman" panose="02020603050405020304" pitchFamily="18" charset="0"/>
              </a:rPr>
              <a:t>中，又包括连续变量和离散变量，其中离散变量有时又可近似连续</a:t>
            </a:r>
            <a:r>
              <a:rPr lang="zh-CN" altLang="en-US" dirty="0" smtClean="0">
                <a:latin typeface="Times New Roman" panose="02020603050405020304" pitchFamily="18" charset="0"/>
                <a:cs typeface="Times New Roman" panose="02020603050405020304" pitchFamily="18" charset="0"/>
              </a:rPr>
              <a:t>（如</a:t>
            </a:r>
            <a:r>
              <a:rPr lang="zh-CN" altLang="en-US" dirty="0">
                <a:latin typeface="Times New Roman" panose="02020603050405020304" pitchFamily="18" charset="0"/>
                <a:cs typeface="Times New Roman" panose="02020603050405020304" pitchFamily="18" charset="0"/>
              </a:rPr>
              <a:t>交通流量，从</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到</a:t>
            </a:r>
            <a:r>
              <a:rPr lang="en-US" altLang="zh-CN" dirty="0">
                <a:latin typeface="Times New Roman" panose="02020603050405020304" pitchFamily="18" charset="0"/>
                <a:cs typeface="Times New Roman" panose="02020603050405020304" pitchFamily="18" charset="0"/>
              </a:rPr>
              <a:t>10000</a:t>
            </a:r>
            <a:r>
              <a:rPr lang="zh-CN" altLang="en-US" dirty="0">
                <a:latin typeface="Times New Roman" panose="02020603050405020304" pitchFamily="18" charset="0"/>
                <a:cs typeface="Times New Roman" panose="02020603050405020304" pitchFamily="18" charset="0"/>
              </a:rPr>
              <a:t>，虽是</a:t>
            </a:r>
            <a:r>
              <a:rPr lang="zh-CN" altLang="en-US" dirty="0" smtClean="0">
                <a:latin typeface="Times New Roman" panose="02020603050405020304" pitchFamily="18" charset="0"/>
                <a:cs typeface="Times New Roman" panose="02020603050405020304" pitchFamily="18" charset="0"/>
              </a:rPr>
              <a:t>离散</a:t>
            </a:r>
            <a:r>
              <a:rPr lang="zh-CN" altLang="en-US" dirty="0">
                <a:latin typeface="Times New Roman" panose="02020603050405020304" pitchFamily="18" charset="0"/>
                <a:cs typeface="Times New Roman" panose="02020603050405020304" pitchFamily="18" charset="0"/>
              </a:rPr>
              <a:t>整数值，但处理时近似连续变量）；</a:t>
            </a:r>
          </a:p>
          <a:p>
            <a:pPr>
              <a:spcBef>
                <a:spcPts val="600"/>
              </a:spcBef>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zh-CN" altLang="en-US" u="sng"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定性数据</a:t>
            </a:r>
            <a:r>
              <a:rPr lang="zh-CN" altLang="en-US" dirty="0">
                <a:latin typeface="Times New Roman" panose="02020603050405020304" pitchFamily="18" charset="0"/>
                <a:cs typeface="Times New Roman" panose="02020603050405020304" pitchFamily="18" charset="0"/>
              </a:rPr>
              <a:t>，通常是一组表示事物性质或者类别的文字表述型数据。</a:t>
            </a:r>
            <a:r>
              <a:rPr lang="zh-CN" altLang="en-US" dirty="0" smtClean="0">
                <a:latin typeface="Times New Roman" panose="02020603050405020304" pitchFamily="18" charset="0"/>
                <a:cs typeface="Times New Roman" panose="02020603050405020304" pitchFamily="18" charset="0"/>
              </a:rPr>
              <a:t>除分类</a:t>
            </a:r>
            <a:r>
              <a:rPr lang="zh-CN" altLang="en-US" dirty="0">
                <a:latin typeface="Times New Roman" panose="02020603050405020304" pitchFamily="18" charset="0"/>
                <a:cs typeface="Times New Roman" panose="02020603050405020304" pitchFamily="18" charset="0"/>
              </a:rPr>
              <a:t>数据外，像顺序</a:t>
            </a:r>
            <a:r>
              <a:rPr lang="zh-CN" altLang="en-US" dirty="0" smtClean="0">
                <a:latin typeface="Times New Roman" panose="02020603050405020304" pitchFamily="18" charset="0"/>
                <a:cs typeface="Times New Roman" panose="02020603050405020304" pitchFamily="18" charset="0"/>
              </a:rPr>
              <a:t>数据（如</a:t>
            </a:r>
            <a:r>
              <a:rPr lang="zh-CN" altLang="en-US" dirty="0">
                <a:latin typeface="Times New Roman" panose="02020603050405020304" pitchFamily="18" charset="0"/>
                <a:cs typeface="Times New Roman" panose="02020603050405020304" pitchFamily="18" charset="0"/>
              </a:rPr>
              <a:t>交通调查中，我们用</a:t>
            </a:r>
            <a:r>
              <a:rPr lang="en-US" altLang="zh-CN" dirty="0">
                <a:latin typeface="Times New Roman" panose="02020603050405020304" pitchFamily="18" charset="0"/>
                <a:cs typeface="Times New Roman" panose="02020603050405020304" pitchFamily="18" charset="0"/>
              </a:rPr>
              <a:t>1~5</a:t>
            </a:r>
            <a:r>
              <a:rPr lang="zh-CN" altLang="en-US" dirty="0">
                <a:latin typeface="Times New Roman" panose="02020603050405020304" pitchFamily="18" charset="0"/>
                <a:cs typeface="Times New Roman" panose="02020603050405020304" pitchFamily="18" charset="0"/>
              </a:rPr>
              <a:t>表示交通</a:t>
            </a:r>
            <a:r>
              <a:rPr lang="zh-CN" altLang="en-US" dirty="0" smtClean="0">
                <a:latin typeface="Times New Roman" panose="02020603050405020304" pitchFamily="18" charset="0"/>
                <a:cs typeface="Times New Roman" panose="02020603050405020304" pitchFamily="18" charset="0"/>
              </a:rPr>
              <a:t>拥堵程度</a:t>
            </a:r>
            <a:r>
              <a:rPr lang="zh-CN" altLang="en-US" dirty="0">
                <a:latin typeface="Times New Roman" panose="02020603050405020304" pitchFamily="18" charset="0"/>
                <a:cs typeface="Times New Roman" panose="02020603050405020304" pitchFamily="18" charset="0"/>
              </a:rPr>
              <a:t>）也属于定性数据</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Bef>
                <a:spcPts val="600"/>
              </a:spcBef>
            </a:pPr>
            <a:endParaRPr lang="en-US" altLang="zh-CN" dirty="0" smtClean="0">
              <a:latin typeface="Times New Roman" panose="02020603050405020304" pitchFamily="18" charset="0"/>
              <a:cs typeface="Times New Roman" panose="02020603050405020304" pitchFamily="18" charset="0"/>
            </a:endParaRPr>
          </a:p>
          <a:p>
            <a:pPr>
              <a:spcBef>
                <a:spcPts val="600"/>
              </a:spcBef>
            </a:pPr>
            <a:r>
              <a:rPr lang="zh-CN" altLang="en-US" dirty="0" smtClean="0">
                <a:latin typeface="Times New Roman" panose="02020603050405020304" pitchFamily="18" charset="0"/>
                <a:cs typeface="Times New Roman" panose="02020603050405020304" pitchFamily="18" charset="0"/>
              </a:rPr>
              <a:t>对于</a:t>
            </a:r>
            <a:r>
              <a:rPr lang="zh-CN" altLang="en-US" dirty="0">
                <a:latin typeface="Times New Roman" panose="02020603050405020304" pitchFamily="18" charset="0"/>
                <a:cs typeface="Times New Roman" panose="02020603050405020304" pitchFamily="18" charset="0"/>
              </a:rPr>
              <a:t>定量数据，如果我们想了解其分布形式是对称的还是非对称的，或发现某些极大或极小的可疑值，可</a:t>
            </a:r>
            <a:r>
              <a:rPr lang="zh-CN" altLang="en-US" dirty="0" smtClean="0">
                <a:latin typeface="Times New Roman" panose="02020603050405020304" pitchFamily="18" charset="0"/>
                <a:cs typeface="Times New Roman" panose="02020603050405020304" pitchFamily="18" charset="0"/>
              </a:rPr>
              <a:t>通过</a:t>
            </a:r>
            <a:r>
              <a:rPr lang="zh-CN" altLang="en-US" dirty="0">
                <a:latin typeface="Times New Roman" panose="02020603050405020304" pitchFamily="18" charset="0"/>
                <a:cs typeface="Times New Roman" panose="02020603050405020304" pitchFamily="18" charset="0"/>
              </a:rPr>
              <a:t>绘制频率分布表、频率分布直方图、茎叶图等进行直观的分析；而对于定性数据，可使用饼图和条形图来</a:t>
            </a:r>
            <a:r>
              <a:rPr lang="zh-CN" altLang="en-US" dirty="0" smtClean="0">
                <a:latin typeface="Times New Roman" panose="02020603050405020304" pitchFamily="18" charset="0"/>
                <a:cs typeface="Times New Roman" panose="02020603050405020304" pitchFamily="18" charset="0"/>
              </a:rPr>
              <a:t>显示其</a:t>
            </a:r>
            <a:r>
              <a:rPr lang="zh-CN" altLang="en-US" dirty="0">
                <a:latin typeface="Times New Roman" panose="02020603050405020304" pitchFamily="18" charset="0"/>
                <a:cs typeface="Times New Roman" panose="02020603050405020304" pitchFamily="18" charset="0"/>
              </a:rPr>
              <a:t>分布情况</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Bef>
                <a:spcPts val="600"/>
              </a:spcBef>
            </a:pPr>
            <a:r>
              <a:rPr lang="zh-CN" altLang="en-US" dirty="0" smtClean="0">
                <a:latin typeface="Times New Roman" panose="02020603050405020304" pitchFamily="18" charset="0"/>
                <a:cs typeface="Times New Roman" panose="02020603050405020304" pitchFamily="18" charset="0"/>
              </a:rPr>
              <a:t>下一章将会对数据可视化内容进行详细</a:t>
            </a:r>
            <a:r>
              <a:rPr lang="zh-CN" altLang="en-US" dirty="0">
                <a:latin typeface="Times New Roman" panose="02020603050405020304" pitchFamily="18" charset="0"/>
                <a:cs typeface="Times New Roman" panose="02020603050405020304" pitchFamily="18" charset="0"/>
              </a:rPr>
              <a:t>讲解</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74932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35</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统计量</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4478149"/>
          </a:xfrm>
          <a:prstGeom prst="rect">
            <a:avLst/>
          </a:prstGeom>
          <a:solidFill>
            <a:schemeClr val="bg1"/>
          </a:solidFill>
        </p:spPr>
        <p:txBody>
          <a:bodyPr wrap="square" rtlCol="0">
            <a:spAutoFit/>
          </a:bodyPr>
          <a:lstStyle/>
          <a:p>
            <a:pPr>
              <a:spcBef>
                <a:spcPts val="600"/>
              </a:spcBef>
            </a:pPr>
            <a:r>
              <a:rPr lang="en-US" altLang="zh-CN"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 </a:t>
            </a:r>
            <a:r>
              <a:rPr lang="zh-CN" altLang="en-US" b="1" dirty="0">
                <a:solidFill>
                  <a:srgbClr val="FF0000"/>
                </a:solidFill>
                <a:latin typeface="黑体" panose="02010609060101010101" pitchFamily="49" charset="-122"/>
                <a:ea typeface="黑体" panose="02010609060101010101" pitchFamily="49" charset="-122"/>
              </a:rPr>
              <a:t>集中趋势度量</a:t>
            </a:r>
          </a:p>
          <a:p>
            <a:pPr>
              <a:spcBef>
                <a:spcPts val="600"/>
              </a:spcBef>
            </a:pPr>
            <a:r>
              <a:rPr lang="zh-CN" altLang="en-US" b="1" dirty="0">
                <a:solidFill>
                  <a:srgbClr val="FF0000"/>
                </a:solidFill>
              </a:rPr>
              <a:t>（</a:t>
            </a:r>
            <a:r>
              <a:rPr lang="en-US" altLang="zh-CN" b="1" dirty="0">
                <a:solidFill>
                  <a:srgbClr val="FF0000"/>
                </a:solidFill>
              </a:rPr>
              <a:t>1</a:t>
            </a:r>
            <a:r>
              <a:rPr lang="zh-CN" altLang="en-US" b="1" dirty="0">
                <a:solidFill>
                  <a:srgbClr val="FF0000"/>
                </a:solidFill>
              </a:rPr>
              <a:t>）均值。</a:t>
            </a:r>
            <a:r>
              <a:rPr lang="zh-CN" altLang="en-US" dirty="0">
                <a:latin typeface="Times New Roman" panose="02020603050405020304" pitchFamily="18" charset="0"/>
                <a:cs typeface="Times New Roman" panose="02020603050405020304" pitchFamily="18" charset="0"/>
              </a:rPr>
              <a:t>均值是所有数据的平均值，假设有</a:t>
            </a:r>
            <a:r>
              <a:rPr lang="en-US" altLang="zh-CN" dirty="0">
                <a:latin typeface="Times New Roman" panose="02020603050405020304" pitchFamily="18" charset="0"/>
                <a:cs typeface="Times New Roman" panose="02020603050405020304" pitchFamily="18" charset="0"/>
              </a:rPr>
              <a:t>n </a:t>
            </a:r>
            <a:r>
              <a:rPr lang="zh-CN" altLang="en-US" dirty="0">
                <a:latin typeface="Times New Roman" panose="02020603050405020304" pitchFamily="18" charset="0"/>
                <a:cs typeface="Times New Roman" panose="02020603050405020304" pitchFamily="18" charset="0"/>
              </a:rPr>
              <a:t>个原始数据，</a:t>
            </a:r>
            <a:r>
              <a:rPr lang="en-US" altLang="zh-CN" i="1" dirty="0">
                <a:latin typeface="Times New Roman" panose="02020603050405020304" pitchFamily="18" charset="0"/>
                <a:cs typeface="Times New Roman" panose="02020603050405020304" pitchFamily="18" charset="0"/>
              </a:rPr>
              <a:t>x</a:t>
            </a:r>
            <a:r>
              <a:rPr lang="en-US" altLang="zh-CN" sz="1050" dirty="0">
                <a:latin typeface="Times New Roman" panose="02020603050405020304" pitchFamily="18" charset="0"/>
                <a:cs typeface="Times New Roman" panose="02020603050405020304" pitchFamily="18" charset="0"/>
              </a:rPr>
              <a:t>i </a:t>
            </a:r>
            <a:r>
              <a:rPr lang="zh-CN" altLang="en-US" dirty="0">
                <a:latin typeface="Times New Roman" panose="02020603050405020304" pitchFamily="18" charset="0"/>
                <a:cs typeface="Times New Roman" panose="02020603050405020304" pitchFamily="18" charset="0"/>
              </a:rPr>
              <a:t>代表原始数据中第</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个数据的值，则</a:t>
            </a:r>
            <a:r>
              <a:rPr lang="zh-CN" altLang="en-US" dirty="0" smtClean="0">
                <a:latin typeface="Times New Roman" panose="02020603050405020304" pitchFamily="18" charset="0"/>
                <a:cs typeface="Times New Roman" panose="02020603050405020304" pitchFamily="18" charset="0"/>
              </a:rPr>
              <a:t>原始数据</a:t>
            </a:r>
            <a:r>
              <a:rPr lang="zh-CN" altLang="en-US" dirty="0">
                <a:latin typeface="Times New Roman" panose="02020603050405020304" pitchFamily="18" charset="0"/>
                <a:cs typeface="Times New Roman" panose="02020603050405020304" pitchFamily="18" charset="0"/>
              </a:rPr>
              <a:t>集均值的计算公式为</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Bef>
                <a:spcPts val="600"/>
              </a:spcBef>
            </a:pPr>
            <a:endParaRPr lang="en-US" altLang="zh-CN" dirty="0" smtClean="0"/>
          </a:p>
          <a:p>
            <a:pPr>
              <a:spcBef>
                <a:spcPts val="600"/>
              </a:spcBef>
            </a:pPr>
            <a:endParaRPr lang="en-US" altLang="zh-CN" dirty="0">
              <a:latin typeface="Times New Roman" panose="02020603050405020304" pitchFamily="18" charset="0"/>
              <a:cs typeface="Times New Roman" panose="02020603050405020304" pitchFamily="18" charset="0"/>
            </a:endParaRPr>
          </a:p>
          <a:p>
            <a:r>
              <a:rPr lang="zh-CN" altLang="en-US" dirty="0"/>
              <a:t>有时，为了反映在均值中不同成分的重要程度，可以为数据集中的每一</a:t>
            </a:r>
            <a:r>
              <a:rPr lang="zh-CN" altLang="en-US" dirty="0" smtClean="0"/>
              <a:t>个</a:t>
            </a:r>
            <a:r>
              <a:rPr lang="en-US" altLang="zh-CN" i="1" dirty="0">
                <a:latin typeface="Times New Roman" panose="02020603050405020304" pitchFamily="18" charset="0"/>
                <a:cs typeface="Times New Roman" panose="02020603050405020304" pitchFamily="18" charset="0"/>
              </a:rPr>
              <a:t>x</a:t>
            </a:r>
            <a:r>
              <a:rPr lang="en-US" altLang="zh-CN" sz="1050" dirty="0">
                <a:latin typeface="Times New Roman" panose="02020603050405020304" pitchFamily="18" charset="0"/>
                <a:cs typeface="Times New Roman" panose="02020603050405020304" pitchFamily="18" charset="0"/>
              </a:rPr>
              <a:t>i</a:t>
            </a:r>
            <a:r>
              <a:rPr lang="zh-CN" altLang="en-US" dirty="0" smtClean="0"/>
              <a:t>赋予</a:t>
            </a:r>
            <a:r>
              <a:rPr lang="zh-CN" altLang="en-US" dirty="0"/>
              <a:t>权重</a:t>
            </a:r>
            <a:r>
              <a:rPr lang="en-US" altLang="zh-CN" i="1" dirty="0" err="1" smtClean="0">
                <a:latin typeface="Times New Roman" panose="02020603050405020304" pitchFamily="18" charset="0"/>
                <a:cs typeface="Times New Roman" panose="02020603050405020304" pitchFamily="18" charset="0"/>
              </a:rPr>
              <a:t>w</a:t>
            </a:r>
            <a:r>
              <a:rPr lang="en-US" altLang="zh-CN" sz="1050" dirty="0" err="1" smtClean="0">
                <a:latin typeface="Times New Roman" panose="02020603050405020304" pitchFamily="18" charset="0"/>
                <a:cs typeface="Times New Roman" panose="02020603050405020304" pitchFamily="18" charset="0"/>
              </a:rPr>
              <a:t>i</a:t>
            </a:r>
            <a:r>
              <a:rPr lang="en-US" altLang="zh-CN" sz="1050" dirty="0" smtClean="0">
                <a:latin typeface="Times New Roman" panose="02020603050405020304" pitchFamily="18" charset="0"/>
                <a:cs typeface="Times New Roman" panose="02020603050405020304" pitchFamily="18" charset="0"/>
              </a:rPr>
              <a:t> </a:t>
            </a:r>
            <a:r>
              <a:rPr lang="zh-CN" altLang="en-US" dirty="0" smtClean="0"/>
              <a:t>，</a:t>
            </a:r>
            <a:r>
              <a:rPr lang="zh-CN" altLang="en-US" dirty="0"/>
              <a:t>这就得到了</a:t>
            </a:r>
            <a:r>
              <a:rPr lang="zh-CN" altLang="en-US" dirty="0" smtClean="0"/>
              <a:t>加权均值</a:t>
            </a:r>
            <a:r>
              <a:rPr lang="zh-CN" altLang="en-US" dirty="0"/>
              <a:t>的计算公式</a:t>
            </a:r>
            <a:r>
              <a:rPr lang="zh-CN" altLang="en-US" dirty="0" smtClean="0"/>
              <a:t>：</a:t>
            </a:r>
            <a:endParaRPr lang="en-US" altLang="zh-CN" dirty="0" smtClean="0"/>
          </a:p>
          <a:p>
            <a:endParaRPr lang="en-US" altLang="zh-CN" dirty="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a:t>类似地，频率分布表的平均数可以使用下式计算</a:t>
            </a:r>
            <a:r>
              <a:rPr lang="zh-CN" altLang="en-US" dirty="0" smtClean="0"/>
              <a:t>：</a:t>
            </a:r>
            <a:endParaRPr lang="en-US" altLang="zh-CN" dirty="0" smtClean="0"/>
          </a:p>
          <a:p>
            <a:endParaRPr lang="en-US" altLang="zh-CN" dirty="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zh-CN" altLang="en-US" dirty="0"/>
              <a:t>式中</a:t>
            </a:r>
            <a:r>
              <a:rPr lang="zh-CN" altLang="en-US" dirty="0" smtClean="0"/>
              <a:t>，</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x</a:t>
            </a:r>
            <a:r>
              <a:rPr lang="en-US" altLang="zh-CN" sz="1050" dirty="0" smtClean="0">
                <a:latin typeface="Times New Roman" panose="02020603050405020304" pitchFamily="18" charset="0"/>
                <a:cs typeface="Times New Roman" panose="02020603050405020304" pitchFamily="18" charset="0"/>
              </a:rPr>
              <a:t>1 </a:t>
            </a:r>
            <a:r>
              <a:rPr lang="zh-CN" altLang="en-US" sz="1050" dirty="0" smtClean="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x</a:t>
            </a:r>
            <a:r>
              <a:rPr lang="en-US" altLang="zh-CN" sz="1050" dirty="0" smtClean="0">
                <a:latin typeface="Times New Roman" panose="02020603050405020304" pitchFamily="18" charset="0"/>
                <a:cs typeface="Times New Roman" panose="02020603050405020304" pitchFamily="18" charset="0"/>
              </a:rPr>
              <a:t>2 </a:t>
            </a:r>
            <a:r>
              <a:rPr lang="zh-CN" altLang="en-US" sz="1050" dirty="0" smtClean="0">
                <a:latin typeface="Times New Roman" panose="02020603050405020304" pitchFamily="18" charset="0"/>
                <a:cs typeface="Times New Roman" panose="02020603050405020304" pitchFamily="18" charset="0"/>
              </a:rPr>
              <a:t>，</a:t>
            </a:r>
            <a:r>
              <a:rPr lang="en-US" altLang="zh-CN" sz="1050" dirty="0" smtClean="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err="1" smtClean="0">
                <a:latin typeface="Times New Roman" panose="02020603050405020304" pitchFamily="18" charset="0"/>
                <a:cs typeface="Times New Roman" panose="02020603050405020304" pitchFamily="18" charset="0"/>
              </a:rPr>
              <a:t>x</a:t>
            </a:r>
            <a:r>
              <a:rPr lang="en-US" altLang="zh-CN" sz="1050" dirty="0" err="1" smtClean="0">
                <a:latin typeface="Times New Roman" panose="02020603050405020304" pitchFamily="18" charset="0"/>
                <a:cs typeface="Times New Roman" panose="02020603050405020304" pitchFamily="18" charset="0"/>
              </a:rPr>
              <a:t>k</a:t>
            </a:r>
            <a:r>
              <a:rPr lang="en-US" altLang="zh-CN" sz="1050" dirty="0" smtClean="0">
                <a:latin typeface="Times New Roman" panose="02020603050405020304" pitchFamily="18" charset="0"/>
                <a:cs typeface="Times New Roman" panose="02020603050405020304" pitchFamily="18" charset="0"/>
              </a:rPr>
              <a:t> </a:t>
            </a:r>
            <a:r>
              <a:rPr lang="zh-CN" altLang="en-US" dirty="0" smtClean="0"/>
              <a:t>分别</a:t>
            </a:r>
            <a:r>
              <a:rPr lang="zh-CN" altLang="en-US" dirty="0"/>
              <a:t>为</a:t>
            </a:r>
            <a:r>
              <a:rPr lang="en-US" altLang="zh-CN" i="1" dirty="0"/>
              <a:t>k </a:t>
            </a:r>
            <a:r>
              <a:rPr lang="zh-CN" altLang="en-US" dirty="0"/>
              <a:t>个组段的组中值</a:t>
            </a:r>
            <a:r>
              <a:rPr lang="zh-CN" altLang="en-US" dirty="0" smtClean="0"/>
              <a:t>；</a:t>
            </a:r>
            <a:r>
              <a:rPr lang="en-US" altLang="zh-CN" i="1" dirty="0">
                <a:solidFill>
                  <a:srgbClr val="000000"/>
                </a:solidFill>
                <a:latin typeface="Times New Roman" panose="02020603050405020304" pitchFamily="18" charset="0"/>
                <a:cs typeface="Times New Roman" panose="02020603050405020304" pitchFamily="18" charset="0"/>
              </a:rPr>
              <a:t> </a:t>
            </a:r>
            <a:r>
              <a:rPr lang="en-US" altLang="zh-CN" i="1" dirty="0" smtClean="0">
                <a:solidFill>
                  <a:srgbClr val="000000"/>
                </a:solidFill>
                <a:latin typeface="Times New Roman" panose="02020603050405020304" pitchFamily="18" charset="0"/>
                <a:cs typeface="Times New Roman" panose="02020603050405020304" pitchFamily="18" charset="0"/>
              </a:rPr>
              <a:t>f</a:t>
            </a:r>
            <a:r>
              <a:rPr lang="en-US" altLang="zh-CN" sz="1050" dirty="0" smtClean="0">
                <a:solidFill>
                  <a:srgbClr val="000000"/>
                </a:solidFill>
                <a:latin typeface="Times New Roman" panose="02020603050405020304" pitchFamily="18" charset="0"/>
                <a:cs typeface="Times New Roman" panose="02020603050405020304" pitchFamily="18" charset="0"/>
              </a:rPr>
              <a:t>1 </a:t>
            </a:r>
            <a:r>
              <a:rPr lang="zh-CN" altLang="en-US" sz="1050" dirty="0">
                <a:solidFill>
                  <a:srgbClr val="000000"/>
                </a:solidFill>
                <a:latin typeface="Times New Roman" panose="02020603050405020304" pitchFamily="18" charset="0"/>
                <a:cs typeface="Times New Roman" panose="02020603050405020304" pitchFamily="18" charset="0"/>
              </a:rPr>
              <a:t>，</a:t>
            </a:r>
            <a:r>
              <a:rPr lang="en-US" altLang="zh-CN" i="1" dirty="0">
                <a:solidFill>
                  <a:srgbClr val="000000"/>
                </a:solidFill>
                <a:latin typeface="Times New Roman" panose="02020603050405020304" pitchFamily="18" charset="0"/>
                <a:cs typeface="Times New Roman" panose="02020603050405020304" pitchFamily="18" charset="0"/>
              </a:rPr>
              <a:t> </a:t>
            </a:r>
            <a:r>
              <a:rPr lang="en-US" altLang="zh-CN" i="1" dirty="0" smtClean="0">
                <a:solidFill>
                  <a:srgbClr val="000000"/>
                </a:solidFill>
                <a:latin typeface="Times New Roman" panose="02020603050405020304" pitchFamily="18" charset="0"/>
                <a:cs typeface="Times New Roman" panose="02020603050405020304" pitchFamily="18" charset="0"/>
              </a:rPr>
              <a:t>f</a:t>
            </a:r>
            <a:r>
              <a:rPr lang="en-US" altLang="zh-CN" sz="1050" dirty="0" smtClean="0">
                <a:solidFill>
                  <a:srgbClr val="000000"/>
                </a:solidFill>
                <a:latin typeface="Times New Roman" panose="02020603050405020304" pitchFamily="18" charset="0"/>
                <a:cs typeface="Times New Roman" panose="02020603050405020304" pitchFamily="18" charset="0"/>
              </a:rPr>
              <a:t>2 </a:t>
            </a:r>
            <a:r>
              <a:rPr lang="zh-CN" altLang="en-US" sz="1050" dirty="0">
                <a:solidFill>
                  <a:srgbClr val="000000"/>
                </a:solidFill>
                <a:latin typeface="Times New Roman" panose="02020603050405020304" pitchFamily="18" charset="0"/>
                <a:cs typeface="Times New Roman" panose="02020603050405020304" pitchFamily="18" charset="0"/>
              </a:rPr>
              <a:t>，</a:t>
            </a:r>
            <a:r>
              <a:rPr lang="en-US" altLang="zh-CN" sz="1050" dirty="0" smtClean="0">
                <a:solidFill>
                  <a:srgbClr val="000000"/>
                </a:solidFill>
                <a:latin typeface="Times New Roman" panose="02020603050405020304" pitchFamily="18" charset="0"/>
                <a:cs typeface="Times New Roman" panose="02020603050405020304" pitchFamily="18" charset="0"/>
              </a:rPr>
              <a:t>…</a:t>
            </a:r>
            <a:r>
              <a:rPr lang="zh-CN" altLang="en-US" sz="1050" dirty="0">
                <a:solidFill>
                  <a:srgbClr val="000000"/>
                </a:solidFill>
                <a:latin typeface="Times New Roman" panose="02020603050405020304" pitchFamily="18" charset="0"/>
                <a:cs typeface="Times New Roman" panose="02020603050405020304" pitchFamily="18" charset="0"/>
              </a:rPr>
              <a:t> ， </a:t>
            </a:r>
            <a:r>
              <a:rPr lang="en-US" altLang="zh-CN" i="1" dirty="0" err="1" smtClean="0">
                <a:solidFill>
                  <a:srgbClr val="000000"/>
                </a:solidFill>
                <a:latin typeface="Times New Roman" panose="02020603050405020304" pitchFamily="18" charset="0"/>
                <a:cs typeface="Times New Roman" panose="02020603050405020304" pitchFamily="18" charset="0"/>
              </a:rPr>
              <a:t>f</a:t>
            </a:r>
            <a:r>
              <a:rPr lang="en-US" altLang="zh-CN" sz="1050" dirty="0" err="1" smtClean="0">
                <a:solidFill>
                  <a:srgbClr val="000000"/>
                </a:solidFill>
                <a:latin typeface="Times New Roman" panose="02020603050405020304" pitchFamily="18" charset="0"/>
                <a:cs typeface="Times New Roman" panose="02020603050405020304" pitchFamily="18" charset="0"/>
              </a:rPr>
              <a:t>k</a:t>
            </a:r>
            <a:r>
              <a:rPr lang="en-US" altLang="zh-CN" i="1" dirty="0" smtClean="0">
                <a:latin typeface="Times New Roman" panose="02020603050405020304" pitchFamily="18" charset="0"/>
                <a:cs typeface="Times New Roman" panose="02020603050405020304" pitchFamily="18" charset="0"/>
              </a:rPr>
              <a:t> </a:t>
            </a:r>
            <a:r>
              <a:rPr lang="zh-CN" altLang="en-US" dirty="0" smtClean="0"/>
              <a:t>分别</a:t>
            </a:r>
            <a:r>
              <a:rPr lang="zh-CN" altLang="en-US" dirty="0"/>
              <a:t>为</a:t>
            </a:r>
            <a:r>
              <a:rPr lang="en-US" altLang="zh-CN" i="1" dirty="0"/>
              <a:t>k </a:t>
            </a:r>
            <a:r>
              <a:rPr lang="zh-CN" altLang="en-US" dirty="0"/>
              <a:t>个组段的频率。这里</a:t>
            </a:r>
            <a:r>
              <a:rPr lang="zh-CN" altLang="en-US" dirty="0" smtClean="0"/>
              <a:t>的</a:t>
            </a:r>
            <a:r>
              <a:rPr lang="en-US" altLang="zh-CN" i="1" dirty="0" smtClean="0">
                <a:latin typeface="Times New Roman" panose="02020603050405020304" pitchFamily="18" charset="0"/>
                <a:cs typeface="Times New Roman" panose="02020603050405020304" pitchFamily="18" charset="0"/>
              </a:rPr>
              <a:t>f</a:t>
            </a:r>
            <a:r>
              <a:rPr lang="en-US" altLang="zh-CN" sz="1050" dirty="0" smtClean="0">
                <a:latin typeface="Times New Roman" panose="02020603050405020304" pitchFamily="18" charset="0"/>
                <a:cs typeface="Times New Roman" panose="02020603050405020304" pitchFamily="18" charset="0"/>
              </a:rPr>
              <a:t>i</a:t>
            </a:r>
            <a:r>
              <a:rPr lang="zh-CN" altLang="en-US" dirty="0" smtClean="0"/>
              <a:t>起</a:t>
            </a:r>
            <a:r>
              <a:rPr lang="zh-CN" altLang="en-US" dirty="0"/>
              <a:t>到了权重</a:t>
            </a:r>
            <a:r>
              <a:rPr lang="zh-CN" altLang="en-US" dirty="0" smtClean="0"/>
              <a:t>的作用</a:t>
            </a:r>
            <a:r>
              <a:rPr lang="zh-CN" altLang="en-US" dirty="0"/>
              <a:t>。</a:t>
            </a:r>
            <a:endParaRPr lang="en-US" altLang="zh-CN" dirty="0" smtClean="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3816311" y="2899318"/>
            <a:ext cx="2255020" cy="729565"/>
          </a:xfrm>
          <a:prstGeom prst="rect">
            <a:avLst/>
          </a:prstGeom>
        </p:spPr>
      </p:pic>
      <p:pic>
        <p:nvPicPr>
          <p:cNvPr id="3" name="图片 2"/>
          <p:cNvPicPr>
            <a:picLocks noChangeAspect="1"/>
          </p:cNvPicPr>
          <p:nvPr/>
        </p:nvPicPr>
        <p:blipFill>
          <a:blip r:embed="rId4"/>
          <a:stretch>
            <a:fillRect/>
          </a:stretch>
        </p:blipFill>
        <p:spPr>
          <a:xfrm>
            <a:off x="2668297" y="4176130"/>
            <a:ext cx="5380935" cy="767384"/>
          </a:xfrm>
          <a:prstGeom prst="rect">
            <a:avLst/>
          </a:prstGeom>
        </p:spPr>
      </p:pic>
      <p:pic>
        <p:nvPicPr>
          <p:cNvPr id="8" name="图片 7"/>
          <p:cNvPicPr>
            <a:picLocks noChangeAspect="1"/>
          </p:cNvPicPr>
          <p:nvPr/>
        </p:nvPicPr>
        <p:blipFill>
          <a:blip r:embed="rId5"/>
          <a:stretch>
            <a:fillRect/>
          </a:stretch>
        </p:blipFill>
        <p:spPr>
          <a:xfrm>
            <a:off x="2689205" y="5319133"/>
            <a:ext cx="4625992" cy="403484"/>
          </a:xfrm>
          <a:prstGeom prst="rect">
            <a:avLst/>
          </a:prstGeom>
        </p:spPr>
      </p:pic>
    </p:spTree>
    <p:extLst>
      <p:ext uri="{BB962C8B-B14F-4D97-AF65-F5344CB8AC3E}">
        <p14:creationId xmlns:p14="http://schemas.microsoft.com/office/powerpoint/2010/main" val="10105391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36</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统计量</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600986"/>
          </a:xfrm>
          <a:prstGeom prst="rect">
            <a:avLst/>
          </a:prstGeom>
          <a:solidFill>
            <a:schemeClr val="bg1"/>
          </a:solidFill>
        </p:spPr>
        <p:txBody>
          <a:bodyPr wrap="square" rtlCol="0">
            <a:spAutoFit/>
          </a:bodyPr>
          <a:lstStyle/>
          <a:p>
            <a:pPr>
              <a:spcBef>
                <a:spcPts val="600"/>
              </a:spcBef>
            </a:pPr>
            <a:r>
              <a:rPr lang="en-US" altLang="zh-CN" b="1" dirty="0">
                <a:latin typeface="Times New Roman" panose="02020603050405020304" pitchFamily="18" charset="0"/>
                <a:cs typeface="Times New Roman" panose="02020603050405020304" pitchFamily="18" charset="0"/>
              </a:rPr>
              <a:t>1. </a:t>
            </a:r>
            <a:r>
              <a:rPr lang="zh-CN" altLang="en-US" b="1" dirty="0"/>
              <a:t>集中趋势度量</a:t>
            </a:r>
          </a:p>
          <a:p>
            <a:pPr>
              <a:spcBef>
                <a:spcPts val="600"/>
              </a:spcBef>
            </a:pPr>
            <a:r>
              <a:rPr lang="zh-CN" altLang="en-US" b="1" dirty="0">
                <a:solidFill>
                  <a:srgbClr val="FF0000"/>
                </a:solidFill>
              </a:rPr>
              <a:t>（</a:t>
            </a:r>
            <a:r>
              <a:rPr lang="en-US" altLang="zh-CN" b="1" dirty="0">
                <a:solidFill>
                  <a:srgbClr val="FF0000"/>
                </a:solidFill>
              </a:rPr>
              <a:t>2</a:t>
            </a:r>
            <a:r>
              <a:rPr lang="zh-CN" altLang="en-US" b="1" dirty="0">
                <a:solidFill>
                  <a:srgbClr val="FF0000"/>
                </a:solidFill>
              </a:rPr>
              <a:t>）中位数</a:t>
            </a:r>
            <a:r>
              <a:rPr lang="zh-CN" altLang="en-US" dirty="0"/>
              <a:t>。中位数是将一组观察值按从小到大的顺序排序后，位于中间的那个数。即在全部数据中，</a:t>
            </a:r>
            <a:r>
              <a:rPr lang="zh-CN" altLang="en-US" dirty="0" smtClean="0"/>
              <a:t>小于</a:t>
            </a:r>
            <a:r>
              <a:rPr lang="zh-CN" altLang="en-US" dirty="0"/>
              <a:t>和大于</a:t>
            </a:r>
            <a:r>
              <a:rPr lang="zh-CN" altLang="en-US" dirty="0" smtClean="0"/>
              <a:t>中位数数据</a:t>
            </a:r>
            <a:r>
              <a:rPr lang="zh-CN" altLang="en-US" dirty="0"/>
              <a:t>个数相等。将某一数据</a:t>
            </a:r>
            <a:r>
              <a:rPr lang="zh-CN" altLang="en-US" dirty="0" smtClean="0"/>
              <a:t>集</a:t>
            </a:r>
            <a:r>
              <a:rPr lang="en-US" altLang="zh-CN" dirty="0" smtClean="0"/>
              <a:t>{</a:t>
            </a:r>
            <a:r>
              <a:rPr lang="en-US" altLang="zh-CN" i="1" dirty="0">
                <a:solidFill>
                  <a:srgbClr val="000000"/>
                </a:solidFill>
                <a:latin typeface="Times New Roman" panose="02020603050405020304" pitchFamily="18" charset="0"/>
                <a:cs typeface="Times New Roman" panose="02020603050405020304" pitchFamily="18" charset="0"/>
              </a:rPr>
              <a:t>x</a:t>
            </a:r>
            <a:r>
              <a:rPr lang="en-US" altLang="zh-CN" sz="1050" dirty="0">
                <a:solidFill>
                  <a:srgbClr val="000000"/>
                </a:solidFill>
                <a:latin typeface="Times New Roman" panose="02020603050405020304" pitchFamily="18" charset="0"/>
                <a:cs typeface="Times New Roman" panose="02020603050405020304" pitchFamily="18" charset="0"/>
              </a:rPr>
              <a:t>1 </a:t>
            </a:r>
            <a:r>
              <a:rPr lang="zh-CN" altLang="en-US" sz="1050" dirty="0">
                <a:solidFill>
                  <a:srgbClr val="000000"/>
                </a:solidFill>
                <a:latin typeface="Times New Roman" panose="02020603050405020304" pitchFamily="18" charset="0"/>
                <a:cs typeface="Times New Roman" panose="02020603050405020304" pitchFamily="18" charset="0"/>
              </a:rPr>
              <a:t>，</a:t>
            </a:r>
            <a:r>
              <a:rPr lang="en-US" altLang="zh-CN" i="1" dirty="0">
                <a:solidFill>
                  <a:srgbClr val="000000"/>
                </a:solidFill>
                <a:latin typeface="Times New Roman" panose="02020603050405020304" pitchFamily="18" charset="0"/>
                <a:cs typeface="Times New Roman" panose="02020603050405020304" pitchFamily="18" charset="0"/>
              </a:rPr>
              <a:t> x</a:t>
            </a:r>
            <a:r>
              <a:rPr lang="en-US" altLang="zh-CN" sz="1050" dirty="0">
                <a:solidFill>
                  <a:srgbClr val="000000"/>
                </a:solidFill>
                <a:latin typeface="Times New Roman" panose="02020603050405020304" pitchFamily="18" charset="0"/>
                <a:cs typeface="Times New Roman" panose="02020603050405020304" pitchFamily="18" charset="0"/>
              </a:rPr>
              <a:t>2 </a:t>
            </a:r>
            <a:r>
              <a:rPr lang="zh-CN" altLang="en-US" sz="1050" dirty="0">
                <a:solidFill>
                  <a:srgbClr val="000000"/>
                </a:solidFill>
                <a:latin typeface="Times New Roman" panose="02020603050405020304" pitchFamily="18" charset="0"/>
                <a:cs typeface="Times New Roman" panose="02020603050405020304" pitchFamily="18" charset="0"/>
              </a:rPr>
              <a:t>，</a:t>
            </a:r>
            <a:r>
              <a:rPr lang="en-US" altLang="zh-CN" sz="1050" dirty="0">
                <a:solidFill>
                  <a:srgbClr val="000000"/>
                </a:solidFill>
                <a:latin typeface="Times New Roman" panose="02020603050405020304" pitchFamily="18" charset="0"/>
                <a:cs typeface="Times New Roman" panose="02020603050405020304" pitchFamily="18" charset="0"/>
              </a:rPr>
              <a:t>…,</a:t>
            </a:r>
            <a:r>
              <a:rPr lang="en-US" altLang="zh-CN" i="1" dirty="0">
                <a:solidFill>
                  <a:srgbClr val="000000"/>
                </a:solidFill>
                <a:latin typeface="Times New Roman" panose="02020603050405020304" pitchFamily="18" charset="0"/>
                <a:cs typeface="Times New Roman" panose="02020603050405020304" pitchFamily="18" charset="0"/>
              </a:rPr>
              <a:t> </a:t>
            </a:r>
            <a:r>
              <a:rPr lang="en-US" altLang="zh-CN" i="1" dirty="0" err="1" smtClean="0">
                <a:solidFill>
                  <a:srgbClr val="000000"/>
                </a:solidFill>
                <a:latin typeface="Times New Roman" panose="02020603050405020304" pitchFamily="18" charset="0"/>
                <a:cs typeface="Times New Roman" panose="02020603050405020304" pitchFamily="18" charset="0"/>
              </a:rPr>
              <a:t>x</a:t>
            </a:r>
            <a:r>
              <a:rPr lang="en-US" altLang="zh-CN" sz="1050" dirty="0" err="1" smtClean="0">
                <a:solidFill>
                  <a:srgbClr val="000000"/>
                </a:solidFill>
                <a:latin typeface="Times New Roman" panose="02020603050405020304" pitchFamily="18" charset="0"/>
                <a:cs typeface="Times New Roman" panose="02020603050405020304" pitchFamily="18" charset="0"/>
              </a:rPr>
              <a:t>n</a:t>
            </a:r>
            <a:r>
              <a:rPr lang="en-US" altLang="zh-CN" dirty="0" smtClean="0"/>
              <a:t>}</a:t>
            </a:r>
            <a:r>
              <a:rPr lang="zh-CN" altLang="en-US" dirty="0"/>
              <a:t>按照从小到大</a:t>
            </a:r>
            <a:r>
              <a:rPr lang="zh-CN" altLang="en-US" dirty="0" smtClean="0"/>
              <a:t>排序</a:t>
            </a:r>
            <a:r>
              <a:rPr lang="en-US" altLang="zh-CN" dirty="0">
                <a:solidFill>
                  <a:srgbClr val="000000"/>
                </a:solidFill>
              </a:rPr>
              <a:t>{</a:t>
            </a:r>
            <a:r>
              <a:rPr lang="en-US" altLang="zh-CN" i="1" dirty="0" smtClean="0">
                <a:solidFill>
                  <a:srgbClr val="000000"/>
                </a:solidFill>
                <a:latin typeface="Times New Roman" panose="02020603050405020304" pitchFamily="18" charset="0"/>
                <a:cs typeface="Times New Roman" panose="02020603050405020304" pitchFamily="18" charset="0"/>
              </a:rPr>
              <a:t>x</a:t>
            </a:r>
            <a:r>
              <a:rPr lang="en-US" altLang="zh-CN" sz="1050" dirty="0" smtClean="0">
                <a:solidFill>
                  <a:srgbClr val="000000"/>
                </a:solidFill>
                <a:latin typeface="Times New Roman" panose="02020603050405020304" pitchFamily="18" charset="0"/>
                <a:cs typeface="Times New Roman" panose="02020603050405020304" pitchFamily="18" charset="0"/>
              </a:rPr>
              <a:t>(1)</a:t>
            </a:r>
            <a:r>
              <a:rPr lang="zh-CN" altLang="en-US" sz="1050" dirty="0" smtClean="0">
                <a:solidFill>
                  <a:srgbClr val="000000"/>
                </a:solidFill>
                <a:latin typeface="Times New Roman" panose="02020603050405020304" pitchFamily="18" charset="0"/>
                <a:cs typeface="Times New Roman" panose="02020603050405020304" pitchFamily="18" charset="0"/>
              </a:rPr>
              <a:t>，</a:t>
            </a:r>
            <a:r>
              <a:rPr lang="en-US" altLang="zh-CN" i="1" dirty="0" smtClean="0">
                <a:solidFill>
                  <a:srgbClr val="000000"/>
                </a:solidFill>
                <a:latin typeface="Times New Roman" panose="02020603050405020304" pitchFamily="18" charset="0"/>
                <a:cs typeface="Times New Roman" panose="02020603050405020304" pitchFamily="18" charset="0"/>
              </a:rPr>
              <a:t> x</a:t>
            </a:r>
            <a:r>
              <a:rPr lang="en-US" altLang="zh-CN" sz="1050" dirty="0" smtClean="0">
                <a:solidFill>
                  <a:srgbClr val="000000"/>
                </a:solidFill>
                <a:latin typeface="Times New Roman" panose="02020603050405020304" pitchFamily="18" charset="0"/>
                <a:cs typeface="Times New Roman" panose="02020603050405020304" pitchFamily="18" charset="0"/>
              </a:rPr>
              <a:t>(2</a:t>
            </a:r>
            <a:r>
              <a:rPr lang="en-US" altLang="zh-CN" sz="1050" dirty="0">
                <a:solidFill>
                  <a:srgbClr val="000000"/>
                </a:solidFill>
                <a:latin typeface="Times New Roman" panose="02020603050405020304" pitchFamily="18" charset="0"/>
                <a:cs typeface="Times New Roman" panose="02020603050405020304" pitchFamily="18" charset="0"/>
              </a:rPr>
              <a:t>)</a:t>
            </a:r>
            <a:r>
              <a:rPr lang="en-US" altLang="zh-CN" sz="1050" dirty="0" smtClean="0">
                <a:solidFill>
                  <a:srgbClr val="000000"/>
                </a:solidFill>
                <a:latin typeface="Times New Roman" panose="02020603050405020304" pitchFamily="18" charset="0"/>
                <a:cs typeface="Times New Roman" panose="02020603050405020304" pitchFamily="18" charset="0"/>
              </a:rPr>
              <a:t> </a:t>
            </a:r>
            <a:r>
              <a:rPr lang="zh-CN" altLang="en-US" sz="1050" dirty="0">
                <a:solidFill>
                  <a:srgbClr val="000000"/>
                </a:solidFill>
                <a:latin typeface="Times New Roman" panose="02020603050405020304" pitchFamily="18" charset="0"/>
                <a:cs typeface="Times New Roman" panose="02020603050405020304" pitchFamily="18" charset="0"/>
              </a:rPr>
              <a:t>，</a:t>
            </a:r>
            <a:r>
              <a:rPr lang="en-US" altLang="zh-CN" sz="1050" dirty="0">
                <a:solidFill>
                  <a:srgbClr val="000000"/>
                </a:solidFill>
                <a:latin typeface="Times New Roman" panose="02020603050405020304" pitchFamily="18" charset="0"/>
                <a:cs typeface="Times New Roman" panose="02020603050405020304" pitchFamily="18" charset="0"/>
              </a:rPr>
              <a:t>…,</a:t>
            </a:r>
            <a:r>
              <a:rPr lang="en-US" altLang="zh-CN" i="1" dirty="0">
                <a:solidFill>
                  <a:srgbClr val="000000"/>
                </a:solidFill>
                <a:latin typeface="Times New Roman" panose="02020603050405020304" pitchFamily="18" charset="0"/>
                <a:cs typeface="Times New Roman" panose="02020603050405020304" pitchFamily="18" charset="0"/>
              </a:rPr>
              <a:t> </a:t>
            </a:r>
            <a:r>
              <a:rPr lang="en-US" altLang="zh-CN" i="1" dirty="0" smtClean="0">
                <a:solidFill>
                  <a:srgbClr val="000000"/>
                </a:solidFill>
                <a:latin typeface="Times New Roman" panose="02020603050405020304" pitchFamily="18" charset="0"/>
                <a:cs typeface="Times New Roman" panose="02020603050405020304" pitchFamily="18" charset="0"/>
              </a:rPr>
              <a:t>x</a:t>
            </a:r>
            <a:r>
              <a:rPr lang="en-US" altLang="zh-CN" sz="1050" dirty="0" smtClean="0">
                <a:solidFill>
                  <a:srgbClr val="000000"/>
                </a:solidFill>
                <a:latin typeface="Times New Roman" panose="02020603050405020304" pitchFamily="18" charset="0"/>
                <a:cs typeface="Times New Roman" panose="02020603050405020304" pitchFamily="18" charset="0"/>
              </a:rPr>
              <a:t>(n)</a:t>
            </a:r>
            <a:r>
              <a:rPr lang="en-US" altLang="zh-CN" dirty="0" smtClean="0">
                <a:solidFill>
                  <a:srgbClr val="000000"/>
                </a:solidFill>
              </a:rPr>
              <a:t>}</a:t>
            </a:r>
            <a:r>
              <a:rPr lang="zh-CN" altLang="en-US" dirty="0" smtClean="0"/>
              <a:t>，中位数取值</a:t>
            </a:r>
            <a:r>
              <a:rPr lang="zh-CN" altLang="en-US" dirty="0"/>
              <a:t>为</a:t>
            </a:r>
            <a:r>
              <a:rPr lang="zh-CN" altLang="en-US" dirty="0" smtClean="0"/>
              <a:t>：</a:t>
            </a:r>
            <a:endParaRPr lang="en-US" altLang="zh-CN" dirty="0" smtClean="0"/>
          </a:p>
          <a:p>
            <a:pPr>
              <a:spcBef>
                <a:spcPts val="600"/>
              </a:spcBef>
            </a:pPr>
            <a:endParaRPr lang="en-US" altLang="zh-CN" dirty="0"/>
          </a:p>
          <a:p>
            <a:pPr>
              <a:spcBef>
                <a:spcPts val="600"/>
              </a:spcBef>
            </a:pPr>
            <a:endParaRPr lang="en-US" altLang="zh-CN" dirty="0" smtClean="0"/>
          </a:p>
          <a:p>
            <a:pPr>
              <a:spcBef>
                <a:spcPts val="600"/>
              </a:spcBef>
            </a:pPr>
            <a:endParaRPr lang="en-US" altLang="zh-CN" dirty="0" smtClean="0"/>
          </a:p>
          <a:p>
            <a:pPr>
              <a:spcBef>
                <a:spcPts val="600"/>
              </a:spcBef>
            </a:pPr>
            <a:endParaRPr lang="en-US" altLang="zh-CN" dirty="0" smtClean="0"/>
          </a:p>
          <a:p>
            <a:pPr>
              <a:spcBef>
                <a:spcPts val="600"/>
              </a:spcBef>
            </a:pPr>
            <a:r>
              <a:rPr lang="zh-CN" altLang="en-US" b="1" dirty="0">
                <a:solidFill>
                  <a:srgbClr val="FF0000"/>
                </a:solidFill>
              </a:rPr>
              <a:t>（</a:t>
            </a:r>
            <a:r>
              <a:rPr lang="en-US" altLang="zh-CN" b="1" dirty="0">
                <a:solidFill>
                  <a:srgbClr val="FF0000"/>
                </a:solidFill>
              </a:rPr>
              <a:t>3</a:t>
            </a:r>
            <a:r>
              <a:rPr lang="zh-CN" altLang="en-US" b="1" dirty="0">
                <a:solidFill>
                  <a:srgbClr val="FF0000"/>
                </a:solidFill>
              </a:rPr>
              <a:t>）众数。</a:t>
            </a:r>
            <a:r>
              <a:rPr lang="zh-CN" altLang="en-US" dirty="0"/>
              <a:t>众数是指数据集中出现最频繁的值。众数经常用来度量定性变量的中心位置，更适合</a:t>
            </a:r>
            <a:r>
              <a:rPr lang="zh-CN" altLang="en-US" dirty="0" smtClean="0"/>
              <a:t>用于定性</a:t>
            </a:r>
            <a:r>
              <a:rPr lang="zh-CN" altLang="en-US" dirty="0"/>
              <a:t>变量。此外，众数不具有唯一性，且众数一般用于离散型变量而非连续型变量</a:t>
            </a:r>
            <a:r>
              <a:rPr lang="zh-CN" altLang="en-US" dirty="0" smtClean="0"/>
              <a:t>。</a:t>
            </a:r>
            <a:endParaRPr lang="en-US" altLang="zh-CN" dirty="0" smtClean="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3164411" y="3363517"/>
            <a:ext cx="3353752" cy="1162380"/>
          </a:xfrm>
          <a:prstGeom prst="rect">
            <a:avLst/>
          </a:prstGeom>
        </p:spPr>
      </p:pic>
    </p:spTree>
    <p:extLst>
      <p:ext uri="{BB962C8B-B14F-4D97-AF65-F5344CB8AC3E}">
        <p14:creationId xmlns:p14="http://schemas.microsoft.com/office/powerpoint/2010/main" val="7000037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37</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统计量</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754874"/>
          </a:xfrm>
          <a:prstGeom prst="rect">
            <a:avLst/>
          </a:prstGeom>
          <a:solidFill>
            <a:schemeClr val="bg1"/>
          </a:solidFill>
        </p:spPr>
        <p:txBody>
          <a:bodyPr wrap="square" rtlCol="0">
            <a:spAutoFit/>
          </a:bodyPr>
          <a:lstStyle/>
          <a:p>
            <a:pPr>
              <a:spcBef>
                <a:spcPts val="600"/>
              </a:spcBef>
            </a:pPr>
            <a:r>
              <a:rPr lang="en-US" altLang="zh-CN" b="1"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2</a:t>
            </a:r>
            <a:r>
              <a:rPr lang="en-US" altLang="zh-CN"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 </a:t>
            </a:r>
            <a:r>
              <a:rPr lang="zh-CN" altLang="en-US"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离中趋势度量</a:t>
            </a:r>
          </a:p>
          <a:p>
            <a:pPr>
              <a:spcBef>
                <a:spcPts val="600"/>
              </a:spcBef>
            </a:pPr>
            <a:r>
              <a:rPr lang="zh-CN" altLang="en-US" b="1" dirty="0">
                <a:solidFill>
                  <a:srgbClr val="FF0000"/>
                </a:solidFill>
              </a:rPr>
              <a:t>（</a:t>
            </a:r>
            <a:r>
              <a:rPr lang="en-US" altLang="zh-CN" b="1" dirty="0">
                <a:solidFill>
                  <a:srgbClr val="FF0000"/>
                </a:solidFill>
              </a:rPr>
              <a:t>1</a:t>
            </a:r>
            <a:r>
              <a:rPr lang="zh-CN" altLang="en-US" b="1" dirty="0">
                <a:solidFill>
                  <a:srgbClr val="FF0000"/>
                </a:solidFill>
              </a:rPr>
              <a:t>）极差。</a:t>
            </a:r>
            <a:r>
              <a:rPr lang="zh-CN" altLang="en-US" dirty="0"/>
              <a:t>极差是样本最大值和最小值的差值，其对数据集的极端值非常敏感，并且忽略了位于最大</a:t>
            </a:r>
            <a:r>
              <a:rPr lang="zh-CN" altLang="en-US" dirty="0" smtClean="0"/>
              <a:t>值与</a:t>
            </a:r>
            <a:r>
              <a:rPr lang="zh-CN" altLang="en-US" dirty="0"/>
              <a:t>最小值之间的数据的分布情况。</a:t>
            </a:r>
          </a:p>
          <a:p>
            <a:pPr>
              <a:spcBef>
                <a:spcPts val="600"/>
              </a:spcBef>
            </a:pPr>
            <a:r>
              <a:rPr lang="zh-CN" altLang="en-US" b="1" dirty="0">
                <a:solidFill>
                  <a:srgbClr val="FF0000"/>
                </a:solidFill>
              </a:rPr>
              <a:t>（</a:t>
            </a:r>
            <a:r>
              <a:rPr lang="en-US" altLang="zh-CN" b="1" dirty="0">
                <a:solidFill>
                  <a:srgbClr val="FF0000"/>
                </a:solidFill>
              </a:rPr>
              <a:t>2</a:t>
            </a:r>
            <a:r>
              <a:rPr lang="zh-CN" altLang="en-US" b="1" dirty="0">
                <a:solidFill>
                  <a:srgbClr val="FF0000"/>
                </a:solidFill>
              </a:rPr>
              <a:t>）标准差</a:t>
            </a:r>
            <a:r>
              <a:rPr lang="zh-CN" altLang="en-US" dirty="0"/>
              <a:t>。标准差可以度量数据偏离均值的程度，假设包含</a:t>
            </a:r>
            <a:r>
              <a:rPr lang="en-US" altLang="zh-CN" dirty="0"/>
              <a:t>n </a:t>
            </a:r>
            <a:r>
              <a:rPr lang="zh-CN" altLang="en-US" dirty="0"/>
              <a:t>个数据的数据</a:t>
            </a:r>
            <a:r>
              <a:rPr lang="zh-CN" altLang="en-US" dirty="0" smtClean="0"/>
              <a:t>集</a:t>
            </a:r>
            <a:r>
              <a:rPr lang="en-US" altLang="zh-CN" dirty="0">
                <a:solidFill>
                  <a:srgbClr val="000000"/>
                </a:solidFill>
              </a:rPr>
              <a:t>{</a:t>
            </a:r>
            <a:r>
              <a:rPr lang="en-US" altLang="zh-CN" i="1" dirty="0">
                <a:solidFill>
                  <a:srgbClr val="000000"/>
                </a:solidFill>
                <a:latin typeface="Times New Roman" panose="02020603050405020304" pitchFamily="18" charset="0"/>
                <a:cs typeface="Times New Roman" panose="02020603050405020304" pitchFamily="18" charset="0"/>
              </a:rPr>
              <a:t>x</a:t>
            </a:r>
            <a:r>
              <a:rPr lang="en-US" altLang="zh-CN" sz="1050" dirty="0">
                <a:solidFill>
                  <a:srgbClr val="000000"/>
                </a:solidFill>
                <a:latin typeface="Times New Roman" panose="02020603050405020304" pitchFamily="18" charset="0"/>
                <a:cs typeface="Times New Roman" panose="02020603050405020304" pitchFamily="18" charset="0"/>
              </a:rPr>
              <a:t>1 </a:t>
            </a:r>
            <a:r>
              <a:rPr lang="zh-CN" altLang="en-US" sz="1050" dirty="0">
                <a:solidFill>
                  <a:srgbClr val="000000"/>
                </a:solidFill>
                <a:latin typeface="Times New Roman" panose="02020603050405020304" pitchFamily="18" charset="0"/>
                <a:cs typeface="Times New Roman" panose="02020603050405020304" pitchFamily="18" charset="0"/>
              </a:rPr>
              <a:t>，</a:t>
            </a:r>
            <a:r>
              <a:rPr lang="en-US" altLang="zh-CN" i="1" dirty="0">
                <a:solidFill>
                  <a:srgbClr val="000000"/>
                </a:solidFill>
                <a:latin typeface="Times New Roman" panose="02020603050405020304" pitchFamily="18" charset="0"/>
                <a:cs typeface="Times New Roman" panose="02020603050405020304" pitchFamily="18" charset="0"/>
              </a:rPr>
              <a:t> x</a:t>
            </a:r>
            <a:r>
              <a:rPr lang="en-US" altLang="zh-CN" sz="1050" dirty="0">
                <a:solidFill>
                  <a:srgbClr val="000000"/>
                </a:solidFill>
                <a:latin typeface="Times New Roman" panose="02020603050405020304" pitchFamily="18" charset="0"/>
                <a:cs typeface="Times New Roman" panose="02020603050405020304" pitchFamily="18" charset="0"/>
              </a:rPr>
              <a:t>2 </a:t>
            </a:r>
            <a:r>
              <a:rPr lang="zh-CN" altLang="en-US" sz="1050" dirty="0">
                <a:solidFill>
                  <a:srgbClr val="000000"/>
                </a:solidFill>
                <a:latin typeface="Times New Roman" panose="02020603050405020304" pitchFamily="18" charset="0"/>
                <a:cs typeface="Times New Roman" panose="02020603050405020304" pitchFamily="18" charset="0"/>
              </a:rPr>
              <a:t>，</a:t>
            </a:r>
            <a:r>
              <a:rPr lang="en-US" altLang="zh-CN" sz="1050" dirty="0">
                <a:solidFill>
                  <a:srgbClr val="000000"/>
                </a:solidFill>
                <a:latin typeface="Times New Roman" panose="02020603050405020304" pitchFamily="18" charset="0"/>
                <a:cs typeface="Times New Roman" panose="02020603050405020304" pitchFamily="18" charset="0"/>
              </a:rPr>
              <a:t>…,</a:t>
            </a:r>
            <a:r>
              <a:rPr lang="en-US" altLang="zh-CN" i="1" dirty="0">
                <a:solidFill>
                  <a:srgbClr val="000000"/>
                </a:solidFill>
                <a:latin typeface="Times New Roman" panose="02020603050405020304" pitchFamily="18" charset="0"/>
                <a:cs typeface="Times New Roman" panose="02020603050405020304" pitchFamily="18" charset="0"/>
              </a:rPr>
              <a:t> </a:t>
            </a:r>
            <a:r>
              <a:rPr lang="en-US" altLang="zh-CN" i="1" dirty="0" err="1">
                <a:solidFill>
                  <a:srgbClr val="000000"/>
                </a:solidFill>
                <a:latin typeface="Times New Roman" panose="02020603050405020304" pitchFamily="18" charset="0"/>
                <a:cs typeface="Times New Roman" panose="02020603050405020304" pitchFamily="18" charset="0"/>
              </a:rPr>
              <a:t>x</a:t>
            </a:r>
            <a:r>
              <a:rPr lang="en-US" altLang="zh-CN" sz="1050" dirty="0" err="1">
                <a:solidFill>
                  <a:srgbClr val="000000"/>
                </a:solidFill>
                <a:latin typeface="Times New Roman" panose="02020603050405020304" pitchFamily="18" charset="0"/>
                <a:cs typeface="Times New Roman" panose="02020603050405020304" pitchFamily="18" charset="0"/>
              </a:rPr>
              <a:t>n</a:t>
            </a:r>
            <a:r>
              <a:rPr lang="en-US" altLang="zh-CN" dirty="0" smtClean="0">
                <a:solidFill>
                  <a:srgbClr val="000000"/>
                </a:solidFill>
              </a:rPr>
              <a:t>}</a:t>
            </a:r>
            <a:r>
              <a:rPr lang="zh-CN" altLang="en-US" dirty="0" smtClean="0"/>
              <a:t>，</a:t>
            </a:r>
            <a:r>
              <a:rPr lang="zh-CN" altLang="en-US" dirty="0"/>
              <a:t>其</a:t>
            </a:r>
            <a:r>
              <a:rPr lang="zh-CN" altLang="en-US" dirty="0" smtClean="0"/>
              <a:t>标准差计算</a:t>
            </a:r>
            <a:r>
              <a:rPr lang="zh-CN" altLang="en-US" dirty="0"/>
              <a:t>公式为</a:t>
            </a:r>
            <a:r>
              <a:rPr lang="zh-CN" altLang="en-US" dirty="0" smtClean="0"/>
              <a:t>：</a:t>
            </a:r>
            <a:endParaRPr lang="en-US" altLang="zh-CN" dirty="0" smtClean="0"/>
          </a:p>
          <a:p>
            <a:pPr>
              <a:spcBef>
                <a:spcPts val="600"/>
              </a:spcBef>
            </a:pPr>
            <a:endParaRPr lang="en-US" altLang="zh-CN" dirty="0"/>
          </a:p>
          <a:p>
            <a:pPr>
              <a:spcBef>
                <a:spcPts val="600"/>
              </a:spcBef>
            </a:pPr>
            <a:endParaRPr lang="en-US" altLang="zh-CN" dirty="0" smtClean="0"/>
          </a:p>
          <a:p>
            <a:pPr>
              <a:spcBef>
                <a:spcPts val="600"/>
              </a:spcBef>
            </a:pPr>
            <a:endParaRPr lang="en-US" altLang="zh-CN" dirty="0"/>
          </a:p>
          <a:p>
            <a:pPr>
              <a:spcBef>
                <a:spcPts val="600"/>
              </a:spcBef>
            </a:pPr>
            <a:r>
              <a:rPr lang="zh-CN" altLang="en-US" dirty="0"/>
              <a:t>其中，</a:t>
            </a:r>
            <a:r>
              <a:rPr lang="en-US" altLang="zh-CN" dirty="0">
                <a:latin typeface="Times New Roman" panose="02020603050405020304" pitchFamily="18" charset="0"/>
                <a:cs typeface="Times New Roman" panose="02020603050405020304" pitchFamily="18" charset="0"/>
              </a:rPr>
              <a:t>x</a:t>
            </a:r>
            <a:r>
              <a:rPr lang="en-US" altLang="zh-CN" sz="1050"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代表数据集中的第</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个数据值，</a:t>
            </a:r>
            <a:r>
              <a:rPr lang="en-US" altLang="zh-CN" dirty="0">
                <a:latin typeface="Times New Roman" panose="02020603050405020304" pitchFamily="18" charset="0"/>
                <a:cs typeface="Times New Roman" panose="02020603050405020304" pitchFamily="18" charset="0"/>
              </a:rPr>
              <a:t>xˉ </a:t>
            </a:r>
            <a:r>
              <a:rPr lang="zh-CN" altLang="en-US" dirty="0">
                <a:latin typeface="Times New Roman" panose="02020603050405020304" pitchFamily="18" charset="0"/>
                <a:cs typeface="Times New Roman" panose="02020603050405020304" pitchFamily="18" charset="0"/>
              </a:rPr>
              <a:t>代表平均值</a:t>
            </a:r>
            <a:r>
              <a:rPr lang="zh-CN" altLang="en-US" dirty="0"/>
              <a:t>。</a:t>
            </a:r>
          </a:p>
          <a:p>
            <a:pPr>
              <a:spcBef>
                <a:spcPts val="600"/>
              </a:spcBef>
            </a:pPr>
            <a:r>
              <a:rPr lang="zh-CN" altLang="en-US" b="1" dirty="0">
                <a:solidFill>
                  <a:srgbClr val="FF0000"/>
                </a:solidFill>
              </a:rPr>
              <a:t>（</a:t>
            </a:r>
            <a:r>
              <a:rPr lang="en-US" altLang="zh-CN" b="1" dirty="0">
                <a:solidFill>
                  <a:srgbClr val="FF0000"/>
                </a:solidFill>
              </a:rPr>
              <a:t>3</a:t>
            </a:r>
            <a:r>
              <a:rPr lang="zh-CN" altLang="en-US" b="1" dirty="0">
                <a:solidFill>
                  <a:srgbClr val="FF0000"/>
                </a:solidFill>
              </a:rPr>
              <a:t>）变异系数</a:t>
            </a:r>
            <a:r>
              <a:rPr lang="zh-CN" altLang="en-US" dirty="0"/>
              <a:t>。变异系数可以度量标准差相对于均值的离中趋势，计算公式为</a:t>
            </a:r>
            <a:r>
              <a:rPr lang="zh-CN" altLang="en-US" dirty="0" smtClean="0"/>
              <a:t>：</a:t>
            </a:r>
            <a:endParaRPr lang="en-US" altLang="zh-CN" dirty="0" smtClean="0"/>
          </a:p>
          <a:p>
            <a:pPr>
              <a:spcBef>
                <a:spcPts val="600"/>
              </a:spcBef>
            </a:pPr>
            <a:endParaRPr lang="en-US" altLang="zh-CN" dirty="0" smtClean="0"/>
          </a:p>
        </p:txBody>
      </p:sp>
      <p:pic>
        <p:nvPicPr>
          <p:cNvPr id="2" name="图片 1"/>
          <p:cNvPicPr>
            <a:picLocks noChangeAspect="1"/>
          </p:cNvPicPr>
          <p:nvPr/>
        </p:nvPicPr>
        <p:blipFill>
          <a:blip r:embed="rId3"/>
          <a:stretch>
            <a:fillRect/>
          </a:stretch>
        </p:blipFill>
        <p:spPr>
          <a:xfrm>
            <a:off x="3340771" y="3651162"/>
            <a:ext cx="2234840" cy="918616"/>
          </a:xfrm>
          <a:prstGeom prst="rect">
            <a:avLst/>
          </a:prstGeom>
        </p:spPr>
      </p:pic>
      <p:pic>
        <p:nvPicPr>
          <p:cNvPr id="3" name="图片 2"/>
          <p:cNvPicPr>
            <a:picLocks noChangeAspect="1"/>
          </p:cNvPicPr>
          <p:nvPr/>
        </p:nvPicPr>
        <p:blipFill>
          <a:blip r:embed="rId4"/>
          <a:stretch>
            <a:fillRect/>
          </a:stretch>
        </p:blipFill>
        <p:spPr>
          <a:xfrm>
            <a:off x="3580018" y="5426764"/>
            <a:ext cx="1800571" cy="575692"/>
          </a:xfrm>
          <a:prstGeom prst="rect">
            <a:avLst/>
          </a:prstGeom>
        </p:spPr>
      </p:pic>
    </p:spTree>
    <p:extLst>
      <p:ext uri="{BB962C8B-B14F-4D97-AF65-F5344CB8AC3E}">
        <p14:creationId xmlns:p14="http://schemas.microsoft.com/office/powerpoint/2010/main" val="398140124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38</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统计量</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1985159"/>
          </a:xfrm>
          <a:prstGeom prst="rect">
            <a:avLst/>
          </a:prstGeom>
          <a:solidFill>
            <a:schemeClr val="bg1"/>
          </a:solidFill>
        </p:spPr>
        <p:txBody>
          <a:bodyPr wrap="square" rtlCol="0">
            <a:spAutoFit/>
          </a:bodyPr>
          <a:lstStyle/>
          <a:p>
            <a:pPr>
              <a:spcBef>
                <a:spcPts val="600"/>
              </a:spcBef>
            </a:pP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离中趋势度量</a:t>
            </a:r>
          </a:p>
          <a:p>
            <a:pPr>
              <a:spcBef>
                <a:spcPts val="600"/>
              </a:spcBef>
            </a:pPr>
            <a:r>
              <a:rPr lang="zh-CN" altLang="en-US" b="1" dirty="0">
                <a:solidFill>
                  <a:srgbClr val="FF0000"/>
                </a:solidFill>
              </a:rPr>
              <a:t>（</a:t>
            </a:r>
            <a:r>
              <a:rPr lang="en-US" altLang="zh-CN" b="1" dirty="0">
                <a:solidFill>
                  <a:srgbClr val="FF0000"/>
                </a:solidFill>
              </a:rPr>
              <a:t>4</a:t>
            </a:r>
            <a:r>
              <a:rPr lang="zh-CN" altLang="en-US" b="1" dirty="0">
                <a:solidFill>
                  <a:srgbClr val="FF0000"/>
                </a:solidFill>
              </a:rPr>
              <a:t>）四分位数间距</a:t>
            </a:r>
            <a:r>
              <a:rPr lang="zh-CN" altLang="en-US" dirty="0"/>
              <a:t>。四分位数包括上四分位数和下四分位数</a:t>
            </a:r>
            <a:r>
              <a:rPr lang="zh-CN" altLang="en-US" dirty="0" smtClean="0"/>
              <a:t>。</a:t>
            </a:r>
            <a:endParaRPr lang="en-US" altLang="zh-CN" dirty="0" smtClean="0"/>
          </a:p>
          <a:p>
            <a:pPr>
              <a:spcBef>
                <a:spcPts val="600"/>
              </a:spcBef>
            </a:pPr>
            <a:r>
              <a:rPr lang="zh-CN" altLang="en-US" dirty="0" smtClean="0"/>
              <a:t>四</a:t>
            </a:r>
            <a:r>
              <a:rPr lang="zh-CN" altLang="en-US" dirty="0"/>
              <a:t>分位数间距，是上四分位数</a:t>
            </a:r>
            <a:r>
              <a:rPr lang="en-US" altLang="zh-CN" dirty="0"/>
              <a:t>QU </a:t>
            </a:r>
            <a:r>
              <a:rPr lang="zh-CN" altLang="en-US" dirty="0"/>
              <a:t>与下四分位数</a:t>
            </a:r>
            <a:r>
              <a:rPr lang="en-US" altLang="zh-CN" dirty="0"/>
              <a:t>QL </a:t>
            </a:r>
            <a:r>
              <a:rPr lang="zh-CN" altLang="en-US" dirty="0"/>
              <a:t>之差，其间包括了全部观察值的一半</a:t>
            </a:r>
            <a:r>
              <a:rPr lang="zh-CN" altLang="en-US" dirty="0" smtClean="0"/>
              <a:t>。其</a:t>
            </a:r>
            <a:r>
              <a:rPr lang="zh-CN" altLang="en-US" dirty="0"/>
              <a:t>值越大，说明数据的变异程度越大；反之，说明变异程度越小。</a:t>
            </a:r>
          </a:p>
          <a:p>
            <a:pPr>
              <a:spcBef>
                <a:spcPts val="600"/>
              </a:spcBef>
            </a:pPr>
            <a:r>
              <a:rPr lang="zh-CN" altLang="en-US" dirty="0"/>
              <a:t>根据</a:t>
            </a:r>
            <a:r>
              <a:rPr lang="en-US" altLang="zh-CN" dirty="0"/>
              <a:t>DATASET-B</a:t>
            </a:r>
            <a:r>
              <a:rPr lang="zh-CN" altLang="en-US" dirty="0"/>
              <a:t>中的车速数据，可以计算</a:t>
            </a:r>
            <a:r>
              <a:rPr lang="en-US" altLang="zh-CN" dirty="0"/>
              <a:t>2016</a:t>
            </a:r>
            <a:r>
              <a:rPr lang="zh-CN" altLang="en-US" dirty="0"/>
              <a:t>年</a:t>
            </a:r>
            <a:r>
              <a:rPr lang="en-US" altLang="zh-CN" dirty="0"/>
              <a:t>11</a:t>
            </a:r>
            <a:r>
              <a:rPr lang="zh-CN" altLang="en-US" dirty="0"/>
              <a:t>月</a:t>
            </a:r>
            <a:r>
              <a:rPr lang="en-US" altLang="zh-CN" dirty="0"/>
              <a:t>1</a:t>
            </a:r>
            <a:r>
              <a:rPr lang="zh-CN" altLang="en-US" dirty="0"/>
              <a:t>日第一个</a:t>
            </a:r>
            <a:r>
              <a:rPr lang="en-US" altLang="zh-CN" dirty="0" err="1"/>
              <a:t>time_id</a:t>
            </a:r>
            <a:r>
              <a:rPr lang="zh-CN" altLang="en-US" dirty="0"/>
              <a:t>各个空间单元平均速度的</a:t>
            </a:r>
            <a:r>
              <a:rPr lang="zh-CN" altLang="en-US" dirty="0" smtClean="0"/>
              <a:t>统计</a:t>
            </a:r>
            <a:r>
              <a:rPr lang="zh-CN" altLang="en-US" dirty="0"/>
              <a:t>指标</a:t>
            </a:r>
            <a:r>
              <a:rPr lang="zh-CN" altLang="en-US" dirty="0" smtClean="0"/>
              <a:t>。</a:t>
            </a:r>
            <a:endParaRPr lang="en-US" altLang="zh-CN" dirty="0" smtClean="0"/>
          </a:p>
        </p:txBody>
      </p:sp>
      <p:pic>
        <p:nvPicPr>
          <p:cNvPr id="8" name="图片 7"/>
          <p:cNvPicPr>
            <a:picLocks noChangeAspect="1"/>
          </p:cNvPicPr>
          <p:nvPr/>
        </p:nvPicPr>
        <p:blipFill>
          <a:blip r:embed="rId3"/>
          <a:stretch>
            <a:fillRect/>
          </a:stretch>
        </p:blipFill>
        <p:spPr>
          <a:xfrm>
            <a:off x="493568" y="3944895"/>
            <a:ext cx="8186347" cy="2455905"/>
          </a:xfrm>
          <a:prstGeom prst="rect">
            <a:avLst/>
          </a:prstGeom>
        </p:spPr>
      </p:pic>
    </p:spTree>
    <p:extLst>
      <p:ext uri="{BB962C8B-B14F-4D97-AF65-F5344CB8AC3E}">
        <p14:creationId xmlns:p14="http://schemas.microsoft.com/office/powerpoint/2010/main" val="244662168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39</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统计量</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723275"/>
          </a:xfrm>
          <a:prstGeom prst="rect">
            <a:avLst/>
          </a:prstGeom>
          <a:solidFill>
            <a:schemeClr val="bg1"/>
          </a:solidFill>
        </p:spPr>
        <p:txBody>
          <a:bodyPr wrap="square" rtlCol="0">
            <a:spAutoFit/>
          </a:bodyPr>
          <a:lstStyle/>
          <a:p>
            <a:pPr>
              <a:spcBef>
                <a:spcPts val="600"/>
              </a:spcBef>
            </a:pPr>
            <a:r>
              <a:rPr lang="en-US" altLang="zh-CN" b="1" dirty="0" smtClean="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离中趋势度量</a:t>
            </a:r>
          </a:p>
          <a:p>
            <a:pPr>
              <a:spcBef>
                <a:spcPts val="600"/>
              </a:spcBef>
            </a:pPr>
            <a:r>
              <a:rPr lang="zh-CN" altLang="en-US" dirty="0"/>
              <a:t>（</a:t>
            </a:r>
            <a:r>
              <a:rPr lang="en-US" altLang="zh-CN" dirty="0"/>
              <a:t>4</a:t>
            </a:r>
            <a:r>
              <a:rPr lang="zh-CN" altLang="en-US" dirty="0"/>
              <a:t>）四分位数间距。车速统计分析结果如</a:t>
            </a:r>
            <a:r>
              <a:rPr lang="zh-CN" altLang="en-US" dirty="0" smtClean="0"/>
              <a:t>表所</a:t>
            </a:r>
            <a:r>
              <a:rPr lang="zh-CN" altLang="en-US" dirty="0"/>
              <a:t>示</a:t>
            </a:r>
            <a:r>
              <a:rPr lang="zh-CN" altLang="en-US" dirty="0" smtClean="0"/>
              <a:t>。</a:t>
            </a:r>
            <a:endParaRPr lang="en-US" altLang="zh-CN" dirty="0" smtClean="0"/>
          </a:p>
        </p:txBody>
      </p:sp>
      <p:pic>
        <p:nvPicPr>
          <p:cNvPr id="2" name="图片 1"/>
          <p:cNvPicPr>
            <a:picLocks noChangeAspect="1"/>
          </p:cNvPicPr>
          <p:nvPr/>
        </p:nvPicPr>
        <p:blipFill>
          <a:blip r:embed="rId3"/>
          <a:stretch>
            <a:fillRect/>
          </a:stretch>
        </p:blipFill>
        <p:spPr>
          <a:xfrm>
            <a:off x="995053" y="2683010"/>
            <a:ext cx="7089576" cy="4094571"/>
          </a:xfrm>
          <a:prstGeom prst="rect">
            <a:avLst/>
          </a:prstGeom>
        </p:spPr>
      </p:pic>
    </p:spTree>
    <p:extLst>
      <p:ext uri="{BB962C8B-B14F-4D97-AF65-F5344CB8AC3E}">
        <p14:creationId xmlns:p14="http://schemas.microsoft.com/office/powerpoint/2010/main" val="21453531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40</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对比</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4231928"/>
          </a:xfrm>
          <a:prstGeom prst="rect">
            <a:avLst/>
          </a:prstGeom>
          <a:solidFill>
            <a:schemeClr val="bg1"/>
          </a:solidFill>
        </p:spPr>
        <p:txBody>
          <a:bodyPr wrap="square" rtlCol="0">
            <a:spAutoFit/>
          </a:bodyPr>
          <a:lstStyle/>
          <a:p>
            <a:pPr>
              <a:spcBef>
                <a:spcPts val="600"/>
              </a:spcBef>
            </a:pPr>
            <a:r>
              <a:rPr lang="zh-CN" altLang="en-US" dirty="0" smtClean="0"/>
              <a:t>对比</a:t>
            </a:r>
            <a:r>
              <a:rPr lang="zh-CN" altLang="en-US" dirty="0"/>
              <a:t>分析主要有以下两种</a:t>
            </a:r>
            <a:r>
              <a:rPr lang="zh-CN" altLang="en-US" dirty="0" smtClean="0"/>
              <a:t>形式：</a:t>
            </a:r>
            <a:endParaRPr lang="en-US" altLang="zh-CN" dirty="0" smtClean="0"/>
          </a:p>
          <a:p>
            <a:pPr>
              <a:spcBef>
                <a:spcPts val="600"/>
              </a:spcBef>
            </a:pPr>
            <a:r>
              <a:rPr lang="en-US" altLang="zh-CN" b="1" dirty="0">
                <a:solidFill>
                  <a:srgbClr val="FF0000"/>
                </a:solidFill>
                <a:latin typeface="Times New Roman" panose="02020603050405020304" pitchFamily="18" charset="0"/>
                <a:cs typeface="Times New Roman" panose="02020603050405020304" pitchFamily="18" charset="0"/>
              </a:rPr>
              <a:t>1. </a:t>
            </a:r>
            <a:r>
              <a:rPr lang="zh-CN" altLang="en-US" b="1" dirty="0">
                <a:solidFill>
                  <a:srgbClr val="FF0000"/>
                </a:solidFill>
                <a:latin typeface="Times New Roman" panose="02020603050405020304" pitchFamily="18" charset="0"/>
                <a:cs typeface="Times New Roman" panose="02020603050405020304" pitchFamily="18" charset="0"/>
              </a:rPr>
              <a:t>绝对数比较</a:t>
            </a:r>
          </a:p>
          <a:p>
            <a:pPr>
              <a:spcBef>
                <a:spcPts val="600"/>
              </a:spcBef>
            </a:pPr>
            <a:r>
              <a:rPr lang="zh-CN" altLang="en-US" dirty="0"/>
              <a:t>绝对数比较是利用绝对数进行对比，从而寻找差异的一种方法。</a:t>
            </a:r>
          </a:p>
          <a:p>
            <a:pPr>
              <a:spcBef>
                <a:spcPts val="600"/>
              </a:spcBef>
            </a:pPr>
            <a:r>
              <a:rPr lang="en-US" altLang="zh-CN" b="1" dirty="0">
                <a:solidFill>
                  <a:srgbClr val="FF0000"/>
                </a:solidFill>
                <a:latin typeface="Times New Roman" panose="02020603050405020304" pitchFamily="18" charset="0"/>
                <a:cs typeface="Times New Roman" panose="02020603050405020304" pitchFamily="18" charset="0"/>
              </a:rPr>
              <a:t>2. </a:t>
            </a:r>
            <a:r>
              <a:rPr lang="zh-CN" altLang="en-US" b="1" dirty="0">
                <a:solidFill>
                  <a:srgbClr val="FF0000"/>
                </a:solidFill>
                <a:latin typeface="Times New Roman" panose="02020603050405020304" pitchFamily="18" charset="0"/>
                <a:cs typeface="Times New Roman" panose="02020603050405020304" pitchFamily="18" charset="0"/>
              </a:rPr>
              <a:t>相对数比较</a:t>
            </a:r>
          </a:p>
          <a:p>
            <a:pPr>
              <a:spcBef>
                <a:spcPts val="600"/>
              </a:spcBef>
            </a:pPr>
            <a:r>
              <a:rPr lang="zh-CN" altLang="en-US" dirty="0"/>
              <a:t>相对数比较是由两个有联系的指标对比计算的，用以反映客观现象之间数量联系程度的综合指标，</a:t>
            </a:r>
            <a:r>
              <a:rPr lang="zh-CN" altLang="en-US" dirty="0" smtClean="0"/>
              <a:t>其数值</a:t>
            </a:r>
            <a:r>
              <a:rPr lang="zh-CN" altLang="en-US" dirty="0"/>
              <a:t>表现为相对数。由于研究目的和对比基础不同，相对数可以分为以下几种：</a:t>
            </a:r>
          </a:p>
          <a:p>
            <a:pPr>
              <a:spcBef>
                <a:spcPts val="600"/>
              </a:spcBef>
            </a:pPr>
            <a:r>
              <a:rPr lang="zh-CN" altLang="en-US" dirty="0">
                <a:solidFill>
                  <a:srgbClr val="FF0000"/>
                </a:solidFill>
              </a:rPr>
              <a:t>（</a:t>
            </a:r>
            <a:r>
              <a:rPr lang="en-US" altLang="zh-CN" dirty="0">
                <a:solidFill>
                  <a:srgbClr val="FF0000"/>
                </a:solidFill>
              </a:rPr>
              <a:t>1</a:t>
            </a:r>
            <a:r>
              <a:rPr lang="zh-CN" altLang="en-US" dirty="0">
                <a:solidFill>
                  <a:srgbClr val="FF0000"/>
                </a:solidFill>
              </a:rPr>
              <a:t>）结构相对数</a:t>
            </a:r>
            <a:r>
              <a:rPr lang="zh-CN" altLang="en-US" dirty="0"/>
              <a:t>：将同一总体内的部分数值与全部数值对比求得比重，用以说明事物的性质、结构</a:t>
            </a:r>
            <a:r>
              <a:rPr lang="zh-CN" altLang="en-US" dirty="0" smtClean="0"/>
              <a:t>或质量</a:t>
            </a:r>
            <a:r>
              <a:rPr lang="zh-CN" altLang="en-US" dirty="0"/>
              <a:t>。</a:t>
            </a:r>
          </a:p>
          <a:p>
            <a:pPr>
              <a:spcBef>
                <a:spcPts val="600"/>
              </a:spcBef>
            </a:pPr>
            <a:r>
              <a:rPr lang="zh-CN" altLang="en-US" dirty="0">
                <a:solidFill>
                  <a:srgbClr val="FF0000"/>
                </a:solidFill>
              </a:rPr>
              <a:t>（</a:t>
            </a:r>
            <a:r>
              <a:rPr lang="en-US" altLang="zh-CN" dirty="0">
                <a:solidFill>
                  <a:srgbClr val="FF0000"/>
                </a:solidFill>
              </a:rPr>
              <a:t>2</a:t>
            </a:r>
            <a:r>
              <a:rPr lang="zh-CN" altLang="en-US" dirty="0">
                <a:solidFill>
                  <a:srgbClr val="FF0000"/>
                </a:solidFill>
              </a:rPr>
              <a:t>）比较相对数</a:t>
            </a:r>
            <a:r>
              <a:rPr lang="zh-CN" altLang="en-US" dirty="0"/>
              <a:t>：将同一时期两个性质相同的指标数值进行对比，说明同类现象在不同空间条件的</a:t>
            </a:r>
            <a:r>
              <a:rPr lang="zh-CN" altLang="en-US" dirty="0" smtClean="0"/>
              <a:t>数量对比</a:t>
            </a:r>
            <a:r>
              <a:rPr lang="zh-CN" altLang="en-US" dirty="0"/>
              <a:t>关系。如不同地区商品价格对比，不同行业、不同企业间某项指标对比等。</a:t>
            </a:r>
          </a:p>
          <a:p>
            <a:pPr>
              <a:spcBef>
                <a:spcPts val="600"/>
              </a:spcBef>
            </a:pPr>
            <a:endParaRPr lang="en-US" altLang="zh-CN" dirty="0" smtClean="0"/>
          </a:p>
        </p:txBody>
      </p:sp>
    </p:spTree>
    <p:extLst>
      <p:ext uri="{BB962C8B-B14F-4D97-AF65-F5344CB8AC3E}">
        <p14:creationId xmlns:p14="http://schemas.microsoft.com/office/powerpoint/2010/main" val="329155967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41</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smtClean="0">
                <a:solidFill>
                  <a:srgbClr val="4F81BD"/>
                </a:solidFill>
                <a:latin typeface="微软雅黑" panose="020B0503020204020204" pitchFamily="34" charset="-122"/>
                <a:ea typeface="微软雅黑" panose="020B0503020204020204" pitchFamily="34" charset="-122"/>
              </a:rPr>
              <a:t>对比分析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508653"/>
          </a:xfrm>
          <a:prstGeom prst="rect">
            <a:avLst/>
          </a:prstGeom>
          <a:solidFill>
            <a:schemeClr val="bg1"/>
          </a:solidFill>
        </p:spPr>
        <p:txBody>
          <a:bodyPr wrap="square" rtlCol="0">
            <a:spAutoFit/>
          </a:bodyPr>
          <a:lstStyle/>
          <a:p>
            <a:pPr>
              <a:spcBef>
                <a:spcPts val="600"/>
              </a:spcBef>
            </a:pPr>
            <a:endParaRPr lang="en-US" altLang="zh-CN" dirty="0" smtClean="0"/>
          </a:p>
          <a:p>
            <a:pPr>
              <a:lnSpc>
                <a:spcPct val="150000"/>
              </a:lnSpc>
              <a:spcBef>
                <a:spcPts val="600"/>
              </a:spcBef>
            </a:pPr>
            <a:r>
              <a:rPr lang="zh-CN" altLang="en-US" b="1" dirty="0" smtClean="0">
                <a:solidFill>
                  <a:srgbClr val="FF0000"/>
                </a:solidFill>
              </a:rPr>
              <a:t>（</a:t>
            </a:r>
            <a:r>
              <a:rPr lang="en-US" altLang="zh-CN" b="1" dirty="0">
                <a:solidFill>
                  <a:srgbClr val="FF0000"/>
                </a:solidFill>
              </a:rPr>
              <a:t>3</a:t>
            </a:r>
            <a:r>
              <a:rPr lang="zh-CN" altLang="en-US" b="1" dirty="0">
                <a:solidFill>
                  <a:srgbClr val="FF0000"/>
                </a:solidFill>
              </a:rPr>
              <a:t>）强度相对数</a:t>
            </a:r>
            <a:r>
              <a:rPr lang="zh-CN" altLang="en-US" dirty="0"/>
              <a:t>：将两个性质不同但有一定联系的总量指标进行对比，以说明现象的强度、密度等。</a:t>
            </a:r>
            <a:r>
              <a:rPr lang="zh-CN" altLang="en-US" dirty="0" smtClean="0"/>
              <a:t>如公交</a:t>
            </a:r>
            <a:r>
              <a:rPr lang="zh-CN" altLang="en-US" dirty="0"/>
              <a:t>线路密度用“</a:t>
            </a:r>
            <a:r>
              <a:rPr lang="en-US" altLang="zh-CN" dirty="0"/>
              <a:t>km/km2”</a:t>
            </a:r>
            <a:r>
              <a:rPr lang="zh-CN" altLang="en-US" dirty="0"/>
              <a:t>表示，公共自行车站点密度用“个</a:t>
            </a:r>
            <a:r>
              <a:rPr lang="en-US" altLang="zh-CN" dirty="0"/>
              <a:t>/km2”</a:t>
            </a:r>
            <a:r>
              <a:rPr lang="zh-CN" altLang="en-US" dirty="0"/>
              <a:t>来表示。</a:t>
            </a:r>
          </a:p>
          <a:p>
            <a:pPr>
              <a:lnSpc>
                <a:spcPct val="150000"/>
              </a:lnSpc>
              <a:spcBef>
                <a:spcPts val="600"/>
              </a:spcBef>
            </a:pPr>
            <a:r>
              <a:rPr lang="zh-CN" altLang="en-US" b="1" dirty="0">
                <a:solidFill>
                  <a:srgbClr val="FF0000"/>
                </a:solidFill>
              </a:rPr>
              <a:t>（</a:t>
            </a:r>
            <a:r>
              <a:rPr lang="en-US" altLang="zh-CN" b="1" dirty="0">
                <a:solidFill>
                  <a:srgbClr val="FF0000"/>
                </a:solidFill>
              </a:rPr>
              <a:t>4</a:t>
            </a:r>
            <a:r>
              <a:rPr lang="zh-CN" altLang="en-US" b="1" dirty="0">
                <a:solidFill>
                  <a:srgbClr val="FF0000"/>
                </a:solidFill>
              </a:rPr>
              <a:t>）计划完成程度相对数</a:t>
            </a:r>
            <a:r>
              <a:rPr lang="zh-CN" altLang="en-US" dirty="0"/>
              <a:t>：某一时期实际完成数与计划数的对比，用以说明计划完成程度。</a:t>
            </a:r>
          </a:p>
          <a:p>
            <a:pPr>
              <a:lnSpc>
                <a:spcPct val="150000"/>
              </a:lnSpc>
              <a:spcBef>
                <a:spcPts val="600"/>
              </a:spcBef>
            </a:pPr>
            <a:r>
              <a:rPr lang="zh-CN" altLang="en-US" dirty="0"/>
              <a:t>（</a:t>
            </a:r>
            <a:r>
              <a:rPr lang="en-US" altLang="zh-CN" b="1" dirty="0">
                <a:solidFill>
                  <a:srgbClr val="FF0000"/>
                </a:solidFill>
              </a:rPr>
              <a:t>5</a:t>
            </a:r>
            <a:r>
              <a:rPr lang="zh-CN" altLang="en-US" b="1" dirty="0">
                <a:solidFill>
                  <a:srgbClr val="FF0000"/>
                </a:solidFill>
              </a:rPr>
              <a:t>）动态相对数</a:t>
            </a:r>
            <a:r>
              <a:rPr lang="zh-CN" altLang="en-US" dirty="0"/>
              <a:t>：将同一现象在不同时期的指标数值进行对比，用以说明发展方向和变化的速度。如</a:t>
            </a:r>
            <a:r>
              <a:rPr lang="zh-CN" altLang="en-US" dirty="0" smtClean="0"/>
              <a:t>发展速度</a:t>
            </a:r>
            <a:r>
              <a:rPr lang="zh-CN" altLang="en-US" dirty="0"/>
              <a:t>、增长速度等。</a:t>
            </a:r>
            <a:endParaRPr lang="en-US" altLang="zh-CN" dirty="0" smtClean="0"/>
          </a:p>
        </p:txBody>
      </p:sp>
    </p:spTree>
    <p:extLst>
      <p:ext uri="{BB962C8B-B14F-4D97-AF65-F5344CB8AC3E}">
        <p14:creationId xmlns:p14="http://schemas.microsoft.com/office/powerpoint/2010/main" val="11920477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42</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周期性分析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923330"/>
          </a:xfrm>
          <a:prstGeom prst="rect">
            <a:avLst/>
          </a:prstGeom>
          <a:solidFill>
            <a:schemeClr val="bg1"/>
          </a:solidFill>
        </p:spPr>
        <p:txBody>
          <a:bodyPr wrap="square" rtlCol="0">
            <a:spAutoFit/>
          </a:bodyPr>
          <a:lstStyle/>
          <a:p>
            <a:pPr>
              <a:spcBef>
                <a:spcPts val="600"/>
              </a:spcBef>
            </a:pPr>
            <a:r>
              <a:rPr lang="zh-CN" altLang="en-US" dirty="0"/>
              <a:t>为了研究网约车流量在特定时段的周期性分布情况，可以基于</a:t>
            </a:r>
            <a:r>
              <a:rPr lang="en-US" altLang="zh-CN" dirty="0"/>
              <a:t>DATASET-B</a:t>
            </a:r>
            <a:r>
              <a:rPr lang="zh-CN" altLang="en-US" dirty="0"/>
              <a:t>，对每天第</a:t>
            </a:r>
            <a:r>
              <a:rPr lang="en-US" altLang="zh-CN" dirty="0"/>
              <a:t>50</a:t>
            </a:r>
            <a:r>
              <a:rPr lang="zh-CN" altLang="en-US" dirty="0"/>
              <a:t>个时段统计</a:t>
            </a:r>
            <a:r>
              <a:rPr lang="zh-CN" altLang="en-US" dirty="0" smtClean="0"/>
              <a:t>研究</a:t>
            </a:r>
            <a:r>
              <a:rPr lang="zh-CN" altLang="en-US" dirty="0"/>
              <a:t>区域流量总和。为了研究这一变化是否与星期变化有直接关系，还计算了</a:t>
            </a:r>
            <a:r>
              <a:rPr lang="en-US" altLang="zh-CN" dirty="0"/>
              <a:t>day</a:t>
            </a:r>
            <a:r>
              <a:rPr lang="zh-CN" altLang="en-US" dirty="0"/>
              <a:t>字段，指的是周中日期（</a:t>
            </a:r>
            <a:r>
              <a:rPr lang="en-US" altLang="zh-CN" dirty="0" smtClean="0"/>
              <a:t>1~7</a:t>
            </a:r>
            <a:r>
              <a:rPr lang="zh-CN" altLang="en-US" dirty="0" smtClean="0"/>
              <a:t>分别</a:t>
            </a:r>
            <a:r>
              <a:rPr lang="zh-CN" altLang="en-US" dirty="0"/>
              <a:t>代表周一至周日）。代码如下</a:t>
            </a:r>
            <a:r>
              <a:rPr lang="zh-CN" altLang="en-US" dirty="0" smtClean="0"/>
              <a:t>：</a:t>
            </a:r>
            <a:endParaRPr lang="en-US" altLang="zh-CN" dirty="0" smtClean="0"/>
          </a:p>
        </p:txBody>
      </p:sp>
      <p:pic>
        <p:nvPicPr>
          <p:cNvPr id="2" name="图片 1"/>
          <p:cNvPicPr>
            <a:picLocks noChangeAspect="1"/>
          </p:cNvPicPr>
          <p:nvPr/>
        </p:nvPicPr>
        <p:blipFill>
          <a:blip r:embed="rId3"/>
          <a:stretch>
            <a:fillRect/>
          </a:stretch>
        </p:blipFill>
        <p:spPr>
          <a:xfrm>
            <a:off x="457200" y="3228753"/>
            <a:ext cx="8262418" cy="2547578"/>
          </a:xfrm>
          <a:prstGeom prst="rect">
            <a:avLst/>
          </a:prstGeom>
        </p:spPr>
      </p:pic>
    </p:spTree>
    <p:extLst>
      <p:ext uri="{BB962C8B-B14F-4D97-AF65-F5344CB8AC3E}">
        <p14:creationId xmlns:p14="http://schemas.microsoft.com/office/powerpoint/2010/main" val="30057789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43</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周期性分析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923330"/>
          </a:xfrm>
          <a:prstGeom prst="rect">
            <a:avLst/>
          </a:prstGeom>
          <a:solidFill>
            <a:schemeClr val="bg1"/>
          </a:solidFill>
        </p:spPr>
        <p:txBody>
          <a:bodyPr wrap="square" rtlCol="0">
            <a:spAutoFit/>
          </a:bodyPr>
          <a:lstStyle/>
          <a:p>
            <a:pPr>
              <a:spcBef>
                <a:spcPts val="600"/>
              </a:spcBef>
            </a:pPr>
            <a:r>
              <a:rPr lang="zh-CN" altLang="en-US" dirty="0"/>
              <a:t>为了直观地展示这一变化，我们绘制了日变化折线图，如</a:t>
            </a:r>
            <a:r>
              <a:rPr lang="zh-CN" altLang="en-US" dirty="0" smtClean="0"/>
              <a:t>图所示，</a:t>
            </a:r>
            <a:r>
              <a:rPr lang="en-US" altLang="zh-CN" dirty="0" smtClean="0"/>
              <a:t>11</a:t>
            </a:r>
            <a:r>
              <a:rPr lang="zh-CN" altLang="en-US" dirty="0"/>
              <a:t>月各日网约车流量变化情况（</a:t>
            </a:r>
            <a:r>
              <a:rPr lang="en-US" altLang="zh-CN" dirty="0" err="1"/>
              <a:t>time_id</a:t>
            </a:r>
            <a:r>
              <a:rPr lang="en-US" altLang="zh-CN" dirty="0"/>
              <a:t>=50</a:t>
            </a:r>
            <a:r>
              <a:rPr lang="zh-CN" altLang="en-US" dirty="0" smtClean="0"/>
              <a:t>）。</a:t>
            </a:r>
            <a:r>
              <a:rPr lang="zh-CN" altLang="en-US" dirty="0"/>
              <a:t>用竖直线标定了每周日，从图中</a:t>
            </a:r>
            <a:r>
              <a:rPr lang="zh-CN" altLang="en-US" dirty="0" smtClean="0"/>
              <a:t>可以看出</a:t>
            </a:r>
            <a:r>
              <a:rPr lang="zh-CN" altLang="en-US" dirty="0"/>
              <a:t>较为明显的周度周期性趋势</a:t>
            </a:r>
            <a:r>
              <a:rPr lang="zh-CN" altLang="en-US" dirty="0" smtClean="0"/>
              <a:t>。</a:t>
            </a:r>
            <a:endParaRPr lang="en-US" altLang="zh-CN" dirty="0" smtClean="0"/>
          </a:p>
        </p:txBody>
      </p:sp>
      <p:pic>
        <p:nvPicPr>
          <p:cNvPr id="3" name="图片 2"/>
          <p:cNvPicPr>
            <a:picLocks noChangeAspect="1"/>
          </p:cNvPicPr>
          <p:nvPr/>
        </p:nvPicPr>
        <p:blipFill rotWithShape="1">
          <a:blip r:embed="rId3"/>
          <a:srcRect t="1326"/>
          <a:stretch/>
        </p:blipFill>
        <p:spPr>
          <a:xfrm>
            <a:off x="1718369" y="2819399"/>
            <a:ext cx="5474167" cy="4069972"/>
          </a:xfrm>
          <a:prstGeom prst="rect">
            <a:avLst/>
          </a:prstGeom>
        </p:spPr>
      </p:pic>
    </p:spTree>
    <p:extLst>
      <p:ext uri="{BB962C8B-B14F-4D97-AF65-F5344CB8AC3E}">
        <p14:creationId xmlns:p14="http://schemas.microsoft.com/office/powerpoint/2010/main" val="1920660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44</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相关性</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2970044"/>
          </a:xfrm>
          <a:prstGeom prst="rect">
            <a:avLst/>
          </a:prstGeom>
          <a:solidFill>
            <a:schemeClr val="bg1"/>
          </a:solidFill>
        </p:spPr>
        <p:txBody>
          <a:bodyPr wrap="square" rtlCol="0">
            <a:spAutoFit/>
          </a:bodyPr>
          <a:lstStyle/>
          <a:p>
            <a:pPr>
              <a:spcBef>
                <a:spcPts val="600"/>
              </a:spcBef>
            </a:pPr>
            <a:r>
              <a:rPr lang="en-US" altLang="zh-CN" b="1" dirty="0">
                <a:solidFill>
                  <a:srgbClr val="FF0000"/>
                </a:solidFill>
                <a:latin typeface="Times New Roman" panose="02020603050405020304" pitchFamily="18" charset="0"/>
                <a:cs typeface="Times New Roman" panose="02020603050405020304" pitchFamily="18" charset="0"/>
              </a:rPr>
              <a:t>1. </a:t>
            </a:r>
            <a:r>
              <a:rPr lang="zh-CN" altLang="en-US" b="1" dirty="0">
                <a:solidFill>
                  <a:srgbClr val="FF0000"/>
                </a:solidFill>
                <a:latin typeface="Times New Roman" panose="02020603050405020304" pitchFamily="18" charset="0"/>
                <a:cs typeface="Times New Roman" panose="02020603050405020304" pitchFamily="18" charset="0"/>
              </a:rPr>
              <a:t>直接绘制散点图</a:t>
            </a:r>
          </a:p>
          <a:p>
            <a:pPr>
              <a:spcBef>
                <a:spcPts val="600"/>
              </a:spcBef>
            </a:pPr>
            <a:r>
              <a:rPr lang="zh-CN" altLang="en-US" dirty="0" smtClean="0"/>
              <a:t>散</a:t>
            </a:r>
            <a:r>
              <a:rPr lang="zh-CN" altLang="en-US" dirty="0"/>
              <a:t>点的分布特征常常有</a:t>
            </a:r>
            <a:r>
              <a:rPr lang="en-US" altLang="zh-CN" dirty="0"/>
              <a:t>6</a:t>
            </a:r>
            <a:r>
              <a:rPr lang="zh-CN" altLang="en-US" dirty="0"/>
              <a:t>种：</a:t>
            </a:r>
          </a:p>
          <a:p>
            <a:pPr>
              <a:spcBef>
                <a:spcPts val="600"/>
              </a:spcBef>
            </a:pPr>
            <a:r>
              <a:rPr lang="zh-CN" altLang="en-US" dirty="0"/>
              <a:t>完全正线性相关（</a:t>
            </a:r>
            <a:r>
              <a:rPr lang="en-US" altLang="zh-CN" dirty="0"/>
              <a:t>Pearson</a:t>
            </a:r>
            <a:r>
              <a:rPr lang="zh-CN" altLang="en-US" dirty="0"/>
              <a:t>相关系数</a:t>
            </a:r>
            <a:r>
              <a:rPr lang="en-US" altLang="zh-CN" dirty="0"/>
              <a:t>=1</a:t>
            </a:r>
            <a:r>
              <a:rPr lang="zh-CN" altLang="en-US" dirty="0"/>
              <a:t>）、完全负线性相关（</a:t>
            </a:r>
            <a:r>
              <a:rPr lang="en-US" altLang="zh-CN" dirty="0"/>
              <a:t>Pearson</a:t>
            </a:r>
            <a:r>
              <a:rPr lang="zh-CN" altLang="en-US" dirty="0"/>
              <a:t>相关系数</a:t>
            </a:r>
            <a:r>
              <a:rPr lang="en-US" altLang="zh-CN" dirty="0"/>
              <a:t>=-1</a:t>
            </a:r>
            <a:r>
              <a:rPr lang="zh-CN" altLang="en-US" dirty="0"/>
              <a:t>）、非线性相关（</a:t>
            </a:r>
            <a:r>
              <a:rPr lang="en-US" altLang="zh-CN" dirty="0"/>
              <a:t>-</a:t>
            </a:r>
            <a:r>
              <a:rPr lang="en-US" altLang="zh-CN" dirty="0" smtClean="0"/>
              <a:t>0.3&lt;Pearson</a:t>
            </a:r>
            <a:r>
              <a:rPr lang="zh-CN" altLang="en-US" dirty="0" smtClean="0"/>
              <a:t>相关系数</a:t>
            </a:r>
            <a:r>
              <a:rPr lang="en-US" altLang="zh-CN" dirty="0"/>
              <a:t>&lt;0.3</a:t>
            </a:r>
            <a:r>
              <a:rPr lang="zh-CN" altLang="en-US" dirty="0"/>
              <a:t>）、正线性相关（</a:t>
            </a:r>
            <a:r>
              <a:rPr lang="en-US" altLang="zh-CN" dirty="0"/>
              <a:t>0.3&lt;Pearson</a:t>
            </a:r>
            <a:r>
              <a:rPr lang="zh-CN" altLang="en-US" dirty="0"/>
              <a:t>相关系数</a:t>
            </a:r>
            <a:r>
              <a:rPr lang="en-US" altLang="zh-CN" dirty="0"/>
              <a:t>&lt;1</a:t>
            </a:r>
            <a:r>
              <a:rPr lang="zh-CN" altLang="en-US" dirty="0"/>
              <a:t>）、负线性相关（</a:t>
            </a:r>
            <a:r>
              <a:rPr lang="en-US" altLang="zh-CN" dirty="0"/>
              <a:t>-1&lt;Pearson</a:t>
            </a:r>
            <a:r>
              <a:rPr lang="zh-CN" altLang="en-US" dirty="0"/>
              <a:t>相关系数</a:t>
            </a:r>
            <a:r>
              <a:rPr lang="en-US" altLang="zh-CN" dirty="0"/>
              <a:t>&lt;-0.3</a:t>
            </a:r>
            <a:r>
              <a:rPr lang="zh-CN" altLang="en-US" dirty="0"/>
              <a:t>）、完全</a:t>
            </a:r>
            <a:r>
              <a:rPr lang="zh-CN" altLang="en-US" dirty="0" smtClean="0"/>
              <a:t>不相关</a:t>
            </a:r>
            <a:r>
              <a:rPr lang="zh-CN" altLang="en-US" dirty="0"/>
              <a:t>（</a:t>
            </a:r>
            <a:r>
              <a:rPr lang="en-US" altLang="zh-CN" dirty="0"/>
              <a:t>Pearson</a:t>
            </a:r>
            <a:r>
              <a:rPr lang="zh-CN" altLang="en-US" dirty="0"/>
              <a:t>相关系数</a:t>
            </a:r>
            <a:r>
              <a:rPr lang="en-US" altLang="zh-CN" dirty="0"/>
              <a:t>=0</a:t>
            </a:r>
            <a:r>
              <a:rPr lang="zh-CN" altLang="en-US" dirty="0"/>
              <a:t>）</a:t>
            </a:r>
            <a:r>
              <a:rPr lang="zh-CN" altLang="en-US" dirty="0" smtClean="0"/>
              <a:t>。</a:t>
            </a:r>
            <a:endParaRPr lang="en-US" altLang="zh-CN" dirty="0" smtClean="0"/>
          </a:p>
          <a:p>
            <a:pPr>
              <a:spcBef>
                <a:spcPts val="600"/>
              </a:spcBef>
            </a:pPr>
            <a:endParaRPr lang="en-US" altLang="zh-CN" dirty="0" smtClean="0"/>
          </a:p>
          <a:p>
            <a:pPr>
              <a:spcBef>
                <a:spcPts val="600"/>
              </a:spcBef>
            </a:pPr>
            <a:r>
              <a:rPr lang="zh-CN" altLang="en-US" dirty="0" smtClean="0"/>
              <a:t>具体相关</a:t>
            </a:r>
            <a:endParaRPr lang="en-US" altLang="zh-CN" dirty="0" smtClean="0"/>
          </a:p>
          <a:p>
            <a:pPr>
              <a:spcBef>
                <a:spcPts val="600"/>
              </a:spcBef>
            </a:pPr>
            <a:r>
              <a:rPr lang="zh-CN" altLang="en-US" dirty="0" smtClean="0"/>
              <a:t>关系如图：</a:t>
            </a:r>
            <a:endParaRPr lang="en-US" altLang="zh-CN" dirty="0" smtClean="0"/>
          </a:p>
        </p:txBody>
      </p:sp>
      <p:pic>
        <p:nvPicPr>
          <p:cNvPr id="2" name="图片 1"/>
          <p:cNvPicPr>
            <a:picLocks noChangeAspect="1"/>
          </p:cNvPicPr>
          <p:nvPr/>
        </p:nvPicPr>
        <p:blipFill>
          <a:blip r:embed="rId3"/>
          <a:stretch>
            <a:fillRect/>
          </a:stretch>
        </p:blipFill>
        <p:spPr>
          <a:xfrm>
            <a:off x="2131036" y="3547463"/>
            <a:ext cx="5217615" cy="3315452"/>
          </a:xfrm>
          <a:prstGeom prst="rect">
            <a:avLst/>
          </a:prstGeom>
        </p:spPr>
      </p:pic>
    </p:spTree>
    <p:extLst>
      <p:ext uri="{BB962C8B-B14F-4D97-AF65-F5344CB8AC3E}">
        <p14:creationId xmlns:p14="http://schemas.microsoft.com/office/powerpoint/2010/main" val="260925035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45</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相关性</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2893100"/>
          </a:xfrm>
          <a:prstGeom prst="rect">
            <a:avLst/>
          </a:prstGeom>
          <a:solidFill>
            <a:schemeClr val="bg1"/>
          </a:solidFill>
        </p:spPr>
        <p:txBody>
          <a:bodyPr wrap="square" rtlCol="0">
            <a:spAutoFit/>
          </a:bodyPr>
          <a:lstStyle/>
          <a:p>
            <a:pPr>
              <a:spcBef>
                <a:spcPts val="600"/>
              </a:spcBef>
            </a:pPr>
            <a:r>
              <a:rPr lang="en-US" altLang="zh-CN" b="1" dirty="0">
                <a:solidFill>
                  <a:srgbClr val="FF0000"/>
                </a:solidFill>
                <a:latin typeface="Times New Roman" panose="02020603050405020304" pitchFamily="18" charset="0"/>
                <a:cs typeface="Times New Roman" panose="02020603050405020304" pitchFamily="18" charset="0"/>
              </a:rPr>
              <a:t>2. </a:t>
            </a:r>
            <a:r>
              <a:rPr lang="zh-CN" altLang="en-US" b="1" dirty="0">
                <a:solidFill>
                  <a:srgbClr val="FF0000"/>
                </a:solidFill>
                <a:latin typeface="Times New Roman" panose="02020603050405020304" pitchFamily="18" charset="0"/>
                <a:cs typeface="Times New Roman" panose="02020603050405020304" pitchFamily="18" charset="0"/>
              </a:rPr>
              <a:t>绘制散点图矩阵</a:t>
            </a:r>
          </a:p>
          <a:p>
            <a:pPr>
              <a:spcBef>
                <a:spcPts val="600"/>
              </a:spcBef>
            </a:pPr>
            <a:r>
              <a:rPr lang="zh-CN" altLang="en-US" dirty="0">
                <a:latin typeface="Times New Roman" panose="02020603050405020304" pitchFamily="18" charset="0"/>
                <a:cs typeface="Times New Roman" panose="02020603050405020304" pitchFamily="18" charset="0"/>
              </a:rPr>
              <a:t>需要同时考察多个变量间的相关关系时，一一绘制两两变量间的简单散点图是比较麻烦的。此时可</a:t>
            </a:r>
            <a:r>
              <a:rPr lang="zh-CN" altLang="en-US" dirty="0" smtClean="0">
                <a:latin typeface="Times New Roman" panose="02020603050405020304" pitchFamily="18" charset="0"/>
                <a:cs typeface="Times New Roman" panose="02020603050405020304" pitchFamily="18" charset="0"/>
              </a:rPr>
              <a:t>利用</a:t>
            </a:r>
            <a:r>
              <a:rPr lang="zh-CN" altLang="en-US" dirty="0">
                <a:latin typeface="Times New Roman" panose="02020603050405020304" pitchFamily="18" charset="0"/>
                <a:cs typeface="Times New Roman" panose="02020603050405020304" pitchFamily="18" charset="0"/>
              </a:rPr>
              <a:t>散点图矩阵同时绘制各变量间的散点图，从而快速发现多个变量间的相关性，这在进行多元线性回归</a:t>
            </a:r>
            <a:r>
              <a:rPr lang="zh-CN" altLang="en-US" dirty="0" smtClean="0">
                <a:latin typeface="Times New Roman" panose="02020603050405020304" pitchFamily="18" charset="0"/>
                <a:cs typeface="Times New Roman" panose="02020603050405020304" pitchFamily="18" charset="0"/>
              </a:rPr>
              <a:t>时是</a:t>
            </a:r>
            <a:r>
              <a:rPr lang="zh-CN" altLang="en-US" dirty="0">
                <a:latin typeface="Times New Roman" panose="02020603050405020304" pitchFamily="18" charset="0"/>
                <a:cs typeface="Times New Roman" panose="02020603050405020304" pitchFamily="18" charset="0"/>
              </a:rPr>
              <a:t>比较重要的</a:t>
            </a:r>
            <a:r>
              <a:rPr lang="zh-CN" altLang="en-US" dirty="0" smtClean="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a:spcBef>
                <a:spcPts val="600"/>
              </a:spcBef>
            </a:pPr>
            <a:r>
              <a:rPr lang="en-US" altLang="zh-CN" b="1" dirty="0">
                <a:solidFill>
                  <a:srgbClr val="FF0000"/>
                </a:solidFill>
                <a:latin typeface="Times New Roman" panose="02020603050405020304" pitchFamily="18" charset="0"/>
                <a:cs typeface="Times New Roman" panose="02020603050405020304" pitchFamily="18" charset="0"/>
              </a:rPr>
              <a:t>3. </a:t>
            </a:r>
            <a:r>
              <a:rPr lang="zh-CN" altLang="en-US" b="1" dirty="0">
                <a:solidFill>
                  <a:srgbClr val="FF0000"/>
                </a:solidFill>
                <a:latin typeface="Times New Roman" panose="02020603050405020304" pitchFamily="18" charset="0"/>
                <a:cs typeface="Times New Roman" panose="02020603050405020304" pitchFamily="18" charset="0"/>
              </a:rPr>
              <a:t>计算相关系数</a:t>
            </a:r>
          </a:p>
          <a:p>
            <a:pPr>
              <a:spcBef>
                <a:spcPts val="600"/>
              </a:spcBef>
            </a:pPr>
            <a:r>
              <a:rPr lang="zh-CN" altLang="en-US" dirty="0">
                <a:latin typeface="Times New Roman" panose="02020603050405020304" pitchFamily="18" charset="0"/>
                <a:cs typeface="Times New Roman" panose="02020603050405020304" pitchFamily="18" charset="0"/>
              </a:rPr>
              <a:t>为了更加准确地描述变量之间的线性相关程度，可以通过计算相关系数来进行相关性分析。在二元</a:t>
            </a:r>
            <a:r>
              <a:rPr lang="zh-CN" altLang="en-US" dirty="0" smtClean="0">
                <a:latin typeface="Times New Roman" panose="02020603050405020304" pitchFamily="18" charset="0"/>
                <a:cs typeface="Times New Roman" panose="02020603050405020304" pitchFamily="18" charset="0"/>
              </a:rPr>
              <a:t>变量</a:t>
            </a:r>
            <a:r>
              <a:rPr lang="zh-CN" altLang="en-US" dirty="0">
                <a:latin typeface="Times New Roman" panose="02020603050405020304" pitchFamily="18" charset="0"/>
                <a:cs typeface="Times New Roman" panose="02020603050405020304" pitchFamily="18" charset="0"/>
              </a:rPr>
              <a:t>的相关分析过程中比较常用的有</a:t>
            </a:r>
            <a:r>
              <a:rPr lang="en-US" altLang="zh-CN" dirty="0">
                <a:latin typeface="Times New Roman" panose="02020603050405020304" pitchFamily="18" charset="0"/>
                <a:cs typeface="Times New Roman" panose="02020603050405020304" pitchFamily="18" charset="0"/>
              </a:rPr>
              <a:t>Pearson</a:t>
            </a:r>
            <a:r>
              <a:rPr lang="zh-CN" altLang="en-US" dirty="0">
                <a:latin typeface="Times New Roman" panose="02020603050405020304" pitchFamily="18" charset="0"/>
                <a:cs typeface="Times New Roman" panose="02020603050405020304" pitchFamily="18" charset="0"/>
              </a:rPr>
              <a:t>相关系数、</a:t>
            </a:r>
            <a:r>
              <a:rPr lang="en-US" altLang="zh-CN" dirty="0">
                <a:latin typeface="Times New Roman" panose="02020603050405020304" pitchFamily="18" charset="0"/>
                <a:cs typeface="Times New Roman" panose="02020603050405020304" pitchFamily="18" charset="0"/>
              </a:rPr>
              <a:t>Spearman</a:t>
            </a:r>
            <a:r>
              <a:rPr lang="zh-CN" altLang="en-US" dirty="0">
                <a:latin typeface="Times New Roman" panose="02020603050405020304" pitchFamily="18" charset="0"/>
                <a:cs typeface="Times New Roman" panose="02020603050405020304" pitchFamily="18" charset="0"/>
              </a:rPr>
              <a:t>秩相关系数和判定系数。</a:t>
            </a:r>
          </a:p>
          <a:p>
            <a:pPr>
              <a:spcBef>
                <a:spcPts val="600"/>
              </a:spcBef>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Pearson</a:t>
            </a:r>
            <a:r>
              <a:rPr lang="zh-CN" altLang="en-US" dirty="0">
                <a:latin typeface="Times New Roman" panose="02020603050405020304" pitchFamily="18" charset="0"/>
                <a:cs typeface="Times New Roman" panose="02020603050405020304" pitchFamily="18" charset="0"/>
              </a:rPr>
              <a:t>相关系数。一般用于分析两个连续性变量之间的关系，</a:t>
            </a:r>
            <a:r>
              <a:rPr lang="zh-CN" altLang="en-US" dirty="0" smtClean="0">
                <a:latin typeface="Times New Roman" panose="02020603050405020304" pitchFamily="18" charset="0"/>
                <a:cs typeface="Times New Roman" panose="02020603050405020304" pitchFamily="18" charset="0"/>
              </a:rPr>
              <a:t>其公式</a:t>
            </a:r>
            <a:r>
              <a:rPr lang="zh-CN" altLang="en-US" dirty="0">
                <a:latin typeface="Times New Roman" panose="02020603050405020304" pitchFamily="18" charset="0"/>
                <a:cs typeface="Times New Roman" panose="02020603050405020304" pitchFamily="18" charset="0"/>
              </a:rPr>
              <a:t>如下：</a:t>
            </a:r>
            <a:endParaRPr lang="en-US" altLang="zh-CN" dirty="0" smtClean="0"/>
          </a:p>
        </p:txBody>
      </p:sp>
      <p:pic>
        <p:nvPicPr>
          <p:cNvPr id="8" name="图片 7"/>
          <p:cNvPicPr>
            <a:picLocks noChangeAspect="1"/>
          </p:cNvPicPr>
          <p:nvPr/>
        </p:nvPicPr>
        <p:blipFill>
          <a:blip r:embed="rId3"/>
          <a:stretch>
            <a:fillRect/>
          </a:stretch>
        </p:blipFill>
        <p:spPr>
          <a:xfrm>
            <a:off x="2517792" y="5034904"/>
            <a:ext cx="4333982" cy="1611222"/>
          </a:xfrm>
          <a:prstGeom prst="rect">
            <a:avLst/>
          </a:prstGeom>
        </p:spPr>
      </p:pic>
    </p:spTree>
    <p:extLst>
      <p:ext uri="{BB962C8B-B14F-4D97-AF65-F5344CB8AC3E}">
        <p14:creationId xmlns:p14="http://schemas.microsoft.com/office/powerpoint/2010/main" val="244962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46</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相关性</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200876"/>
          </a:xfrm>
          <a:prstGeom prst="rect">
            <a:avLst/>
          </a:prstGeom>
          <a:solidFill>
            <a:schemeClr val="bg1"/>
          </a:solidFill>
        </p:spPr>
        <p:txBody>
          <a:bodyPr wrap="square" rtlCol="0">
            <a:spAutoFit/>
          </a:bodyPr>
          <a:lstStyle/>
          <a:p>
            <a:pPr>
              <a:spcBef>
                <a:spcPts val="600"/>
              </a:spcBef>
            </a:pPr>
            <a:r>
              <a:rPr lang="zh-CN" altLang="en-US" dirty="0" smtClean="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Pearson</a:t>
            </a:r>
            <a:r>
              <a:rPr lang="zh-CN" altLang="en-US" dirty="0">
                <a:latin typeface="Times New Roman" panose="02020603050405020304" pitchFamily="18" charset="0"/>
                <a:cs typeface="Times New Roman" panose="02020603050405020304" pitchFamily="18" charset="0"/>
              </a:rPr>
              <a:t>相关系数</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Bef>
                <a:spcPts val="600"/>
              </a:spcBef>
            </a:pPr>
            <a:endParaRPr lang="en-US" altLang="zh-CN" dirty="0">
              <a:latin typeface="Times New Roman" panose="02020603050405020304" pitchFamily="18" charset="0"/>
              <a:cs typeface="Times New Roman" panose="02020603050405020304" pitchFamily="18" charset="0"/>
            </a:endParaRPr>
          </a:p>
          <a:p>
            <a:pPr>
              <a:spcBef>
                <a:spcPts val="600"/>
              </a:spcBef>
            </a:pPr>
            <a:endParaRPr lang="en-US" altLang="zh-CN" dirty="0" smtClean="0">
              <a:latin typeface="Times New Roman" panose="02020603050405020304" pitchFamily="18" charset="0"/>
              <a:cs typeface="Times New Roman" panose="02020603050405020304" pitchFamily="18" charset="0"/>
            </a:endParaRPr>
          </a:p>
          <a:p>
            <a:pPr>
              <a:spcBef>
                <a:spcPts val="600"/>
              </a:spcBef>
            </a:pPr>
            <a:endParaRPr lang="en-US" altLang="zh-CN" dirty="0">
              <a:latin typeface="Times New Roman" panose="02020603050405020304" pitchFamily="18" charset="0"/>
              <a:cs typeface="Times New Roman" panose="02020603050405020304" pitchFamily="18" charset="0"/>
            </a:endParaRPr>
          </a:p>
          <a:p>
            <a:pPr>
              <a:spcBef>
                <a:spcPts val="600"/>
              </a:spcBef>
            </a:pPr>
            <a:r>
              <a:rPr lang="zh-CN" altLang="en-US" dirty="0"/>
              <a:t>相关系数</a:t>
            </a:r>
            <a:r>
              <a:rPr lang="en-US" altLang="zh-CN" i="1" dirty="0"/>
              <a:t>r </a:t>
            </a:r>
            <a:r>
              <a:rPr lang="zh-CN" altLang="en-US" dirty="0"/>
              <a:t>的取值范围为：</a:t>
            </a:r>
            <a:r>
              <a:rPr lang="en-US" altLang="zh-CN" dirty="0">
                <a:latin typeface="Times New Roman" panose="02020603050405020304" pitchFamily="18" charset="0"/>
                <a:cs typeface="Times New Roman" panose="02020603050405020304" pitchFamily="18" charset="0"/>
              </a:rPr>
              <a:t>-1 ≤ </a:t>
            </a:r>
            <a:r>
              <a:rPr lang="en-US" altLang="zh-CN" i="1" dirty="0">
                <a:latin typeface="Times New Roman" panose="02020603050405020304" pitchFamily="18" charset="0"/>
                <a:cs typeface="Times New Roman" panose="02020603050405020304" pitchFamily="18" charset="0"/>
              </a:rPr>
              <a:t>r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a:t>
            </a:r>
            <a:r>
              <a:rPr lang="zh-CN" altLang="en-US" dirty="0" smtClean="0"/>
              <a:t>。</a:t>
            </a:r>
            <a:endParaRPr lang="en-US" altLang="zh-CN" dirty="0" smtClean="0"/>
          </a:p>
          <a:p>
            <a:pPr>
              <a:spcBef>
                <a:spcPts val="600"/>
              </a:spcBef>
            </a:pPr>
            <a:endParaRPr lang="en-US" altLang="zh-CN" dirty="0">
              <a:latin typeface="Times New Roman" panose="02020603050405020304" pitchFamily="18" charset="0"/>
              <a:cs typeface="Times New Roman" panose="02020603050405020304" pitchFamily="18" charset="0"/>
            </a:endParaRPr>
          </a:p>
          <a:p>
            <a:pPr>
              <a:spcBef>
                <a:spcPts val="600"/>
              </a:spcBef>
            </a:pPr>
            <a:endParaRPr lang="en-US" altLang="zh-CN" dirty="0" smtClean="0">
              <a:latin typeface="Times New Roman" panose="02020603050405020304" pitchFamily="18" charset="0"/>
              <a:cs typeface="Times New Roman" panose="02020603050405020304" pitchFamily="18" charset="0"/>
            </a:endParaRPr>
          </a:p>
          <a:p>
            <a:pPr>
              <a:spcBef>
                <a:spcPts val="600"/>
              </a:spcBef>
            </a:pPr>
            <a:endParaRPr lang="en-US" altLang="zh-CN" dirty="0">
              <a:latin typeface="Times New Roman" panose="02020603050405020304" pitchFamily="18" charset="0"/>
              <a:cs typeface="Times New Roman" panose="02020603050405020304" pitchFamily="18" charset="0"/>
            </a:endParaRPr>
          </a:p>
          <a:p>
            <a:pPr>
              <a:spcBef>
                <a:spcPts val="600"/>
              </a:spcBef>
            </a:pPr>
            <a:r>
              <a:rPr lang="en-US" altLang="zh-CN" dirty="0">
                <a:latin typeface="Times New Roman" panose="02020603050405020304" pitchFamily="18" charset="0"/>
                <a:cs typeface="Times New Roman" panose="02020603050405020304" pitchFamily="18" charset="0"/>
              </a:rPr>
              <a:t>0 &lt; | </a:t>
            </a:r>
            <a:r>
              <a:rPr lang="en-US" altLang="zh-CN" i="1" dirty="0">
                <a:latin typeface="Times New Roman" panose="02020603050405020304" pitchFamily="18" charset="0"/>
                <a:cs typeface="Times New Roman" panose="02020603050405020304" pitchFamily="18" charset="0"/>
              </a:rPr>
              <a:t>r </a:t>
            </a:r>
            <a:r>
              <a:rPr lang="en-US" altLang="zh-CN" dirty="0">
                <a:latin typeface="Times New Roman" panose="02020603050405020304" pitchFamily="18" charset="0"/>
                <a:cs typeface="Times New Roman" panose="02020603050405020304" pitchFamily="18" charset="0"/>
              </a:rPr>
              <a:t>| &lt; 1</a:t>
            </a:r>
            <a:r>
              <a:rPr lang="zh-CN" altLang="en-US" dirty="0"/>
              <a:t>表示不同程度线性相关：</a:t>
            </a:r>
            <a:endParaRPr lang="en-US" altLang="zh-CN" dirty="0" smtClean="0">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3"/>
          <a:stretch>
            <a:fillRect/>
          </a:stretch>
        </p:blipFill>
        <p:spPr>
          <a:xfrm>
            <a:off x="3058160" y="1960587"/>
            <a:ext cx="3577924" cy="1330146"/>
          </a:xfrm>
          <a:prstGeom prst="rect">
            <a:avLst/>
          </a:prstGeom>
        </p:spPr>
      </p:pic>
      <p:pic>
        <p:nvPicPr>
          <p:cNvPr id="2" name="图片 1"/>
          <p:cNvPicPr>
            <a:picLocks noChangeAspect="1"/>
          </p:cNvPicPr>
          <p:nvPr/>
        </p:nvPicPr>
        <p:blipFill>
          <a:blip r:embed="rId4"/>
          <a:stretch>
            <a:fillRect/>
          </a:stretch>
        </p:blipFill>
        <p:spPr>
          <a:xfrm>
            <a:off x="4176294" y="3463853"/>
            <a:ext cx="3582362" cy="1218826"/>
          </a:xfrm>
          <a:prstGeom prst="rect">
            <a:avLst/>
          </a:prstGeom>
        </p:spPr>
      </p:pic>
      <p:pic>
        <p:nvPicPr>
          <p:cNvPr id="3" name="图片 2"/>
          <p:cNvPicPr>
            <a:picLocks noChangeAspect="1"/>
          </p:cNvPicPr>
          <p:nvPr/>
        </p:nvPicPr>
        <p:blipFill>
          <a:blip r:embed="rId5"/>
          <a:stretch>
            <a:fillRect/>
          </a:stretch>
        </p:blipFill>
        <p:spPr>
          <a:xfrm>
            <a:off x="4256505" y="4921796"/>
            <a:ext cx="3867404" cy="1742933"/>
          </a:xfrm>
          <a:prstGeom prst="rect">
            <a:avLst/>
          </a:prstGeom>
        </p:spPr>
      </p:pic>
    </p:spTree>
    <p:extLst>
      <p:ext uri="{BB962C8B-B14F-4D97-AF65-F5344CB8AC3E}">
        <p14:creationId xmlns:p14="http://schemas.microsoft.com/office/powerpoint/2010/main" val="292923280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47</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相关性</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1985159"/>
          </a:xfrm>
          <a:prstGeom prst="rect">
            <a:avLst/>
          </a:prstGeom>
          <a:solidFill>
            <a:schemeClr val="bg1"/>
          </a:solidFill>
        </p:spPr>
        <p:txBody>
          <a:bodyPr wrap="square" rtlCol="0">
            <a:spAutoFit/>
          </a:bodyPr>
          <a:lstStyle/>
          <a:p>
            <a:pPr>
              <a:spcBef>
                <a:spcPts val="600"/>
              </a:spcBef>
            </a:pPr>
            <a:r>
              <a:rPr lang="en-US" altLang="zh-CN" b="1" dirty="0" smtClean="0">
                <a:latin typeface="Times New Roman" panose="02020603050405020304" pitchFamily="18" charset="0"/>
                <a:cs typeface="Times New Roman" panose="02020603050405020304" pitchFamily="18" charset="0"/>
              </a:rPr>
              <a:t>3</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计算相关系数</a:t>
            </a:r>
          </a:p>
          <a:p>
            <a:pPr>
              <a:spcBef>
                <a:spcPts val="600"/>
              </a:spcBef>
            </a:pP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Spearman</a:t>
            </a:r>
            <a:r>
              <a:rPr lang="zh-CN" altLang="en-US" dirty="0">
                <a:latin typeface="Times New Roman" panose="02020603050405020304" pitchFamily="18" charset="0"/>
                <a:cs typeface="Times New Roman" panose="02020603050405020304" pitchFamily="18" charset="0"/>
              </a:rPr>
              <a:t>秩相关系数。</a:t>
            </a:r>
            <a:r>
              <a:rPr lang="en-US" altLang="zh-CN" dirty="0">
                <a:latin typeface="Times New Roman" panose="02020603050405020304" pitchFamily="18" charset="0"/>
                <a:cs typeface="Times New Roman" panose="02020603050405020304" pitchFamily="18" charset="0"/>
              </a:rPr>
              <a:t>Pearson</a:t>
            </a:r>
            <a:r>
              <a:rPr lang="zh-CN" altLang="en-US" dirty="0">
                <a:latin typeface="Times New Roman" panose="02020603050405020304" pitchFamily="18" charset="0"/>
                <a:cs typeface="Times New Roman" panose="02020603050405020304" pitchFamily="18" charset="0"/>
              </a:rPr>
              <a:t>线性相关系数要求连续变量取值服从正态分布。不服从正态分布</a:t>
            </a:r>
            <a:r>
              <a:rPr lang="zh-CN" altLang="en-US" dirty="0" smtClean="0">
                <a:latin typeface="Times New Roman" panose="02020603050405020304" pitchFamily="18" charset="0"/>
                <a:cs typeface="Times New Roman" panose="02020603050405020304" pitchFamily="18" charset="0"/>
              </a:rPr>
              <a:t>的变量</a:t>
            </a:r>
            <a:r>
              <a:rPr lang="zh-CN" altLang="en-US" dirty="0">
                <a:latin typeface="Times New Roman" panose="02020603050405020304" pitchFamily="18" charset="0"/>
                <a:cs typeface="Times New Roman" panose="02020603050405020304" pitchFamily="18" charset="0"/>
              </a:rPr>
              <a:t>、分类变量或等级变量之间的关联性可采用</a:t>
            </a:r>
            <a:r>
              <a:rPr lang="en-US" altLang="zh-CN" dirty="0">
                <a:latin typeface="Times New Roman" panose="02020603050405020304" pitchFamily="18" charset="0"/>
                <a:cs typeface="Times New Roman" panose="02020603050405020304" pitchFamily="18" charset="0"/>
              </a:rPr>
              <a:t>Spearman</a:t>
            </a:r>
            <a:r>
              <a:rPr lang="zh-CN" altLang="en-US" dirty="0">
                <a:latin typeface="Times New Roman" panose="02020603050405020304" pitchFamily="18" charset="0"/>
                <a:cs typeface="Times New Roman" panose="02020603050405020304" pitchFamily="18" charset="0"/>
              </a:rPr>
              <a:t>秩相关系数，也称等级相关系数描述</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Bef>
                <a:spcPts val="600"/>
              </a:spcBef>
            </a:pPr>
            <a:endParaRPr lang="en-US" altLang="zh-CN" dirty="0">
              <a:latin typeface="Times New Roman" panose="02020603050405020304" pitchFamily="18" charset="0"/>
              <a:cs typeface="Times New Roman" panose="02020603050405020304" pitchFamily="18" charset="0"/>
            </a:endParaRPr>
          </a:p>
          <a:p>
            <a:pPr>
              <a:spcBef>
                <a:spcPts val="600"/>
              </a:spcBef>
            </a:pPr>
            <a:r>
              <a:rPr lang="zh-CN" altLang="en-US" dirty="0" smtClean="0"/>
              <a:t>变量</a:t>
            </a:r>
            <a:r>
              <a:rPr lang="en-US" altLang="zh-CN" dirty="0"/>
              <a:t>x </a:t>
            </a:r>
            <a:r>
              <a:rPr lang="zh-CN" altLang="en-US" dirty="0"/>
              <a:t>秩次的计算</a:t>
            </a:r>
            <a:r>
              <a:rPr lang="zh-CN" altLang="en-US" dirty="0" smtClean="0"/>
              <a:t>过程如表所示：</a:t>
            </a:r>
            <a:endParaRPr lang="en-US" altLang="zh-CN"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3946407" y="2992328"/>
            <a:ext cx="2434840" cy="804301"/>
          </a:xfrm>
          <a:prstGeom prst="rect">
            <a:avLst/>
          </a:prstGeom>
        </p:spPr>
      </p:pic>
      <p:pic>
        <p:nvPicPr>
          <p:cNvPr id="11" name="图片 10"/>
          <p:cNvPicPr>
            <a:picLocks noChangeAspect="1"/>
          </p:cNvPicPr>
          <p:nvPr/>
        </p:nvPicPr>
        <p:blipFill>
          <a:blip r:embed="rId4"/>
          <a:stretch>
            <a:fillRect/>
          </a:stretch>
        </p:blipFill>
        <p:spPr>
          <a:xfrm>
            <a:off x="457200" y="3944895"/>
            <a:ext cx="7854358" cy="2851329"/>
          </a:xfrm>
          <a:prstGeom prst="rect">
            <a:avLst/>
          </a:prstGeom>
        </p:spPr>
      </p:pic>
    </p:spTree>
    <p:extLst>
      <p:ext uri="{BB962C8B-B14F-4D97-AF65-F5344CB8AC3E}">
        <p14:creationId xmlns:p14="http://schemas.microsoft.com/office/powerpoint/2010/main" val="36538810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7E77643-E4A2-4E04-8FAD-A19B65D2AF1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数据预处理与探索性数据分析</a:t>
            </a:r>
          </a:p>
        </p:txBody>
      </p:sp>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48</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457200" y="1384044"/>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探索性数据分析</a:t>
            </a:r>
            <a:r>
              <a:rPr lang="en-US" altLang="zh-CN" dirty="0" smtClean="0">
                <a:solidFill>
                  <a:srgbClr val="4F81BD"/>
                </a:solidFill>
                <a:latin typeface="微软雅黑" panose="020B0503020204020204" pitchFamily="34" charset="-122"/>
                <a:ea typeface="微软雅黑" panose="020B0503020204020204" pitchFamily="34" charset="-122"/>
              </a:rPr>
              <a:t>——</a:t>
            </a:r>
            <a:r>
              <a:rPr lang="zh-CN" altLang="en-US" dirty="0">
                <a:solidFill>
                  <a:srgbClr val="4F81BD"/>
                </a:solidFill>
                <a:latin typeface="微软雅黑" panose="020B0503020204020204" pitchFamily="34" charset="-122"/>
                <a:ea typeface="微软雅黑" panose="020B0503020204020204" pitchFamily="34" charset="-122"/>
              </a:rPr>
              <a:t>相关性</a:t>
            </a:r>
            <a:r>
              <a:rPr lang="zh-CN" altLang="en-US" dirty="0" smtClean="0">
                <a:solidFill>
                  <a:srgbClr val="4F81BD"/>
                </a:solidFill>
                <a:latin typeface="微软雅黑" panose="020B0503020204020204" pitchFamily="34" charset="-122"/>
                <a:ea typeface="微软雅黑" panose="020B0503020204020204" pitchFamily="34" charset="-122"/>
              </a:rPr>
              <a:t>分析</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419442" y="1959736"/>
            <a:ext cx="8530683" cy="3477875"/>
          </a:xfrm>
          <a:prstGeom prst="rect">
            <a:avLst/>
          </a:prstGeom>
          <a:solidFill>
            <a:schemeClr val="bg1"/>
          </a:solidFill>
        </p:spPr>
        <p:txBody>
          <a:bodyPr wrap="square" rtlCol="0">
            <a:spAutoFit/>
          </a:bodyPr>
          <a:lstStyle/>
          <a:p>
            <a:pPr>
              <a:spcBef>
                <a:spcPts val="600"/>
              </a:spcBef>
            </a:pPr>
            <a:r>
              <a:rPr lang="en-US" altLang="zh-CN" b="1" dirty="0" smtClean="0">
                <a:latin typeface="Times New Roman" panose="02020603050405020304" pitchFamily="18" charset="0"/>
                <a:cs typeface="Times New Roman" panose="02020603050405020304" pitchFamily="18" charset="0"/>
              </a:rPr>
              <a:t>3</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计算相关系数</a:t>
            </a:r>
          </a:p>
          <a:p>
            <a:pPr>
              <a:spcBef>
                <a:spcPts val="1800"/>
              </a:spcBef>
            </a:pP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Spearman</a:t>
            </a:r>
            <a:r>
              <a:rPr lang="zh-CN" altLang="en-US" dirty="0">
                <a:latin typeface="Times New Roman" panose="02020603050405020304" pitchFamily="18" charset="0"/>
                <a:cs typeface="Times New Roman" panose="02020603050405020304" pitchFamily="18" charset="0"/>
              </a:rPr>
              <a:t>秩相关系数</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Bef>
                <a:spcPts val="600"/>
              </a:spcBef>
            </a:pPr>
            <a:r>
              <a:rPr lang="zh-CN" altLang="en-US" dirty="0" smtClean="0">
                <a:latin typeface="Times New Roman" panose="02020603050405020304" pitchFamily="18" charset="0"/>
                <a:cs typeface="Times New Roman" panose="02020603050405020304" pitchFamily="18" charset="0"/>
              </a:rPr>
              <a:t>在</a:t>
            </a:r>
            <a:r>
              <a:rPr lang="zh-CN" altLang="en-US" dirty="0">
                <a:latin typeface="Times New Roman" panose="02020603050405020304" pitchFamily="18" charset="0"/>
                <a:cs typeface="Times New Roman" panose="02020603050405020304" pitchFamily="18" charset="0"/>
              </a:rPr>
              <a:t>实际应用计算中，上述两种相关系数都要对其进行假设检验，使用</a:t>
            </a:r>
            <a:r>
              <a:rPr lang="en-US" altLang="zh-CN" dirty="0">
                <a:latin typeface="Times New Roman" panose="02020603050405020304" pitchFamily="18" charset="0"/>
                <a:cs typeface="Times New Roman" panose="02020603050405020304" pitchFamily="18" charset="0"/>
              </a:rPr>
              <a:t>t </a:t>
            </a:r>
            <a:r>
              <a:rPr lang="zh-CN" altLang="en-US" dirty="0">
                <a:latin typeface="Times New Roman" panose="02020603050405020304" pitchFamily="18" charset="0"/>
                <a:cs typeface="Times New Roman" panose="02020603050405020304" pitchFamily="18" charset="0"/>
              </a:rPr>
              <a:t>检验方法检验其显著性水平以</a:t>
            </a:r>
            <a:r>
              <a:rPr lang="zh-CN" altLang="en-US" dirty="0" smtClean="0">
                <a:latin typeface="Times New Roman" panose="02020603050405020304" pitchFamily="18" charset="0"/>
                <a:cs typeface="Times New Roman" panose="02020603050405020304" pitchFamily="18" charset="0"/>
              </a:rPr>
              <a:t>确定</a:t>
            </a:r>
            <a:r>
              <a:rPr lang="zh-CN" altLang="en-US" dirty="0">
                <a:latin typeface="Times New Roman" panose="02020603050405020304" pitchFamily="18" charset="0"/>
                <a:cs typeface="Times New Roman" panose="02020603050405020304" pitchFamily="18" charset="0"/>
              </a:rPr>
              <a:t>其相关程度。研究表明，在正态分布假设下，</a:t>
            </a:r>
            <a:r>
              <a:rPr lang="en-US" altLang="zh-CN" dirty="0">
                <a:latin typeface="Times New Roman" panose="02020603050405020304" pitchFamily="18" charset="0"/>
                <a:cs typeface="Times New Roman" panose="02020603050405020304" pitchFamily="18" charset="0"/>
              </a:rPr>
              <a:t>Spearman</a:t>
            </a:r>
            <a:r>
              <a:rPr lang="zh-CN" altLang="en-US" dirty="0">
                <a:latin typeface="Times New Roman" panose="02020603050405020304" pitchFamily="18" charset="0"/>
                <a:cs typeface="Times New Roman" panose="02020603050405020304" pitchFamily="18" charset="0"/>
              </a:rPr>
              <a:t>相关系数与</a:t>
            </a:r>
            <a:r>
              <a:rPr lang="en-US" altLang="zh-CN" dirty="0">
                <a:latin typeface="Times New Roman" panose="02020603050405020304" pitchFamily="18" charset="0"/>
                <a:cs typeface="Times New Roman" panose="02020603050405020304" pitchFamily="18" charset="0"/>
              </a:rPr>
              <a:t>Pearson</a:t>
            </a:r>
            <a:r>
              <a:rPr lang="zh-CN" altLang="en-US" dirty="0">
                <a:latin typeface="Times New Roman" panose="02020603050405020304" pitchFamily="18" charset="0"/>
                <a:cs typeface="Times New Roman" panose="02020603050405020304" pitchFamily="18" charset="0"/>
              </a:rPr>
              <a:t>相关系数在效率上等价的，而</a:t>
            </a:r>
            <a:r>
              <a:rPr lang="zh-CN" altLang="en-US" dirty="0" smtClean="0">
                <a:latin typeface="Times New Roman" panose="02020603050405020304" pitchFamily="18" charset="0"/>
                <a:cs typeface="Times New Roman" panose="02020603050405020304" pitchFamily="18" charset="0"/>
              </a:rPr>
              <a:t>对于</a:t>
            </a:r>
            <a:r>
              <a:rPr lang="zh-CN" altLang="en-US" dirty="0">
                <a:latin typeface="Times New Roman" panose="02020603050405020304" pitchFamily="18" charset="0"/>
                <a:cs typeface="Times New Roman" panose="02020603050405020304" pitchFamily="18" charset="0"/>
              </a:rPr>
              <a:t>连续测量数据更适合用</a:t>
            </a:r>
            <a:r>
              <a:rPr lang="en-US" altLang="zh-CN" dirty="0">
                <a:latin typeface="Times New Roman" panose="02020603050405020304" pitchFamily="18" charset="0"/>
                <a:cs typeface="Times New Roman" panose="02020603050405020304" pitchFamily="18" charset="0"/>
              </a:rPr>
              <a:t>Pearson</a:t>
            </a:r>
            <a:r>
              <a:rPr lang="zh-CN" altLang="en-US" dirty="0">
                <a:latin typeface="Times New Roman" panose="02020603050405020304" pitchFamily="18" charset="0"/>
                <a:cs typeface="Times New Roman" panose="02020603050405020304" pitchFamily="18" charset="0"/>
              </a:rPr>
              <a:t>相关系数来进行分析。</a:t>
            </a:r>
          </a:p>
          <a:p>
            <a:pPr>
              <a:spcBef>
                <a:spcPts val="1800"/>
              </a:spcBef>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）判定系数</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spcBef>
                <a:spcPts val="600"/>
              </a:spcBef>
            </a:pPr>
            <a:r>
              <a:rPr lang="zh-CN" altLang="en-US" dirty="0" smtClean="0">
                <a:latin typeface="Times New Roman" panose="02020603050405020304" pitchFamily="18" charset="0"/>
                <a:cs typeface="Times New Roman" panose="02020603050405020304" pitchFamily="18" charset="0"/>
              </a:rPr>
              <a:t>判定</a:t>
            </a:r>
            <a:r>
              <a:rPr lang="zh-CN" altLang="en-US" dirty="0">
                <a:latin typeface="Times New Roman" panose="02020603050405020304" pitchFamily="18" charset="0"/>
                <a:cs typeface="Times New Roman" panose="02020603050405020304" pitchFamily="18" charset="0"/>
              </a:rPr>
              <a:t>系数是相关系数的平方，用</a:t>
            </a:r>
            <a:r>
              <a:rPr lang="en-US" altLang="zh-CN" dirty="0">
                <a:latin typeface="Times New Roman" panose="02020603050405020304" pitchFamily="18" charset="0"/>
                <a:cs typeface="Times New Roman" panose="02020603050405020304" pitchFamily="18" charset="0"/>
              </a:rPr>
              <a:t>r2 </a:t>
            </a:r>
            <a:r>
              <a:rPr lang="zh-CN" altLang="en-US" dirty="0">
                <a:latin typeface="Times New Roman" panose="02020603050405020304" pitchFamily="18" charset="0"/>
                <a:cs typeface="Times New Roman" panose="02020603050405020304" pitchFamily="18" charset="0"/>
              </a:rPr>
              <a:t>表示；用来衡量回归方程对</a:t>
            </a:r>
            <a:r>
              <a:rPr lang="en-US" altLang="zh-CN" dirty="0">
                <a:latin typeface="Times New Roman" panose="02020603050405020304" pitchFamily="18" charset="0"/>
                <a:cs typeface="Times New Roman" panose="02020603050405020304" pitchFamily="18" charset="0"/>
              </a:rPr>
              <a:t>y </a:t>
            </a:r>
            <a:r>
              <a:rPr lang="zh-CN" altLang="en-US" dirty="0">
                <a:latin typeface="Times New Roman" panose="02020603050405020304" pitchFamily="18" charset="0"/>
                <a:cs typeface="Times New Roman" panose="02020603050405020304" pitchFamily="18" charset="0"/>
              </a:rPr>
              <a:t>的解释程度。判定</a:t>
            </a:r>
            <a:r>
              <a:rPr lang="zh-CN" altLang="en-US" dirty="0" smtClean="0">
                <a:latin typeface="Times New Roman" panose="02020603050405020304" pitchFamily="18" charset="0"/>
                <a:cs typeface="Times New Roman" panose="02020603050405020304" pitchFamily="18" charset="0"/>
              </a:rPr>
              <a:t>系数取值</a:t>
            </a:r>
            <a:r>
              <a:rPr lang="zh-CN" altLang="en-US" dirty="0">
                <a:latin typeface="Times New Roman" panose="02020603050405020304" pitchFamily="18" charset="0"/>
                <a:cs typeface="Times New Roman" panose="02020603050405020304" pitchFamily="18" charset="0"/>
              </a:rPr>
              <a:t>范围：</a:t>
            </a:r>
            <a:r>
              <a:rPr lang="en-US" altLang="zh-CN" dirty="0">
                <a:latin typeface="Times New Roman" panose="02020603050405020304" pitchFamily="18" charset="0"/>
                <a:cs typeface="Times New Roman" panose="02020603050405020304" pitchFamily="18" charset="0"/>
              </a:rPr>
              <a:t>0 ≤ </a:t>
            </a:r>
            <a:r>
              <a:rPr lang="en-US" altLang="zh-CN" dirty="0" smtClean="0">
                <a:latin typeface="Times New Roman" panose="02020603050405020304" pitchFamily="18" charset="0"/>
                <a:cs typeface="Times New Roman" panose="02020603050405020304" pitchFamily="18" charset="0"/>
              </a:rPr>
              <a:t>r^2 </a:t>
            </a:r>
            <a:r>
              <a:rPr lang="en-US" altLang="zh-CN" dirty="0">
                <a:latin typeface="Times New Roman" panose="02020603050405020304" pitchFamily="18" charset="0"/>
                <a:cs typeface="Times New Roman" panose="02020603050405020304" pitchFamily="18" charset="0"/>
              </a:rPr>
              <a:t>≤ 1</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r^2 </a:t>
            </a:r>
            <a:r>
              <a:rPr lang="zh-CN" altLang="en-US" dirty="0">
                <a:latin typeface="Times New Roman" panose="02020603050405020304" pitchFamily="18" charset="0"/>
                <a:cs typeface="Times New Roman" panose="02020603050405020304" pitchFamily="18" charset="0"/>
              </a:rPr>
              <a:t>越接近于</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，表明</a:t>
            </a:r>
            <a:r>
              <a:rPr lang="en-US" altLang="zh-CN" dirty="0">
                <a:latin typeface="Times New Roman" panose="02020603050405020304" pitchFamily="18" charset="0"/>
                <a:cs typeface="Times New Roman" panose="02020603050405020304" pitchFamily="18" charset="0"/>
              </a:rPr>
              <a:t>x </a:t>
            </a:r>
            <a:r>
              <a:rPr lang="zh-CN" altLang="en-US" dirty="0">
                <a:latin typeface="Times New Roman" panose="02020603050405020304" pitchFamily="18" charset="0"/>
                <a:cs typeface="Times New Roman" panose="02020603050405020304" pitchFamily="18" charset="0"/>
              </a:rPr>
              <a:t>与</a:t>
            </a:r>
            <a:r>
              <a:rPr lang="en-US" altLang="zh-CN" dirty="0">
                <a:latin typeface="Times New Roman" panose="02020603050405020304" pitchFamily="18" charset="0"/>
                <a:cs typeface="Times New Roman" panose="02020603050405020304" pitchFamily="18" charset="0"/>
              </a:rPr>
              <a:t>y </a:t>
            </a:r>
            <a:r>
              <a:rPr lang="zh-CN" altLang="en-US" dirty="0">
                <a:latin typeface="Times New Roman" panose="02020603050405020304" pitchFamily="18" charset="0"/>
                <a:cs typeface="Times New Roman" panose="02020603050405020304" pitchFamily="18" charset="0"/>
              </a:rPr>
              <a:t>之间的相关性越强；</a:t>
            </a:r>
            <a:r>
              <a:rPr lang="en-US" altLang="zh-CN" dirty="0" smtClean="0">
                <a:latin typeface="Times New Roman" panose="02020603050405020304" pitchFamily="18" charset="0"/>
                <a:cs typeface="Times New Roman" panose="02020603050405020304" pitchFamily="18" charset="0"/>
              </a:rPr>
              <a:t>r^2 </a:t>
            </a:r>
            <a:r>
              <a:rPr lang="zh-CN" altLang="en-US" dirty="0">
                <a:latin typeface="Times New Roman" panose="02020603050405020304" pitchFamily="18" charset="0"/>
                <a:cs typeface="Times New Roman" panose="02020603050405020304" pitchFamily="18" charset="0"/>
              </a:rPr>
              <a:t>越接近于</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，表明两个变量之间</a:t>
            </a:r>
            <a:r>
              <a:rPr lang="zh-CN" altLang="en-US" dirty="0" smtClean="0">
                <a:latin typeface="Times New Roman" panose="02020603050405020304" pitchFamily="18" charset="0"/>
                <a:cs typeface="Times New Roman" panose="02020603050405020304" pitchFamily="18" charset="0"/>
              </a:rPr>
              <a:t>几乎没有</a:t>
            </a:r>
            <a:r>
              <a:rPr lang="zh-CN" altLang="en-US" dirty="0">
                <a:latin typeface="Times New Roman" panose="02020603050405020304" pitchFamily="18" charset="0"/>
                <a:cs typeface="Times New Roman" panose="02020603050405020304" pitchFamily="18" charset="0"/>
              </a:rPr>
              <a:t>支线相关关系</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4682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49</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508650" y="737273"/>
            <a:ext cx="8229600" cy="57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zh-CN" altLang="en-US" dirty="0" smtClean="0">
                <a:solidFill>
                  <a:srgbClr val="4F81BD"/>
                </a:solidFill>
                <a:latin typeface="微软雅黑" panose="020B0503020204020204" pitchFamily="34" charset="-122"/>
                <a:ea typeface="微软雅黑" panose="020B0503020204020204" pitchFamily="34" charset="-122"/>
              </a:rPr>
              <a:t> </a:t>
            </a:r>
            <a:r>
              <a:rPr lang="zh-CN" altLang="en-US" dirty="0">
                <a:solidFill>
                  <a:srgbClr val="4F81BD"/>
                </a:solidFill>
                <a:latin typeface="微软雅黑" panose="020B0503020204020204" pitchFamily="34" charset="-122"/>
                <a:ea typeface="微软雅黑" panose="020B0503020204020204" pitchFamily="34" charset="-122"/>
              </a:rPr>
              <a:t>本章小结</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3F80B7-51B4-43C4-8D0C-E2DBF631AC6E}"/>
              </a:ext>
            </a:extLst>
          </p:cNvPr>
          <p:cNvSpPr txBox="1"/>
          <p:nvPr/>
        </p:nvSpPr>
        <p:spPr>
          <a:xfrm>
            <a:off x="358108" y="1702575"/>
            <a:ext cx="8530683" cy="3600986"/>
          </a:xfrm>
          <a:prstGeom prst="rect">
            <a:avLst/>
          </a:prstGeom>
          <a:solidFill>
            <a:schemeClr val="bg1"/>
          </a:solidFill>
        </p:spPr>
        <p:txBody>
          <a:bodyPr wrap="square" rtlCol="0">
            <a:spAutoFit/>
          </a:bodyPr>
          <a:lstStyle/>
          <a:p>
            <a:pPr marL="285750" indent="-285750">
              <a:spcBef>
                <a:spcPts val="1800"/>
              </a:spcBef>
              <a:buFont typeface="Wingdings" panose="05000000000000000000" pitchFamily="2" charset="2"/>
              <a:buChar char="Ø"/>
            </a:pPr>
            <a:r>
              <a:rPr lang="zh-CN" altLang="en-US" dirty="0" smtClean="0">
                <a:latin typeface="Times New Roman" panose="02020603050405020304" pitchFamily="18" charset="0"/>
                <a:cs typeface="Times New Roman" panose="02020603050405020304" pitchFamily="18" charset="0"/>
              </a:rPr>
              <a:t>本章</a:t>
            </a:r>
            <a:r>
              <a:rPr lang="zh-CN" altLang="en-US" dirty="0">
                <a:latin typeface="Times New Roman" panose="02020603050405020304" pitchFamily="18" charset="0"/>
                <a:cs typeface="Times New Roman" panose="02020603050405020304" pitchFamily="18" charset="0"/>
              </a:rPr>
              <a:t>重点讲解数据预处理以及探索性数据分析的理论和技术方法。首先介绍了数据预处理的</a:t>
            </a:r>
            <a:r>
              <a:rPr lang="zh-CN" altLang="en-US" dirty="0" smtClean="0">
                <a:latin typeface="Times New Roman" panose="02020603050405020304" pitchFamily="18" charset="0"/>
                <a:cs typeface="Times New Roman" panose="02020603050405020304" pitchFamily="18" charset="0"/>
              </a:rPr>
              <a:t>重要性以及</a:t>
            </a:r>
            <a:r>
              <a:rPr lang="zh-CN" altLang="en-US" dirty="0">
                <a:latin typeface="Times New Roman" panose="02020603050405020304" pitchFamily="18" charset="0"/>
                <a:cs typeface="Times New Roman" panose="02020603050405020304" pitchFamily="18" charset="0"/>
              </a:rPr>
              <a:t>如何进行有效的数据质量分析，介绍交通大数据预处理的四个核心阶段。接着以网约车轨迹数据</a:t>
            </a:r>
            <a:r>
              <a:rPr lang="zh-CN" altLang="en-US" dirty="0" smtClean="0">
                <a:latin typeface="Times New Roman" panose="02020603050405020304" pitchFamily="18" charset="0"/>
                <a:cs typeface="Times New Roman" panose="02020603050405020304" pitchFamily="18" charset="0"/>
              </a:rPr>
              <a:t>为例</a:t>
            </a:r>
            <a:r>
              <a:rPr lang="zh-CN" altLang="en-US" dirty="0">
                <a:latin typeface="Times New Roman" panose="02020603050405020304" pitchFamily="18" charset="0"/>
                <a:cs typeface="Times New Roman" panose="02020603050405020304" pitchFamily="18" charset="0"/>
              </a:rPr>
              <a:t>，介绍时空大数据处理与特征挖掘方法。</a:t>
            </a:r>
          </a:p>
          <a:p>
            <a:pPr marL="285750" indent="-285750">
              <a:spcBef>
                <a:spcPts val="18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随后，以预处理后的滴滴网格数据为例，逐一介绍了常用数据分析方法的原理、作用与步骤，包括</a:t>
            </a:r>
            <a:r>
              <a:rPr lang="zh-CN" altLang="en-US" dirty="0" smtClean="0">
                <a:latin typeface="Times New Roman" panose="02020603050405020304" pitchFamily="18" charset="0"/>
                <a:cs typeface="Times New Roman" panose="02020603050405020304" pitchFamily="18" charset="0"/>
              </a:rPr>
              <a:t>对比分析</a:t>
            </a:r>
            <a:r>
              <a:rPr lang="zh-CN" altLang="en-US" dirty="0">
                <a:latin typeface="Times New Roman" panose="02020603050405020304" pitchFamily="18" charset="0"/>
                <a:cs typeface="Times New Roman" panose="02020603050405020304" pitchFamily="18" charset="0"/>
              </a:rPr>
              <a:t>、统计量分析、周期性分析、相关性分析等。总而言之，数据分析是在发现数据基本结构的基础上，从</a:t>
            </a:r>
            <a:r>
              <a:rPr lang="zh-CN" altLang="en-US" dirty="0" smtClean="0">
                <a:latin typeface="Times New Roman" panose="02020603050405020304" pitchFamily="18" charset="0"/>
                <a:cs typeface="Times New Roman" panose="02020603050405020304" pitchFamily="18" charset="0"/>
              </a:rPr>
              <a:t>不同</a:t>
            </a:r>
            <a:r>
              <a:rPr lang="zh-CN" altLang="en-US" dirty="0">
                <a:latin typeface="Times New Roman" panose="02020603050405020304" pitchFamily="18" charset="0"/>
                <a:cs typeface="Times New Roman" panose="02020603050405020304" pitchFamily="18" charset="0"/>
              </a:rPr>
              <a:t>层次挖掘数据中的分布特征、变化特征，分析影响因子的相关性和贡献度。</a:t>
            </a:r>
          </a:p>
          <a:p>
            <a:pPr marL="285750" indent="-285750">
              <a:spcBef>
                <a:spcPts val="1800"/>
              </a:spcBef>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到目前为止，本书介绍了大数据的存储、清洗以及大数据预处理和探索性分析的相关方法，以上工作</a:t>
            </a:r>
            <a:r>
              <a:rPr lang="zh-CN" altLang="en-US" dirty="0" smtClean="0">
                <a:latin typeface="Times New Roman" panose="02020603050405020304" pitchFamily="18" charset="0"/>
                <a:cs typeface="Times New Roman" panose="02020603050405020304" pitchFamily="18" charset="0"/>
              </a:rPr>
              <a:t>是对</a:t>
            </a:r>
            <a:r>
              <a:rPr lang="zh-CN" altLang="en-US" dirty="0">
                <a:latin typeface="Times New Roman" panose="02020603050405020304" pitchFamily="18" charset="0"/>
                <a:cs typeface="Times New Roman" panose="02020603050405020304" pitchFamily="18" charset="0"/>
              </a:rPr>
              <a:t>大数据进行建模和深入研究的基础性工作。在后面的章节将具体介绍该如何对数据进行建模、选用</a:t>
            </a:r>
            <a:r>
              <a:rPr lang="zh-CN" altLang="en-US" dirty="0" smtClean="0">
                <a:latin typeface="Times New Roman" panose="02020603050405020304" pitchFamily="18" charset="0"/>
                <a:cs typeface="Times New Roman" panose="02020603050405020304" pitchFamily="18" charset="0"/>
              </a:rPr>
              <a:t>何种机器学习</a:t>
            </a:r>
            <a:r>
              <a:rPr lang="zh-CN" altLang="en-US" dirty="0">
                <a:latin typeface="Times New Roman" panose="02020603050405020304" pitchFamily="18" charset="0"/>
                <a:cs typeface="Times New Roman" panose="02020603050405020304" pitchFamily="18" charset="0"/>
              </a:rPr>
              <a:t>算法进行建模。。</a:t>
            </a:r>
            <a:endParaRPr lang="en-US" altLang="zh-CN"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85873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F018CF-F20E-4E26-924C-FED3626DDA63}"/>
              </a:ext>
            </a:extLst>
          </p:cNvPr>
          <p:cNvSpPr>
            <a:spLocks noGrp="1"/>
          </p:cNvSpPr>
          <p:nvPr>
            <p:ph type="dt" sz="half" idx="2"/>
          </p:nvPr>
        </p:nvSpPr>
        <p:spPr/>
        <p:txBody>
          <a:bodyPr/>
          <a:lstStyle/>
          <a:p>
            <a:pPr>
              <a:defRPr/>
            </a:pPr>
            <a:fld id="{6E2D4AB0-441C-42B1-813F-D0D36EDB80B8}" type="datetime1">
              <a:rPr lang="en-US" altLang="zh-CN" smtClean="0"/>
              <a:t>3/8/2023</a:t>
            </a:fld>
            <a:endParaRPr lang="en-US" altLang="zh-CN" dirty="0"/>
          </a:p>
        </p:txBody>
      </p:sp>
      <p:sp>
        <p:nvSpPr>
          <p:cNvPr id="6" name="灯片编号占位符 5">
            <a:extLst>
              <a:ext uri="{FF2B5EF4-FFF2-40B4-BE49-F238E27FC236}">
                <a16:creationId xmlns:a16="http://schemas.microsoft.com/office/drawing/2014/main" id="{A3136122-946A-41FE-8914-CEDC7295B7B9}"/>
              </a:ext>
            </a:extLst>
          </p:cNvPr>
          <p:cNvSpPr>
            <a:spLocks noGrp="1"/>
          </p:cNvSpPr>
          <p:nvPr>
            <p:ph type="sldNum" sz="quarter" idx="4"/>
          </p:nvPr>
        </p:nvSpPr>
        <p:spPr/>
        <p:txBody>
          <a:bodyPr/>
          <a:lstStyle/>
          <a:p>
            <a:pPr>
              <a:defRPr/>
            </a:pPr>
            <a:fld id="{B637DA7A-EB76-4203-8E69-29EB9F37D3B8}" type="slidenum">
              <a:rPr lang="zh-CN" altLang="en-US" smtClean="0"/>
              <a:pPr>
                <a:defRPr/>
              </a:pPr>
              <a:t>50</a:t>
            </a:fld>
            <a:endParaRPr lang="en-US" altLang="zh-CN" dirty="0"/>
          </a:p>
        </p:txBody>
      </p:sp>
      <p:sp>
        <p:nvSpPr>
          <p:cNvPr id="10" name="Content Placeholder 2">
            <a:extLst>
              <a:ext uri="{FF2B5EF4-FFF2-40B4-BE49-F238E27FC236}">
                <a16:creationId xmlns:a16="http://schemas.microsoft.com/office/drawing/2014/main" id="{4C546083-4028-4C8D-B01A-3914DDC6C900}"/>
              </a:ext>
            </a:extLst>
          </p:cNvPr>
          <p:cNvSpPr txBox="1">
            <a:spLocks/>
          </p:cNvSpPr>
          <p:nvPr/>
        </p:nvSpPr>
        <p:spPr bwMode="auto">
          <a:xfrm>
            <a:off x="536782" y="735413"/>
            <a:ext cx="2806860" cy="52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Times New Roman" panose="02020603050405020304" pitchFamily="18" charset="0"/>
                <a:ea typeface="+mn-ea"/>
                <a:cs typeface="+mn-cs"/>
                <a:sym typeface="Arial" panose="020B0604020202020204" pitchFamily="34" charset="0"/>
              </a:defRPr>
            </a:lvl1pPr>
            <a:lvl2pPr marL="457200" lvl="1" indent="-182563"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Times New Roman" panose="02020603050405020304" pitchFamily="18" charset="0"/>
                <a:ea typeface="+mn-ea"/>
                <a:cs typeface="+mn-cs"/>
                <a:sym typeface="Arial" panose="020B0604020202020204" pitchFamily="34" charset="0"/>
              </a:defRPr>
            </a:lvl2pPr>
            <a:lvl3pPr marL="731838" lvl="2" indent="-182563"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Times New Roman" panose="02020603050405020304" pitchFamily="18" charset="0"/>
                <a:ea typeface="+mn-ea"/>
                <a:cs typeface="+mn-cs"/>
                <a:sym typeface="Arial" panose="020B0604020202020204" pitchFamily="34" charset="0"/>
              </a:defRPr>
            </a:lvl3pPr>
            <a:lvl4pPr marL="1006475" lvl="3" indent="-182563"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Times New Roman" panose="02020603050405020304" pitchFamily="18" charset="0"/>
                <a:ea typeface="+mn-ea"/>
                <a:cs typeface="+mn-cs"/>
                <a:sym typeface="Arial" panose="020B0604020202020204" pitchFamily="34" charset="0"/>
              </a:defRPr>
            </a:lvl4pPr>
            <a:lvl5pPr marL="1189038"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Times New Roman" panose="02020603050405020304" pitchFamily="18" charset="0"/>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itchFamily="2" charset="2"/>
              <a:buChar char="•"/>
              <a:defRPr sz="1400" b="0" i="0" u="none" kern="1200" baseline="0">
                <a:solidFill>
                  <a:schemeClr val="tx1"/>
                </a:solidFill>
                <a:latin typeface="+mn-lt"/>
                <a:ea typeface="+mn-ea"/>
                <a:cs typeface="+mn-cs"/>
                <a:sym typeface="Arial" pitchFamily="34" charset="0"/>
              </a:defRPr>
            </a:lvl9pPr>
          </a:lstStyle>
          <a:p>
            <a:pPr defTabSz="914400">
              <a:lnSpc>
                <a:spcPct val="150000"/>
              </a:lnSpc>
            </a:pPr>
            <a:r>
              <a:rPr lang="en-US" altLang="zh-CN" dirty="0" smtClean="0">
                <a:solidFill>
                  <a:srgbClr val="4F81BD"/>
                </a:solidFill>
                <a:latin typeface="微软雅黑" panose="020B0503020204020204" pitchFamily="34" charset="-122"/>
                <a:ea typeface="微软雅黑" panose="020B0503020204020204" pitchFamily="34" charset="-122"/>
              </a:rPr>
              <a:t> </a:t>
            </a:r>
            <a:r>
              <a:rPr lang="zh-CN" altLang="en-US" dirty="0" smtClean="0">
                <a:solidFill>
                  <a:srgbClr val="4F81BD"/>
                </a:solidFill>
                <a:latin typeface="微软雅黑" panose="020B0503020204020204" pitchFamily="34" charset="-122"/>
                <a:ea typeface="微软雅黑" panose="020B0503020204020204" pitchFamily="34" charset="-122"/>
              </a:rPr>
              <a:t>本章参考文献</a:t>
            </a:r>
            <a:endParaRPr lang="en-US" altLang="zh-CN" dirty="0">
              <a:solidFill>
                <a:srgbClr val="4F81BD"/>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696C20D7-A2FF-4F1C-9761-0A0F37CA5169}"/>
              </a:ext>
            </a:extLst>
          </p:cNvPr>
          <p:cNvSpPr txBox="1"/>
          <p:nvPr/>
        </p:nvSpPr>
        <p:spPr>
          <a:xfrm>
            <a:off x="162560" y="1925887"/>
            <a:ext cx="8819399" cy="2954655"/>
          </a:xfrm>
          <a:prstGeom prst="rect">
            <a:avLst/>
          </a:prstGeom>
          <a:solidFill>
            <a:schemeClr val="bg1"/>
          </a:solidFill>
        </p:spPr>
        <p:txBody>
          <a:bodyPr wrap="square" rtlCol="0">
            <a:spAutoFit/>
          </a:bodyPr>
          <a:lstStyle/>
          <a:p>
            <a:pPr>
              <a:spcBef>
                <a:spcPts val="600"/>
              </a:spcBef>
              <a:spcAft>
                <a:spcPts val="600"/>
              </a:spcAft>
            </a:pPr>
            <a:r>
              <a:rPr lang="en-US" altLang="zh-CN" dirty="0" smtClean="0">
                <a:latin typeface="Times New Roman" panose="02020603050405020304" pitchFamily="18" charset="0"/>
                <a:cs typeface="Times New Roman" panose="02020603050405020304" pitchFamily="18" charset="0"/>
              </a:rPr>
              <a:t>[1] </a:t>
            </a:r>
            <a:r>
              <a:rPr lang="zh-CN" altLang="en-US" dirty="0" smtClean="0">
                <a:latin typeface="Times New Roman" panose="02020603050405020304" pitchFamily="18" charset="0"/>
                <a:cs typeface="Times New Roman" panose="02020603050405020304" pitchFamily="18" charset="0"/>
              </a:rPr>
              <a:t>闫红伟</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交通大数据在智能高速公路中的应用</a:t>
            </a:r>
            <a:r>
              <a:rPr lang="zh-CN" altLang="en-US" dirty="0" smtClean="0">
                <a:latin typeface="Times New Roman" panose="02020603050405020304" pitchFamily="18" charset="0"/>
                <a:cs typeface="Times New Roman" panose="02020603050405020304" pitchFamily="18" charset="0"/>
              </a:rPr>
              <a:t>探讨</a:t>
            </a:r>
            <a:r>
              <a:rPr lang="en-US" altLang="zh-CN" dirty="0" smtClean="0">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中国交通</a:t>
            </a:r>
            <a:r>
              <a:rPr lang="zh-CN" altLang="en-US" dirty="0" smtClean="0">
                <a:latin typeface="Times New Roman" panose="02020603050405020304" pitchFamily="18" charset="0"/>
                <a:cs typeface="Times New Roman" panose="02020603050405020304" pitchFamily="18" charset="0"/>
              </a:rPr>
              <a:t>信息化</a:t>
            </a:r>
            <a:r>
              <a:rPr lang="en-US" altLang="zh-CN" dirty="0" smtClean="0">
                <a:latin typeface="Times New Roman" panose="02020603050405020304" pitchFamily="18" charset="0"/>
                <a:cs typeface="Times New Roman" panose="02020603050405020304" pitchFamily="18" charset="0"/>
              </a:rPr>
              <a:t>,2015(3</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94-95.</a:t>
            </a:r>
          </a:p>
          <a:p>
            <a:pPr>
              <a:spcBef>
                <a:spcPts val="600"/>
              </a:spcBef>
              <a:spcAft>
                <a:spcPts val="600"/>
              </a:spcAft>
            </a:pPr>
            <a:r>
              <a:rPr lang="en-US" altLang="zh-CN" dirty="0" smtClean="0">
                <a:latin typeface="Times New Roman" panose="02020603050405020304" pitchFamily="18" charset="0"/>
                <a:cs typeface="Times New Roman" panose="02020603050405020304" pitchFamily="18" charset="0"/>
              </a:rPr>
              <a:t>[2] </a:t>
            </a:r>
            <a:r>
              <a:rPr lang="zh-CN" altLang="en-US" dirty="0" smtClean="0">
                <a:latin typeface="Times New Roman" panose="02020603050405020304" pitchFamily="18" charset="0"/>
                <a:cs typeface="Times New Roman" panose="02020603050405020304" pitchFamily="18" charset="0"/>
              </a:rPr>
              <a:t>刘汝焯</a:t>
            </a:r>
            <a:r>
              <a:rPr lang="en-US" altLang="zh-CN"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戴佳筑</a:t>
            </a:r>
            <a:r>
              <a:rPr lang="en-US" altLang="zh-CN"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何</a:t>
            </a:r>
            <a:r>
              <a:rPr lang="zh-CN" altLang="en-US" dirty="0">
                <a:latin typeface="Times New Roman" panose="02020603050405020304" pitchFamily="18" charset="0"/>
                <a:cs typeface="Times New Roman" panose="02020603050405020304" pitchFamily="18" charset="0"/>
              </a:rPr>
              <a:t>玉洁</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大数据应用分析技术与</a:t>
            </a:r>
            <a:r>
              <a:rPr lang="zh-CN" altLang="en-US" dirty="0" smtClean="0">
                <a:latin typeface="Times New Roman" panose="02020603050405020304" pitchFamily="18" charset="0"/>
                <a:cs typeface="Times New Roman" panose="02020603050405020304" pitchFamily="18" charset="0"/>
              </a:rPr>
              <a:t>方法</a:t>
            </a:r>
            <a:r>
              <a:rPr lang="en-US" altLang="zh-CN" dirty="0" smtClean="0">
                <a:latin typeface="Times New Roman" panose="02020603050405020304" pitchFamily="18" charset="0"/>
                <a:cs typeface="Times New Roman" panose="02020603050405020304" pitchFamily="18" charset="0"/>
              </a:rPr>
              <a:t>[M].</a:t>
            </a:r>
            <a:r>
              <a:rPr lang="zh-CN" altLang="en-US" dirty="0" smtClean="0">
                <a:latin typeface="Times New Roman" panose="02020603050405020304" pitchFamily="18" charset="0"/>
                <a:cs typeface="Times New Roman" panose="02020603050405020304" pitchFamily="18" charset="0"/>
              </a:rPr>
              <a:t>北京</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清华大学出版社</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2018.</a:t>
            </a:r>
          </a:p>
          <a:p>
            <a:pPr>
              <a:spcBef>
                <a:spcPts val="600"/>
              </a:spcBef>
              <a:spcAft>
                <a:spcPts val="600"/>
              </a:spcAft>
            </a:pPr>
            <a:r>
              <a:rPr lang="en-US" altLang="zh-CN" dirty="0" smtClean="0">
                <a:latin typeface="Times New Roman" panose="02020603050405020304" pitchFamily="18" charset="0"/>
                <a:cs typeface="Times New Roman" panose="02020603050405020304" pitchFamily="18" charset="0"/>
              </a:rPr>
              <a:t>[3] </a:t>
            </a:r>
            <a:r>
              <a:rPr lang="zh-CN" altLang="en-US" dirty="0" smtClean="0">
                <a:latin typeface="Times New Roman" panose="02020603050405020304" pitchFamily="18" charset="0"/>
                <a:cs typeface="Times New Roman" panose="02020603050405020304" pitchFamily="18" charset="0"/>
              </a:rPr>
              <a:t>陆</a:t>
            </a:r>
            <a:r>
              <a:rPr lang="zh-CN" altLang="en-US" dirty="0">
                <a:latin typeface="Times New Roman" panose="02020603050405020304" pitchFamily="18" charset="0"/>
                <a:cs typeface="Times New Roman" panose="02020603050405020304" pitchFamily="18" charset="0"/>
              </a:rPr>
              <a:t>治荣</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探索性数据分析及其在流程业的应用［</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北京：中国石化出版社，</a:t>
            </a:r>
            <a:r>
              <a:rPr lang="en-US" altLang="zh-CN" sz="1600" dirty="0">
                <a:latin typeface="Times New Roman" panose="02020603050405020304" pitchFamily="18" charset="0"/>
                <a:cs typeface="Times New Roman" panose="02020603050405020304" pitchFamily="18" charset="0"/>
              </a:rPr>
              <a:t>2013</a:t>
            </a:r>
            <a:r>
              <a:rPr lang="en-US" altLang="zh-CN" dirty="0">
                <a:latin typeface="Times New Roman" panose="02020603050405020304" pitchFamily="18" charset="0"/>
                <a:cs typeface="Times New Roman" panose="02020603050405020304" pitchFamily="18" charset="0"/>
              </a:rPr>
              <a:t>.</a:t>
            </a:r>
          </a:p>
          <a:p>
            <a:pPr>
              <a:spcBef>
                <a:spcPts val="600"/>
              </a:spcBef>
              <a:spcAft>
                <a:spcPts val="600"/>
              </a:spcAft>
            </a:pPr>
            <a:r>
              <a:rPr lang="en-US" altLang="zh-CN" dirty="0" smtClean="0">
                <a:latin typeface="Times New Roman" panose="02020603050405020304" pitchFamily="18" charset="0"/>
                <a:cs typeface="Times New Roman" panose="02020603050405020304" pitchFamily="18" charset="0"/>
              </a:rPr>
              <a:t>[4] </a:t>
            </a:r>
            <a:r>
              <a:rPr lang="zh-CN" altLang="en-US" dirty="0" smtClean="0">
                <a:latin typeface="Times New Roman" panose="02020603050405020304" pitchFamily="18" charset="0"/>
                <a:cs typeface="Times New Roman" panose="02020603050405020304" pitchFamily="18" charset="0"/>
              </a:rPr>
              <a:t>张良</a:t>
            </a:r>
            <a:r>
              <a:rPr lang="zh-CN" altLang="en-US" dirty="0">
                <a:latin typeface="Times New Roman" panose="02020603050405020304" pitchFamily="18" charset="0"/>
                <a:cs typeface="Times New Roman" panose="02020603050405020304" pitchFamily="18" charset="0"/>
              </a:rPr>
              <a:t>均</a:t>
            </a:r>
            <a:r>
              <a:rPr lang="en-US" altLang="zh-CN" dirty="0">
                <a:latin typeface="Times New Roman" panose="02020603050405020304" pitchFamily="18" charset="0"/>
                <a:cs typeface="Times New Roman" panose="02020603050405020304" pitchFamily="18" charset="0"/>
              </a:rPr>
              <a:t>.Python</a:t>
            </a:r>
            <a:r>
              <a:rPr lang="zh-CN" altLang="en-US" dirty="0">
                <a:latin typeface="Times New Roman" panose="02020603050405020304" pitchFamily="18" charset="0"/>
                <a:cs typeface="Times New Roman" panose="02020603050405020304" pitchFamily="18" charset="0"/>
              </a:rPr>
              <a:t>数据分析与挖掘实战［</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北京：机械工业出版社</a:t>
            </a:r>
            <a:r>
              <a:rPr lang="en-US" altLang="zh-CN" dirty="0">
                <a:latin typeface="Times New Roman" panose="02020603050405020304" pitchFamily="18" charset="0"/>
                <a:cs typeface="Times New Roman" panose="02020603050405020304" pitchFamily="18" charset="0"/>
              </a:rPr>
              <a:t>, 2016.</a:t>
            </a:r>
          </a:p>
          <a:p>
            <a:pPr>
              <a:spcBef>
                <a:spcPts val="600"/>
              </a:spcBef>
              <a:spcAft>
                <a:spcPts val="600"/>
              </a:spcAft>
            </a:pPr>
            <a:r>
              <a:rPr lang="en-US" altLang="zh-CN" dirty="0" smtClean="0">
                <a:latin typeface="Times New Roman" panose="02020603050405020304" pitchFamily="18" charset="0"/>
                <a:cs typeface="Times New Roman" panose="02020603050405020304" pitchFamily="18" charset="0"/>
              </a:rPr>
              <a:t>[5] </a:t>
            </a:r>
            <a:r>
              <a:rPr lang="zh-CN" altLang="en-US" dirty="0" smtClean="0">
                <a:latin typeface="Times New Roman" panose="02020603050405020304" pitchFamily="18" charset="0"/>
                <a:cs typeface="Times New Roman" panose="02020603050405020304" pitchFamily="18" charset="0"/>
              </a:rPr>
              <a:t>韦</a:t>
            </a:r>
            <a:r>
              <a:rPr lang="zh-CN" altLang="en-US" dirty="0">
                <a:latin typeface="Times New Roman" panose="02020603050405020304" pitchFamily="18" charset="0"/>
                <a:cs typeface="Times New Roman" panose="02020603050405020304" pitchFamily="18" charset="0"/>
              </a:rPr>
              <a:t>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麦金尼</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利用</a:t>
            </a:r>
            <a:r>
              <a:rPr lang="en-US" altLang="zh-CN" dirty="0">
                <a:latin typeface="Times New Roman" panose="02020603050405020304" pitchFamily="18" charset="0"/>
                <a:cs typeface="Times New Roman" panose="02020603050405020304" pitchFamily="18" charset="0"/>
              </a:rPr>
              <a:t>Python</a:t>
            </a:r>
            <a:r>
              <a:rPr lang="zh-CN" altLang="en-US" dirty="0">
                <a:latin typeface="Times New Roman" panose="02020603050405020304" pitchFamily="18" charset="0"/>
                <a:cs typeface="Times New Roman" panose="02020603050405020304" pitchFamily="18" charset="0"/>
              </a:rPr>
              <a:t>进行数据分析［</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版</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北京：机械工业出版社，</a:t>
            </a:r>
            <a:r>
              <a:rPr lang="en-US" altLang="zh-CN" dirty="0">
                <a:latin typeface="Times New Roman" panose="02020603050405020304" pitchFamily="18" charset="0"/>
                <a:cs typeface="Times New Roman" panose="02020603050405020304" pitchFamily="18" charset="0"/>
              </a:rPr>
              <a:t>2018.</a:t>
            </a:r>
          </a:p>
          <a:p>
            <a:pPr>
              <a:spcBef>
                <a:spcPts val="600"/>
              </a:spcBef>
              <a:spcAft>
                <a:spcPts val="600"/>
              </a:spcAft>
            </a:pPr>
            <a:r>
              <a:rPr lang="en-US" altLang="zh-CN" dirty="0" smtClean="0">
                <a:latin typeface="Times New Roman" panose="02020603050405020304" pitchFamily="18" charset="0"/>
                <a:cs typeface="Times New Roman" panose="02020603050405020304" pitchFamily="18" charset="0"/>
              </a:rPr>
              <a:t>[6] </a:t>
            </a:r>
            <a:r>
              <a:rPr lang="zh-CN" altLang="en-US" dirty="0" smtClean="0">
                <a:latin typeface="Times New Roman" panose="02020603050405020304" pitchFamily="18" charset="0"/>
                <a:cs typeface="Times New Roman" panose="02020603050405020304" pitchFamily="18" charset="0"/>
              </a:rPr>
              <a:t>吴翌琳</a:t>
            </a:r>
            <a:r>
              <a:rPr lang="zh-CN" altLang="en-US" dirty="0">
                <a:latin typeface="Times New Roman" panose="02020603050405020304" pitchFamily="18" charset="0"/>
                <a:cs typeface="Times New Roman" panose="02020603050405020304" pitchFamily="18" charset="0"/>
              </a:rPr>
              <a:t>，房祥忠</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大数据探索性分析［</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北京：中国人民大学出版社，</a:t>
            </a:r>
            <a:r>
              <a:rPr lang="en-US" altLang="zh-CN" dirty="0">
                <a:latin typeface="Times New Roman" panose="02020603050405020304" pitchFamily="18" charset="0"/>
                <a:cs typeface="Times New Roman" panose="02020603050405020304" pitchFamily="18" charset="0"/>
              </a:rPr>
              <a:t>2016.</a:t>
            </a:r>
          </a:p>
          <a:p>
            <a:pPr>
              <a:spcBef>
                <a:spcPts val="600"/>
              </a:spcBef>
              <a:spcAft>
                <a:spcPts val="600"/>
              </a:spcAft>
            </a:pPr>
            <a:r>
              <a:rPr lang="en-US" altLang="zh-CN" dirty="0" smtClean="0">
                <a:latin typeface="Times New Roman" panose="02020603050405020304" pitchFamily="18" charset="0"/>
                <a:cs typeface="Times New Roman" panose="02020603050405020304" pitchFamily="18" charset="0"/>
              </a:rPr>
              <a:t>[7] Nell </a:t>
            </a:r>
            <a:r>
              <a:rPr lang="en-US" altLang="zh-CN" dirty="0">
                <a:latin typeface="Times New Roman" panose="02020603050405020304" pitchFamily="18" charset="0"/>
                <a:cs typeface="Times New Roman" panose="02020603050405020304" pitchFamily="18" charset="0"/>
              </a:rPr>
              <a:t>F. Python</a:t>
            </a:r>
            <a:r>
              <a:rPr lang="zh-CN" altLang="en-US" dirty="0">
                <a:latin typeface="Times New Roman" panose="02020603050405020304" pitchFamily="18" charset="0"/>
                <a:cs typeface="Times New Roman" panose="02020603050405020304" pitchFamily="18" charset="0"/>
              </a:rPr>
              <a:t>数据分析实战［</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北京</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人民邮电出版社，</a:t>
            </a:r>
            <a:r>
              <a:rPr lang="en-US" altLang="zh-CN" dirty="0">
                <a:latin typeface="Times New Roman" panose="02020603050405020304" pitchFamily="18" charset="0"/>
                <a:cs typeface="Times New Roman" panose="02020603050405020304" pitchFamily="18" charset="0"/>
              </a:rPr>
              <a:t>2016.</a:t>
            </a:r>
          </a:p>
        </p:txBody>
      </p:sp>
    </p:spTree>
    <p:extLst>
      <p:ext uri="{BB962C8B-B14F-4D97-AF65-F5344CB8AC3E}">
        <p14:creationId xmlns:p14="http://schemas.microsoft.com/office/powerpoint/2010/main" val="2766813398"/>
      </p:ext>
    </p:extLst>
  </p:cSld>
  <p:clrMapOvr>
    <a:masterClrMapping/>
  </p:clrMapOvr>
  <p:timing>
    <p:tnLst>
      <p:par>
        <p:cTn id="1" dur="indefinite" restart="never" nodeType="tmRoot"/>
      </p:par>
    </p:tnLst>
  </p:timing>
</p:sld>
</file>

<file path=ppt/theme/theme1.xml><?xml version="1.0" encoding="utf-8"?>
<a:theme xmlns:a="http://schemas.openxmlformats.org/drawingml/2006/main" name="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6851</TotalTime>
  <Words>13667</Words>
  <Application>Microsoft Office PowerPoint</Application>
  <PresentationFormat>全屏显示(4:3)</PresentationFormat>
  <Paragraphs>575</Paragraphs>
  <Slides>50</Slides>
  <Notes>49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50</vt:i4>
      </vt:variant>
    </vt:vector>
  </HeadingPairs>
  <TitlesOfParts>
    <vt:vector size="59" baseType="lpstr">
      <vt:lpstr>Arial (Headings)</vt:lpstr>
      <vt:lpstr>等线</vt:lpstr>
      <vt:lpstr>黑体</vt:lpstr>
      <vt:lpstr>宋体</vt:lpstr>
      <vt:lpstr>微软雅黑</vt:lpstr>
      <vt:lpstr>Arial</vt:lpstr>
      <vt:lpstr>Times New Roman</vt:lpstr>
      <vt:lpstr>Wingdings</vt:lpstr>
      <vt:lpstr>Clarity</vt:lpstr>
      <vt:lpstr>PowerPoint 演示文稿</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PowerPoint 演示文稿</vt:lpstr>
      <vt:lpstr>PowerPoint 演示文稿</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数据预处理与探索性数据分析</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 Huang</dc:creator>
  <cp:lastModifiedBy>徐铖铖</cp:lastModifiedBy>
  <cp:revision>705</cp:revision>
  <dcterms:created xsi:type="dcterms:W3CDTF">2016-02-16T07:55:59Z</dcterms:created>
  <dcterms:modified xsi:type="dcterms:W3CDTF">2023-03-08T10:50:01Z</dcterms:modified>
</cp:coreProperties>
</file>