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310" r:id="rId2"/>
    <p:sldId id="313" r:id="rId3"/>
    <p:sldId id="314" r:id="rId4"/>
    <p:sldId id="566" r:id="rId5"/>
    <p:sldId id="565" r:id="rId6"/>
    <p:sldId id="436" r:id="rId7"/>
    <p:sldId id="476" r:id="rId8"/>
    <p:sldId id="507" r:id="rId9"/>
    <p:sldId id="477" r:id="rId10"/>
    <p:sldId id="478" r:id="rId11"/>
    <p:sldId id="508" r:id="rId12"/>
    <p:sldId id="509" r:id="rId13"/>
    <p:sldId id="479" r:id="rId14"/>
    <p:sldId id="481" r:id="rId15"/>
    <p:sldId id="510" r:id="rId16"/>
    <p:sldId id="576" r:id="rId17"/>
    <p:sldId id="484" r:id="rId18"/>
    <p:sldId id="568" r:id="rId19"/>
    <p:sldId id="537" r:id="rId20"/>
    <p:sldId id="546" r:id="rId21"/>
    <p:sldId id="545" r:id="rId22"/>
    <p:sldId id="574" r:id="rId23"/>
    <p:sldId id="547" r:id="rId24"/>
    <p:sldId id="575" r:id="rId25"/>
    <p:sldId id="549" r:id="rId26"/>
    <p:sldId id="550" r:id="rId27"/>
    <p:sldId id="511" r:id="rId28"/>
    <p:sldId id="577" r:id="rId29"/>
    <p:sldId id="512" r:id="rId30"/>
    <p:sldId id="513" r:id="rId31"/>
    <p:sldId id="514" r:id="rId32"/>
    <p:sldId id="515" r:id="rId33"/>
    <p:sldId id="529" r:id="rId34"/>
    <p:sldId id="530" r:id="rId35"/>
    <p:sldId id="570" r:id="rId36"/>
    <p:sldId id="531" r:id="rId37"/>
    <p:sldId id="485" r:id="rId38"/>
    <p:sldId id="516" r:id="rId39"/>
    <p:sldId id="517" r:id="rId40"/>
    <p:sldId id="488" r:id="rId41"/>
    <p:sldId id="518" r:id="rId42"/>
    <p:sldId id="489" r:id="rId43"/>
    <p:sldId id="533" r:id="rId44"/>
    <p:sldId id="491" r:id="rId45"/>
    <p:sldId id="556" r:id="rId46"/>
    <p:sldId id="558" r:id="rId47"/>
    <p:sldId id="557" r:id="rId48"/>
    <p:sldId id="559" r:id="rId49"/>
    <p:sldId id="560" r:id="rId50"/>
    <p:sldId id="561" r:id="rId51"/>
    <p:sldId id="562" r:id="rId52"/>
    <p:sldId id="564" r:id="rId53"/>
    <p:sldId id="492" r:id="rId54"/>
    <p:sldId id="493" r:id="rId55"/>
    <p:sldId id="519" r:id="rId56"/>
    <p:sldId id="496" r:id="rId57"/>
    <p:sldId id="494" r:id="rId58"/>
    <p:sldId id="497" r:id="rId59"/>
    <p:sldId id="498" r:id="rId60"/>
    <p:sldId id="500" r:id="rId61"/>
    <p:sldId id="501" r:id="rId62"/>
    <p:sldId id="520" r:id="rId63"/>
    <p:sldId id="521" r:id="rId64"/>
    <p:sldId id="541" r:id="rId65"/>
    <p:sldId id="534" r:id="rId66"/>
    <p:sldId id="535" r:id="rId67"/>
    <p:sldId id="503" r:id="rId68"/>
    <p:sldId id="504" r:id="rId69"/>
    <p:sldId id="505" r:id="rId70"/>
    <p:sldId id="506" r:id="rId71"/>
    <p:sldId id="522" r:id="rId72"/>
    <p:sldId id="524" r:id="rId73"/>
    <p:sldId id="525" r:id="rId74"/>
    <p:sldId id="527" r:id="rId75"/>
    <p:sldId id="528" r:id="rId76"/>
  </p:sldIdLst>
  <p:sldSz cx="9144000" cy="6858000" type="screen4x3"/>
  <p:notesSz cx="6858000" cy="9144000"/>
  <p:custDataLst>
    <p:tags r:id="rId7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291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锦彪 霍" initials="锦彪"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845E3E"/>
    <a:srgbClr val="F4F5E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92" autoAdjust="0"/>
    <p:restoredTop sz="80147" autoAdjust="0"/>
  </p:normalViewPr>
  <p:slideViewPr>
    <p:cSldViewPr snapToGrid="0" showGuides="1">
      <p:cViewPr varScale="1">
        <p:scale>
          <a:sx n="72" d="100"/>
          <a:sy n="72" d="100"/>
        </p:scale>
        <p:origin x="1584" y="48"/>
      </p:cViewPr>
      <p:guideLst>
        <p:guide orient="horz" pos="2128"/>
        <p:guide pos="291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gs" Target="tags/tag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6BBA7-2751-4186-92D7-BAFE14A83317}" type="datetimeFigureOut">
              <a:rPr lang="zh-CN" altLang="en-US" smtClean="0"/>
              <a:t>2025/5/6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A12F08-2C51-4761-8379-7BF5B777E40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D0A12F08-2C51-4761-8379-7BF5B777E402}"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降低偏差。偏差描述了模型在训练集上的误差，</a:t>
            </a:r>
            <a:r>
              <a:rPr lang="en-US" altLang="zh-CN" dirty="0"/>
              <a:t>boosting</a:t>
            </a:r>
            <a:r>
              <a:rPr lang="zh-CN" altLang="en-US" dirty="0"/>
              <a:t>通过将弱分类器组合的方法不断降低模型在训练集上的误差，因此，</a:t>
            </a:r>
            <a:r>
              <a:rPr lang="en-US" altLang="zh-CN" dirty="0"/>
              <a:t>boosting</a:t>
            </a:r>
            <a:r>
              <a:rPr lang="zh-CN" altLang="en-US" dirty="0"/>
              <a:t>算法主要降低模型的偏差</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AdaBoost</a:t>
            </a:r>
            <a:r>
              <a:rPr lang="zh-CN" altLang="en-US" dirty="0"/>
              <a:t>这个名字的涵义是什么？</a:t>
            </a:r>
            <a:r>
              <a:rPr lang="en-US" altLang="zh-CN" b="0" i="0" dirty="0" err="1">
                <a:solidFill>
                  <a:srgbClr val="111111"/>
                </a:solidFill>
                <a:effectLst/>
                <a:latin typeface="微软雅黑" panose="020B0503020204020204" pitchFamily="34" charset="-122"/>
                <a:ea typeface="微软雅黑" panose="020B0503020204020204" pitchFamily="34" charset="-122"/>
              </a:rPr>
              <a:t>AdaBoosting</a:t>
            </a:r>
            <a:r>
              <a:rPr lang="zh-CN" altLang="en-US" b="0" i="0" dirty="0">
                <a:solidFill>
                  <a:srgbClr val="111111"/>
                </a:solidFill>
                <a:effectLst/>
                <a:latin typeface="微软雅黑" panose="020B0503020204020204" pitchFamily="34" charset="-122"/>
                <a:ea typeface="微软雅黑" panose="020B0503020204020204" pitchFamily="34" charset="-122"/>
              </a:rPr>
              <a:t>全称</a:t>
            </a:r>
            <a:r>
              <a:rPr lang="en-US" altLang="zh-CN" b="0" i="0" dirty="0">
                <a:solidFill>
                  <a:srgbClr val="111111"/>
                </a:solidFill>
                <a:effectLst/>
                <a:latin typeface="微软雅黑" panose="020B0503020204020204" pitchFamily="34" charset="-122"/>
                <a:ea typeface="微软雅黑" panose="020B0503020204020204" pitchFamily="34" charset="-122"/>
              </a:rPr>
              <a:t>Adaptive Boosting</a:t>
            </a:r>
            <a:r>
              <a:rPr lang="zh-CN" altLang="en-US" b="0" i="0" dirty="0">
                <a:solidFill>
                  <a:srgbClr val="111111"/>
                </a:solidFill>
                <a:effectLst/>
                <a:latin typeface="微软雅黑" panose="020B0503020204020204" pitchFamily="34" charset="-122"/>
                <a:ea typeface="微软雅黑" panose="020B0503020204020204" pitchFamily="34" charset="-122"/>
              </a:rPr>
              <a:t>，中文译为</a:t>
            </a:r>
            <a:r>
              <a:rPr lang="zh-CN" altLang="en-US" b="1" i="0" dirty="0">
                <a:solidFill>
                  <a:srgbClr val="111111"/>
                </a:solidFill>
                <a:effectLst/>
                <a:latin typeface="微软雅黑" panose="020B0503020204020204" pitchFamily="34" charset="-122"/>
                <a:ea typeface="微软雅黑" panose="020B0503020204020204" pitchFamily="34" charset="-122"/>
              </a:rPr>
              <a:t>适应性集成</a:t>
            </a:r>
            <a:r>
              <a:rPr lang="zh-CN" altLang="en-US" b="0" i="0" dirty="0">
                <a:solidFill>
                  <a:srgbClr val="111111"/>
                </a:solidFill>
                <a:effectLst/>
                <a:latin typeface="微软雅黑" panose="020B0503020204020204" pitchFamily="34" charset="-122"/>
                <a:ea typeface="微软雅黑" panose="020B0503020204020204" pitchFamily="34" charset="-122"/>
              </a:rPr>
              <a:t>或自适应增强，是一种迭代提升算法。</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若错误率为</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，可以提前结束训练过程</a:t>
            </a:r>
            <a:r>
              <a:rPr lang="zh-CN" altLang="en-US" dirty="0"/>
              <a:t>”是终止整个</a:t>
            </a:r>
            <a:r>
              <a:rPr lang="en-US" altLang="zh-CN" dirty="0" err="1"/>
              <a:t>adaboost</a:t>
            </a:r>
            <a:r>
              <a:rPr lang="zh-CN" altLang="en-US" dirty="0"/>
              <a:t>的训练过程？为什么要终止？原因是这样的：（</a:t>
            </a:r>
            <a:r>
              <a:rPr lang="en-US" altLang="zh-CN" dirty="0"/>
              <a:t>1</a:t>
            </a:r>
            <a:r>
              <a:rPr lang="zh-CN" altLang="en-US" dirty="0"/>
              <a:t>）从</a:t>
            </a:r>
            <a:r>
              <a:rPr lang="en-US" altLang="zh-CN" dirty="0"/>
              <a:t>Boosting</a:t>
            </a:r>
            <a:r>
              <a:rPr lang="zh-CN" altLang="en-US" dirty="0"/>
              <a:t>学习框架的设计来看，</a:t>
            </a:r>
            <a:r>
              <a:rPr lang="en-US" altLang="zh-CN" dirty="0"/>
              <a:t>Boosting</a:t>
            </a:r>
            <a:r>
              <a:rPr lang="zh-CN" altLang="en-US" dirty="0"/>
              <a:t>的目的是通过训练多个弱学习器，对弱学习器进行集成以降低训练误差。当训练误差降为零时，可以认为此时得到的学习器的学习效果已经很好（是一个强学习器），可以不必进行进一步的迭代；（</a:t>
            </a:r>
            <a:r>
              <a:rPr lang="en-US" altLang="zh-CN" dirty="0"/>
              <a:t>2</a:t>
            </a:r>
            <a:r>
              <a:rPr lang="zh-CN" altLang="en-US" dirty="0"/>
              <a:t>）从</a:t>
            </a:r>
            <a:r>
              <a:rPr lang="en-US" altLang="zh-CN" dirty="0"/>
              <a:t>AdaBoost</a:t>
            </a:r>
            <a:r>
              <a:rPr lang="zh-CN" altLang="en-US" dirty="0"/>
              <a:t>的训练框架来看，每一轮迭代是基于上一轮迭代的误差进行权重设置，如果某一轮训练得到的学习器没有误差，那么下一轮的权重将无从设置，所以可以停止迭代</a:t>
            </a:r>
            <a:endParaRPr lang="en-US" altLang="zh-CN"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这个例子修改了符号表示</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训练到</a:t>
                </a:r>
                <a:r>
                  <a:rPr lang="en-US" altLang="zh-CN" dirty="0"/>
                  <a:t>t=3</a:t>
                </a:r>
                <a:r>
                  <a:rPr lang="zh-CN" altLang="en-US" dirty="0"/>
                  <a:t>就停止了，因此训练得到的</a:t>
                </a:r>
                <a14:m>
                  <m:oMath xmlns:m="http://schemas.openxmlformats.org/officeDocument/2006/math">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+0.75</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分类误差为零，满足了题目一开始提到的收敛条件，所以停止迭代，最终得到的分类器是</a:t>
                </a:r>
                <a14:m>
                  <m:oMath xmlns:m="http://schemas.openxmlformats.org/officeDocument/2006/math">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备注：“误分类样本是</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x = 0</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时的样本，是指</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h_3(x)</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这个基分类器的误分类样本</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已经补充说明</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endParaRPr lang="en-US" altLang="zh-CN"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说明</a:t>
                </a:r>
                <a:r>
                  <a:rPr lang="en-US" altLang="zh-CN" dirty="0"/>
                  <a:t>1</a:t>
                </a:r>
                <a:r>
                  <a:rPr lang="zh-CN" altLang="en-US" dirty="0"/>
                  <a:t>：样本权重表现在左边九张图里面是点的半径大小，半径越大说明权重越大</a:t>
                </a:r>
                <a:endParaRPr lang="en-US" altLang="zh-CN" dirty="0"/>
              </a:p>
              <a:p>
                <a:r>
                  <a:rPr lang="zh-CN" altLang="en-US" dirty="0"/>
                  <a:t>说明</a:t>
                </a:r>
                <a:r>
                  <a:rPr lang="en-US" altLang="zh-CN" dirty="0"/>
                  <a:t>2</a:t>
                </a:r>
                <a:r>
                  <a:rPr lang="zh-CN" altLang="en-US" dirty="0"/>
                  <a:t>：决策边界是由各个分类器加权得到的。分类器</a:t>
                </a:r>
                <a:r>
                  <a:rPr lang="en-US" altLang="zh-CN" dirty="0"/>
                  <a:t>1</a:t>
                </a:r>
                <a:r>
                  <a:rPr lang="zh-CN" altLang="en-US" dirty="0"/>
                  <a:t>在</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1&lt;0</m:t>
                        </m:r>
                      </m:e>
                    </m:d>
                  </m:oMath>
                </a14:m>
                <a:r>
                  <a:rPr lang="zh-CN" altLang="en-US" dirty="0"/>
                  <a:t>的区域的分类预测结果为</a:t>
                </a:r>
                <a:r>
                  <a:rPr lang="en-US" altLang="zh-CN" dirty="0"/>
                  <a:t>-1</a:t>
                </a:r>
                <a:r>
                  <a:rPr lang="zh-CN" altLang="en-US" dirty="0"/>
                  <a:t>，分类器</a:t>
                </a:r>
                <a:r>
                  <a:rPr lang="en-US" altLang="zh-CN" dirty="0"/>
                  <a:t>2</a:t>
                </a:r>
                <a:r>
                  <a:rPr lang="zh-CN" altLang="en-US" dirty="0"/>
                  <a:t>在</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1&lt;0, </m:t>
                        </m:r>
                        <m:r>
                          <a:rPr lang="en-US" altLang="zh-CN" b="0" i="1" smtClean="0">
                            <a:latin typeface="Cambria Math" panose="02040503050406030204" pitchFamily="18" charset="0"/>
                          </a:rPr>
                          <m:t>𝑥</m:t>
                        </m:r>
                        <m:r>
                          <a:rPr lang="en-US" altLang="zh-CN" b="0" i="1" smtClean="0">
                            <a:latin typeface="Cambria Math" panose="02040503050406030204" pitchFamily="18" charset="0"/>
                          </a:rPr>
                          <m:t>2&gt;0</m:t>
                        </m:r>
                      </m:e>
                    </m:d>
                  </m:oMath>
                </a14:m>
                <a:r>
                  <a:rPr lang="zh-CN" altLang="en-US" dirty="0"/>
                  <a:t>区域的预测结果为</a:t>
                </a:r>
                <a:r>
                  <a:rPr lang="en-US" altLang="zh-CN" dirty="0"/>
                  <a:t>-1</a:t>
                </a:r>
                <a:r>
                  <a:rPr lang="zh-CN" altLang="en-US" dirty="0"/>
                  <a:t>，在</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1&lt;0, </m:t>
                        </m:r>
                        <m:r>
                          <a:rPr lang="en-US" altLang="zh-CN" b="0" i="1" smtClean="0">
                            <a:latin typeface="Cambria Math" panose="02040503050406030204" pitchFamily="18" charset="0"/>
                          </a:rPr>
                          <m:t>𝑥</m:t>
                        </m:r>
                        <m:r>
                          <a:rPr lang="en-US" altLang="zh-CN" b="0" i="1" smtClean="0">
                            <a:latin typeface="Cambria Math" panose="02040503050406030204" pitchFamily="18" charset="0"/>
                          </a:rPr>
                          <m:t>2&lt;0</m:t>
                        </m:r>
                      </m:e>
                    </m:d>
                    <m:r>
                      <a:rPr lang="zh-CN" altLang="en-US" b="0" i="1" smtClean="0">
                        <a:latin typeface="Cambria Math" panose="02040503050406030204" pitchFamily="18" charset="0"/>
                      </a:rPr>
                      <m:t>区域</m:t>
                    </m:r>
                  </m:oMath>
                </a14:m>
                <a:r>
                  <a:rPr lang="zh-CN" altLang="en-US" dirty="0"/>
                  <a:t>的预测结果为</a:t>
                </a:r>
                <a:r>
                  <a:rPr lang="en-US" altLang="zh-CN" dirty="0"/>
                  <a:t>1</a:t>
                </a:r>
                <a:r>
                  <a:rPr lang="zh-CN" altLang="en-US" dirty="0"/>
                  <a:t>。若分类器</a:t>
                </a:r>
                <a:r>
                  <a:rPr lang="en-US" altLang="zh-CN" dirty="0"/>
                  <a:t>1</a:t>
                </a:r>
                <a:r>
                  <a:rPr lang="zh-CN" altLang="en-US" dirty="0"/>
                  <a:t>的权重为</a:t>
                </a:r>
                <a:r>
                  <a:rPr lang="en-US" altLang="zh-CN" dirty="0"/>
                  <a:t>0.5</a:t>
                </a:r>
                <a:r>
                  <a:rPr lang="zh-CN" altLang="en-US" dirty="0"/>
                  <a:t>， 分类器</a:t>
                </a:r>
                <a:r>
                  <a:rPr lang="en-US" altLang="zh-CN" dirty="0"/>
                  <a:t>2</a:t>
                </a:r>
                <a:r>
                  <a:rPr lang="zh-CN" altLang="en-US" dirty="0"/>
                  <a:t>的权重为</a:t>
                </a:r>
                <a:r>
                  <a:rPr lang="en-US" altLang="zh-CN" dirty="0"/>
                  <a:t>0.7</a:t>
                </a:r>
                <a:r>
                  <a:rPr lang="zh-CN" altLang="en-US" dirty="0"/>
                  <a:t>，那么在</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1&lt;0, </m:t>
                        </m:r>
                        <m:r>
                          <a:rPr lang="en-US" altLang="zh-CN" b="0" i="1" smtClean="0">
                            <a:latin typeface="Cambria Math" panose="02040503050406030204" pitchFamily="18" charset="0"/>
                          </a:rPr>
                          <m:t>𝑥</m:t>
                        </m:r>
                        <m:r>
                          <a:rPr lang="en-US" altLang="zh-CN" b="0" i="1" smtClean="0">
                            <a:latin typeface="Cambria Math" panose="02040503050406030204" pitchFamily="18" charset="0"/>
                          </a:rPr>
                          <m:t>2&lt;0</m:t>
                        </m:r>
                      </m:e>
                    </m:d>
                  </m:oMath>
                </a14:m>
                <a:r>
                  <a:rPr lang="zh-CN" altLang="en-US" dirty="0"/>
                  <a:t>的区域，预测结果为</a:t>
                </a:r>
                <a14:m>
                  <m:oMath xmlns:m="http://schemas.openxmlformats.org/officeDocument/2006/math">
                    <m:r>
                      <a:rPr lang="en-US" altLang="zh-CN" b="0" i="1" smtClean="0">
                        <a:latin typeface="Cambria Math" panose="02040503050406030204" pitchFamily="18" charset="0"/>
                      </a:rPr>
                      <m:t>𝑠𝑖𝑔𝑛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0.5 ∗(−1)+0.7 ∗(−1)</m:t>
                        </m:r>
                      </m:e>
                    </m:d>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sign</m:t>
                    </m:r>
                    <m:r>
                      <a:rPr lang="en-US" altLang="zh-CN" b="0" i="1" smtClean="0">
                        <a:latin typeface="Cambria Math" panose="02040503050406030204" pitchFamily="18" charset="0"/>
                      </a:rPr>
                      <m:t>(−1.2)=−1</m:t>
                    </m:r>
                  </m:oMath>
                </a14:m>
                <a:r>
                  <a:rPr lang="zh-CN" altLang="en-US" dirty="0"/>
                  <a:t>，在在</a:t>
                </a:r>
                <a14:m>
                  <m:oMath xmlns:m="http://schemas.openxmlformats.org/officeDocument/2006/math">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1&lt;0, </m:t>
                        </m:r>
                        <m:r>
                          <a:rPr lang="en-US" altLang="zh-CN" b="0" i="1" smtClean="0">
                            <a:latin typeface="Cambria Math" panose="02040503050406030204" pitchFamily="18" charset="0"/>
                          </a:rPr>
                          <m:t>𝑥</m:t>
                        </m:r>
                        <m:r>
                          <a:rPr lang="en-US" altLang="zh-CN" b="0" i="1" smtClean="0">
                            <a:latin typeface="Cambria Math" panose="02040503050406030204" pitchFamily="18" charset="0"/>
                          </a:rPr>
                          <m:t>2&gt;0</m:t>
                        </m:r>
                      </m:e>
                    </m:d>
                  </m:oMath>
                </a14:m>
                <a:r>
                  <a:rPr lang="zh-CN" altLang="en-US" dirty="0"/>
                  <a:t>的区域，预测结果为</a:t>
                </a:r>
                <a14:m>
                  <m:oMath xmlns:m="http://schemas.openxmlformats.org/officeDocument/2006/math">
                    <m:r>
                      <a:rPr lang="en-US" altLang="zh-CN" b="0" i="1" smtClean="0">
                        <a:latin typeface="Cambria Math" panose="02040503050406030204" pitchFamily="18" charset="0"/>
                      </a:rPr>
                      <m:t>𝑠𝑖𝑔𝑛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0.5 ∗(−1)+0.7 ∗1</m:t>
                        </m:r>
                      </m:e>
                    </m:d>
                    <m:r>
                      <a:rPr lang="en-US" altLang="zh-CN" b="0" i="1" smtClean="0">
                        <a:latin typeface="Cambria Math" panose="02040503050406030204" pitchFamily="18" charset="0"/>
                      </a:rPr>
                      <m:t>=</m:t>
                    </m:r>
                    <m:r>
                      <m:rPr>
                        <m:sty m:val="p"/>
                      </m:rPr>
                      <a:rPr lang="en-US" altLang="zh-CN" b="0" i="1" smtClean="0">
                        <a:latin typeface="Cambria Math" panose="02040503050406030204" pitchFamily="18" charset="0"/>
                      </a:rPr>
                      <m:t>sign</m:t>
                    </m:r>
                    <m:r>
                      <a:rPr lang="en-US" altLang="zh-CN" b="0" i="1" smtClean="0">
                        <a:latin typeface="Cambria Math" panose="02040503050406030204" pitchFamily="18" charset="0"/>
                      </a:rPr>
                      <m:t>(0.2)=−1</m:t>
                    </m:r>
                    <m:r>
                      <a:rPr lang="zh-CN" altLang="en-US" b="0" i="1" smtClean="0">
                        <a:latin typeface="Cambria Math" panose="02040503050406030204" pitchFamily="18" charset="0"/>
                      </a:rPr>
                      <m:t>。</m:t>
                    </m:r>
                  </m:oMath>
                </a14:m>
                <a:r>
                  <a:rPr lang="zh-CN" altLang="en-US" dirty="0"/>
                  <a:t>多个分类器相互叠加，最终构成了上图复杂的决策边界</a:t>
                </a:r>
                <a:endParaRPr lang="en-US" altLang="zh-CN"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我去看了李航老师的统计机器学习书，我觉得可以把加法模型和前向分步算法保留在这里。</a:t>
            </a:r>
            <a:endParaRPr lang="en-US" altLang="zh-CN" dirty="0"/>
          </a:p>
          <a:p>
            <a:endParaRPr lang="en-US" altLang="zh-CN" dirty="0"/>
          </a:p>
          <a:p>
            <a:r>
              <a:rPr lang="zh-CN" altLang="en-US" dirty="0"/>
              <a:t>原因</a:t>
            </a:r>
            <a:r>
              <a:rPr lang="en-US" altLang="zh-CN" dirty="0"/>
              <a:t>1</a:t>
            </a:r>
            <a:r>
              <a:rPr lang="zh-CN" altLang="en-US" dirty="0"/>
              <a:t>：加法模型</a:t>
            </a:r>
            <a:r>
              <a:rPr lang="en-US" altLang="zh-CN" dirty="0"/>
              <a:t>+</a:t>
            </a:r>
            <a:r>
              <a:rPr lang="zh-CN" altLang="en-US" dirty="0"/>
              <a:t>前向分步算法只是</a:t>
            </a:r>
            <a:r>
              <a:rPr lang="en-US" altLang="zh-CN" dirty="0" err="1"/>
              <a:t>Adaboost</a:t>
            </a:r>
            <a:r>
              <a:rPr lang="zh-CN" altLang="en-US" dirty="0"/>
              <a:t>的一种推导方法</a:t>
            </a:r>
            <a:r>
              <a:rPr lang="en-US" altLang="zh-CN" dirty="0"/>
              <a:t>/</a:t>
            </a:r>
            <a:r>
              <a:rPr lang="zh-CN" altLang="en-US" dirty="0"/>
              <a:t>理解方法（即可以把</a:t>
            </a:r>
            <a:r>
              <a:rPr lang="en-US" altLang="zh-CN" dirty="0" err="1"/>
              <a:t>Adaboost</a:t>
            </a:r>
            <a:r>
              <a:rPr lang="zh-CN" altLang="en-US" dirty="0"/>
              <a:t>视为加法模型</a:t>
            </a:r>
            <a:r>
              <a:rPr lang="en-US" altLang="zh-CN" dirty="0"/>
              <a:t>+</a:t>
            </a:r>
            <a:r>
              <a:rPr lang="zh-CN" altLang="en-US" dirty="0"/>
              <a:t>前向分步算法的在指数损失函数下的一个特例）。由于这个模型性质比较好，它有很多种推导方式。如果我们先介绍加法模型和前向分步算法，就需要根据前向分步算法导出</a:t>
            </a:r>
            <a:r>
              <a:rPr lang="en-US" altLang="zh-CN" dirty="0" err="1"/>
              <a:t>Adaboost</a:t>
            </a:r>
            <a:r>
              <a:rPr lang="zh-CN" altLang="en-US" dirty="0"/>
              <a:t>，这一部分推导内容比较复杂，且书稿里面没有；</a:t>
            </a:r>
            <a:endParaRPr lang="en-US" altLang="zh-CN" dirty="0"/>
          </a:p>
          <a:p>
            <a:endParaRPr lang="en-US" altLang="zh-CN" dirty="0"/>
          </a:p>
          <a:p>
            <a:r>
              <a:rPr lang="zh-CN" altLang="en-US" dirty="0"/>
              <a:t>原因</a:t>
            </a:r>
            <a:r>
              <a:rPr lang="en-US" altLang="zh-CN" dirty="0"/>
              <a:t>2</a:t>
            </a:r>
            <a:r>
              <a:rPr lang="zh-CN" altLang="en-US" dirty="0"/>
              <a:t>：李航老师书中提到 “提升方法实际采用加法模型（即基函数的线性组合）与前向分步算法．以决策树为基函数的提升方法称为提升树（</a:t>
            </a:r>
            <a:r>
              <a:rPr lang="en-US" altLang="zh-CN" dirty="0"/>
              <a:t>boosting tree</a:t>
            </a:r>
            <a:r>
              <a:rPr lang="zh-CN" altLang="en-US" dirty="0"/>
              <a:t>）”，所以加法模型</a:t>
            </a:r>
            <a:r>
              <a:rPr lang="en-US" altLang="zh-CN" dirty="0"/>
              <a:t>+</a:t>
            </a:r>
            <a:r>
              <a:rPr lang="zh-CN" altLang="en-US" dirty="0"/>
              <a:t>前向分步算法是导出提升树模型的“正规”方法，不是像</a:t>
            </a:r>
            <a:r>
              <a:rPr lang="en-US" altLang="zh-CN" dirty="0" err="1"/>
              <a:t>Adaboost</a:t>
            </a:r>
            <a:r>
              <a:rPr lang="zh-CN" altLang="en-US" dirty="0"/>
              <a:t>一样的某种理解方式，所以我认为以加法模型和前向分布算法导出提升树易于学生理解。</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这一页为什么没有加</a:t>
                </a:r>
                <a:r>
                  <a:rPr lang="en-US" altLang="zh-CN" dirty="0"/>
                  <a:t>sign</a:t>
                </a:r>
                <a:r>
                  <a:rPr lang="zh-CN" altLang="en-US" dirty="0"/>
                  <a:t>符号：我去查了李航老师和周志华老师的书，周志华老师书里面没有提升树模型，但是两本书都有从“加法模型</a:t>
                </a:r>
                <a:r>
                  <a:rPr lang="en-US" altLang="zh-CN" dirty="0"/>
                  <a:t>+</a:t>
                </a:r>
                <a:r>
                  <a:rPr lang="zh-CN" altLang="en-US" dirty="0"/>
                  <a:t>前向分步”算法的角度推导</a:t>
                </a:r>
                <a:r>
                  <a:rPr lang="en-US" altLang="zh-CN" dirty="0" err="1"/>
                  <a:t>Adaboost</a:t>
                </a:r>
                <a:r>
                  <a:rPr lang="zh-CN" altLang="en-US" dirty="0"/>
                  <a:t>（分类问题）的推导。我看了他们的推导，分类问题是直接把模型输出相加作为输出结果（没有</a:t>
                </a:r>
                <a:r>
                  <a:rPr lang="en-US" altLang="zh-CN" dirty="0"/>
                  <a:t>sign</a:t>
                </a:r>
                <a:r>
                  <a:rPr lang="zh-CN" altLang="en-US" dirty="0"/>
                  <a:t>符号），而</a:t>
                </a:r>
                <a:r>
                  <a:rPr lang="en-US" altLang="zh-CN" dirty="0"/>
                  <a:t>17</a:t>
                </a:r>
                <a:r>
                  <a:rPr lang="zh-CN" altLang="en-US" dirty="0"/>
                  <a:t>页的</a:t>
                </a:r>
                <a:r>
                  <a:rPr lang="en-US" altLang="zh-CN" dirty="0"/>
                  <a:t>sign</a:t>
                </a:r>
                <a:r>
                  <a:rPr lang="zh-CN" altLang="en-US" dirty="0"/>
                  <a:t>符号是为了说明如何</a:t>
                </a:r>
                <a:r>
                  <a:rPr lang="zh-CN" altLang="en-US" b="1" dirty="0"/>
                  <a:t>输出最终的模型结果</a:t>
                </a:r>
                <a:r>
                  <a:rPr lang="zh-CN" altLang="en-US" dirty="0"/>
                  <a:t>，书稿里面是这么说的：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最终集成分类器的预测结果由各个基分类器预测结果的加权线性组合投票决定，结合方法如下式所示</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𝑓𝑖𝑛𝑎𝑙</m:t>
                        </m:r>
                      </m:sub>
                    </m:sSub>
                    <m:d>
                      <m:d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2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𝑠𝑖𝑔𝑛</m:t>
                    </m:r>
                    <m:d>
                      <m:d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nary>
                          <m:naryPr>
                            <m:chr m:val="∑"/>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sty m:val="p"/>
                              </m:r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t</m:t>
                            </m:r>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2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nary>
                      </m:e>
                    </m:d>
                  </m:oMath>
                </a14:m>
                <a:endParaRPr lang="en-US" altLang="zh-CN"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选取</a:t>
                </a:r>
                <a:r>
                  <a:rPr lang="en-US" altLang="zh-CN" dirty="0"/>
                  <a:t>MSE</a:t>
                </a:r>
                <a:r>
                  <a:rPr lang="zh-CN" altLang="en-US" dirty="0"/>
                  <a:t>作为损失函数时，第</a:t>
                </a:r>
                <a:r>
                  <a:rPr lang="en-US" altLang="zh-CN" dirty="0"/>
                  <a:t>t</a:t>
                </a:r>
                <a:r>
                  <a:rPr lang="zh-CN" altLang="en-US" dirty="0"/>
                  <a:t>轮迭代目标是训练回归树</a:t>
                </a:r>
                <a:r>
                  <a:rPr lang="en-US" altLang="zh-CN" dirty="0" err="1"/>
                  <a:t>h_t</a:t>
                </a:r>
                <a:r>
                  <a:rPr lang="zh-CN" altLang="en-US" dirty="0"/>
                  <a:t>，使之集成在前</a:t>
                </a:r>
                <a:r>
                  <a:rPr lang="en-US" altLang="zh-CN" dirty="0"/>
                  <a:t>t-1</a:t>
                </a:r>
                <a:r>
                  <a:rPr lang="zh-CN" altLang="en-US" dirty="0"/>
                  <a:t>轮训练完的模型上之后，总体的预测误差</a:t>
                </a:r>
                <a:r>
                  <a:rPr lang="en-US" altLang="zh-CN" dirty="0"/>
                  <a:t>MSE</a:t>
                </a:r>
                <a:r>
                  <a:rPr lang="zh-CN" altLang="en-US" dirty="0"/>
                  <a:t>最小。注意到式子第三行，存在</a:t>
                </a:r>
                <a14:m>
                  <m:oMath xmlns:m="http://schemas.openxmlformats.org/officeDocument/2006/math">
                    <m:sSub>
                      <m:sSubPr>
                        <m:ctrlPr>
                          <a:rPr lang="zh-CN" altLang="en-US" b="1" i="1" smtClean="0">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𝒚</m:t>
                        </m:r>
                      </m:e>
                      <m:sub>
                        <m:r>
                          <a:rPr lang="zh-CN" altLang="en-US" b="1" i="1">
                            <a:solidFill>
                              <a:srgbClr val="C00000"/>
                            </a:solidFill>
                            <a:latin typeface="Cambria Math" panose="02040503050406030204" pitchFamily="18" charset="0"/>
                          </a:rPr>
                          <m:t>𝒊</m:t>
                        </m:r>
                      </m:sub>
                    </m:sSub>
                    <m:r>
                      <a:rPr lang="zh-CN" altLang="en-US" b="1">
                        <a:solidFill>
                          <a:srgbClr val="C00000"/>
                        </a:solidFill>
                        <a:latin typeface="Cambria Math" panose="02040503050406030204" pitchFamily="18" charset="0"/>
                      </a:rPr>
                      <m:t>−</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𝑯</m:t>
                        </m:r>
                      </m:e>
                      <m:sub>
                        <m:r>
                          <a:rPr lang="zh-CN" altLang="en-US" b="1" i="1">
                            <a:solidFill>
                              <a:srgbClr val="C00000"/>
                            </a:solidFill>
                            <a:latin typeface="Cambria Math" panose="02040503050406030204" pitchFamily="18" charset="0"/>
                          </a:rPr>
                          <m:t>𝒕</m:t>
                        </m:r>
                        <m:r>
                          <a:rPr lang="zh-CN" altLang="en-US" b="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d>
                      <m:dPr>
                        <m:ctrlPr>
                          <a:rPr lang="zh-CN" altLang="en-US" b="1" i="1">
                            <a:solidFill>
                              <a:srgbClr val="C00000"/>
                            </a:solidFill>
                            <a:latin typeface="Cambria Math" panose="02040503050406030204" pitchFamily="18" charset="0"/>
                          </a:rPr>
                        </m:ctrlPr>
                      </m:dPr>
                      <m:e>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𝒙</m:t>
                            </m:r>
                          </m:e>
                          <m:sub>
                            <m:r>
                              <a:rPr lang="zh-CN" altLang="en-US" b="1" i="1">
                                <a:solidFill>
                                  <a:srgbClr val="C00000"/>
                                </a:solidFill>
                                <a:latin typeface="Cambria Math" panose="02040503050406030204" pitchFamily="18" charset="0"/>
                              </a:rPr>
                              <m:t>𝒊</m:t>
                            </m:r>
                          </m:sub>
                        </m:sSub>
                      </m:e>
                    </m:d>
                  </m:oMath>
                </a14:m>
                <a:r>
                  <a:rPr lang="en-US" altLang="zh-CN" dirty="0"/>
                  <a:t> </a:t>
                </a:r>
                <a:r>
                  <a:rPr lang="zh-CN" altLang="en-US" dirty="0"/>
                  <a:t>这恰好是第</a:t>
                </a:r>
                <a:r>
                  <a:rPr lang="en-US" altLang="zh-CN" dirty="0"/>
                  <a:t>t-1</a:t>
                </a:r>
                <a:r>
                  <a:rPr lang="zh-CN" altLang="en-US" dirty="0"/>
                  <a:t>轮训练结束后，集成模型的残差，因此，训练回归树</a:t>
                </a:r>
                <a:r>
                  <a:rPr lang="en-US" altLang="zh-CN" dirty="0" err="1"/>
                  <a:t>h_t</a:t>
                </a:r>
                <a:r>
                  <a:rPr lang="zh-CN" altLang="en-US" dirty="0"/>
                  <a:t>，实际上等价于最小化第四行所示的损失函数，即在特征不变的情况下，以上一轮训练的残差为标签训练回归树。</a:t>
                </a:r>
                <a:endParaRPr lang="en-US" altLang="zh-CN"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补充公式：已经修改</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所以梯度提升树最大的特点是没有求出每步的最优解，而是用梯度下降就迭代了一步，没有去求最优解。</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把逻辑链补充上：在获得了“损失函数”对于“集成模型”的负梯度之后，下一步自然而然是希望调整“集成模型”的值，使“损失函数”下降最快，因此，我们希望在第</a:t>
                </a:r>
                <a:r>
                  <a:rPr lang="en-US" altLang="zh-CN" dirty="0"/>
                  <a:t>t</a:t>
                </a:r>
                <a:r>
                  <a:rPr lang="zh-CN" altLang="en-US" dirty="0"/>
                  <a:t>轮迭代后，把“集成模型”调整为</a:t>
                </a:r>
                <a14:m>
                  <m:oMath xmlns:m="http://schemas.openxmlformats.org/officeDocument/2006/math">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2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2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2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2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2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2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zh-CN" altLang="en-US"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𝜂</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a14:m>
                <a:r>
                  <a:rPr lang="zh-CN" altLang="en-US" dirty="0"/>
                  <a:t>，而实际上，</a:t>
                </a:r>
                <a14:m>
                  <m:oMath xmlns:m="http://schemas.openxmlformats.org/officeDocument/2006/math">
                    <m:sSub>
                      <m:sSub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2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lang="zh-CN" altLang="en-US" dirty="0"/>
                  <a:t>，所以我们只需以</a:t>
                </a:r>
                <a14:m>
                  <m:oMath xmlns:m="http://schemas.openxmlformats.org/officeDocument/2006/math">
                    <m:r>
                      <a:rPr kumimoji="0" lang="en-US" altLang="zh-CN" sz="12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a14:m>
                <a:r>
                  <a:rPr lang="zh-CN" altLang="en-US" dirty="0"/>
                  <a:t>为标签训练</a:t>
                </a:r>
                <a14:m>
                  <m:oMath xmlns:m="http://schemas.openxmlformats.org/officeDocument/2006/math">
                    <m: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endParaRPr lang="en-US" altLang="zh-CN"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负梯度的符号 放到</a:t>
            </a:r>
            <a:r>
              <a:rPr lang="en-US" altLang="zh-CN" dirty="0"/>
              <a:t>39</a:t>
            </a:r>
            <a:r>
              <a:rPr lang="zh-CN" altLang="en-US" dirty="0"/>
              <a:t>页 等价</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锦彪，这页里的“很显然”，是为什么？没有一眼看懂，你解释下</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把例子再过一遍 </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a:t>
            </a:r>
            <a:r>
              <a:rPr lang="en-US" altLang="zh-CN" dirty="0"/>
              <a:t>Bagging</a:t>
            </a:r>
            <a:r>
              <a:rPr lang="zh-CN" altLang="en-US" dirty="0"/>
              <a:t>算法主要降低方差。因为</a:t>
            </a:r>
            <a:r>
              <a:rPr lang="en-US" altLang="zh-CN" dirty="0"/>
              <a:t>Bagging</a:t>
            </a:r>
            <a:r>
              <a:rPr lang="zh-CN" altLang="en-US" dirty="0"/>
              <a:t>算法通过构造多样化的学习器，通过整合多样化学习器，增加模型的泛化能力，降低方差；</a:t>
            </a:r>
            <a:endParaRPr lang="en-US" altLang="zh-CN" dirty="0"/>
          </a:p>
          <a:p>
            <a:r>
              <a:rPr lang="zh-CN" altLang="en-US" dirty="0"/>
              <a:t>（</a:t>
            </a:r>
            <a:r>
              <a:rPr lang="en-US" altLang="zh-CN" dirty="0"/>
              <a:t>2</a:t>
            </a:r>
            <a:r>
              <a:rPr lang="zh-CN" altLang="en-US" dirty="0"/>
              <a:t>）</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除了拥有较强的泛化性能，</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算法还十分高效。由于基学习器是相互独立的，因此</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算法的执行过程非常容易并行化</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，训练一个</a:t>
            </a:r>
            <a:r>
              <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集成学习器与直接使用基学习算法训练一个学习器的复杂度同阶。</a:t>
            </a:r>
          </a:p>
          <a:p>
            <a:r>
              <a:rPr lang="zh-CN" altLang="en-US" dirty="0"/>
              <a:t>（</a:t>
            </a:r>
            <a:r>
              <a:rPr lang="en-US" altLang="zh-CN" dirty="0"/>
              <a:t>3</a:t>
            </a:r>
            <a:r>
              <a:rPr lang="zh-CN" altLang="en-US" dirty="0"/>
              <a:t>）第三个问题是后面要讲的内容</a:t>
            </a:r>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随机特征选择：每次选择划分点时，从所有特征中随机选择</a:t>
            </a:r>
            <a:r>
              <a:rPr lang="en-US" altLang="zh-CN" dirty="0"/>
              <a:t>k</a:t>
            </a:r>
            <a:r>
              <a:rPr lang="zh-CN" altLang="en-US" dirty="0"/>
              <a:t>个，从</a:t>
            </a:r>
            <a:r>
              <a:rPr lang="en-US" altLang="zh-CN" dirty="0"/>
              <a:t>k</a:t>
            </a:r>
            <a:r>
              <a:rPr lang="zh-CN" altLang="en-US" dirty="0"/>
              <a:t>个特征中选取最优划分特征</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这里为什么选取以</a:t>
            </a:r>
            <a:r>
              <a:rPr lang="en-US" altLang="zh-CN" dirty="0"/>
              <a:t>2</a:t>
            </a:r>
            <a:r>
              <a:rPr lang="zh-CN" altLang="en-US" dirty="0"/>
              <a:t>为底的对数，没找到相关解释。</a:t>
            </a:r>
            <a:endParaRPr lang="en-US" altLang="zh-CN" dirty="0"/>
          </a:p>
          <a:p>
            <a:r>
              <a:rPr lang="zh-CN" altLang="en-US" dirty="0"/>
              <a:t>在</a:t>
            </a:r>
            <a:r>
              <a:rPr lang="en-US" altLang="zh-CN" dirty="0"/>
              <a:t>scikit learn</a:t>
            </a:r>
            <a:r>
              <a:rPr lang="zh-CN" altLang="en-US" dirty="0"/>
              <a:t>中，常用的随机特征数设置方法包括：总特征数以</a:t>
            </a:r>
            <a:r>
              <a:rPr lang="en-US" altLang="zh-CN" dirty="0"/>
              <a:t>2</a:t>
            </a:r>
            <a:r>
              <a:rPr lang="zh-CN" altLang="en-US" dirty="0"/>
              <a:t>为底的对数；总特征数的平方根</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我查了资料，随机森林通常是以</a:t>
            </a:r>
            <a:r>
              <a:rPr lang="en-US" altLang="zh-CN" dirty="0"/>
              <a:t>cart</a:t>
            </a:r>
            <a:r>
              <a:rPr lang="zh-CN" altLang="en-US" dirty="0"/>
              <a:t>树算法构建决策树。也可以用</a:t>
            </a:r>
            <a:r>
              <a:rPr lang="en-US" altLang="zh-CN" dirty="0"/>
              <a:t>C4.5</a:t>
            </a:r>
            <a:r>
              <a:rPr lang="zh-CN" altLang="en-US" dirty="0"/>
              <a:t>或者</a:t>
            </a:r>
            <a:r>
              <a:rPr lang="en-US" altLang="zh-CN" dirty="0"/>
              <a:t>ID3</a:t>
            </a:r>
            <a:r>
              <a:rPr lang="zh-CN" altLang="en-US" dirty="0"/>
              <a:t>，所以我修改了课件中的内容</a:t>
            </a:r>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如果有很大一部分的特征遗失，仍可以维持准确度</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：这是因为在在训练过程中，随机森林算法可以从所有特征中随机选取部分特征用来训练。这意味着即使有很大一部分的特征遗失，仍然可以很大程度上保障算法的泛化特征，维持准确度。</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在训练过程中，能够检测到特征间的互相影响</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：在训练过程中，不同树选取了不同的特征集合，因此可以基于各个特征在不同树上基尼系数、信息熵等度量各特征组合下特征的相互影响</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在某些噪音较大的分类或回归问题上会过拟合</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：因为随机森林每棵树都在训练数据的一个子集上进行训练，如果单棵树的深度非常深，它可能会在自己的训练子集上学习到很细致的特征，如果噪音较大的话就容易学习到没有代表性的信息，容易产生过拟合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0A12F08-2C51-4761-8379-7BF5B777E40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p:txBody>
          <a:bodyPr/>
          <a:lstStyle>
            <a:lvl1pPr>
              <a:defRPr/>
            </a:lvl1pPr>
          </a:lstStyle>
          <a:p>
            <a:pPr>
              <a:defRPr/>
            </a:pPr>
            <a:fld id="{32ABD749-4B3D-4BF3-B12A-B61FA89A7D20}" type="datetime1">
              <a:rPr lang="en-US" altLang="zh-CN" smtClean="0"/>
              <a:t>5/6/2025</a:t>
            </a:fld>
            <a:endParaRPr lang="en-US" altLang="zh-CN" dirty="0"/>
          </a:p>
        </p:txBody>
      </p:sp>
      <p:sp>
        <p:nvSpPr>
          <p:cNvPr id="6" name="Slide Number Placeholder 5"/>
          <p:cNvSpPr>
            <a:spLocks noGrp="1"/>
          </p:cNvSpPr>
          <p:nvPr>
            <p:ph type="sldNum" sz="quarter" idx="12"/>
          </p:nvPr>
        </p:nvSpPr>
        <p:spPr/>
        <p:txBody>
          <a:bodyPr/>
          <a:lstStyle>
            <a:lvl1pPr>
              <a:defRPr/>
            </a:lvl1pPr>
          </a:lstStyle>
          <a:p>
            <a:pPr>
              <a:defRPr/>
            </a:pPr>
            <a:fld id="{A8A04E82-56C5-473E-AB74-E41CD95FB2B4}" type="slidenum">
              <a:rPr lang="zh-CN" altLang="en-US"/>
              <a:t>‹#›</a:t>
            </a:fld>
            <a:endParaRPr lang="en-US" altLang="zh-CN" dirty="0"/>
          </a:p>
        </p:txBody>
      </p:sp>
      <p:sp>
        <p:nvSpPr>
          <p:cNvPr id="8" name="Footer Placeholder 4"/>
          <p:cNvSpPr>
            <a:spLocks noGrp="1"/>
          </p:cNvSpPr>
          <p:nvPr>
            <p:ph type="ftr" sz="quarter" idx="11"/>
          </p:nvPr>
        </p:nvSpPr>
        <p:spPr>
          <a:xfrm>
            <a:off x="5454826" y="10038"/>
            <a:ext cx="4831731" cy="328613"/>
          </a:xfrm>
        </p:spPr>
        <p:txBody>
          <a:bodyPr/>
          <a:lstStyle>
            <a:lvl1pPr>
              <a:defRPr/>
            </a:lvl1pPr>
          </a:lstStyle>
          <a:p>
            <a:pPr>
              <a:defRPr/>
            </a:pPr>
            <a:r>
              <a:rPr lang="zh-CN" altLang="en-US" dirty="0"/>
              <a:t>交通大数据</a:t>
            </a:r>
            <a:r>
              <a:rPr lang="en-US" altLang="zh-CN" dirty="0"/>
              <a:t> ·</a:t>
            </a:r>
            <a:r>
              <a:rPr lang="zh-CN" altLang="en-US" dirty="0"/>
              <a:t>刘志远 教授</a:t>
            </a:r>
            <a:endParaRPr lang="en-US" altLang="zh-CN" dirty="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39863" y="6150864"/>
            <a:ext cx="632774" cy="62788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A10E55C9-70B6-49A9-B285-7B6B9329A27F}" type="datetime1">
              <a:rPr lang="en-US" altLang="zh-CN" smtClean="0"/>
              <a:t>5/6/2025</a:t>
            </a:fld>
            <a:endParaRPr lang="en-US" altLang="zh-CN"/>
          </a:p>
        </p:txBody>
      </p:sp>
      <p:sp>
        <p:nvSpPr>
          <p:cNvPr id="5"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p:txBody>
          <a:bodyPr/>
          <a:lstStyle>
            <a:lvl1pPr>
              <a:defRPr/>
            </a:lvl1pPr>
          </a:lstStyle>
          <a:p>
            <a:pPr>
              <a:defRPr/>
            </a:pPr>
            <a:fld id="{5BF5E73D-1069-4824-94AF-7FF34A7BE33D}"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876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p:cNvSpPr>
          <p:nvPr>
            <p:ph type="dt" sz="half" idx="10"/>
          </p:nvPr>
        </p:nvSpPr>
        <p:spPr/>
        <p:txBody>
          <a:bodyPr/>
          <a:lstStyle>
            <a:lvl1pPr>
              <a:defRPr/>
            </a:lvl1pPr>
          </a:lstStyle>
          <a:p>
            <a:pPr>
              <a:defRPr/>
            </a:pPr>
            <a:fld id="{0D7C70DC-E5E3-476E-B719-7C406A24E276}" type="datetime1">
              <a:rPr lang="en-US" altLang="zh-CN" smtClean="0"/>
              <a:t>5/6/2025</a:t>
            </a:fld>
            <a:endParaRPr lang="en-US" altLang="zh-CN"/>
          </a:p>
        </p:txBody>
      </p:sp>
      <p:sp>
        <p:nvSpPr>
          <p:cNvPr id="6"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p:txBody>
          <a:bodyPr/>
          <a:lstStyle>
            <a:lvl1pPr>
              <a:defRPr/>
            </a:lvl1pPr>
          </a:lstStyle>
          <a:p>
            <a:pPr>
              <a:defRPr/>
            </a:pPr>
            <a:fld id="{11810F76-1A24-4AF4-8A91-362659113F1F}"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p:cNvSpPr>
          <p:nvPr>
            <p:ph type="dt" sz="half" idx="10"/>
          </p:nvPr>
        </p:nvSpPr>
        <p:spPr/>
        <p:txBody>
          <a:bodyPr/>
          <a:lstStyle>
            <a:lvl1pPr>
              <a:defRPr/>
            </a:lvl1pPr>
          </a:lstStyle>
          <a:p>
            <a:pPr>
              <a:defRPr/>
            </a:pPr>
            <a:fld id="{EAE8E72B-6C0E-4F25-B3EF-88ADA2D92673}" type="datetime1">
              <a:rPr lang="en-US" altLang="zh-CN" smtClean="0"/>
              <a:t>5/6/2025</a:t>
            </a:fld>
            <a:endParaRPr lang="en-US" altLang="zh-CN"/>
          </a:p>
        </p:txBody>
      </p:sp>
      <p:sp>
        <p:nvSpPr>
          <p:cNvPr id="8"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9" name="Slide Number Placeholder 5"/>
          <p:cNvSpPr>
            <a:spLocks noGrp="1"/>
          </p:cNvSpPr>
          <p:nvPr>
            <p:ph type="sldNum" sz="quarter" idx="12"/>
          </p:nvPr>
        </p:nvSpPr>
        <p:spPr/>
        <p:txBody>
          <a:bodyPr/>
          <a:lstStyle>
            <a:lvl1pPr>
              <a:defRPr/>
            </a:lvl1pPr>
          </a:lstStyle>
          <a:p>
            <a:pPr>
              <a:defRPr/>
            </a:pPr>
            <a:fld id="{3B8051D9-6CDB-4A19-9498-B1F31800CB75}"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p:cNvSpPr>
          <p:nvPr>
            <p:ph type="dt" sz="half" idx="10"/>
          </p:nvPr>
        </p:nvSpPr>
        <p:spPr/>
        <p:txBody>
          <a:bodyPr/>
          <a:lstStyle>
            <a:lvl1pPr>
              <a:defRPr/>
            </a:lvl1pPr>
          </a:lstStyle>
          <a:p>
            <a:pPr>
              <a:defRPr/>
            </a:pPr>
            <a:fld id="{4B0FD39B-8021-4531-8CE2-8D21302A74ED}" type="datetime1">
              <a:rPr lang="en-US" altLang="zh-CN" smtClean="0"/>
              <a:t>5/6/2025</a:t>
            </a:fld>
            <a:endParaRPr lang="en-US" altLang="zh-CN"/>
          </a:p>
        </p:txBody>
      </p:sp>
      <p:sp>
        <p:nvSpPr>
          <p:cNvPr id="4"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5" name="Slide Number Placeholder 5"/>
          <p:cNvSpPr>
            <a:spLocks noGrp="1"/>
          </p:cNvSpPr>
          <p:nvPr>
            <p:ph type="sldNum" sz="quarter" idx="12"/>
          </p:nvPr>
        </p:nvSpPr>
        <p:spPr/>
        <p:txBody>
          <a:bodyPr/>
          <a:lstStyle>
            <a:lvl1pPr>
              <a:defRPr/>
            </a:lvl1pPr>
          </a:lstStyle>
          <a:p>
            <a:pPr>
              <a:defRPr/>
            </a:pPr>
            <a:fld id="{65F2B37D-33B6-4C69-9BD0-32187E706945}"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F5701F-746E-469B-BDDA-F93B22D4DB72}" type="datetime1">
              <a:rPr lang="en-US" altLang="zh-CN" smtClean="0"/>
              <a:t>5/6/2025</a:t>
            </a:fld>
            <a:endParaRPr lang="en-US" altLang="zh-CN"/>
          </a:p>
        </p:txBody>
      </p:sp>
      <p:sp>
        <p:nvSpPr>
          <p:cNvPr id="3"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4" name="Slide Number Placeholder 5"/>
          <p:cNvSpPr>
            <a:spLocks noGrp="1"/>
          </p:cNvSpPr>
          <p:nvPr>
            <p:ph type="sldNum" sz="quarter" idx="12"/>
          </p:nvPr>
        </p:nvSpPr>
        <p:spPr/>
        <p:txBody>
          <a:bodyPr/>
          <a:lstStyle>
            <a:lvl1pPr>
              <a:defRPr/>
            </a:lvl1pPr>
          </a:lstStyle>
          <a:p>
            <a:pPr>
              <a:defRPr/>
            </a:pPr>
            <a:fld id="{D1009943-BA82-4F6A-BD7C-764069224CD2}"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707B1553-8BA7-4889-BEC6-891C13E10B98}" type="datetime1">
              <a:rPr lang="en-US" altLang="zh-CN" smtClean="0"/>
              <a:t>5/6/2025</a:t>
            </a:fld>
            <a:endParaRPr lang="en-US" altLang="zh-CN"/>
          </a:p>
        </p:txBody>
      </p:sp>
      <p:sp>
        <p:nvSpPr>
          <p:cNvPr id="6"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p:txBody>
          <a:bodyPr/>
          <a:lstStyle>
            <a:lvl1pPr>
              <a:defRPr/>
            </a:lvl1pPr>
          </a:lstStyle>
          <a:p>
            <a:pPr>
              <a:defRPr/>
            </a:pPr>
            <a:fld id="{E8CF26E5-2ED2-4F85-94A6-41EA43600B3E}"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sym typeface="Arial" panose="020B0604020202020204" pitchFamily="34" charset="0"/>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7A62BEB2-F18B-4C21-9638-A76426A31BD0}" type="datetime1">
              <a:rPr lang="en-US" altLang="zh-CN" smtClean="0"/>
              <a:t>5/6/2025</a:t>
            </a:fld>
            <a:endParaRPr lang="en-US" altLang="zh-CN"/>
          </a:p>
        </p:txBody>
      </p:sp>
      <p:sp>
        <p:nvSpPr>
          <p:cNvPr id="6"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7" name="Slide Number Placeholder 5"/>
          <p:cNvSpPr>
            <a:spLocks noGrp="1"/>
          </p:cNvSpPr>
          <p:nvPr>
            <p:ph type="sldNum" sz="quarter" idx="12"/>
          </p:nvPr>
        </p:nvSpPr>
        <p:spPr/>
        <p:txBody>
          <a:bodyPr/>
          <a:lstStyle>
            <a:lvl1pPr>
              <a:defRPr/>
            </a:lvl1pPr>
          </a:lstStyle>
          <a:p>
            <a:pPr>
              <a:defRPr/>
            </a:pPr>
            <a:fld id="{9F8C9128-8DD9-4172-A865-72B9B18E9A1F}"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p:txBody>
          <a:bodyPr/>
          <a:lstStyle>
            <a:lvl1pPr>
              <a:defRPr/>
            </a:lvl1pPr>
          </a:lstStyle>
          <a:p>
            <a:pPr>
              <a:defRPr/>
            </a:pPr>
            <a:fld id="{7CF3C754-25BE-4F5C-AB68-D771A03BCC90}" type="datetime1">
              <a:rPr lang="en-US" altLang="zh-CN" smtClean="0"/>
              <a:t>5/6/2025</a:t>
            </a:fld>
            <a:endParaRPr lang="en-US" altLang="zh-CN"/>
          </a:p>
        </p:txBody>
      </p:sp>
      <p:sp>
        <p:nvSpPr>
          <p:cNvPr id="5" name="Footer Placeholder 4"/>
          <p:cNvSpPr>
            <a:spLocks noGrp="1"/>
          </p:cNvSpPr>
          <p:nvPr>
            <p:ph type="ftr" sz="quarter" idx="11"/>
          </p:nvPr>
        </p:nvSpPr>
        <p:spPr/>
        <p:txBody>
          <a:bodyPr/>
          <a:lstStyle>
            <a:lvl1pPr>
              <a:defRPr/>
            </a:lvl1pPr>
          </a:lstStyle>
          <a:p>
            <a:pPr>
              <a:defRPr/>
            </a:pPr>
            <a:r>
              <a:rPr lang="en-US" altLang="zh-CN"/>
              <a:t>Modelling Transportation Systems · Southeast University · Zhiyuan Liu</a:t>
            </a:r>
          </a:p>
        </p:txBody>
      </p:sp>
      <p:sp>
        <p:nvSpPr>
          <p:cNvPr id="6" name="Slide Number Placeholder 5"/>
          <p:cNvSpPr>
            <a:spLocks noGrp="1"/>
          </p:cNvSpPr>
          <p:nvPr>
            <p:ph type="sldNum" sz="quarter" idx="12"/>
          </p:nvPr>
        </p:nvSpPr>
        <p:spPr/>
        <p:txBody>
          <a:bodyPr/>
          <a:lstStyle>
            <a:lvl1pPr>
              <a:defRPr/>
            </a:lvl1pPr>
          </a:lstStyle>
          <a:p>
            <a:pPr>
              <a:defRPr/>
            </a:pPr>
            <a:fld id="{D815748A-C05D-4102-BCCF-66D346F70087}"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9436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533400"/>
            <a:ext cx="6052930" cy="59436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p:cNvSpPr>
          <p:nvPr>
            <p:ph type="dt" sz="half" idx="10"/>
          </p:nvPr>
        </p:nvSpPr>
        <p:spPr>
          <a:xfrm>
            <a:off x="162560" y="19050"/>
            <a:ext cx="929393" cy="328613"/>
          </a:xfrm>
        </p:spPr>
        <p:txBody>
          <a:bodyPr/>
          <a:lstStyle>
            <a:lvl1pPr>
              <a:defRPr/>
            </a:lvl1pPr>
          </a:lstStyle>
          <a:p>
            <a:pPr>
              <a:defRPr/>
            </a:pPr>
            <a:fld id="{2343D20E-ACC7-4DDD-AC28-33869E6ABE9A}" type="datetime1">
              <a:rPr lang="en-US" altLang="zh-CN" smtClean="0"/>
              <a:t>5/6/2025</a:t>
            </a:fld>
            <a:endParaRPr lang="en-US" altLang="zh-CN" dirty="0"/>
          </a:p>
        </p:txBody>
      </p:sp>
      <p:sp>
        <p:nvSpPr>
          <p:cNvPr id="5" name="Footer Placeholder 4"/>
          <p:cNvSpPr>
            <a:spLocks noGrp="1"/>
          </p:cNvSpPr>
          <p:nvPr>
            <p:ph type="ftr" sz="quarter" idx="11"/>
          </p:nvPr>
        </p:nvSpPr>
        <p:spPr/>
        <p:txBody>
          <a:bodyPr/>
          <a:lstStyle>
            <a:lvl1pPr>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6" name="Slide Number Placeholder 5"/>
          <p:cNvSpPr>
            <a:spLocks noGrp="1"/>
          </p:cNvSpPr>
          <p:nvPr>
            <p:ph type="sldNum" sz="quarter" idx="12"/>
          </p:nvPr>
        </p:nvSpPr>
        <p:spPr>
          <a:xfrm>
            <a:off x="8720738" y="19050"/>
            <a:ext cx="416560" cy="328613"/>
          </a:xfrm>
        </p:spPr>
        <p:txBody>
          <a:bodyPr/>
          <a:lstStyle>
            <a:lvl1pPr>
              <a:defRPr/>
            </a:lvl1pPr>
          </a:lstStyle>
          <a:p>
            <a:pPr>
              <a:defRPr/>
            </a:pPr>
            <a:fld id="{93D8EEBC-8FFF-48D5-BA20-8C9570EB2408}" type="slidenum">
              <a:rPr lang="zh-CN" altLang="en-US"/>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220663"/>
            <a:ext cx="91440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1027" name="Title Placeholder 1"/>
          <p:cNvSpPr>
            <a:spLocks noGrp="1" noChangeArrowheads="1"/>
          </p:cNvSpPr>
          <p:nvPr>
            <p:ph type="title" idx="4294967295"/>
          </p:nvPr>
        </p:nvSpPr>
        <p:spPr bwMode="auto">
          <a:xfrm>
            <a:off x="457200" y="533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a:sym typeface="Arial" panose="020B0604020202020204" pitchFamily="34" charset="0"/>
              </a:rPr>
              <a:t>Click to edit Master title style</a:t>
            </a:r>
          </a:p>
        </p:txBody>
      </p:sp>
      <p:sp>
        <p:nvSpPr>
          <p:cNvPr id="1028" name="Text Placeholder 2"/>
          <p:cNvSpPr>
            <a:spLocks noGrp="1" noChangeArrowheads="1"/>
          </p:cNvSpPr>
          <p:nvPr>
            <p:ph type="body" idx="9"/>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sym typeface="Arial" panose="020B0604020202020204" pitchFamily="34" charset="0"/>
              </a:rPr>
              <a:t>Click to edit Master text styles</a:t>
            </a:r>
          </a:p>
          <a:p>
            <a:pPr lvl="1"/>
            <a:r>
              <a:rPr lang="en-US" altLang="zh-CN">
                <a:sym typeface="Arial" panose="020B0604020202020204" pitchFamily="34" charset="0"/>
              </a:rPr>
              <a:t>Second level</a:t>
            </a:r>
          </a:p>
          <a:p>
            <a:pPr lvl="2"/>
            <a:r>
              <a:rPr lang="en-US" altLang="zh-CN">
                <a:sym typeface="Arial" panose="020B0604020202020204" pitchFamily="34" charset="0"/>
              </a:rPr>
              <a:t>Third level</a:t>
            </a:r>
          </a:p>
          <a:p>
            <a:pPr lvl="3"/>
            <a:r>
              <a:rPr lang="en-US" altLang="zh-CN">
                <a:sym typeface="Arial" panose="020B0604020202020204" pitchFamily="34" charset="0"/>
              </a:rPr>
              <a:t>Fourth level</a:t>
            </a:r>
          </a:p>
          <a:p>
            <a:pPr lvl="4"/>
            <a:r>
              <a:rPr lang="en-US" altLang="zh-CN">
                <a:sym typeface="Arial" panose="020B0604020202020204" pitchFamily="34" charset="0"/>
              </a:rPr>
              <a:t>Fifth level</a:t>
            </a:r>
          </a:p>
        </p:txBody>
      </p:sp>
      <p:sp>
        <p:nvSpPr>
          <p:cNvPr id="1029" name="Rectangle 6"/>
          <p:cNvSpPr>
            <a:spLocks noChangeArrowheads="1"/>
          </p:cNvSpPr>
          <p:nvPr/>
        </p:nvSpPr>
        <p:spPr bwMode="auto">
          <a:xfrm>
            <a:off x="0" y="0"/>
            <a:ext cx="9144000" cy="365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a:solidFill>
                <a:srgbClr val="FFFFFF"/>
              </a:solidFill>
              <a:sym typeface="Arial" panose="020B0604020202020204" pitchFamily="34" charset="0"/>
            </a:endParaRPr>
          </a:p>
        </p:txBody>
      </p:sp>
      <p:sp>
        <p:nvSpPr>
          <p:cNvPr id="6" name="Date Placeholder 3"/>
          <p:cNvSpPr>
            <a:spLocks noGrp="1"/>
          </p:cNvSpPr>
          <p:nvPr>
            <p:ph type="dt" sz="half" idx="2"/>
          </p:nvPr>
        </p:nvSpPr>
        <p:spPr>
          <a:xfrm>
            <a:off x="162560" y="19050"/>
            <a:ext cx="2895600" cy="328613"/>
          </a:xfrm>
          <a:prstGeom prst="rect">
            <a:avLst/>
          </a:prstGeom>
          <a:noFill/>
          <a:ln w="9525">
            <a:noFill/>
            <a:miter/>
          </a:ln>
        </p:spPr>
        <p:txBody>
          <a:bodyPr vert="horz" wrap="square" lIns="91440" tIns="45720" rIns="91440" bIns="45720" numCol="1" anchor="ctr" anchorCtr="0" compatLnSpc="1"/>
          <a:lstStyle>
            <a:lvl1pPr eaLnBrk="1" hangingPunct="1">
              <a:buFont typeface="Arial" panose="020B0604020202020204" pitchFamily="34" charset="0"/>
              <a:buNone/>
              <a:defRPr sz="1200" b="1">
                <a:solidFill>
                  <a:srgbClr val="FFFFFF"/>
                </a:solidFill>
              </a:defRPr>
            </a:lvl1pPr>
          </a:lstStyle>
          <a:p>
            <a:pPr>
              <a:defRPr/>
            </a:pPr>
            <a:fld id="{6E2D4AB0-441C-42B1-813F-D0D36EDB80B8}" type="datetime1">
              <a:rPr lang="en-US" altLang="zh-CN" smtClean="0"/>
              <a:t>5/6/2025</a:t>
            </a:fld>
            <a:endParaRPr lang="en-US" altLang="zh-CN" dirty="0"/>
          </a:p>
        </p:txBody>
      </p:sp>
      <p:sp>
        <p:nvSpPr>
          <p:cNvPr id="7" name="Footer Placeholder 4"/>
          <p:cNvSpPr>
            <a:spLocks noGrp="1"/>
          </p:cNvSpPr>
          <p:nvPr>
            <p:ph type="ftr" sz="quarter" idx="3"/>
          </p:nvPr>
        </p:nvSpPr>
        <p:spPr>
          <a:xfrm>
            <a:off x="3946407" y="19050"/>
            <a:ext cx="4831731" cy="328613"/>
          </a:xfrm>
          <a:prstGeom prst="rect">
            <a:avLst/>
          </a:prstGeom>
          <a:noFill/>
          <a:ln w="9525">
            <a:noFill/>
            <a:miter/>
          </a:ln>
        </p:spPr>
        <p:txBody>
          <a:bodyPr vert="horz" wrap="square" lIns="91440" tIns="45720" rIns="91440" bIns="45720" numCol="1" anchor="ctr" anchorCtr="0" compatLnSpc="1"/>
          <a:lstStyle>
            <a:lvl1pPr algn="ctr" eaLnBrk="1" hangingPunct="1">
              <a:buFont typeface="Arial" panose="020B0604020202020204" pitchFamily="34" charset="0"/>
              <a:buNone/>
              <a:defRPr sz="1000" b="1">
                <a:solidFill>
                  <a:srgbClr val="FFFFFF"/>
                </a:solidFill>
              </a:defRPr>
            </a:lvl1pPr>
          </a:lstStyle>
          <a:p>
            <a:pPr algn="r">
              <a:defRPr/>
            </a:pPr>
            <a:r>
              <a:rPr lang="en-US" altLang="zh-CN" dirty="0"/>
              <a:t>Modelling Transportation Systems · Southeast University · </a:t>
            </a:r>
            <a:r>
              <a:rPr lang="en-US" altLang="zh-CN" dirty="0" err="1"/>
              <a:t>Zhiyuan</a:t>
            </a:r>
            <a:r>
              <a:rPr lang="en-US" altLang="zh-CN" dirty="0"/>
              <a:t> Liu</a:t>
            </a:r>
          </a:p>
        </p:txBody>
      </p:sp>
      <p:sp>
        <p:nvSpPr>
          <p:cNvPr id="8" name="Slide Number Placeholder 5"/>
          <p:cNvSpPr>
            <a:spLocks noGrp="1"/>
          </p:cNvSpPr>
          <p:nvPr>
            <p:ph type="sldNum" sz="quarter" idx="4"/>
          </p:nvPr>
        </p:nvSpPr>
        <p:spPr>
          <a:xfrm>
            <a:off x="8756250" y="19050"/>
            <a:ext cx="387750" cy="328613"/>
          </a:xfrm>
          <a:prstGeom prst="rect">
            <a:avLst/>
          </a:prstGeom>
          <a:noFill/>
          <a:ln w="9525">
            <a:noFill/>
            <a:miter/>
          </a:ln>
        </p:spPr>
        <p:txBody>
          <a:bodyPr vert="horz" wrap="square" lIns="91440" tIns="45720" rIns="91440" bIns="45720" numCol="1" anchor="ctr" anchorCtr="0" compatLnSpc="1"/>
          <a:lstStyle>
            <a:lvl1pPr eaLnBrk="1" hangingPunct="1">
              <a:buFont typeface="Arial" panose="020B0604020202020204" pitchFamily="34" charset="0"/>
              <a:buNone/>
              <a:defRPr sz="1200" b="1">
                <a:solidFill>
                  <a:srgbClr val="FFFFFF"/>
                </a:solidFill>
              </a:defRPr>
            </a:lvl1pPr>
          </a:lstStyle>
          <a:p>
            <a:pPr>
              <a:defRPr/>
            </a:pPr>
            <a:fld id="{B637DA7A-EB76-4203-8E69-29EB9F37D3B8}" type="slidenum">
              <a:rPr lang="zh-CN" altLang="en-US" smtClean="0"/>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marL="914400" indent="-914400" algn="l" rtl="0" eaLnBrk="0" fontAlgn="base" hangingPunct="0">
        <a:spcBef>
          <a:spcPct val="0"/>
        </a:spcBef>
        <a:spcAft>
          <a:spcPct val="0"/>
        </a:spcAft>
        <a:buFont typeface="Arial" panose="020B0604020202020204" pitchFamily="34" charset="0"/>
        <a:defRPr sz="4000" kern="1200">
          <a:solidFill>
            <a:schemeClr val="tx2"/>
          </a:solidFill>
          <a:latin typeface="+mj-lt"/>
          <a:ea typeface="+mj-ea"/>
          <a:cs typeface="+mj-cs"/>
          <a:sym typeface="Arial" panose="020B0604020202020204" pitchFamily="34" charset="0"/>
        </a:defRPr>
      </a:lvl1pPr>
      <a:lvl2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2pPr>
      <a:lvl3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3pPr>
      <a:lvl4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4pPr>
      <a:lvl5pPr marL="914400" indent="-914400" algn="l" rtl="0" eaLnBrk="0" fontAlgn="base" hangingPunct="0">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5pPr>
      <a:lvl6pPr marL="13716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6pPr>
      <a:lvl7pPr marL="18288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7pPr>
      <a:lvl8pPr marL="22860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8pPr>
      <a:lvl9pPr marL="2743200" indent="-914400" algn="l" rtl="0" fontAlgn="base">
        <a:spcBef>
          <a:spcPct val="0"/>
        </a:spcBef>
        <a:spcAft>
          <a:spcPct val="0"/>
        </a:spcAft>
        <a:buFont typeface="Arial" panose="020B0604020202020204" pitchFamily="34" charset="0"/>
        <a:defRPr sz="4000">
          <a:solidFill>
            <a:schemeClr val="tx2"/>
          </a:solidFill>
          <a:latin typeface="Arial" panose="020B0604020202020204" pitchFamily="34" charset="0"/>
          <a:ea typeface="宋体" panose="02010600030101010101" pitchFamily="2" charset="-122"/>
          <a:sym typeface="Arial" panose="020B0604020202020204" pitchFamily="34" charset="0"/>
        </a:defRPr>
      </a:lvl9pPr>
    </p:titleStyle>
    <p:bodyStyle>
      <a:lvl1pPr marL="182880" indent="-182880"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880"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2155" lvl="2" indent="-182880"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880"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355"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notesSlide" Target="../notesSlides/notesSlide35.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7.emf"/><Relationship Id="rId11" Type="http://schemas.openxmlformats.org/officeDocument/2006/relationships/image" Target="../media/image39.wmf"/><Relationship Id="rId5" Type="http://schemas.openxmlformats.org/officeDocument/2006/relationships/oleObject" Target="../embeddings/oleObject1.bin"/><Relationship Id="rId10" Type="http://schemas.openxmlformats.org/officeDocument/2006/relationships/oleObject" Target="../embeddings/oleObject3.bin"/><Relationship Id="rId4" Type="http://schemas.openxmlformats.org/officeDocument/2006/relationships/image" Target="../media/image52.png"/><Relationship Id="rId9"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38.xml"/><Relationship Id="rId7" Type="http://schemas.openxmlformats.org/officeDocument/2006/relationships/image" Target="../media/image40.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62.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notesSlide" Target="../notesSlides/notesSlide39.xml"/><Relationship Id="rId7" Type="http://schemas.openxmlformats.org/officeDocument/2006/relationships/image" Target="../media/image40.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69.png"/><Relationship Id="rId5" Type="http://schemas.openxmlformats.org/officeDocument/2006/relationships/image" Target="../media/image58.png"/><Relationship Id="rId10" Type="http://schemas.openxmlformats.org/officeDocument/2006/relationships/image" Target="../media/image65.png"/><Relationship Id="rId4" Type="http://schemas.openxmlformats.org/officeDocument/2006/relationships/image" Target="../media/image55.png"/><Relationship Id="rId9" Type="http://schemas.openxmlformats.org/officeDocument/2006/relationships/image" Target="../media/image6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40.wmf"/><Relationship Id="rId5" Type="http://schemas.openxmlformats.org/officeDocument/2006/relationships/oleObject" Target="../embeddings/oleObject6.bin"/><Relationship Id="rId4" Type="http://schemas.openxmlformats.org/officeDocument/2006/relationships/image" Target="../media/image650.png"/></Relationships>
</file>

<file path=ppt/slides/_rels/slide4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76.png"/></Relationships>
</file>

<file path=ppt/slides/_rels/slide48.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notesSlide" Target="../notesSlides/notesSlide44.xml"/><Relationship Id="rId7"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81.png"/><Relationship Id="rId5" Type="http://schemas.openxmlformats.org/officeDocument/2006/relationships/image" Target="../media/image71.png"/><Relationship Id="rId4" Type="http://schemas.openxmlformats.org/officeDocument/2006/relationships/image" Target="../media/image79.png"/></Relationships>
</file>

<file path=ppt/slides/_rels/slide4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84.png"/><Relationship Id="rId4" Type="http://schemas.openxmlformats.org/officeDocument/2006/relationships/image" Target="../media/image71.png"/></Relationships>
</file>

<file path=ppt/slides/_rels/slide5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5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s>
</file>

<file path=ppt/slides/_rels/slide52.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6.png"/><Relationship Id="rId7" Type="http://schemas.openxmlformats.org/officeDocument/2006/relationships/image" Target="../media/image91.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10" Type="http://schemas.openxmlformats.org/officeDocument/2006/relationships/image" Target="../media/image99.png"/><Relationship Id="rId4" Type="http://schemas.openxmlformats.org/officeDocument/2006/relationships/image" Target="../media/image88.png"/><Relationship Id="rId9" Type="http://schemas.openxmlformats.org/officeDocument/2006/relationships/image" Target="../media/image9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101.png"/><Relationship Id="rId4" Type="http://schemas.openxmlformats.org/officeDocument/2006/relationships/image" Target="../media/image100.png"/></Relationships>
</file>

<file path=ppt/slides/_rels/slide7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traight Connector 7"/>
          <p:cNvSpPr>
            <a:spLocks noChangeShapeType="1"/>
          </p:cNvSpPr>
          <p:nvPr/>
        </p:nvSpPr>
        <p:spPr bwMode="auto">
          <a:xfrm>
            <a:off x="685800" y="1827213"/>
            <a:ext cx="7848600" cy="1587"/>
          </a:xfrm>
          <a:prstGeom prst="line">
            <a:avLst/>
          </a:prstGeom>
          <a:noFill/>
          <a:ln w="19050">
            <a:solidFill>
              <a:schemeClr val="tx2"/>
            </a:solidFill>
            <a:rou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8" name="TextBox 8"/>
          <p:cNvSpPr>
            <a:spLocks noChangeArrowheads="1"/>
          </p:cNvSpPr>
          <p:nvPr/>
        </p:nvSpPr>
        <p:spPr bwMode="auto">
          <a:xfrm>
            <a:off x="838200" y="990600"/>
            <a:ext cx="754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4000" b="1" i="0" u="none" strike="noStrike" kern="0" cap="none" spc="0" normalizeH="0" baseline="0" noProof="0">
                <a:ln>
                  <a:noFill/>
                </a:ln>
                <a:solidFill>
                  <a:schemeClr val="tx2"/>
                </a:solidFill>
                <a:effectLst/>
                <a:uLnTx/>
                <a:uFillTx/>
                <a:latin typeface="Arial (Headings)" charset="0"/>
                <a:ea typeface="宋体" panose="02010600030101010101" pitchFamily="2" charset="-122"/>
                <a:sym typeface="Arial (Headings)" charset="0"/>
              </a:rPr>
              <a:t> </a:t>
            </a:r>
          </a:p>
        </p:txBody>
      </p:sp>
      <p:sp>
        <p:nvSpPr>
          <p:cNvPr id="9" name="Subtitle 2"/>
          <p:cNvSpPr txBox="1">
            <a:spLocks noChangeArrowheads="1"/>
          </p:cNvSpPr>
          <p:nvPr/>
        </p:nvSpPr>
        <p:spPr bwMode="auto">
          <a:xfrm>
            <a:off x="1524000" y="45720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82880" indent="-182880" algn="l" rtl="0" eaLnBrk="0" fontAlgn="base" hangingPunct="0">
              <a:spcBef>
                <a:spcPct val="20000"/>
              </a:spcBef>
              <a:spcAft>
                <a:spcPct val="0"/>
              </a:spcAft>
              <a:buClr>
                <a:schemeClr val="accent1"/>
              </a:buClr>
              <a:buSzPct val="85000"/>
              <a:buFont typeface="Wingdings" panose="05000000000000000000" pitchFamily="2" charset="2"/>
              <a:buChar char="q"/>
              <a:defRPr sz="2400" kern="1200">
                <a:solidFill>
                  <a:schemeClr val="tx1"/>
                </a:solidFill>
                <a:latin typeface="+mn-lt"/>
                <a:ea typeface="+mn-ea"/>
                <a:cs typeface="+mn-cs"/>
                <a:sym typeface="Arial" panose="020B0604020202020204" pitchFamily="34" charset="0"/>
              </a:defRPr>
            </a:lvl1pPr>
            <a:lvl2pPr marL="457200" lvl="1" indent="-182880" algn="l" rtl="0" eaLnBrk="0" fontAlgn="base" hangingPunct="0">
              <a:spcBef>
                <a:spcPct val="20000"/>
              </a:spcBef>
              <a:spcAft>
                <a:spcPct val="0"/>
              </a:spcAft>
              <a:buClr>
                <a:schemeClr val="accent1"/>
              </a:buClr>
              <a:buSzPct val="85000"/>
              <a:buFont typeface="Wingdings" panose="05000000000000000000" pitchFamily="2" charset="2"/>
              <a:buChar char="•"/>
              <a:defRPr sz="2000" kern="1200">
                <a:solidFill>
                  <a:schemeClr val="tx1"/>
                </a:solidFill>
                <a:latin typeface="+mn-lt"/>
                <a:ea typeface="+mn-ea"/>
                <a:cs typeface="+mn-cs"/>
                <a:sym typeface="Arial" panose="020B0604020202020204" pitchFamily="34" charset="0"/>
              </a:defRPr>
            </a:lvl2pPr>
            <a:lvl3pPr marL="732155" lvl="2" indent="-182880" algn="l" rtl="0" eaLnBrk="0" fontAlgn="base" hangingPunct="0">
              <a:spcBef>
                <a:spcPct val="20000"/>
              </a:spcBef>
              <a:spcAft>
                <a:spcPct val="0"/>
              </a:spcAft>
              <a:buClr>
                <a:schemeClr val="accent1"/>
              </a:buClr>
              <a:buSzPct val="90000"/>
              <a:buFont typeface="Wingdings" panose="05000000000000000000" pitchFamily="2" charset="2"/>
              <a:buChar char="•"/>
              <a:defRPr kern="1200">
                <a:solidFill>
                  <a:schemeClr val="tx1"/>
                </a:solidFill>
                <a:latin typeface="+mn-lt"/>
                <a:ea typeface="+mn-ea"/>
                <a:cs typeface="+mn-cs"/>
                <a:sym typeface="Arial" panose="020B0604020202020204" pitchFamily="34" charset="0"/>
              </a:defRPr>
            </a:lvl3pPr>
            <a:lvl4pPr marL="1006475" lvl="3" indent="-182880" algn="l" rtl="0" eaLnBrk="0" fontAlgn="base" hangingPunct="0">
              <a:spcBef>
                <a:spcPct val="20000"/>
              </a:spcBef>
              <a:spcAft>
                <a:spcPct val="0"/>
              </a:spcAft>
              <a:buClr>
                <a:schemeClr val="accent1"/>
              </a:buClr>
              <a:buSzPct val="90000"/>
              <a:buFont typeface="Wingdings" panose="05000000000000000000" pitchFamily="2" charset="2"/>
              <a:buChar char="•"/>
              <a:defRPr sz="1600" kern="1200">
                <a:solidFill>
                  <a:schemeClr val="tx1"/>
                </a:solidFill>
                <a:latin typeface="+mn-lt"/>
                <a:ea typeface="+mn-ea"/>
                <a:cs typeface="+mn-cs"/>
                <a:sym typeface="Arial" panose="020B0604020202020204" pitchFamily="34" charset="0"/>
              </a:defRPr>
            </a:lvl4pPr>
            <a:lvl5pPr marL="1189355" lvl="4" indent="-136525" algn="l" rtl="0" eaLnBrk="0" fontAlgn="base" hangingPunct="0">
              <a:spcBef>
                <a:spcPct val="20000"/>
              </a:spcBef>
              <a:spcAft>
                <a:spcPct val="0"/>
              </a:spcAft>
              <a:buClr>
                <a:schemeClr val="accent1"/>
              </a:buClr>
              <a:buSzPct val="100000"/>
              <a:buFont typeface="Wingdings" panose="05000000000000000000" pitchFamily="2" charset="2"/>
              <a:buChar char="•"/>
              <a:defRPr sz="1400" kern="1200">
                <a:solidFill>
                  <a:schemeClr val="tx1"/>
                </a:solidFill>
                <a:latin typeface="+mn-lt"/>
                <a:ea typeface="+mn-ea"/>
                <a:cs typeface="+mn-cs"/>
                <a:sym typeface="Arial" panose="020B0604020202020204" pitchFamily="34" charset="0"/>
              </a:defRPr>
            </a:lvl5pPr>
            <a:lvl6pPr marL="2514600" lvl="5"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6pPr>
            <a:lvl7pPr marL="2971800" lvl="6"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7pPr>
            <a:lvl8pPr marL="3429000" lvl="7"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8pPr>
            <a:lvl9pPr marL="3886200" lvl="8" indent="-228600" algn="l" defTabSz="914400" eaLnBrk="1" fontAlgn="base" latinLnBrk="0" hangingPunct="1">
              <a:spcBef>
                <a:spcPct val="20000"/>
              </a:spcBef>
              <a:spcAft>
                <a:spcPct val="0"/>
              </a:spcAft>
              <a:buClr>
                <a:schemeClr val="accent1"/>
              </a:buClr>
              <a:buSzPct val="100000"/>
              <a:buFont typeface="Wingdings" panose="05000000000000000000" pitchFamily="2" charset="2"/>
              <a:buChar char="•"/>
              <a:defRPr sz="1400" b="0" i="0" u="none" kern="1200" baseline="0">
                <a:solidFill>
                  <a:schemeClr val="tx1"/>
                </a:solidFill>
                <a:latin typeface="+mn-lt"/>
                <a:ea typeface="+mn-ea"/>
                <a:cs typeface="+mn-cs"/>
                <a:sym typeface="Arial" panose="020B0604020202020204" pitchFamily="34" charset="0"/>
              </a:defRPr>
            </a:lvl9pPr>
          </a:lstStyle>
          <a:p>
            <a:pPr defTabSz="914400" eaLnBrk="1" hangingPunct="1"/>
            <a:r>
              <a:rPr lang="zh-CN" altLang="en-US" dirty="0">
                <a:latin typeface="+mj-ea"/>
                <a:ea typeface="+mj-ea"/>
                <a:sym typeface="Times New Roman" panose="02020603050405020304" pitchFamily="18" charset="0"/>
              </a:rPr>
              <a:t>刘志远教授</a:t>
            </a:r>
          </a:p>
          <a:p>
            <a:pPr defTabSz="914400" eaLnBrk="1" hangingPunct="1"/>
            <a:r>
              <a:rPr lang="zh-CN" altLang="en-US" dirty="0">
                <a:latin typeface="Times New Roman" panose="02020603050405020304" pitchFamily="18" charset="0"/>
                <a:ea typeface="方正舒体" panose="02010601030101010101" pitchFamily="2" charset="-122"/>
                <a:sym typeface="Times New Roman" panose="02020603050405020304" pitchFamily="18" charset="0"/>
              </a:rPr>
              <a:t>Email: </a:t>
            </a:r>
            <a:r>
              <a:rPr lang="en-US" altLang="zh-CN" dirty="0">
                <a:latin typeface="Times New Roman" panose="02020603050405020304" pitchFamily="18" charset="0"/>
                <a:ea typeface="方正舒体" panose="02010601030101010101" pitchFamily="2" charset="-122"/>
                <a:sym typeface="Times New Roman" panose="02020603050405020304" pitchFamily="18" charset="0"/>
              </a:rPr>
              <a:t>zhiyuanl@seu.edu.cn</a:t>
            </a:r>
            <a:endParaRPr lang="zh-CN" altLang="en-US" dirty="0">
              <a:latin typeface="Times New Roman" panose="02020603050405020304" pitchFamily="18" charset="0"/>
              <a:ea typeface="方正舒体" panose="02010601030101010101" pitchFamily="2" charset="-122"/>
              <a:sym typeface="Times New Roman" panose="02020603050405020304" pitchFamily="18" charset="0"/>
            </a:endParaRPr>
          </a:p>
        </p:txBody>
      </p:sp>
      <p:sp>
        <p:nvSpPr>
          <p:cNvPr id="10" name="TextBox 3"/>
          <p:cNvSpPr>
            <a:spLocks noChangeArrowheads="1"/>
          </p:cNvSpPr>
          <p:nvPr/>
        </p:nvSpPr>
        <p:spPr bwMode="auto">
          <a:xfrm>
            <a:off x="279400" y="990600"/>
            <a:ext cx="863092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4000" b="1" dirty="0">
                <a:solidFill>
                  <a:schemeClr val="tx2"/>
                </a:solidFill>
                <a:latin typeface="微软雅黑" panose="020B0503020204020204" pitchFamily="34" charset="-122"/>
                <a:ea typeface="微软雅黑" panose="020B0503020204020204" pitchFamily="34" charset="-122"/>
                <a:sym typeface="Arial (Headings)" charset="0"/>
              </a:rPr>
              <a:t>交通大数据</a:t>
            </a:r>
          </a:p>
        </p:txBody>
      </p:sp>
      <p:sp>
        <p:nvSpPr>
          <p:cNvPr id="11" name="文本框 1"/>
          <p:cNvSpPr txBox="1">
            <a:spLocks noChangeArrowheads="1"/>
          </p:cNvSpPr>
          <p:nvPr/>
        </p:nvSpPr>
        <p:spPr bwMode="auto">
          <a:xfrm>
            <a:off x="1905000" y="2877344"/>
            <a:ext cx="533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algn="ctr" defTabSz="914400">
              <a:defRPr/>
            </a:pPr>
            <a:r>
              <a:rPr lang="zh-CN" altLang="en-US" sz="3600" b="1" kern="0"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集成学习</a:t>
            </a:r>
            <a:endParaRPr kumimoji="0" lang="zh-CN" altLang="en-US" sz="3600" b="1"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日期占位符 1"/>
          <p:cNvSpPr>
            <a:spLocks noGrp="1"/>
          </p:cNvSpPr>
          <p:nvPr>
            <p:ph type="dt" sz="half" idx="10"/>
          </p:nvPr>
        </p:nvSpPr>
        <p:spPr/>
        <p:txBody>
          <a:bodyPr/>
          <a:lstStyle/>
          <a:p>
            <a:pPr>
              <a:defRPr/>
            </a:pPr>
            <a:fld id="{5CDE8EB7-6797-404D-973F-E11351D47766}" type="datetime1">
              <a:rPr lang="en-US" altLang="zh-CN" smtClean="0"/>
              <a:t>5/6/2025</a:t>
            </a:fld>
            <a:endParaRPr lang="en-US" altLang="zh-CN" dirty="0"/>
          </a:p>
        </p:txBody>
      </p:sp>
      <p:sp>
        <p:nvSpPr>
          <p:cNvPr id="12" name="灯片编号占位符 11"/>
          <p:cNvSpPr>
            <a:spLocks noGrp="1"/>
          </p:cNvSpPr>
          <p:nvPr>
            <p:ph type="sldNum" sz="quarter" idx="12"/>
          </p:nvPr>
        </p:nvSpPr>
        <p:spPr/>
        <p:txBody>
          <a:bodyPr/>
          <a:lstStyle/>
          <a:p>
            <a:pPr>
              <a:defRPr/>
            </a:pPr>
            <a:fld id="{A8A04E82-56C5-473E-AB74-E41CD95FB2B4}" type="slidenum">
              <a:rPr lang="zh-CN" altLang="en-US" smtClean="0"/>
              <a:t>1</a:t>
            </a:fld>
            <a:endParaRPr lang="en-US" altLang="zh-CN" dirty="0"/>
          </a:p>
        </p:txBody>
      </p:sp>
      <p:sp>
        <p:nvSpPr>
          <p:cNvPr id="16" name="页脚占位符 2"/>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5CDE8EB7-6797-404D-973F-E11351D47766}" type="datetime1">
              <a:rPr lang="en-US" altLang="zh-CN" smtClean="0"/>
              <a:t>5/6/2025</a:t>
            </a:fld>
            <a:endParaRPr lang="en-US" altLang="zh-CN" dirty="0"/>
          </a:p>
        </p:txBody>
      </p:sp>
      <p:sp>
        <p:nvSpPr>
          <p:cNvPr id="3" name="页脚占位符 2"/>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
        <p:nvSpPr>
          <p:cNvPr id="12" name="灯片编号占位符 11"/>
          <p:cNvSpPr>
            <a:spLocks noGrp="1"/>
          </p:cNvSpPr>
          <p:nvPr>
            <p:ph type="sldNum" sz="quarter" idx="12"/>
          </p:nvPr>
        </p:nvSpPr>
        <p:spPr/>
        <p:txBody>
          <a:bodyPr/>
          <a:lstStyle/>
          <a:p>
            <a:pPr>
              <a:defRPr/>
            </a:pPr>
            <a:fld id="{A8A04E82-56C5-473E-AB74-E41CD95FB2B4}" type="slidenum">
              <a:rPr lang="zh-CN" altLang="en-US" smtClean="0"/>
              <a:t>2</a:t>
            </a:fld>
            <a:endParaRPr lang="en-US" altLang="zh-CN"/>
          </a:p>
        </p:txBody>
      </p:sp>
      <p:sp>
        <p:nvSpPr>
          <p:cNvPr id="13" name="标题 1"/>
          <p:cNvSpPr>
            <a:spLocks noGrp="1"/>
          </p:cNvSpPr>
          <p:nvPr>
            <p:ph type="title"/>
          </p:nvPr>
        </p:nvSpPr>
        <p:spPr>
          <a:xfrm>
            <a:off x="457200" y="462280"/>
            <a:ext cx="8229600" cy="990600"/>
          </a:xfrm>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聚类分析</a:t>
            </a:r>
          </a:p>
        </p:txBody>
      </p:sp>
      <p:sp>
        <p:nvSpPr>
          <p:cNvPr id="14" name="内容占位符 2"/>
          <p:cNvSpPr>
            <a:spLocks noGrp="1"/>
          </p:cNvSpPr>
          <p:nvPr>
            <p:ph idx="1"/>
          </p:nvPr>
        </p:nvSpPr>
        <p:spPr>
          <a:xfrm>
            <a:off x="457200" y="1367883"/>
            <a:ext cx="8577470" cy="5334000"/>
          </a:xfrm>
        </p:spPr>
        <p:txBody>
          <a:bodyPr/>
          <a:lstStyle/>
          <a:p>
            <a:r>
              <a:rPr lang="en-US" altLang="zh-CN" sz="28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学习目标</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了解集成学习的分类</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掌握典型</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集成方法</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了解</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集成学习中模型</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多样性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5CDE8EB7-6797-404D-973F-E11351D47766}" type="datetime1">
              <a:rPr lang="en-US" altLang="zh-CN" smtClean="0"/>
              <a:t>5/6/2025</a:t>
            </a:fld>
            <a:endParaRPr lang="en-US" altLang="zh-CN" dirty="0"/>
          </a:p>
        </p:txBody>
      </p:sp>
      <p:sp>
        <p:nvSpPr>
          <p:cNvPr id="12" name="灯片编号占位符 11"/>
          <p:cNvSpPr>
            <a:spLocks noGrp="1"/>
          </p:cNvSpPr>
          <p:nvPr>
            <p:ph type="sldNum" sz="quarter" idx="12"/>
          </p:nvPr>
        </p:nvSpPr>
        <p:spPr/>
        <p:txBody>
          <a:bodyPr/>
          <a:lstStyle/>
          <a:p>
            <a:pPr>
              <a:defRPr/>
            </a:pPr>
            <a:fld id="{A8A04E82-56C5-473E-AB74-E41CD95FB2B4}" type="slidenum">
              <a:rPr lang="zh-CN" altLang="en-US" smtClean="0"/>
              <a:t>3</a:t>
            </a:fld>
            <a:endParaRPr lang="en-US" altLang="zh-CN"/>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集成学习分类</a:t>
            </a:r>
          </a:p>
        </p:txBody>
      </p:sp>
      <p:sp>
        <p:nvSpPr>
          <p:cNvPr id="14" name="内容占位符 2"/>
          <p:cNvSpPr>
            <a:spLocks noGrp="1"/>
          </p:cNvSpPr>
          <p:nvPr>
            <p:ph idx="1"/>
          </p:nvPr>
        </p:nvSpPr>
        <p:spPr>
          <a:xfrm>
            <a:off x="457200" y="1452878"/>
            <a:ext cx="8299050" cy="4942842"/>
          </a:xfrm>
        </p:spPr>
        <p:txBody>
          <a:bodyPr/>
          <a:lstStyle/>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集成学习的定义</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集成学习分类</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集成学习（</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Ensemble learning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 name="文本框 6"/>
          <p:cNvSpPr txBox="1"/>
          <p:nvPr/>
        </p:nvSpPr>
        <p:spPr>
          <a:xfrm>
            <a:off x="160890" y="1308098"/>
            <a:ext cx="8595360" cy="1751570"/>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请大家思考以下场景</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在日常生活中，我们经常需要做出决策，比如选修课程。</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各位同学面对没有学习过的课程时，如何判断这门课程是否适合自己</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pitchFamily="2" charset="2"/>
              <a:buChar char="Ø"/>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4" name="文本框 13"/>
          <p:cNvSpPr txBox="1"/>
          <p:nvPr/>
        </p:nvSpPr>
        <p:spPr>
          <a:xfrm>
            <a:off x="227427" y="2607029"/>
            <a:ext cx="8274147" cy="458908"/>
          </a:xfrm>
          <a:prstGeom prst="rect">
            <a:avLst/>
          </a:prstGeom>
          <a:noFill/>
        </p:spPr>
        <p:txBody>
          <a:bodyPr wrap="square">
            <a:spAutoFit/>
          </a:bodyPr>
          <a:lstStyle/>
          <a:p>
            <a:pPr marL="742950" marR="0" lvl="1" indent="-285750" algn="l" defTabSz="457200"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大家通常会征询学长学姐的上课体验，</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结合多个意见，做出更好的决策</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4" name="图片 3"/>
          <p:cNvPicPr>
            <a:picLocks noChangeAspect="1"/>
          </p:cNvPicPr>
          <p:nvPr/>
        </p:nvPicPr>
        <p:blipFill>
          <a:blip r:embed="rId3"/>
          <a:stretch>
            <a:fillRect/>
          </a:stretch>
        </p:blipFill>
        <p:spPr>
          <a:xfrm>
            <a:off x="2705299" y="3544954"/>
            <a:ext cx="4080511" cy="27339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集成学习（</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Ensemble learning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 name="文本框 6"/>
          <p:cNvSpPr txBox="1"/>
          <p:nvPr/>
        </p:nvSpPr>
        <p:spPr>
          <a:xfrm>
            <a:off x="160890" y="1308098"/>
            <a:ext cx="8595360" cy="920573"/>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请大家思考以下场景</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在团队合作参加竞赛时，你们是如何分配工作的？</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0" name="文本框 9"/>
          <p:cNvSpPr txBox="1"/>
          <p:nvPr/>
        </p:nvSpPr>
        <p:spPr>
          <a:xfrm>
            <a:off x="0" y="2298698"/>
            <a:ext cx="8304630" cy="874407"/>
          </a:xfrm>
          <a:prstGeom prst="rect">
            <a:avLst/>
          </a:prstGeom>
          <a:noFill/>
        </p:spPr>
        <p:txBody>
          <a:bodyPr wrap="square">
            <a:spAutoFit/>
          </a:bodyPr>
          <a:lstStyle/>
          <a:p>
            <a:pPr marL="742950" lvl="1" indent="-285750">
              <a:lnSpc>
                <a:spcPct val="150000"/>
              </a:lnSpc>
              <a:buFont typeface="Wingdings" panose="05000000000000000000" pitchFamily="2" charset="2"/>
              <a:buChar char="p"/>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每个人都有自己的专长和知识，</a:t>
            </a:r>
            <a:r>
              <a:rPr kumimoji="0" lang="zh-CN" altLang="en-US"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结合多个人的意见，贡献和特长</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，可以产出更好的成果</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15" name="文本框 14"/>
          <p:cNvSpPr txBox="1"/>
          <p:nvPr/>
        </p:nvSpPr>
        <p:spPr>
          <a:xfrm>
            <a:off x="801764" y="5782426"/>
            <a:ext cx="7184490" cy="961289"/>
          </a:xfrm>
          <a:prstGeom prst="rect">
            <a:avLst/>
          </a:prstGeom>
          <a:noFill/>
        </p:spPr>
        <p:txBody>
          <a:bodyPr wrap="square">
            <a:spAutoFit/>
          </a:bodyPr>
          <a:lstStyle/>
          <a:p>
            <a:pPr lvl="1" algn="ctr">
              <a:lnSpc>
                <a:spcPct val="150000"/>
              </a:lnSpc>
            </a:pP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我们在面对决策时，往往习惯于</a:t>
            </a:r>
            <a:r>
              <a:rPr lang="zh-CN" altLang="en-US" sz="2000" b="1" noProof="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综合多方视角与多方信息，做出最优决策！</a:t>
            </a:r>
            <a:endPar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pic>
        <p:nvPicPr>
          <p:cNvPr id="16" name="图片 15"/>
          <p:cNvPicPr>
            <a:picLocks noChangeAspect="1"/>
          </p:cNvPicPr>
          <p:nvPr/>
        </p:nvPicPr>
        <p:blipFill rotWithShape="1">
          <a:blip r:embed="rId3"/>
          <a:srcRect b="16694"/>
          <a:stretch>
            <a:fillRect/>
          </a:stretch>
        </p:blipFill>
        <p:spPr>
          <a:xfrm>
            <a:off x="907642" y="3189106"/>
            <a:ext cx="7184490" cy="25773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5CDE8EB7-6797-404D-973F-E11351D47766}" type="datetime1">
              <a:rPr lang="en-US" altLang="zh-CN" smtClean="0"/>
              <a:t>5/6/2025</a:t>
            </a:fld>
            <a:endParaRPr lang="en-US" altLang="zh-CN" dirty="0"/>
          </a:p>
        </p:txBody>
      </p:sp>
      <p:sp>
        <p:nvSpPr>
          <p:cNvPr id="12" name="灯片编号占位符 11"/>
          <p:cNvSpPr>
            <a:spLocks noGrp="1"/>
          </p:cNvSpPr>
          <p:nvPr>
            <p:ph type="sldNum" sz="quarter" idx="12"/>
          </p:nvPr>
        </p:nvSpPr>
        <p:spPr/>
        <p:txBody>
          <a:bodyPr/>
          <a:lstStyle/>
          <a:p>
            <a:pPr>
              <a:defRPr/>
            </a:pPr>
            <a:fld id="{A8A04E82-56C5-473E-AB74-E41CD95FB2B4}" type="slidenum">
              <a:rPr lang="zh-CN" altLang="en-US" smtClean="0"/>
              <a:t>6</a:t>
            </a:fld>
            <a:endParaRPr lang="en-US" altLang="zh-CN"/>
          </a:p>
        </p:txBody>
      </p:sp>
      <p:sp>
        <p:nvSpPr>
          <p:cNvPr id="13" name="标题 1"/>
          <p:cNvSpPr>
            <a:spLocks noGrp="1"/>
          </p:cNvSpPr>
          <p:nvPr>
            <p:ph type="title"/>
          </p:nvPr>
        </p:nvSpPr>
        <p:spPr>
          <a:xfrm>
            <a:off x="162560" y="440765"/>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集成学习（</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Ensemble learning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 name="文本框 6"/>
          <p:cNvSpPr txBox="1"/>
          <p:nvPr/>
        </p:nvSpPr>
        <p:spPr>
          <a:xfrm>
            <a:off x="160890" y="1308098"/>
            <a:ext cx="8595360" cy="212090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信大家都有这样的经历，在做重要决定时，往往会参考或综合多个朋友或家人的意见，集思广益，而不是独断专行。对于机器学习过程亦是如此，不同的学习器对于不同的数据环境和学习目标，有不同的学习效果，如果我们</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在构建机器学习模型的过程中，能够结合不同学习器的优势来共同完成同一个任务</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，是不是会取得更理想的效果呢？</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algn="r">
              <a:defRPr/>
            </a:pPr>
            <a:r>
              <a:rPr lang="zh-CN" altLang="en-US" dirty="0"/>
              <a:t>交通大数据</a:t>
            </a:r>
            <a:r>
              <a:rPr lang="en-US" altLang="zh-CN" dirty="0"/>
              <a:t>· </a:t>
            </a:r>
            <a:r>
              <a:rPr lang="zh-CN" altLang="en-US" dirty="0"/>
              <a:t>东南大学 刘志远教授</a:t>
            </a:r>
            <a:endParaRPr lang="en-US" altLang="zh-CN" dirty="0"/>
          </a:p>
        </p:txBody>
      </p:sp>
      <p:pic>
        <p:nvPicPr>
          <p:cNvPr id="5" name="图片 4"/>
          <p:cNvPicPr>
            <a:picLocks noChangeAspect="1"/>
          </p:cNvPicPr>
          <p:nvPr/>
        </p:nvPicPr>
        <p:blipFill>
          <a:blip r:embed="rId3"/>
          <a:stretch>
            <a:fillRect/>
          </a:stretch>
        </p:blipFill>
        <p:spPr>
          <a:xfrm>
            <a:off x="160890" y="3792589"/>
            <a:ext cx="1705813" cy="1705813"/>
          </a:xfrm>
          <a:prstGeom prst="rect">
            <a:avLst/>
          </a:prstGeom>
        </p:spPr>
      </p:pic>
      <p:sp>
        <p:nvSpPr>
          <p:cNvPr id="9" name="文本框 8"/>
          <p:cNvSpPr txBox="1"/>
          <p:nvPr/>
        </p:nvSpPr>
        <p:spPr>
          <a:xfrm>
            <a:off x="509204" y="6009848"/>
            <a:ext cx="7898731" cy="707886"/>
          </a:xfrm>
          <a:prstGeom prst="rect">
            <a:avLst/>
          </a:prstGeom>
          <a:noFill/>
        </p:spPr>
        <p:txBody>
          <a:bodyPr wrap="square">
            <a:spAutoFit/>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集成学习通过把多种学习器组合在一起，共同协作形成一个具有较强性能的集成学习器（更加精准、更加稳定）</a:t>
            </a:r>
          </a:p>
        </p:txBody>
      </p:sp>
      <p:pic>
        <p:nvPicPr>
          <p:cNvPr id="4" name="图片 3"/>
          <p:cNvPicPr>
            <a:picLocks noChangeAspect="1"/>
          </p:cNvPicPr>
          <p:nvPr/>
        </p:nvPicPr>
        <p:blipFill>
          <a:blip r:embed="rId4"/>
          <a:stretch>
            <a:fillRect/>
          </a:stretch>
        </p:blipFill>
        <p:spPr>
          <a:xfrm>
            <a:off x="2316479" y="3098090"/>
            <a:ext cx="6124917" cy="2813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集成学习分类</a:t>
            </a:r>
          </a:p>
        </p:txBody>
      </p:sp>
      <p:sp>
        <p:nvSpPr>
          <p:cNvPr id="7" name="文本框 6"/>
          <p:cNvSpPr txBox="1"/>
          <p:nvPr/>
        </p:nvSpPr>
        <p:spPr>
          <a:xfrm>
            <a:off x="162560" y="1061451"/>
            <a:ext cx="8593690" cy="196816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集成学习通过将多个学习器组合来实现提升模型性能的目标。通常，集成学习模型由两个学习步骤构成：</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首先构建一系列个体学习器，随后定义一种组合策略将这些个体学习器进行集成</a:t>
            </a:r>
            <a:r>
              <a:rPr kumimoji="0" lang="zh-CN" altLang="en-US"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。个体学习器一般可以是任意机器学习模型，例如决策树模型、支持向量机模型、神经网络模型。</a:t>
            </a:r>
            <a:endParaRPr kumimoji="0" lang="en-US" altLang="zh-CN" sz="18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050"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761" y="3363351"/>
            <a:ext cx="8774327" cy="267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集成学习分类</a:t>
            </a:r>
          </a:p>
        </p:txBody>
      </p:sp>
      <p:sp>
        <p:nvSpPr>
          <p:cNvPr id="7" name="文本框 6"/>
          <p:cNvSpPr txBox="1"/>
          <p:nvPr/>
        </p:nvSpPr>
        <p:spPr>
          <a:xfrm>
            <a:off x="162560" y="1061451"/>
            <a:ext cx="8593690" cy="3609771"/>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根据个体学习器的不同，集成学习的集成方式可以分为两类：</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同质集成和异质集成</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575945"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同质集成</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：个体学习器是同质的（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homogeneous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），即属于同种类型或拥有相似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的性能，此时的个体学习器也被称为</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基学习器</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base learner</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），相应</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的学习算法是</a:t>
            </a:r>
            <a:r>
              <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基学习算法（</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base learning algorithm</a:t>
            </a:r>
            <a:r>
              <a:rPr kumimoji="0" lang="zh-CN"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575945"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575945"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异质集成</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：个体学习器是异质的（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heterogeneous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），此时的个体学习器也被称为</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组件学习器</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component learner</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），个体学习器由不同学习算法训练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生成</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4" name="文本框 3"/>
          <p:cNvSpPr txBox="1"/>
          <p:nvPr/>
        </p:nvSpPr>
        <p:spPr>
          <a:xfrm>
            <a:off x="294249" y="5104620"/>
            <a:ext cx="8555501" cy="873957"/>
          </a:xfrm>
          <a:prstGeom prst="rect">
            <a:avLst/>
          </a:prstGeom>
          <a:noFill/>
        </p:spPr>
        <p:txBody>
          <a:bodyPr wrap="square">
            <a:spAutoFit/>
          </a:bodyPr>
          <a:lstStyle/>
          <a:p>
            <a:pPr>
              <a:lnSpc>
                <a:spcPct val="150000"/>
              </a:lnSpc>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目前流行的集成算法大多是同质集成，以决策树或者神经网络作为个体学习器构建集成学习模型。</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本课主要介绍两类经典的同质集成</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方法</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0" lang="en-US" altLang="zh-CN" sz="180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oosting</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与 </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0" lang="en-US" altLang="zh-CN" sz="180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agging</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Boosting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14" name="内容占位符 2"/>
          <p:cNvSpPr>
            <a:spLocks noGrp="1"/>
          </p:cNvSpPr>
          <p:nvPr>
            <p:ph idx="1"/>
          </p:nvPr>
        </p:nvSpPr>
        <p:spPr>
          <a:xfrm>
            <a:off x="457200" y="1784770"/>
            <a:ext cx="8299050" cy="4942842"/>
          </a:xfrm>
        </p:spPr>
        <p:txBody>
          <a:bodyPr/>
          <a:lstStyle/>
          <a:p>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简介</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AdaBoost</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提升树</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梯度提升树</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162560" y="1061451"/>
            <a:ext cx="8593690" cy="295189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集成学习中，通常称泛化性不高的单一基学习器为弱学习器（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weak learner</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）。尽管单一弱学习器的性能十分有限，但通过将多个弱学习器进行结合，往往能够获得巨大的性能提升。</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算法便旨在将多个预测性能较弱的基学习器顺序组合，形成一个强学习器</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算法的基本思想是：先从初始训练集训练出一个基学习器，</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再根据基学习器的表现对训练样本分布进行调整，使得先前基学习器做错的样本受到更多的关注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，然后基于调整后的样本集训练下一个基学习器。</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3" name="矩形: 圆角 2"/>
          <p:cNvSpPr/>
          <p:nvPr/>
        </p:nvSpPr>
        <p:spPr>
          <a:xfrm>
            <a:off x="1386987" y="4341893"/>
            <a:ext cx="886265"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a:t>
            </a:r>
          </a:p>
        </p:txBody>
      </p:sp>
      <p:sp>
        <p:nvSpPr>
          <p:cNvPr id="4" name="矩形: 圆角 3"/>
          <p:cNvSpPr/>
          <p:nvPr/>
        </p:nvSpPr>
        <p:spPr>
          <a:xfrm>
            <a:off x="463126" y="5558787"/>
            <a:ext cx="1390850"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基学习器</a:t>
            </a:r>
            <a:r>
              <a:rPr lang="en-US" altLang="zh-CN" dirty="0"/>
              <a:t>1</a:t>
            </a:r>
            <a:endParaRPr lang="zh-CN" altLang="en-US" dirty="0"/>
          </a:p>
        </p:txBody>
      </p:sp>
      <p:sp>
        <p:nvSpPr>
          <p:cNvPr id="5" name="矩形: 圆角 4"/>
          <p:cNvSpPr/>
          <p:nvPr/>
        </p:nvSpPr>
        <p:spPr>
          <a:xfrm>
            <a:off x="2025627" y="5558786"/>
            <a:ext cx="1390850"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训练效果</a:t>
            </a:r>
          </a:p>
        </p:txBody>
      </p:sp>
      <p:sp>
        <p:nvSpPr>
          <p:cNvPr id="9" name="矩形: 圆角 8"/>
          <p:cNvSpPr/>
          <p:nvPr/>
        </p:nvSpPr>
        <p:spPr>
          <a:xfrm>
            <a:off x="5394305" y="4341893"/>
            <a:ext cx="886265"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数据</a:t>
            </a:r>
          </a:p>
        </p:txBody>
      </p:sp>
      <p:sp>
        <p:nvSpPr>
          <p:cNvPr id="10" name="矩形: 圆角 9"/>
          <p:cNvSpPr/>
          <p:nvPr/>
        </p:nvSpPr>
        <p:spPr>
          <a:xfrm>
            <a:off x="4470444" y="5558787"/>
            <a:ext cx="1390850"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基学习器</a:t>
            </a:r>
            <a:r>
              <a:rPr lang="en-US" altLang="zh-CN" dirty="0"/>
              <a:t>2</a:t>
            </a:r>
            <a:endParaRPr lang="zh-CN" altLang="en-US" dirty="0"/>
          </a:p>
        </p:txBody>
      </p:sp>
      <p:sp>
        <p:nvSpPr>
          <p:cNvPr id="11" name="矩形: 圆角 10"/>
          <p:cNvSpPr/>
          <p:nvPr/>
        </p:nvSpPr>
        <p:spPr>
          <a:xfrm>
            <a:off x="6006856" y="5558785"/>
            <a:ext cx="1390850" cy="4755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训练效果</a:t>
            </a:r>
          </a:p>
        </p:txBody>
      </p:sp>
      <p:cxnSp>
        <p:nvCxnSpPr>
          <p:cNvPr id="15" name="直接箭头连接符 14"/>
          <p:cNvCxnSpPr/>
          <p:nvPr/>
        </p:nvCxnSpPr>
        <p:spPr>
          <a:xfrm flipV="1">
            <a:off x="3427187" y="4579655"/>
            <a:ext cx="1977828" cy="121689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p:nvPr/>
        </p:nvCxnSpPr>
        <p:spPr>
          <a:xfrm flipH="1">
            <a:off x="1169261" y="4817416"/>
            <a:ext cx="671569" cy="7413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a:off x="1840830" y="4817416"/>
            <a:ext cx="890932" cy="74137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p:nvPr/>
        </p:nvCxnSpPr>
        <p:spPr>
          <a:xfrm flipH="1">
            <a:off x="5176579" y="4817416"/>
            <a:ext cx="671569" cy="7413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p:nvPr/>
        </p:nvCxnSpPr>
        <p:spPr>
          <a:xfrm>
            <a:off x="5848148" y="4817416"/>
            <a:ext cx="864843" cy="7413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2" name="矩形: 圆角 31"/>
          <p:cNvSpPr/>
          <p:nvPr/>
        </p:nvSpPr>
        <p:spPr>
          <a:xfrm>
            <a:off x="385041" y="4133797"/>
            <a:ext cx="3120536" cy="231760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p:cNvSpPr/>
          <p:nvPr/>
        </p:nvSpPr>
        <p:spPr>
          <a:xfrm>
            <a:off x="4301026" y="4133797"/>
            <a:ext cx="3204049" cy="231760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椭圆 34"/>
          <p:cNvSpPr/>
          <p:nvPr/>
        </p:nvSpPr>
        <p:spPr>
          <a:xfrm>
            <a:off x="7760144" y="5351646"/>
            <a:ext cx="104400" cy="1058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椭圆 35"/>
          <p:cNvSpPr/>
          <p:nvPr/>
        </p:nvSpPr>
        <p:spPr>
          <a:xfrm>
            <a:off x="7948208" y="5351646"/>
            <a:ext cx="104400" cy="1058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椭圆 36"/>
          <p:cNvSpPr/>
          <p:nvPr/>
        </p:nvSpPr>
        <p:spPr>
          <a:xfrm>
            <a:off x="8159228" y="5351646"/>
            <a:ext cx="104400" cy="10587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文本框 37"/>
          <p:cNvSpPr txBox="1"/>
          <p:nvPr/>
        </p:nvSpPr>
        <p:spPr>
          <a:xfrm rot="19707318">
            <a:off x="3251605" y="4922242"/>
            <a:ext cx="1569660" cy="369332"/>
          </a:xfrm>
          <a:prstGeom prst="rect">
            <a:avLst/>
          </a:prstGeom>
          <a:solidFill>
            <a:schemeClr val="bg1"/>
          </a:solidFill>
        </p:spPr>
        <p:txBody>
          <a:bodyPr wrap="none" rtlCol="0">
            <a:spAutoFit/>
          </a:bodyPr>
          <a:lstStyle/>
          <a:p>
            <a:r>
              <a:rPr lang="zh-CN" altLang="en-US" dirty="0">
                <a:latin typeface="微软雅黑" panose="020B0503020204020204" pitchFamily="34" charset="-122"/>
                <a:ea typeface="微软雅黑" panose="020B0503020204020204" pitchFamily="34" charset="-122"/>
              </a:rPr>
              <a:t>调整数据分布</a:t>
            </a:r>
          </a:p>
        </p:txBody>
      </p:sp>
      <p:sp>
        <p:nvSpPr>
          <p:cNvPr id="40" name="文本框 39"/>
          <p:cNvSpPr txBox="1"/>
          <p:nvPr/>
        </p:nvSpPr>
        <p:spPr>
          <a:xfrm>
            <a:off x="1552462" y="5025512"/>
            <a:ext cx="66040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训练</a:t>
            </a:r>
            <a:endParaRPr lang="zh-CN" altLang="en-US" dirty="0"/>
          </a:p>
        </p:txBody>
      </p:sp>
      <p:sp>
        <p:nvSpPr>
          <p:cNvPr id="41" name="文本框 40"/>
          <p:cNvSpPr txBox="1"/>
          <p:nvPr/>
        </p:nvSpPr>
        <p:spPr>
          <a:xfrm>
            <a:off x="5559780" y="5035253"/>
            <a:ext cx="66040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训练</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345439" y="1325609"/>
            <a:ext cx="8593690" cy="465460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Boosting</a:t>
            </a:r>
            <a:r>
              <a:rPr kumimoji="0" lang="zh-CN"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算法的基本流程可以概括为如下步骤</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00050" marR="0" lvl="0" indent="-400050" algn="just" defTabSz="457200" rtl="0" eaLnBrk="1" fontAlgn="auto" latinLnBrk="0" hangingPunct="1">
              <a:lnSpc>
                <a:spcPct val="150000"/>
              </a:lnSpc>
              <a:spcBef>
                <a:spcPts val="0"/>
              </a:spcBef>
              <a:spcAft>
                <a:spcPts val="0"/>
              </a:spcAft>
              <a:buClrTx/>
              <a:buSzTx/>
              <a:buFont typeface="+mj-lt"/>
              <a:buAutoNum type="romanUcPeriod"/>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设计一个有一定预测能力的基学习器；</a:t>
            </a:r>
          </a:p>
          <a:p>
            <a:pPr marL="400050" marR="0" lvl="0" indent="-400050" algn="just" defTabSz="457200" rtl="0" eaLnBrk="1" fontAlgn="auto" latinLnBrk="0" hangingPunct="1">
              <a:lnSpc>
                <a:spcPct val="150000"/>
              </a:lnSpc>
              <a:spcBef>
                <a:spcPts val="0"/>
              </a:spcBef>
              <a:spcAft>
                <a:spcPts val="0"/>
              </a:spcAft>
              <a:buClrTx/>
              <a:buSzTx/>
              <a:buFont typeface="+mj-lt"/>
              <a:buAutoNum type="romanUcPeriod"/>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使用基学习器对训练集进行预测；</a:t>
            </a:r>
          </a:p>
          <a:p>
            <a:pPr marL="400050" marR="0" lvl="0" indent="-400050" algn="just" defTabSz="457200" rtl="0" eaLnBrk="1" fontAlgn="auto" latinLnBrk="0" hangingPunct="1">
              <a:lnSpc>
                <a:spcPct val="150000"/>
              </a:lnSpc>
              <a:spcBef>
                <a:spcPts val="0"/>
              </a:spcBef>
              <a:spcAft>
                <a:spcPts val="0"/>
              </a:spcAft>
              <a:buClrTx/>
              <a:buSzTx/>
              <a:buFont typeface="+mj-lt"/>
              <a:buAutoNum type="romanUcPeriod"/>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根据预测结果调整训练样本的分布，使得先前基学习器做错的训练样本在后续受到更多关注；</a:t>
            </a:r>
          </a:p>
          <a:p>
            <a:pPr marL="400050" marR="0" lvl="0" indent="-400050" algn="just" defTabSz="457200" rtl="0" eaLnBrk="1" fontAlgn="auto" latinLnBrk="0" hangingPunct="1">
              <a:lnSpc>
                <a:spcPct val="150000"/>
              </a:lnSpc>
              <a:spcBef>
                <a:spcPts val="0"/>
              </a:spcBef>
              <a:spcAft>
                <a:spcPts val="0"/>
              </a:spcAft>
              <a:buClrTx/>
              <a:buSzTx/>
              <a:buFont typeface="+mj-lt"/>
              <a:buAutoNum type="romanUcPeriod"/>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在调整分布后的训练集上，再训练一个新的基学习器，即返回步骤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反复执行以上步骤，直到学习器达到设定的预测精度或达到最大迭代次数。</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最终的集成模型即为这些基学习器的结合（例如对基学习器预测结果线性加权求和）</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275155" y="1427211"/>
            <a:ext cx="8593690" cy="96128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算法的设计思路，请思考：</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算法主要降低模型的偏差还是方差？为什么？</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162560" y="1061451"/>
            <a:ext cx="8818880" cy="530093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算法流程中第 </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III </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步</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调</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整训练集样本分布</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通常有两种处理方式：</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重赋权法（</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reweighting</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：在每一轮基学习器训练完成后，根据基学习器对于各个样本的预测误差，提高分类错误样本的权重，并降低分类正确样本的权重</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重采样法（</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resampling</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：并非所有机器学习模型都可以处理带权重的样本，对于这类模型，可以采用重采样法更新样本权重，重采样法并不直接将带权样本交给学习器，而是</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按照样本权重对训练集进行加权随机采样</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，生成一个新的数据集作为下一轮训练的训练集</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defRPr/>
            </a:pPr>
            <a:r>
              <a:rPr kumimoji="0" lang="en-US" altLang="zh-CN"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算法在训练的每一轮都要检查当前生成的基学习器是否满足基本条件</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，例如：检查当前基分类器是否比随机猜测更好。若条件不满足，则意味着数据中已没有更多有价值的信息可供学习，故弃用当前的基学习器，并终止学习过程，最终仅对此前迭代中的基学习器进行集成。</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AdaBoost</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162560" y="1000493"/>
            <a:ext cx="8818880" cy="2346283"/>
          </a:xfrm>
          <a:prstGeom prst="rect">
            <a:avLst/>
          </a:prstGeom>
          <a:noFill/>
        </p:spPr>
        <p:txBody>
          <a:bodyPr wrap="square" rtlCol="0">
            <a:spAutoFit/>
          </a:bodyPr>
          <a:lstStyle/>
          <a:p>
            <a:pPr lvl="0" algn="just">
              <a:lnSpc>
                <a:spcPct val="150000"/>
              </a:lnSpc>
              <a:defRPr/>
            </a:pP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是最具代表性的一类</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，在训练弱分类器的过程中，</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算法使用重赋权法，不断调整样本的分布，在每一轮迭代中都更加关注前一轮迭代分类错误的样本。</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经过多轮迭代，</a:t>
            </a:r>
            <a:r>
              <a:rPr kumimoji="0" lang="en-US" altLang="zh-CN" sz="2000" b="1" i="0" u="none" strike="noStrike" kern="1200" cap="none" spc="0" normalizeH="0" baseline="0" noProof="0" dirty="0" err="1">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训练出大量弱分类器，并将它们进行加权线性组合</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，最终形成一个强分类器。</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pSp>
        <p:nvGrpSpPr>
          <p:cNvPr id="3" name="组合 2"/>
          <p:cNvGrpSpPr/>
          <p:nvPr/>
        </p:nvGrpSpPr>
        <p:grpSpPr>
          <a:xfrm>
            <a:off x="1754332" y="3088008"/>
            <a:ext cx="5635335" cy="3651107"/>
            <a:chOff x="1754332" y="3088008"/>
            <a:chExt cx="5635335" cy="3651107"/>
          </a:xfrm>
        </p:grpSpPr>
        <p:pic>
          <p:nvPicPr>
            <p:cNvPr id="4" name="图片 3"/>
            <p:cNvPicPr>
              <a:picLocks noChangeAspect="1"/>
            </p:cNvPicPr>
            <p:nvPr/>
          </p:nvPicPr>
          <p:blipFill>
            <a:blip r:embed="rId3"/>
            <a:stretch>
              <a:fillRect/>
            </a:stretch>
          </p:blipFill>
          <p:spPr>
            <a:xfrm>
              <a:off x="1754332" y="3088008"/>
              <a:ext cx="5635335" cy="3512608"/>
            </a:xfrm>
            <a:prstGeom prst="rect">
              <a:avLst/>
            </a:prstGeom>
          </p:spPr>
        </p:pic>
        <p:sp>
          <p:nvSpPr>
            <p:cNvPr id="5" name="文本框 4"/>
            <p:cNvSpPr txBox="1"/>
            <p:nvPr/>
          </p:nvSpPr>
          <p:spPr>
            <a:xfrm>
              <a:off x="2636884" y="3119549"/>
              <a:ext cx="643949" cy="276999"/>
            </a:xfrm>
            <a:prstGeom prst="rect">
              <a:avLst/>
            </a:prstGeom>
            <a:solidFill>
              <a:schemeClr val="bg1"/>
            </a:solidFill>
          </p:spPr>
          <p:txBody>
            <a:bodyPr wrap="square" rtlCol="0">
              <a:spAutoFit/>
            </a:bodyPr>
            <a:lstStyle/>
            <a:p>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数据集</a:t>
              </a:r>
            </a:p>
          </p:txBody>
        </p:sp>
        <p:sp>
          <p:nvSpPr>
            <p:cNvPr id="6" name="文本框 5"/>
            <p:cNvSpPr txBox="1"/>
            <p:nvPr/>
          </p:nvSpPr>
          <p:spPr>
            <a:xfrm>
              <a:off x="4635500" y="3131459"/>
              <a:ext cx="702733" cy="461665"/>
            </a:xfrm>
            <a:prstGeom prst="rect">
              <a:avLst/>
            </a:prstGeom>
            <a:solidFill>
              <a:schemeClr val="bg1"/>
            </a:solidFill>
          </p:spPr>
          <p:txBody>
            <a:bodyPr wrap="square" rtlCol="0">
              <a:spAutoFit/>
            </a:bodyPr>
            <a:lstStyle/>
            <a:p>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加权</a:t>
              </a:r>
              <a:endPar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数据集</a:t>
              </a:r>
            </a:p>
          </p:txBody>
        </p:sp>
        <p:sp>
          <p:nvSpPr>
            <p:cNvPr id="9" name="文本框 8"/>
            <p:cNvSpPr txBox="1"/>
            <p:nvPr/>
          </p:nvSpPr>
          <p:spPr>
            <a:xfrm>
              <a:off x="1809364" y="6462116"/>
              <a:ext cx="1386801" cy="276999"/>
            </a:xfrm>
            <a:prstGeom prst="rect">
              <a:avLst/>
            </a:prstGeom>
            <a:solidFill>
              <a:schemeClr val="bg1"/>
            </a:solid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弱学习器</a:t>
              </a:r>
              <a:r>
                <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p:cNvSpPr txBox="1"/>
            <p:nvPr/>
          </p:nvSpPr>
          <p:spPr>
            <a:xfrm>
              <a:off x="3906114" y="6460640"/>
              <a:ext cx="1386801" cy="276999"/>
            </a:xfrm>
            <a:prstGeom prst="rect">
              <a:avLst/>
            </a:prstGeom>
            <a:solidFill>
              <a:schemeClr val="bg1"/>
            </a:solid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弱学习器</a:t>
              </a:r>
              <a:r>
                <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文本框 10"/>
            <p:cNvSpPr txBox="1"/>
            <p:nvPr/>
          </p:nvSpPr>
          <p:spPr>
            <a:xfrm>
              <a:off x="5946582" y="5519550"/>
              <a:ext cx="1386801" cy="276999"/>
            </a:xfrm>
            <a:prstGeom prst="rect">
              <a:avLst/>
            </a:prstGeom>
            <a:solidFill>
              <a:schemeClr val="bg1"/>
            </a:solidFill>
          </p:spPr>
          <p:txBody>
            <a:bodyPr wrap="square" rtlCol="0">
              <a:spAutoFit/>
            </a:bodyPr>
            <a:lstStyle/>
            <a:p>
              <a:pPr algn="ctr"/>
              <a:r>
                <a:rPr lang="zh-CN" altLang="en-US"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强学习器</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AdaBoost</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62176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以二分类问题为例说明</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的算法步骤</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设训练集为</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b>
                            </m:sSub>
                          </m:e>
                        </m:d>
                      </m:e>
                    </m:d>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其中</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是输入的训练样本，其标签</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−1,+1</m:t>
                        </m:r>
                      </m:e>
                    </m:d>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训练集共包含</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个样本，其中正样本数</a:t>
                </a:r>
                <a14:m>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，负样本数</a:t>
                </a:r>
                <a14:m>
                  <m:oMath xmlns:m="http://schemas.openxmlformats.org/officeDocument/2006/math">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up>
                    </m:s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轮迭代中第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个样本的权重为</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在第一轮迭代中，</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type m:val="lin"/>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𝑚</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基于预设的最大基分类器数量</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一共进行</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轮迭代。在第</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轮迭代中，</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会训练一个新的基分类器，记该分类器对第</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个样本的预测结果为</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计算分类器在训练集上的错误率</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kumimoji="0" lang="en-US" altLang="zh-CN"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r>
                      <m:rPr>
                        <m:sty m:val="p"/>
                      </m:rP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e>
                    </m:d>
                    <m:r>
                      <a:rPr lang="zh-CN" altLang="en-US">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是指示函数</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m:rPr>
                        <m:sty m:val="p"/>
                      </m:rP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为</m:t>
                            </m:r>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真</m:t>
                            </m:r>
                          </m:e>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为</m:t>
                            </m:r>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假</m:t>
                            </m:r>
                          </m:e>
                        </m:eqAr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，在上式中，对于预测正确的样本，该指示函数值为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，对于预测错误的样本，指示函数值为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p>
              <a:p>
                <a:pPr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6217600"/>
              </a:xfrm>
              <a:prstGeom prst="rect">
                <a:avLst/>
              </a:prstGeom>
              <a:blipFill rotWithShape="1">
                <a:blip r:embed="rId3"/>
                <a:stretch>
                  <a:fillRect t="-6" b="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4" name="文本框 3"/>
              <p:cNvSpPr txBox="1"/>
              <p:nvPr/>
            </p:nvSpPr>
            <p:spPr>
              <a:xfrm>
                <a:off x="2154702" y="4361076"/>
                <a:ext cx="457200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e>
                          </m:d>
                        </m:e>
                      </m:nary>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154702" y="4361076"/>
                <a:ext cx="4572000" cy="848566"/>
              </a:xfrm>
              <a:prstGeom prst="rect">
                <a:avLst/>
              </a:prstGeom>
              <a:blipFill rotWithShape="1">
                <a:blip r:embed="rId4"/>
                <a:stretch>
                  <a:fillRect l="-3" t="-63" r="3" b="12"/>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AdaBoost</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162560" y="959851"/>
                <a:ext cx="8818880" cy="7501255"/>
              </a:xfrm>
              <a:prstGeom prst="rect">
                <a:avLst/>
              </a:prstGeom>
              <a:noFill/>
            </p:spPr>
            <p:txBody>
              <a:bodyPr wrap="square" rtlCol="0" anchor="t" anchorCtr="0">
                <a:spAutoFit/>
              </a:bodyPr>
              <a:lstStyle/>
              <a:p>
                <a:pPr lvl="0" indent="0" algn="l" fontAlgn="auto">
                  <a:lnSpc>
                    <a:spcPct val="150000"/>
                  </a:lnSpc>
                  <a:defRPr/>
                </a:pPr>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为表示分类器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在最终的集成分类器中的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重要程度，</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引入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系数</a:t>
                </a:r>
                <a14:m>
                  <m:oMath xmlns:m="http://schemas.openxmlformats.org/officeDocument/2006/math">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𝑙𝑛</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f>
                          <m:f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en>
                        </m:f>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oMath>
                </a14:m>
                <a:r>
                  <a:rPr lang="zh-CN" altLang="en-US"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容</a:t>
                </a:r>
              </a:p>
              <a:p>
                <a:pPr lvl="0" indent="0" algn="l" fontAlgn="auto">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易看出，分类错误率越小的分类器，其</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重要度</a:t>
                </a:r>
                <a14:m>
                  <m:oMath xmlns:m="http://schemas.openxmlformats.org/officeDocument/2006/math">
                    <m:sSub>
                      <m:sSubPr>
                        <m:ctrlP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𝜶</m:t>
                        </m:r>
                      </m:e>
                      <m:sub>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越高。若分类器预测</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错误率</a:t>
                </a:r>
                <a14:m>
                  <m:oMath xmlns:m="http://schemas.openxmlformats.org/officeDocument/2006/math">
                    <m:sSub>
                      <m:sSubPr>
                        <m:ctrlP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𝜺</m:t>
                        </m:r>
                      </m:e>
                      <m:sub>
                        <m:r>
                          <a:rPr lang="en-US" altLang="zh-CN" b="1" i="1">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低</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，那么</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&gt;0</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m:rPr>
                        <m:nor/>
                      </m:rP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m:t>若</m:t>
                    </m:r>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不低</m:t>
                    </m:r>
                    <m:r>
                      <m:rPr>
                        <m:nor/>
                      </m:rP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m:t>于</m:t>
                    </m:r>
                    <m:r>
                      <m:rPr>
                        <m:nor/>
                      </m:rP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m:t>0.5</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，见课件</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18</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页</m:t>
                    </m:r>
                    <m:r>
                      <a:rPr lang="zh-CN" altLang="en-US"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的</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讨论；</m:t>
                    </m:r>
                  </m:oMath>
                </a14:m>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a:t>
                </a:r>
                <a:r>
                  <a:rPr lang="en-US" altLang="zh-CN"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，可以提前结束训练过程。</a:t>
                </a:r>
                <a:endParaRPr lang="en-US" altLang="zh-CN" b="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基于训练结果，</a:t>
                </a:r>
                <a:r>
                  <a:rPr lang="en-US" altLang="zh-CN"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通过如下步骤计算调整</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a:t>
                </a:r>
                <a14:m>
                  <m:oMath xmlns:m="http://schemas.openxmlformats.org/officeDocument/2006/math">
                    <m:r>
                      <a:rPr lang="en-US" altLang="zh-CN" b="0"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a:t>
                </a:r>
                <a:r>
                  <a:rPr lang="zh-CN" altLang="en-US"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样本的权重：</a:t>
                </a:r>
                <a:endParaRPr kumimoji="0" lang="en-US" altLang="zh-CN"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acc>
                            <m:acc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acc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acc>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m:oMathPara>
                </a14:m>
                <a:endParaRPr lang="en-US" altLang="zh-CN" i="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𝑒𝑥𝑝</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sz="3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&gt;0</m:t>
                    </m:r>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若样本预测正确，</a:t>
                </a:r>
                <a:r>
                  <a:rPr lang="en-US" altLang="zh-CN" b="0"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b="0" i="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&gt;0</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则</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，此时权重系数</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小于</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若样本预测错误，</a:t>
                </a:r>
                <a:r>
                  <a:rPr lang="en-US" altLang="zh-CN" b="0"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m:t>
                    </m:r>
                    <m:r>
                      <a:rPr lang="en-US" altLang="zh-CN" b="0" i="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则</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，此时权重系数</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大于</m:t>
                    </m:r>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p>
              <a:p>
                <a:pPr algn="just">
                  <a:lnSpc>
                    <a:spcPct val="150000"/>
                  </a:lnSpc>
                  <a:defRPr/>
                </a:pPr>
                <a:endParaRPr lang="en-US" altLang="zh-CN" sz="7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kumimoji="0" lang="en-US" altLang="zh-CN" sz="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新一轮迭代的样本权重由</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acc>
                          <m:acc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acc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acc>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归一化得到：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acc>
                                <m:acc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acc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acc>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num>
                        <m:den>
                          <m:nary>
                            <m:naryPr>
                              <m:chr m:val="∑"/>
                              <m:subHide m:val="on"/>
                              <m:supHide m:val="on"/>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acc>
                                    <m:acc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acc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acc>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nary>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959851"/>
                <a:ext cx="8818880" cy="7501255"/>
              </a:xfrm>
              <a:prstGeom prst="rect">
                <a:avLst/>
              </a:prstGeom>
              <a:blipFill>
                <a:blip r:embed="rId3"/>
                <a:stretch>
                  <a:fillRect l="-622" r="-318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AdaBoost</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475591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集成分类器的</a:t>
                </a: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预测结果</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由各个基分类器预测结果的加权线性组合投票决定，结合方法如下式所示（</a:t>
                </a:r>
                <a:r>
                  <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a:t>
                </a:r>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是分类器的总数量）：</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𝑓𝑖𝑛𝑎𝑙</m:t>
                          </m:r>
                        </m:sub>
                      </m:sSub>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20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𝑠𝑖𝑔𝑛</m:t>
                      </m:r>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nary>
                            <m:naryPr>
                              <m:chr m:val="∑"/>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20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nary>
                        </m:e>
                      </m:d>
                    </m:oMath>
                  </m:oMathPara>
                </a14:m>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r>
                  <a:rPr kumimoji="0" lang="en-US" altLang="zh-CN" sz="20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𝑓𝑖𝑛𝑎𝑙</m:t>
                        </m:r>
                      </m:sub>
                    </m:sSub>
                    <m:d>
                      <m:dPr>
                        <m:ctrlP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20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e>
                    </m:d>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是最终获得的集成分类器，</a:t>
                </a:r>
                <a14:m>
                  <m:oMath xmlns:m="http://schemas.openxmlformats.org/officeDocument/2006/math">
                    <m:r>
                      <a:rPr kumimoji="0" lang="en-US" altLang="zh-CN" sz="2000" b="1"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oMath>
                </a14:m>
                <a:r>
                  <a:rPr kumimoji="0"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是该分类器的输入特征</a:t>
                </a: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4755917"/>
              </a:xfrm>
              <a:prstGeom prst="rect">
                <a:avLst/>
              </a:prstGeom>
              <a:blipFill rotWithShape="1">
                <a:blip r:embed="rId3"/>
                <a:stretch>
                  <a:fillRect t="-8" r="-1843" b="3"/>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AdaBoost</a:t>
            </a:r>
            <a:endParaRPr lang="zh-CN" altLang="en-US" sz="32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131245" y="1120878"/>
                <a:ext cx="8818880" cy="493314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算法中，系数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𝑙𝑛</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，表示分类器 </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在最终的集成分类器中的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重要程度</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模型默认分类错误率低于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0.5</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，然而实践中存在分类预测错误率</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不</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低于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0.5</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的情况，此时分类器权重系数</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。对于这类情况，</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常有以下处理方式</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algn="just" defTabSz="457200" rtl="0" eaLnBrk="1" fontAlgn="auto" latinLnBrk="0" hangingPunct="1">
                  <a:lnSpc>
                    <a:spcPct val="15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结束迭代；</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algn="just" defTabSz="457200" rtl="0" eaLnBrk="1" fontAlgn="auto" latinLnBrk="0" hangingPunct="1">
                  <a:lnSpc>
                    <a:spcPct val="15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重新训练弱学习器（适合训练数据选取过程中存在随机性的情况）</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algn="just" defTabSz="457200" rtl="0" eaLnBrk="1" fontAlgn="auto" latinLnBrk="0" hangingPunct="1">
                  <a:lnSpc>
                    <a:spcPct val="15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不做任何特殊处理，将该弱学习器正常加入集成模型（可以理解为该弱学习器效果太差，因此在集成模型中做“反方向”的预测，</a:t>
                </a:r>
                <a:r>
                  <a:rPr kumimoji="0" lang="zh-CN" altLang="en-US" sz="18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部分实践</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表明这种处理效果很好）</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R="0" lvl="0" algn="just" defTabSz="457200" rtl="0" eaLnBrk="1" fontAlgn="auto" latinLnBrk="0" hangingPunct="1">
                  <a:lnSpc>
                    <a:spcPct val="150000"/>
                  </a:lnSpc>
                  <a:spcBef>
                    <a:spcPts val="0"/>
                  </a:spcBef>
                  <a:spcAft>
                    <a:spcPts val="0"/>
                  </a:spcAft>
                  <a:buClrTx/>
                  <a:buSzTx/>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备注：对于二分类问题，弱分类器的分类错误率通常低于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0.5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（优于随机选择），对于多分类问题，弱分类器的错误率高于</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0.5</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的情况比较多见，现有很多研究对处理多分类问题的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算法进行设计，感兴趣的同学可以自行查找资料学习。</a:t>
                </a:r>
              </a:p>
            </p:txBody>
          </p:sp>
        </mc:Choice>
        <mc:Fallback xmlns="">
          <p:sp>
            <p:nvSpPr>
              <p:cNvPr id="7" name="文本框 6"/>
              <p:cNvSpPr txBox="1">
                <a:spLocks noRot="1" noChangeAspect="1" noMove="1" noResize="1" noEditPoints="1" noAdjustHandles="1" noChangeArrowheads="1" noChangeShapeType="1" noTextEdit="1"/>
              </p:cNvSpPr>
              <p:nvPr/>
            </p:nvSpPr>
            <p:spPr>
              <a:xfrm>
                <a:off x="131245" y="1120878"/>
                <a:ext cx="8818880" cy="4933145"/>
              </a:xfrm>
              <a:prstGeom prst="rect">
                <a:avLst/>
              </a:prstGeom>
              <a:blipFill rotWithShape="1">
                <a:blip r:embed="rId3"/>
                <a:stretch>
                  <a:fillRect l="-5" t="-2" r="5" b="1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19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6041269"/>
              </a:xfrm>
              <a:prstGeom prst="rect">
                <a:avLst/>
              </a:prstGeom>
              <a:noFill/>
            </p:spPr>
            <p:txBody>
              <a:bodyPr wrap="square" rtlCol="0">
                <a:spAutoFit/>
              </a:bodyPr>
              <a:lstStyle/>
              <a:p>
                <a:pPr lvl="0" algn="just">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给定如表所示训练数据，只有一个特征。假设弱分类器是需要确定一个阈值</a:t>
                </a:r>
                <a14:m>
                  <m:oMath xmlns:m="http://schemas.openxmlformats.org/officeDocument/2006/math">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，即由</a:t>
                </a:r>
                <a14:m>
                  <m:oMath xmlns:m="http://schemas.openxmlformats.org/officeDocument/2006/math">
                    <m:r>
                      <a:rPr lang="en-US" altLang="zh-CN" sz="20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sz="20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m:t>
                    </m:r>
                    <m:r>
                      <a:rPr lang="en-US" altLang="zh-CN" sz="200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14:m>
                  <m:oMath xmlns:m="http://schemas.openxmlformats.org/officeDocument/2006/math">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sz="2000"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m:t>
                    </m:r>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r>
                      <a:rPr lang="zh-CN" altLang="en-US"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来决定</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分类结果（</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）。试用</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算法，学习一个强分类器（使其在训练集上误差为</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6041269"/>
              </a:xfrm>
              <a:prstGeom prst="rect">
                <a:avLst/>
              </a:prstGeom>
              <a:blipFill rotWithShape="1">
                <a:blip r:embed="rId3"/>
                <a:stretch>
                  <a:fillRect t="-6" r="-533" b="4"/>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992879"/>
            <a:ext cx="9144000" cy="12342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3840" y="2891443"/>
            <a:ext cx="881888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初始化权值</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5422125"/>
              </a:xfrm>
              <a:prstGeom prst="rect">
                <a:avLst/>
              </a:prstGeom>
              <a:noFill/>
            </p:spPr>
            <p:txBody>
              <a:bodyPr wrap="square" rtlCol="0">
                <a:spAutoFit/>
              </a:bodyPr>
              <a:lstStyle/>
              <a:p>
                <a:pPr lvl="0" algn="just">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给定如表所示训练数据，只有一个特征。假设弱分类器是需要确定一个阈值</a:t>
                </a:r>
                <a14:m>
                  <m:oMath xmlns:m="http://schemas.openxmlformats.org/officeDocument/2006/math">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，即由</a:t>
                </a:r>
                <a14:m>
                  <m:oMath xmlns:m="http://schemas.openxmlformats.org/officeDocument/2006/math">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m:t>
                    </m:r>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14:m>
                  <m:oMath xmlns:m="http://schemas.openxmlformats.org/officeDocument/2006/math">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m:t>
                    </m:r>
                    <m:r>
                      <a:rPr lang="en-US" altLang="zh-CN"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𝑣</m:t>
                    </m:r>
                    <m:r>
                      <a:rPr lang="zh-CN" altLang="en-US" sz="2000"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来决定</m:t>
                    </m:r>
                  </m:oMath>
                </a14:m>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分类结果（</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或</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）。试用</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算法，学习一个强分类器（使其在训练集上误差为</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11</m:t>
                              </m:r>
                            </m:sub>
                          </m:s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b>
                          </m:sSub>
                        </m:e>
                      </m:d>
                    </m:oMath>
                  </m:oMathPara>
                </a14:m>
                <a:endParaRPr kumimoji="0" lang="en-US" altLang="zh-CN"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  </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=1,2,…,10</m:t>
                      </m:r>
                    </m:oMath>
                  </m:oMathPara>
                </a14:m>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5422125"/>
              </a:xfrm>
              <a:prstGeom prst="rect">
                <a:avLst/>
              </a:prstGeom>
              <a:blipFill rotWithShape="1">
                <a:blip r:embed="rId3"/>
                <a:stretch>
                  <a:fillRect t="-7" r="-533" b="4"/>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992879"/>
            <a:ext cx="9144000" cy="123428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544303"/>
                <a:ext cx="8818880" cy="544533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时，当前权值分布</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下，通过计算，错误率最低的阈值为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&lt;2.5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&gt;2.5</m:t>
                              </m:r>
                            </m:e>
                          </m:eqAr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的误分类样本为</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7</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8</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的样本。误差率为</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7</m:t>
                        </m:r>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8</m:t>
                        </m:r>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9</m:t>
                        </m:r>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i</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0.3</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，计算系数 </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α</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log</m:t>
                    </m:r>
                    <m:d>
                      <m:d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f>
                          <m:f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en>
                        </m:f>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=0.4236</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a:t>
                </a:r>
                <a14:m>
                  <m:oMath xmlns:m="http://schemas.openxmlformats.org/officeDocument/2006/math">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=0.42</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36</m:t>
                    </m:r>
                    <m:sSub>
                      <m:sSubPr>
                        <m:ctrl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分类器</a:t>
                </a:r>
                <a14:m>
                  <m:oMath xmlns:m="http://schemas.openxmlformats.org/officeDocument/2006/math">
                    <m:r>
                      <m:rPr>
                        <m:sty m:val="p"/>
                      </m:rP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sign</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在</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训练数据集上有</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个误分类点，分别是</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7</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8</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的数据点</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544303"/>
                <a:ext cx="8818880" cy="5445337"/>
              </a:xfrm>
              <a:prstGeom prst="rect">
                <a:avLst/>
              </a:prstGeom>
              <a:blipFill rotWithShape="1">
                <a:blip r:embed="rId3"/>
                <a:stretch>
                  <a:fillRect l="-5" t="2" r="5" b="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4"/>
          <a:stretch>
            <a:fillRect/>
          </a:stretch>
        </p:blipFill>
        <p:spPr>
          <a:xfrm>
            <a:off x="0" y="4955925"/>
            <a:ext cx="9144000" cy="14935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722103"/>
                <a:ext cx="8818880" cy="576439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 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时，调整权重，</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endPar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sub>
                          </m:sSub>
                          <m:func>
                            <m:func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r>
                                <m:rPr>
                                  <m:sty m:val="p"/>
                                </m:rP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exp</m:t>
                              </m:r>
                            </m:fName>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sub>
                                      </m:sSub>
                                    </m:e>
                                  </m:d>
                                </m:e>
                              </m:d>
                            </m:e>
                          </m:func>
                        </m:num>
                        <m:den>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func>
                                <m:func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r>
                                    <m:rPr>
                                      <m:sty m:val="p"/>
                                    </m:rP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exp</m:t>
                                  </m:r>
                                </m:fName>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e>
                                      </m:d>
                                    </m:e>
                                  </m:d>
                                </m:e>
                              </m:func>
                            </m:e>
                          </m:nary>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Times New Roman" panose="02020603050405020304" pitchFamily="18" charset="0"/>
                    <a:sym typeface="Arial" panose="020B0604020202020204" pitchFamily="34" charset="0"/>
                  </a:rPr>
                  <a:t>得到：</a:t>
                </a:r>
                <a:endPar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(0.07143, 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143, 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143, </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𝟏𝟔𝟔𝟔𝟕</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m:oMathPara>
                </a14:m>
                <a:endParaRPr kumimoji="0" lang="en-US" altLang="zh-CN" sz="1800" b="1" i="1" u="none" strike="noStrike" kern="1200" cap="none" spc="0" normalizeH="0" baseline="0" noProof="0" dirty="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𝟏𝟔𝟔𝟔𝟕</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𝟏𝟔𝟔𝟕</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0.07143</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可以看出，在下一轮的训练中，</a:t>
                </a:r>
                <a:r>
                  <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7</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8</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的数据点</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有更高的权重，而在本轮训练中被正确识别的样本权重有所降低</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722103"/>
                <a:ext cx="8818880" cy="5764399"/>
              </a:xfrm>
              <a:prstGeom prst="rect">
                <a:avLst/>
              </a:prstGeom>
              <a:blipFill rotWithShape="1">
                <a:blip r:embed="rId3"/>
                <a:stretch>
                  <a:fillRect l="-5" t="2" r="5" b="7"/>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a:blip r:embed="rId4"/>
          <a:stretch>
            <a:fillRect/>
          </a:stretch>
        </p:blipFill>
        <p:spPr>
          <a:xfrm>
            <a:off x="0" y="4936454"/>
            <a:ext cx="9144000" cy="149359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62560" y="706780"/>
                <a:ext cx="8818880" cy="4428776"/>
              </a:xfrm>
              <a:prstGeom prst="rect">
                <a:avLst/>
              </a:prstGeom>
              <a:noFill/>
            </p:spPr>
            <p:txBody>
              <a:bodyPr wrap="square" rtlCol="0">
                <a:spAutoFit/>
              </a:bodyPr>
              <a:lstStyle/>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en-US" altLang="zh-CN"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时，当前权值分布</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下错误率最低的阈值为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8.5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&lt;8.5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&gt;8.5</m:t>
                              </m:r>
                            </m:e>
                          </m:eqAr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的误分类样本为</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的数据点，误差率为</a:t>
                </a:r>
                <a14:m>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24</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25</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26</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0.2143</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。计算系数 </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α</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r>
                      <m:rPr>
                        <m:sty m:val="p"/>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log</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en>
                        </m:f>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=0.6496</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b="0"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此时</a:t>
                </a:r>
                <a14:m>
                  <m:oMath xmlns:m="http://schemas.openxmlformats.org/officeDocument/2006/math">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=0.42</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36</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+0.6496</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此时分类器</a:t>
                </a:r>
                <a14:m>
                  <m:oMath xmlns:m="http://schemas.openxmlformats.org/officeDocument/2006/math">
                    <m:r>
                      <m:rPr>
                        <m:sty m:val="p"/>
                      </m:r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sign</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有</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个误分类点，分别是</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r>
                      <a:rPr lang="en-US" altLang="zh-CN" b="0" i="0"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对应的数据点</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706780"/>
                <a:ext cx="8818880" cy="4428776"/>
              </a:xfrm>
              <a:prstGeom prst="rect">
                <a:avLst/>
              </a:prstGeom>
              <a:blipFill rotWithShape="1">
                <a:blip r:embed="rId3"/>
                <a:stretch>
                  <a:fillRect t="-1" r="-1015" b="7"/>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a:blip r:embed="rId4"/>
          <a:stretch>
            <a:fillRect/>
          </a:stretch>
        </p:blipFill>
        <p:spPr>
          <a:xfrm>
            <a:off x="0" y="4838156"/>
            <a:ext cx="9144000" cy="149359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219710" y="535399"/>
                <a:ext cx="8818880" cy="476027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 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时，调整权重，</a:t>
                </a:r>
                <a14:m>
                  <m:oMath xmlns:m="http://schemas.openxmlformats.org/officeDocument/2006/math">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32</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endParaRPr kumimoji="0" lang="en-US" altLang="zh-CN"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Arial" panose="020B0604020202020204"/>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sub>
                          </m:sSub>
                          <m:func>
                            <m:func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r>
                                <m:rPr>
                                  <m:sty m:val="p"/>
                                </m:rP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exp</m:t>
                              </m:r>
                            </m:fName>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𝑗</m:t>
                                          </m:r>
                                        </m:sub>
                                      </m:sSub>
                                    </m:e>
                                  </m:d>
                                </m:e>
                              </m:d>
                            </m:e>
                          </m:func>
                        </m:num>
                        <m:den>
                          <m:nary>
                            <m:naryPr>
                              <m:chr m:val="∑"/>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func>
                                <m:func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r>
                                    <m:rPr>
                                      <m:sty m:val="p"/>
                                    </m:rPr>
                                    <a:rPr kumimoji="0" lang="en-US" altLang="zh-CN" sz="1800" b="0" i="0"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exp</m:t>
                                  </m:r>
                                </m:fName>
                                <m:e>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𝛼</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𝑖</m:t>
                                              </m:r>
                                            </m:sub>
                                          </m:sSub>
                                        </m:e>
                                      </m:d>
                                    </m:e>
                                  </m:d>
                                </m:e>
                              </m:func>
                            </m:e>
                          </m:nary>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𝑗</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=1,2,…,10</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Arial" panose="020B0604020202020204"/>
                    <a:ea typeface="微软雅黑" panose="020B0503020204020204" pitchFamily="34" charset="-122"/>
                    <a:cs typeface="Times New Roman" panose="02020603050405020304" pitchFamily="18" charset="0"/>
                    <a:sym typeface="Arial" panose="020B0604020202020204" pitchFamily="34" charset="0"/>
                  </a:rPr>
                  <a:t>得到：</a:t>
                </a:r>
                <a:endParaRPr kumimoji="0" lang="en-US" altLang="zh-CN" sz="1800" b="0" i="0"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marL="0" marR="0" lvl="0" indent="0" algn="ctr" defTabSz="457200" rtl="0" eaLnBrk="1" fontAlgn="auto" latinLnBrk="0" hangingPunct="1">
                  <a:lnSpc>
                    <a:spcPct val="150000"/>
                  </a:lnSpc>
                  <a:spcBef>
                    <a:spcPts val="0"/>
                  </a:spcBef>
                  <a:spcAft>
                    <a:spcPts val="0"/>
                  </a:spcAft>
                  <a:buClrTx/>
                  <a:buSzTx/>
                  <a:buFontTx/>
                  <a:buNone/>
                  <a:defRPr/>
                </a:pP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(0.0455, 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455, 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0455, </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𝟏𝟔𝟔𝟕</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𝟕</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𝟎</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𝟏𝟔𝟔</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𝟕</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106, 0.106, 0.106, 0.0455)</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05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可以看出，在下一轮的训练中，</a:t>
                </a:r>
                <a:r>
                  <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r>
                      <a:rPr kumimoji="0" lang="zh-CN" altLang="en-US"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的数据点</a:t>
                </a:r>
                <a:r>
                  <a:rPr lang="zh-CN" altLang="en-US"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将</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更高的权重，而在本轮训练中被正确识别的样本权重有所降低</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19710" y="535399"/>
                <a:ext cx="8818880" cy="4760278"/>
              </a:xfrm>
              <a:prstGeom prst="rect">
                <a:avLst/>
              </a:prstGeom>
              <a:blipFill rotWithShape="1">
                <a:blip r:embed="rId3"/>
                <a:stretch>
                  <a:fillRect t="-2" b="-8035"/>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4"/>
          <a:stretch>
            <a:fillRect/>
          </a:stretch>
        </p:blipFill>
        <p:spPr>
          <a:xfrm>
            <a:off x="0" y="4906559"/>
            <a:ext cx="9144000" cy="14935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213360" y="1040979"/>
                <a:ext cx="8818880" cy="3783343"/>
              </a:xfrm>
              <a:prstGeom prst="rect">
                <a:avLst/>
              </a:prstGeom>
              <a:noFill/>
            </p:spPr>
            <p:txBody>
              <a:bodyPr wrap="square" rtlCol="0">
                <a:spAutoFit/>
              </a:bodyPr>
              <a:lstStyle/>
              <a:p>
                <a:pPr lvl="0" algn="just">
                  <a:lnSpc>
                    <a:spcPct val="150000"/>
                  </a:lnSpc>
                  <a:defRPr/>
                </a:pPr>
                <a:r>
                  <a:rPr lang="en-US" altLang="zh-CN"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时，当前权值分布</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𝒘</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下错误率最低的阈值为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&lt;5.5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&gt;5.5</m:t>
                              </m:r>
                            </m:e>
                          </m:eqAr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的误分类样本</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a:t>
                </a:r>
                <a:r>
                  <a:rPr lang="en-US"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x = 0</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时的样本，误差率为</a:t>
                </a:r>
                <a14:m>
                  <m:oMath xmlns:m="http://schemas.openxmlformats.org/officeDocument/2006/math">
                    <m:sSub>
                      <m:sSubPr>
                        <m:ctrlPr>
                          <a:rPr lang="en-US" altLang="zh-CN"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31</m:t>
                        </m:r>
                      </m:sub>
                    </m:s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𝑤</m:t>
                        </m:r>
                      </m:e>
                      <m:sub>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31</m:t>
                        </m:r>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0.18</m:t>
                    </m:r>
                  </m:oMath>
                </a14:m>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，计算系数 </a:t>
                </a:r>
                <a14:m>
                  <m:oMath xmlns:m="http://schemas.openxmlformats.org/officeDocument/2006/math">
                    <m:sSub>
                      <m:sSubPr>
                        <m:ctrlPr>
                          <a:rPr lang="en-US" altLang="zh-CN"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m:rPr>
                            <m:sty m:val="p"/>
                          </m:r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α</m:t>
                        </m:r>
                      </m:e>
                      <m: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r>
                      <m:rPr>
                        <m:sty m:val="p"/>
                      </m:r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log</m:t>
                    </m:r>
                    <m:d>
                      <m:d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f>
                          <m:fPr>
                            <m:ctrlP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sSub>
                              <m:sSubPr>
                                <m:ctrlPr>
                                  <a:rPr lang="en-US" altLang="zh-CN" i="1" dirty="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dirty="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b="0" i="1" dirty="0"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en>
                        </m:f>
                        <m:r>
                          <a:rPr lang="en-US" altLang="zh-CN"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r>
                      <a:rPr lang="en-US" altLang="zh-CN" b="0"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=0.7514</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此时分类器</a:t>
                </a:r>
                <a14:m>
                  <m:oMath xmlns:m="http://schemas.openxmlformats.org/officeDocument/2006/math">
                    <m:r>
                      <m:rPr>
                        <m:sty m:val="p"/>
                      </m:r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sign</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在</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训练数据集上没有误分类点。</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13360" y="1040979"/>
                <a:ext cx="8818880" cy="3783343"/>
              </a:xfrm>
              <a:prstGeom prst="rect">
                <a:avLst/>
              </a:prstGeom>
              <a:blipFill rotWithShape="1">
                <a:blip r:embed="rId3"/>
                <a:stretch>
                  <a:fillRect t="-6" b="6"/>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a:blip r:embed="rId4"/>
          <a:stretch>
            <a:fillRect/>
          </a:stretch>
        </p:blipFill>
        <p:spPr>
          <a:xfrm>
            <a:off x="0" y="4678226"/>
            <a:ext cx="9144000" cy="148934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32539" y="935564"/>
                <a:ext cx="8818880" cy="2951898"/>
              </a:xfrm>
              <a:prstGeom prst="rect">
                <a:avLst/>
              </a:prstGeom>
              <a:noFill/>
            </p:spPr>
            <p:txBody>
              <a:bodyPr wrap="square" rtlCol="0">
                <a:spAutoFit/>
              </a:bodyPr>
              <a:lstStyle/>
              <a:p>
                <a:pPr lvl="0"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训练结束，强分类器为</a:t>
                </a:r>
                <a14:m>
                  <m:oMath xmlns:m="http://schemas.openxmlformats.org/officeDocument/2006/math">
                    <m:sSub>
                      <m:sSubPr>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即</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14:m>
                  <m:oMathPara xmlns:m="http://schemas.openxmlformats.org/officeDocument/2006/math">
                    <m:oMathParaPr>
                      <m:jc m:val="centerGroup"/>
                    </m:oMathParaPr>
                    <m:oMath xmlns:m="http://schemas.openxmlformats.org/officeDocument/2006/math">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=0.42</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36</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+0.6</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496</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+0.75</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14</m:t>
                      </m:r>
                      <m:sSub>
                        <m:sSubPr>
                          <m:ctrlP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32539" y="935564"/>
                <a:ext cx="8818880" cy="2951898"/>
              </a:xfrm>
              <a:prstGeom prst="rect">
                <a:avLst/>
              </a:prstGeom>
              <a:blipFill rotWithShape="1">
                <a:blip r:embed="rId3"/>
                <a:stretch>
                  <a:fillRect l="-2" t="-7" r="2" b="2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9" name="文本框 8"/>
              <p:cNvSpPr txBox="1"/>
              <p:nvPr/>
            </p:nvSpPr>
            <p:spPr>
              <a:xfrm>
                <a:off x="2151167" y="2435673"/>
                <a:ext cx="4581624"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&lt;2.5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&gt;2.5</m:t>
                              </m:r>
                            </m:e>
                          </m:eqArr>
                        </m:e>
                      </m:d>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2151167" y="2435673"/>
                <a:ext cx="4581624" cy="710194"/>
              </a:xfrm>
              <a:prstGeom prst="rect">
                <a:avLst/>
              </a:prstGeom>
              <a:blipFill rotWithShape="1">
                <a:blip r:embed="rId4"/>
                <a:stretch>
                  <a:fillRect l="-9" t="-63" r="11" b="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963474" y="3162118"/>
                <a:ext cx="495701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&lt;8.5</m:t>
                              </m:r>
                            </m:e>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&gt;8.5</m:t>
                              </m:r>
                            </m:e>
                          </m:eqArr>
                        </m:e>
                      </m:d>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963474" y="3162118"/>
                <a:ext cx="4957010" cy="710194"/>
              </a:xfrm>
              <a:prstGeom prst="rect">
                <a:avLst/>
              </a:prstGeom>
              <a:blipFill rotWithShape="1">
                <a:blip r:embed="rId5"/>
                <a:stretch>
                  <a:fillRect l="-1" t="-64" r="5"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2093495" y="3894922"/>
                <a:ext cx="495701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&lt;5.5</m:t>
                              </m:r>
                            </m:e>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1,     </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&gt;5.5</m:t>
                              </m:r>
                            </m:e>
                          </m:eqArr>
                        </m:e>
                      </m:d>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093495" y="3894922"/>
                <a:ext cx="4957010" cy="710194"/>
              </a:xfrm>
              <a:prstGeom prst="rect">
                <a:avLst/>
              </a:prstGeom>
              <a:blipFill rotWithShape="1">
                <a:blip r:embed="rId6"/>
                <a:stretch>
                  <a:fillRect l="-11" t="-66" r="2" b="14"/>
                </a:stretch>
              </a:blipFill>
            </p:spPr>
            <p:txBody>
              <a:bodyPr/>
              <a:lstStyle/>
              <a:p>
                <a:r>
                  <a:rPr lang="zh-CN" altLang="en-US">
                    <a:noFill/>
                  </a:rPr>
                  <a:t> </a:t>
                </a:r>
              </a:p>
            </p:txBody>
          </p:sp>
        </mc:Fallback>
      </mc:AlternateContent>
      <p:pic>
        <p:nvPicPr>
          <p:cNvPr id="5" name="图片 4"/>
          <p:cNvPicPr>
            <a:picLocks noChangeAspect="1"/>
          </p:cNvPicPr>
          <p:nvPr/>
        </p:nvPicPr>
        <p:blipFill>
          <a:blip r:embed="rId7"/>
          <a:stretch>
            <a:fillRect/>
          </a:stretch>
        </p:blipFill>
        <p:spPr>
          <a:xfrm>
            <a:off x="0" y="4894126"/>
            <a:ext cx="9144000" cy="148934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86780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sklearn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make_moons</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数据集（包含两个特征）来实现</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算法的编码与操作，观察算法效果</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Make_moons</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sklearn</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自带的数据集之一，可以生成</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环形数据</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生成两个相互交错的半圆</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，主要用于测试聚类和分类算法。该数据集可产生如下所示的数据分布。</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rotWithShape="1">
          <a:blip r:embed="rId3"/>
          <a:srcRect l="50696"/>
          <a:stretch>
            <a:fillRect/>
          </a:stretch>
        </p:blipFill>
        <p:spPr>
          <a:xfrm>
            <a:off x="3136900" y="3033481"/>
            <a:ext cx="2673350" cy="3251762"/>
          </a:xfrm>
          <a:prstGeom prst="rect">
            <a:avLst/>
          </a:prstGeom>
        </p:spPr>
      </p:pic>
      <p:sp>
        <p:nvSpPr>
          <p:cNvPr id="9" name="文本框 8"/>
          <p:cNvSpPr txBox="1"/>
          <p:nvPr/>
        </p:nvSpPr>
        <p:spPr>
          <a:xfrm>
            <a:off x="273050" y="6389131"/>
            <a:ext cx="760095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图片来源：</a:t>
            </a:r>
            <a:r>
              <a:rPr lang="en-US" altLang="zh-CN" dirty="0"/>
              <a:t>https://blog.csdn.net/YangWei_19/article/details/79945746</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544488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sym typeface="Arial" panose="020B0604020202020204" pitchFamily="34" charset="0"/>
              </a:rPr>
              <a:t>从</a:t>
            </a:r>
            <a:r>
              <a:rPr lang="en-US" altLang="zh-CN" dirty="0" err="1">
                <a:latin typeface="微软雅黑" panose="020B0503020204020204" pitchFamily="34" charset="-122"/>
                <a:ea typeface="微软雅黑" panose="020B0503020204020204" pitchFamily="34" charset="-122"/>
              </a:rPr>
              <a:t>make_moons</a:t>
            </a:r>
            <a:r>
              <a:rPr lang="zh-CN" altLang="en-US" dirty="0">
                <a:latin typeface="微软雅黑" panose="020B0503020204020204" pitchFamily="34" charset="-122"/>
                <a:ea typeface="微软雅黑" panose="020B0503020204020204" pitchFamily="34" charset="-122"/>
              </a:rPr>
              <a:t>数据集中随机选取部分数据点（隶属于不同半圆的点，标注不同的类别和颜色）</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）引入必要的</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python</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库，构建</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类。</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首先，定义一个</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AdaBoostClassifier</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类，类中包含</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个基础参数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基分类器（</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base_clf</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）、最大基分类器数量（</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n_estimators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）、收敛精度（</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tol</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）、随机状态（</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random_state</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）。其中，默认基分类器被设置为深度为</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的决策树模型。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6" name="图片 5"/>
          <p:cNvPicPr>
            <a:picLocks noChangeAspect="1"/>
          </p:cNvPicPr>
          <p:nvPr/>
        </p:nvPicPr>
        <p:blipFill>
          <a:blip r:embed="rId3"/>
          <a:stretch>
            <a:fillRect/>
          </a:stretch>
        </p:blipFill>
        <p:spPr>
          <a:xfrm>
            <a:off x="388620" y="3709565"/>
            <a:ext cx="8121748" cy="27270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29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算法，观察算法效果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）构造成员函数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AdaBoostClassifier</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类添加一个新的成员函数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fit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，作为执行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算法的入口。此外，也定义了两个类属性</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fitted_clf</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weights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，用于在训练结束后获取各个基分类器以及每一轮迭代的样本权重</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0" y="3241796"/>
            <a:ext cx="9144000" cy="27318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336739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算法，观察算法效果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）集成算法训练</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算法的核心迭代过程由</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类的成员函数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_boost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实现，包括基分类器的训练和权重的更新。权重更新部分的代码被封装在了另一个成员函数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_</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update_weights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a:blip r:embed="rId3"/>
          <a:stretch>
            <a:fillRect/>
          </a:stretch>
        </p:blipFill>
        <p:spPr>
          <a:xfrm>
            <a:off x="684626" y="2857111"/>
            <a:ext cx="7479323" cy="378570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61389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算法，观察算法效果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）分类器集成与预测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b="1"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b="1"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a:t>
            </a:r>
            <a:r>
              <a:rPr lang="zh-CN" altLang="en-US" b="1"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）导入模拟数据，观察算法效果</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0" y="2256562"/>
            <a:ext cx="9144000" cy="1603977"/>
          </a:xfrm>
          <a:prstGeom prst="rect">
            <a:avLst/>
          </a:prstGeom>
        </p:spPr>
      </p:pic>
      <p:pic>
        <p:nvPicPr>
          <p:cNvPr id="9" name="图片 8"/>
          <p:cNvPicPr>
            <a:picLocks noChangeAspect="1"/>
          </p:cNvPicPr>
          <p:nvPr/>
        </p:nvPicPr>
        <p:blipFill>
          <a:blip r:embed="rId4"/>
          <a:stretch>
            <a:fillRect/>
          </a:stretch>
        </p:blipFill>
        <p:spPr>
          <a:xfrm>
            <a:off x="317304" y="4764891"/>
            <a:ext cx="7630942" cy="1451884"/>
          </a:xfrm>
          <a:prstGeom prst="rect">
            <a:avLst/>
          </a:prstGeom>
        </p:spPr>
      </p:pic>
      <p:sp>
        <p:nvSpPr>
          <p:cNvPr id="3" name="矩形 2"/>
          <p:cNvSpPr/>
          <p:nvPr/>
        </p:nvSpPr>
        <p:spPr>
          <a:xfrm>
            <a:off x="317304" y="5037947"/>
            <a:ext cx="7630942" cy="308753"/>
          </a:xfrm>
          <a:prstGeom prst="rect">
            <a:avLst/>
          </a:prstGeom>
          <a:solidFill>
            <a:schemeClr val="accent2">
              <a:lumMod val="40000"/>
              <a:lumOff val="60000"/>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8083540" y="4930219"/>
            <a:ext cx="1019096"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导入</a:t>
            </a:r>
            <a:r>
              <a:rPr lang="en-US" altLang="zh-CN" dirty="0" err="1">
                <a:latin typeface="微软雅黑" panose="020B0503020204020204" pitchFamily="34" charset="-122"/>
                <a:ea typeface="微软雅黑" panose="020B0503020204020204" pitchFamily="34" charset="-122"/>
              </a:rPr>
              <a:t>make_moons</a:t>
            </a:r>
            <a:r>
              <a:rPr lang="zh-CN" altLang="en-US" dirty="0">
                <a:latin typeface="微软雅黑" panose="020B0503020204020204" pitchFamily="34" charset="-122"/>
                <a:ea typeface="微软雅黑" panose="020B0503020204020204" pitchFamily="34" charset="-122"/>
              </a:rPr>
              <a:t>数据集</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31245" y="1087606"/>
            <a:ext cx="8818880" cy="212090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实现</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算法，观察算法效果</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。观察</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个基学习器的决策边界与样本权重（样本点的半径大小）</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a:blip r:embed="rId3"/>
          <a:stretch>
            <a:fillRect/>
          </a:stretch>
        </p:blipFill>
        <p:spPr>
          <a:xfrm>
            <a:off x="131245" y="2072621"/>
            <a:ext cx="4377123" cy="4377123"/>
          </a:xfrm>
          <a:prstGeom prst="rect">
            <a:avLst/>
          </a:prstGeom>
        </p:spPr>
      </p:pic>
      <p:pic>
        <p:nvPicPr>
          <p:cNvPr id="4" name="图片 3"/>
          <p:cNvPicPr>
            <a:picLocks noChangeAspect="1"/>
          </p:cNvPicPr>
          <p:nvPr/>
        </p:nvPicPr>
        <p:blipFill>
          <a:blip r:embed="rId4"/>
          <a:stretch>
            <a:fillRect/>
          </a:stretch>
        </p:blipFill>
        <p:spPr>
          <a:xfrm>
            <a:off x="4569396" y="2148057"/>
            <a:ext cx="4574604" cy="4301687"/>
          </a:xfrm>
          <a:prstGeom prst="rect">
            <a:avLst/>
          </a:prstGeom>
        </p:spPr>
      </p:pic>
      <p:sp>
        <p:nvSpPr>
          <p:cNvPr id="6" name="文本框 5"/>
          <p:cNvSpPr txBox="1"/>
          <p:nvPr/>
        </p:nvSpPr>
        <p:spPr>
          <a:xfrm>
            <a:off x="1402080" y="6469618"/>
            <a:ext cx="203132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基学习器决策边界</a:t>
            </a:r>
          </a:p>
        </p:txBody>
      </p:sp>
      <p:sp>
        <p:nvSpPr>
          <p:cNvPr id="10" name="文本框 9"/>
          <p:cNvSpPr txBox="1"/>
          <p:nvPr/>
        </p:nvSpPr>
        <p:spPr>
          <a:xfrm>
            <a:off x="6018627" y="6415950"/>
            <a:ext cx="203132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集成模型决策边界</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162560" y="414795"/>
                <a:ext cx="8818880" cy="643374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提升树是以决策树为基模型的一类</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算法。由于其优异的性能，提升树模型已成为应用最为广泛的机器学习模型之一。</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12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更广义地来讲，提升树实际上属于模型为</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加法模型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dditive</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odel</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），求解算法为</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前向分步算法</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orward</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tagewise</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lgorithm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）的一类学习方法。这里先对加法模型和前向分布算法分别进行介绍。</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加法模型</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加法模型的数学模型可以表示为下式：</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limLoc m:val="subSup"/>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1"/>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nary>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r>
                  <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为基学习器，</a:t>
                </a:r>
                <a14:m>
                  <m:oMath xmlns:m="http://schemas.openxmlformats.org/officeDocument/2006/math">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r>
                  <a:rPr lang="zh-CN" altLang="en-US"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均为</a:t>
                </a:r>
                <a:r>
                  <a:rPr lang="zh-CN" altLang="en-US"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参数，其中</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为基学习器模型参数，</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为权重参数，</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为基学习器的序号，</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为基学习器总数。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上式表明，集成模型 </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的输出是各个基学习器输出的加权和。</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414795"/>
                <a:ext cx="8818880" cy="6433749"/>
              </a:xfrm>
              <a:prstGeom prst="rect">
                <a:avLst/>
              </a:prstGeom>
              <a:blipFill>
                <a:blip r:embed="rId3"/>
                <a:stretch>
                  <a:fillRect l="-622" r="-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162560" y="642351"/>
                <a:ext cx="8818880" cy="300537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给定损失函数 </a:t>
                </a:r>
                <a14:m>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与训练数据的情况下，学习上述加法模型的目标是最小化损失函数：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上式中，</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为训练样本总量</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。然而，求解上述优化问题一次性训练</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个基学习器是非常困难的。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前向分步算法</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为求解上述优化问题提供了一个高效可行的方案：</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将同时求解所有基学习器参数的优化问题简化为逐次求解各个参数的优化问题。</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642351"/>
                <a:ext cx="8818880" cy="3005375"/>
              </a:xfrm>
              <a:prstGeom prst="rect">
                <a:avLst/>
              </a:prstGeom>
              <a:blipFill>
                <a:blip r:embed="rId3"/>
                <a:stretch>
                  <a:fillRect l="-622" r="-622" b="-223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5" name="文本框 4"/>
              <p:cNvSpPr txBox="1"/>
              <p:nvPr/>
            </p:nvSpPr>
            <p:spPr>
              <a:xfrm>
                <a:off x="2442575" y="1371769"/>
                <a:ext cx="4572000" cy="8712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𝜷</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lim>
                          </m:limLow>
                        </m:fName>
                        <m:e>
                          <m:nary>
                            <m:naryPr>
                              <m:chr m:val="∑"/>
                              <m:ctrlP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limLoc m:val="subSup"/>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1"/>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nary>
                                </m:e>
                              </m:d>
                            </m:e>
                          </m:nary>
                        </m:e>
                      </m:func>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442575" y="1371769"/>
                <a:ext cx="4572000" cy="871264"/>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162560" y="451851"/>
                <a:ext cx="8818880" cy="421621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前向分步算法</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前向分步算法求解加法模型中参数的基本思想是：因为学习的是加法模型，如果能够</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从前向后，每一步只学习一个基函数及其系数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，逐步逼近优化目标函数式，那么就可以简化优化的复杂度。具体地，每步（第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步</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）只需优化如下损失函数：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limLoc m:val="subSup"/>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1"/>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𝒌</m:t>
                                </m:r>
                              </m:sub>
                            </m:sSub>
                          </m:e>
                        </m:d>
                      </m:e>
                    </m:nary>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表示前</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轮迭代训练得到的基学习器的集成结果。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451851"/>
                <a:ext cx="8818880" cy="4216219"/>
              </a:xfrm>
              <a:prstGeom prst="rect">
                <a:avLst/>
              </a:prstGeom>
              <a:blipFill>
                <a:blip r:embed="rId3"/>
                <a:stretch>
                  <a:fillRect l="-622" r="-3181" b="-5636"/>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4" name="文本框 3"/>
              <p:cNvSpPr txBox="1"/>
              <p:nvPr/>
            </p:nvSpPr>
            <p:spPr>
              <a:xfrm>
                <a:off x="-578370" y="2499404"/>
                <a:ext cx="10395850" cy="848566"/>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lim>
                          </m:limLow>
                        </m:fName>
                        <m:e>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limLoc m:val="subSup"/>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1"/>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p>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𝒌</m:t>
                                              </m:r>
                                            </m:sub>
                                          </m:sSub>
                                        </m:e>
                                      </m:d>
                                    </m:e>
                                  </m:nary>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d>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limLow>
                            <m:limLow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lim>
                          </m:limLow>
                          <m:nary>
                            <m:naryPr>
                              <m: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d>
                            </m:e>
                          </m:nary>
                        </m:e>
                      </m:func>
                    </m:oMath>
                  </m:oMathPara>
                </a14:m>
                <a:endParaRPr kumimoji="0" lang="zh-CN" altLang="en-US" sz="1800" b="0" i="0" u="none" strike="noStrike" kern="1200" cap="none" spc="0" normalizeH="0" baseline="0" noProof="0" dirty="0">
                  <a:ln>
                    <a:noFill/>
                  </a:ln>
                  <a:solidFill>
                    <a:srgbClr val="000000"/>
                  </a:solidFill>
                  <a:effectLst/>
                  <a:uLnTx/>
                  <a:uFillTx/>
                  <a:latin typeface="Arial" panose="020B0604020202020204"/>
                  <a:ea typeface="宋体" panose="02010600030101010101" pitchFamily="2" charset="-122"/>
                  <a:cs typeface="+mn-cs"/>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78370" y="2499404"/>
                <a:ext cx="10395850" cy="848566"/>
              </a:xfrm>
              <a:prstGeom prst="rect">
                <a:avLst/>
              </a:prstGeom>
              <a:blipFill>
                <a:blip r:embed="rId4"/>
                <a:stretch>
                  <a:fillRect/>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7" name="文本框 6"/>
              <p:cNvSpPr txBox="1"/>
              <p:nvPr/>
            </p:nvSpPr>
            <p:spPr>
              <a:xfrm>
                <a:off x="162560" y="585201"/>
                <a:ext cx="8818880" cy="549836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训练数据</a:t>
                </a:r>
                <a14:m>
                  <m:oMath xmlns:m="http://schemas.openxmlformats.org/officeDocument/2006/math">
                    <m:d>
                      <m:dPr>
                        <m:begChr m:val="{"/>
                        <m:endChr m:val="}"/>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d>
                          <m:d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𝑛</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𝑛</m:t>
                                </m:r>
                              </m:sub>
                            </m:sSub>
                          </m:e>
                        </m:d>
                      </m:e>
                    </m:d>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基函数集</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d>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前向分步算法的流程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如下所示：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en-US" altLang="zh-CN" noProof="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初始化</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lvl="1"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极小化损失函数：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得到</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最优参数 </a:t>
                </a:r>
                <a14:m>
                  <m:oMath xmlns:m="http://schemas.openxmlformats.org/officeDocument/2006/math">
                    <m:sSub>
                      <m:sSub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endParaRPr kumimoji="0" lang="en-US" altLang="zh-CN"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更新：</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得到加法模型：</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585201"/>
                <a:ext cx="8818880" cy="5498365"/>
              </a:xfrm>
              <a:prstGeom prst="rect">
                <a:avLst/>
              </a:prstGeom>
              <a:blipFill>
                <a:blip r:embed="rId3"/>
                <a:stretch>
                  <a:fillRect l="-622" r="-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5" name="文本框 4"/>
              <p:cNvSpPr txBox="1"/>
              <p:nvPr/>
            </p:nvSpPr>
            <p:spPr>
              <a:xfrm>
                <a:off x="2286000" y="2848120"/>
                <a:ext cx="457200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𝜃</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lim>
                          </m:limLow>
                        </m:fName>
                        <m:e>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d>
                            </m:e>
                          </m:nary>
                        </m:e>
                      </m:func>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286000" y="2848120"/>
                <a:ext cx="4572000" cy="84856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2236929" y="4410474"/>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oMath>
                  </m:oMathPara>
                </a14:m>
                <a:endParaRPr kumimoji="0" lang="en-US" altLang="zh-CN"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236929" y="4410474"/>
                <a:ext cx="4572000" cy="369332"/>
              </a:xfrm>
              <a:prstGeom prst="rect">
                <a:avLst/>
              </a:prstGeom>
              <a:blipFill>
                <a:blip r:embed="rId5"/>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2098431" y="5237909"/>
                <a:ext cx="4572000" cy="6578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𝑓</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limLoc m:val="subSup"/>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1"/>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e>
                          </m:d>
                        </m:e>
                      </m:nary>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098431" y="5237909"/>
                <a:ext cx="4572000" cy="657860"/>
              </a:xfrm>
              <a:prstGeom prst="rect">
                <a:avLst/>
              </a:prstGeom>
              <a:blipFill>
                <a:blip r:embed="rId6"/>
                <a:stretch>
                  <a:fillRect/>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提升树</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5366726"/>
              </a:xfrm>
              <a:prstGeom prst="rect">
                <a:avLst/>
              </a:prstGeom>
              <a:noFill/>
            </p:spPr>
            <p:txBody>
              <a:bodyPr wrap="square" rtlCol="0">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将上述加法模型中的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基学习器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替换为</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决策树模型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（对于分类问题而言是分类树，回归问题是回归树），就可以得到</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提升树模型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一棵输入为</a:t>
                </a:r>
                <a14:m>
                  <m:oMath xmlns:m="http://schemas.openxmlformats.org/officeDocument/2006/math">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的决策树模型输出结果为</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为决策树</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参数，考虑到模型复杂度和过拟合问题，</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在提升树中被固定为超参数。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棵</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决策树的最终集成结果可以写为：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nary>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在提升树算法每一轮迭代中，新一轮的预测结果由</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前一轮的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集成模型</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预测结果</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与</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新构造的决策树预测结果</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相加得到。第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轮的预测结果为</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5366726"/>
              </a:xfrm>
              <a:prstGeom prst="rect">
                <a:avLst/>
              </a:prstGeom>
              <a:blipFill>
                <a:blip r:embed="rId3"/>
                <a:stretch>
                  <a:fillRect l="-622" r="-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提升树</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3277235"/>
              </a:xfrm>
              <a:prstGeom prst="rect">
                <a:avLst/>
              </a:prstGeom>
              <a:noFill/>
            </p:spPr>
            <p:txBody>
              <a:bodyPr wrap="square" rtlCol="0">
                <a:spAutoFit/>
              </a:bodyPr>
              <a:lstStyle/>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在训练提升树时，</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采用前向分步算法依次</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优化决策树参数</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以使模型损失最小化，记损失函数为</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则第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训练得到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决策树最优参数</a:t>
                </a:r>
                <a14:m>
                  <m:oMath xmlns:m="http://schemas.openxmlformats.org/officeDocument/2006/math">
                    <m:sSubSup>
                      <m:sSub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Sup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up>
                    </m:sSubSup>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通过如下计算得到：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Sup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up>
                      </m:sSub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arg</m:t>
                              </m:r>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lim>
                          </m:limLow>
                        </m:fNa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d>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在处理不同问题（分类</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回归）时，通常会选择不同的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。例如，在</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回归问题上常采用均方误差损失函数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a:t>
                </a: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分类问题常采用指数损失函数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。在提升树的训练中，需要根据不同的损失函数会设计相应的求解算法。本节课将针对上述情况依次进行介绍，最终介绍处理一般化损失函数的梯度提升方法</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3277235"/>
              </a:xfrm>
              <a:prstGeom prst="rect">
                <a:avLst/>
              </a:prstGeom>
              <a:blipFill rotWithShape="1">
                <a:blip r:embed="rId3"/>
                <a:stretch>
                  <a:fillRect t="-11" b="1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pSp>
        <p:nvGrpSpPr>
          <p:cNvPr id="3" name="组合 2"/>
          <p:cNvGrpSpPr/>
          <p:nvPr/>
        </p:nvGrpSpPr>
        <p:grpSpPr>
          <a:xfrm>
            <a:off x="162560" y="4392004"/>
            <a:ext cx="8478076" cy="1251561"/>
            <a:chOff x="162560" y="4392004"/>
            <a:chExt cx="8478076" cy="1251561"/>
          </a:xfrm>
        </p:grpSpPr>
        <mc:AlternateContent xmlns:mc="http://schemas.openxmlformats.org/markup-compatibility/2006" xmlns:a14="http://schemas.microsoft.com/office/drawing/2010/main">
          <mc:Choice Requires="a14">
            <p:sp>
              <p:nvSpPr>
                <p:cNvPr id="4" name="文本框 3"/>
                <p:cNvSpPr txBox="1"/>
                <p:nvPr/>
              </p:nvSpPr>
              <p:spPr>
                <a:xfrm>
                  <a:off x="4011144" y="4392004"/>
                  <a:ext cx="462949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Cambria Math" panose="02040503050406030204" pitchFamily="18" charset="0"/>
                                <a:sym typeface="Arial" panose="020B0604020202020204" pitchFamily="34" charset="0"/>
                              </a:rPr>
                              <m:t>𝑒𝑥𝑝</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r>
                              <a:rPr lang="en-US" altLang="zh-CN" i="1">
                                <a:latin typeface="Cambria Math" panose="02040503050406030204" pitchFamily="18" charset="0"/>
                                <a:ea typeface="微软雅黑" panose="020B0503020204020204" pitchFamily="34" charset="-122"/>
                                <a:sym typeface="Arial" panose="020B0604020202020204" pitchFamily="34" charset="0"/>
                              </a:rPr>
                              <m:t>𝑒𝑥𝑝</m:t>
                            </m:r>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4011144" y="4392004"/>
                  <a:ext cx="4629492" cy="848566"/>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62560" y="4425667"/>
                  <a:ext cx="4572000"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i="1">
                                <a:latin typeface="Cambria Math" panose="02040503050406030204" pitchFamily="18" charset="0"/>
                                <a:ea typeface="微软雅黑" panose="020B0503020204020204" pitchFamily="34" charset="-122"/>
                                <a:sym typeface="Arial" panose="020B0604020202020204" pitchFamily="34" charset="0"/>
                              </a:rPr>
                              <m:t>𝑀𝑆𝐸</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sSup>
                              <m:sSup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sup>
                                <m:r>
                                  <a:rPr lang="en-US" altLang="zh-CN" i="1">
                                    <a:latin typeface="Cambria Math" panose="02040503050406030204" pitchFamily="18" charset="0"/>
                                    <a:ea typeface="微软雅黑" panose="020B0503020204020204" pitchFamily="34" charset="-122"/>
                                    <a:sym typeface="Arial" panose="020B0604020202020204" pitchFamily="34" charset="0"/>
                                  </a:rPr>
                                  <m:t>2</m:t>
                                </m:r>
                              </m:sup>
                            </m:sSup>
                          </m:e>
                        </m:nary>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162560" y="4425667"/>
                  <a:ext cx="4572000" cy="848566"/>
                </a:xfrm>
                <a:prstGeom prst="rect">
                  <a:avLst/>
                </a:prstGeom>
                <a:blipFill rotWithShape="1">
                  <a:blip r:embed="rId5"/>
                </a:blipFill>
              </p:spPr>
              <p:txBody>
                <a:bodyPr/>
                <a:lstStyle/>
                <a:p>
                  <a:r>
                    <a:rPr lang="zh-CN" altLang="en-US">
                      <a:noFill/>
                    </a:rPr>
                    <a:t> </a:t>
                  </a:r>
                </a:p>
              </p:txBody>
            </p:sp>
          </mc:Fallback>
        </mc:AlternateContent>
        <p:sp>
          <p:nvSpPr>
            <p:cNvPr id="10" name="文本框 9"/>
            <p:cNvSpPr txBox="1"/>
            <p:nvPr/>
          </p:nvSpPr>
          <p:spPr>
            <a:xfrm>
              <a:off x="1417806" y="5234793"/>
              <a:ext cx="2061507"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均方误差损失函数</a:t>
              </a:r>
              <a:endParaRPr lang="zh-CN" altLang="en-US" dirty="0"/>
            </a:p>
          </p:txBody>
        </p:sp>
        <p:sp>
          <p:nvSpPr>
            <p:cNvPr id="11" name="文本框 10"/>
            <p:cNvSpPr txBox="1"/>
            <p:nvPr/>
          </p:nvSpPr>
          <p:spPr>
            <a:xfrm>
              <a:off x="5776976" y="5274233"/>
              <a:ext cx="2061507"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指数损失函数</a:t>
              </a:r>
              <a:endParaRPr lang="zh-CN" altLang="en-US" dirty="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39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提升回归树</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544661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回归问题</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中，提升树通常使用均方误差（</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MSE</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）作为损失函数：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为真实特征，</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acc>
                          <m:acc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acc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acc>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为对应的预测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结果。</a:t>
                </a:r>
                <a:r>
                  <a:rPr lang="zh-CN" altLang="en-US" dirty="0">
                    <a:latin typeface="微软雅黑" panose="020B0503020204020204" pitchFamily="34" charset="-122"/>
                    <a:ea typeface="微软雅黑" panose="020B0503020204020204" pitchFamily="34" charset="-122"/>
                  </a:rPr>
                  <a:t>在这个算法</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需尽量去</m:t>
                    </m:r>
                  </m:oMath>
                </a14:m>
                <a:r>
                  <a:rPr lang="zh-CN" altLang="en-US" dirty="0">
                    <a:latin typeface="微软雅黑" panose="020B0503020204020204" pitchFamily="34" charset="-122"/>
                    <a:ea typeface="微软雅黑" panose="020B0503020204020204" pitchFamily="34" charset="-122"/>
                  </a:rPr>
                  <a:t>逼近残差，</a:t>
                </a:r>
                <a14:m>
                  <m:oMath xmlns:m="http://schemas.openxmlformats.org/officeDocument/2006/math">
                    <m:sSub>
                      <m:sSubPr>
                        <m:ctrlPr>
                          <a:rPr lang="en-US" altLang="zh-CN" b="1" i="1" smtClean="0">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𝜷</m:t>
                        </m:r>
                      </m:e>
                      <m:sub>
                        <m:r>
                          <a:rPr lang="en-US" altLang="zh-CN" b="1" i="1">
                            <a:solidFill>
                              <a:schemeClr val="tx1"/>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r>
                  <a:rPr lang="zh-CN" altLang="en-US" b="1" dirty="0">
                    <a:solidFill>
                      <a:schemeClr val="tx1"/>
                    </a:solidFill>
                    <a:latin typeface="微软雅黑" panose="020B0503020204020204" pitchFamily="34" charset="-122"/>
                    <a:ea typeface="微软雅黑" panose="020B0503020204020204" pitchFamily="34" charset="-122"/>
                  </a:rPr>
                  <a:t>直接取</a:t>
                </a:r>
                <a:r>
                  <a:rPr lang="en-US" altLang="zh-CN" b="1" dirty="0">
                    <a:solidFill>
                      <a:schemeClr val="tx1"/>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，因此，提升回归树在第𝑡轮迭代的损失函数可以写作：</a:t>
                </a: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5446619"/>
              </a:xfrm>
              <a:prstGeom prst="rect">
                <a:avLst/>
              </a:prstGeom>
              <a:blipFill>
                <a:blip r:embed="rId4"/>
                <a:stretch>
                  <a:fillRect l="-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87742630"/>
              </p:ext>
            </p:extLst>
          </p:nvPr>
        </p:nvGraphicFramePr>
        <p:xfrm>
          <a:off x="2848733" y="1581796"/>
          <a:ext cx="3184525" cy="701675"/>
        </p:xfrm>
        <a:graphic>
          <a:graphicData uri="http://schemas.openxmlformats.org/presentationml/2006/ole">
            <mc:AlternateContent xmlns:mc="http://schemas.openxmlformats.org/markup-compatibility/2006">
              <mc:Choice xmlns:v="urn:schemas-microsoft-com:vml" Requires="v">
                <p:oleObj spid="_x0000_s1112" name="Equation" r:id="rId5" imgW="3186430" imgH="702310" progId="Equation.DSMT4">
                  <p:embed/>
                </p:oleObj>
              </mc:Choice>
              <mc:Fallback>
                <p:oleObj name="Equation" r:id="rId5" imgW="3186430" imgH="702310" progId="Equation.DSMT4">
                  <p:embed/>
                  <p:pic>
                    <p:nvPicPr>
                      <p:cNvPr id="0" name="对象 2"/>
                      <p:cNvPicPr/>
                      <p:nvPr/>
                    </p:nvPicPr>
                    <p:blipFill>
                      <a:blip r:embed="rId6"/>
                      <a:stretch>
                        <a:fillRect/>
                      </a:stretch>
                    </p:blipFill>
                    <p:spPr>
                      <a:xfrm>
                        <a:off x="2848733" y="1581796"/>
                        <a:ext cx="3184525" cy="701675"/>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21586840"/>
              </p:ext>
            </p:extLst>
          </p:nvPr>
        </p:nvGraphicFramePr>
        <p:xfrm>
          <a:off x="1239312" y="3351213"/>
          <a:ext cx="4891087" cy="3157537"/>
        </p:xfrm>
        <a:graphic>
          <a:graphicData uri="http://schemas.openxmlformats.org/presentationml/2006/ole">
            <mc:AlternateContent xmlns:mc="http://schemas.openxmlformats.org/markup-compatibility/2006">
              <mc:Choice xmlns:v="urn:schemas-microsoft-com:vml" Requires="v">
                <p:oleObj spid="_x0000_s1113" name="Equation" r:id="rId7" imgW="2755800" imgH="1777680" progId="Equation.DSMT4">
                  <p:embed/>
                </p:oleObj>
              </mc:Choice>
              <mc:Fallback>
                <p:oleObj name="Equation" r:id="rId7" imgW="2755800" imgH="1777680" progId="Equation.DSMT4">
                  <p:embed/>
                  <p:pic>
                    <p:nvPicPr>
                      <p:cNvPr id="0" name="图片 1053"/>
                      <p:cNvPicPr/>
                      <p:nvPr/>
                    </p:nvPicPr>
                    <p:blipFill>
                      <a:blip r:embed="rId8"/>
                      <a:stretch>
                        <a:fillRect/>
                      </a:stretch>
                    </p:blipFill>
                    <p:spPr>
                      <a:xfrm>
                        <a:off x="1239312" y="3351213"/>
                        <a:ext cx="4891087" cy="315753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文本框 4"/>
              <p:cNvSpPr txBox="1"/>
              <p:nvPr/>
            </p:nvSpPr>
            <p:spPr>
              <a:xfrm>
                <a:off x="6285730" y="3944908"/>
                <a:ext cx="2875145" cy="1343381"/>
              </a:xfrm>
              <a:prstGeom prst="rect">
                <a:avLst/>
              </a:prstGeom>
              <a:noFill/>
            </p:spPr>
            <p:txBody>
              <a:bodyPr wrap="square">
                <a:spAutoFit/>
              </a:bodyPr>
              <a:lstStyle/>
              <a:p>
                <a:pPr>
                  <a:lnSpc>
                    <a:spcPct val="150000"/>
                  </a:lnSpc>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特征不变，以当前模型的残差</a:t>
                </a:r>
                <a14:m>
                  <m:oMath xmlns:m="http://schemas.openxmlformats.org/officeDocument/2006/math">
                    <m:d>
                      <m:dPr>
                        <m:ctrlPr>
                          <a:rPr lang="en-US" altLang="zh-CN" b="1" i="1"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rPr>
                        </m:ctrlPr>
                      </m:dPr>
                      <m:e>
                        <m:sSub>
                          <m:sSubPr>
                            <m:ctrlPr>
                              <a:rPr lang="zh-CN" altLang="en-US" b="1" i="1" smtClean="0">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𝒚</m:t>
                            </m:r>
                          </m:e>
                          <m:sub>
                            <m:r>
                              <a:rPr lang="zh-CN" altLang="en-US" b="1" i="1">
                                <a:solidFill>
                                  <a:srgbClr val="C00000"/>
                                </a:solidFill>
                                <a:latin typeface="Cambria Math" panose="02040503050406030204" pitchFamily="18" charset="0"/>
                              </a:rPr>
                              <m:t>𝒊</m:t>
                            </m:r>
                          </m:sub>
                        </m:sSub>
                        <m:r>
                          <a:rPr lang="zh-CN" altLang="en-US" b="1">
                            <a:solidFill>
                              <a:srgbClr val="C00000"/>
                            </a:solidFill>
                            <a:latin typeface="Cambria Math" panose="02040503050406030204" pitchFamily="18" charset="0"/>
                          </a:rPr>
                          <m:t>−</m:t>
                        </m:r>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𝑯</m:t>
                            </m:r>
                          </m:e>
                          <m:sub>
                            <m:r>
                              <a:rPr lang="zh-CN" altLang="en-US" b="1" i="1">
                                <a:solidFill>
                                  <a:srgbClr val="C00000"/>
                                </a:solidFill>
                                <a:latin typeface="Cambria Math" panose="02040503050406030204" pitchFamily="18" charset="0"/>
                              </a:rPr>
                              <m:t>𝒕</m:t>
                            </m:r>
                            <m:r>
                              <a:rPr lang="zh-CN" altLang="en-US" b="1">
                                <a:solidFill>
                                  <a:srgbClr val="C00000"/>
                                </a:solidFill>
                                <a:latin typeface="Cambria Math" panose="02040503050406030204" pitchFamily="18" charset="0"/>
                              </a:rPr>
                              <m:t>−</m:t>
                            </m:r>
                            <m:r>
                              <a:rPr lang="zh-CN" altLang="en-US" b="1" i="1">
                                <a:solidFill>
                                  <a:srgbClr val="C00000"/>
                                </a:solidFill>
                                <a:latin typeface="Cambria Math" panose="02040503050406030204" pitchFamily="18" charset="0"/>
                              </a:rPr>
                              <m:t>𝟏</m:t>
                            </m:r>
                          </m:sub>
                        </m:sSub>
                        <m:d>
                          <m:dPr>
                            <m:ctrlPr>
                              <a:rPr lang="zh-CN" altLang="en-US" b="1" i="1">
                                <a:solidFill>
                                  <a:srgbClr val="C00000"/>
                                </a:solidFill>
                                <a:latin typeface="Cambria Math" panose="02040503050406030204" pitchFamily="18" charset="0"/>
                              </a:rPr>
                            </m:ctrlPr>
                          </m:dPr>
                          <m:e>
                            <m:sSub>
                              <m:sSubPr>
                                <m:ctrlPr>
                                  <a:rPr lang="zh-CN" altLang="en-US" b="1" i="1">
                                    <a:solidFill>
                                      <a:srgbClr val="C00000"/>
                                    </a:solidFill>
                                    <a:latin typeface="Cambria Math" panose="02040503050406030204" pitchFamily="18" charset="0"/>
                                  </a:rPr>
                                </m:ctrlPr>
                              </m:sSubPr>
                              <m:e>
                                <m:r>
                                  <a:rPr lang="zh-CN" altLang="en-US" b="1" i="1">
                                    <a:solidFill>
                                      <a:srgbClr val="C00000"/>
                                    </a:solidFill>
                                    <a:latin typeface="Cambria Math" panose="02040503050406030204" pitchFamily="18" charset="0"/>
                                  </a:rPr>
                                  <m:t>𝒙</m:t>
                                </m:r>
                              </m:e>
                              <m:sub>
                                <m:r>
                                  <a:rPr lang="zh-CN" altLang="en-US" b="1" i="1">
                                    <a:solidFill>
                                      <a:srgbClr val="C00000"/>
                                    </a:solidFill>
                                    <a:latin typeface="Cambria Math" panose="02040503050406030204" pitchFamily="18" charset="0"/>
                                  </a:rPr>
                                  <m:t>𝒊</m:t>
                                </m:r>
                              </m:sub>
                            </m:sSub>
                          </m:e>
                        </m:d>
                      </m:e>
                    </m:d>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为标签训练基模型！</a:t>
                </a:r>
              </a:p>
            </p:txBody>
          </p:sp>
        </mc:Choice>
        <mc:Fallback xmlns="">
          <p:sp>
            <p:nvSpPr>
              <p:cNvPr id="5" name="文本框 4"/>
              <p:cNvSpPr txBox="1">
                <a:spLocks noRot="1" noChangeAspect="1" noMove="1" noResize="1" noEditPoints="1" noAdjustHandles="1" noChangeArrowheads="1" noChangeShapeType="1" noTextEdit="1"/>
              </p:cNvSpPr>
              <p:nvPr/>
            </p:nvSpPr>
            <p:spPr>
              <a:xfrm>
                <a:off x="6285730" y="3944908"/>
                <a:ext cx="2875145" cy="1343381"/>
              </a:xfrm>
              <a:prstGeom prst="rect">
                <a:avLst/>
              </a:prstGeom>
              <a:blipFill>
                <a:blip r:embed="rId9"/>
                <a:stretch>
                  <a:fillRect l="-1695" b="-5882"/>
                </a:stretch>
              </a:blipFill>
            </p:spPr>
            <p:txBody>
              <a:bodyPr/>
              <a:lstStyle/>
              <a:p>
                <a:r>
                  <a:rPr lang="zh-CN" altLang="en-US">
                    <a:noFill/>
                  </a:rPr>
                  <a:t> </a:t>
                </a:r>
              </a:p>
            </p:txBody>
          </p:sp>
        </mc:Fallback>
      </mc:AlternateContent>
      <p:sp>
        <p:nvSpPr>
          <p:cNvPr id="6" name="矩形 5"/>
          <p:cNvSpPr/>
          <p:nvPr/>
        </p:nvSpPr>
        <p:spPr>
          <a:xfrm>
            <a:off x="3517865" y="4854652"/>
            <a:ext cx="1222568" cy="394050"/>
          </a:xfrm>
          <a:prstGeom prst="rect">
            <a:avLst/>
          </a:prstGeom>
          <a:solidFill>
            <a:schemeClr val="accent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517865" y="5573491"/>
            <a:ext cx="307915" cy="394050"/>
          </a:xfrm>
          <a:prstGeom prst="rect">
            <a:avLst/>
          </a:prstGeom>
          <a:solidFill>
            <a:schemeClr val="accent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箭头: 下 9"/>
          <p:cNvSpPr/>
          <p:nvPr/>
        </p:nvSpPr>
        <p:spPr>
          <a:xfrm>
            <a:off x="3565858" y="5324481"/>
            <a:ext cx="211928" cy="19702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3754044" y="5234937"/>
            <a:ext cx="1615974" cy="338554"/>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当前模型的残差</a:t>
            </a:r>
          </a:p>
        </p:txBody>
      </p:sp>
      <p:sp>
        <p:nvSpPr>
          <p:cNvPr id="15" name="箭头: 下 14"/>
          <p:cNvSpPr/>
          <p:nvPr/>
        </p:nvSpPr>
        <p:spPr>
          <a:xfrm rot="16200000">
            <a:off x="5147495" y="5672003"/>
            <a:ext cx="211928" cy="19702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p:cNvSpPr txBox="1"/>
          <p:nvPr/>
        </p:nvSpPr>
        <p:spPr>
          <a:xfrm>
            <a:off x="5454044" y="5497837"/>
            <a:ext cx="2678028" cy="830997"/>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以残差为标签（代替了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）训练决策树（损失函数仍为</a:t>
            </a:r>
            <a:r>
              <a:rPr lang="en-US" altLang="zh-CN" sz="1600" dirty="0">
                <a:latin typeface="微软雅黑" panose="020B0503020204020204" pitchFamily="34" charset="-122"/>
                <a:ea typeface="微软雅黑" panose="020B0503020204020204" pitchFamily="34" charset="-122"/>
              </a:rPr>
              <a:t>MSE</a:t>
            </a:r>
            <a:r>
              <a:rPr lang="zh-CN" altLang="en-US" sz="1600" dirty="0">
                <a:latin typeface="微软雅黑" panose="020B0503020204020204" pitchFamily="34" charset="-122"/>
                <a:ea typeface="微软雅黑" panose="020B0503020204020204" pitchFamily="34" charset="-122"/>
              </a:rPr>
              <a:t>）</a:t>
            </a:r>
          </a:p>
        </p:txBody>
      </p:sp>
      <p:graphicFrame>
        <p:nvGraphicFramePr>
          <p:cNvPr id="11" name="对象 10"/>
          <p:cNvGraphicFramePr>
            <a:graphicFrameLocks noChangeAspect="1"/>
          </p:cNvGraphicFramePr>
          <p:nvPr>
            <p:extLst>
              <p:ext uri="{D42A27DB-BD31-4B8C-83A1-F6EECF244321}">
                <p14:modId xmlns:p14="http://schemas.microsoft.com/office/powerpoint/2010/main" val="532830621"/>
              </p:ext>
            </p:extLst>
          </p:nvPr>
        </p:nvGraphicFramePr>
        <p:xfrm>
          <a:off x="7561101" y="5404214"/>
          <a:ext cx="324401" cy="471856"/>
        </p:xfrm>
        <a:graphic>
          <a:graphicData uri="http://schemas.openxmlformats.org/presentationml/2006/ole">
            <mc:AlternateContent xmlns:mc="http://schemas.openxmlformats.org/markup-compatibility/2006">
              <mc:Choice xmlns:v="urn:schemas-microsoft-com:vml" Requires="v">
                <p:oleObj spid="_x0000_s1114" name="Equation" r:id="rId10" imgW="3352800" imgH="4876800" progId="Equation.DSMT4">
                  <p:embed/>
                </p:oleObj>
              </mc:Choice>
              <mc:Fallback>
                <p:oleObj name="Equation" r:id="rId10" imgW="3352800" imgH="4876800" progId="Equation.DSMT4">
                  <p:embed/>
                  <p:pic>
                    <p:nvPicPr>
                      <p:cNvPr id="0" name="图片 1054"/>
                      <p:cNvPicPr/>
                      <p:nvPr/>
                    </p:nvPicPr>
                    <p:blipFill>
                      <a:blip r:embed="rId11"/>
                      <a:stretch>
                        <a:fillRect/>
                      </a:stretch>
                    </p:blipFill>
                    <p:spPr>
                      <a:xfrm>
                        <a:off x="7561101" y="5404214"/>
                        <a:ext cx="324401" cy="471856"/>
                      </a:xfrm>
                      <a:prstGeom prst="rect">
                        <a:avLst/>
                      </a:prstGeom>
                    </p:spPr>
                  </p:pic>
                </p:oleObj>
              </mc:Fallback>
            </mc:AlternateContent>
          </a:graphicData>
        </a:graphic>
      </p:graphicFrame>
      <p:sp>
        <p:nvSpPr>
          <p:cNvPr id="17" name="矩形 16">
            <a:extLst>
              <a:ext uri="{FF2B5EF4-FFF2-40B4-BE49-F238E27FC236}">
                <a16:creationId xmlns:a16="http://schemas.microsoft.com/office/drawing/2014/main" id="{B602BE75-551E-4EF7-86B8-B72B29381C94}"/>
              </a:ext>
            </a:extLst>
          </p:cNvPr>
          <p:cNvSpPr/>
          <p:nvPr/>
        </p:nvSpPr>
        <p:spPr>
          <a:xfrm>
            <a:off x="3966437" y="4135813"/>
            <a:ext cx="2139858" cy="467534"/>
          </a:xfrm>
          <a:prstGeom prst="rect">
            <a:avLst/>
          </a:prstGeom>
          <a:solidFill>
            <a:schemeClr val="accent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提升回归树</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7905562"/>
              </a:xfrm>
              <a:prstGeom prst="rect">
                <a:avLst/>
              </a:prstGeom>
              <a:noFill/>
            </p:spPr>
            <p:txBody>
              <a:bodyPr wrap="square" rtlCol="0">
                <a:spAutoFit/>
              </a:bodyPr>
              <a:lstStyle/>
              <a:p>
                <a:pPr lvl="0" algn="just">
                  <a:lnSpc>
                    <a:spcPct val="150000"/>
                  </a:lnSpc>
                  <a:defRPr/>
                </a:pP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提升回归树</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的具体算法步骤可总结如下：</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）初始化回归树</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）对决策树</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begChr m:val="{"/>
                        <m:endChr m:val="}"/>
                        <m:ctrlPr>
                          <a:rPr lang="en-US" altLang="zh-CN"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lang="en-US" altLang="zh-CN" b="0" i="1"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𝑇</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进行以下操作：</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对每个样本</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，计算前一轮迭代中模型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残差</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𝜀</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m:oMathPara>
                </a14:m>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startAt="2"/>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以残差</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𝜺</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为标签，输入特征不变，训练回归树模型</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，并</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计算本轮预测结果：</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m:oMathPara>
                </a14:m>
                <a:endPar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r>
                  <a:rPr lang="zh-CN" altLang="en-US"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a:t>.</a:t>
                </a: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）最终的提升树由各轮构造的决策树相加得到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indent="0" algn="just" fontAlgn="auto">
                  <a:lnSpc>
                    <a:spcPct val="10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nary>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startAt="2"/>
                  <a:defRPr/>
                </a:pP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a:defRPr/>
                </a:pP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7905562"/>
              </a:xfrm>
              <a:prstGeom prst="rect">
                <a:avLst/>
              </a:prstGeom>
              <a:blipFill>
                <a:blip r:embed="rId3"/>
                <a:stretch>
                  <a:fillRect l="-622" r="-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提升分类树</a:t>
            </a:r>
          </a:p>
        </p:txBody>
      </p:sp>
      <p:sp>
        <p:nvSpPr>
          <p:cNvPr id="7" name="文本框 6"/>
          <p:cNvSpPr txBox="1"/>
          <p:nvPr/>
        </p:nvSpPr>
        <p:spPr>
          <a:xfrm>
            <a:off x="162560" y="1061451"/>
            <a:ext cx="8818880" cy="170540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分类问题</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中，提升树通常使用指数损失函数或交叉熵损失函数。在</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以指数损失函数为损失函数处理二分类问题</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时，构造得到的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提升分类树</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和前面介绍的</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AdaBoost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是等价的。感兴趣的同学可以自行阅读李航所著的</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统计学习方法</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第八章的内容查看证明。</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 name="文本框 2"/>
              <p:cNvSpPr txBox="1"/>
              <p:nvPr/>
            </p:nvSpPr>
            <p:spPr>
              <a:xfrm>
                <a:off x="2160443" y="3480642"/>
                <a:ext cx="462949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Cambria Math" panose="02040503050406030204" pitchFamily="18" charset="0"/>
                              <a:sym typeface="Arial" panose="020B0604020202020204" pitchFamily="34" charset="0"/>
                            </a:rPr>
                            <m:t>𝑒𝑥𝑝</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f>
                        <m:fPr>
                          <m:ctrlPr>
                            <a:rPr lang="en-US" altLang="zh-CN" i="1">
                              <a:latin typeface="Cambria Math" panose="02040503050406030204" pitchFamily="18" charset="0"/>
                              <a:ea typeface="微软雅黑" panose="020B0503020204020204" pitchFamily="34" charset="-122"/>
                              <a:sym typeface="Arial" panose="020B0604020202020204" pitchFamily="34" charset="0"/>
                            </a:rPr>
                          </m:ctrlPr>
                        </m:fPr>
                        <m:num>
                          <m:r>
                            <a:rPr lang="en-US" altLang="zh-CN" i="1">
                              <a:latin typeface="Cambria Math" panose="02040503050406030204" pitchFamily="18" charset="0"/>
                              <a:ea typeface="微软雅黑" panose="020B0503020204020204" pitchFamily="34" charset="-122"/>
                              <a:sym typeface="Arial" panose="020B0604020202020204" pitchFamily="34" charset="0"/>
                            </a:rPr>
                            <m:t>1</m:t>
                          </m:r>
                        </m:num>
                        <m:den>
                          <m:r>
                            <a:rPr lang="en-US" altLang="zh-CN" i="1">
                              <a:latin typeface="Cambria Math" panose="02040503050406030204" pitchFamily="18" charset="0"/>
                              <a:ea typeface="微软雅黑" panose="020B0503020204020204" pitchFamily="34" charset="-122"/>
                              <a:sym typeface="Arial" panose="020B0604020202020204" pitchFamily="34" charset="0"/>
                            </a:rPr>
                            <m:t>𝑚</m:t>
                          </m:r>
                        </m:den>
                      </m:f>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𝑖</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𝑚</m:t>
                          </m:r>
                        </m:sup>
                        <m:e>
                          <m:r>
                            <a:rPr lang="en-US" altLang="zh-CN" i="1">
                              <a:latin typeface="Cambria Math" panose="02040503050406030204" pitchFamily="18" charset="0"/>
                              <a:ea typeface="微软雅黑" panose="020B0503020204020204" pitchFamily="34" charset="-122"/>
                              <a:sym typeface="Arial" panose="020B0604020202020204" pitchFamily="34" charset="0"/>
                            </a:rPr>
                            <m:t>𝑒𝑥𝑝</m:t>
                          </m:r>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acc>
                                <m:acc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i="1">
                                      <a:latin typeface="Cambria Math" panose="02040503050406030204" pitchFamily="18" charset="0"/>
                                      <a:ea typeface="微软雅黑" panose="020B0503020204020204" pitchFamily="34" charset="-122"/>
                                      <a:sym typeface="Arial" panose="020B0604020202020204" pitchFamily="34" charset="0"/>
                                    </a:rPr>
                                    <m:t>𝑦</m:t>
                                  </m:r>
                                </m:e>
                              </m:acc>
                            </m:e>
                            <m:sub>
                              <m:r>
                                <a:rPr lang="en-US" altLang="zh-CN" i="1">
                                  <a:latin typeface="Cambria Math" panose="02040503050406030204" pitchFamily="18" charset="0"/>
                                  <a:ea typeface="微软雅黑" panose="020B0503020204020204" pitchFamily="34" charset="-122"/>
                                  <a:sym typeface="Arial" panose="020B0604020202020204" pitchFamily="34" charset="0"/>
                                </a:rPr>
                                <m:t>𝑖</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2160443" y="3480642"/>
                <a:ext cx="4629492" cy="848566"/>
              </a:xfrm>
              <a:prstGeom prst="rect">
                <a:avLst/>
              </a:prstGeom>
              <a:blipFill rotWithShape="1">
                <a:blip r:embed="rId3"/>
                <a:stretch>
                  <a:fillRect l="-4" t="-24" r="11" b="49"/>
                </a:stretch>
              </a:blipFill>
            </p:spPr>
            <p:txBody>
              <a:bodyPr/>
              <a:lstStyle/>
              <a:p>
                <a:r>
                  <a:rPr lang="zh-CN" altLang="en-US">
                    <a:noFill/>
                  </a:rPr>
                  <a:t> </a:t>
                </a:r>
              </a:p>
            </p:txBody>
          </p:sp>
        </mc:Fallback>
      </mc:AlternateContent>
      <p:sp>
        <p:nvSpPr>
          <p:cNvPr id="4" name="文本框 3"/>
          <p:cNvSpPr txBox="1"/>
          <p:nvPr/>
        </p:nvSpPr>
        <p:spPr>
          <a:xfrm>
            <a:off x="202970" y="3244334"/>
            <a:ext cx="2061507"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指数损失函数</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zh-CN" altLang="en-US" dirty="0"/>
          </a:p>
        </p:txBody>
      </p:sp>
      <p:sp>
        <p:nvSpPr>
          <p:cNvPr id="5" name="文本框 4"/>
          <p:cNvSpPr txBox="1"/>
          <p:nvPr/>
        </p:nvSpPr>
        <p:spPr>
          <a:xfrm>
            <a:off x="162560" y="4675964"/>
            <a:ext cx="2061507" cy="369332"/>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交叉熵损失函数</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zh-CN" altLang="en-US" dirty="0"/>
          </a:p>
        </p:txBody>
      </p:sp>
      <mc:AlternateContent xmlns:mc="http://schemas.openxmlformats.org/markup-compatibility/2006" xmlns:a14="http://schemas.microsoft.com/office/drawing/2010/main">
        <mc:Choice Requires="a14">
          <p:sp>
            <p:nvSpPr>
              <p:cNvPr id="9" name="文本框 8"/>
              <p:cNvSpPr txBox="1"/>
              <p:nvPr/>
            </p:nvSpPr>
            <p:spPr>
              <a:xfrm>
                <a:off x="2264477" y="5042996"/>
                <a:ext cx="4572000" cy="8822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Cambria Math" panose="02040503050406030204" pitchFamily="18" charset="0"/>
                              <a:sym typeface="Arial" panose="020B0604020202020204" pitchFamily="34" charset="0"/>
                            </a:rPr>
                            <m:t>𝑒𝑛𝑡𝑟𝑜𝑝𝑦</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0" i="1" smtClean="0">
                          <a:latin typeface="Cambria Math" panose="02040503050406030204" pitchFamily="18" charset="0"/>
                          <a:ea typeface="微软雅黑" panose="020B0503020204020204" pitchFamily="34" charset="-122"/>
                          <a:sym typeface="Arial" panose="020B0604020202020204" pitchFamily="34" charset="0"/>
                        </a:rPr>
                        <m:t>−</m:t>
                      </m:r>
                      <m:nary>
                        <m:naryPr>
                          <m:chr m:val="∑"/>
                          <m:ctrlPr>
                            <a:rPr lang="en-US" altLang="zh-CN" i="1">
                              <a:latin typeface="Cambria Math" panose="02040503050406030204" pitchFamily="18" charset="0"/>
                              <a:ea typeface="微软雅黑" panose="020B0503020204020204" pitchFamily="34" charset="-122"/>
                              <a:sym typeface="Arial" panose="020B0604020202020204" pitchFamily="34" charset="0"/>
                            </a:rPr>
                          </m:ctrlPr>
                        </m:naryPr>
                        <m:sub>
                          <m:r>
                            <m:rPr>
                              <m:brk m:alnAt="23"/>
                            </m:rPr>
                            <a:rPr lang="en-US" altLang="zh-CN" i="1">
                              <a:latin typeface="Cambria Math" panose="02040503050406030204" pitchFamily="18" charset="0"/>
                              <a:ea typeface="微软雅黑" panose="020B0503020204020204" pitchFamily="34" charset="-122"/>
                              <a:sym typeface="Arial" panose="020B0604020202020204" pitchFamily="34" charset="0"/>
                            </a:rPr>
                            <m:t>𝑘</m:t>
                          </m:r>
                          <m:r>
                            <a:rPr lang="en-US" altLang="zh-CN" i="1">
                              <a:latin typeface="Cambria Math" panose="02040503050406030204" pitchFamily="18" charset="0"/>
                              <a:ea typeface="微软雅黑" panose="020B0503020204020204" pitchFamily="34" charset="-122"/>
                              <a:sym typeface="Arial" panose="020B0604020202020204" pitchFamily="34" charset="0"/>
                            </a:rPr>
                            <m:t>=1</m:t>
                          </m:r>
                        </m:sub>
                        <m: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i="1">
                              <a:latin typeface="Cambria Math" panose="02040503050406030204" pitchFamily="18" charset="0"/>
                              <a:ea typeface="微软雅黑" panose="020B0503020204020204" pitchFamily="34" charset="-122"/>
                              <a:sym typeface="Arial" panose="020B0604020202020204" pitchFamily="34" charset="0"/>
                            </a:rPr>
                            <m:t>𝑦</m:t>
                          </m:r>
                          <m:r>
                            <a:rPr lang="en-US" altLang="zh-CN" i="1">
                              <a:latin typeface="Cambria Math" panose="02040503050406030204" pitchFamily="18" charset="0"/>
                              <a:ea typeface="微软雅黑" panose="020B0503020204020204" pitchFamily="34" charset="-122"/>
                              <a:sym typeface="Arial" panose="020B0604020202020204" pitchFamily="34" charset="0"/>
                            </a:rPr>
                            <m:t>|</m:t>
                          </m:r>
                        </m:sup>
                        <m:e>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𝑝</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𝑙𝑜𝑔</m:t>
                              </m:r>
                            </m:e>
                            <m:sub>
                              <m:r>
                                <a:rPr lang="en-US" altLang="zh-CN" i="1">
                                  <a:latin typeface="Cambria Math" panose="02040503050406030204" pitchFamily="18" charset="0"/>
                                  <a:ea typeface="微软雅黑" panose="020B0503020204020204" pitchFamily="34" charset="-122"/>
                                  <a:sym typeface="Arial" panose="020B0604020202020204" pitchFamily="34" charset="0"/>
                                </a:rPr>
                                <m:t>2</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𝑞</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r>
                            <a:rPr lang="en-US" altLang="zh-CN" i="1">
                              <a:latin typeface="Cambria Math" panose="02040503050406030204" pitchFamily="18" charset="0"/>
                              <a:ea typeface="微软雅黑" panose="020B0503020204020204" pitchFamily="34" charset="-122"/>
                              <a:sym typeface="Arial" panose="020B0604020202020204" pitchFamily="34" charset="0"/>
                            </a:rPr>
                            <m:t>)</m:t>
                          </m:r>
                        </m:e>
                      </m:nary>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2264477" y="5042996"/>
                <a:ext cx="4572000" cy="882229"/>
              </a:xfrm>
              <a:prstGeom prst="rect">
                <a:avLst/>
              </a:prstGeom>
              <a:blipFill rotWithShape="1">
                <a:blip r:embed="rId4"/>
                <a:stretch>
                  <a:fillRect l="-1" t="-52" r="1" b="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202970" y="5889808"/>
                <a:ext cx="8346288" cy="873957"/>
              </a:xfrm>
              <a:prstGeom prst="rect">
                <a:avLst/>
              </a:prstGeom>
              <a:noFill/>
            </p:spPr>
            <p:txBody>
              <a:bodyPr wrap="square">
                <a:spAutoFit/>
              </a:bodyPr>
              <a:lstStyle/>
              <a:p>
                <a:pPr>
                  <a:lnSpc>
                    <a:spcPct val="150000"/>
                  </a:lnSpc>
                </a:pPr>
                <a:r>
                  <a:rPr lang="zh-CN" altLang="en-US" dirty="0">
                    <a:ea typeface="微软雅黑" panose="020B0503020204020204" pitchFamily="34" charset="-122"/>
                    <a:sym typeface="Arial" panose="020B0604020202020204" pitchFamily="34" charset="0"/>
                  </a:rPr>
                  <a:t>其中，</a:t>
                </a:r>
                <a:r>
                  <a:rPr lang="zh-CN" altLang="en-US" dirty="0">
                    <a:latin typeface="微软雅黑" panose="020B0503020204020204" pitchFamily="34" charset="-122"/>
                    <a:ea typeface="微软雅黑" panose="020B0503020204020204" pitchFamily="34" charset="-122"/>
                    <a:sym typeface="Arial" panose="020B0604020202020204" pitchFamily="34" charset="0"/>
                  </a:rPr>
                  <a:t>输出空间</a:t>
                </a:r>
                <a14:m>
                  <m:oMath xmlns:m="http://schemas.openxmlformats.org/officeDocument/2006/math">
                    <m:r>
                      <a:rPr lang="en-US" altLang="zh-CN" b="1" i="1">
                        <a:latin typeface="Cambria Math" panose="02040503050406030204" pitchFamily="18" charset="0"/>
                        <a:ea typeface="微软雅黑" panose="020B0503020204020204" pitchFamily="34" charset="-122"/>
                        <a:sym typeface="Arial" panose="020B0604020202020204" pitchFamily="34" charset="0"/>
                      </a:rPr>
                      <m:t>𝒚</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的可能取值包括</a:t>
                </a:r>
                <a14:m>
                  <m:oMath xmlns:m="http://schemas.openxmlformats.org/officeDocument/2006/math">
                    <m:r>
                      <a:rPr lang="en-US" altLang="zh-CN" i="1">
                        <a:latin typeface="Cambria Math" panose="02040503050406030204" pitchFamily="18" charset="0"/>
                        <a:ea typeface="微软雅黑" panose="020B0503020204020204" pitchFamily="34" charset="-122"/>
                        <a:sym typeface="Arial" panose="020B0604020202020204" pitchFamily="34" charset="0"/>
                      </a:rPr>
                      <m:t>𝑘</m:t>
                    </m:r>
                    <m:r>
                      <a:rPr lang="en-US" altLang="zh-CN">
                        <a:latin typeface="Cambria Math" panose="02040503050406030204" pitchFamily="18" charset="0"/>
                        <a:ea typeface="微软雅黑" panose="020B0503020204020204" pitchFamily="34" charset="-122"/>
                        <a:sym typeface="Arial" panose="020B0604020202020204" pitchFamily="34" charset="0"/>
                      </a:rPr>
                      <m:t>=</m:t>
                    </m:r>
                    <m:r>
                      <a:rPr lang="en-US" altLang="zh-CN" i="1">
                        <a:latin typeface="Cambria Math" panose="02040503050406030204" pitchFamily="18" charset="0"/>
                        <a:ea typeface="微软雅黑" panose="020B0503020204020204" pitchFamily="34" charset="-122"/>
                        <a:sym typeface="Arial" panose="020B0604020202020204" pitchFamily="34" charset="0"/>
                      </a:rPr>
                      <m:t>1,2,3,…,|</m:t>
                    </m:r>
                    <m:r>
                      <a:rPr lang="en-US" altLang="zh-CN" i="1">
                        <a:latin typeface="Cambria Math" panose="02040503050406030204" pitchFamily="18" charset="0"/>
                        <a:ea typeface="微软雅黑" panose="020B0503020204020204" pitchFamily="34" charset="-122"/>
                        <a:sym typeface="Arial" panose="020B0604020202020204" pitchFamily="34" charset="0"/>
                      </a:rPr>
                      <m:t>𝑦</m:t>
                    </m:r>
                    <m:r>
                      <a:rPr lang="en-US" altLang="zh-CN" i="1">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sym typeface="Arial" panose="020B0604020202020204" pitchFamily="34" charset="0"/>
                      </a:rPr>
                      <m:t>𝑘</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类样本占</a:t>
                </a:r>
                <a14:m>
                  <m:oMath xmlns:m="http://schemas.openxmlformats.org/officeDocument/2006/math">
                    <m:r>
                      <a:rPr lang="en-US" altLang="zh-CN" b="1" i="1">
                        <a:latin typeface="Cambria Math" panose="02040503050406030204" pitchFamily="18" charset="0"/>
                        <a:ea typeface="Cambria Math" panose="02040503050406030204" pitchFamily="18" charset="0"/>
                        <a:sym typeface="Arial" panose="020B0604020202020204" pitchFamily="34" charset="0"/>
                      </a:rPr>
                      <m:t>𝒚</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比例为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sym typeface="Arial" panose="020B0604020202020204" pitchFamily="34" charset="0"/>
                          </a:rPr>
                        </m:ctrlPr>
                      </m:sSubPr>
                      <m:e>
                        <m:r>
                          <a:rPr lang="en-US" altLang="zh-CN" i="1">
                            <a:latin typeface="Cambria Math" panose="02040503050406030204" pitchFamily="18" charset="0"/>
                            <a:ea typeface="微软雅黑" panose="020B0503020204020204" pitchFamily="34" charset="-122"/>
                            <a:sym typeface="Arial" panose="020B0604020202020204" pitchFamily="34" charset="0"/>
                          </a:rPr>
                          <m:t>𝑝</m:t>
                        </m:r>
                      </m:e>
                      <m:sub>
                        <m:r>
                          <a:rPr lang="en-US" altLang="zh-CN" i="1">
                            <a:latin typeface="Cambria Math" panose="02040503050406030204" pitchFamily="18" charset="0"/>
                            <a:ea typeface="微软雅黑" panose="020B0503020204020204" pitchFamily="34" charset="-122"/>
                            <a:sym typeface="Arial" panose="020B0604020202020204" pitchFamily="34" charset="0"/>
                          </a:rPr>
                          <m:t>𝑘</m:t>
                        </m:r>
                      </m:sub>
                    </m:sSub>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a:t>
                </a:r>
                <a14:m>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sym typeface="Arial" panose="020B0604020202020204" pitchFamily="34" charset="0"/>
                          </a:rPr>
                        </m:ctrlPr>
                      </m:accPr>
                      <m:e>
                        <m:r>
                          <a:rPr lang="en-US" altLang="zh-CN" b="1" i="1">
                            <a:latin typeface="Cambria Math" panose="02040503050406030204" pitchFamily="18" charset="0"/>
                            <a:ea typeface="微软雅黑" panose="020B0503020204020204" pitchFamily="34" charset="-122"/>
                            <a:sym typeface="Arial" panose="020B0604020202020204" pitchFamily="34" charset="0"/>
                          </a:rPr>
                          <m:t>𝒚</m:t>
                        </m:r>
                      </m:e>
                    </m:acc>
                  </m:oMath>
                </a14:m>
                <a:r>
                  <a:rPr lang="en-US" altLang="zh-CN" dirty="0">
                    <a:latin typeface="微软雅黑" panose="020B0503020204020204" pitchFamily="34" charset="-122"/>
                    <a:ea typeface="微软雅黑" panose="020B0503020204020204" pitchFamily="34" charset="-122"/>
                    <a:sym typeface="Arial" panose="020B0604020202020204" pitchFamily="34" charset="0"/>
                  </a:rPr>
                  <a:t> </a:t>
                </a:r>
                <a:r>
                  <a:rPr lang="zh-CN" altLang="en-US" dirty="0">
                    <a:latin typeface="微软雅黑" panose="020B0503020204020204" pitchFamily="34" charset="-122"/>
                    <a:ea typeface="微软雅黑" panose="020B0503020204020204" pitchFamily="34" charset="-122"/>
                    <a:sym typeface="Arial" panose="020B0604020202020204" pitchFamily="34" charset="0"/>
                  </a:rPr>
                  <a:t>中第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sym typeface="Arial" panose="020B0604020202020204" pitchFamily="34" charset="0"/>
                      </a:rPr>
                      <m:t>𝑘</m:t>
                    </m:r>
                  </m:oMath>
                </a14:m>
                <a:r>
                  <a:rPr lang="zh-CN" altLang="en-US" dirty="0">
                    <a:latin typeface="微软雅黑" panose="020B0503020204020204" pitchFamily="34" charset="-122"/>
                    <a:ea typeface="微软雅黑" panose="020B0503020204020204" pitchFamily="34" charset="-122"/>
                    <a:sym typeface="Arial" panose="020B0604020202020204" pitchFamily="34" charset="0"/>
                  </a:rPr>
                  <a:t>类样本的比例为</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bPr>
                      <m:e>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𝑞</m:t>
                        </m:r>
                      </m:e>
                      <m:sub>
                        <m:r>
                          <a:rPr lang="en-US" altLang="zh-CN" b="0" i="1" smtClean="0">
                            <a:latin typeface="Cambria Math" panose="02040503050406030204" pitchFamily="18" charset="0"/>
                            <a:ea typeface="微软雅黑" panose="020B0503020204020204" pitchFamily="34" charset="-122"/>
                            <a:sym typeface="Arial" panose="020B0604020202020204" pitchFamily="34" charset="0"/>
                          </a:rPr>
                          <m:t>𝑘</m:t>
                        </m:r>
                      </m:sub>
                    </m:sSub>
                  </m:oMath>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02970" y="5889808"/>
                <a:ext cx="8346288" cy="873957"/>
              </a:xfrm>
              <a:prstGeom prst="rect">
                <a:avLst/>
              </a:prstGeom>
              <a:blipFill rotWithShape="1">
                <a:blip r:embed="rId5"/>
                <a:stretch>
                  <a:fillRect l="-5" t="-21" r="3" b="43"/>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梯度提升树（</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Gradient Boosting Tree</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574294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提升树利用加法模型与前向分歩算法实现学习的优化过程，当损失函数是平方损失和指数损失函数时，每一步优化是很简单的。但</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对一般损失函数而言，往往每一步优化并不那么容易</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。针对这一问题，</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Freidman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提出了梯度提升（</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G</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radient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t>
                </a:r>
                <a:r>
                  <a:rPr kumimoji="0" lang="en-US" altLang="zh-CN" sz="18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oosting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）算法。这是利用最速下降法的近似方法，</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关键是利用损失函数的负梯度在当前模型的值。</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700" b="1"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计算损失函数负梯度</a:t>
                </a:r>
                <a:endParaRPr lang="en-US" altLang="zh-CN" b="1"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考虑一般损失函数情况下，第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b="0" i="1" dirty="0" smtClean="0">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lang="zh-CN" altLang="en-US"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轮训练结束后的损失：</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根据加法模型的构造，在第</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轮训练后，我们希望得到</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，使 </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相比于</a:t>
                </a: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得到最大程度的下降。因此，如果</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把</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b="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当作损失函数的变量</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，那么使损失函数下降最快的下降方向可以写作：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5742940"/>
              </a:xfrm>
              <a:prstGeom prst="rect">
                <a:avLst/>
              </a:prstGeom>
              <a:blipFill>
                <a:blip r:embed="rId4"/>
                <a:stretch>
                  <a:fillRect l="-622" r="-318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文本框 10"/>
              <p:cNvSpPr txBox="1"/>
              <p:nvPr/>
            </p:nvSpPr>
            <p:spPr>
              <a:xfrm>
                <a:off x="2247672" y="3944964"/>
                <a:ext cx="4572000"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247672" y="3944964"/>
                <a:ext cx="4572000" cy="404983"/>
              </a:xfrm>
              <a:prstGeom prst="rect">
                <a:avLst/>
              </a:prstGeom>
              <a:blipFill rotWithShape="1">
                <a:blip r:embed="rId5"/>
                <a:stretch>
                  <a:fillRect l="-9" t="-85" r="9" b="49"/>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nvGraphicFramePr>
        <p:xfrm>
          <a:off x="2329969" y="6115295"/>
          <a:ext cx="2069037" cy="403059"/>
        </p:xfrm>
        <a:graphic>
          <a:graphicData uri="http://schemas.openxmlformats.org/presentationml/2006/ole">
            <mc:AlternateContent xmlns:mc="http://schemas.openxmlformats.org/markup-compatibility/2006">
              <mc:Choice xmlns:v="urn:schemas-microsoft-com:vml" Requires="v">
                <p:oleObj spid="_x0000_s2079" name="Equation" r:id="rId6" imgW="29565600" imgH="5486400" progId="Equation.DSMT4">
                  <p:embed/>
                </p:oleObj>
              </mc:Choice>
              <mc:Fallback>
                <p:oleObj name="Equation" r:id="rId6" imgW="29565600" imgH="5486400" progId="Equation.DSMT4">
                  <p:embed/>
                  <p:pic>
                    <p:nvPicPr>
                      <p:cNvPr id="0" name="对象 3"/>
                      <p:cNvPicPr>
                        <a:picLocks noChangeAspect="1" noChangeArrowheads="1"/>
                      </p:cNvPicPr>
                      <p:nvPr/>
                    </p:nvPicPr>
                    <p:blipFill>
                      <a:blip r:embed="rId7"/>
                      <a:srcRect/>
                      <a:stretch>
                        <a:fillRect/>
                      </a:stretch>
                    </p:blipFill>
                    <p:spPr bwMode="auto">
                      <a:xfrm>
                        <a:off x="2329969" y="6115295"/>
                        <a:ext cx="2069037" cy="40305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4" name="文本框 13"/>
              <p:cNvSpPr txBox="1"/>
              <p:nvPr/>
            </p:nvSpPr>
            <p:spPr>
              <a:xfrm>
                <a:off x="3058160" y="5889909"/>
                <a:ext cx="4629492" cy="7107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058160" y="5889909"/>
                <a:ext cx="4629492" cy="710707"/>
              </a:xfrm>
              <a:prstGeom prst="rect">
                <a:avLst/>
              </a:prstGeom>
              <a:blipFill rotWithShape="1">
                <a:blip r:embed="rId8"/>
                <a:stretch>
                  <a:fillRect t="-40" r="7" b="60"/>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梯度提升树</a:t>
            </a:r>
          </a:p>
        </p:txBody>
      </p:sp>
      <mc:AlternateContent xmlns:mc="http://schemas.openxmlformats.org/markup-compatibility/2006" xmlns:a14="http://schemas.microsoft.com/office/drawing/2010/main">
        <mc:Choice Requires="a14">
          <p:sp>
            <p:nvSpPr>
              <p:cNvPr id="7" name="文本框 6"/>
              <p:cNvSpPr txBox="1"/>
              <p:nvPr/>
            </p:nvSpPr>
            <p:spPr>
              <a:xfrm>
                <a:off x="162560" y="955125"/>
                <a:ext cx="6310908" cy="461389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给定损失函数下降最快的方向：</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那么</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迭代之后的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最小损失函数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可以写作：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sSub>
                      <m:sSubPr>
                        <m:ctrlP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𝜷</m:t>
                        </m:r>
                      </m:e>
                      <m:sub>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sub>
                    </m:sSub>
                  </m:oMath>
                </a14:m>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取</a:t>
                </a:r>
                <a:r>
                  <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0-1</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范围内的值</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，注意和回归提升树（</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）区分</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。提升树中为了尽量逼近残差，</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取</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。而梯度提升是借鉴梯度下降的思想，</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是步长，所以取</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0-1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范围。</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而在提升树模型中，</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a:t>
                </a:r>
                <a14:m>
                  <m:oMath xmlns:m="http://schemas.openxmlformats.org/officeDocument/2006/math">
                    <m:r>
                      <a:rPr lang="en-US" altLang="zh-CN" b="1"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oMath>
                </a14:m>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轮迭代之后</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模型的</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损失函数</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955125"/>
                <a:ext cx="6310908" cy="4613892"/>
              </a:xfrm>
              <a:prstGeom prst="rect">
                <a:avLst/>
              </a:prstGeom>
              <a:blipFill>
                <a:blip r:embed="rId4"/>
                <a:stretch>
                  <a:fillRect l="-870" r="-773"/>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 name="文本框 2"/>
              <p:cNvSpPr txBox="1"/>
              <p:nvPr/>
            </p:nvSpPr>
            <p:spPr>
              <a:xfrm>
                <a:off x="2232840" y="2372154"/>
                <a:ext cx="4572000"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f>
                            <m:f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e>
                      </m:d>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2232840" y="2372154"/>
                <a:ext cx="4572000" cy="808235"/>
              </a:xfrm>
              <a:prstGeom prst="rect">
                <a:avLst/>
              </a:prstGeom>
              <a:blipFill>
                <a:blip r:embed="rId5"/>
                <a:stretch>
                  <a:fillRect/>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910493776"/>
              </p:ext>
            </p:extLst>
          </p:nvPr>
        </p:nvGraphicFramePr>
        <p:xfrm>
          <a:off x="2286000" y="1486318"/>
          <a:ext cx="2069037" cy="403059"/>
        </p:xfrm>
        <a:graphic>
          <a:graphicData uri="http://schemas.openxmlformats.org/presentationml/2006/ole">
            <mc:AlternateContent xmlns:mc="http://schemas.openxmlformats.org/markup-compatibility/2006">
              <mc:Choice xmlns:v="urn:schemas-microsoft-com:vml" Requires="v">
                <p:oleObj spid="_x0000_s3104" name="Equation" r:id="rId6" imgW="29565600" imgH="5486400" progId="Equation.DSMT4">
                  <p:embed/>
                </p:oleObj>
              </mc:Choice>
              <mc:Fallback>
                <p:oleObj name="Equation" r:id="rId6" imgW="29565600" imgH="5486400" progId="Equation.DSMT4">
                  <p:embed/>
                  <p:pic>
                    <p:nvPicPr>
                      <p:cNvPr id="0" name="对象 8"/>
                      <p:cNvPicPr>
                        <a:picLocks noChangeAspect="1" noChangeArrowheads="1"/>
                      </p:cNvPicPr>
                      <p:nvPr/>
                    </p:nvPicPr>
                    <p:blipFill>
                      <a:blip r:embed="rId7"/>
                      <a:srcRect/>
                      <a:stretch>
                        <a:fillRect/>
                      </a:stretch>
                    </p:blipFill>
                    <p:spPr bwMode="auto">
                      <a:xfrm>
                        <a:off x="2286000" y="1486318"/>
                        <a:ext cx="2069037" cy="403059"/>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5" name="文本框 4"/>
              <p:cNvSpPr txBox="1"/>
              <p:nvPr/>
            </p:nvSpPr>
            <p:spPr>
              <a:xfrm>
                <a:off x="3058160" y="1290562"/>
                <a:ext cx="4629492" cy="7107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kumimoji="0" lang="zh-CN" alt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3058160" y="1290562"/>
                <a:ext cx="4629492" cy="71070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378658" y="5181482"/>
                <a:ext cx="5725633"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b="1"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1378658" y="5181482"/>
                <a:ext cx="5725633" cy="404983"/>
              </a:xfrm>
              <a:prstGeom prst="rect">
                <a:avLst/>
              </a:prstGeom>
              <a:blipFill>
                <a:blip r:embed="rId9"/>
                <a:stretch>
                  <a:fillRect b="-9091"/>
                </a:stretch>
              </a:blipFill>
            </p:spPr>
            <p:txBody>
              <a:bodyPr/>
              <a:lstStyle/>
              <a:p>
                <a:r>
                  <a:rPr lang="zh-CN" altLang="en-US">
                    <a:noFill/>
                  </a:rPr>
                  <a:t> </a:t>
                </a:r>
              </a:p>
            </p:txBody>
          </p:sp>
        </mc:Fallback>
      </mc:AlternateContent>
      <p:sp>
        <p:nvSpPr>
          <p:cNvPr id="9" name="矩形 8"/>
          <p:cNvSpPr/>
          <p:nvPr/>
        </p:nvSpPr>
        <p:spPr>
          <a:xfrm>
            <a:off x="5393362" y="5181482"/>
            <a:ext cx="651510" cy="450850"/>
          </a:xfrm>
          <a:prstGeom prst="rect">
            <a:avLst/>
          </a:prstGeom>
          <a:solidFill>
            <a:schemeClr val="accent2">
              <a:lumMod val="40000"/>
              <a:lumOff val="60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4604704" y="2432132"/>
            <a:ext cx="1536403" cy="698912"/>
          </a:xfrm>
          <a:prstGeom prst="rect">
            <a:avLst/>
          </a:prstGeom>
          <a:solidFill>
            <a:schemeClr val="accent2">
              <a:lumMod val="40000"/>
              <a:lumOff val="60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左弧形 10"/>
          <p:cNvSpPr/>
          <p:nvPr/>
        </p:nvSpPr>
        <p:spPr>
          <a:xfrm rot="10800000">
            <a:off x="6360334" y="2652365"/>
            <a:ext cx="510363" cy="2630127"/>
          </a:xfrm>
          <a:prstGeom prst="curved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mc:AlternateContent xmlns:mc="http://schemas.openxmlformats.org/markup-compatibility/2006" xmlns:a14="http://schemas.microsoft.com/office/drawing/2010/main">
        <mc:Choice Requires="a14">
          <p:sp>
            <p:nvSpPr>
              <p:cNvPr id="14" name="文本框 13"/>
              <p:cNvSpPr txBox="1"/>
              <p:nvPr/>
            </p:nvSpPr>
            <p:spPr>
              <a:xfrm>
                <a:off x="7000924" y="2951765"/>
                <a:ext cx="1874196" cy="203132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用第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𝑡</m:t>
                    </m:r>
                  </m:oMath>
                </a14:m>
                <a:r>
                  <a:rPr lang="zh-CN" altLang="en-US" dirty="0">
                    <a:latin typeface="微软雅黑" panose="020B0503020204020204" pitchFamily="34" charset="-122"/>
                    <a:ea typeface="微软雅黑" panose="020B0503020204020204" pitchFamily="34" charset="-122"/>
                  </a:rPr>
                  <a:t>轮迭代的基学习器近似第</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𝑡</m:t>
                    </m:r>
                    <m:r>
                      <a:rPr lang="en-US" altLang="zh-CN" i="1" dirty="0" smtClean="0">
                        <a:latin typeface="Cambria Math" panose="02040503050406030204" pitchFamily="18" charset="0"/>
                        <a:ea typeface="微软雅黑" panose="020B0503020204020204" pitchFamily="34" charset="-122"/>
                      </a:rPr>
                      <m:t>−1</m:t>
                    </m:r>
                  </m:oMath>
                </a14:m>
                <a:r>
                  <a:rPr lang="zh-CN" altLang="en-US" dirty="0">
                    <a:latin typeface="微软雅黑" panose="020B0503020204020204" pitchFamily="34" charset="-122"/>
                    <a:ea typeface="微软雅黑" panose="020B0503020204020204" pitchFamily="34" charset="-122"/>
                  </a:rPr>
                  <a:t>轮损失函数的负梯度，可以近似获得使损失函数下降的最快方向</a:t>
                </a:r>
              </a:p>
            </p:txBody>
          </p:sp>
        </mc:Choice>
        <mc:Fallback xmlns="">
          <p:sp>
            <p:nvSpPr>
              <p:cNvPr id="14" name="文本框 13"/>
              <p:cNvSpPr txBox="1">
                <a:spLocks noRot="1" noChangeAspect="1" noMove="1" noResize="1" noEditPoints="1" noAdjustHandles="1" noChangeArrowheads="1" noChangeShapeType="1" noTextEdit="1"/>
              </p:cNvSpPr>
              <p:nvPr/>
            </p:nvSpPr>
            <p:spPr>
              <a:xfrm>
                <a:off x="7000924" y="2951765"/>
                <a:ext cx="1874196" cy="2031325"/>
              </a:xfrm>
              <a:prstGeom prst="rect">
                <a:avLst/>
              </a:prstGeom>
              <a:blipFill>
                <a:blip r:embed="rId10"/>
                <a:stretch>
                  <a:fillRect l="-2597" t="-1502" r="-649" b="-39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90790" y="5771151"/>
                <a:ext cx="8373140" cy="1047274"/>
              </a:xfrm>
              <a:prstGeom prst="rect">
                <a:avLst/>
              </a:prstGeom>
              <a:noFill/>
            </p:spPr>
            <p:txBody>
              <a:bodyPr wrap="square">
                <a:spAutoFit/>
              </a:bodyPr>
              <a:lstStyle/>
              <a:p>
                <a:pPr marL="0" marR="0" lvl="0" indent="0" algn="just" defTabSz="457200" rtl="0" eaLnBrk="1" fontAlgn="auto" latinLnBrk="0" hangingPunct="1">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为了使第</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轮训练后的损失函数最小，我们只需训练</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，使之与</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的偏差最小。也就是：</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特征不变，以</a:t>
                </a:r>
                <a14:m>
                  <m:oMath xmlns:m="http://schemas.openxmlformats.org/officeDocument/2006/math">
                    <m:r>
                      <a:rPr kumimoji="0" lang="en-US" altLang="zh-CN" sz="1800" b="1" i="0" u="none" strike="noStrike" kern="1200" cap="none" spc="0" normalizeH="0" baseline="0" noProof="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zh-CN" altLang="en-US"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𝑳</m:t>
                        </m:r>
                        <m:d>
                          <m:d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𝒚</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𝑯</m:t>
                                </m:r>
                              </m:e>
                              <m:sub>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m:t>
                                </m:r>
                              </m:sub>
                            </m:sSub>
                            <m:d>
                              <m:d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e>
                        </m:d>
                      </m:num>
                      <m:den>
                        <m:r>
                          <a:rPr kumimoji="0" lang="zh-CN" altLang="en-US"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𝑯</m:t>
                            </m:r>
                          </m:e>
                          <m:sub>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𝒕</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m:t>
                            </m:r>
                          </m:sub>
                        </m:sSub>
                        <m:d>
                          <m:dPr>
                            <m:ctrlP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den>
                    </m:f>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为标签训练基学习器</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90790" y="5771151"/>
                <a:ext cx="8373140" cy="1047274"/>
              </a:xfrm>
              <a:prstGeom prst="rect">
                <a:avLst/>
              </a:prstGeom>
              <a:blipFill rotWithShape="1">
                <a:blip r:embed="rId11"/>
                <a:stretch>
                  <a:fillRect l="-7" t="-26" b="41"/>
                </a:stretch>
              </a:blipFill>
            </p:spPr>
            <p:txBody>
              <a:bodyPr/>
              <a:lstStyle/>
              <a:p>
                <a:r>
                  <a:rPr lang="zh-CN" altLang="en-US">
                    <a:noFill/>
                  </a:rPr>
                  <a:t> </a:t>
                </a:r>
              </a:p>
            </p:txBody>
          </p:sp>
        </mc:Fallback>
      </mc:AlternateContent>
      <p:sp>
        <p:nvSpPr>
          <p:cNvPr id="17" name="矩形 16"/>
          <p:cNvSpPr/>
          <p:nvPr/>
        </p:nvSpPr>
        <p:spPr>
          <a:xfrm>
            <a:off x="90790" y="5721985"/>
            <a:ext cx="8301370" cy="1096440"/>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梯度提升树</a:t>
            </a:r>
          </a:p>
        </p:txBody>
      </p:sp>
      <mc:AlternateContent xmlns:mc="http://schemas.openxmlformats.org/markup-compatibility/2006" xmlns:a14="http://schemas.microsoft.com/office/drawing/2010/main">
        <mc:Choice Requires="a14">
          <p:sp>
            <p:nvSpPr>
              <p:cNvPr id="7" name="文本框 6"/>
              <p:cNvSpPr txBox="1"/>
              <p:nvPr/>
            </p:nvSpPr>
            <p:spPr>
              <a:xfrm>
                <a:off x="162560" y="1022985"/>
                <a:ext cx="8818880" cy="7085330"/>
              </a:xfrm>
              <a:prstGeom prst="rect">
                <a:avLst/>
              </a:prstGeom>
              <a:noFill/>
            </p:spPr>
            <p:txBody>
              <a:bodyPr wrap="square" rtlCol="0">
                <a:no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下面给出梯度提升树的训练步骤：</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）初始化回归</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分类树</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45720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对于回归树，一般取</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0" marR="0" lvl="0" indent="45720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对于分类树，若使用交叉熵损失函数</a:t>
                </a:r>
                <a14:m>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sym typeface="Arial" panose="020B0604020202020204" pitchFamily="34" charset="0"/>
                          </a:rPr>
                        </m:ctrlPr>
                      </m:sSupPr>
                      <m:e>
                        <m:r>
                          <a:rPr lang="en-US" altLang="zh-CN" i="1">
                            <a:latin typeface="Cambria Math" panose="02040503050406030204" pitchFamily="18" charset="0"/>
                            <a:ea typeface="Cambria Math" panose="02040503050406030204" pitchFamily="18" charset="0"/>
                            <a:sym typeface="Arial" panose="020B0604020202020204" pitchFamily="34" charset="0"/>
                          </a:rPr>
                          <m:t>ℒ</m:t>
                        </m:r>
                      </m:e>
                      <m:sup>
                        <m:r>
                          <a:rPr lang="en-US" altLang="zh-CN" b="0" i="1" smtClean="0">
                            <a:latin typeface="Cambria Math" panose="02040503050406030204" pitchFamily="18" charset="0"/>
                            <a:ea typeface="Cambria Math" panose="02040503050406030204" pitchFamily="18" charset="0"/>
                            <a:sym typeface="Arial" panose="020B0604020202020204" pitchFamily="34" charset="0"/>
                          </a:rPr>
                          <m:t>𝑒𝑛𝑡𝑟𝑜𝑝𝑦</m:t>
                        </m:r>
                      </m:sup>
                    </m:sSup>
                    <m:r>
                      <a:rPr lang="en-US" altLang="zh-CN" i="1">
                        <a:latin typeface="Cambria Math" panose="02040503050406030204" pitchFamily="18" charset="0"/>
                        <a:ea typeface="微软雅黑" panose="020B0503020204020204" pitchFamily="34" charset="-122"/>
                        <a:sym typeface="Arial" panose="020B0604020202020204" pitchFamily="34" charset="0"/>
                      </a:rPr>
                      <m:t>(</m:t>
                    </m:r>
                    <m:r>
                      <a:rPr lang="en-US" altLang="zh-CN" b="1" i="1">
                        <a:latin typeface="Cambria Math" panose="02040503050406030204" pitchFamily="18" charset="0"/>
                        <a:ea typeface="Cambria Math" panose="02040503050406030204" pitchFamily="18" charset="0"/>
                        <a:sym typeface="Arial" panose="020B0604020202020204" pitchFamily="34" charset="0"/>
                      </a:rPr>
                      <m:t>𝒚</m:t>
                    </m:r>
                    <m:r>
                      <a:rPr lang="en-US" altLang="zh-CN" i="1">
                        <a:latin typeface="Cambria Math" panose="02040503050406030204" pitchFamily="18" charset="0"/>
                        <a:ea typeface="Cambria Math" panose="02040503050406030204" pitchFamily="18" charset="0"/>
                        <a:sym typeface="Arial" panose="020B0604020202020204" pitchFamily="34" charset="0"/>
                      </a:rPr>
                      <m:t>,</m:t>
                    </m:r>
                    <m:acc>
                      <m:accPr>
                        <m:chr m:val="̂"/>
                        <m:ctrlPr>
                          <a:rPr lang="en-US" altLang="zh-CN" i="1">
                            <a:latin typeface="Cambria Math" panose="02040503050406030204" pitchFamily="18" charset="0"/>
                            <a:ea typeface="Cambria Math" panose="02040503050406030204" pitchFamily="18" charset="0"/>
                            <a:sym typeface="Arial" panose="020B0604020202020204" pitchFamily="34" charset="0"/>
                          </a:rPr>
                        </m:ctrlPr>
                      </m:accPr>
                      <m:e>
                        <m:r>
                          <a:rPr lang="en-US" altLang="zh-CN" b="1" i="1">
                            <a:latin typeface="Cambria Math" panose="02040503050406030204" pitchFamily="18" charset="0"/>
                            <a:ea typeface="Cambria Math" panose="02040503050406030204" pitchFamily="18" charset="0"/>
                            <a:sym typeface="Arial" panose="020B0604020202020204" pitchFamily="34" charset="0"/>
                          </a:rPr>
                          <m:t>𝒚</m:t>
                        </m:r>
                      </m:e>
                    </m:acc>
                    <m:r>
                      <a:rPr lang="en-US" altLang="zh-CN" i="1">
                        <a:latin typeface="Cambria Math" panose="02040503050406030204" pitchFamily="18" charset="0"/>
                        <a:ea typeface="微软雅黑" panose="020B0503020204020204" pitchFamily="34" charset="-122"/>
                        <a:sym typeface="Arial" panose="020B0604020202020204" pitchFamily="34" charset="0"/>
                      </a:rPr>
                      <m:t>)</m:t>
                    </m:r>
                  </m:oMath>
                </a14:m>
                <a:r>
                  <a:rPr lang="zh-CN" altLang="en-US" dirty="0">
                    <a:latin typeface="Cambria Math" panose="02040503050406030204" pitchFamily="18" charset="0"/>
                    <a:ea typeface="微软雅黑" panose="020B0503020204020204" pitchFamily="34" charset="-122"/>
                    <a:sym typeface="Arial" panose="020B0604020202020204" pitchFamily="34" charset="0"/>
                  </a:rPr>
                  <a:t>，由于涉及到分类概率，为简化梯度的计算，</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一般假设样本分类到各个类别的概率相同。</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）对决策树</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Arial" panose="020B0604020202020204"/>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dirty="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𝑇</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进行以下操作：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计算损失函数对第</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轮预测结果的负梯度：</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以上述负梯度为标签，输入特征不变，训练树模型</a:t>
                </a:r>
                <a14:m>
                  <m:oMath xmlns:m="http://schemas.openxmlformats.org/officeDocument/2006/math">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zh-CN" altLang="en-US"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，并</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计算本轮预测结果：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1"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）最终的提升树由各轮构造的决策树相加得到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defRPr/>
                </a:pPr>
                <a14:m>
                  <m:oMathPara xmlns:m="http://schemas.openxmlformats.org/officeDocument/2006/math">
                    <m:oMathParaPr>
                      <m:jc m:val="centerGroup"/>
                    </m:oMathParaPr>
                    <m:oMath xmlns:m="http://schemas.openxmlformats.org/officeDocument/2006/math">
                      <m:sSub>
                        <m:sSub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b>
                      </m:sSub>
                      <m:d>
                        <m:d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d>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sup>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d>
                            <m:dPr>
                              <m:ctrlP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zh-CN" altLang="en-US"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𝜽</m:t>
                                  </m:r>
                                </m:e>
                                <m:sub>
                                  <m:r>
                                    <a:rPr kumimoji="0" lang="en-US" altLang="zh-CN"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e>
                          </m:d>
                        </m:e>
                      </m:nary>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startAt="2"/>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57200" marR="0" lvl="1"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22985"/>
                <a:ext cx="8818880" cy="7085330"/>
              </a:xfrm>
              <a:prstGeom prst="rect">
                <a:avLst/>
              </a:prstGeom>
              <a:blipFill>
                <a:blip r:embed="rId4"/>
                <a:stretch>
                  <a:fillRect l="-622" r="-62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aphicFrame>
        <p:nvGraphicFramePr>
          <p:cNvPr id="4" name="对象 3"/>
          <p:cNvGraphicFramePr>
            <a:graphicFrameLocks noChangeAspect="1"/>
          </p:cNvGraphicFramePr>
          <p:nvPr/>
        </p:nvGraphicFramePr>
        <p:xfrm>
          <a:off x="5582869" y="3620300"/>
          <a:ext cx="2069037" cy="403059"/>
        </p:xfrm>
        <a:graphic>
          <a:graphicData uri="http://schemas.openxmlformats.org/presentationml/2006/ole">
            <mc:AlternateContent xmlns:mc="http://schemas.openxmlformats.org/markup-compatibility/2006">
              <mc:Choice xmlns:v="urn:schemas-microsoft-com:vml" Requires="v">
                <p:oleObj spid="_x0000_s4127" name="Equation" r:id="rId5" imgW="29565600" imgH="5486400" progId="Equation.DSMT4">
                  <p:embed/>
                </p:oleObj>
              </mc:Choice>
              <mc:Fallback>
                <p:oleObj name="Equation" r:id="rId5" imgW="29565600" imgH="5486400" progId="Equation.DSMT4">
                  <p:embed/>
                  <p:pic>
                    <p:nvPicPr>
                      <p:cNvPr id="0" name="对象 3"/>
                      <p:cNvPicPr>
                        <a:picLocks noChangeAspect="1" noChangeArrowheads="1"/>
                      </p:cNvPicPr>
                      <p:nvPr/>
                    </p:nvPicPr>
                    <p:blipFill>
                      <a:blip r:embed="rId6"/>
                      <a:srcRect/>
                      <a:stretch>
                        <a:fillRect/>
                      </a:stretch>
                    </p:blipFill>
                    <p:spPr bwMode="auto">
                      <a:xfrm>
                        <a:off x="5582869" y="3620300"/>
                        <a:ext cx="2069037" cy="403059"/>
                      </a:xfrm>
                      <a:prstGeom prst="rect">
                        <a:avLst/>
                      </a:prstGeom>
                      <a:noFill/>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18880" cy="5277535"/>
              </a:xfrm>
              <a:prstGeom prst="rect">
                <a:avLst/>
              </a:prstGeom>
              <a:noFill/>
            </p:spPr>
            <p:txBody>
              <a:bodyPr wrap="square" rtlCol="0">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如下图所示的训练数据，</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的取值范围为</a:t>
                </a:r>
                <a14:m>
                  <m:oMath xmlns:m="http://schemas.openxmlformats.org/officeDocument/2006/math">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0.5,10.5</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的取值范围为</a:t>
                </a:r>
                <a14:m>
                  <m:oMath xmlns:m="http://schemas.openxmlformats.org/officeDocument/2006/math">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，基模型为只有一个根节点和两个叶节点的回归树，学习提升回归树模型（</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系数</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𝛽</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sub>
                    </m:sSub>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设置为</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startAt="2"/>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457200" marR="0" lvl="1"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marR="0" lvl="1" indent="-342900" algn="just" defTabSz="457200" rtl="0" eaLnBrk="1" fontAlgn="auto" latinLnBrk="0" hangingPunct="1">
                  <a:lnSpc>
                    <a:spcPct val="150000"/>
                  </a:lnSpc>
                  <a:spcBef>
                    <a:spcPts val="0"/>
                  </a:spcBef>
                  <a:spcAft>
                    <a:spcPts val="0"/>
                  </a:spcAft>
                  <a:buClrTx/>
                  <a:buSzTx/>
                  <a:buFont typeface="+mj-ea"/>
                  <a:buAutoNum type="circleNumDbPlain"/>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解：</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第一步</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回归树需要求解以下优化问题得到：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func>
                        <m:func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lim>
                          </m:limLow>
                        </m:fName>
                        <m:e>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nary>
                                <m:naryPr>
                                  <m:chr m:val="∑"/>
                                  <m:supHide m:val="on"/>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supHide m:val="on"/>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e>
                          </m:d>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分别表示两个叶节点包含的样本数，</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e>
                    </m:d>
                    <m:r>
                      <a:rPr lang="zh-CN" altLang="en-US"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oMath>
                </a14:m>
                <a:endParaRPr lang="en-US" altLang="zh-CN"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 xmlns:m="http://schemas.openxmlformats.org/officeDocument/2006/math">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为两个叶节点的切分点。</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分别为两个叶节点的标签</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18880" cy="5277535"/>
              </a:xfrm>
              <a:prstGeom prst="rect">
                <a:avLst/>
              </a:prstGeom>
              <a:blipFill>
                <a:blip r:embed="rId3"/>
                <a:stretch>
                  <a:fillRect l="-622" r="-622" b="-808"/>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rotWithShape="1">
          <a:blip r:embed="rId4"/>
          <a:srcRect t="29754" b="52613"/>
          <a:stretch>
            <a:fillRect/>
          </a:stretch>
        </p:blipFill>
        <p:spPr>
          <a:xfrm>
            <a:off x="76137" y="2165685"/>
            <a:ext cx="9110293" cy="91921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897328"/>
                <a:ext cx="8818880" cy="693504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第一步</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回归树需要求解以下优化问题得到：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func>
                        <m:func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lang="en-US" altLang="zh-CN">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min</m:t>
                              </m:r>
                            </m:e>
                            <m:lim>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lim>
                          </m:limLow>
                        </m:fName>
                        <m:e>
                          <m:d>
                            <m:dPr>
                              <m:begChr m:val="{"/>
                              <m:endChr m:val="}"/>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nary>
                                <m:naryPr>
                                  <m:chr m:val="∑"/>
                                  <m:supHide m:val="on"/>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supHide m:val="on"/>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e>
                          </m:d>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分别为两个叶节点的标签</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nary>
                            <m:naryPr>
                              <m:chr m:val="∑"/>
                              <m:supHide m:val="on"/>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up/>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𝑦𝑖</m:t>
                              </m:r>
                            </m:e>
                          </m:nary>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den>
                      </m:f>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nary>
                            <m:naryPr>
                              <m:chr m:val="∑"/>
                              <m:supHide m:val="on"/>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up/>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𝑦𝑖</m:t>
                              </m:r>
                            </m:e>
                          </m:nary>
                        </m:num>
                        <m:den>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𝑁</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en>
                      </m:f>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𝑁</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𝑁</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分别为</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中样本的数目。</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897328"/>
                <a:ext cx="8818880" cy="6935040"/>
              </a:xfrm>
              <a:prstGeom prst="rect">
                <a:avLst/>
              </a:prstGeom>
              <a:blipFill rotWithShape="1">
                <a:blip r:embed="rId3"/>
                <a:stretch>
                  <a:fillRect l="-5" t="-1" r="5" b="-2899"/>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897328"/>
                <a:ext cx="8818880" cy="586038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第一步</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接下来讨论计算数据切分点的计算，观察到样本数据的特征，我们考虑以下切分点：</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5.5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7.5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8.5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9.5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。对于每个切分点，可以计算训练误差。例如取切分点为</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1.5</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d>
                      <m:dPr>
                        <m:begChr m:val="{"/>
                        <m:endChr m:val="}"/>
                        <m:ctrlP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𝑅</m:t>
                    </m:r>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d>
                      <m:dPr>
                        <m:begChr m:val="{"/>
                        <m:endChr m:val="}"/>
                        <m:ctrlP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2,3…,10</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1=5.56, </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2=7.50</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对于每一个切分点，我们都可以计算得到训练误差：</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可以看出，切分点取</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𝒔</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𝟔</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𝟓</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时，训练误差最小。此时，</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𝒄</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𝟏</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𝟔</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𝟐𝟒</m:t>
                    </m:r>
                    <m:r>
                      <a:rPr kumimoji="0" lang="zh-CN" altLang="en-US"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𝒄</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𝟐</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𝟖</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𝟗𝟏</m:t>
                    </m:r>
                  </m:oMath>
                </a14:m>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897328"/>
                <a:ext cx="8818880" cy="5860387"/>
              </a:xfrm>
              <a:prstGeom prst="rect">
                <a:avLst/>
              </a:prstGeom>
              <a:blipFill rotWithShape="1">
                <a:blip r:embed="rId3"/>
                <a:stretch>
                  <a:fillRect l="-5" t="-1" r="-1414" b="1"/>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4" name="文本框 3"/>
              <p:cNvSpPr txBox="1"/>
              <p:nvPr/>
            </p:nvSpPr>
            <p:spPr>
              <a:xfrm>
                <a:off x="880013" y="2871306"/>
                <a:ext cx="6794694" cy="800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𝐿</m:t>
                      </m:r>
                      <m:d>
                        <m:dPr>
                          <m:ctrlP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𝑠</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=1.5</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supHide m:val="on"/>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1</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nary>
                        <m:naryPr>
                          <m:chr m:val="∑"/>
                          <m:supHide m:val="on"/>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m:rPr>
                              <m:brk m:alnAt="7"/>
                            </m:rP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𝑅</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2</m:t>
                          </m:r>
                        </m:sub>
                        <m:sup/>
                        <m:e>
                          <m:sSup>
                            <m:sSup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𝑐</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e>
                              </m:d>
                            </m:e>
                            <m:sup>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=15.72</m:t>
                      </m:r>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880013" y="2871306"/>
                <a:ext cx="6794694" cy="800732"/>
              </a:xfrm>
              <a:prstGeom prst="rect">
                <a:avLst/>
              </a:prstGeom>
              <a:blipFill rotWithShape="1">
                <a:blip r:embed="rId4"/>
                <a:stretch>
                  <a:fillRect l="-8" t="-59" r="1" b="58"/>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5"/>
          <a:srcRect t="86249"/>
          <a:stretch>
            <a:fillRect/>
          </a:stretch>
        </p:blipFill>
        <p:spPr>
          <a:xfrm>
            <a:off x="-66074" y="4613790"/>
            <a:ext cx="9210074" cy="864855"/>
          </a:xfrm>
          <a:prstGeom prst="rect">
            <a:avLst/>
          </a:prstGeom>
        </p:spPr>
      </p:pic>
      <p:pic>
        <p:nvPicPr>
          <p:cNvPr id="6" name="图片 5"/>
          <p:cNvPicPr>
            <a:picLocks noChangeAspect="1"/>
          </p:cNvPicPr>
          <p:nvPr/>
        </p:nvPicPr>
        <p:blipFill rotWithShape="1">
          <a:blip r:embed="rId6"/>
          <a:srcRect l="16747" t="21473" r="10454" b="26815"/>
          <a:stretch>
            <a:fillRect/>
          </a:stretch>
        </p:blipFill>
        <p:spPr>
          <a:xfrm>
            <a:off x="404813" y="5070476"/>
            <a:ext cx="412750" cy="22383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897328"/>
                <a:ext cx="8818880" cy="5636479"/>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第一步</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我们可以得到</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6.24  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lang="en-US" altLang="zh-CN" b="0" i="1" smtClean="0">
                                  <a:latin typeface="Cambria Math" panose="02040503050406030204" pitchFamily="18" charset="0"/>
                                </a:rPr>
                                <m:t>8.91  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此时提升树为：</a:t>
                </a:r>
                <a:endPar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6.24  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lang="en-US" altLang="zh-CN" b="0" i="1" smtClean="0">
                                  <a:latin typeface="Cambria Math" panose="02040503050406030204" pitchFamily="18" charset="0"/>
                                </a:rPr>
                                <m:t>8.91  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kumimoji="0" lang="en-US" altLang="zh-CN" sz="1800" b="1"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u="none" strike="noStrike" kern="120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sym typeface="Arial" panose="020B0604020202020204" pitchFamily="34" charset="0"/>
                  </a:rPr>
                  <a:t>用</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拟合数据的残差（                    ）如下表所示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此时的训练误差为：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897328"/>
                <a:ext cx="8818880" cy="5636479"/>
              </a:xfrm>
              <a:prstGeom prst="rect">
                <a:avLst/>
              </a:prstGeom>
              <a:blipFill rotWithShape="1">
                <a:blip r:embed="rId4"/>
                <a:stretch>
                  <a:fillRect l="-5" t="-1" r="5" b="5"/>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rotWithShape="1">
          <a:blip r:embed="rId5"/>
          <a:srcRect t="47699" r="4303" b="39110"/>
          <a:stretch>
            <a:fillRect/>
          </a:stretch>
        </p:blipFill>
        <p:spPr>
          <a:xfrm>
            <a:off x="162360" y="4675019"/>
            <a:ext cx="8699934" cy="796705"/>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2403231" y="5867357"/>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=1.93</m:t>
                      </m:r>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403231" y="5867357"/>
                <a:ext cx="4572000" cy="900375"/>
              </a:xfrm>
              <a:prstGeom prst="rect">
                <a:avLst/>
              </a:prstGeom>
              <a:blipFill rotWithShape="1">
                <a:blip r:embed="rId6"/>
                <a:stretch>
                  <a:fillRect l="-9" t="-66" r="9" b="60"/>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extLst>
              <p:ext uri="{D42A27DB-BD31-4B8C-83A1-F6EECF244321}">
                <p14:modId xmlns:p14="http://schemas.microsoft.com/office/powerpoint/2010/main" val="1635793847"/>
              </p:ext>
            </p:extLst>
          </p:nvPr>
        </p:nvGraphicFramePr>
        <p:xfrm>
          <a:off x="3019038" y="4034343"/>
          <a:ext cx="1231581" cy="345707"/>
        </p:xfrm>
        <a:graphic>
          <a:graphicData uri="http://schemas.openxmlformats.org/presentationml/2006/ole">
            <mc:AlternateContent xmlns:mc="http://schemas.openxmlformats.org/markup-compatibility/2006">
              <mc:Choice xmlns:v="urn:schemas-microsoft-com:vml" Requires="v">
                <p:oleObj spid="_x0000_s5150" name="Equation" r:id="rId7" imgW="17373600" imgH="4876800" progId="Equation.DSMT4">
                  <p:embed/>
                </p:oleObj>
              </mc:Choice>
              <mc:Fallback>
                <p:oleObj name="Equation" r:id="rId7" imgW="17373600" imgH="4876800" progId="Equation.DSMT4">
                  <p:embed/>
                  <p:pic>
                    <p:nvPicPr>
                      <p:cNvPr id="0" name="图片 5130"/>
                      <p:cNvPicPr/>
                      <p:nvPr/>
                    </p:nvPicPr>
                    <p:blipFill>
                      <a:blip r:embed="rId8"/>
                      <a:stretch>
                        <a:fillRect/>
                      </a:stretch>
                    </p:blipFill>
                    <p:spPr>
                      <a:xfrm>
                        <a:off x="3019038" y="4034343"/>
                        <a:ext cx="1231581" cy="345707"/>
                      </a:xfrm>
                      <a:prstGeom prst="rect">
                        <a:avLst/>
                      </a:prstGeom>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49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897328"/>
                <a:ext cx="8818880" cy="5540684"/>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第二步</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重复上述步骤，训练回归树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。与上述步骤不同之处在于</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训练数据的标签用上表中的残差。</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重复上述步骤可以得到回归树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−0.52  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&lt;3.5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.22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≥3.5</m:t>
                              </m:r>
                            </m:e>
                          </m:eqArr>
                        </m:e>
                      </m:d>
                    </m:oMath>
                  </m:oMathPara>
                </a14:m>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此时提升树为：</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897328"/>
                <a:ext cx="8818880" cy="5540684"/>
              </a:xfrm>
              <a:prstGeom prst="rect">
                <a:avLst/>
              </a:prstGeom>
              <a:blipFill rotWithShape="1">
                <a:blip r:embed="rId3"/>
                <a:stretch>
                  <a:fillRect l="-5" t="-1" r="5" b="7"/>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rotWithShape="1">
          <a:blip r:embed="rId4"/>
          <a:srcRect t="47699" r="4303" b="39110"/>
          <a:stretch>
            <a:fillRect/>
          </a:stretch>
        </p:blipFill>
        <p:spPr>
          <a:xfrm>
            <a:off x="56316" y="2811043"/>
            <a:ext cx="8699934" cy="796705"/>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1742047" y="5521463"/>
                <a:ext cx="5845127" cy="9766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5.72                 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&lt;3.5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6.46      3.5</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9</m:t>
                              </m:r>
                              <m:r>
                                <a:rPr lang="en-US" altLang="zh-CN" b="0" i="1" smtClean="0">
                                  <a:latin typeface="Cambria Math" panose="02040503050406030204" pitchFamily="18" charset="0"/>
                                </a:rPr>
                                <m:t>.13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1742047" y="5521463"/>
                <a:ext cx="5845127" cy="976614"/>
              </a:xfrm>
              <a:prstGeom prst="rect">
                <a:avLst/>
              </a:prstGeom>
              <a:blipFill rotWithShape="1">
                <a:blip r:embed="rId5"/>
                <a:stretch>
                  <a:fillRect l="-4" t="-14" r="3" b="12"/>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6"/>
          <a:srcRect t="9605"/>
          <a:stretch>
            <a:fillRect/>
          </a:stretch>
        </p:blipFill>
        <p:spPr>
          <a:xfrm>
            <a:off x="406800" y="3241466"/>
            <a:ext cx="384081" cy="30310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mc:AlternateContent xmlns:mc="http://schemas.openxmlformats.org/markup-compatibility/2006" xmlns:a14="http://schemas.microsoft.com/office/drawing/2010/main">
        <mc:Choice Requires="a14">
          <p:sp>
            <p:nvSpPr>
              <p:cNvPr id="7" name="文本框 6"/>
              <p:cNvSpPr txBox="1"/>
              <p:nvPr/>
            </p:nvSpPr>
            <p:spPr>
              <a:xfrm>
                <a:off x="131245" y="897328"/>
                <a:ext cx="8818880" cy="3782895"/>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第二步</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：构造回归树</a:t>
                </a:r>
                <a14:m>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此时提升树的训练误差为：</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可以看出，通过集成两个基模型，训练误差能够显著减小</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重复上述步骤，</a:t>
                </a: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以残差为目标函数训练回归树模型</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，可以得到各个轮次的回归树模型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31245" y="897328"/>
                <a:ext cx="8818880" cy="3782895"/>
              </a:xfrm>
              <a:prstGeom prst="rect">
                <a:avLst/>
              </a:prstGeom>
              <a:blipFill rotWithShape="1">
                <a:blip r:embed="rId3"/>
                <a:stretch>
                  <a:fillRect l="-5" t="-2" r="5" b="7"/>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3" name="文本框 2"/>
              <p:cNvSpPr txBox="1"/>
              <p:nvPr/>
            </p:nvSpPr>
            <p:spPr>
              <a:xfrm>
                <a:off x="2254685" y="1824025"/>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=0.79</m:t>
                      </m:r>
                    </m:oMath>
                  </m:oMathPara>
                </a14:m>
                <a:endParaRPr lang="zh-CN" altLang="en-US" dirty="0"/>
              </a:p>
            </p:txBody>
          </p:sp>
        </mc:Choice>
        <mc:Fallback xmlns="">
          <p:sp>
            <p:nvSpPr>
              <p:cNvPr id="3" name="文本框 2"/>
              <p:cNvSpPr txBox="1">
                <a:spLocks noRot="1" noChangeAspect="1" noMove="1" noResize="1" noEditPoints="1" noAdjustHandles="1" noChangeArrowheads="1" noChangeShapeType="1" noTextEdit="1"/>
              </p:cNvSpPr>
              <p:nvPr/>
            </p:nvSpPr>
            <p:spPr>
              <a:xfrm>
                <a:off x="2254685" y="1824025"/>
                <a:ext cx="4572000" cy="900375"/>
              </a:xfrm>
              <a:prstGeom prst="rect">
                <a:avLst/>
              </a:prstGeom>
              <a:blipFill rotWithShape="1">
                <a:blip r:embed="rId4"/>
                <a:stretch>
                  <a:fillRect l="-10" t="-34" r="10" b="28"/>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113897"/>
            <a:ext cx="8818880" cy="874407"/>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重复上述步骤，以残差为目标函数训练回归树模型，可以得到各个轮次的回归树模型：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6" name="文本框 5"/>
              <p:cNvSpPr txBox="1"/>
              <p:nvPr/>
            </p:nvSpPr>
            <p:spPr>
              <a:xfrm>
                <a:off x="-1336040" y="1749400"/>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0.15  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.22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1336040" y="1749400"/>
                <a:ext cx="8534400" cy="710194"/>
              </a:xfrm>
              <a:prstGeom prst="rect">
                <a:avLst/>
              </a:prstGeom>
              <a:blipFill rotWithShape="1">
                <a:blip r:embed="rId3"/>
                <a:stretch>
                  <a:fillRect t="-86" b="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336040" y="2740000"/>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−0.16  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&lt;4.5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.11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≥4.5</m:t>
                              </m:r>
                            </m:e>
                          </m:eqArr>
                        </m:e>
                      </m:d>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336040" y="2740000"/>
                <a:ext cx="8534400" cy="710194"/>
              </a:xfrm>
              <a:prstGeom prst="rect">
                <a:avLst/>
              </a:prstGeom>
              <a:blipFill rotWithShape="1">
                <a:blip r:embed="rId4"/>
                <a:stretch>
                  <a:fillRect t="-86" b="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392364" y="3730600"/>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.11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1392364" y="3730600"/>
                <a:ext cx="8534400" cy="710194"/>
              </a:xfrm>
              <a:prstGeom prst="rect">
                <a:avLst/>
              </a:prstGeom>
              <a:blipFill rotWithShape="1">
                <a:blip r:embed="rId5"/>
                <a:stretch>
                  <a:fillRect l="5" t="-86" r="2" b="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336040" y="4721200"/>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−0.15  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&lt;2.5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.04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≥2.5</m:t>
                              </m:r>
                            </m:e>
                          </m:eqArr>
                        </m:e>
                      </m:d>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336040" y="4721200"/>
                <a:ext cx="8534400" cy="710194"/>
              </a:xfrm>
              <a:prstGeom prst="rect">
                <a:avLst/>
              </a:prstGeom>
              <a:blipFill rotWithShape="1">
                <a:blip r:embed="rId6"/>
                <a:stretch>
                  <a:fillRect t="-86" b="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035551" y="1678320"/>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=0.47</m:t>
                      </m:r>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035551" y="1678320"/>
                <a:ext cx="4572000" cy="900375"/>
              </a:xfrm>
              <a:prstGeom prst="rect">
                <a:avLst/>
              </a:prstGeom>
              <a:blipFill rotWithShape="1">
                <a:blip r:embed="rId7"/>
                <a:stretch>
                  <a:fillRect l="-3" t="-2" r="3" b="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3991991" y="2690022"/>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=0.30</m:t>
                      </m:r>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3991991" y="2690022"/>
                <a:ext cx="4572000" cy="900375"/>
              </a:xfrm>
              <a:prstGeom prst="rect">
                <a:avLst/>
              </a:prstGeom>
              <a:blipFill rotWithShape="1">
                <a:blip r:embed="rId8"/>
                <a:stretch>
                  <a:fillRect l="-8" t="-18" r="8"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3991991" y="3640375"/>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=0.23</m:t>
                      </m:r>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3991991" y="3640375"/>
                <a:ext cx="4572000" cy="900375"/>
              </a:xfrm>
              <a:prstGeom prst="rect">
                <a:avLst/>
              </a:prstGeom>
              <a:blipFill rotWithShape="1">
                <a:blip r:embed="rId9"/>
                <a:stretch>
                  <a:fillRect l="-8" t="-62" r="8"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3991991" y="4570122"/>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naryPr>
                        <m:sub>
                          <m:r>
                            <m:rPr>
                              <m:brk m:alnAt="23"/>
                            </m:r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10</m:t>
                          </m:r>
                        </m:sup>
                        <m:e>
                          <m:sSup>
                            <m:sSup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𝑖</m:t>
                                          </m:r>
                                        </m:sub>
                                      </m:sSub>
                                    </m:e>
                                  </m:d>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p>
                          </m:sSup>
                        </m:e>
                      </m:nary>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=0.17</m:t>
                      </m:r>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3991991" y="4570122"/>
                <a:ext cx="4572000" cy="900375"/>
              </a:xfrm>
              <a:prstGeom prst="rect">
                <a:avLst/>
              </a:prstGeom>
              <a:blipFill rotWithShape="1">
                <a:blip r:embed="rId10"/>
                <a:stretch>
                  <a:fillRect l="-8" t="-3" r="8" b="67"/>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113897"/>
            <a:ext cx="8818880" cy="45890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最终得到</a:t>
            </a:r>
            <a:r>
              <a:rPr lang="zh-CN" altLang="en-US">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的集成模型是</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pSp>
        <p:nvGrpSpPr>
          <p:cNvPr id="3" name="组合 2"/>
          <p:cNvGrpSpPr/>
          <p:nvPr/>
        </p:nvGrpSpPr>
        <p:grpSpPr>
          <a:xfrm>
            <a:off x="-2875724" y="1730990"/>
            <a:ext cx="11631974" cy="4408970"/>
            <a:chOff x="-2875724" y="2141804"/>
            <a:chExt cx="11631974" cy="4408970"/>
          </a:xfrm>
        </p:grpSpPr>
        <mc:AlternateContent xmlns:mc="http://schemas.openxmlformats.org/markup-compatibility/2006" xmlns:a14="http://schemas.microsoft.com/office/drawing/2010/main">
          <mc:Choice Requires="a14">
            <p:sp>
              <p:nvSpPr>
                <p:cNvPr id="6" name="文本框 5"/>
                <p:cNvSpPr txBox="1"/>
                <p:nvPr/>
              </p:nvSpPr>
              <p:spPr>
                <a:xfrm>
                  <a:off x="221850" y="2141804"/>
                  <a:ext cx="8534400" cy="1406026"/>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𝐻</m:t>
                            </m:r>
                          </m:e>
                          <m:sub>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sub>
                        </m:sSub>
                        <m:d>
                          <m:d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sub>
                        </m:sSub>
                        <m:d>
                          <m:d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5.63                    </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&lt;2.5</m:t>
                                </m:r>
                              </m:e>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5.82</m:t>
                                </m:r>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2</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&lt;3.5</m:t>
                                </m:r>
                              </m:e>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6.56        3</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&lt;4.5</m:t>
                                </m:r>
                              </m:e>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6.83        4</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sym typeface="Arial" panose="020B0604020202020204" pitchFamily="34" charset="0"/>
                                  </a:rPr>
                                  <m:t>≤</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8</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rPr>
                                  <m:t>.95                   </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rPr>
                                  <m:t>𝑥</m:t>
                                </m:r>
                                <m:r>
                                  <a:rPr kumimoji="0" lang="en-US" altLang="zh-CN"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≥6.5</m:t>
                                </m:r>
                              </m:e>
                            </m:eqArr>
                          </m:e>
                        </m:d>
                      </m:oMath>
                    </m:oMathPara>
                  </a14:m>
                  <a:endParaRPr kumimoji="0" lang="zh-CN" altLang="en-US" b="0" i="0" u="none" strike="noStrike" kern="1200" cap="none" spc="0" normalizeH="0" baseline="0" noProof="0" dirty="0">
                    <a:ln>
                      <a:noFill/>
                    </a:ln>
                    <a:solidFill>
                      <a:srgbClr val="000000"/>
                    </a:solidFill>
                    <a:effectLst/>
                    <a:uLnTx/>
                    <a:uFillTx/>
                    <a:latin typeface="Arial" panose="020B0604020202020204"/>
                    <a:ea typeface="宋体" panose="02010600030101010101" pitchFamily="2"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21850" y="2141804"/>
                  <a:ext cx="8534400" cy="1406026"/>
                </a:xfrm>
                <a:prstGeom prst="rect">
                  <a:avLst/>
                </a:prstGeom>
                <a:blipFill rotWithShape="1">
                  <a:blip r:embed="rId3"/>
                </a:blipFill>
              </p:spPr>
              <p:txBody>
                <a:bodyPr/>
                <a:lstStyle/>
                <a:p>
                  <a:r>
                    <a:rPr lang="zh-CN" altLang="en-US">
                      <a:noFill/>
                    </a:rPr>
                    <a:t> </a:t>
                  </a:r>
                </a:p>
              </p:txBody>
            </p:sp>
          </mc:Fallback>
        </mc:AlternateContent>
        <p:grpSp>
          <p:nvGrpSpPr>
            <p:cNvPr id="18" name="组合 17"/>
            <p:cNvGrpSpPr/>
            <p:nvPr/>
          </p:nvGrpSpPr>
          <p:grpSpPr>
            <a:xfrm>
              <a:off x="-2875724" y="4191683"/>
              <a:ext cx="11236960" cy="2121376"/>
              <a:chOff x="-2221602" y="4045633"/>
              <a:chExt cx="11236960" cy="2121376"/>
            </a:xfrm>
          </p:grpSpPr>
          <mc:AlternateContent xmlns:mc="http://schemas.openxmlformats.org/markup-compatibility/2006" xmlns:a14="http://schemas.microsoft.com/office/drawing/2010/main">
            <mc:Choice Requires="a14">
              <p:sp>
                <p:nvSpPr>
                  <p:cNvPr id="5" name="文本框 4"/>
                  <p:cNvSpPr txBox="1"/>
                  <p:nvPr/>
                </p:nvSpPr>
                <p:spPr>
                  <a:xfrm>
                    <a:off x="-2221602" y="5424060"/>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0.15  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.22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2221602" y="5424060"/>
                    <a:ext cx="8534400" cy="710194"/>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480958" y="4045633"/>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4</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−0.16  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&lt;4.5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.11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≥4.5</m:t>
                                  </m:r>
                                </m:e>
                              </m:eqArr>
                            </m:e>
                          </m:d>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480958" y="4045633"/>
                    <a:ext cx="8534400" cy="710194"/>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480958" y="4763314"/>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5</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0.07  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.11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480958" y="4763314"/>
                    <a:ext cx="8534400" cy="710194"/>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80958" y="5456815"/>
                    <a:ext cx="85344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−0.15  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&lt;2.5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.04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≥2.5</m:t>
                                  </m:r>
                                </m:e>
                              </m:eqArr>
                            </m:e>
                          </m:d>
                        </m:oMath>
                      </m:oMathPara>
                    </a14:m>
                    <a:endParaRPr lang="zh-CN" altLang="en-US" dirty="0"/>
                  </a:p>
                </p:txBody>
              </p:sp>
            </mc:Choice>
            <mc:Fallback xmlns="">
              <p:sp>
                <p:nvSpPr>
                  <p:cNvPr id="11" name="文本框 10"/>
                  <p:cNvSpPr txBox="1">
                    <a:spLocks noRot="1" noChangeAspect="1" noMove="1" noResize="1" noEditPoints="1" noAdjustHandles="1" noChangeArrowheads="1" noChangeShapeType="1" noTextEdit="1"/>
                  </p:cNvSpPr>
                  <p:nvPr/>
                </p:nvSpPr>
                <p:spPr>
                  <a:xfrm>
                    <a:off x="480958" y="5456815"/>
                    <a:ext cx="8534400" cy="710194"/>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056640" y="4053120"/>
                    <a:ext cx="60833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6.24  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&lt;6.5</m:t>
                                  </m:r>
                                </m:e>
                                <m:e>
                                  <m:r>
                                    <a:rPr lang="en-US" altLang="zh-CN" b="0" i="1" smtClean="0">
                                      <a:latin typeface="Cambria Math" panose="02040503050406030204" pitchFamily="18" charset="0"/>
                                    </a:rPr>
                                    <m:t>8.91  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≥6.5</m:t>
                                  </m:r>
                                </m:e>
                              </m:eqArr>
                            </m:e>
                          </m:d>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056640" y="4053120"/>
                    <a:ext cx="6083300" cy="710194"/>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1012190" y="4721353"/>
                    <a:ext cx="6083300" cy="7101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h</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eqArr>
                                <m:eqArr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eqArr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−0.52  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𝑥</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&lt;3.5</m:t>
                                  </m:r>
                                </m:e>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0</m:t>
                                  </m:r>
                                  <m:r>
                                    <a:rPr lang="en-US" altLang="zh-CN" b="0" i="1" smtClean="0">
                                      <a:latin typeface="Cambria Math" panose="02040503050406030204" pitchFamily="18" charset="0"/>
                                    </a:rPr>
                                    <m:t>.22  </m:t>
                                  </m:r>
                                  <m:r>
                                    <a:rPr lang="en-US" altLang="zh-CN" b="0" i="1" smtClean="0">
                                      <a:latin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≥3.5</m:t>
                                  </m:r>
                                </m:e>
                              </m:eqArr>
                            </m:e>
                          </m:d>
                        </m:oMath>
                      </m:oMathPara>
                    </a14:m>
                    <a:endParaRPr lang="zh-CN" altLang="en-US" dirty="0"/>
                  </a:p>
                </p:txBody>
              </p:sp>
            </mc:Choice>
            <mc:Fallback xmlns="">
              <p:sp>
                <p:nvSpPr>
                  <p:cNvPr id="17" name="文本框 16"/>
                  <p:cNvSpPr txBox="1">
                    <a:spLocks noRot="1" noChangeAspect="1" noMove="1" noResize="1" noEditPoints="1" noAdjustHandles="1" noChangeArrowheads="1" noChangeShapeType="1" noTextEdit="1"/>
                  </p:cNvSpPr>
                  <p:nvPr/>
                </p:nvSpPr>
                <p:spPr>
                  <a:xfrm>
                    <a:off x="-1012190" y="4721353"/>
                    <a:ext cx="6083300" cy="710194"/>
                  </a:xfrm>
                  <a:prstGeom prst="rect">
                    <a:avLst/>
                  </a:prstGeom>
                  <a:blipFill rotWithShape="1">
                    <a:blip r:embed="rId9"/>
                  </a:blipFill>
                </p:spPr>
                <p:txBody>
                  <a:bodyPr/>
                  <a:lstStyle/>
                  <a:p>
                    <a:r>
                      <a:rPr lang="zh-CN" altLang="en-US">
                        <a:noFill/>
                      </a:rPr>
                      <a:t> </a:t>
                    </a:r>
                  </a:p>
                </p:txBody>
              </p:sp>
            </mc:Fallback>
          </mc:AlternateContent>
        </p:grpSp>
        <p:sp>
          <p:nvSpPr>
            <p:cNvPr id="19" name="箭头: 右 18"/>
            <p:cNvSpPr/>
            <p:nvPr/>
          </p:nvSpPr>
          <p:spPr>
            <a:xfrm>
              <a:off x="5607050" y="4909364"/>
              <a:ext cx="374650" cy="557986"/>
            </a:xfrm>
            <a:prstGeom prst="rightArrow">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0" name="文本框 19"/>
                <p:cNvSpPr txBox="1"/>
                <p:nvPr/>
              </p:nvSpPr>
              <p:spPr>
                <a:xfrm>
                  <a:off x="6224770" y="3978147"/>
                  <a:ext cx="2412600" cy="2572627"/>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以</a:t>
                  </a:r>
                  <a:r>
                    <a:rPr lang="en-US" altLang="zh-CN" dirty="0">
                      <a:latin typeface="微软雅黑" panose="020B0503020204020204" pitchFamily="34" charset="-122"/>
                      <a:ea typeface="微软雅黑" panose="020B0503020204020204" pitchFamily="34" charset="-122"/>
                    </a:rPr>
                    <a:t>x&lt;2.5</a:t>
                  </a:r>
                  <a:r>
                    <a:rPr lang="zh-CN" altLang="en-US" dirty="0">
                      <a:latin typeface="微软雅黑" panose="020B0503020204020204" pitchFamily="34" charset="-122"/>
                      <a:ea typeface="微软雅黑" panose="020B0503020204020204" pitchFamily="34" charset="-122"/>
                    </a:rPr>
                    <a:t>时模型输出为例，在</a:t>
                  </a:r>
                  <a:r>
                    <a:rPr lang="en-US" altLang="zh-CN" dirty="0">
                      <a:latin typeface="微软雅黑" panose="020B0503020204020204" pitchFamily="34" charset="-122"/>
                      <a:ea typeface="微软雅黑" panose="020B0503020204020204" pitchFamily="34" charset="-122"/>
                    </a:rPr>
                    <a:t>x&lt;2.5</a:t>
                  </a:r>
                  <a:r>
                    <a:rPr lang="zh-CN" altLang="en-US" dirty="0">
                      <a:latin typeface="微软雅黑" panose="020B0503020204020204" pitchFamily="34" charset="-122"/>
                      <a:ea typeface="微软雅黑" panose="020B0503020204020204" pitchFamily="34" charset="-122"/>
                    </a:rPr>
                    <a:t>时，模型预测结果为各个基模型在</a:t>
                  </a:r>
                  <a:r>
                    <a:rPr lang="en-US" altLang="zh-CN" dirty="0">
                      <a:latin typeface="微软雅黑" panose="020B0503020204020204" pitchFamily="34" charset="-122"/>
                      <a:ea typeface="微软雅黑" panose="020B0503020204020204" pitchFamily="34" charset="-122"/>
                    </a:rPr>
                    <a:t>x&lt;2.5</a:t>
                  </a:r>
                  <a:r>
                    <a:rPr lang="zh-CN" altLang="en-US" dirty="0">
                      <a:latin typeface="微软雅黑" panose="020B0503020204020204" pitchFamily="34" charset="-122"/>
                      <a:ea typeface="微软雅黑" panose="020B0503020204020204" pitchFamily="34" charset="-122"/>
                    </a:rPr>
                    <a:t>情况下输出的加和</a:t>
                  </a:r>
                  <a:r>
                    <a:rPr lang="en-US" altLang="zh-CN" dirty="0">
                      <a:latin typeface="微软雅黑" panose="020B0503020204020204" pitchFamily="34" charset="-122"/>
                      <a:ea typeface="微软雅黑" panose="020B0503020204020204" pitchFamily="34" charset="-122"/>
                    </a:rPr>
                    <a:t>:</a:t>
                  </a:r>
                </a:p>
                <a:p>
                  <a:endParaRPr lang="en-US" altLang="zh-CN" dirty="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6.24−0.52+0.15−0.16+0.07−0.15=5.63</m:t>
                        </m:r>
                      </m:oMath>
                    </m:oMathPara>
                  </a14:m>
                  <a:endParaRPr lang="en-US" altLang="zh-CN"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224770" y="3978147"/>
                  <a:ext cx="2412600" cy="2572627"/>
                </a:xfrm>
                <a:prstGeom prst="rect">
                  <a:avLst/>
                </a:prstGeom>
                <a:blipFill rotWithShape="1">
                  <a:blip r:embed="rId10"/>
                </a:blipFill>
              </p:spPr>
              <p:txBody>
                <a:bodyPr/>
                <a:lstStyle/>
                <a:p>
                  <a:r>
                    <a:rPr lang="zh-CN" altLang="en-US">
                      <a:noFill/>
                    </a:rPr>
                    <a:t> </a:t>
                  </a:r>
                </a:p>
              </p:txBody>
            </p:sp>
          </mc:Fallback>
        </mc:AlternateContent>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Bagging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算法</a:t>
            </a:r>
          </a:p>
        </p:txBody>
      </p:sp>
      <p:sp>
        <p:nvSpPr>
          <p:cNvPr id="14" name="内容占位符 2"/>
          <p:cNvSpPr>
            <a:spLocks noGrp="1"/>
          </p:cNvSpPr>
          <p:nvPr>
            <p:ph idx="1"/>
          </p:nvPr>
        </p:nvSpPr>
        <p:spPr>
          <a:xfrm>
            <a:off x="457200" y="1452878"/>
            <a:ext cx="8299050" cy="4942842"/>
          </a:xfrm>
        </p:spPr>
        <p:txBody>
          <a:bodyPr/>
          <a:lstStyle/>
          <a:p>
            <a:r>
              <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Bagging </a:t>
            </a:r>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简介</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随机森林</a:t>
            </a:r>
            <a:endParaRPr lang="en-US" altLang="zh-CN"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162560" y="1061451"/>
            <a:ext cx="8593690" cy="212090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大家可以注意到，上述介绍的几类</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算法都是采用串行的方式进行训练。不同于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Boosting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算法，接下来我们将要介绍的</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算法采用并行的训练方式，各个基学习器之间相互独立。</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算法通过构造独立而多样的学习器增强模型的泛化能力</a:t>
            </a:r>
            <a:endPar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rotWithShape="1">
          <a:blip r:embed="rId3"/>
          <a:srcRect l="54875"/>
          <a:stretch>
            <a:fillRect/>
          </a:stretch>
        </p:blipFill>
        <p:spPr>
          <a:xfrm>
            <a:off x="1268174" y="2568033"/>
            <a:ext cx="2702786" cy="3369152"/>
          </a:xfrm>
          <a:prstGeom prst="rect">
            <a:avLst/>
          </a:prstGeom>
        </p:spPr>
      </p:pic>
      <p:pic>
        <p:nvPicPr>
          <p:cNvPr id="4" name="图片 3"/>
          <p:cNvPicPr>
            <a:picLocks noChangeAspect="1"/>
          </p:cNvPicPr>
          <p:nvPr/>
        </p:nvPicPr>
        <p:blipFill rotWithShape="1">
          <a:blip r:embed="rId3"/>
          <a:srcRect r="56257"/>
          <a:stretch>
            <a:fillRect/>
          </a:stretch>
        </p:blipFill>
        <p:spPr>
          <a:xfrm>
            <a:off x="5076574" y="2568033"/>
            <a:ext cx="2620017" cy="3369152"/>
          </a:xfrm>
          <a:prstGeom prst="rect">
            <a:avLst/>
          </a:prstGeom>
        </p:spPr>
      </p:pic>
      <p:sp>
        <p:nvSpPr>
          <p:cNvPr id="6" name="文本框 5"/>
          <p:cNvSpPr txBox="1"/>
          <p:nvPr/>
        </p:nvSpPr>
        <p:spPr>
          <a:xfrm>
            <a:off x="668214" y="6028398"/>
            <a:ext cx="7448843" cy="369332"/>
          </a:xfrm>
          <a:prstGeom prst="rect">
            <a:avLst/>
          </a:prstGeom>
          <a:noFill/>
        </p:spPr>
        <p:txBody>
          <a:bodyPr wrap="square">
            <a:spAutoFit/>
          </a:bodyPr>
          <a:lstStyle/>
          <a:p>
            <a:pPr algn="ct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通过多个</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学习器</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共同表决投票得出集成结果</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162560" y="1061451"/>
            <a:ext cx="8593690" cy="2120902"/>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请思考：</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算法主要降低模型的偏差还是方差？为什么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）从计算效率上来看，</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算法具有什么优势？</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）给定数据集，如何设计训练策略才能构造独立而多样的学习器以增强模型的泛化能力？</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p:sp>
        <p:nvSpPr>
          <p:cNvPr id="7" name="文本框 6"/>
          <p:cNvSpPr txBox="1"/>
          <p:nvPr/>
        </p:nvSpPr>
        <p:spPr>
          <a:xfrm>
            <a:off x="162560" y="1061451"/>
            <a:ext cx="8593690" cy="269798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为了在有限的数据条件下，为各个个体学习器构造尽可能独立且存在一定差异的训练集，一种常用的解决方法就是</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对训练样本进行重新采样，产生出若干个不同的子集。基于这些数据集子集，可以分别训练出若干个体学习器，最终将它们集成</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sz="7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为了保证个体学习器的性能，需要保证训练各个个体学习器的数据集子集包含了充分的信息。因此在采样时，尤其对于样本数量不大的数据集，</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一般不会让采样出的数据集子集互斥，而是使它们相互有重叠</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rotWithShape="1">
          <a:blip r:embed="rId3"/>
          <a:srcRect t="3735"/>
          <a:stretch>
            <a:fillRect/>
          </a:stretch>
        </p:blipFill>
        <p:spPr>
          <a:xfrm>
            <a:off x="2072587" y="3845294"/>
            <a:ext cx="4866244" cy="286235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 </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简介</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593690" cy="5595634"/>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有放回采样（</a:t>
                </a:r>
                <a:r>
                  <a:rPr kumimoji="0" lang="en-US"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Bootstrap</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算法中常用的一种重采样方法。</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对于一个有</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𝒎</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个样本的数据集，有放回地选取</a:t>
                </a:r>
                <a14:m>
                  <m:oMath xmlns:m="http://schemas.openxmlformats.org/officeDocument/2006/math">
                    <m:r>
                      <a:rPr lang="en-US" altLang="zh-CN" b="1" i="1" dirty="0" smtClean="0">
                        <a:solidFill>
                          <a:srgbClr val="C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𝒎</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个数据，组成的新数据集显然也包含</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𝒎</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个样本数据</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。在有放回采样生成的数据集中，原始数据集中的一些数据会重复出现，而一些数据则未被包含在新数据集中。当</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充分大时，一个数据不在数据集中的概率收敛于：</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func>
                        <m:funcPr>
                          <m:ctrlP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uncPr>
                        <m:fName>
                          <m:limLow>
                            <m:limLowPr>
                              <m:ctrlP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limLowPr>
                            <m:e>
                              <m:r>
                                <m:rPr>
                                  <m:sty m:val="p"/>
                                </m:rPr>
                                <a:rPr kumimoji="0" lang="pt-BR"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lim</m:t>
                              </m:r>
                            </m:e>
                            <m:li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lim>
                          </m:limLow>
                        </m:fName>
                        <m:e>
                          <m:sSup>
                            <m:sSupPr>
                              <m:ctrlP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pPr>
                            <m:e>
                              <m:d>
                                <m:dPr>
                                  <m:ctrlP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pt-BR"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den>
                                  </m:f>
                                </m:e>
                              </m:d>
                            </m:e>
                            <m: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p>
                          </m:sSup>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f>
                            <m:f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fPr>
                            <m:num>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num>
                            <m:den>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𝑒</m:t>
                              </m:r>
                            </m:den>
                          </m:f>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=36.8%</m:t>
                          </m:r>
                        </m:e>
                      </m:func>
                    </m:oMath>
                  </m:oMathPara>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仅有约</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的样本被用来训练一个个体学习器。对于剩余的约</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的样本，它们会被作为验证集，来评估该个体学习器的泛化性能。评估结果通常被称为</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包外（</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out-of-bag</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）估计</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。包外估计在模型训练中还可以帮助减小模型的过拟合风险。例如，若基学习器是神经网络，包外估计的结果可以用作早停策略执行的依据；若基学习器是决策树，它也可以作为模型的剪枝的参考。</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593690" cy="5595634"/>
              </a:xfrm>
              <a:prstGeom prst="rect">
                <a:avLst/>
              </a:prstGeom>
              <a:blipFill>
                <a:blip r:embed="rId3"/>
                <a:stretch>
                  <a:fillRect l="-639" r="-639" b="-763"/>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Random Forest, RF</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3" name="图片 2"/>
          <p:cNvPicPr>
            <a:picLocks noChangeAspect="1"/>
          </p:cNvPicPr>
          <p:nvPr/>
        </p:nvPicPr>
        <p:blipFill>
          <a:blip r:embed="rId3"/>
          <a:stretch>
            <a:fillRect/>
          </a:stretch>
        </p:blipFill>
        <p:spPr>
          <a:xfrm>
            <a:off x="1858497" y="3568401"/>
            <a:ext cx="5521772" cy="3289599"/>
          </a:xfrm>
          <a:prstGeom prst="rect">
            <a:avLst/>
          </a:prstGeom>
        </p:spPr>
      </p:pic>
      <p:sp>
        <p:nvSpPr>
          <p:cNvPr id="7" name="文本框 6"/>
          <p:cNvSpPr txBox="1"/>
          <p:nvPr/>
        </p:nvSpPr>
        <p:spPr>
          <a:xfrm>
            <a:off x="162560" y="1061451"/>
            <a:ext cx="8593690" cy="3367397"/>
          </a:xfrm>
          <a:prstGeom prst="rect">
            <a:avLst/>
          </a:prstGeom>
          <a:noFill/>
        </p:spPr>
        <p:txBody>
          <a:bodyPr wrap="square" rtlCol="0">
            <a:spAutoFit/>
          </a:bodyPr>
          <a:lstStyle/>
          <a:p>
            <a:pPr lvl="0" algn="just">
              <a:lnSpc>
                <a:spcPct val="150000"/>
              </a:lnSpc>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随机森林是基于决策树模型设计的一种</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集成模型。有学者将随机森林定义为一个由一系列决策树组成的分类器</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在随机森林模型中，</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基于所有决策树的投票，随机森林将给出最终的集成结果</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。对于回归任务，只需要将随机森林的基学习器由分类树替换为回归树，并将最终的投票法替换为简单平均法即可。</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p:sp>
        <p:nvSpPr>
          <p:cNvPr id="7" name="文本框 6"/>
          <p:cNvSpPr txBox="1"/>
          <p:nvPr/>
        </p:nvSpPr>
        <p:spPr>
          <a:xfrm>
            <a:off x="162560" y="1061451"/>
            <a:ext cx="8593690" cy="5029390"/>
          </a:xfrm>
          <a:prstGeom prst="rect">
            <a:avLst/>
          </a:prstGeom>
          <a:noFill/>
        </p:spPr>
        <p:txBody>
          <a:bodyPr wrap="square" rtlCol="0">
            <a:spAutoFit/>
          </a:bodyPr>
          <a:lstStyle/>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集成方法中，各个基学习器会在重采样的数据集上进行训练，随后对结果投票来提升预测精度。通过这种方式，随机森林可以建立数十或数百棵树，形成一片决策“森林”。为了丰富森林中决策树的多样性，</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除了</a:t>
            </a:r>
            <a:r>
              <a:rPr lang="en-US" altLang="zh-CN"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中的数据集重采样，许多研究曾尝试为这些基学习器引入更多的随机性</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，这些尝试包括：</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a:lnSpc>
                <a:spcPct val="150000"/>
              </a:lnSpc>
              <a:buFont typeface="Arial" panose="020B0604020202020204" pitchFamily="34" charset="0"/>
              <a:buChar char="•"/>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引入随机特征选择机制</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a:lnSpc>
                <a:spcPct val="150000"/>
              </a:lnSpc>
              <a:buFont typeface="Arial" panose="020B0604020202020204" pitchFamily="34" charset="0"/>
              <a:buChar char="•"/>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在决策树的输出中添加随机噪声</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gn="just">
              <a:lnSpc>
                <a:spcPct val="150000"/>
              </a:lnSpc>
              <a:buFont typeface="Arial" panose="020B0604020202020204" pitchFamily="34" charset="0"/>
              <a:buChar char="•"/>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在决策树分支划分时，从多个划分特征中随机选取划分点</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lvl="0" indent="-285750" algn="just">
              <a:lnSpc>
                <a:spcPct val="150000"/>
              </a:lnSpc>
              <a:buFont typeface="Arial" panose="020B0604020202020204" pitchFamily="34" charset="0"/>
              <a:buChar char="•"/>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lvl="0"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lvl="0"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其中，以</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随机特征选择</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机制效果最为显著，现在所广泛使用的随机森林模型在</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集成方法的基础上加入了随机特征选择机制</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593690" cy="253640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普通决策树在划分子节点时，通常会考虑全部的</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维输入特征，</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而随机森林中的决策树则会对特征再进行一次采样，即从全部特征中随机选择</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𝒌</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个，再在这</a:t>
                </a:r>
                <a14:m>
                  <m:oMath xmlns:m="http://schemas.openxmlformats.org/officeDocument/2006/math">
                    <m:r>
                      <a:rPr kumimoji="0" lang="en-US" altLang="zh-CN" sz="1800" b="1" i="1" u="none" strike="noStrike" kern="1200" cap="none" spc="0" normalizeH="0" baseline="0" noProof="0" dirty="0" smtClean="0">
                        <a:ln>
                          <a:noFill/>
                        </a:ln>
                        <a:solidFill>
                          <a:srgbClr val="C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𝒌</m:t>
                    </m:r>
                  </m:oMath>
                </a14:m>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维特征中寻找最优的划分点</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。这里的超参数</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控制了基决策树的随机程度，特别地，当</a:t>
                </a:r>
                <a14:m>
                  <m:oMath xmlns:m="http://schemas.openxmlformats.org/officeDocument/2006/math">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r>
                      <a:rPr kumimoji="0" lang="en-US" altLang="zh-CN" sz="1800"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时，随机森林等价于基学习器为普通决策树的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集成模型。在实践中推荐取值为 </a:t>
                </a:r>
                <a14:m>
                  <m:oMath xmlns:m="http://schemas.openxmlformats.org/officeDocument/2006/math">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𝑙𝑜𝑔</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𝑑</m:t>
                    </m:r>
                  </m:oMath>
                </a14:m>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593690" cy="2536400"/>
              </a:xfrm>
              <a:prstGeom prst="rect">
                <a:avLst/>
              </a:prstGeom>
              <a:blipFill rotWithShape="1">
                <a:blip r:embed="rId3"/>
                <a:stretch>
                  <a:fillRect t="-14" r="3" b="23"/>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aphicFrame>
        <p:nvGraphicFramePr>
          <p:cNvPr id="3" name="表格 3"/>
          <p:cNvGraphicFramePr>
            <a:graphicFrameLocks noGrp="1"/>
          </p:cNvGraphicFramePr>
          <p:nvPr/>
        </p:nvGraphicFramePr>
        <p:xfrm>
          <a:off x="459205" y="3970166"/>
          <a:ext cx="3240000" cy="54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tblGrid>
              <a:tr h="54000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sp>
        <p:nvSpPr>
          <p:cNvPr id="4" name="文本框 3"/>
          <p:cNvSpPr txBox="1"/>
          <p:nvPr/>
        </p:nvSpPr>
        <p:spPr>
          <a:xfrm>
            <a:off x="1425742" y="3565148"/>
            <a:ext cx="1107996"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数据特征</a:t>
            </a:r>
          </a:p>
        </p:txBody>
      </p:sp>
      <p:sp>
        <p:nvSpPr>
          <p:cNvPr id="5" name="文本框 4"/>
          <p:cNvSpPr txBox="1"/>
          <p:nvPr/>
        </p:nvSpPr>
        <p:spPr>
          <a:xfrm>
            <a:off x="6224770" y="3366621"/>
            <a:ext cx="1107996"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数据特征</a:t>
            </a:r>
          </a:p>
        </p:txBody>
      </p:sp>
      <p:graphicFrame>
        <p:nvGraphicFramePr>
          <p:cNvPr id="6" name="表格 3"/>
          <p:cNvGraphicFramePr>
            <a:graphicFrameLocks noGrp="1"/>
          </p:cNvGraphicFramePr>
          <p:nvPr/>
        </p:nvGraphicFramePr>
        <p:xfrm>
          <a:off x="5158768" y="3771639"/>
          <a:ext cx="3240000" cy="54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gridCol w="540000">
                  <a:extLst>
                    <a:ext uri="{9D8B030D-6E8A-4147-A177-3AD203B41FA5}">
                      <a16:colId xmlns:a16="http://schemas.microsoft.com/office/drawing/2014/main" val="20003"/>
                    </a:ext>
                  </a:extLst>
                </a:gridCol>
                <a:gridCol w="540000">
                  <a:extLst>
                    <a:ext uri="{9D8B030D-6E8A-4147-A177-3AD203B41FA5}">
                      <a16:colId xmlns:a16="http://schemas.microsoft.com/office/drawing/2014/main" val="20004"/>
                    </a:ext>
                  </a:extLst>
                </a:gridCol>
                <a:gridCol w="540000">
                  <a:extLst>
                    <a:ext uri="{9D8B030D-6E8A-4147-A177-3AD203B41FA5}">
                      <a16:colId xmlns:a16="http://schemas.microsoft.com/office/drawing/2014/main" val="20005"/>
                    </a:ext>
                  </a:extLst>
                </a:gridCol>
              </a:tblGrid>
              <a:tr h="54000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sp>
        <p:nvSpPr>
          <p:cNvPr id="9" name="箭头: 下 8"/>
          <p:cNvSpPr/>
          <p:nvPr/>
        </p:nvSpPr>
        <p:spPr>
          <a:xfrm>
            <a:off x="1723135" y="4763465"/>
            <a:ext cx="673768"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表格 3"/>
          <p:cNvGraphicFramePr>
            <a:graphicFrameLocks noGrp="1"/>
          </p:cNvGraphicFramePr>
          <p:nvPr/>
        </p:nvGraphicFramePr>
        <p:xfrm>
          <a:off x="1790019" y="5330984"/>
          <a:ext cx="540000" cy="54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20000"/>
                    </a:ext>
                  </a:extLst>
                </a:gridCol>
              </a:tblGrid>
              <a:tr h="540000">
                <a:tc>
                  <a:txBody>
                    <a:bodyPr/>
                    <a:lstStyle/>
                    <a:p>
                      <a:endParaRPr lang="zh-CN" altLang="en-US" dirty="0"/>
                    </a:p>
                  </a:txBody>
                  <a:tcPr>
                    <a:solidFill>
                      <a:schemeClr val="accent2"/>
                    </a:solidFill>
                  </a:tcPr>
                </a:tc>
                <a:extLst>
                  <a:ext uri="{0D108BD9-81ED-4DB2-BD59-A6C34878D82A}">
                    <a16:rowId xmlns:a16="http://schemas.microsoft.com/office/drawing/2014/main" val="10000"/>
                  </a:ext>
                </a:extLst>
              </a:tr>
            </a:tbl>
          </a:graphicData>
        </a:graphic>
      </p:graphicFrame>
      <p:sp>
        <p:nvSpPr>
          <p:cNvPr id="11" name="文本框 10"/>
          <p:cNvSpPr txBox="1"/>
          <p:nvPr/>
        </p:nvSpPr>
        <p:spPr>
          <a:xfrm>
            <a:off x="1550389" y="5926098"/>
            <a:ext cx="1107996"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划分特征</a:t>
            </a:r>
          </a:p>
        </p:txBody>
      </p:sp>
      <p:sp>
        <p:nvSpPr>
          <p:cNvPr id="14" name="箭头: 下 13"/>
          <p:cNvSpPr/>
          <p:nvPr/>
        </p:nvSpPr>
        <p:spPr>
          <a:xfrm>
            <a:off x="6441884" y="4358603"/>
            <a:ext cx="673768"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3"/>
          <p:cNvGraphicFramePr>
            <a:graphicFrameLocks noGrp="1"/>
          </p:cNvGraphicFramePr>
          <p:nvPr/>
        </p:nvGraphicFramePr>
        <p:xfrm>
          <a:off x="6043090" y="5001487"/>
          <a:ext cx="1620000" cy="54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540000">
                  <a:extLst>
                    <a:ext uri="{9D8B030D-6E8A-4147-A177-3AD203B41FA5}">
                      <a16:colId xmlns:a16="http://schemas.microsoft.com/office/drawing/2014/main" val="20002"/>
                    </a:ext>
                  </a:extLst>
                </a:gridCol>
              </a:tblGrid>
              <a:tr h="540000">
                <a:tc>
                  <a:txBody>
                    <a:bodyPr/>
                    <a:lstStyle/>
                    <a:p>
                      <a:endParaRPr lang="zh-CN" altLang="en-US"/>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0"/>
                  </a:ext>
                </a:extLst>
              </a:tr>
            </a:tbl>
          </a:graphicData>
        </a:graphic>
      </p:graphicFrame>
      <p:sp>
        <p:nvSpPr>
          <p:cNvPr id="16" name="文本框 15"/>
          <p:cNvSpPr txBox="1"/>
          <p:nvPr/>
        </p:nvSpPr>
        <p:spPr>
          <a:xfrm>
            <a:off x="6043090" y="4613618"/>
            <a:ext cx="1569660"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随机选取特征</a:t>
            </a:r>
          </a:p>
        </p:txBody>
      </p:sp>
      <p:sp>
        <p:nvSpPr>
          <p:cNvPr id="17" name="箭头: 下 16"/>
          <p:cNvSpPr/>
          <p:nvPr/>
        </p:nvSpPr>
        <p:spPr>
          <a:xfrm>
            <a:off x="6526105" y="5653033"/>
            <a:ext cx="673768"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表格 3"/>
          <p:cNvGraphicFramePr>
            <a:graphicFrameLocks noGrp="1"/>
          </p:cNvGraphicFramePr>
          <p:nvPr/>
        </p:nvGraphicFramePr>
        <p:xfrm>
          <a:off x="6592989" y="5945559"/>
          <a:ext cx="540000" cy="54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20000"/>
                    </a:ext>
                  </a:extLst>
                </a:gridCol>
              </a:tblGrid>
              <a:tr h="540000">
                <a:tc>
                  <a:txBody>
                    <a:bodyPr/>
                    <a:lstStyle/>
                    <a:p>
                      <a:endParaRPr lang="zh-CN" altLang="en-US" dirty="0"/>
                    </a:p>
                  </a:txBody>
                  <a:tcPr>
                    <a:solidFill>
                      <a:schemeClr val="accent2"/>
                    </a:solidFill>
                  </a:tcPr>
                </a:tc>
                <a:extLst>
                  <a:ext uri="{0D108BD9-81ED-4DB2-BD59-A6C34878D82A}">
                    <a16:rowId xmlns:a16="http://schemas.microsoft.com/office/drawing/2014/main" val="10000"/>
                  </a:ext>
                </a:extLst>
              </a:tr>
            </a:tbl>
          </a:graphicData>
        </a:graphic>
      </p:graphicFrame>
      <p:sp>
        <p:nvSpPr>
          <p:cNvPr id="19" name="文本框 18"/>
          <p:cNvSpPr txBox="1"/>
          <p:nvPr/>
        </p:nvSpPr>
        <p:spPr>
          <a:xfrm>
            <a:off x="6299092" y="6415950"/>
            <a:ext cx="1107996" cy="369332"/>
          </a:xfrm>
          <a:prstGeom prst="rect">
            <a:avLst/>
          </a:prstGeom>
          <a:noFill/>
        </p:spPr>
        <p:txBody>
          <a:bodyPr wrap="none" rtlCol="0">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划分特征</a:t>
            </a:r>
          </a:p>
        </p:txBody>
      </p:sp>
      <p:sp>
        <p:nvSpPr>
          <p:cNvPr id="20" name="矩形: 圆角 19"/>
          <p:cNvSpPr/>
          <p:nvPr/>
        </p:nvSpPr>
        <p:spPr>
          <a:xfrm>
            <a:off x="216326" y="3236496"/>
            <a:ext cx="3822673" cy="354878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4817963" y="3236496"/>
            <a:ext cx="3822673" cy="354878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p:cNvSpPr/>
          <p:nvPr/>
        </p:nvSpPr>
        <p:spPr>
          <a:xfrm>
            <a:off x="3808905" y="4030579"/>
            <a:ext cx="423173" cy="20754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普通决策树</a:t>
            </a:r>
          </a:p>
        </p:txBody>
      </p:sp>
      <p:sp>
        <p:nvSpPr>
          <p:cNvPr id="23" name="矩形: 圆角 22"/>
          <p:cNvSpPr/>
          <p:nvPr/>
        </p:nvSpPr>
        <p:spPr>
          <a:xfrm>
            <a:off x="4631787" y="4030578"/>
            <a:ext cx="423173" cy="20754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随机森林决策树</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mc:AlternateContent xmlns:mc="http://schemas.openxmlformats.org/markup-compatibility/2006" xmlns:a14="http://schemas.microsoft.com/office/drawing/2010/main">
        <mc:Choice Requires="a14">
          <p:sp>
            <p:nvSpPr>
              <p:cNvPr id="7" name="文本框 6"/>
              <p:cNvSpPr txBox="1"/>
              <p:nvPr/>
            </p:nvSpPr>
            <p:spPr>
              <a:xfrm>
                <a:off x="162560" y="1061451"/>
                <a:ext cx="8892950" cy="5444888"/>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给定数据集</a:t>
                </a:r>
                <a14:m>
                  <m:oMath xmlns:m="http://schemas.openxmlformats.org/officeDocument/2006/math">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 </m:t>
                    </m:r>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r>
                      <a:rPr kumimoji="0" lang="en-US" altLang="zh-CN" sz="1800" b="0" i="0"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begChr m:val="{"/>
                        <m:endChr m:val="}"/>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2</m:t>
                                </m:r>
                              </m:sub>
                            </m:sSub>
                          </m:e>
                        </m:d>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d>
                          <m:d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dPr>
                          <m:e>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1"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𝒙</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b>
                            </m:sSub>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m:t>
                            </m:r>
                            <m:sSub>
                              <m:sSubPr>
                                <m:ctrlP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kumimoji="0" lang="en-US" altLang="zh-CN" sz="1800" b="0" i="1" u="none" strike="noStrike" kern="1200" cap="none" spc="0" normalizeH="0" baseline="0" noProof="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𝑦</m:t>
                                </m:r>
                              </m:e>
                              <m:sub>
                                <m:r>
                                  <a:rPr kumimoji="0" lang="en-US" altLang="zh-CN" sz="1800" b="0" i="1" u="none" strike="noStrike" kern="1200" cap="none" spc="0" normalizeH="0" baseline="0" noProof="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𝑚</m:t>
                                </m:r>
                              </m:sub>
                            </m:sSub>
                          </m:e>
                        </m:d>
                      </m:e>
                    </m:d>
                  </m:oMath>
                </a14:m>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，随机森林的</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算法步骤</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可以总结如下：</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）对于决策树</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=1,2,…,</m:t>
                    </m:r>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𝑇</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为随机森林决策树的个数</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p>
              <a:p>
                <a:pPr marL="800100" lvl="1" indent="-342900" algn="just">
                  <a:lnSpc>
                    <a:spcPct val="150000"/>
                  </a:lnSpc>
                  <a:buFont typeface="+mj-ea"/>
                  <a:buAutoNum type="circleNumDbPlain"/>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对原始数据进行有放回采样（</a:t>
                </a:r>
                <a:r>
                  <a:rPr lang="en-US" altLang="zh-CN"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Bootsrtap</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），得到新训练集</a:t>
                </a:r>
                <a14:m>
                  <m:oMath xmlns:m="http://schemas.openxmlformats.org/officeDocument/2006/math">
                    <m:sSub>
                      <m:sSubPr>
                        <m:ctrlPr>
                          <a:rPr lang="en-US" altLang="zh-CN"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e>
                      <m:sub>
                        <m:r>
                          <a:rPr lang="en-US" altLang="zh-CN" b="0" i="1"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𝑏</m:t>
                        </m:r>
                      </m:sub>
                    </m:sSub>
                  </m:oMath>
                </a14:m>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ea typeface="微软雅黑" panose="020B0503020204020204" pitchFamily="34" charset="-122"/>
                    <a:cs typeface="Times New Roman" panose="02020603050405020304" pitchFamily="18" charset="0"/>
                    <a:sym typeface="Arial" panose="020B0604020202020204" pitchFamily="34" charset="0"/>
                  </a:rPr>
                  <a:t> </a:t>
                </a:r>
                <a14:m>
                  <m:oMath xmlns:m="http://schemas.openxmlformats.org/officeDocument/2006/math">
                    <m:sSub>
                      <m:sSubPr>
                        <m:ctrlP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ctrlPr>
                      </m:sSubPr>
                      <m:e>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𝐷</m:t>
                        </m:r>
                      </m:e>
                      <m:sub>
                        <m:r>
                          <a:rPr lang="en-US" altLang="zh-CN" i="1">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𝑏</m:t>
                        </m:r>
                      </m:sub>
                    </m:sSub>
                  </m:oMath>
                </a14:m>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将用于训练决策树</a:t>
                </a:r>
                <a14:m>
                  <m:oMath xmlns:m="http://schemas.openxmlformats.org/officeDocument/2006/math">
                    <m:r>
                      <a:rPr kumimoji="0" lang="en-US" altLang="zh-CN"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𝑡</m:t>
                    </m:r>
                  </m:oMath>
                </a14:m>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在（父节点对应的）训练集</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的所有特征中随机选择</a:t>
                </a:r>
                <a14:m>
                  <m:oMath xmlns:m="http://schemas.openxmlformats.org/officeDocument/2006/math">
                    <m:r>
                      <a:rPr kumimoji="0" lang="en-US" altLang="zh-CN" b="0" i="1" u="none" strike="noStrike" kern="1200" cap="none" spc="0" normalizeH="0" baseline="0" noProof="0" dirty="0" smtClean="0">
                        <a:ln>
                          <a:noFill/>
                        </a:ln>
                        <a:solidFill>
                          <a:srgbClr val="000000"/>
                        </a:solidFill>
                        <a:effectLst/>
                        <a:uLnTx/>
                        <a:uFillTx/>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oMath>
                </a14:m>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个特征</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遍历</a:t>
                </a:r>
                <a14:m>
                  <m:oMath xmlns:m="http://schemas.openxmlformats.org/officeDocument/2006/math">
                    <m:r>
                      <a:rPr lang="en-US" altLang="zh-CN"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𝑘</m:t>
                    </m:r>
                    <m:r>
                      <a:rPr lang="zh-CN" altLang="en-US" i="1" dirty="0">
                        <a:solidFill>
                          <a:srgbClr val="000000"/>
                        </a:solidFill>
                        <a:latin typeface="Cambria Math" panose="02040503050406030204" pitchFamily="18" charset="0"/>
                        <a:ea typeface="微软雅黑" panose="020B0503020204020204" pitchFamily="34" charset="-122"/>
                        <a:cs typeface="Times New Roman" panose="02020603050405020304" pitchFamily="18" charset="0"/>
                        <a:sym typeface="Arial" panose="020B0604020202020204" pitchFamily="34" charset="0"/>
                      </a:rPr>
                      <m:t>个</m:t>
                    </m:r>
                  </m:oMath>
                </a14:m>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特征，寻找决策树的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最优划分特征</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与</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划分点</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，划分样本（建立子节点）</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800100" lvl="1" indent="-342900" algn="just">
                  <a:lnSpc>
                    <a:spcPct val="150000"/>
                  </a:lnSpc>
                  <a:buFont typeface="+mj-ea"/>
                  <a:buAutoNum type="circleNumDbPlain"/>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对于每个新生成的节点重复步骤 ②</a:t>
                </a:r>
                <a:r>
                  <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③，直到满足决策树的停止规则（最大深度、误差阈值）</a:t>
                </a:r>
                <a:endParaRPr kumimoji="0" lang="en-US" altLang="zh-CN"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）基于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棵决策树的预测结果进行投票，最终投票结果即为最终集成结果</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gn="just">
                  <a:lnSpc>
                    <a:spcPct val="150000"/>
                  </a:lnSpc>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需要注意的是，在随机森林算法中通常无需对决策树进行剪枝。但在实践中，若数据集较大，可以考虑设置一定的剪枝条件，以提升计算效率、减小内存消耗</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2560" y="1061451"/>
                <a:ext cx="8892950" cy="5444888"/>
              </a:xfrm>
              <a:prstGeom prst="rect">
                <a:avLst/>
              </a:prstGeom>
              <a:blipFill rotWithShape="1">
                <a:blip r:embed="rId3"/>
                <a:stretch>
                  <a:fillRect t="-7" r="5" b="2"/>
                </a:stretch>
              </a:blipFill>
            </p:spPr>
            <p:txBody>
              <a:bodyPr/>
              <a:lstStyle/>
              <a:p>
                <a:r>
                  <a:rPr lang="zh-CN" altLang="en-US">
                    <a:noFill/>
                  </a:rPr>
                  <a:t> </a:t>
                </a:r>
              </a:p>
            </p:txBody>
          </p:sp>
        </mc:Fallback>
      </mc:AlternateContent>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242" y="804248"/>
            <a:ext cx="7368918" cy="5627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3640015" y="6431339"/>
            <a:ext cx="2019887" cy="338554"/>
          </a:xfrm>
          <a:prstGeom prst="rect">
            <a:avLst/>
          </a:prstGeom>
          <a:noFill/>
        </p:spPr>
        <p:txBody>
          <a:bodyPr wrap="square">
            <a:spAutoFit/>
          </a:bodyPr>
          <a:lstStyle/>
          <a:p>
            <a:r>
              <a:rPr lang="zh-CN" altLang="zh-CN" sz="1600" dirty="0">
                <a:effectLst/>
                <a:latin typeface="微软雅黑" panose="020B0503020204020204" pitchFamily="34" charset="-122"/>
                <a:ea typeface="微软雅黑" panose="020B0503020204020204" pitchFamily="34" charset="-122"/>
                <a:cs typeface="Times New Roman" panose="02020603050405020304" pitchFamily="18" charset="0"/>
              </a:rPr>
              <a:t>随机森林算法示意图</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25" name="文本框 24"/>
          <p:cNvSpPr txBox="1"/>
          <p:nvPr/>
        </p:nvSpPr>
        <p:spPr>
          <a:xfrm>
            <a:off x="162561" y="1055937"/>
            <a:ext cx="8593689" cy="3782895"/>
          </a:xfrm>
          <a:prstGeom prst="rect">
            <a:avLst/>
          </a:prstGeom>
          <a:noFill/>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通过</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Bootstrap</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采样</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随机特征选择</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随机森林从训练样本和输入特征两个方面为模型引入了随</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机因素</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极大地丰富了基学习器的多样性。尽管随机森林算法的实现非常简单，但这些操作使随机森林模型不易受异常值等噪声数据的干扰，使最终集成模型的泛化性能得到很大的增强。随着基决策树数量的增加，集成模型的泛化误差通常也能进一步降低。</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此外，</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随机特征选择也提升了随机森林的算法效率</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。相比于普通决策树模型，随机森林中的决策树在划分子节点时，不再需要考察全部的特征，仅需要关注采样的特征子集即可。</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随机森林</a:t>
            </a: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25" name="文本框 24"/>
          <p:cNvSpPr txBox="1"/>
          <p:nvPr/>
        </p:nvSpPr>
        <p:spPr>
          <a:xfrm>
            <a:off x="204335" y="1199827"/>
            <a:ext cx="8593689" cy="3731278"/>
          </a:xfrm>
          <a:prstGeom prst="rect">
            <a:avLst/>
          </a:prstGeom>
          <a:noFill/>
        </p:spPr>
        <p:txBody>
          <a:bodyPr wrap="square">
            <a:spAutoFit/>
          </a:bodyPr>
          <a:lstStyle/>
          <a:p>
            <a:pPr lvl="0">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优点：</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相对而言，训练速度快。</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能够处理很高维度的数据，并且不用做特征选择。</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在训练过程中，能够度量出特征间的互相影响程度。</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如果有很大一部分的特征遗失，仍可以维持准确度。</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缺点：</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在某些噪音较大的分类或回归问题上会过拟合。</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二者的适用范围</a:t>
            </a: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25" name="文本框 24"/>
          <p:cNvSpPr txBox="1"/>
          <p:nvPr/>
        </p:nvSpPr>
        <p:spPr>
          <a:xfrm>
            <a:off x="162560" y="1619811"/>
            <a:ext cx="8593689" cy="5029390"/>
          </a:xfrm>
          <a:prstGeom prst="rect">
            <a:avLst/>
          </a:prstGeom>
          <a:noFill/>
        </p:spPr>
        <p:txBody>
          <a:bodyPr wrap="square">
            <a:spAutoFit/>
          </a:bodyPr>
          <a:lstStyle/>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）样本选择：</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：训练集是在原始集中有放回选取的，从原始集中选出的各轮训练集之间是</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独立</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：每一轮的训练集</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不变</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，只是训练集中每个样例在分类器中的权重发生变化。而权值是根据上一轮的分类结果进行调整。</a:t>
            </a:r>
          </a:p>
          <a:p>
            <a:pPr lvl="0">
              <a:lnSpc>
                <a:spcPct val="150000"/>
              </a:lnSpc>
              <a:defRPr/>
            </a:pPr>
            <a:endPar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）样例权重：</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：使用均匀取样，每个样例的权重相等；</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：根据错误率不断调整样例的权值，错误率越大则权重越大。</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66</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3200" dirty="0">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二者的适用范围</a:t>
            </a: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25" name="文本框 24"/>
          <p:cNvSpPr txBox="1"/>
          <p:nvPr/>
        </p:nvSpPr>
        <p:spPr>
          <a:xfrm>
            <a:off x="310203" y="1715459"/>
            <a:ext cx="8593689" cy="5444888"/>
          </a:xfrm>
          <a:prstGeom prst="rect">
            <a:avLst/>
          </a:prstGeom>
          <a:noFill/>
        </p:spPr>
        <p:txBody>
          <a:bodyPr wrap="square">
            <a:spAutoFit/>
          </a:bodyPr>
          <a:lstStyle/>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）预测函数：</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：所有预测函数的权重</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相等</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：每个弱分类器都有相应的权重，对于分类误差小的分类器会有更大的权重。</a:t>
            </a:r>
          </a:p>
          <a:p>
            <a:pPr lvl="0">
              <a:lnSpc>
                <a:spcPct val="150000"/>
              </a:lnSpc>
              <a:defRPr/>
            </a:pPr>
            <a:endPar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）并行计算：</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：各个预测函数</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可以并行</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生成</a:t>
            </a:r>
          </a:p>
          <a:p>
            <a:pPr lvl="0">
              <a:lnSpc>
                <a:spcPct val="150000"/>
              </a:lnSpc>
              <a:defRPr/>
            </a:pP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：各个预测函数</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只能顺序</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生成，因为后一个模型参数需要前一轮模型的结果</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67</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个体学习器的多样性</a:t>
            </a:r>
          </a:p>
        </p:txBody>
      </p:sp>
      <p:sp>
        <p:nvSpPr>
          <p:cNvPr id="14" name="内容占位符 2"/>
          <p:cNvSpPr>
            <a:spLocks noGrp="1"/>
          </p:cNvSpPr>
          <p:nvPr>
            <p:ph idx="1"/>
          </p:nvPr>
        </p:nvSpPr>
        <p:spPr>
          <a:xfrm>
            <a:off x="457200" y="1452878"/>
            <a:ext cx="8299050" cy="4942842"/>
          </a:xfrm>
        </p:spPr>
        <p:txBody>
          <a:bodyPr/>
          <a:lstStyle/>
          <a:p>
            <a:pPr marL="0" indent="0">
              <a:lnSpc>
                <a:spcPct val="150000"/>
              </a:lnSpc>
              <a:buNone/>
            </a:pP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集成学习的强大学习能力来源于对大量的个体学习器的组合。但是，</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集成学习对个体学习器的集成是有条件的</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，需要注意，</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并非任意个体学习器的组合都能带来性能的巨大提升</a:t>
            </a:r>
            <a:endParaRPr lang="en-US" altLang="zh-CN"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50000"/>
              </a:lnSpc>
              <a:buNone/>
            </a:pP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若个体学习器的</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性能极差</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，例如为各个样本随机分配标签，则不论使用什么样的集成学习算法，最终结果也不会有任何改善。</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3" name="图片 2"/>
          <p:cNvPicPr>
            <a:picLocks noChangeAspect="1"/>
          </p:cNvPicPr>
          <p:nvPr/>
        </p:nvPicPr>
        <p:blipFill>
          <a:blip r:embed="rId2"/>
          <a:stretch>
            <a:fillRect/>
          </a:stretch>
        </p:blipFill>
        <p:spPr>
          <a:xfrm>
            <a:off x="162560" y="4438438"/>
            <a:ext cx="8793988" cy="169717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68</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个体学习器的多样性</a:t>
            </a:r>
          </a:p>
        </p:txBody>
      </p:sp>
      <p:sp>
        <p:nvSpPr>
          <p:cNvPr id="14" name="内容占位符 2"/>
          <p:cNvSpPr>
            <a:spLocks noGrp="1"/>
          </p:cNvSpPr>
          <p:nvPr>
            <p:ph idx="1"/>
          </p:nvPr>
        </p:nvSpPr>
        <p:spPr>
          <a:xfrm>
            <a:off x="457200" y="1452878"/>
            <a:ext cx="8299050" cy="4942842"/>
          </a:xfrm>
        </p:spPr>
        <p:txBody>
          <a:bodyPr/>
          <a:lstStyle/>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个体学习器预测结果高度相似</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，则集成结果的意义也不大</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要想建立一个理想的集成学习器，必须保证</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个体学习器具有一定的预测能力</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，同时，</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个体学习器之间具有一定的差异性</a:t>
            </a:r>
            <a:endPar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marR="0" lvl="0" indent="-285750" algn="just" defTabSz="457200" rtl="0" eaLnBrk="1" fontAlgn="auto" latinLnBrk="0" hangingPunct="1">
              <a:lnSpc>
                <a:spcPct val="15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4" name="图片 3"/>
          <p:cNvPicPr>
            <a:picLocks noChangeAspect="1"/>
          </p:cNvPicPr>
          <p:nvPr/>
        </p:nvPicPr>
        <p:blipFill>
          <a:blip r:embed="rId2"/>
          <a:stretch>
            <a:fillRect/>
          </a:stretch>
        </p:blipFill>
        <p:spPr>
          <a:xfrm>
            <a:off x="-149302" y="2267952"/>
            <a:ext cx="9335413" cy="1801665"/>
          </a:xfrm>
          <a:prstGeom prst="rect">
            <a:avLst/>
          </a:prstGeom>
        </p:spPr>
      </p:pic>
      <p:pic>
        <p:nvPicPr>
          <p:cNvPr id="5" name="图片 4"/>
          <p:cNvPicPr>
            <a:picLocks noChangeAspect="1"/>
          </p:cNvPicPr>
          <p:nvPr/>
        </p:nvPicPr>
        <p:blipFill>
          <a:blip r:embed="rId3"/>
          <a:stretch>
            <a:fillRect/>
          </a:stretch>
        </p:blipFill>
        <p:spPr>
          <a:xfrm>
            <a:off x="-331140" y="4952058"/>
            <a:ext cx="9875729" cy="190594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69</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个体学习器的多样性</a:t>
            </a:r>
          </a:p>
        </p:txBody>
      </p:sp>
      <p:sp>
        <p:nvSpPr>
          <p:cNvPr id="14" name="内容占位符 2"/>
          <p:cNvSpPr>
            <a:spLocks noGrp="1"/>
          </p:cNvSpPr>
          <p:nvPr>
            <p:ph idx="1"/>
          </p:nvPr>
        </p:nvSpPr>
        <p:spPr>
          <a:xfrm>
            <a:off x="457200" y="1452878"/>
            <a:ext cx="8299050" cy="4942842"/>
          </a:xfrm>
        </p:spPr>
        <p:txBody>
          <a:bodyPr/>
          <a:lstStyle/>
          <a:p>
            <a:pPr marL="0" marR="0" lvl="0" indent="0" algn="just" defTabSz="457200" rtl="0" eaLnBrk="1" fontAlgn="auto" latinLnBrk="0" hangingPunct="1">
              <a:lnSpc>
                <a:spcPct val="150000"/>
              </a:lnSpc>
              <a:spcBef>
                <a:spcPts val="0"/>
              </a:spcBef>
              <a:spcAft>
                <a:spcPts val="0"/>
              </a:spcAft>
              <a:buClrTx/>
              <a:buSzTx/>
              <a:buNone/>
              <a:defRPr/>
            </a:pP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在大多数情况下，使用任意较为成熟的机器学习算法，都能建立具有一定预测能力的模型。因此，对于集成学习中的个体学习器，通常需要关注的是如何避免</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个体学习器预测结果高度相似</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的情形，</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即使</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学习器具有一定的多样性</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。一种最简单的想法是使用不同类型的机器学习算法，也就是前面提到的</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异质集成</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，另一种方法则是</a:t>
            </a:r>
            <a:r>
              <a:rPr lang="zh-CN" altLang="en-US" sz="18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为模型引入随机干扰</a:t>
            </a:r>
            <a:r>
              <a:rPr lang="zh-CN" altLang="en-US"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。为模型引入随机干扰的思路主要有四种：</a:t>
            </a: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None/>
              <a:defRPr/>
            </a:pP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None/>
              <a:defRPr/>
            </a:pP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模型超参数随机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。机器学习模型中往往有许多超参数需要人为指定，例如线性回归的正则项系数、决策树的深度、</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SVM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的核函数等。不同的参数设置有可能对模型的输出结果造成一定的影响。</a:t>
            </a:r>
          </a:p>
          <a:p>
            <a:pPr marL="0" marR="0" lvl="0" indent="0" algn="just" defTabSz="457200" rtl="0" eaLnBrk="1" fontAlgn="auto" latinLnBrk="0" hangingPunct="1">
              <a:lnSpc>
                <a:spcPct val="150000"/>
              </a:lnSpc>
              <a:spcBef>
                <a:spcPts val="0"/>
              </a:spcBef>
              <a:spcAft>
                <a:spcPts val="0"/>
              </a:spcAft>
              <a:buClrTx/>
              <a:buSz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70</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个体学习器的多样性</a:t>
            </a:r>
          </a:p>
        </p:txBody>
      </p:sp>
      <p:sp>
        <p:nvSpPr>
          <p:cNvPr id="14" name="内容占位符 2"/>
          <p:cNvSpPr>
            <a:spLocks noGrp="1"/>
          </p:cNvSpPr>
          <p:nvPr>
            <p:ph idx="1"/>
          </p:nvPr>
        </p:nvSpPr>
        <p:spPr>
          <a:xfrm>
            <a:off x="457200" y="1452878"/>
            <a:ext cx="8299050" cy="4942842"/>
          </a:xfrm>
        </p:spPr>
        <p:txBody>
          <a:bodyPr/>
          <a:lstStyle/>
          <a:p>
            <a:pPr marL="0" marR="0" lvl="0" indent="0" algn="just" defTabSz="457200" rtl="0" eaLnBrk="1" fontAlgn="auto" latinLnBrk="0" hangingPunct="1">
              <a:lnSpc>
                <a:spcPct val="150000"/>
              </a:lnSpc>
              <a:spcBef>
                <a:spcPts val="0"/>
              </a:spcBef>
              <a:spcAft>
                <a:spcPts val="0"/>
              </a:spcAft>
              <a:buClrTx/>
              <a:buSz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训练样本随机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Bagging</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集成中的</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Bootstrap</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采样就属于这一类方法。在使用时需要注意，</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不同机器学习模型对于数据扰动的敏感度不同</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，决策树和神经网络等模型易受数据干扰，线性回归和</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SVM</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等模型则较为稳定，增加训练样本随机性的方法不适用于稳定的基学习器。</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输入特征随机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输入特征从多个方面反映样本的属性和特点，是机器学习算法执行分类或回归任务的依据。考虑不同的样本属性，自然可能得到不同的结果，随机森林中提到的随机特征选择方法，正是通过这种方式来增加基学习器的随机性。</a:t>
            </a:r>
          </a:p>
          <a:p>
            <a:pPr marL="0" marR="0" lvl="0" indent="0" algn="just" defTabSz="457200" rtl="0" eaLnBrk="1" fontAlgn="auto" latinLnBrk="0" hangingPunct="1">
              <a:lnSpc>
                <a:spcPct val="150000"/>
              </a:lnSpc>
              <a:spcBef>
                <a:spcPts val="0"/>
              </a:spcBef>
              <a:spcAft>
                <a:spcPts val="0"/>
              </a:spcAft>
              <a:buClrTx/>
              <a:buSz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71</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457200" y="462280"/>
            <a:ext cx="8229600" cy="990600"/>
          </a:xfrm>
        </p:spPr>
        <p:txBody>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个体学习器的多样性</a:t>
            </a:r>
          </a:p>
        </p:txBody>
      </p:sp>
      <p:sp>
        <p:nvSpPr>
          <p:cNvPr id="14" name="内容占位符 2"/>
          <p:cNvSpPr>
            <a:spLocks noGrp="1"/>
          </p:cNvSpPr>
          <p:nvPr>
            <p:ph idx="1"/>
          </p:nvPr>
        </p:nvSpPr>
        <p:spPr>
          <a:xfrm>
            <a:off x="457200" y="1452878"/>
            <a:ext cx="8299050" cy="4942842"/>
          </a:xfrm>
        </p:spPr>
        <p:txBody>
          <a:bodyPr/>
          <a:lstStyle/>
          <a:p>
            <a:pPr marL="0" marR="0" lvl="0" indent="0" algn="just" defTabSz="457200" rtl="0" eaLnBrk="1" fontAlgn="auto" latinLnBrk="0" hangingPunct="1">
              <a:lnSpc>
                <a:spcPct val="150000"/>
              </a:lnSpc>
              <a:spcBef>
                <a:spcPts val="0"/>
              </a:spcBef>
              <a:spcAft>
                <a:spcPts val="0"/>
              </a:spcAft>
              <a:buClrTx/>
              <a:buSz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训练标签随机</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。通过对模型的训练标签进行修改也可以达到引入随机性的目的，例如改变少量训练样本的标签、为标签添加噪声等。</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None/>
              <a:defRPr/>
            </a:pPr>
            <a:endParaRPr lang="en-US" altLang="zh-CN" sz="18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457200" rtl="0" eaLnBrk="1" fontAlgn="auto" latinLnBrk="0" hangingPunct="1">
              <a:lnSpc>
                <a:spcPct val="150000"/>
              </a:lnSpc>
              <a:spcBef>
                <a:spcPts val="0"/>
              </a:spcBef>
              <a:spcAft>
                <a:spcPts val="0"/>
              </a:spcAft>
              <a:buClrTx/>
              <a:buSz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上述方法通过引入随机性因素，都可以增加基学习器之间的差异，提高基学习器的多样性。另外，</a:t>
            </a: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这些方法可以相互组合使用</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，例如随机森林就同时向训练样本和输入特征引入了随机干扰，大幅提升了模型的泛化性能。</a:t>
            </a:r>
          </a:p>
          <a:p>
            <a:pPr marL="0" marR="0" lvl="0" indent="0" algn="just" defTabSz="457200" rtl="0" eaLnBrk="1" fontAlgn="auto" latinLnBrk="0" hangingPunct="1">
              <a:lnSpc>
                <a:spcPct val="150000"/>
              </a:lnSpc>
              <a:spcBef>
                <a:spcPts val="0"/>
              </a:spcBef>
              <a:spcAft>
                <a:spcPts val="0"/>
              </a:spcAft>
              <a:buClrTx/>
              <a:buSz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7"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72</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5029390"/>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利用基于网约车历史轨迹路况数据提取出的网格数据，建立一个用于网格拥堵程度判别的模型，并对比基于随机森林和梯度提升决策树的分类结果</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）数据读取，数据预处理，特征选取与数据集划分</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grpSp>
        <p:nvGrpSpPr>
          <p:cNvPr id="11" name="组合 10"/>
          <p:cNvGrpSpPr/>
          <p:nvPr/>
        </p:nvGrpSpPr>
        <p:grpSpPr>
          <a:xfrm>
            <a:off x="407960" y="2417163"/>
            <a:ext cx="7784126" cy="3889852"/>
            <a:chOff x="-1" y="2407785"/>
            <a:chExt cx="7338648" cy="3623778"/>
          </a:xfrm>
        </p:grpSpPr>
        <p:pic>
          <p:nvPicPr>
            <p:cNvPr id="4" name="图片 3"/>
            <p:cNvPicPr>
              <a:picLocks noChangeAspect="1"/>
            </p:cNvPicPr>
            <p:nvPr/>
          </p:nvPicPr>
          <p:blipFill rotWithShape="1">
            <a:blip r:embed="rId3"/>
            <a:srcRect r="19743"/>
            <a:stretch>
              <a:fillRect/>
            </a:stretch>
          </p:blipFill>
          <p:spPr>
            <a:xfrm>
              <a:off x="0" y="2407785"/>
              <a:ext cx="7338646" cy="1423451"/>
            </a:xfrm>
            <a:prstGeom prst="rect">
              <a:avLst/>
            </a:prstGeom>
          </p:spPr>
        </p:pic>
        <p:pic>
          <p:nvPicPr>
            <p:cNvPr id="6" name="图片 5"/>
            <p:cNvPicPr>
              <a:picLocks noChangeAspect="1"/>
            </p:cNvPicPr>
            <p:nvPr/>
          </p:nvPicPr>
          <p:blipFill rotWithShape="1">
            <a:blip r:embed="rId4"/>
            <a:srcRect r="19372"/>
            <a:stretch>
              <a:fillRect/>
            </a:stretch>
          </p:blipFill>
          <p:spPr>
            <a:xfrm>
              <a:off x="1" y="3720631"/>
              <a:ext cx="7338646" cy="926676"/>
            </a:xfrm>
            <a:prstGeom prst="rect">
              <a:avLst/>
            </a:prstGeom>
          </p:spPr>
        </p:pic>
        <p:pic>
          <p:nvPicPr>
            <p:cNvPr id="10" name="图片 9"/>
            <p:cNvPicPr>
              <a:picLocks noChangeAspect="1"/>
            </p:cNvPicPr>
            <p:nvPr/>
          </p:nvPicPr>
          <p:blipFill rotWithShape="1">
            <a:blip r:embed="rId5"/>
            <a:srcRect r="20031"/>
            <a:stretch>
              <a:fillRect/>
            </a:stretch>
          </p:blipFill>
          <p:spPr>
            <a:xfrm>
              <a:off x="-1" y="4647307"/>
              <a:ext cx="7338647" cy="1384256"/>
            </a:xfrm>
            <a:prstGeom prst="rect">
              <a:avLst/>
            </a:prstGeom>
          </p:spPr>
        </p:pic>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73</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）构建随机森林和梯度提升树模型（可自行调整模型参数）</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rotWithShape="1">
          <a:blip r:embed="rId3"/>
          <a:srcRect r="25488"/>
          <a:stretch>
            <a:fillRect/>
          </a:stretch>
        </p:blipFill>
        <p:spPr>
          <a:xfrm>
            <a:off x="351692" y="1598156"/>
            <a:ext cx="8098302" cy="469549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74</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）进行模型训练</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5" name="图片 4"/>
          <p:cNvPicPr>
            <a:picLocks noChangeAspect="1"/>
          </p:cNvPicPr>
          <p:nvPr/>
        </p:nvPicPr>
        <p:blipFill>
          <a:blip r:embed="rId3"/>
          <a:stretch>
            <a:fillRect/>
          </a:stretch>
        </p:blipFill>
        <p:spPr>
          <a:xfrm>
            <a:off x="285750" y="2073910"/>
            <a:ext cx="8695690" cy="363474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5CDE8EB7-6797-404D-973F-E11351D47766}" type="datetime1">
              <a:rPr kumimoji="0" lang="en-US" altLang="zh-CN"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5/6/2025</a:t>
            </a:fld>
            <a:endParaRPr kumimoji="0" lang="en-US" altLang="zh-CN" sz="12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sp>
        <p:nvSpPr>
          <p:cNvPr id="12" name="灯片编号占位符 11"/>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defRPr/>
            </a:pPr>
            <a:fld id="{A8A04E82-56C5-473E-AB74-E41CD95FB2B4}" type="slidenum">
              <a:rPr kumimoji="0" lang="zh-CN" altLang="en-US" sz="1200" b="1" i="0" u="none" strike="noStrike" kern="1200" cap="none" spc="0" normalizeH="0" baseline="0" noProof="0" smtClean="0">
                <a:ln>
                  <a:noFill/>
                </a:ln>
                <a:solidFill>
                  <a:srgbClr val="FFFFFF"/>
                </a:solidFill>
                <a:effectLst/>
                <a:uLnTx/>
                <a:uFillTx/>
                <a:latin typeface="Arial" panose="020B0604020202020204"/>
                <a:ea typeface="宋体" panose="02010600030101010101" pitchFamily="2" charset="-122"/>
                <a:cs typeface="+mn-cs"/>
              </a:rPr>
              <a:t>75</a:t>
            </a:fld>
            <a:endParaRPr kumimoji="0" lang="en-US" altLang="zh-CN" sz="1200" b="1" i="0" u="none" strike="noStrike" kern="1200" cap="none" spc="0" normalizeH="0" baseline="0" noProof="0">
              <a:ln>
                <a:noFill/>
              </a:ln>
              <a:solidFill>
                <a:srgbClr val="FFFFFF"/>
              </a:solidFill>
              <a:effectLst/>
              <a:uLnTx/>
              <a:uFillTx/>
              <a:latin typeface="Arial" panose="020B0604020202020204"/>
              <a:ea typeface="宋体" panose="02010600030101010101" pitchFamily="2" charset="-122"/>
              <a:cs typeface="+mn-cs"/>
            </a:endParaRPr>
          </a:p>
        </p:txBody>
      </p:sp>
      <p:sp>
        <p:nvSpPr>
          <p:cNvPr id="13" name="标题 1"/>
          <p:cNvSpPr>
            <a:spLocks noGrp="1"/>
          </p:cNvSpPr>
          <p:nvPr>
            <p:ph type="title"/>
          </p:nvPr>
        </p:nvSpPr>
        <p:spPr>
          <a:xfrm>
            <a:off x="162560" y="257384"/>
            <a:ext cx="8229600" cy="990600"/>
          </a:xfrm>
        </p:spPr>
        <p:txBody>
          <a:bodyPr/>
          <a:lstStyle/>
          <a:p>
            <a:r>
              <a:rPr lang="zh-CN" altLang="en-US" sz="3200" dirty="0">
                <a:latin typeface="微软雅黑" panose="020B0503020204020204" pitchFamily="34" charset="-122"/>
                <a:ea typeface="微软雅黑" panose="020B0503020204020204" pitchFamily="34" charset="-122"/>
                <a:cs typeface="Times New Roman" panose="02020603050405020304" pitchFamily="18" charset="0"/>
              </a:rPr>
              <a:t>试一试</a:t>
            </a:r>
          </a:p>
        </p:txBody>
      </p:sp>
      <p:sp>
        <p:nvSpPr>
          <p:cNvPr id="7" name="文本框 6"/>
          <p:cNvSpPr txBox="1"/>
          <p:nvPr/>
        </p:nvSpPr>
        <p:spPr>
          <a:xfrm>
            <a:off x="162560" y="1061451"/>
            <a:ext cx="8818880" cy="4198393"/>
          </a:xfrm>
          <a:prstGeom prst="rect">
            <a:avLst/>
          </a:prstGeom>
          <a:noFill/>
        </p:spPr>
        <p:txBody>
          <a:bodyPr wrap="square" rtlCol="0">
            <a:spAutoFit/>
          </a:bodyPr>
          <a:lstStyle/>
          <a:p>
            <a:pPr marL="0" marR="0" lvl="0" indent="0" algn="just" defTabSz="4572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4</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）绘制学习曲线进行可视化（注意纵轴是精度，不是</a:t>
            </a:r>
            <a:r>
              <a:rPr lang="zh-CN" altLang="en-US">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误差的大小</a:t>
            </a:r>
            <a:r>
              <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0" marR="0" lvl="0" indent="0" algn="just" defTabSz="457200" rtl="0" eaLnBrk="1" fontAlgn="auto" latinLnBrk="0" hangingPunct="1">
              <a:lnSpc>
                <a:spcPct val="15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8" name="页脚占位符 2"/>
          <p:cNvSpPr>
            <a:spLocks noGrp="1"/>
          </p:cNvSpPr>
          <p:nvPr>
            <p:ph type="ftr" sz="quarter" idx="11"/>
          </p:nvPr>
        </p:nvSpPr>
        <p:spPr>
          <a:xfrm>
            <a:off x="3808905" y="19050"/>
            <a:ext cx="4831731" cy="328613"/>
          </a:xfrm>
        </p:spPr>
        <p:txBody>
          <a:bodyPr/>
          <a:lstStyle/>
          <a:p>
            <a:pPr marL="0" marR="0" lvl="0" indent="0" algn="r" defTabSz="4572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交通大数据</a:t>
            </a:r>
            <a:r>
              <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 </a:t>
            </a:r>
            <a:r>
              <a:rPr kumimoji="0" lang="zh-CN" altLang="en-US"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rPr>
              <a:t>东南大学 刘志远教授</a:t>
            </a:r>
            <a:endParaRPr kumimoji="0" lang="en-US" altLang="zh-CN" sz="1000" b="1" i="0" u="none" strike="noStrike" kern="1200" cap="none" spc="0" normalizeH="0" baseline="0" noProof="0" dirty="0">
              <a:ln>
                <a:noFill/>
              </a:ln>
              <a:solidFill>
                <a:srgbClr val="FFFFFF"/>
              </a:solidFill>
              <a:effectLst/>
              <a:uLnTx/>
              <a:uFillTx/>
              <a:latin typeface="Arial" panose="020B0604020202020204"/>
              <a:ea typeface="宋体" panose="02010600030101010101" pitchFamily="2" charset="-122"/>
              <a:cs typeface="+mn-cs"/>
            </a:endParaRPr>
          </a:p>
        </p:txBody>
      </p:sp>
      <p:pic>
        <p:nvPicPr>
          <p:cNvPr id="9" name="图片 8"/>
          <p:cNvPicPr>
            <a:picLocks noChangeAspect="1"/>
          </p:cNvPicPr>
          <p:nvPr/>
        </p:nvPicPr>
        <p:blipFill>
          <a:blip r:embed="rId3"/>
          <a:stretch>
            <a:fillRect/>
          </a:stretch>
        </p:blipFill>
        <p:spPr>
          <a:xfrm>
            <a:off x="162560" y="1961772"/>
            <a:ext cx="3979202" cy="2821985"/>
          </a:xfrm>
          <a:prstGeom prst="rect">
            <a:avLst/>
          </a:prstGeom>
        </p:spPr>
      </p:pic>
      <p:pic>
        <p:nvPicPr>
          <p:cNvPr id="11" name="图片 10"/>
          <p:cNvPicPr>
            <a:picLocks noChangeAspect="1"/>
          </p:cNvPicPr>
          <p:nvPr/>
        </p:nvPicPr>
        <p:blipFill>
          <a:blip r:embed="rId4"/>
          <a:stretch>
            <a:fillRect/>
          </a:stretch>
        </p:blipFill>
        <p:spPr>
          <a:xfrm>
            <a:off x="4572000" y="1961772"/>
            <a:ext cx="4135703" cy="2888758"/>
          </a:xfrm>
          <a:prstGeom prst="rect">
            <a:avLst/>
          </a:prstGeom>
        </p:spPr>
      </p:pic>
      <p:sp>
        <p:nvSpPr>
          <p:cNvPr id="4" name="文本框 3"/>
          <p:cNvSpPr txBox="1"/>
          <p:nvPr/>
        </p:nvSpPr>
        <p:spPr>
          <a:xfrm>
            <a:off x="411037" y="5029290"/>
            <a:ext cx="8500130" cy="92333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可以看到在这个任务上，梯度提升决策树获得了比随机森林更高的预测精度，且在测试集上仍然表现出了很好的泛化性能。一般而言，基于</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Boosting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的集成学习器可以获得比</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Bagging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集成学习器更高的预测精度，但同时也</a:t>
            </a:r>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存在更高的过拟合风险</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BmZjU3MDQ3N2JmNmFkOTIxMTM4NGI0N2ViNmFiMjUifQ=="/>
</p:tagLst>
</file>

<file path=ppt/theme/theme1.xml><?xml version="1.0" encoding="utf-8"?>
<a:theme xmlns:a="http://schemas.openxmlformats.org/drawingml/2006/main" name="Clarity">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40000"/>
            <a:lumOff val="60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CAEACE"/>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TotalTime>
  <Words>9438</Words>
  <Application>Microsoft Office PowerPoint</Application>
  <PresentationFormat>全屏显示(4:3)</PresentationFormat>
  <Paragraphs>940</Paragraphs>
  <Slides>75</Slides>
  <Notes>65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5" baseType="lpstr">
      <vt:lpstr>Arial (Headings)</vt:lpstr>
      <vt:lpstr>等线</vt:lpstr>
      <vt:lpstr>宋体</vt:lpstr>
      <vt:lpstr>微软雅黑</vt:lpstr>
      <vt:lpstr>Arial</vt:lpstr>
      <vt:lpstr>Cambria Math</vt:lpstr>
      <vt:lpstr>Times New Roman</vt:lpstr>
      <vt:lpstr>Wingdings</vt:lpstr>
      <vt:lpstr>Clarity</vt:lpstr>
      <vt:lpstr>Equation</vt:lpstr>
      <vt:lpstr>PowerPoint 演示文稿</vt:lpstr>
      <vt:lpstr>聚类分析</vt:lpstr>
      <vt:lpstr>1 集成学习分类</vt:lpstr>
      <vt:lpstr>集成学习（Ensemble learning）</vt:lpstr>
      <vt:lpstr>集成学习（Ensemble learning）</vt:lpstr>
      <vt:lpstr>集成学习（Ensemble learning）</vt:lpstr>
      <vt:lpstr>集成学习分类</vt:lpstr>
      <vt:lpstr>集成学习分类</vt:lpstr>
      <vt:lpstr>2 Boosting 算法</vt:lpstr>
      <vt:lpstr>Boosting 简介</vt:lpstr>
      <vt:lpstr>Boosting 简介</vt:lpstr>
      <vt:lpstr>Boosting 简介</vt:lpstr>
      <vt:lpstr>Boosting 简介</vt:lpstr>
      <vt:lpstr>AdaBoost</vt:lpstr>
      <vt:lpstr>AdaBoost</vt:lpstr>
      <vt:lpstr>AdaBoost</vt:lpstr>
      <vt:lpstr>AdaBoost</vt:lpstr>
      <vt:lpstr>AdaBoost</vt:lpstr>
      <vt:lpstr>试一试</vt:lpstr>
      <vt:lpstr>试一试</vt:lpstr>
      <vt:lpstr>试一试</vt:lpstr>
      <vt:lpstr>试一试</vt:lpstr>
      <vt:lpstr>试一试</vt:lpstr>
      <vt:lpstr>试一试</vt:lpstr>
      <vt:lpstr>试一试</vt:lpstr>
      <vt:lpstr>试一试</vt:lpstr>
      <vt:lpstr>试一试</vt:lpstr>
      <vt:lpstr>试一试</vt:lpstr>
      <vt:lpstr>试一试</vt:lpstr>
      <vt:lpstr>试一试</vt:lpstr>
      <vt:lpstr>试一试</vt:lpstr>
      <vt:lpstr>试一试</vt:lpstr>
      <vt:lpstr>PowerPoint 演示文稿</vt:lpstr>
      <vt:lpstr>PowerPoint 演示文稿</vt:lpstr>
      <vt:lpstr>PowerPoint 演示文稿</vt:lpstr>
      <vt:lpstr>PowerPoint 演示文稿</vt:lpstr>
      <vt:lpstr>提升树</vt:lpstr>
      <vt:lpstr>提升树</vt:lpstr>
      <vt:lpstr>提升回归树</vt:lpstr>
      <vt:lpstr>提升回归树</vt:lpstr>
      <vt:lpstr>提升分类树</vt:lpstr>
      <vt:lpstr>梯度提升树（Gradient Boosting Tree）</vt:lpstr>
      <vt:lpstr>梯度提升树</vt:lpstr>
      <vt:lpstr>梯度提升树</vt:lpstr>
      <vt:lpstr>试一试</vt:lpstr>
      <vt:lpstr>试一试</vt:lpstr>
      <vt:lpstr>试一试</vt:lpstr>
      <vt:lpstr>试一试</vt:lpstr>
      <vt:lpstr>试一试</vt:lpstr>
      <vt:lpstr>试一试</vt:lpstr>
      <vt:lpstr>试一试</vt:lpstr>
      <vt:lpstr>试一试</vt:lpstr>
      <vt:lpstr>3 Bagging 算法</vt:lpstr>
      <vt:lpstr>Bagging 简介</vt:lpstr>
      <vt:lpstr>Bagging 简介</vt:lpstr>
      <vt:lpstr>Bagging 简介</vt:lpstr>
      <vt:lpstr>Bagging 简介</vt:lpstr>
      <vt:lpstr>随机森林（Random Forest, RF）</vt:lpstr>
      <vt:lpstr>随机森林</vt:lpstr>
      <vt:lpstr>随机森林</vt:lpstr>
      <vt:lpstr>随机森林</vt:lpstr>
      <vt:lpstr>随机森林</vt:lpstr>
      <vt:lpstr>随机森林</vt:lpstr>
      <vt:lpstr>随机森林</vt:lpstr>
      <vt:lpstr>Bagging，Boosting二者的适用范围</vt:lpstr>
      <vt:lpstr>Bagging，Boosting二者的适用范围</vt:lpstr>
      <vt:lpstr>4 个体学习器的多样性</vt:lpstr>
      <vt:lpstr>4 个体学习器的多样性</vt:lpstr>
      <vt:lpstr>4 个体学习器的多样性</vt:lpstr>
      <vt:lpstr>4 个体学习器的多样性</vt:lpstr>
      <vt:lpstr>4 个体学习器的多样性</vt:lpstr>
      <vt:lpstr>试一试</vt:lpstr>
      <vt:lpstr>试一试</vt:lpstr>
      <vt:lpstr>试一试</vt:lpstr>
      <vt:lpstr>试一试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Lily DC</dc:creator>
  <cp:lastModifiedBy>刘志远</cp:lastModifiedBy>
  <cp:revision>164</cp:revision>
  <dcterms:created xsi:type="dcterms:W3CDTF">2023-02-24T02:52:00Z</dcterms:created>
  <dcterms:modified xsi:type="dcterms:W3CDTF">2025-05-06T04:53:56Z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0D31BDFF87114367954B53511A082791_13</vt:lpwstr>
  </property>
  <property fmtid="{D5CDD505-2E9C-101B-9397-08002B2CF9AE}" pid="3" name="KSOProductBuildVer">
    <vt:lpwstr>2052-12.1.0.16729</vt:lpwstr>
  </property>
</Properties>
</file>