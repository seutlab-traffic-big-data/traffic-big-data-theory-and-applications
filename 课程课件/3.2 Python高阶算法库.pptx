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5"/>
  </p:notesMasterIdLst>
  <p:sldIdLst>
    <p:sldId id="315" r:id="rId2"/>
    <p:sldId id="316" r:id="rId3"/>
    <p:sldId id="453" r:id="rId4"/>
    <p:sldId id="454" r:id="rId5"/>
    <p:sldId id="455" r:id="rId6"/>
    <p:sldId id="456" r:id="rId7"/>
    <p:sldId id="383" r:id="rId8"/>
    <p:sldId id="457" r:id="rId9"/>
    <p:sldId id="458" r:id="rId10"/>
    <p:sldId id="459" r:id="rId11"/>
    <p:sldId id="460" r:id="rId12"/>
    <p:sldId id="461" r:id="rId13"/>
    <p:sldId id="462" r:id="rId14"/>
    <p:sldId id="463" r:id="rId15"/>
    <p:sldId id="464" r:id="rId16"/>
    <p:sldId id="465" r:id="rId17"/>
    <p:sldId id="466" r:id="rId18"/>
    <p:sldId id="467" r:id="rId19"/>
    <p:sldId id="468" r:id="rId20"/>
    <p:sldId id="469" r:id="rId21"/>
    <p:sldId id="470" r:id="rId22"/>
    <p:sldId id="471" r:id="rId23"/>
    <p:sldId id="472" r:id="rId24"/>
    <p:sldId id="473" r:id="rId25"/>
    <p:sldId id="474" r:id="rId26"/>
    <p:sldId id="475" r:id="rId27"/>
    <p:sldId id="477" r:id="rId28"/>
    <p:sldId id="478" r:id="rId29"/>
    <p:sldId id="481" r:id="rId30"/>
    <p:sldId id="479" r:id="rId31"/>
    <p:sldId id="480" r:id="rId32"/>
    <p:sldId id="482" r:id="rId33"/>
    <p:sldId id="483" r:id="rId34"/>
    <p:sldId id="484" r:id="rId35"/>
    <p:sldId id="485" r:id="rId36"/>
    <p:sldId id="486" r:id="rId37"/>
    <p:sldId id="487" r:id="rId38"/>
    <p:sldId id="488" r:id="rId39"/>
    <p:sldId id="489" r:id="rId40"/>
    <p:sldId id="491" r:id="rId41"/>
    <p:sldId id="490" r:id="rId42"/>
    <p:sldId id="492" r:id="rId43"/>
    <p:sldId id="493" r:id="rId44"/>
    <p:sldId id="423" r:id="rId45"/>
    <p:sldId id="495" r:id="rId46"/>
    <p:sldId id="435" r:id="rId47"/>
    <p:sldId id="433" r:id="rId48"/>
    <p:sldId id="442" r:id="rId49"/>
    <p:sldId id="451" r:id="rId50"/>
    <p:sldId id="450" r:id="rId51"/>
    <p:sldId id="449" r:id="rId52"/>
    <p:sldId id="448" r:id="rId53"/>
    <p:sldId id="447" r:id="rId5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2EDBE2-000D-4933-A132-D041B0C8B24B}" v="8" dt="2021-01-21T07:44:45.8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129" autoAdjust="0"/>
  </p:normalViewPr>
  <p:slideViewPr>
    <p:cSldViewPr snapToGrid="0" showGuides="1">
      <p:cViewPr varScale="1">
        <p:scale>
          <a:sx n="90" d="100"/>
          <a:sy n="90" d="100"/>
        </p:scale>
        <p:origin x="840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26BBA7-2751-4186-92D7-BAFE14A83317}" type="datetimeFigureOut">
              <a:rPr lang="zh-CN" altLang="en-US" smtClean="0"/>
              <a:pPr/>
              <a:t>2024/2/19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A12F08-2C51-4761-8379-7BF5B777E40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525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06476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0478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99546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97686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2495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52551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94188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59722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66733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90010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43304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02758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4153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41181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6000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92887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68720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39943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0354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11467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98582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6958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71215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542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66005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556847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91893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38665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565234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253557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526667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131901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11683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51520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147080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948983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194993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58284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88697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385265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504991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798043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965703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965148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538582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13966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430059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541735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059861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229528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916378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A12F08-2C51-4761-8379-7BF5B777E402}" type="slidenum">
              <a:rPr lang="zh-CN" altLang="en-US" smtClean="0"/>
              <a:pPr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6179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5D6D641-91D2-4812-8C0F-927D5CADD3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2560" y="19050"/>
            <a:ext cx="2895600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E2D4AB0-441C-42B1-813F-D0D36EDB80B8}" type="datetime1">
              <a:rPr lang="en-US" altLang="zh-CN" smtClean="0"/>
              <a:t>2/19/2024</a:t>
            </a:fld>
            <a:endParaRPr lang="en-US" altLang="zh-CN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F93C1C7-6316-47B2-BDE0-7ED4EC0575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anose="020B0604020202020204" pitchFamily="34" charset="0"/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algn="r">
              <a:defRPr/>
            </a:pPr>
            <a:r>
              <a:rPr lang="zh-CN" altLang="en-US" dirty="0"/>
              <a:t>交通大数据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顾子渊副教授</a:t>
            </a:r>
            <a:endParaRPr lang="en-US" altLang="zh-CN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F15C0EA-2A71-4D49-978B-60AA0C1D2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6250" y="19050"/>
            <a:ext cx="387750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‹#›</a:t>
            </a:fld>
            <a:endParaRPr lang="en-US" altLang="zh-CN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F8962F3-5C89-4ACE-9D39-2CB78D9751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9863" y="6150864"/>
            <a:ext cx="632774" cy="627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399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A225ECE-2AD3-40C3-8EA9-72D1C5F82C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68327" y="6021054"/>
            <a:ext cx="836946" cy="836946"/>
          </a:xfrm>
          <a:prstGeom prst="rect">
            <a:avLst/>
          </a:prstGeom>
        </p:spPr>
      </p:pic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5D6D641-91D2-4812-8C0F-927D5CADD3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2560" y="19050"/>
            <a:ext cx="2895600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E2D4AB0-441C-42B1-813F-D0D36EDB80B8}" type="datetime1">
              <a:rPr lang="en-US" altLang="zh-CN" smtClean="0"/>
              <a:t>2/19/2024</a:t>
            </a:fld>
            <a:endParaRPr lang="en-US" altLang="zh-CN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F93C1C7-6316-47B2-BDE0-7ED4EC0575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anose="020B0604020202020204" pitchFamily="34" charset="0"/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顾子渊副教授</a:t>
            </a:r>
            <a:endParaRPr lang="en-US" altLang="zh-CN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F15C0EA-2A71-4D49-978B-60AA0C1D2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6250" y="19050"/>
            <a:ext cx="387750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84052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0E55C9-70B6-49A9-B285-7B6B9329A27F}" type="datetime1">
              <a:rPr lang="en-US" altLang="zh-CN" smtClean="0"/>
              <a:t>2/19/2024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The Big Data of  Transportation · Southeast University · Ziyuan Gu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F5E73D-1069-4824-94AF-7FF34A7BE33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087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876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876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7C70DC-E5E3-476E-B719-7C406A24E276}" type="datetime1">
              <a:rPr lang="en-US" altLang="zh-CN" smtClean="0"/>
              <a:t>2/19/2024</a:t>
            </a:fld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The Big Data of  Transportation · Southeast University · Ziyuan Gu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810F76-1A24-4AF4-8A91-362659113F1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0367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E8E72B-6C0E-4F25-B3EF-88ADA2D92673}" type="datetime1">
              <a:rPr lang="en-US" altLang="zh-CN" smtClean="0"/>
              <a:t>2/19/2024</a:t>
            </a:fld>
            <a:endParaRPr lang="en-US" altLang="zh-C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The Big Data of  Transportation · Southeast University · Ziyuan Gu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8051D9-6CDB-4A19-9498-B1F31800CB7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8281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0FD39B-8021-4531-8CE2-8D21302A74ED}" type="datetime1">
              <a:rPr lang="en-US" altLang="zh-CN" smtClean="0"/>
              <a:t>2/19/2024</a:t>
            </a:fld>
            <a:endParaRPr lang="en-US" altLang="zh-C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The Big Data of  Transportation · Southeast University · Ziyuan Gu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F2B37D-33B6-4C69-9BD0-32187E70694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99192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F5701F-746E-469B-BDDA-F93B22D4DB72}" type="datetime1">
              <a:rPr lang="en-US" altLang="zh-CN" smtClean="0"/>
              <a:t>2/19/2024</a:t>
            </a:fld>
            <a:endParaRPr lang="en-US" altLang="zh-C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The Big Data of  Transportation · Southeast University · Ziyuan Gu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009943-BA82-4F6A-BD7C-764069224CD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065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7B1553-8BA7-4889-BEC6-891C13E10B98}" type="datetime1">
              <a:rPr lang="en-US" altLang="zh-CN" smtClean="0"/>
              <a:t>2/19/2024</a:t>
            </a:fld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The Big Data of  Transportation · Southeast University · Ziyuan Gu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CF26E5-2ED2-4F85-94A6-41EA43600B3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183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62BEB2-F18B-4C21-9638-A76426A31BD0}" type="datetime1">
              <a:rPr lang="en-US" altLang="zh-CN" smtClean="0"/>
              <a:t>2/19/2024</a:t>
            </a:fld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The Big Data of  Transportation · Southeast University · Ziyuan Gu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8C9128-8DD9-4172-A865-72B9B18E9A1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3188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F3C754-25BE-4F5C-AB68-D771A03BCC90}" type="datetime1">
              <a:rPr lang="en-US" altLang="zh-CN" smtClean="0"/>
              <a:t>2/19/2024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The Big Data of  Transportation · Southeast University · Ziyuan Gu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15748A-C05D-4102-BCCF-66D346F7008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85952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533400"/>
            <a:ext cx="2057400" cy="59436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533400"/>
            <a:ext cx="6052930" cy="59436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2560" y="19050"/>
            <a:ext cx="929393" cy="328613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43D20E-ACC7-4DDD-AC28-33869E6ABE9A}" type="datetime1">
              <a:rPr lang="en-US" altLang="zh-CN" smtClean="0"/>
              <a:t>2/19/2024</a:t>
            </a:fld>
            <a:endParaRPr lang="en-US" altLang="zh-C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The Big Data of  Transportation · Southeast University · Ziyuan Gu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20738" y="19050"/>
            <a:ext cx="416560" cy="328613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D8EEBC-8FFF-48D5-BA20-8C9570EB2408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21025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ChangeArrowheads="1"/>
          </p:cNvSpPr>
          <p:nvPr/>
        </p:nvSpPr>
        <p:spPr bwMode="auto">
          <a:xfrm>
            <a:off x="0" y="220663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1027" name="Title Placeholder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533400"/>
            <a:ext cx="8229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>
                <a:sym typeface="Arial" panose="020B0604020202020204" pitchFamily="34" charset="0"/>
              </a:rPr>
              <a:t>Click to edit Master title style</a:t>
            </a:r>
          </a:p>
        </p:txBody>
      </p:sp>
      <p:sp>
        <p:nvSpPr>
          <p:cNvPr id="1028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>
                <a:sym typeface="Arial" panose="020B0604020202020204" pitchFamily="34" charset="0"/>
              </a:rPr>
              <a:t>Click to edit Master text styles</a:t>
            </a:r>
          </a:p>
          <a:p>
            <a:pPr lvl="1"/>
            <a:r>
              <a:rPr lang="en-US" altLang="zh-CN">
                <a:sym typeface="Arial" panose="020B0604020202020204" pitchFamily="34" charset="0"/>
              </a:rPr>
              <a:t>Second level</a:t>
            </a:r>
          </a:p>
          <a:p>
            <a:pPr lvl="2"/>
            <a:r>
              <a:rPr lang="en-US" altLang="zh-CN">
                <a:sym typeface="Arial" panose="020B0604020202020204" pitchFamily="34" charset="0"/>
              </a:rPr>
              <a:t>Third level</a:t>
            </a:r>
          </a:p>
          <a:p>
            <a:pPr lvl="3"/>
            <a:r>
              <a:rPr lang="en-US" altLang="zh-CN">
                <a:sym typeface="Arial" panose="020B0604020202020204" pitchFamily="34" charset="0"/>
              </a:rPr>
              <a:t>Fourth level</a:t>
            </a:r>
          </a:p>
          <a:p>
            <a:pPr lvl="4"/>
            <a:r>
              <a:rPr lang="en-US" altLang="zh-CN">
                <a:sym typeface="Arial" panose="020B0604020202020204" pitchFamily="34" charset="0"/>
              </a:rPr>
              <a:t>Fifth level</a:t>
            </a: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0" y="0"/>
            <a:ext cx="9144000" cy="36512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162560" y="19050"/>
            <a:ext cx="2895600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E2D4AB0-441C-42B1-813F-D0D36EDB80B8}" type="datetime1">
              <a:rPr lang="en-US" altLang="zh-CN" smtClean="0"/>
              <a:t>2/19/2024</a:t>
            </a:fld>
            <a:endParaRPr lang="en-US" altLang="zh-CN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6407" y="19050"/>
            <a:ext cx="4831731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anose="020B0604020202020204" pitchFamily="34" charset="0"/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顾子渊副教授</a:t>
            </a:r>
            <a:endParaRPr lang="en-US" altLang="zh-CN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56250" y="19050"/>
            <a:ext cx="387750" cy="328613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47073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8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marL="914400" indent="-9144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000" kern="1200">
          <a:solidFill>
            <a:schemeClr val="tx2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marL="914400" indent="-9144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2pPr>
      <a:lvl3pPr marL="914400" indent="-9144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3pPr>
      <a:lvl4pPr marL="914400" indent="-9144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4pPr>
      <a:lvl5pPr marL="914400" indent="-914400" algn="l" rtl="0" eaLnBrk="0" fontAlgn="base" hangingPunct="0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5pPr>
      <a:lvl6pPr marL="1371600" indent="-914400"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6pPr>
      <a:lvl7pPr marL="1828800" indent="-914400"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7pPr>
      <a:lvl8pPr marL="2286000" indent="-914400"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8pPr>
      <a:lvl9pPr marL="2743200" indent="-914400" algn="l" rtl="0" fontAlgn="base">
        <a:spcBef>
          <a:spcPct val="0"/>
        </a:spcBef>
        <a:spcAft>
          <a:spcPct val="0"/>
        </a:spcAft>
        <a:buFont typeface="Arial" panose="020B0604020202020204" pitchFamily="34" charset="0"/>
        <a:defRPr sz="40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9pPr>
    </p:titleStyle>
    <p:bodyStyle>
      <a:lvl1pPr marL="182563" indent="-1825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457200" lvl="1" indent="-1825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" panose="05000000000000000000" pitchFamily="2" charset="2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731838" lvl="2" indent="-1825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90000"/>
        <a:buFont typeface="Wingdings" panose="05000000000000000000" pitchFamily="2" charset="2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006475" lvl="3" indent="-1825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90000"/>
        <a:buFont typeface="Wingdings" panose="05000000000000000000" pitchFamily="2" charset="2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189038" lvl="4" indent="-1365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Wingdings" panose="05000000000000000000" pitchFamily="2" charset="2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Wingdings" pitchFamily="2" charset="2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Wingdings" pitchFamily="2" charset="2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Wingdings" pitchFamily="2" charset="2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Wingdings" pitchFamily="2" charset="2"/>
        <a:buChar char="•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  <a:sym typeface="Arial" pitchFamily="34" charset="0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ypi.org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2/19/2024</a:t>
            </a:fld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EDF51-4307-4B3E-B14A-93826410B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1</a:t>
            </a:fld>
            <a:endParaRPr lang="en-US" altLang="zh-CN" dirty="0"/>
          </a:p>
        </p:txBody>
      </p:sp>
      <p:sp>
        <p:nvSpPr>
          <p:cNvPr id="18" name="Straight Connector 7">
            <a:extLst>
              <a:ext uri="{FF2B5EF4-FFF2-40B4-BE49-F238E27FC236}">
                <a16:creationId xmlns:a16="http://schemas.microsoft.com/office/drawing/2014/main" id="{2A233031-8D03-4901-8383-A2AA18EAE906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1827213"/>
            <a:ext cx="7848600" cy="1587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EA2EE785-CA96-4F3C-84BF-759A95B426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990600"/>
            <a:ext cx="7543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 (Headings)" charset="0"/>
                <a:ea typeface="宋体" panose="02010600030101010101" pitchFamily="2" charset="-122"/>
                <a:sym typeface="Arial (Headings)" charset="0"/>
              </a:rPr>
              <a:t> </a:t>
            </a:r>
          </a:p>
        </p:txBody>
      </p:sp>
      <p:sp>
        <p:nvSpPr>
          <p:cNvPr id="21" name="TextBox 3">
            <a:extLst>
              <a:ext uri="{FF2B5EF4-FFF2-40B4-BE49-F238E27FC236}">
                <a16:creationId xmlns:a16="http://schemas.microsoft.com/office/drawing/2014/main" id="{CEDA5244-A09E-44E8-A507-0DA628E357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400" y="990600"/>
            <a:ext cx="863092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(Headings)" charset="0"/>
              </a:rPr>
              <a:t>交通大数据</a:t>
            </a:r>
          </a:p>
        </p:txBody>
      </p:sp>
      <p:sp>
        <p:nvSpPr>
          <p:cNvPr id="22" name="文本框 1">
            <a:extLst>
              <a:ext uri="{FF2B5EF4-FFF2-40B4-BE49-F238E27FC236}">
                <a16:creationId xmlns:a16="http://schemas.microsoft.com/office/drawing/2014/main" id="{35E0AA4D-0668-44C2-BF4E-282BE87605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2877344"/>
            <a:ext cx="533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 defTabSz="914400">
              <a:defRPr/>
            </a:pPr>
            <a:r>
              <a:rPr lang="en-US" altLang="zh-CN" sz="3600" b="1" kern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sz="3600" b="1" kern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高阶算法库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A5F2D1C-6617-43E9-8BC3-FD95C78720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8060" y="4138034"/>
            <a:ext cx="4627880" cy="1016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marL="0" indent="0" algn="ctr" defTabSz="914400" eaLnBrk="1" hangingPunct="1"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顾子渊，副研究员、博导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marL="0" indent="0" algn="ctr" defTabSz="914400" eaLnBrk="1" hangingPunct="1"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复杂交通网络研究中心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marL="0" indent="0" algn="ctr" defTabSz="914400" eaLnBrk="1" hangingPunct="1"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ziyuangu@seu.edu.cn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4666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高阶算法库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984BA27-ECA8-4318-812E-E49B080E7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525" y="1636431"/>
            <a:ext cx="8229600" cy="4876800"/>
          </a:xfrm>
        </p:spPr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学习目标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了解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模块安装与基本用法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认识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标准库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学习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Numpy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基本用法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学习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Pandas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基本用法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ClrTx/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了解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Matplotlib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Scikit-Learn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TensorFlow</a:t>
            </a:r>
            <a:endParaRPr lang="en-AU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2/19/2024</a:t>
            </a:fld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EDF51-4307-4B3E-B14A-93826410B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84509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模块安装与基本用法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2/19/2024</a:t>
            </a:fld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EDF51-4307-4B3E-B14A-93826410B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3</a:t>
            </a:fld>
            <a:endParaRPr lang="en-US" altLang="zh-C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C546083-4028-4C8D-B01A-3914DDC6C900}"/>
              </a:ext>
            </a:extLst>
          </p:cNvPr>
          <p:cNvSpPr txBox="1">
            <a:spLocks/>
          </p:cNvSpPr>
          <p:nvPr/>
        </p:nvSpPr>
        <p:spPr bwMode="auto">
          <a:xfrm>
            <a:off x="457200" y="1384043"/>
            <a:ext cx="8229600" cy="6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marL="0" indent="0" defTabSz="914400">
              <a:lnSpc>
                <a:spcPct val="150000"/>
              </a:lnSpc>
              <a:buNone/>
            </a:pP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最大优势之一：强大的模块功能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400">
              <a:lnSpc>
                <a:spcPct val="150000"/>
              </a:lnSpc>
            </a:pP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模块的使用方法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4F6F1582-44EB-4473-AB90-D16D7D5562B8}"/>
              </a:ext>
            </a:extLst>
          </p:cNvPr>
          <p:cNvGrpSpPr/>
          <p:nvPr/>
        </p:nvGrpSpPr>
        <p:grpSpPr>
          <a:xfrm>
            <a:off x="457200" y="2807477"/>
            <a:ext cx="8686800" cy="1826454"/>
            <a:chOff x="6478926" y="1756521"/>
            <a:chExt cx="5964191" cy="1826454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696C20D7-A2FF-4F1C-9761-0A0F37CA5169}"/>
                </a:ext>
              </a:extLst>
            </p:cNvPr>
            <p:cNvSpPr txBox="1"/>
            <p:nvPr/>
          </p:nvSpPr>
          <p:spPr>
            <a:xfrm>
              <a:off x="6478926" y="1756521"/>
              <a:ext cx="5964190" cy="10002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模块检索：</a:t>
              </a:r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r>
                <a:rPr lang="en-US" altLang="zh-CN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PyPI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（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  <a:hlinkClick r:id="rId3"/>
                </a:rPr>
                <a:t>https://pypi.org/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）是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Python 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官方的模块发布网站，采用输入</a:t>
              </a: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关键词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搜索并获取 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Python 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模块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803F80B7-51B4-43C4-8D0C-E2DBF631AC6E}"/>
                </a:ext>
              </a:extLst>
            </p:cNvPr>
            <p:cNvSpPr txBox="1"/>
            <p:nvPr/>
          </p:nvSpPr>
          <p:spPr>
            <a:xfrm>
              <a:off x="6478926" y="2859700"/>
              <a:ext cx="5964191" cy="723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模块安装：</a:t>
              </a:r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342900" indent="-342900">
                <a:spcAft>
                  <a:spcPts val="600"/>
                </a:spcAft>
                <a:buFont typeface="+mj-ea"/>
                <a:buAutoNum type="circleNumDbPlain"/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 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pip 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安装：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Windows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系统下，在命令行中输入“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pip install 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模块名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”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即可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66402E25-4C78-E8B0-84D4-A72DACF48B67}"/>
              </a:ext>
            </a:extLst>
          </p:cNvPr>
          <p:cNvGrpSpPr/>
          <p:nvPr/>
        </p:nvGrpSpPr>
        <p:grpSpPr>
          <a:xfrm>
            <a:off x="1899339" y="4776220"/>
            <a:ext cx="5345322" cy="1813514"/>
            <a:chOff x="1899339" y="4920126"/>
            <a:chExt cx="5345322" cy="1813514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C5B65804-21AD-ED99-8057-8DFB2541D11C}"/>
                </a:ext>
              </a:extLst>
            </p:cNvPr>
            <p:cNvGrpSpPr/>
            <p:nvPr/>
          </p:nvGrpSpPr>
          <p:grpSpPr>
            <a:xfrm>
              <a:off x="1899339" y="4920126"/>
              <a:ext cx="5345322" cy="1525702"/>
              <a:chOff x="1708004" y="4976956"/>
              <a:chExt cx="5345322" cy="1525702"/>
            </a:xfrm>
          </p:grpSpPr>
          <p:pic>
            <p:nvPicPr>
              <p:cNvPr id="2" name="图片 1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08004" y="4976956"/>
                <a:ext cx="5345322" cy="152570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3" name="圆角矩形 2"/>
              <p:cNvSpPr/>
              <p:nvPr/>
            </p:nvSpPr>
            <p:spPr>
              <a:xfrm>
                <a:off x="3439130" y="6033877"/>
                <a:ext cx="2152891" cy="451412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B1F3269E-9A5E-64B1-64C5-341D7290E465}"/>
                </a:ext>
              </a:extLst>
            </p:cNvPr>
            <p:cNvSpPr txBox="1"/>
            <p:nvPr/>
          </p:nvSpPr>
          <p:spPr>
            <a:xfrm>
              <a:off x="2364503" y="6364308"/>
              <a:ext cx="4414993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检查 </a:t>
              </a:r>
              <a:r>
                <a:rPr lang="en-US" altLang="zh-CN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Python </a:t>
              </a:r>
              <a:r>
                <a:rPr lang="zh-CN" altLang="en-US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及 </a:t>
              </a:r>
              <a:r>
                <a:rPr lang="en-US" altLang="zh-CN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pip </a:t>
              </a:r>
              <a:r>
                <a:rPr lang="zh-CN" altLang="en-US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是否添加至环境变量！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43192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模块安装与基本用法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2/19/2024</a:t>
            </a:fld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EDF51-4307-4B3E-B14A-93826410B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4</a:t>
            </a:fld>
            <a:endParaRPr lang="en-US" altLang="zh-C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C546083-4028-4C8D-B01A-3914DDC6C900}"/>
              </a:ext>
            </a:extLst>
          </p:cNvPr>
          <p:cNvSpPr txBox="1">
            <a:spLocks/>
          </p:cNvSpPr>
          <p:nvPr/>
        </p:nvSpPr>
        <p:spPr bwMode="auto">
          <a:xfrm>
            <a:off x="457200" y="1384043"/>
            <a:ext cx="8229600" cy="6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marL="0" indent="0" defTabSz="914400">
              <a:lnSpc>
                <a:spcPct val="150000"/>
              </a:lnSpc>
              <a:buNone/>
            </a:pP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最大优势之一：强大的模块功能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400">
              <a:lnSpc>
                <a:spcPct val="150000"/>
              </a:lnSpc>
            </a:pP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模块的使用方法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175E61C-201D-1F38-910B-6563DD0F26C3}"/>
              </a:ext>
            </a:extLst>
          </p:cNvPr>
          <p:cNvSpPr txBox="1"/>
          <p:nvPr/>
        </p:nvSpPr>
        <p:spPr>
          <a:xfrm>
            <a:off x="479222" y="2836248"/>
            <a:ext cx="8664777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模块安装：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Font typeface="+mj-ea"/>
              <a:buAutoNum type="circleNumDbPlain" startAt="2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Anaconda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环境下：在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Anaconda Prompt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中输入“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conda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install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即可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6CA062FF-83FC-B285-40EF-E16037D6CCF3}"/>
              </a:ext>
            </a:extLst>
          </p:cNvPr>
          <p:cNvGrpSpPr/>
          <p:nvPr/>
        </p:nvGrpSpPr>
        <p:grpSpPr>
          <a:xfrm>
            <a:off x="972000" y="3887284"/>
            <a:ext cx="7200000" cy="1968974"/>
            <a:chOff x="972000" y="4031275"/>
            <a:chExt cx="7200000" cy="1968974"/>
          </a:xfrm>
        </p:grpSpPr>
        <p:pic>
          <p:nvPicPr>
            <p:cNvPr id="1028" name="Picture 4" descr="How to setup Conda environment with Jupyter Notebook ? - GeeksforGeeks">
              <a:extLst>
                <a:ext uri="{FF2B5EF4-FFF2-40B4-BE49-F238E27FC236}">
                  <a16:creationId xmlns:a16="http://schemas.microsoft.com/office/drawing/2014/main" id="{89AE0F3F-C603-99D4-932D-3C3B5962C08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2235"/>
            <a:stretch/>
          </p:blipFill>
          <p:spPr bwMode="auto">
            <a:xfrm>
              <a:off x="972000" y="4031275"/>
              <a:ext cx="7200000" cy="196897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圆角矩形 2">
              <a:extLst>
                <a:ext uri="{FF2B5EF4-FFF2-40B4-BE49-F238E27FC236}">
                  <a16:creationId xmlns:a16="http://schemas.microsoft.com/office/drawing/2014/main" id="{474B96F2-897B-4AC1-7802-8BC5685A2D54}"/>
                </a:ext>
              </a:extLst>
            </p:cNvPr>
            <p:cNvSpPr/>
            <p:nvPr/>
          </p:nvSpPr>
          <p:spPr>
            <a:xfrm>
              <a:off x="3533654" y="4122428"/>
              <a:ext cx="2152891" cy="45141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49697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模块安装与基本用法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2/19/2024</a:t>
            </a:fld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EDF51-4307-4B3E-B14A-93826410B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5</a:t>
            </a:fld>
            <a:endParaRPr lang="en-US" altLang="zh-C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C546083-4028-4C8D-B01A-3914DDC6C900}"/>
              </a:ext>
            </a:extLst>
          </p:cNvPr>
          <p:cNvSpPr txBox="1">
            <a:spLocks/>
          </p:cNvSpPr>
          <p:nvPr/>
        </p:nvSpPr>
        <p:spPr bwMode="auto">
          <a:xfrm>
            <a:off x="457200" y="1384043"/>
            <a:ext cx="8229600" cy="6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marL="0" indent="0" defTabSz="914400">
              <a:lnSpc>
                <a:spcPct val="150000"/>
              </a:lnSpc>
              <a:buNone/>
            </a:pP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最大优势之一：强大的模块功能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400">
              <a:lnSpc>
                <a:spcPct val="150000"/>
              </a:lnSpc>
            </a:pP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模块的使用方法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175E61C-201D-1F38-910B-6563DD0F26C3}"/>
              </a:ext>
            </a:extLst>
          </p:cNvPr>
          <p:cNvSpPr txBox="1"/>
          <p:nvPr/>
        </p:nvSpPr>
        <p:spPr>
          <a:xfrm>
            <a:off x="479223" y="2836248"/>
            <a:ext cx="8470902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模块安装：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  <a:buFont typeface="+mj-ea"/>
              <a:buAutoNum type="circleNumDbPlain" startAt="3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手动安装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whl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文件：手动下载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whl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文件，在存放文件的目录下输入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cmd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，在命令行中输入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”pip install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即可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CD4C169-00F6-DEB3-F9C1-D97AC7B93AD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3508"/>
          <a:stretch/>
        </p:blipFill>
        <p:spPr>
          <a:xfrm>
            <a:off x="612000" y="4063803"/>
            <a:ext cx="7920000" cy="143176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4FB84EC-853C-FC68-65E3-1143A01D5102}"/>
              </a:ext>
            </a:extLst>
          </p:cNvPr>
          <p:cNvSpPr txBox="1"/>
          <p:nvPr/>
        </p:nvSpPr>
        <p:spPr>
          <a:xfrm>
            <a:off x="612000" y="549838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https://www.lfd.uci.edu/~gohlke/pythonlibs/</a:t>
            </a:r>
          </a:p>
        </p:txBody>
      </p:sp>
    </p:spTree>
    <p:extLst>
      <p:ext uri="{BB962C8B-B14F-4D97-AF65-F5344CB8AC3E}">
        <p14:creationId xmlns:p14="http://schemas.microsoft.com/office/powerpoint/2010/main" val="3508159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模块安装与基本用法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2/19/2024</a:t>
            </a:fld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EDF51-4307-4B3E-B14A-93826410B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6</a:t>
            </a:fld>
            <a:endParaRPr lang="en-US" altLang="zh-C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C546083-4028-4C8D-B01A-3914DDC6C900}"/>
              </a:ext>
            </a:extLst>
          </p:cNvPr>
          <p:cNvSpPr txBox="1">
            <a:spLocks/>
          </p:cNvSpPr>
          <p:nvPr/>
        </p:nvSpPr>
        <p:spPr bwMode="auto">
          <a:xfrm>
            <a:off x="457200" y="1384043"/>
            <a:ext cx="8229600" cy="6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marL="0" indent="0" defTabSz="914400">
              <a:lnSpc>
                <a:spcPct val="150000"/>
              </a:lnSpc>
              <a:buNone/>
            </a:pP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最大优势之一：强大的模块功能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400">
              <a:lnSpc>
                <a:spcPct val="150000"/>
              </a:lnSpc>
            </a:pP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模块的使用方法</a:t>
            </a:r>
            <a:endParaRPr lang="en-US" altLang="zh-CN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846E09A-1A06-08E5-A2A9-BC1A6FFBCA6F}"/>
              </a:ext>
            </a:extLst>
          </p:cNvPr>
          <p:cNvSpPr txBox="1"/>
          <p:nvPr/>
        </p:nvSpPr>
        <p:spPr>
          <a:xfrm>
            <a:off x="457200" y="2846725"/>
            <a:ext cx="86868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模块使用：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pandas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为例：①导入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pandas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模块，设置别名为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，使用别名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引用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read_csv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函数，读取文件名为＇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file.csv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＇的文件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②也可以直接导入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read_csv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函数并读取文件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F96CF8E-0FD4-FA25-1D73-30D2D4C6B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1882" y="3891510"/>
            <a:ext cx="3380232" cy="9000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3405D8B-CAAC-1AB2-B96E-1E9C633B51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5593" y="5318918"/>
            <a:ext cx="3852809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534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认识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标准库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2/19/2024</a:t>
            </a:fld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EDF51-4307-4B3E-B14A-93826410B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7</a:t>
            </a:fld>
            <a:endParaRPr lang="en-US" altLang="zh-C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C546083-4028-4C8D-B01A-3914DDC6C900}"/>
              </a:ext>
            </a:extLst>
          </p:cNvPr>
          <p:cNvSpPr txBox="1">
            <a:spLocks/>
          </p:cNvSpPr>
          <p:nvPr/>
        </p:nvSpPr>
        <p:spPr bwMode="auto">
          <a:xfrm>
            <a:off x="457200" y="1320543"/>
            <a:ext cx="8229600" cy="6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defTabSz="914400">
              <a:lnSpc>
                <a:spcPct val="150000"/>
              </a:lnSpc>
            </a:pPr>
            <a:r>
              <a:rPr lang="en-US" altLang="zh-CN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Python </a:t>
            </a:r>
            <a:r>
              <a:rPr lang="zh-CN" altLang="en-US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标准库</a:t>
            </a:r>
            <a:endParaRPr lang="en-US" altLang="zh-CN" dirty="0">
              <a:solidFill>
                <a:srgbClr val="4F81B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96C20D7-A2FF-4F1C-9761-0A0F37CA5169}"/>
              </a:ext>
            </a:extLst>
          </p:cNvPr>
          <p:cNvSpPr txBox="1"/>
          <p:nvPr/>
        </p:nvSpPr>
        <p:spPr>
          <a:xfrm>
            <a:off x="457201" y="1971928"/>
            <a:ext cx="8299050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math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模块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中用于科学计算的内建模块，其中的函数都经过了特殊的算法优化，效率较高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常用函数：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常规数学运算函数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幂函数与对数函数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三角函数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常用常数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7200" y="4302117"/>
            <a:ext cx="3240000" cy="1167908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5593477"/>
            <a:ext cx="7920000" cy="112664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FBE72E5-1D03-595E-67DD-1FDCC479AE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7200" y="2972683"/>
            <a:ext cx="2880000" cy="1206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007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认识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标准库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2/19/2024</a:t>
            </a:fld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EDF51-4307-4B3E-B14A-93826410B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8</a:t>
            </a:fld>
            <a:endParaRPr lang="en-US" altLang="zh-C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C546083-4028-4C8D-B01A-3914DDC6C900}"/>
              </a:ext>
            </a:extLst>
          </p:cNvPr>
          <p:cNvSpPr txBox="1">
            <a:spLocks/>
          </p:cNvSpPr>
          <p:nvPr/>
        </p:nvSpPr>
        <p:spPr bwMode="auto">
          <a:xfrm>
            <a:off x="457200" y="1320543"/>
            <a:ext cx="8229600" cy="6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defTabSz="914400">
              <a:lnSpc>
                <a:spcPct val="150000"/>
              </a:lnSpc>
            </a:pPr>
            <a:r>
              <a:rPr lang="en-US" altLang="zh-CN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Python </a:t>
            </a:r>
            <a:r>
              <a:rPr lang="zh-CN" altLang="en-US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标准库</a:t>
            </a:r>
            <a:endParaRPr lang="en-US" altLang="zh-CN" dirty="0">
              <a:solidFill>
                <a:srgbClr val="4F81B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2C0CD8A-BF6D-3D70-245A-38D2BDF6036F}"/>
              </a:ext>
            </a:extLst>
          </p:cNvPr>
          <p:cNvSpPr txBox="1"/>
          <p:nvPr/>
        </p:nvSpPr>
        <p:spPr>
          <a:xfrm>
            <a:off x="457199" y="1971930"/>
            <a:ext cx="8686800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time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模块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中用于处理时间的一个内建模块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相关概念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时间戳：从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1970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00:00:00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开始按秒计算的偏移量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元组（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struct_time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）：共有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个元素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D919D73-F42E-EA3A-054D-54FBE61C1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2000" y="4110977"/>
            <a:ext cx="5400000" cy="2609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3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认识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标准库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2/19/2024</a:t>
            </a:fld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EDF51-4307-4B3E-B14A-93826410B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9</a:t>
            </a:fld>
            <a:endParaRPr lang="en-US" altLang="zh-C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C546083-4028-4C8D-B01A-3914DDC6C900}"/>
              </a:ext>
            </a:extLst>
          </p:cNvPr>
          <p:cNvSpPr txBox="1">
            <a:spLocks/>
          </p:cNvSpPr>
          <p:nvPr/>
        </p:nvSpPr>
        <p:spPr bwMode="auto">
          <a:xfrm>
            <a:off x="457200" y="1320543"/>
            <a:ext cx="8229600" cy="6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defTabSz="914400">
              <a:lnSpc>
                <a:spcPct val="150000"/>
              </a:lnSpc>
            </a:pPr>
            <a:r>
              <a:rPr lang="en-US" altLang="zh-CN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Python </a:t>
            </a:r>
            <a:r>
              <a:rPr lang="zh-CN" altLang="en-US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标准库</a:t>
            </a:r>
            <a:endParaRPr lang="en-US" altLang="zh-CN" dirty="0">
              <a:solidFill>
                <a:srgbClr val="4F81B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2C0CD8A-BF6D-3D70-245A-38D2BDF6036F}"/>
              </a:ext>
            </a:extLst>
          </p:cNvPr>
          <p:cNvSpPr txBox="1"/>
          <p:nvPr/>
        </p:nvSpPr>
        <p:spPr>
          <a:xfrm>
            <a:off x="457199" y="1971930"/>
            <a:ext cx="8686800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time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模块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中用于处理时间的一个内建模块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相关概念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时间戳：从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1970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00:00:00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开始按秒计算的偏移量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元组（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struct_time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）：共有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个元素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数据处理中经常遇到，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将时间戳或字符串形式的时间转化为标准时间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，方便进行日期的运算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9985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认识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标准库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2/19/2024</a:t>
            </a:fld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EDF51-4307-4B3E-B14A-93826410B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10</a:t>
            </a:fld>
            <a:endParaRPr lang="en-US" altLang="zh-C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C546083-4028-4C8D-B01A-3914DDC6C900}"/>
              </a:ext>
            </a:extLst>
          </p:cNvPr>
          <p:cNvSpPr txBox="1">
            <a:spLocks/>
          </p:cNvSpPr>
          <p:nvPr/>
        </p:nvSpPr>
        <p:spPr bwMode="auto">
          <a:xfrm>
            <a:off x="457200" y="1320543"/>
            <a:ext cx="8229600" cy="6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defTabSz="914400">
              <a:lnSpc>
                <a:spcPct val="150000"/>
              </a:lnSpc>
            </a:pPr>
            <a:r>
              <a:rPr lang="en-US" altLang="zh-CN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Python </a:t>
            </a:r>
            <a:r>
              <a:rPr lang="zh-CN" altLang="en-US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标准库</a:t>
            </a:r>
            <a:endParaRPr lang="en-US" altLang="zh-CN" dirty="0">
              <a:solidFill>
                <a:srgbClr val="4F81B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2C0CD8A-BF6D-3D70-245A-38D2BDF6036F}"/>
              </a:ext>
            </a:extLst>
          </p:cNvPr>
          <p:cNvSpPr txBox="1"/>
          <p:nvPr/>
        </p:nvSpPr>
        <p:spPr>
          <a:xfrm>
            <a:off x="457199" y="1971930"/>
            <a:ext cx="8686800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time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模块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中用于处理时间的一个内建模块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相关概念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时间戳：从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1970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00:00:00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开始按秒计算的偏移量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元组（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struct_time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）：共有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个元素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数据处理中经常遇到，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将时间戳或字符串形式的时间转化为标准时间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，方便进行日期的运算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3FE069A-C7EF-1CC0-9B90-97A4C9799DB8}"/>
              </a:ext>
            </a:extLst>
          </p:cNvPr>
          <p:cNvGrpSpPr>
            <a:grpSpLocks noChangeAspect="1"/>
          </p:cNvGrpSpPr>
          <p:nvPr/>
        </p:nvGrpSpPr>
        <p:grpSpPr>
          <a:xfrm>
            <a:off x="1152000" y="457463"/>
            <a:ext cx="6840000" cy="6278025"/>
            <a:chOff x="340360" y="373063"/>
            <a:chExt cx="6974840" cy="6401787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65FF3D4A-36FE-4B10-AB11-2C52A25F19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0360" y="373063"/>
              <a:ext cx="6974840" cy="5625972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45901DA3-CEF8-FF98-9E65-80501E2D898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158" r="2463"/>
            <a:stretch/>
          </p:blipFill>
          <p:spPr>
            <a:xfrm>
              <a:off x="340360" y="5992002"/>
              <a:ext cx="6974840" cy="782848"/>
            </a:xfrm>
            <a:prstGeom prst="rect">
              <a:avLst/>
            </a:prstGeom>
          </p:spPr>
        </p:pic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55007287-CEC5-C7EC-9B70-4E19FECC10FB}"/>
              </a:ext>
            </a:extLst>
          </p:cNvPr>
          <p:cNvSpPr/>
          <p:nvPr/>
        </p:nvSpPr>
        <p:spPr>
          <a:xfrm>
            <a:off x="1466850" y="883329"/>
            <a:ext cx="5076825" cy="64067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2A13A7C-F35C-6F3D-76BD-412BF4D7DDDE}"/>
              </a:ext>
            </a:extLst>
          </p:cNvPr>
          <p:cNvSpPr/>
          <p:nvPr/>
        </p:nvSpPr>
        <p:spPr>
          <a:xfrm>
            <a:off x="1466849" y="2390536"/>
            <a:ext cx="5076825" cy="64067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17B07CE-5E32-FE93-D915-08E7810CF033}"/>
              </a:ext>
            </a:extLst>
          </p:cNvPr>
          <p:cNvSpPr/>
          <p:nvPr/>
        </p:nvSpPr>
        <p:spPr>
          <a:xfrm>
            <a:off x="1466849" y="3936726"/>
            <a:ext cx="5076825" cy="203104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1089066-FA80-AAED-116B-966A787CF987}"/>
              </a:ext>
            </a:extLst>
          </p:cNvPr>
          <p:cNvSpPr txBox="1"/>
          <p:nvPr/>
        </p:nvSpPr>
        <p:spPr>
          <a:xfrm>
            <a:off x="6653172" y="102895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时间戳转换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E012EEC-7CD4-21FC-419E-C6A19218B668}"/>
              </a:ext>
            </a:extLst>
          </p:cNvPr>
          <p:cNvSpPr txBox="1"/>
          <p:nvPr/>
        </p:nvSpPr>
        <p:spPr>
          <a:xfrm>
            <a:off x="6648409" y="252620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字符串转换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0B24081-C21B-ED25-FBBB-3A6F1B7B7088}"/>
              </a:ext>
            </a:extLst>
          </p:cNvPr>
          <p:cNvSpPr txBox="1"/>
          <p:nvPr/>
        </p:nvSpPr>
        <p:spPr>
          <a:xfrm>
            <a:off x="6603525" y="4767584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struct_time</a:t>
            </a:r>
            <a:endParaRPr lang="zh-CN" alt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46264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认识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标准库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2/19/2024</a:t>
            </a:fld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EDF51-4307-4B3E-B14A-93826410B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11</a:t>
            </a:fld>
            <a:endParaRPr lang="en-US" altLang="zh-C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C546083-4028-4C8D-B01A-3914DDC6C900}"/>
              </a:ext>
            </a:extLst>
          </p:cNvPr>
          <p:cNvSpPr txBox="1">
            <a:spLocks/>
          </p:cNvSpPr>
          <p:nvPr/>
        </p:nvSpPr>
        <p:spPr bwMode="auto">
          <a:xfrm>
            <a:off x="457200" y="1320543"/>
            <a:ext cx="8229600" cy="6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defTabSz="914400">
              <a:lnSpc>
                <a:spcPct val="150000"/>
              </a:lnSpc>
            </a:pPr>
            <a:r>
              <a:rPr lang="en-US" altLang="zh-CN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Python </a:t>
            </a:r>
            <a:r>
              <a:rPr lang="zh-CN" altLang="en-US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标准库</a:t>
            </a:r>
            <a:endParaRPr lang="en-US" altLang="zh-CN" dirty="0">
              <a:solidFill>
                <a:srgbClr val="4F81B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47418F0-5E57-EE5B-637F-99353FCF6A5E}"/>
              </a:ext>
            </a:extLst>
          </p:cNvPr>
          <p:cNvSpPr txBox="1"/>
          <p:nvPr/>
        </p:nvSpPr>
        <p:spPr>
          <a:xfrm>
            <a:off x="622299" y="1929995"/>
            <a:ext cx="7702551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random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模块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内建的用于生成随机数的模块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常用函数  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A9DC3BB-DDC8-B262-2D4F-5EE2CBC34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" y="3429000"/>
            <a:ext cx="7920000" cy="2686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990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认识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标准库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2/19/2024</a:t>
            </a:fld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EDF51-4307-4B3E-B14A-93826410B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12</a:t>
            </a:fld>
            <a:endParaRPr lang="en-US" altLang="zh-C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C546083-4028-4C8D-B01A-3914DDC6C900}"/>
              </a:ext>
            </a:extLst>
          </p:cNvPr>
          <p:cNvSpPr txBox="1">
            <a:spLocks/>
          </p:cNvSpPr>
          <p:nvPr/>
        </p:nvSpPr>
        <p:spPr bwMode="auto">
          <a:xfrm>
            <a:off x="457200" y="1320543"/>
            <a:ext cx="8229600" cy="6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defTabSz="914400">
              <a:lnSpc>
                <a:spcPct val="150000"/>
              </a:lnSpc>
            </a:pPr>
            <a:r>
              <a:rPr lang="en-US" altLang="zh-CN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numpy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21C4815-DB47-FD7E-77AF-3268AA964C01}"/>
              </a:ext>
            </a:extLst>
          </p:cNvPr>
          <p:cNvSpPr txBox="1"/>
          <p:nvPr/>
        </p:nvSpPr>
        <p:spPr>
          <a:xfrm>
            <a:off x="587379" y="1971930"/>
            <a:ext cx="8099423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numpy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是一个用于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科学计算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的模块，提供了高性能的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数组对象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矩阵对象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，以及众多基础数学、线性代数、基本统计运算等所需的相关函数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相关概念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ndarray </a:t>
            </a:r>
            <a:r>
              <a:rPr lang="zh-CN" altLang="en-US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对象：</a:t>
            </a:r>
            <a:r>
              <a:rPr lang="en-US" altLang="zh-CN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numpy </a:t>
            </a:r>
            <a:r>
              <a:rPr lang="zh-CN" altLang="en-US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中一种最基本的数组对象，其大小固定，</a:t>
            </a:r>
            <a:r>
              <a:rPr lang="zh-CN" altLang="en-US" b="1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内部数据类型需要一致</a:t>
            </a:r>
            <a:r>
              <a:rPr lang="zh-CN" altLang="en-US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，在数学运算的效率、稳定性上均有较大优势</a:t>
            </a:r>
          </a:p>
          <a:p>
            <a:pPr>
              <a:spcAft>
                <a:spcPts val="600"/>
              </a:spcAft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BC863E3D-D5F0-E88F-C23A-44C487F6629E}"/>
              </a:ext>
            </a:extLst>
          </p:cNvPr>
          <p:cNvGrpSpPr/>
          <p:nvPr/>
        </p:nvGrpSpPr>
        <p:grpSpPr>
          <a:xfrm>
            <a:off x="972000" y="4037328"/>
            <a:ext cx="7200000" cy="2579865"/>
            <a:chOff x="972000" y="4037328"/>
            <a:chExt cx="7200000" cy="2579865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3083AE79-0117-8A5B-3505-7BD7C69E982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72000" y="4037328"/>
              <a:ext cx="7200000" cy="2552960"/>
              <a:chOff x="367455" y="2759073"/>
              <a:chExt cx="8344746" cy="2958862"/>
            </a:xfrm>
          </p:grpSpPr>
          <p:grpSp>
            <p:nvGrpSpPr>
              <p:cNvPr id="23" name="组合 22">
                <a:extLst>
                  <a:ext uri="{FF2B5EF4-FFF2-40B4-BE49-F238E27FC236}">
                    <a16:creationId xmlns:a16="http://schemas.microsoft.com/office/drawing/2014/main" id="{5CE0D3D6-9AAE-9353-A34D-DAF8A414A65C}"/>
                  </a:ext>
                </a:extLst>
              </p:cNvPr>
              <p:cNvGrpSpPr/>
              <p:nvPr/>
            </p:nvGrpSpPr>
            <p:grpSpPr>
              <a:xfrm>
                <a:off x="367455" y="2759073"/>
                <a:ext cx="8344746" cy="2958862"/>
                <a:chOff x="299722" y="3276600"/>
                <a:chExt cx="8344746" cy="2958862"/>
              </a:xfrm>
            </p:grpSpPr>
            <p:pic>
              <p:nvPicPr>
                <p:cNvPr id="30" name="图片 29">
                  <a:extLst>
                    <a:ext uri="{FF2B5EF4-FFF2-40B4-BE49-F238E27FC236}">
                      <a16:creationId xmlns:a16="http://schemas.microsoft.com/office/drawing/2014/main" id="{F23BAD2E-3666-F053-0A21-FDA53B5407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r="18500"/>
                <a:stretch/>
              </p:blipFill>
              <p:spPr>
                <a:xfrm>
                  <a:off x="308982" y="3276600"/>
                  <a:ext cx="8335485" cy="1511043"/>
                </a:xfrm>
                <a:prstGeom prst="rect">
                  <a:avLst/>
                </a:prstGeom>
              </p:spPr>
            </p:pic>
            <p:pic>
              <p:nvPicPr>
                <p:cNvPr id="31" name="图片 30">
                  <a:extLst>
                    <a:ext uri="{FF2B5EF4-FFF2-40B4-BE49-F238E27FC236}">
                      <a16:creationId xmlns:a16="http://schemas.microsoft.com/office/drawing/2014/main" id="{E90D5C98-B19A-3B73-B52F-776FB7CE1B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/>
                <a:srcRect r="14823"/>
                <a:stretch/>
              </p:blipFill>
              <p:spPr>
                <a:xfrm>
                  <a:off x="299722" y="4787643"/>
                  <a:ext cx="8344746" cy="1447819"/>
                </a:xfrm>
                <a:prstGeom prst="rect">
                  <a:avLst/>
                </a:prstGeom>
              </p:spPr>
            </p:pic>
          </p:grpSp>
          <p:grpSp>
            <p:nvGrpSpPr>
              <p:cNvPr id="24" name="组合 23">
                <a:extLst>
                  <a:ext uri="{FF2B5EF4-FFF2-40B4-BE49-F238E27FC236}">
                    <a16:creationId xmlns:a16="http://schemas.microsoft.com/office/drawing/2014/main" id="{4BBDE1E2-3018-2127-F6DA-12136F06B293}"/>
                  </a:ext>
                </a:extLst>
              </p:cNvPr>
              <p:cNvGrpSpPr/>
              <p:nvPr/>
            </p:nvGrpSpPr>
            <p:grpSpPr>
              <a:xfrm>
                <a:off x="811033" y="3482348"/>
                <a:ext cx="2738718" cy="1112735"/>
                <a:chOff x="4459008" y="224263"/>
                <a:chExt cx="3305617" cy="1421872"/>
              </a:xfrm>
            </p:grpSpPr>
            <p:pic>
              <p:nvPicPr>
                <p:cNvPr id="28" name="图片 27">
                  <a:extLst>
                    <a:ext uri="{FF2B5EF4-FFF2-40B4-BE49-F238E27FC236}">
                      <a16:creationId xmlns:a16="http://schemas.microsoft.com/office/drawing/2014/main" id="{2C25B92A-D2AB-4AE1-366C-D78E7EAD9F0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463840" y="1016815"/>
                  <a:ext cx="3300094" cy="629320"/>
                </a:xfrm>
                <a:prstGeom prst="rect">
                  <a:avLst/>
                </a:prstGeom>
              </p:spPr>
            </p:pic>
            <p:pic>
              <p:nvPicPr>
                <p:cNvPr id="29" name="图片 28">
                  <a:extLst>
                    <a:ext uri="{FF2B5EF4-FFF2-40B4-BE49-F238E27FC236}">
                      <a16:creationId xmlns:a16="http://schemas.microsoft.com/office/drawing/2014/main" id="{A6ED9FF7-7A98-7DC0-87E6-DAC6C460B0A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6"/>
                <a:srcRect r="12657"/>
                <a:stretch/>
              </p:blipFill>
              <p:spPr>
                <a:xfrm>
                  <a:off x="4459008" y="224263"/>
                  <a:ext cx="3305617" cy="857458"/>
                </a:xfrm>
                <a:prstGeom prst="rect">
                  <a:avLst/>
                </a:prstGeom>
              </p:spPr>
            </p:pic>
          </p:grpSp>
          <p:grpSp>
            <p:nvGrpSpPr>
              <p:cNvPr id="25" name="组合 24">
                <a:extLst>
                  <a:ext uri="{FF2B5EF4-FFF2-40B4-BE49-F238E27FC236}">
                    <a16:creationId xmlns:a16="http://schemas.microsoft.com/office/drawing/2014/main" id="{AA59781F-EB08-2BB1-F48A-4B7FF62C9EB3}"/>
                  </a:ext>
                </a:extLst>
              </p:cNvPr>
              <p:cNvGrpSpPr/>
              <p:nvPr/>
            </p:nvGrpSpPr>
            <p:grpSpPr>
              <a:xfrm>
                <a:off x="3534831" y="3546219"/>
                <a:ext cx="1476353" cy="1112735"/>
                <a:chOff x="5982673" y="224263"/>
                <a:chExt cx="1781950" cy="1421872"/>
              </a:xfrm>
            </p:grpSpPr>
            <p:pic>
              <p:nvPicPr>
                <p:cNvPr id="26" name="图片 25">
                  <a:extLst>
                    <a:ext uri="{FF2B5EF4-FFF2-40B4-BE49-F238E27FC236}">
                      <a16:creationId xmlns:a16="http://schemas.microsoft.com/office/drawing/2014/main" id="{E5E57837-ACD5-2324-F65C-1B168F134F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l="46024"/>
                <a:stretch/>
              </p:blipFill>
              <p:spPr>
                <a:xfrm>
                  <a:off x="5982673" y="1016815"/>
                  <a:ext cx="1781259" cy="629320"/>
                </a:xfrm>
                <a:prstGeom prst="rect">
                  <a:avLst/>
                </a:prstGeom>
              </p:spPr>
            </p:pic>
            <p:pic>
              <p:nvPicPr>
                <p:cNvPr id="27" name="图片 26">
                  <a:extLst>
                    <a:ext uri="{FF2B5EF4-FFF2-40B4-BE49-F238E27FC236}">
                      <a16:creationId xmlns:a16="http://schemas.microsoft.com/office/drawing/2014/main" id="{297EA372-274A-CACB-4E81-B245945020A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6"/>
                <a:srcRect l="40934" r="12657"/>
                <a:stretch/>
              </p:blipFill>
              <p:spPr>
                <a:xfrm>
                  <a:off x="6008221" y="224263"/>
                  <a:ext cx="1756402" cy="857458"/>
                </a:xfrm>
                <a:prstGeom prst="rect">
                  <a:avLst/>
                </a:prstGeom>
              </p:spPr>
            </p:pic>
          </p:grpSp>
        </p:grp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4A6E4581-74A7-94C8-6F58-813087F989B7}"/>
                </a:ext>
              </a:extLst>
            </p:cNvPr>
            <p:cNvSpPr/>
            <p:nvPr/>
          </p:nvSpPr>
          <p:spPr>
            <a:xfrm>
              <a:off x="1354727" y="5629743"/>
              <a:ext cx="6636748" cy="987450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F18C49FB-129D-4911-9F8F-43969E334A06}"/>
                </a:ext>
              </a:extLst>
            </p:cNvPr>
            <p:cNvSpPr txBox="1"/>
            <p:nvPr/>
          </p:nvSpPr>
          <p:spPr>
            <a:xfrm>
              <a:off x="6831824" y="5202028"/>
              <a:ext cx="11596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数组形状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7080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认识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标准库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2/19/2024</a:t>
            </a:fld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EDF51-4307-4B3E-B14A-93826410B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13</a:t>
            </a:fld>
            <a:endParaRPr lang="en-US" altLang="zh-C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C546083-4028-4C8D-B01A-3914DDC6C900}"/>
              </a:ext>
            </a:extLst>
          </p:cNvPr>
          <p:cNvSpPr txBox="1">
            <a:spLocks/>
          </p:cNvSpPr>
          <p:nvPr/>
        </p:nvSpPr>
        <p:spPr bwMode="auto">
          <a:xfrm>
            <a:off x="457200" y="1320543"/>
            <a:ext cx="8229600" cy="6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defTabSz="914400">
              <a:lnSpc>
                <a:spcPct val="150000"/>
              </a:lnSpc>
            </a:pPr>
            <a:r>
              <a:rPr lang="en-US" altLang="zh-CN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numpy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21C4815-DB47-FD7E-77AF-3268AA964C01}"/>
              </a:ext>
            </a:extLst>
          </p:cNvPr>
          <p:cNvSpPr txBox="1"/>
          <p:nvPr/>
        </p:nvSpPr>
        <p:spPr>
          <a:xfrm>
            <a:off x="587379" y="1971930"/>
            <a:ext cx="8099423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numpy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是一个用于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科学计算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的模块，提供了高性能的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数组对象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矩阵对象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，以及众多基础数学、线性代数、基本统计运算等所需的相关函数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相关概念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ndarray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numpy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中一种最基本的数组对象，其大小固定，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内部数据类型需要一致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，在数学运算的效率、稳定性上均有较大优势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ndarray </a:t>
            </a:r>
            <a:r>
              <a:rPr lang="zh-CN" altLang="en-US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复制：有三种形式，分别为引用、浅复制、深复制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3081662-1A93-DC4B-DB3F-77629305BE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2000" y="4494519"/>
            <a:ext cx="6480000" cy="1645553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11C837EA-91AB-3E0B-8340-F7302C2CBE9A}"/>
              </a:ext>
            </a:extLst>
          </p:cNvPr>
          <p:cNvSpPr/>
          <p:nvPr/>
        </p:nvSpPr>
        <p:spPr>
          <a:xfrm>
            <a:off x="1655228" y="4494520"/>
            <a:ext cx="5859997" cy="133478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B09F045-36BE-E20E-5DFC-2AB7C40A80E1}"/>
              </a:ext>
            </a:extLst>
          </p:cNvPr>
          <p:cNvSpPr txBox="1"/>
          <p:nvPr/>
        </p:nvSpPr>
        <p:spPr>
          <a:xfrm>
            <a:off x="7812000" y="4494518"/>
            <a:ext cx="12040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0" i="0" u="none" strike="noStrike" kern="1200" baseline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修改原数组，新数组也会改变！！！</a:t>
            </a:r>
            <a:endParaRPr lang="zh-CN" alt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3635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认识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标准库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2/19/2024</a:t>
            </a:fld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EDF51-4307-4B3E-B14A-93826410B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14</a:t>
            </a:fld>
            <a:endParaRPr lang="en-US" altLang="zh-C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C546083-4028-4C8D-B01A-3914DDC6C900}"/>
              </a:ext>
            </a:extLst>
          </p:cNvPr>
          <p:cNvSpPr txBox="1">
            <a:spLocks/>
          </p:cNvSpPr>
          <p:nvPr/>
        </p:nvSpPr>
        <p:spPr bwMode="auto">
          <a:xfrm>
            <a:off x="457200" y="1320543"/>
            <a:ext cx="8229600" cy="6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defTabSz="914400">
              <a:lnSpc>
                <a:spcPct val="150000"/>
              </a:lnSpc>
            </a:pPr>
            <a:r>
              <a:rPr lang="en-US" altLang="zh-CN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numpy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21C4815-DB47-FD7E-77AF-3268AA964C01}"/>
              </a:ext>
            </a:extLst>
          </p:cNvPr>
          <p:cNvSpPr txBox="1"/>
          <p:nvPr/>
        </p:nvSpPr>
        <p:spPr>
          <a:xfrm>
            <a:off x="587379" y="1971930"/>
            <a:ext cx="8099423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numpy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是一个用于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科学计算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的模块，提供了高性能的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数组对象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矩阵对象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，以及众多基础数学、线性代数、基本统计运算等所需的相关函数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相关概念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ndarray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numpy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中一种最基本的数组对象，其大小固定，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内部数据类型需要一致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，在数学运算的效率、稳定性上均有较大优势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ndarray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复制：有三种形式，分别为引用、浅复制、深复制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ndarray </a:t>
            </a:r>
            <a:r>
              <a:rPr lang="zh-CN" altLang="en-US" u="sng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下标存取：与内置的 </a:t>
            </a:r>
            <a:r>
              <a:rPr lang="en-US" altLang="zh-CN" u="sng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list </a:t>
            </a:r>
            <a:r>
              <a:rPr lang="zh-CN" altLang="en-US" u="sng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对象的存取和切片方法类似</a:t>
            </a:r>
            <a:endParaRPr lang="zh-CN" altLang="en-US" u="sng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10950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认识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标准库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2/19/2024</a:t>
            </a:fld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EDF51-4307-4B3E-B14A-93826410B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15</a:t>
            </a:fld>
            <a:endParaRPr lang="en-US" altLang="zh-C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C546083-4028-4C8D-B01A-3914DDC6C900}"/>
              </a:ext>
            </a:extLst>
          </p:cNvPr>
          <p:cNvSpPr txBox="1">
            <a:spLocks/>
          </p:cNvSpPr>
          <p:nvPr/>
        </p:nvSpPr>
        <p:spPr bwMode="auto">
          <a:xfrm>
            <a:off x="457200" y="1320543"/>
            <a:ext cx="8229600" cy="6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defTabSz="914400">
              <a:lnSpc>
                <a:spcPct val="150000"/>
              </a:lnSpc>
            </a:pPr>
            <a:r>
              <a:rPr lang="en-US" altLang="zh-CN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numpy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21C4815-DB47-FD7E-77AF-3268AA964C01}"/>
              </a:ext>
            </a:extLst>
          </p:cNvPr>
          <p:cNvSpPr txBox="1"/>
          <p:nvPr/>
        </p:nvSpPr>
        <p:spPr>
          <a:xfrm>
            <a:off x="587379" y="1971930"/>
            <a:ext cx="8099423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numpy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是一个用于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科学计算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的模块，提供了高性能的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数组对象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矩阵对象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，以及众多基础数学、线性代数、基本统计运算等所需的相关函数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相关概念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ndarray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numpy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中一种最基本的数组对象，其大小固定，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内部数据类型需要一致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，在数学运算的效率、稳定性上均有较大优势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ndarray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复制：有三种形式，分别为引用、浅复制、深复制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ndarray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下标存取：与内置的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list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对象的存取和切片方法类似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C54CDB29-3462-7BE9-B1A8-1095AC9EF742}"/>
              </a:ext>
            </a:extLst>
          </p:cNvPr>
          <p:cNvGrpSpPr/>
          <p:nvPr/>
        </p:nvGrpSpPr>
        <p:grpSpPr>
          <a:xfrm>
            <a:off x="612000" y="1971930"/>
            <a:ext cx="7920000" cy="4822104"/>
            <a:chOff x="612000" y="1971930"/>
            <a:chExt cx="7920000" cy="4822104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7BB391DA-FD27-2B43-1A66-FFDB21A83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2000" y="1971930"/>
              <a:ext cx="7920000" cy="2994411"/>
            </a:xfrm>
            <a:prstGeom prst="rect">
              <a:avLst/>
            </a:prstGeom>
          </p:spPr>
        </p:pic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3E2A20CA-D918-1902-668A-783FE9CC08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2000" y="4966341"/>
              <a:ext cx="7920000" cy="1827693"/>
            </a:xfrm>
            <a:prstGeom prst="rect">
              <a:avLst/>
            </a:prstGeom>
          </p:spPr>
        </p:pic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D35C2273-CC0F-D21E-B50B-221178884D2A}"/>
              </a:ext>
            </a:extLst>
          </p:cNvPr>
          <p:cNvSpPr/>
          <p:nvPr/>
        </p:nvSpPr>
        <p:spPr>
          <a:xfrm>
            <a:off x="1016408" y="1971930"/>
            <a:ext cx="7515592" cy="299441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495399B-2558-7291-8FA3-6EAD2B51BEF5}"/>
              </a:ext>
            </a:extLst>
          </p:cNvPr>
          <p:cNvSpPr/>
          <p:nvPr/>
        </p:nvSpPr>
        <p:spPr>
          <a:xfrm>
            <a:off x="1016408" y="5017652"/>
            <a:ext cx="7515592" cy="177638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378C1E6-EE40-9396-31B2-6393C50FD7D5}"/>
              </a:ext>
            </a:extLst>
          </p:cNvPr>
          <p:cNvSpPr txBox="1"/>
          <p:nvPr/>
        </p:nvSpPr>
        <p:spPr>
          <a:xfrm>
            <a:off x="7187959" y="3226865"/>
            <a:ext cx="1159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数值索引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580AC3A-85BA-EF98-335A-8B9DF8478488}"/>
              </a:ext>
            </a:extLst>
          </p:cNvPr>
          <p:cNvSpPr txBox="1"/>
          <p:nvPr/>
        </p:nvSpPr>
        <p:spPr>
          <a:xfrm>
            <a:off x="7007192" y="5721177"/>
            <a:ext cx="1340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布尔值索引</a:t>
            </a:r>
          </a:p>
        </p:txBody>
      </p:sp>
    </p:spTree>
    <p:extLst>
      <p:ext uri="{BB962C8B-B14F-4D97-AF65-F5344CB8AC3E}">
        <p14:creationId xmlns:p14="http://schemas.microsoft.com/office/powerpoint/2010/main" val="37476925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认识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标准库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2/19/2024</a:t>
            </a:fld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EDF51-4307-4B3E-B14A-93826410B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16</a:t>
            </a:fld>
            <a:endParaRPr lang="en-US" altLang="zh-C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C546083-4028-4C8D-B01A-3914DDC6C900}"/>
              </a:ext>
            </a:extLst>
          </p:cNvPr>
          <p:cNvSpPr txBox="1">
            <a:spLocks/>
          </p:cNvSpPr>
          <p:nvPr/>
        </p:nvSpPr>
        <p:spPr bwMode="auto">
          <a:xfrm>
            <a:off x="457200" y="1320543"/>
            <a:ext cx="8229600" cy="6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defTabSz="914400">
              <a:lnSpc>
                <a:spcPct val="150000"/>
              </a:lnSpc>
            </a:pPr>
            <a:r>
              <a:rPr lang="en-US" altLang="zh-CN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numpy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21C4815-DB47-FD7E-77AF-3268AA964C01}"/>
              </a:ext>
            </a:extLst>
          </p:cNvPr>
          <p:cNvSpPr txBox="1"/>
          <p:nvPr/>
        </p:nvSpPr>
        <p:spPr>
          <a:xfrm>
            <a:off x="587379" y="1971930"/>
            <a:ext cx="809942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numpy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是一个用于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科学计算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的模块，提供了高性能的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数组对象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矩阵对象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，以及众多基础数学、线性代数、基本统计运算等所需的相关函数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相关概念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ndarray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numpy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中一种最基本的数组对象，其大小固定，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内部数据类型需要一致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，在数学运算的效率、稳定性上均有较大优势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ndarray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复制：有三种形式，分别为引用、浅复制、深复制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ndarray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下标存取：与内置的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list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对象的存取和切片方法类似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ndarray </a:t>
            </a:r>
            <a:r>
              <a:rPr lang="zh-CN" altLang="en-US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数组运算</a:t>
            </a:r>
          </a:p>
        </p:txBody>
      </p:sp>
    </p:spTree>
    <p:extLst>
      <p:ext uri="{BB962C8B-B14F-4D97-AF65-F5344CB8AC3E}">
        <p14:creationId xmlns:p14="http://schemas.microsoft.com/office/powerpoint/2010/main" val="27878317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认识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标准库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2/19/2024</a:t>
            </a:fld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EDF51-4307-4B3E-B14A-93826410B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17</a:t>
            </a:fld>
            <a:endParaRPr lang="en-US" altLang="zh-C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C546083-4028-4C8D-B01A-3914DDC6C900}"/>
              </a:ext>
            </a:extLst>
          </p:cNvPr>
          <p:cNvSpPr txBox="1">
            <a:spLocks/>
          </p:cNvSpPr>
          <p:nvPr/>
        </p:nvSpPr>
        <p:spPr bwMode="auto">
          <a:xfrm>
            <a:off x="457200" y="1320543"/>
            <a:ext cx="8229600" cy="6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defTabSz="914400">
              <a:lnSpc>
                <a:spcPct val="150000"/>
              </a:lnSpc>
            </a:pPr>
            <a:r>
              <a:rPr lang="en-US" altLang="zh-CN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numpy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21C4815-DB47-FD7E-77AF-3268AA964C01}"/>
              </a:ext>
            </a:extLst>
          </p:cNvPr>
          <p:cNvSpPr txBox="1"/>
          <p:nvPr/>
        </p:nvSpPr>
        <p:spPr>
          <a:xfrm>
            <a:off x="587379" y="1971930"/>
            <a:ext cx="809942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numpy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是一个用于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科学计算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的模块，提供了高性能的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数组对象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矩阵对象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，以及众多基础数学、线性代数、基本统计运算等所需的相关函数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相关概念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ndarray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numpy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中一种最基本的数组对象，其大小固定，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内部数据类型需要一致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，在数学运算的效率、稳定性上均有较大优势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ndarray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复制：有三种形式，分别为引用、浅复制、深复制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ndarray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下标存取：与内置的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list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对象的存取和切片方法类似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ndarray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数组运算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F8E13EA-697C-EAE0-5F34-FADD75AC3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2000" y="1971930"/>
            <a:ext cx="6480000" cy="485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7349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认识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标准库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2/19/2024</a:t>
            </a:fld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EDF51-4307-4B3E-B14A-93826410B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18</a:t>
            </a:fld>
            <a:endParaRPr lang="en-US" altLang="zh-C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C546083-4028-4C8D-B01A-3914DDC6C900}"/>
              </a:ext>
            </a:extLst>
          </p:cNvPr>
          <p:cNvSpPr txBox="1">
            <a:spLocks/>
          </p:cNvSpPr>
          <p:nvPr/>
        </p:nvSpPr>
        <p:spPr bwMode="auto">
          <a:xfrm>
            <a:off x="457200" y="1320543"/>
            <a:ext cx="8229600" cy="6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defTabSz="914400">
              <a:lnSpc>
                <a:spcPct val="150000"/>
              </a:lnSpc>
            </a:pPr>
            <a:r>
              <a:rPr lang="en-US" altLang="zh-CN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numpy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21C4815-DB47-FD7E-77AF-3268AA964C01}"/>
              </a:ext>
            </a:extLst>
          </p:cNvPr>
          <p:cNvSpPr txBox="1"/>
          <p:nvPr/>
        </p:nvSpPr>
        <p:spPr>
          <a:xfrm>
            <a:off x="587379" y="1971930"/>
            <a:ext cx="8099423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numpy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是一个用于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科学计算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的模块，提供了高性能的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数组对象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矩阵对象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，以及众多基础数学、线性代数、基本统计运算等所需的相关函数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相关概念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ndarray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numpy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中一种最基本的数组对象，其大小固定，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内部数据类型需要一致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，在数学运算的效率、稳定性上均有较大优势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ndarray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复制：有三种形式，分别为引用、浅复制、深复制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ndarray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下标存取：与内置的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list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对象的存取和切片方法类似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ndarray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数组运算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ndarray </a:t>
            </a:r>
            <a:r>
              <a:rPr lang="zh-CN" altLang="en-US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随机数生成</a:t>
            </a:r>
            <a:endParaRPr lang="en-US" altLang="zh-CN" u="sng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8600E18-D0FF-EE6C-5173-1540636326B7}"/>
              </a:ext>
            </a:extLst>
          </p:cNvPr>
          <p:cNvSpPr txBox="1"/>
          <p:nvPr/>
        </p:nvSpPr>
        <p:spPr>
          <a:xfrm>
            <a:off x="957857" y="5459153"/>
            <a:ext cx="7228285" cy="7232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#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生成均值为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，方差为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（不是标准差），长度为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100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的正态分布样本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np.random.normal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(0, 1, 100)</a:t>
            </a:r>
          </a:p>
        </p:txBody>
      </p:sp>
    </p:spTree>
    <p:extLst>
      <p:ext uri="{BB962C8B-B14F-4D97-AF65-F5344CB8AC3E}">
        <p14:creationId xmlns:p14="http://schemas.microsoft.com/office/powerpoint/2010/main" val="20936083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认识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标准库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2/19/2024</a:t>
            </a:fld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EDF51-4307-4B3E-B14A-93826410B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19</a:t>
            </a:fld>
            <a:endParaRPr lang="en-US" altLang="zh-C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C546083-4028-4C8D-B01A-3914DDC6C900}"/>
              </a:ext>
            </a:extLst>
          </p:cNvPr>
          <p:cNvSpPr txBox="1">
            <a:spLocks/>
          </p:cNvSpPr>
          <p:nvPr/>
        </p:nvSpPr>
        <p:spPr bwMode="auto">
          <a:xfrm>
            <a:off x="457200" y="1320543"/>
            <a:ext cx="8229600" cy="6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defTabSz="914400">
              <a:lnSpc>
                <a:spcPct val="150000"/>
              </a:lnSpc>
            </a:pPr>
            <a:r>
              <a:rPr lang="en-US" altLang="zh-CN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numpy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21C4815-DB47-FD7E-77AF-3268AA964C01}"/>
              </a:ext>
            </a:extLst>
          </p:cNvPr>
          <p:cNvSpPr txBox="1"/>
          <p:nvPr/>
        </p:nvSpPr>
        <p:spPr>
          <a:xfrm>
            <a:off x="587379" y="1971930"/>
            <a:ext cx="8099423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numpy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是一个用于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科学计算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的模块，提供了高性能的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数组对象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矩阵对象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，以及众多基础数学、线性代数、基本统计运算等所需的相关函数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相关概念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ndarray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numpy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中一种最基本的数组对象，其大小固定，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内部数据类型需要一致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，在数学运算的效率、稳定性上均有较大优势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ndarray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复制：有三种形式，分别为引用、浅复制、深复制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ndarray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下标存取：与内置的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list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对象的存取和切片方法类似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ndarray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数组运算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ndarray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随机数生成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</a:p>
        </p:txBody>
      </p:sp>
    </p:spTree>
    <p:extLst>
      <p:ext uri="{BB962C8B-B14F-4D97-AF65-F5344CB8AC3E}">
        <p14:creationId xmlns:p14="http://schemas.microsoft.com/office/powerpoint/2010/main" val="3993182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认识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标准库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2/19/2024</a:t>
            </a:fld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EDF51-4307-4B3E-B14A-93826410B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20</a:t>
            </a:fld>
            <a:endParaRPr lang="en-US" altLang="zh-C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C546083-4028-4C8D-B01A-3914DDC6C900}"/>
              </a:ext>
            </a:extLst>
          </p:cNvPr>
          <p:cNvSpPr txBox="1">
            <a:spLocks/>
          </p:cNvSpPr>
          <p:nvPr/>
        </p:nvSpPr>
        <p:spPr bwMode="auto">
          <a:xfrm>
            <a:off x="457200" y="1320543"/>
            <a:ext cx="8229600" cy="6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defTabSz="914400">
              <a:lnSpc>
                <a:spcPct val="150000"/>
              </a:lnSpc>
            </a:pPr>
            <a:r>
              <a:rPr lang="en-US" altLang="zh-CN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pandas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21C4815-DB47-FD7E-77AF-3268AA964C01}"/>
              </a:ext>
            </a:extLst>
          </p:cNvPr>
          <p:cNvSpPr txBox="1"/>
          <p:nvPr/>
        </p:nvSpPr>
        <p:spPr>
          <a:xfrm>
            <a:off x="587379" y="1971930"/>
            <a:ext cx="8190759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pandas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是一个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数据分析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模块，提供了快速、灵活、类似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SQL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中表的数据结构，能够便捷、高效地处理具有不同字段、不同来源的数据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相关概念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DataFrame </a:t>
            </a:r>
            <a:r>
              <a:rPr lang="zh-CN" altLang="en-US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数据类型：</a:t>
            </a:r>
            <a:r>
              <a:rPr lang="zh-CN" altLang="en-US" b="1" u="sng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类似于表的概念</a:t>
            </a:r>
            <a:r>
              <a:rPr lang="zh-CN" altLang="en-US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，能够用标签对不同列进行标识</a:t>
            </a:r>
            <a:endParaRPr lang="en-US" altLang="zh-CN" u="sng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400459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认识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标准库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2/19/2024</a:t>
            </a:fld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EDF51-4307-4B3E-B14A-93826410B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21</a:t>
            </a:fld>
            <a:endParaRPr lang="en-US" altLang="zh-C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C546083-4028-4C8D-B01A-3914DDC6C900}"/>
              </a:ext>
            </a:extLst>
          </p:cNvPr>
          <p:cNvSpPr txBox="1">
            <a:spLocks/>
          </p:cNvSpPr>
          <p:nvPr/>
        </p:nvSpPr>
        <p:spPr bwMode="auto">
          <a:xfrm>
            <a:off x="457200" y="1320543"/>
            <a:ext cx="8229600" cy="6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defTabSz="914400">
              <a:lnSpc>
                <a:spcPct val="150000"/>
              </a:lnSpc>
            </a:pPr>
            <a:r>
              <a:rPr lang="en-US" altLang="zh-CN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pandas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21C4815-DB47-FD7E-77AF-3268AA964C01}"/>
              </a:ext>
            </a:extLst>
          </p:cNvPr>
          <p:cNvSpPr txBox="1"/>
          <p:nvPr/>
        </p:nvSpPr>
        <p:spPr>
          <a:xfrm>
            <a:off x="587379" y="1971930"/>
            <a:ext cx="8190759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pandas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是一个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数据分析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模块，提供了快速、灵活、类似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SQL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中表的数据结构，能够便捷、高效地处理具有不同字段、不同来源的数据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相关概念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DataFrame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数据类型：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类似于表的概念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，能够用标签对不同列进行标识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FA84F813-E450-ADC6-F730-DE964DD0280D}"/>
              </a:ext>
            </a:extLst>
          </p:cNvPr>
          <p:cNvGrpSpPr/>
          <p:nvPr/>
        </p:nvGrpSpPr>
        <p:grpSpPr>
          <a:xfrm>
            <a:off x="767294" y="1971930"/>
            <a:ext cx="7609412" cy="3960000"/>
            <a:chOff x="830862" y="1971930"/>
            <a:chExt cx="7609412" cy="3960000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BCDFC72E-C5BA-18E3-44CB-A5A94E9EFF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0862" y="1971930"/>
              <a:ext cx="3878976" cy="3960000"/>
            </a:xfrm>
            <a:prstGeom prst="rect">
              <a:avLst/>
            </a:prstGeom>
          </p:spPr>
        </p:pic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2B3C1D77-3180-E696-F4EB-EB4B74262C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09838" y="1971930"/>
              <a:ext cx="3730436" cy="3960000"/>
            </a:xfrm>
            <a:prstGeom prst="rect">
              <a:avLst/>
            </a:prstGeom>
          </p:spPr>
        </p:pic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2306F33A-FAB1-F463-FD5F-40586F7764E6}"/>
              </a:ext>
            </a:extLst>
          </p:cNvPr>
          <p:cNvSpPr/>
          <p:nvPr/>
        </p:nvSpPr>
        <p:spPr>
          <a:xfrm>
            <a:off x="5020342" y="3596197"/>
            <a:ext cx="3356364" cy="120680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122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认识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标准库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2/19/2024</a:t>
            </a:fld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EDF51-4307-4B3E-B14A-93826410B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22</a:t>
            </a:fld>
            <a:endParaRPr lang="en-US" altLang="zh-C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C546083-4028-4C8D-B01A-3914DDC6C900}"/>
              </a:ext>
            </a:extLst>
          </p:cNvPr>
          <p:cNvSpPr txBox="1">
            <a:spLocks/>
          </p:cNvSpPr>
          <p:nvPr/>
        </p:nvSpPr>
        <p:spPr bwMode="auto">
          <a:xfrm>
            <a:off x="457200" y="1320543"/>
            <a:ext cx="8229600" cy="6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defTabSz="914400">
              <a:lnSpc>
                <a:spcPct val="150000"/>
              </a:lnSpc>
            </a:pPr>
            <a:r>
              <a:rPr lang="en-US" altLang="zh-CN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pandas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21C4815-DB47-FD7E-77AF-3268AA964C01}"/>
              </a:ext>
            </a:extLst>
          </p:cNvPr>
          <p:cNvSpPr txBox="1"/>
          <p:nvPr/>
        </p:nvSpPr>
        <p:spPr>
          <a:xfrm>
            <a:off x="587379" y="1971930"/>
            <a:ext cx="830636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pandas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是一个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数据分析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模块，提供了快速、灵活、类似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SQL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中表的数据结构，能够便捷、高效地处理具有不同字段、不同来源的数据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相关概念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DataFrame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数据类型：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类似于表的概念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，能够用标签对不同列进行标识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DataFrame </a:t>
            </a:r>
            <a:r>
              <a:rPr lang="zh-CN" altLang="en-US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的一列是一个 </a:t>
            </a:r>
            <a:r>
              <a:rPr lang="en-US" altLang="zh-CN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Series</a:t>
            </a:r>
            <a:r>
              <a:rPr lang="zh-CN" altLang="en-US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，每个 </a:t>
            </a:r>
            <a:r>
              <a:rPr lang="en-US" altLang="zh-CN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DataFrame </a:t>
            </a:r>
            <a:r>
              <a:rPr lang="zh-CN" altLang="en-US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由多个 </a:t>
            </a:r>
            <a:r>
              <a:rPr lang="en-US" altLang="zh-CN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Series </a:t>
            </a:r>
            <a:r>
              <a:rPr lang="zh-CN" altLang="en-US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组成</a:t>
            </a:r>
            <a:endParaRPr lang="en-US" altLang="zh-CN" u="sng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7D288CE-9F65-7DEA-E769-52860FAD3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" y="4215894"/>
            <a:ext cx="7920000" cy="752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0446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认识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标准库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2/19/2024</a:t>
            </a:fld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EDF51-4307-4B3E-B14A-93826410B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23</a:t>
            </a:fld>
            <a:endParaRPr lang="en-US" altLang="zh-C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C546083-4028-4C8D-B01A-3914DDC6C900}"/>
              </a:ext>
            </a:extLst>
          </p:cNvPr>
          <p:cNvSpPr txBox="1">
            <a:spLocks/>
          </p:cNvSpPr>
          <p:nvPr/>
        </p:nvSpPr>
        <p:spPr bwMode="auto">
          <a:xfrm>
            <a:off x="457200" y="1320543"/>
            <a:ext cx="8229600" cy="6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defTabSz="914400">
              <a:lnSpc>
                <a:spcPct val="150000"/>
              </a:lnSpc>
            </a:pPr>
            <a:r>
              <a:rPr lang="en-US" altLang="zh-CN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pandas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21C4815-DB47-FD7E-77AF-3268AA964C01}"/>
              </a:ext>
            </a:extLst>
          </p:cNvPr>
          <p:cNvSpPr txBox="1"/>
          <p:nvPr/>
        </p:nvSpPr>
        <p:spPr>
          <a:xfrm>
            <a:off x="587379" y="1971930"/>
            <a:ext cx="8306364" cy="2416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pandas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是一个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数据分析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模块，提供了快速、灵活、类似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SQL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中表的数据结构，能够便捷、高效地处理具有不同字段、不同来源的数据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相关概念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DataFrame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数据类型：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类似于表的概念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，能够用标签对不同列进行标识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DataFrame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的一列是一个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Series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，每个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DataFrame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由多个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Series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组成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zh-CN" altLang="en-US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文件读取与写入</a:t>
            </a:r>
            <a:endParaRPr lang="en-US" altLang="zh-CN" u="sng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BC0F8C5-8B2B-E0EC-93ED-04CFEDED0F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" y="4574341"/>
            <a:ext cx="7920000" cy="1170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9964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认识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标准库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2/19/2024</a:t>
            </a:fld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EDF51-4307-4B3E-B14A-93826410B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24</a:t>
            </a:fld>
            <a:endParaRPr lang="en-US" altLang="zh-C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C546083-4028-4C8D-B01A-3914DDC6C900}"/>
              </a:ext>
            </a:extLst>
          </p:cNvPr>
          <p:cNvSpPr txBox="1">
            <a:spLocks/>
          </p:cNvSpPr>
          <p:nvPr/>
        </p:nvSpPr>
        <p:spPr bwMode="auto">
          <a:xfrm>
            <a:off x="457200" y="1320543"/>
            <a:ext cx="8229600" cy="6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defTabSz="914400">
              <a:lnSpc>
                <a:spcPct val="150000"/>
              </a:lnSpc>
            </a:pPr>
            <a:r>
              <a:rPr lang="en-US" altLang="zh-CN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pandas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21C4815-DB47-FD7E-77AF-3268AA964C01}"/>
              </a:ext>
            </a:extLst>
          </p:cNvPr>
          <p:cNvSpPr txBox="1"/>
          <p:nvPr/>
        </p:nvSpPr>
        <p:spPr>
          <a:xfrm>
            <a:off x="587379" y="1971930"/>
            <a:ext cx="8306364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pandas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是一个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数据分析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模块，提供了快速、灵活、类似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SQL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中表的数据结构，能够便捷、高效地处理具有不同字段、不同来源的数据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相关概念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DataFrame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数据类型：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类似于表的概念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，能够用标签对不同列进行标识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DataFrame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的一列是一个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Series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，每个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DataFrame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由多个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Series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组成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文件读取与写入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zh-CN" altLang="en-US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队列操作</a:t>
            </a:r>
            <a:endParaRPr lang="en-US" altLang="zh-CN" u="sng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8E5A2CD-2DF0-5993-04AB-5EABBE2912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" y="4940171"/>
            <a:ext cx="7920000" cy="90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2477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认识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标准库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2/19/2024</a:t>
            </a:fld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EDF51-4307-4B3E-B14A-93826410B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25</a:t>
            </a:fld>
            <a:endParaRPr lang="en-US" altLang="zh-C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C546083-4028-4C8D-B01A-3914DDC6C900}"/>
              </a:ext>
            </a:extLst>
          </p:cNvPr>
          <p:cNvSpPr txBox="1">
            <a:spLocks/>
          </p:cNvSpPr>
          <p:nvPr/>
        </p:nvSpPr>
        <p:spPr bwMode="auto">
          <a:xfrm>
            <a:off x="457200" y="1320543"/>
            <a:ext cx="8229600" cy="6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defTabSz="914400">
              <a:lnSpc>
                <a:spcPct val="150000"/>
              </a:lnSpc>
            </a:pPr>
            <a:r>
              <a:rPr lang="en-US" altLang="zh-CN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pandas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21C4815-DB47-FD7E-77AF-3268AA964C01}"/>
              </a:ext>
            </a:extLst>
          </p:cNvPr>
          <p:cNvSpPr txBox="1"/>
          <p:nvPr/>
        </p:nvSpPr>
        <p:spPr>
          <a:xfrm>
            <a:off x="587379" y="1971930"/>
            <a:ext cx="8306364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pandas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是一个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数据分析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模块，提供了快速、灵活、类似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SQL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中表的数据结构，能够便捷、高效地处理具有不同字段、不同来源的数据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相关概念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DataFrame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数据类型：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类似于表的概念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，能够用标签对不同列进行标识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DataFrame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的一列是一个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Series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，每个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DataFrame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由多个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Series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组成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文件读取与写入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zh-CN" altLang="en-US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队列操作</a:t>
            </a:r>
            <a:endParaRPr lang="en-US" altLang="zh-CN" u="sng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70EA1BA-6264-34FA-85EA-9D99783645A7}"/>
              </a:ext>
            </a:extLst>
          </p:cNvPr>
          <p:cNvSpPr txBox="1"/>
          <p:nvPr/>
        </p:nvSpPr>
        <p:spPr>
          <a:xfrm>
            <a:off x="231728" y="4888858"/>
            <a:ext cx="8680544" cy="147732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新建一列，赋值为列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与列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df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[‘new’]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df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[‘A’] +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df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[‘B’]</a:t>
            </a: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新建一列，赋值为列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与列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的商，可以转换为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numpy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数组进行计算，提升性能</a:t>
            </a:r>
          </a:p>
          <a:p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df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[‘new’] =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df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[‘A’].values /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df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[‘B’].values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55197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认识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标准库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2/19/2024</a:t>
            </a:fld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EDF51-4307-4B3E-B14A-93826410B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26</a:t>
            </a:fld>
            <a:endParaRPr lang="en-US" altLang="zh-C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C546083-4028-4C8D-B01A-3914DDC6C900}"/>
              </a:ext>
            </a:extLst>
          </p:cNvPr>
          <p:cNvSpPr txBox="1">
            <a:spLocks/>
          </p:cNvSpPr>
          <p:nvPr/>
        </p:nvSpPr>
        <p:spPr bwMode="auto">
          <a:xfrm>
            <a:off x="457200" y="1320543"/>
            <a:ext cx="8229600" cy="6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defTabSz="914400">
              <a:lnSpc>
                <a:spcPct val="150000"/>
              </a:lnSpc>
            </a:pPr>
            <a:r>
              <a:rPr lang="en-US" altLang="zh-CN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pandas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21C4815-DB47-FD7E-77AF-3268AA964C01}"/>
              </a:ext>
            </a:extLst>
          </p:cNvPr>
          <p:cNvSpPr txBox="1"/>
          <p:nvPr/>
        </p:nvSpPr>
        <p:spPr>
          <a:xfrm>
            <a:off x="587379" y="1971930"/>
            <a:ext cx="8306364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pandas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是一个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数据分析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模块，提供了快速、灵活、类似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SQL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中表的数据结构，能够便捷、高效地处理具有不同字段、不同来源的数据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相关概念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DataFrame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数据类型：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类似于表的概念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，能够用标签对不同列进行标识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DataFrame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的一列是一个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Series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，每个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DataFrame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由多个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Series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组成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文件读取与写入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zh-CN" altLang="en-US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队列操作</a:t>
            </a:r>
            <a:endParaRPr lang="en-US" altLang="zh-CN" u="sng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C940E71-89AF-8CEC-D558-1105D478C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" y="4927448"/>
            <a:ext cx="7920000" cy="1668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9536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认识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标准库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2/19/2024</a:t>
            </a:fld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EDF51-4307-4B3E-B14A-93826410B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27</a:t>
            </a:fld>
            <a:endParaRPr lang="en-US" altLang="zh-C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C546083-4028-4C8D-B01A-3914DDC6C900}"/>
              </a:ext>
            </a:extLst>
          </p:cNvPr>
          <p:cNvSpPr txBox="1">
            <a:spLocks/>
          </p:cNvSpPr>
          <p:nvPr/>
        </p:nvSpPr>
        <p:spPr bwMode="auto">
          <a:xfrm>
            <a:off x="457200" y="1320543"/>
            <a:ext cx="8229600" cy="6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defTabSz="914400">
              <a:lnSpc>
                <a:spcPct val="150000"/>
              </a:lnSpc>
            </a:pPr>
            <a:r>
              <a:rPr lang="en-US" altLang="zh-CN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pandas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21C4815-DB47-FD7E-77AF-3268AA964C01}"/>
              </a:ext>
            </a:extLst>
          </p:cNvPr>
          <p:cNvSpPr txBox="1"/>
          <p:nvPr/>
        </p:nvSpPr>
        <p:spPr>
          <a:xfrm>
            <a:off x="587379" y="1971930"/>
            <a:ext cx="8306364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pandas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是一个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数据分析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模块，提供了快速、灵活、类似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SQL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中表的数据结构，能够便捷、高效地处理具有不同字段、不同来源的数据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相关概念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DataFrame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数据类型：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类似于表的概念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，能够用标签对不同列进行标识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DataFrame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的一列是一个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Series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，每个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DataFrame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由多个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Series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组成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文件读取与写入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队列操作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zh-CN" altLang="en-US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分组操作：将具有一个或多个相同字段的样本分为同一组，对这些组进行取平均值、最大值等操作</a:t>
            </a:r>
            <a:endParaRPr lang="en-US" altLang="zh-CN" u="sng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A05B20B-35EC-8FF4-7955-0EB94EE62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2000" y="5537457"/>
            <a:ext cx="5400000" cy="1257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016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认识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标准库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2/19/2024</a:t>
            </a:fld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EDF51-4307-4B3E-B14A-93826410B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28</a:t>
            </a:fld>
            <a:endParaRPr lang="en-US" altLang="zh-C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C546083-4028-4C8D-B01A-3914DDC6C900}"/>
              </a:ext>
            </a:extLst>
          </p:cNvPr>
          <p:cNvSpPr txBox="1">
            <a:spLocks/>
          </p:cNvSpPr>
          <p:nvPr/>
        </p:nvSpPr>
        <p:spPr bwMode="auto">
          <a:xfrm>
            <a:off x="457200" y="1320543"/>
            <a:ext cx="8229600" cy="6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defTabSz="914400">
              <a:lnSpc>
                <a:spcPct val="150000"/>
              </a:lnSpc>
            </a:pPr>
            <a:r>
              <a:rPr lang="en-US" altLang="zh-CN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pandas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21C4815-DB47-FD7E-77AF-3268AA964C01}"/>
              </a:ext>
            </a:extLst>
          </p:cNvPr>
          <p:cNvSpPr txBox="1"/>
          <p:nvPr/>
        </p:nvSpPr>
        <p:spPr>
          <a:xfrm>
            <a:off x="587379" y="1971930"/>
            <a:ext cx="8306364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pandas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是一个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数据分析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模块，提供了快速、灵活、类似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SQL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中表的数据结构，能够便捷、高效地处理具有不同字段、不同来源的数据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相关概念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DataFrame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数据类型：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类似于表的概念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，能够用标签对不同列进行标识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DataFrame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的一列是一个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Series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，每个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DataFrame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由多个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Series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组成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文件读取与写入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队列操作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分组操作：将具有一个或多个相同字段的样本分为同一组，对这些组进行取平均值、最大值等操作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DD1A9DE4-8D12-CE6D-0714-EDF5D7EEDD87}"/>
              </a:ext>
            </a:extLst>
          </p:cNvPr>
          <p:cNvGrpSpPr/>
          <p:nvPr/>
        </p:nvGrpSpPr>
        <p:grpSpPr>
          <a:xfrm>
            <a:off x="250257" y="533400"/>
            <a:ext cx="8640000" cy="6063896"/>
            <a:chOff x="250257" y="626055"/>
            <a:chExt cx="8640000" cy="6063896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5A05B20B-35EC-8FF4-7955-0EB94EE62E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70257" y="626055"/>
              <a:ext cx="5400000" cy="1257252"/>
            </a:xfrm>
            <a:prstGeom prst="rect">
              <a:avLst/>
            </a:prstGeom>
          </p:spPr>
        </p:pic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774B2D65-A13A-CD43-F0FD-47581372FD7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90257" y="2019549"/>
              <a:ext cx="7560000" cy="2758252"/>
              <a:chOff x="490509" y="2759072"/>
              <a:chExt cx="7903939" cy="2883738"/>
            </a:xfrm>
          </p:grpSpPr>
          <p:pic>
            <p:nvPicPr>
              <p:cNvPr id="8" name="图片 7">
                <a:extLst>
                  <a:ext uri="{FF2B5EF4-FFF2-40B4-BE49-F238E27FC236}">
                    <a16:creationId xmlns:a16="http://schemas.microsoft.com/office/drawing/2014/main" id="{D43201D6-C75F-0599-7746-35BD510A41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0509" y="2759072"/>
                <a:ext cx="7903938" cy="2253602"/>
              </a:xfrm>
              <a:prstGeom prst="rect">
                <a:avLst/>
              </a:prstGeom>
            </p:spPr>
          </p:pic>
          <p:pic>
            <p:nvPicPr>
              <p:cNvPr id="9" name="图片 8">
                <a:extLst>
                  <a:ext uri="{FF2B5EF4-FFF2-40B4-BE49-F238E27FC236}">
                    <a16:creationId xmlns:a16="http://schemas.microsoft.com/office/drawing/2014/main" id="{1E5F0142-9CAE-145D-F822-9348199C49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0510" y="5005575"/>
                <a:ext cx="7903938" cy="637235"/>
              </a:xfrm>
              <a:prstGeom prst="rect">
                <a:avLst/>
              </a:prstGeom>
            </p:spPr>
          </p:pic>
        </p:grpSp>
        <p:sp>
          <p:nvSpPr>
            <p:cNvPr id="12" name="箭头: 下 11">
              <a:extLst>
                <a:ext uri="{FF2B5EF4-FFF2-40B4-BE49-F238E27FC236}">
                  <a16:creationId xmlns:a16="http://schemas.microsoft.com/office/drawing/2014/main" id="{6DFD4232-09E3-5FC1-8EBB-D001E5331D3C}"/>
                </a:ext>
              </a:extLst>
            </p:cNvPr>
            <p:cNvSpPr/>
            <p:nvPr/>
          </p:nvSpPr>
          <p:spPr>
            <a:xfrm>
              <a:off x="4211051" y="1687321"/>
              <a:ext cx="587141" cy="406667"/>
            </a:xfrm>
            <a:prstGeom prst="down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96B45E7C-95F0-C93A-A053-69AF26AADE2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0257" y="4886071"/>
              <a:ext cx="8640000" cy="1803880"/>
              <a:chOff x="622690" y="2695205"/>
              <a:chExt cx="8372140" cy="1747956"/>
            </a:xfrm>
          </p:grpSpPr>
          <p:pic>
            <p:nvPicPr>
              <p:cNvPr id="14" name="图片 13">
                <a:extLst>
                  <a:ext uri="{FF2B5EF4-FFF2-40B4-BE49-F238E27FC236}">
                    <a16:creationId xmlns:a16="http://schemas.microsoft.com/office/drawing/2014/main" id="{AFB749A0-799F-4D65-1EA0-BCDDB0BF05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2690" y="2695205"/>
                <a:ext cx="8372140" cy="900992"/>
              </a:xfrm>
              <a:prstGeom prst="rect">
                <a:avLst/>
              </a:prstGeom>
            </p:spPr>
          </p:pic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8F7EEB30-E489-110A-9849-64B18EF990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22690" y="3594275"/>
                <a:ext cx="8372140" cy="846281"/>
              </a:xfrm>
              <a:prstGeom prst="rect">
                <a:avLst/>
              </a:prstGeom>
            </p:spPr>
          </p:pic>
          <p:pic>
            <p:nvPicPr>
              <p:cNvPr id="16" name="图片 15">
                <a:extLst>
                  <a:ext uri="{FF2B5EF4-FFF2-40B4-BE49-F238E27FC236}">
                    <a16:creationId xmlns:a16="http://schemas.microsoft.com/office/drawing/2014/main" id="{D7351B75-5420-6BDB-AE48-E938130505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2690" y="3574135"/>
                <a:ext cx="257843" cy="869026"/>
              </a:xfrm>
              <a:prstGeom prst="rect">
                <a:avLst/>
              </a:prstGeom>
            </p:spPr>
          </p:pic>
          <p:pic>
            <p:nvPicPr>
              <p:cNvPr id="17" name="图片 16">
                <a:extLst>
                  <a:ext uri="{FF2B5EF4-FFF2-40B4-BE49-F238E27FC236}">
                    <a16:creationId xmlns:a16="http://schemas.microsoft.com/office/drawing/2014/main" id="{1AE1EDDF-58C2-A7DA-EEBC-CA5B1C1DD9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345440" y="3591670"/>
                <a:ext cx="562569" cy="221339"/>
              </a:xfrm>
              <a:prstGeom prst="rect">
                <a:avLst/>
              </a:prstGeom>
            </p:spPr>
          </p:pic>
        </p:grpSp>
        <p:sp>
          <p:nvSpPr>
            <p:cNvPr id="19" name="箭头: 下 18">
              <a:extLst>
                <a:ext uri="{FF2B5EF4-FFF2-40B4-BE49-F238E27FC236}">
                  <a16:creationId xmlns:a16="http://schemas.microsoft.com/office/drawing/2014/main" id="{99763ECC-54F1-9CFF-7AAE-B5110D312717}"/>
                </a:ext>
              </a:extLst>
            </p:cNvPr>
            <p:cNvSpPr/>
            <p:nvPr/>
          </p:nvSpPr>
          <p:spPr>
            <a:xfrm>
              <a:off x="4211050" y="4574467"/>
              <a:ext cx="587141" cy="406667"/>
            </a:xfrm>
            <a:prstGeom prst="down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817993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认识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标准库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2/19/2024</a:t>
            </a:fld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EDF51-4307-4B3E-B14A-93826410B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29</a:t>
            </a:fld>
            <a:endParaRPr lang="en-US" altLang="zh-C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C546083-4028-4C8D-B01A-3914DDC6C900}"/>
              </a:ext>
            </a:extLst>
          </p:cNvPr>
          <p:cNvSpPr txBox="1">
            <a:spLocks/>
          </p:cNvSpPr>
          <p:nvPr/>
        </p:nvSpPr>
        <p:spPr bwMode="auto">
          <a:xfrm>
            <a:off x="457200" y="1320543"/>
            <a:ext cx="8229600" cy="6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defTabSz="914400">
              <a:lnSpc>
                <a:spcPct val="150000"/>
              </a:lnSpc>
            </a:pPr>
            <a:r>
              <a:rPr lang="en-US" altLang="zh-CN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pandas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21C4815-DB47-FD7E-77AF-3268AA964C01}"/>
              </a:ext>
            </a:extLst>
          </p:cNvPr>
          <p:cNvSpPr txBox="1"/>
          <p:nvPr/>
        </p:nvSpPr>
        <p:spPr>
          <a:xfrm>
            <a:off x="587379" y="1971930"/>
            <a:ext cx="8306364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pandas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是一个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数据分析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模块，提供了快速、灵活、类似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SQL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中表的数据结构，能够便捷、高效地处理具有不同字段、不同来源的数据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相关概念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DataFrame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数据类型：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类似于表的概念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，能够用标签对不同列进行标识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DataFrame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的一列是一个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Series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，每个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DataFrame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由多个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Series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组成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文件读取与写入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队列操作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分组操作：将具有一个或多个相同字段的样本分为同一组，对这些组进行取平均值、最大值等操作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zh-CN" altLang="en-US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数据拼接：主要有三种，分别为 </a:t>
            </a:r>
            <a:r>
              <a:rPr lang="en-US" altLang="zh-CN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append</a:t>
            </a:r>
            <a:r>
              <a:rPr lang="zh-CN" altLang="en-US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u="sng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concat</a:t>
            </a:r>
            <a:r>
              <a:rPr lang="zh-CN" altLang="en-US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merge</a:t>
            </a:r>
          </a:p>
        </p:txBody>
      </p:sp>
    </p:spTree>
    <p:extLst>
      <p:ext uri="{BB962C8B-B14F-4D97-AF65-F5344CB8AC3E}">
        <p14:creationId xmlns:p14="http://schemas.microsoft.com/office/powerpoint/2010/main" val="39099930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认识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标准库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2/19/2024</a:t>
            </a:fld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EDF51-4307-4B3E-B14A-93826410B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30</a:t>
            </a:fld>
            <a:endParaRPr lang="en-US" altLang="zh-C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C546083-4028-4C8D-B01A-3914DDC6C900}"/>
              </a:ext>
            </a:extLst>
          </p:cNvPr>
          <p:cNvSpPr txBox="1">
            <a:spLocks/>
          </p:cNvSpPr>
          <p:nvPr/>
        </p:nvSpPr>
        <p:spPr bwMode="auto">
          <a:xfrm>
            <a:off x="457200" y="1320543"/>
            <a:ext cx="8229600" cy="6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defTabSz="914400">
              <a:lnSpc>
                <a:spcPct val="150000"/>
              </a:lnSpc>
            </a:pPr>
            <a:r>
              <a:rPr lang="en-US" altLang="zh-CN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pandas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21C4815-DB47-FD7E-77AF-3268AA964C01}"/>
              </a:ext>
            </a:extLst>
          </p:cNvPr>
          <p:cNvSpPr txBox="1"/>
          <p:nvPr/>
        </p:nvSpPr>
        <p:spPr>
          <a:xfrm>
            <a:off x="587379" y="1971930"/>
            <a:ext cx="8306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spcAft>
                <a:spcPts val="600"/>
              </a:spcAft>
              <a:buFont typeface="+mj-ea"/>
              <a:buAutoNum type="circleNumDbPlain" startAt="6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数据拼接：主要有三种，分别为 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append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concat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merge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2DAC205-0C6E-AA3B-9C83-CA4367AD8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2000" y="2623317"/>
            <a:ext cx="5760000" cy="3086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1358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认识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标准库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2/19/2024</a:t>
            </a:fld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EDF51-4307-4B3E-B14A-93826410B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31</a:t>
            </a:fld>
            <a:endParaRPr lang="en-US" altLang="zh-C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C546083-4028-4C8D-B01A-3914DDC6C900}"/>
              </a:ext>
            </a:extLst>
          </p:cNvPr>
          <p:cNvSpPr txBox="1">
            <a:spLocks/>
          </p:cNvSpPr>
          <p:nvPr/>
        </p:nvSpPr>
        <p:spPr bwMode="auto">
          <a:xfrm>
            <a:off x="457200" y="1320543"/>
            <a:ext cx="8229600" cy="6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defTabSz="914400">
              <a:lnSpc>
                <a:spcPct val="150000"/>
              </a:lnSpc>
            </a:pPr>
            <a:r>
              <a:rPr lang="en-US" altLang="zh-CN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pandas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21C4815-DB47-FD7E-77AF-3268AA964C01}"/>
              </a:ext>
            </a:extLst>
          </p:cNvPr>
          <p:cNvSpPr txBox="1"/>
          <p:nvPr/>
        </p:nvSpPr>
        <p:spPr>
          <a:xfrm>
            <a:off x="587379" y="1971930"/>
            <a:ext cx="8306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spcAft>
                <a:spcPts val="600"/>
              </a:spcAft>
              <a:buFont typeface="+mj-ea"/>
              <a:buAutoNum type="circleNumDbPlain" startAt="6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数据拼接：主要有三种，分别为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append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concat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merge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902A2E28-825A-1B57-869D-269FF8233FAB}"/>
              </a:ext>
            </a:extLst>
          </p:cNvPr>
          <p:cNvGrpSpPr>
            <a:grpSpLocks noChangeAspect="1"/>
          </p:cNvGrpSpPr>
          <p:nvPr/>
        </p:nvGrpSpPr>
        <p:grpSpPr>
          <a:xfrm>
            <a:off x="1152000" y="2627898"/>
            <a:ext cx="6840000" cy="2909559"/>
            <a:chOff x="600460" y="3414041"/>
            <a:chExt cx="7205054" cy="3064843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FB6F46E9-88B7-6DA0-E8A3-422A0E8A85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0460" y="3414041"/>
              <a:ext cx="6907804" cy="2431173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1E991CA6-78EB-0BAF-CB77-E8AC8D69946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-4247"/>
            <a:stretch/>
          </p:blipFill>
          <p:spPr>
            <a:xfrm>
              <a:off x="600460" y="5845214"/>
              <a:ext cx="7205054" cy="6336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699834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认识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标准库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2/19/2024</a:t>
            </a:fld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EDF51-4307-4B3E-B14A-93826410B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32</a:t>
            </a:fld>
            <a:endParaRPr lang="en-US" altLang="zh-C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C546083-4028-4C8D-B01A-3914DDC6C900}"/>
              </a:ext>
            </a:extLst>
          </p:cNvPr>
          <p:cNvSpPr txBox="1">
            <a:spLocks/>
          </p:cNvSpPr>
          <p:nvPr/>
        </p:nvSpPr>
        <p:spPr bwMode="auto">
          <a:xfrm>
            <a:off x="457200" y="1320543"/>
            <a:ext cx="8229600" cy="6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defTabSz="914400">
              <a:lnSpc>
                <a:spcPct val="150000"/>
              </a:lnSpc>
            </a:pPr>
            <a:r>
              <a:rPr lang="en-US" altLang="zh-CN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pandas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21C4815-DB47-FD7E-77AF-3268AA964C01}"/>
              </a:ext>
            </a:extLst>
          </p:cNvPr>
          <p:cNvSpPr txBox="1"/>
          <p:nvPr/>
        </p:nvSpPr>
        <p:spPr>
          <a:xfrm>
            <a:off x="587379" y="1971930"/>
            <a:ext cx="8306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spcAft>
                <a:spcPts val="600"/>
              </a:spcAft>
              <a:buFont typeface="+mj-ea"/>
              <a:buAutoNum type="circleNumDbPlain" startAt="6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数据拼接：主要有三种，分别为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append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concat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merge</a:t>
            </a:r>
            <a:endParaRPr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83C516E-C764-1261-C744-157FDECFF762}"/>
              </a:ext>
            </a:extLst>
          </p:cNvPr>
          <p:cNvSpPr txBox="1"/>
          <p:nvPr/>
        </p:nvSpPr>
        <p:spPr>
          <a:xfrm>
            <a:off x="1164600" y="2540147"/>
            <a:ext cx="6814800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merge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与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SQL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中表的连接方法类似，在应用中可自定义连接规则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2BD95A7F-5414-AA19-99EE-15DB41585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000" y="3108364"/>
            <a:ext cx="5760000" cy="3562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02903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认识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标准库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2/19/2024</a:t>
            </a:fld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EDF51-4307-4B3E-B14A-93826410B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33</a:t>
            </a:fld>
            <a:endParaRPr lang="en-US" altLang="zh-C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C546083-4028-4C8D-B01A-3914DDC6C900}"/>
              </a:ext>
            </a:extLst>
          </p:cNvPr>
          <p:cNvSpPr txBox="1">
            <a:spLocks/>
          </p:cNvSpPr>
          <p:nvPr/>
        </p:nvSpPr>
        <p:spPr bwMode="auto">
          <a:xfrm>
            <a:off x="457200" y="1320543"/>
            <a:ext cx="8229600" cy="6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defTabSz="914400">
              <a:lnSpc>
                <a:spcPct val="150000"/>
              </a:lnSpc>
            </a:pPr>
            <a:r>
              <a:rPr lang="en-US" altLang="zh-CN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pandas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21C4815-DB47-FD7E-77AF-3268AA964C01}"/>
              </a:ext>
            </a:extLst>
          </p:cNvPr>
          <p:cNvSpPr txBox="1"/>
          <p:nvPr/>
        </p:nvSpPr>
        <p:spPr>
          <a:xfrm>
            <a:off x="587379" y="1971930"/>
            <a:ext cx="8306364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pandas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是一个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数据分析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模块，提供了快速、灵活、类似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SQL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中表的数据结构，能够便捷、高效地处理具有不同字段、不同来源的数据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相关概念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DataFrame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数据类型：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类似于表的概念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，能够用标签对不同列进行标识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DataFrame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的一列是一个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Series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，每个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DataFrame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由多个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Series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组成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文件读取与写入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队列操作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分组操作：将具有一个或多个相同字段的样本分为同一组，对这些组进行取平均值、最大值等操作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数据拼接：主要有三种，分别为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append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concat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merge</a:t>
            </a: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zh-CN" altLang="en-US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统计特征函数：计算统计数据的均值、方差、标准差、分位数、相关系数、协方差等</a:t>
            </a:r>
            <a:endParaRPr lang="en-US" altLang="zh-CN" u="sng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041627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认识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标准库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2/19/2024</a:t>
            </a:fld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EDF51-4307-4B3E-B14A-93826410B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34</a:t>
            </a:fld>
            <a:endParaRPr lang="en-US" altLang="zh-C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C546083-4028-4C8D-B01A-3914DDC6C900}"/>
              </a:ext>
            </a:extLst>
          </p:cNvPr>
          <p:cNvSpPr txBox="1">
            <a:spLocks/>
          </p:cNvSpPr>
          <p:nvPr/>
        </p:nvSpPr>
        <p:spPr bwMode="auto">
          <a:xfrm>
            <a:off x="457200" y="1320543"/>
            <a:ext cx="8229600" cy="6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defTabSz="914400">
              <a:lnSpc>
                <a:spcPct val="150000"/>
              </a:lnSpc>
            </a:pPr>
            <a:r>
              <a:rPr lang="en-US" altLang="zh-CN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pandas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21C4815-DB47-FD7E-77AF-3268AA964C01}"/>
              </a:ext>
            </a:extLst>
          </p:cNvPr>
          <p:cNvSpPr txBox="1"/>
          <p:nvPr/>
        </p:nvSpPr>
        <p:spPr>
          <a:xfrm>
            <a:off x="587379" y="1971930"/>
            <a:ext cx="8306364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pandas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是一个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数据分析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模块，提供了快速、灵活、类似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SQL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中表的数据结构，能够便捷、高效地处理具有不同字段、不同来源的数据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相关概念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DataFrame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数据类型：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类似于表的概念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，能够用标签对不同列进行标识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DataFrame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的一列是一个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Series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，每个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DataFrame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由多个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Series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组成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文件读取与写入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队列操作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分组操作：将具有一个或多个相同字段的样本分为同一组，对这些组进行取平均值、最大值等操作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数据拼接：主要有三种，分别为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append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concat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merge</a:t>
            </a: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统计特征函数：计算统计数据的均值、方差、标准差、分位数、相关系数、协方差等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2BF11D0-5152-F391-955E-6F2F763C6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" y="1581504"/>
            <a:ext cx="9000000" cy="51666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41564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认识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标准库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2/19/2024</a:t>
            </a:fld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EDF51-4307-4B3E-B14A-93826410B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35</a:t>
            </a:fld>
            <a:endParaRPr lang="en-US" altLang="zh-C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C546083-4028-4C8D-B01A-3914DDC6C900}"/>
              </a:ext>
            </a:extLst>
          </p:cNvPr>
          <p:cNvSpPr txBox="1">
            <a:spLocks/>
          </p:cNvSpPr>
          <p:nvPr/>
        </p:nvSpPr>
        <p:spPr bwMode="auto">
          <a:xfrm>
            <a:off x="457200" y="1320543"/>
            <a:ext cx="8229600" cy="6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defTabSz="914400">
              <a:lnSpc>
                <a:spcPct val="150000"/>
              </a:lnSpc>
            </a:pPr>
            <a:r>
              <a:rPr lang="en-US" altLang="zh-CN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matplotlib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21C4815-DB47-FD7E-77AF-3268AA964C01}"/>
              </a:ext>
            </a:extLst>
          </p:cNvPr>
          <p:cNvSpPr txBox="1"/>
          <p:nvPr/>
        </p:nvSpPr>
        <p:spPr>
          <a:xfrm>
            <a:off x="587379" y="1971930"/>
            <a:ext cx="8306364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matplotlib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是一个绘图工具，主要有以下几大功能：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基本绘图：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自带一些常用图形的绘制函数，例如散点图、条形图、直方图、堆积图、饼图、轮廓图等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00EC5F0-3624-B34C-0ED4-EA7E36177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00" y="2972204"/>
            <a:ext cx="7200000" cy="3761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3021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认识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标准库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2/19/2024</a:t>
            </a:fld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EDF51-4307-4B3E-B14A-93826410B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36</a:t>
            </a:fld>
            <a:endParaRPr lang="en-US" altLang="zh-C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C546083-4028-4C8D-B01A-3914DDC6C900}"/>
              </a:ext>
            </a:extLst>
          </p:cNvPr>
          <p:cNvSpPr txBox="1">
            <a:spLocks/>
          </p:cNvSpPr>
          <p:nvPr/>
        </p:nvSpPr>
        <p:spPr bwMode="auto">
          <a:xfrm>
            <a:off x="457200" y="1320543"/>
            <a:ext cx="8229600" cy="6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defTabSz="914400">
              <a:lnSpc>
                <a:spcPct val="150000"/>
              </a:lnSpc>
            </a:pPr>
            <a:r>
              <a:rPr lang="en-US" altLang="zh-CN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matplotlib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21C4815-DB47-FD7E-77AF-3268AA964C01}"/>
              </a:ext>
            </a:extLst>
          </p:cNvPr>
          <p:cNvSpPr txBox="1"/>
          <p:nvPr/>
        </p:nvSpPr>
        <p:spPr>
          <a:xfrm>
            <a:off x="587379" y="1971930"/>
            <a:ext cx="830636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matplotlib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是一个绘图工具，主要有以下几大功能：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基本绘图：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自带一些常用图形的绘制函数，例如散点图、条形图、直方图、堆积图、饼图、轮廓图等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精细化绘图：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不仅能绘制基本的图表，还能基于各类参数对绘制图表的颜色、风格、坐标轴的范围和标签、图片的标注等进行深度定制和修改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759BDBBE-D94E-E17C-C272-7C377C48B436}"/>
              </a:ext>
            </a:extLst>
          </p:cNvPr>
          <p:cNvGrpSpPr/>
          <p:nvPr/>
        </p:nvGrpSpPr>
        <p:grpSpPr>
          <a:xfrm>
            <a:off x="457200" y="3710411"/>
            <a:ext cx="8394061" cy="2880000"/>
            <a:chOff x="162560" y="3603146"/>
            <a:chExt cx="8394061" cy="2880000"/>
          </a:xfrm>
        </p:grpSpPr>
        <p:pic>
          <p:nvPicPr>
            <p:cNvPr id="2" name="Picture 2" descr="https://ss0.bdstatic.com/70cFuHSh_Q1YnxGkpoWK1HF6hhy/it/u=474408355,3133770417&amp;fm=26&amp;gp=0.jpg">
              <a:extLst>
                <a:ext uri="{FF2B5EF4-FFF2-40B4-BE49-F238E27FC236}">
                  <a16:creationId xmlns:a16="http://schemas.microsoft.com/office/drawing/2014/main" id="{FC538946-EB12-D662-CB61-0503FC7280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42335" y="3603146"/>
              <a:ext cx="3214286" cy="28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0" descr="https://ss2.bdstatic.com/70cFvnSh_Q1YnxGkpoWK1HF6hhy/it/u=112310568,2278126580&amp;fm=26&amp;gp=0.jpg">
              <a:extLst>
                <a:ext uri="{FF2B5EF4-FFF2-40B4-BE49-F238E27FC236}">
                  <a16:creationId xmlns:a16="http://schemas.microsoft.com/office/drawing/2014/main" id="{83396959-9183-09A7-E4E4-1C5C0DE91D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2560" y="3603146"/>
              <a:ext cx="5149998" cy="28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341698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认识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标准库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2/19/2024</a:t>
            </a:fld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EDF51-4307-4B3E-B14A-93826410B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37</a:t>
            </a:fld>
            <a:endParaRPr lang="en-US" altLang="zh-C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C546083-4028-4C8D-B01A-3914DDC6C900}"/>
              </a:ext>
            </a:extLst>
          </p:cNvPr>
          <p:cNvSpPr txBox="1">
            <a:spLocks/>
          </p:cNvSpPr>
          <p:nvPr/>
        </p:nvSpPr>
        <p:spPr bwMode="auto">
          <a:xfrm>
            <a:off x="457200" y="1320543"/>
            <a:ext cx="8229600" cy="6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defTabSz="914400">
              <a:lnSpc>
                <a:spcPct val="150000"/>
              </a:lnSpc>
            </a:pPr>
            <a:r>
              <a:rPr lang="en-US" altLang="zh-CN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matplotlib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21C4815-DB47-FD7E-77AF-3268AA964C01}"/>
              </a:ext>
            </a:extLst>
          </p:cNvPr>
          <p:cNvSpPr txBox="1"/>
          <p:nvPr/>
        </p:nvSpPr>
        <p:spPr>
          <a:xfrm>
            <a:off x="587379" y="1971930"/>
            <a:ext cx="8306364" cy="198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matplotlib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是一个绘图工具，主要有以下几大功能：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基本绘图：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自带一些常用图形的绘制函数，例如散点图、条形图、直方图、堆积图、饼图、轮廓图等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精细化绘图：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不仅能绘制基本的图表，还能基于各类参数对绘制图表的颜色、风格、坐标轴的范围和标签、图片的标注等进行深度定制和修改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拓展应用：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其他高阶绘图功能，例如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绘图、地理绘图等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737C9D5D-5F86-70CF-1B80-5C81213B49C2}"/>
              </a:ext>
            </a:extLst>
          </p:cNvPr>
          <p:cNvGrpSpPr/>
          <p:nvPr/>
        </p:nvGrpSpPr>
        <p:grpSpPr>
          <a:xfrm>
            <a:off x="833833" y="3968668"/>
            <a:ext cx="7476334" cy="2520000"/>
            <a:chOff x="737453" y="3957089"/>
            <a:chExt cx="7476334" cy="2520000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B5934348-5A95-E02B-719A-151F1DFFF5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97452" y="3957089"/>
              <a:ext cx="4116335" cy="2520000"/>
            </a:xfrm>
            <a:prstGeom prst="rect">
              <a:avLst/>
            </a:prstGeom>
          </p:spPr>
        </p:pic>
        <p:pic>
          <p:nvPicPr>
            <p:cNvPr id="12" name="Picture 2" descr="https://ss1.bdstatic.com/70cFvXSh_Q1YnxGkpoWK1HF6hhy/it/u=3783632390,3844086423&amp;fm=26&amp;gp=0.jpg">
              <a:extLst>
                <a:ext uri="{FF2B5EF4-FFF2-40B4-BE49-F238E27FC236}">
                  <a16:creationId xmlns:a16="http://schemas.microsoft.com/office/drawing/2014/main" id="{A6A440AC-7CD9-4D96-C954-53118B7D09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7453" y="3957089"/>
              <a:ext cx="3359999" cy="252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A6FD048A-83E5-F1AB-AB2D-60E554EAB217}"/>
              </a:ext>
            </a:extLst>
          </p:cNvPr>
          <p:cNvSpPr txBox="1"/>
          <p:nvPr/>
        </p:nvSpPr>
        <p:spPr>
          <a:xfrm>
            <a:off x="587380" y="6488668"/>
            <a:ext cx="2906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https://seaborn.pydata.org/</a:t>
            </a:r>
          </a:p>
        </p:txBody>
      </p:sp>
    </p:spTree>
    <p:extLst>
      <p:ext uri="{BB962C8B-B14F-4D97-AF65-F5344CB8AC3E}">
        <p14:creationId xmlns:p14="http://schemas.microsoft.com/office/powerpoint/2010/main" val="17389101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认识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标准库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2/19/2024</a:t>
            </a:fld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EDF51-4307-4B3E-B14A-93826410B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38</a:t>
            </a:fld>
            <a:endParaRPr lang="en-US" altLang="zh-C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C546083-4028-4C8D-B01A-3914DDC6C900}"/>
              </a:ext>
            </a:extLst>
          </p:cNvPr>
          <p:cNvSpPr txBox="1">
            <a:spLocks/>
          </p:cNvSpPr>
          <p:nvPr/>
        </p:nvSpPr>
        <p:spPr bwMode="auto">
          <a:xfrm>
            <a:off x="457200" y="1320543"/>
            <a:ext cx="8229600" cy="6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defTabSz="914400">
              <a:lnSpc>
                <a:spcPct val="150000"/>
              </a:lnSpc>
            </a:pPr>
            <a:r>
              <a:rPr lang="en-US" altLang="zh-CN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scikit-learn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21C4815-DB47-FD7E-77AF-3268AA964C01}"/>
              </a:ext>
            </a:extLst>
          </p:cNvPr>
          <p:cNvSpPr txBox="1"/>
          <p:nvPr/>
        </p:nvSpPr>
        <p:spPr>
          <a:xfrm>
            <a:off x="587379" y="1971930"/>
            <a:ext cx="8306364" cy="3954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scikit-learn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sklearn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）是一个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机器学习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模块，封装了在构建机器学习模型时需要用到的相关功能，对各类模型的调用方法进行了统一化处理，减少了使用者的学习成本，能够快捷、方便地实现所需功能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scikit-learn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提供了一些接口函数，能够直接进行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标准化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数据缩放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特征编码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缺失值填充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样本空间降维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等数据预处理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scikit-learn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内置了许多常用模型：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257300" lvl="2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分类：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支持向量机、贝叶斯模型、决策树、集成学习等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257300" lvl="2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回归：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简单线性模型、广义线性模型、支持向量机回归、决策树回归、岭回归等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257300" lvl="2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聚类：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k-means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DBSCAN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、层次聚类等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257300" lvl="2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模型参数标定、模型选择等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5603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认识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标准库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2/19/2024</a:t>
            </a:fld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EDF51-4307-4B3E-B14A-93826410B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39</a:t>
            </a:fld>
            <a:endParaRPr lang="en-US" altLang="zh-C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C546083-4028-4C8D-B01A-3914DDC6C900}"/>
              </a:ext>
            </a:extLst>
          </p:cNvPr>
          <p:cNvSpPr txBox="1">
            <a:spLocks/>
          </p:cNvSpPr>
          <p:nvPr/>
        </p:nvSpPr>
        <p:spPr bwMode="auto">
          <a:xfrm>
            <a:off x="457200" y="1320543"/>
            <a:ext cx="8229600" cy="6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defTabSz="914400">
              <a:lnSpc>
                <a:spcPct val="150000"/>
              </a:lnSpc>
            </a:pPr>
            <a:r>
              <a:rPr lang="en-US" altLang="zh-CN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scikit-learn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21C4815-DB47-FD7E-77AF-3268AA964C01}"/>
              </a:ext>
            </a:extLst>
          </p:cNvPr>
          <p:cNvSpPr txBox="1"/>
          <p:nvPr/>
        </p:nvSpPr>
        <p:spPr>
          <a:xfrm>
            <a:off x="587379" y="1971930"/>
            <a:ext cx="8306364" cy="3954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scikit-learn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sklearn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）是一个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机器学习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模块，封装了在构建机器学习模型时需要用到的相关功能，对各类模型的调用方法进行了统一化处理，减少了使用者的学习成本，能够快捷、方便地实现所需功能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scikit-learn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提供了一些接口函数，能够直接进行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标准化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数据缩放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特征编码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缺失值填充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样本空间降维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等数据预处理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scikit-learn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内置了许多常用模型：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257300" lvl="2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分类：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支持向量机、贝叶斯模型、决策树、集成学习等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257300" lvl="2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回归：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简单线性模型、广义线性模型、支持向量机回归、决策树回归、岭回归等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257300" lvl="2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聚类：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k-means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DBSCAN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、层次聚类等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257300" lvl="2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模型参数标定、模型选择等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126" name="Picture 6" descr="Linear Regression: The Easier Way | by SAGAR SHARMA | Towards Data Science">
            <a:extLst>
              <a:ext uri="{FF2B5EF4-FFF2-40B4-BE49-F238E27FC236}">
                <a16:creationId xmlns:a16="http://schemas.microsoft.com/office/drawing/2014/main" id="{F0A0D7EB-93E3-4B43-578B-480CA51A2E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0" y="1970253"/>
            <a:ext cx="9000000" cy="3958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37387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认识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标准库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2/19/2024</a:t>
            </a:fld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EDF51-4307-4B3E-B14A-93826410B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40</a:t>
            </a:fld>
            <a:endParaRPr lang="en-US" altLang="zh-C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C546083-4028-4C8D-B01A-3914DDC6C900}"/>
              </a:ext>
            </a:extLst>
          </p:cNvPr>
          <p:cNvSpPr txBox="1">
            <a:spLocks/>
          </p:cNvSpPr>
          <p:nvPr/>
        </p:nvSpPr>
        <p:spPr bwMode="auto">
          <a:xfrm>
            <a:off x="457200" y="1320543"/>
            <a:ext cx="8229600" cy="6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defTabSz="914400">
              <a:lnSpc>
                <a:spcPct val="150000"/>
              </a:lnSpc>
            </a:pPr>
            <a:r>
              <a:rPr lang="en-US" altLang="zh-CN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TensorFlow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21C4815-DB47-FD7E-77AF-3268AA964C01}"/>
              </a:ext>
            </a:extLst>
          </p:cNvPr>
          <p:cNvSpPr txBox="1"/>
          <p:nvPr/>
        </p:nvSpPr>
        <p:spPr>
          <a:xfrm>
            <a:off x="587379" y="1971930"/>
            <a:ext cx="8306364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TensorFlow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谷歌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开发的一个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开源机器学习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框架，提供了不同层级的模型接口，能实现简洁、快速的模型调用，也能借助底层接口实现高度定制化的机器学习模型构建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u="sng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TensorFlow </a:t>
            </a:r>
            <a:r>
              <a:rPr lang="zh-CN" altLang="en-US" u="sng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能够在 </a:t>
            </a:r>
            <a:r>
              <a:rPr lang="en-US" altLang="zh-CN" u="sng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CPU </a:t>
            </a:r>
            <a:r>
              <a:rPr lang="zh-CN" altLang="en-US" u="sng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 </a:t>
            </a:r>
            <a:r>
              <a:rPr lang="en-US" altLang="zh-CN" u="sng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GPU </a:t>
            </a:r>
            <a:r>
              <a:rPr lang="zh-CN" altLang="en-US" u="sng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上运行，</a:t>
            </a:r>
            <a:r>
              <a:rPr lang="en-US" altLang="zh-CN" u="sng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GPU</a:t>
            </a:r>
            <a:r>
              <a:rPr lang="zh-CN" altLang="en-US" u="sng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能够极大提升神经网络的训练和推理速度，但对电脑的</a:t>
            </a:r>
            <a:r>
              <a:rPr lang="en-US" altLang="zh-CN" u="sng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GPU</a:t>
            </a:r>
            <a:r>
              <a:rPr lang="zh-CN" altLang="en-US" u="sng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具有一定的性能要求</a:t>
            </a:r>
            <a:endParaRPr lang="en-US" altLang="zh-CN" u="sng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1C5613D-70F9-DFEE-8C05-B4911CBE648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3214"/>
          <a:stretch/>
        </p:blipFill>
        <p:spPr>
          <a:xfrm>
            <a:off x="432000" y="3596197"/>
            <a:ext cx="8280000" cy="320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9779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认识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标准库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2/19/2024</a:t>
            </a:fld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EDF51-4307-4B3E-B14A-93826410B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41</a:t>
            </a:fld>
            <a:endParaRPr lang="en-US" altLang="zh-C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C546083-4028-4C8D-B01A-3914DDC6C900}"/>
              </a:ext>
            </a:extLst>
          </p:cNvPr>
          <p:cNvSpPr txBox="1">
            <a:spLocks/>
          </p:cNvSpPr>
          <p:nvPr/>
        </p:nvSpPr>
        <p:spPr bwMode="auto">
          <a:xfrm>
            <a:off x="457200" y="1320543"/>
            <a:ext cx="8229600" cy="6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defTabSz="914400">
              <a:lnSpc>
                <a:spcPct val="150000"/>
              </a:lnSpc>
            </a:pPr>
            <a:r>
              <a:rPr lang="en-US" altLang="zh-CN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TensorFlow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21C4815-DB47-FD7E-77AF-3268AA964C01}"/>
              </a:ext>
            </a:extLst>
          </p:cNvPr>
          <p:cNvSpPr txBox="1"/>
          <p:nvPr/>
        </p:nvSpPr>
        <p:spPr>
          <a:xfrm>
            <a:off x="587379" y="1971930"/>
            <a:ext cx="830636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TensorFlow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谷歌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开发的一个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开源机器学习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框架，提供了不同层级的模型接口，能实现简洁、快速的模型调用，也能借助底层接口实现高度定制化的机器学习模型构建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 startAt="2"/>
            </a:pPr>
            <a:r>
              <a:rPr lang="en-US" altLang="zh-CN" u="sng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Colaboratory</a:t>
            </a:r>
            <a:r>
              <a:rPr lang="zh-CN" altLang="en-US" u="sng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：基于浏览器的编程环境（托管式</a:t>
            </a:r>
            <a:r>
              <a:rPr lang="en-US" altLang="zh-CN" u="sng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Jupyter Notebook</a:t>
            </a:r>
            <a:r>
              <a:rPr lang="zh-CN" altLang="en-US" u="sng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u="sng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C3A5029-8580-6D9F-6823-0C7E37BA64F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7183"/>
          <a:stretch/>
        </p:blipFill>
        <p:spPr>
          <a:xfrm>
            <a:off x="72000" y="3429000"/>
            <a:ext cx="9000000" cy="324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4682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认识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标准库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2/19/2024</a:t>
            </a:fld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EDF51-4307-4B3E-B14A-93826410B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42</a:t>
            </a:fld>
            <a:endParaRPr lang="en-US" altLang="zh-C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C546083-4028-4C8D-B01A-3914DDC6C900}"/>
              </a:ext>
            </a:extLst>
          </p:cNvPr>
          <p:cNvSpPr txBox="1">
            <a:spLocks/>
          </p:cNvSpPr>
          <p:nvPr/>
        </p:nvSpPr>
        <p:spPr bwMode="auto">
          <a:xfrm>
            <a:off x="457200" y="1320543"/>
            <a:ext cx="8229600" cy="6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defTabSz="914400">
              <a:lnSpc>
                <a:spcPct val="150000"/>
              </a:lnSpc>
            </a:pPr>
            <a:r>
              <a:rPr lang="en-US" altLang="zh-CN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TensorFlow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21C4815-DB47-FD7E-77AF-3268AA964C01}"/>
              </a:ext>
            </a:extLst>
          </p:cNvPr>
          <p:cNvSpPr txBox="1"/>
          <p:nvPr/>
        </p:nvSpPr>
        <p:spPr>
          <a:xfrm>
            <a:off x="587379" y="1971930"/>
            <a:ext cx="8306364" cy="423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TensorFlow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谷歌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开发的一个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开源机器学习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框架，提供了不同层级的模型接口，能实现简洁、快速的模型调用，也能借助底层接口实现高度定制化的机器学习模型构建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 startAt="3"/>
            </a:pPr>
            <a:r>
              <a:rPr lang="en-US" altLang="zh-CN" u="sng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Keras</a:t>
            </a:r>
            <a:r>
              <a:rPr lang="zh-CN" altLang="en-US" u="sng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u="sng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TensorFlow </a:t>
            </a:r>
            <a:r>
              <a:rPr lang="zh-CN" altLang="en-US" u="sng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高阶 </a:t>
            </a:r>
            <a:r>
              <a:rPr lang="en-US" altLang="zh-CN" u="sng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API</a:t>
            </a:r>
            <a:r>
              <a:rPr lang="zh-CN" altLang="en-US" u="sng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，对 </a:t>
            </a:r>
            <a:r>
              <a:rPr lang="en-US" altLang="zh-CN" u="sng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TensorFlow </a:t>
            </a:r>
            <a:r>
              <a:rPr lang="zh-CN" altLang="en-US" u="sng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底层 </a:t>
            </a:r>
            <a:r>
              <a:rPr lang="en-US" altLang="zh-CN" u="sng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API </a:t>
            </a:r>
            <a:r>
              <a:rPr lang="zh-CN" altLang="en-US" u="sng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进行深度封装，模型调用可概括为以下几个步骤：</a:t>
            </a:r>
            <a:endParaRPr lang="en-US" altLang="zh-CN" u="sng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200150" lvl="2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模型定义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200150" lvl="2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模型编译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200150" lvl="2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模型训练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200150" lvl="2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模型校验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spcAft>
                <a:spcPts val="60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深度学习模型一般由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前后“连接”的层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组成，只需定义一个模型，将所需的层添加到模型中，定义各层参数即可；模型定义之后，需要对模型进行编译，定义优化方法、损失函数、评价指标；最后进行模型训练和校验</a:t>
            </a:r>
            <a:endParaRPr lang="zh-CN" altLang="en-US" u="sng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76168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认识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标准库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2/19/2024</a:t>
            </a:fld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EDF51-4307-4B3E-B14A-93826410B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43</a:t>
            </a:fld>
            <a:endParaRPr lang="en-US" altLang="zh-C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C546083-4028-4C8D-B01A-3914DDC6C900}"/>
              </a:ext>
            </a:extLst>
          </p:cNvPr>
          <p:cNvSpPr txBox="1">
            <a:spLocks/>
          </p:cNvSpPr>
          <p:nvPr/>
        </p:nvSpPr>
        <p:spPr bwMode="auto">
          <a:xfrm>
            <a:off x="457200" y="1320543"/>
            <a:ext cx="8229600" cy="6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defTabSz="914400">
              <a:lnSpc>
                <a:spcPct val="150000"/>
              </a:lnSpc>
            </a:pPr>
            <a:r>
              <a:rPr lang="en-US" altLang="zh-CN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TensorFlow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21C4815-DB47-FD7E-77AF-3268AA964C01}"/>
              </a:ext>
            </a:extLst>
          </p:cNvPr>
          <p:cNvSpPr txBox="1"/>
          <p:nvPr/>
        </p:nvSpPr>
        <p:spPr>
          <a:xfrm>
            <a:off x="587379" y="1971930"/>
            <a:ext cx="8306364" cy="423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TensorFlow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谷歌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开发的一个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开源机器学习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框架，提供了不同层级的模型接口，能实现简洁、快速的模型调用，也能借助底层接口实现高度定制化的机器学习模型构建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 startAt="3"/>
            </a:pPr>
            <a:r>
              <a:rPr lang="en-US" altLang="zh-CN" u="sng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Keras</a:t>
            </a:r>
            <a:r>
              <a:rPr lang="zh-CN" altLang="en-US" u="sng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u="sng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TensorFlow </a:t>
            </a:r>
            <a:r>
              <a:rPr lang="zh-CN" altLang="en-US" u="sng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高阶 </a:t>
            </a:r>
            <a:r>
              <a:rPr lang="en-US" altLang="zh-CN" u="sng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API</a:t>
            </a:r>
            <a:r>
              <a:rPr lang="zh-CN" altLang="en-US" u="sng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，对 </a:t>
            </a:r>
            <a:r>
              <a:rPr lang="en-US" altLang="zh-CN" u="sng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TensorFlow </a:t>
            </a:r>
            <a:r>
              <a:rPr lang="zh-CN" altLang="en-US" u="sng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底层 </a:t>
            </a:r>
            <a:r>
              <a:rPr lang="en-US" altLang="zh-CN" u="sng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API </a:t>
            </a:r>
            <a:r>
              <a:rPr lang="zh-CN" altLang="en-US" u="sng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进行深度封装，模型调用可概括为以下几个步骤：</a:t>
            </a:r>
            <a:endParaRPr lang="en-US" altLang="zh-CN" u="sng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200150" lvl="2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模型定义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200150" lvl="2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模型编译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200150" lvl="2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模型训练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200150" lvl="2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模型校验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>
              <a:spcAft>
                <a:spcPts val="60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深度学习模型一般由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前后“连接”的层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组成，只需定义一个模型，将所需的层添加到模型中，定义各层参数即可；模型定义之后，需要对模型进行编译，定义优化方法、损失函数、评价指标；最后进行模型训练和校验</a:t>
            </a:r>
            <a:endParaRPr lang="zh-CN" altLang="en-US" u="sng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029F5E5-FFA8-776B-D9C6-0D1672427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2000" y="395034"/>
            <a:ext cx="6480000" cy="642547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9E1F3FB5-7E6E-7D10-E639-47967BD5D2CA}"/>
              </a:ext>
            </a:extLst>
          </p:cNvPr>
          <p:cNvSpPr/>
          <p:nvPr/>
        </p:nvSpPr>
        <p:spPr>
          <a:xfrm>
            <a:off x="1332000" y="1042662"/>
            <a:ext cx="6480000" cy="139573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1D4E4EA-E13B-5DAA-5419-1933499BB831}"/>
              </a:ext>
            </a:extLst>
          </p:cNvPr>
          <p:cNvSpPr/>
          <p:nvPr/>
        </p:nvSpPr>
        <p:spPr>
          <a:xfrm>
            <a:off x="1332000" y="2666929"/>
            <a:ext cx="6480000" cy="92926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DD30FAA-5501-C4E7-7A15-2AE189B3D1ED}"/>
              </a:ext>
            </a:extLst>
          </p:cNvPr>
          <p:cNvSpPr/>
          <p:nvPr/>
        </p:nvSpPr>
        <p:spPr>
          <a:xfrm>
            <a:off x="1332000" y="4505254"/>
            <a:ext cx="6480000" cy="160979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B05BE97-6652-5432-9941-9B7831412F1F}"/>
              </a:ext>
            </a:extLst>
          </p:cNvPr>
          <p:cNvSpPr/>
          <p:nvPr/>
        </p:nvSpPr>
        <p:spPr>
          <a:xfrm>
            <a:off x="1332000" y="6174008"/>
            <a:ext cx="6480000" cy="64649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5554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认识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标准库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2/19/2024</a:t>
            </a:fld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EDF51-4307-4B3E-B14A-93826410B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44</a:t>
            </a:fld>
            <a:endParaRPr lang="en-US" altLang="zh-C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C546083-4028-4C8D-B01A-3914DDC6C900}"/>
              </a:ext>
            </a:extLst>
          </p:cNvPr>
          <p:cNvSpPr txBox="1">
            <a:spLocks/>
          </p:cNvSpPr>
          <p:nvPr/>
        </p:nvSpPr>
        <p:spPr bwMode="auto">
          <a:xfrm>
            <a:off x="457200" y="1320543"/>
            <a:ext cx="8229600" cy="6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defTabSz="914400">
              <a:lnSpc>
                <a:spcPct val="150000"/>
              </a:lnSpc>
            </a:pPr>
            <a:r>
              <a:rPr lang="en-US" altLang="zh-CN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本章小结</a:t>
            </a:r>
            <a:endParaRPr lang="en-US" altLang="zh-CN" dirty="0">
              <a:solidFill>
                <a:srgbClr val="4F81B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96C20D7-A2FF-4F1C-9761-0A0F37CA5169}"/>
              </a:ext>
            </a:extLst>
          </p:cNvPr>
          <p:cNvSpPr txBox="1"/>
          <p:nvPr/>
        </p:nvSpPr>
        <p:spPr>
          <a:xfrm>
            <a:off x="474567" y="1924902"/>
            <a:ext cx="850739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介绍了一种常用的高级编程语言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Python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基础语法、特性、环境配置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模块安装和使用方法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常用模块的功能和基本用法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600"/>
              </a:spcAft>
              <a:buFont typeface="+mj-ea"/>
              <a:buAutoNum type="circleNumDbPlai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TensorFlow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等拓展性模块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是一种高效的数据分析工具，可以帮助我们对数据进行处理和分析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在掌握 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基本知识的基础上，基于 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进行交通大数据分析还需要更多理论和方法层面的支撑！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761001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认识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标准库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2/19/2024</a:t>
            </a:fld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EDF51-4307-4B3E-B14A-93826410B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45</a:t>
            </a:fld>
            <a:endParaRPr lang="en-US" altLang="zh-C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C546083-4028-4C8D-B01A-3914DDC6C900}"/>
              </a:ext>
            </a:extLst>
          </p:cNvPr>
          <p:cNvSpPr txBox="1">
            <a:spLocks/>
          </p:cNvSpPr>
          <p:nvPr/>
        </p:nvSpPr>
        <p:spPr bwMode="auto">
          <a:xfrm>
            <a:off x="457200" y="1320543"/>
            <a:ext cx="8229600" cy="6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defTabSz="914400">
              <a:lnSpc>
                <a:spcPct val="150000"/>
              </a:lnSpc>
            </a:pPr>
            <a:r>
              <a:rPr lang="zh-CN" altLang="en-US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参考文献</a:t>
            </a:r>
            <a:endParaRPr lang="en-US" altLang="zh-CN" dirty="0">
              <a:solidFill>
                <a:srgbClr val="4F81B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6368884-FF79-EE2D-A877-6CB52A48613B}"/>
              </a:ext>
            </a:extLst>
          </p:cNvPr>
          <p:cNvSpPr txBox="1"/>
          <p:nvPr/>
        </p:nvSpPr>
        <p:spPr>
          <a:xfrm>
            <a:off x="457200" y="1971930"/>
            <a:ext cx="8320938" cy="44627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Mckinney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W.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利用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进行数据分析［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］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北京：机械工业出版社，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2018.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UCImachine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Learning Repository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EB/OL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］［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 2020-06-10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］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廖雪峰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.Python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教程［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EB/OL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］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2020-06-10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］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基础教程［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EB/OL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］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2020-06-10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］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The Python Standard Library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EB/OL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］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2020-06-10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］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Numpy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EB/OL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］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2020-06-30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］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 https://www.numpy.org.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Vutukuru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A. Different Types of Joins in SQL Server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EB/OL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］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2019-01-08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］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10Minutes to Pandas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EB/OL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］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2019-01-08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］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Matplotlib Gallery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EB/OL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］［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 2019-01-08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］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Scikit-Learn User Guide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EB/OL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］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2019-01-08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］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Text Classification with Preprocessed Text: Movie Reviews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EB/OL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］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 (2020-06-12)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2020-06-18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］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119534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认识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标准库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2/19/2024</a:t>
            </a:fld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EDF51-4307-4B3E-B14A-93826410B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46</a:t>
            </a:fld>
            <a:endParaRPr lang="en-US" altLang="zh-C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C546083-4028-4C8D-B01A-3914DDC6C900}"/>
              </a:ext>
            </a:extLst>
          </p:cNvPr>
          <p:cNvSpPr txBox="1">
            <a:spLocks/>
          </p:cNvSpPr>
          <p:nvPr/>
        </p:nvSpPr>
        <p:spPr bwMode="auto">
          <a:xfrm>
            <a:off x="457200" y="1320543"/>
            <a:ext cx="8229600" cy="6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defTabSz="914400">
              <a:lnSpc>
                <a:spcPct val="150000"/>
              </a:lnSpc>
            </a:pPr>
            <a:r>
              <a:rPr lang="en-US" altLang="zh-CN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练习</a:t>
            </a:r>
            <a:endParaRPr lang="en-US" altLang="zh-CN" dirty="0">
              <a:solidFill>
                <a:srgbClr val="4F81B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96C20D7-A2FF-4F1C-9761-0A0F37CA5169}"/>
              </a:ext>
            </a:extLst>
          </p:cNvPr>
          <p:cNvSpPr txBox="1"/>
          <p:nvPr/>
        </p:nvSpPr>
        <p:spPr>
          <a:xfrm>
            <a:off x="474567" y="1924902"/>
            <a:ext cx="8507391" cy="4970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一、折线图</a:t>
            </a:r>
          </a:p>
          <a:p>
            <a:pPr>
              <a:spcAft>
                <a:spcPts val="6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#import numpy as np </a:t>
            </a:r>
          </a:p>
          <a:p>
            <a:pPr>
              <a:spcAft>
                <a:spcPts val="6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#import pandas as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pd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>
              <a:spcAft>
                <a:spcPts val="6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#import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matplotlib.pyplot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as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# import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seaborn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as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sns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Matplotlib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s-E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 = [2010, 2011, 2012, 2013, 2014, 2015, 2016, 2017, 2018, 2019]</a:t>
            </a:r>
          </a:p>
          <a:p>
            <a:pPr>
              <a:spcAft>
                <a:spcPts val="600"/>
              </a:spcAft>
            </a:pPr>
            <a:r>
              <a:rPr lang="es-E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y = [5, 3, 6, 20, 17, 16, 19, 30, 32, 35]</a:t>
            </a:r>
          </a:p>
          <a:p>
            <a:pPr>
              <a:spcAft>
                <a:spcPts val="600"/>
              </a:spcAft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plt.plot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(x, y)</a:t>
            </a: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Seaborn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df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pd.DataFrame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({'x': x, 'y': y})</a:t>
            </a:r>
          </a:p>
          <a:p>
            <a:pPr>
              <a:spcAft>
                <a:spcPts val="600"/>
              </a:spcAft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sns.lineplot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(x="x", y="y", data=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df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0615" y="1924902"/>
            <a:ext cx="3315118" cy="2147097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4462" y="4706682"/>
            <a:ext cx="3298425" cy="215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0683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认识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标准库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2/19/2024</a:t>
            </a:fld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EDF51-4307-4B3E-B14A-93826410B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47</a:t>
            </a:fld>
            <a:endParaRPr lang="en-US" altLang="zh-C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C546083-4028-4C8D-B01A-3914DDC6C900}"/>
              </a:ext>
            </a:extLst>
          </p:cNvPr>
          <p:cNvSpPr txBox="1">
            <a:spLocks/>
          </p:cNvSpPr>
          <p:nvPr/>
        </p:nvSpPr>
        <p:spPr bwMode="auto">
          <a:xfrm>
            <a:off x="457200" y="1320543"/>
            <a:ext cx="8229600" cy="6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defTabSz="914400">
              <a:lnSpc>
                <a:spcPct val="150000"/>
              </a:lnSpc>
            </a:pPr>
            <a:r>
              <a:rPr lang="en-US" altLang="zh-CN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练习</a:t>
            </a:r>
            <a:endParaRPr lang="en-US" altLang="zh-CN" dirty="0">
              <a:solidFill>
                <a:srgbClr val="4F81B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96C20D7-A2FF-4F1C-9761-0A0F37CA5169}"/>
              </a:ext>
            </a:extLst>
          </p:cNvPr>
          <p:cNvSpPr txBox="1"/>
          <p:nvPr/>
        </p:nvSpPr>
        <p:spPr>
          <a:xfrm>
            <a:off x="474567" y="1924902"/>
            <a:ext cx="850739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二、直方图</a:t>
            </a:r>
          </a:p>
          <a:p>
            <a:pPr>
              <a:spcAft>
                <a:spcPts val="6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=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np.random.randn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(100)</a:t>
            </a:r>
          </a:p>
          <a:p>
            <a:pPr>
              <a:spcAft>
                <a:spcPts val="6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 =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pd.Series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(a) </a:t>
            </a: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Matplotlib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plt.hist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(s)</a:t>
            </a: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Seaborn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sns.distplot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(s,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kde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=False)</a:t>
            </a:r>
          </a:p>
          <a:p>
            <a:pPr>
              <a:spcAft>
                <a:spcPts val="600"/>
              </a:spcAft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plt.show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</a:p>
          <a:p>
            <a:pPr>
              <a:spcAft>
                <a:spcPts val="600"/>
              </a:spcAft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sns.distplot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(s,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kde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=True)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plt.show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9205" y="2024045"/>
            <a:ext cx="3784795" cy="238772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9874" y="4809598"/>
            <a:ext cx="2415638" cy="149308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3300" y="4757483"/>
            <a:ext cx="2380870" cy="1540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8179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认识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标准库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2/19/2024</a:t>
            </a:fld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EDF51-4307-4B3E-B14A-93826410B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48</a:t>
            </a:fld>
            <a:endParaRPr lang="en-US" altLang="zh-C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C546083-4028-4C8D-B01A-3914DDC6C900}"/>
              </a:ext>
            </a:extLst>
          </p:cNvPr>
          <p:cNvSpPr txBox="1">
            <a:spLocks/>
          </p:cNvSpPr>
          <p:nvPr/>
        </p:nvSpPr>
        <p:spPr bwMode="auto">
          <a:xfrm>
            <a:off x="457200" y="1320543"/>
            <a:ext cx="8229600" cy="6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defTabSz="914400">
              <a:lnSpc>
                <a:spcPct val="150000"/>
              </a:lnSpc>
            </a:pPr>
            <a:r>
              <a:rPr lang="en-US" altLang="zh-CN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练习</a:t>
            </a:r>
            <a:endParaRPr lang="en-US" altLang="zh-CN" dirty="0">
              <a:solidFill>
                <a:srgbClr val="4F81B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96C20D7-A2FF-4F1C-9761-0A0F37CA5169}"/>
              </a:ext>
            </a:extLst>
          </p:cNvPr>
          <p:cNvSpPr txBox="1"/>
          <p:nvPr/>
        </p:nvSpPr>
        <p:spPr>
          <a:xfrm>
            <a:off x="466725" y="1914780"/>
            <a:ext cx="8507391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三、垂直条形图</a:t>
            </a: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 = ['Cat1', 'Cat2', 'Cat3', 'Cat4', 'Cat5']</a:t>
            </a:r>
          </a:p>
          <a:p>
            <a:pPr>
              <a:spcAft>
                <a:spcPts val="600"/>
              </a:spcAft>
            </a:pPr>
            <a:r>
              <a:rPr lang="es-E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y = [5, 4, 8, 12, 7]</a:t>
            </a:r>
          </a:p>
          <a:p>
            <a:pPr>
              <a:spcAft>
                <a:spcPts val="600"/>
              </a:spcAft>
            </a:pPr>
            <a:endParaRPr lang="es-E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Matplotlib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plt.bar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(x, y) </a:t>
            </a:r>
          </a:p>
          <a:p>
            <a:pPr>
              <a:spcAft>
                <a:spcPts val="600"/>
              </a:spcAft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plt.show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Seaborn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sns.barplot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x,y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3005" y="2250189"/>
            <a:ext cx="2940395" cy="188563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3005" y="4197305"/>
            <a:ext cx="2833688" cy="1910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7312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认识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标准库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2/19/2024</a:t>
            </a:fld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EDF51-4307-4B3E-B14A-93826410B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49</a:t>
            </a:fld>
            <a:endParaRPr lang="en-US" altLang="zh-C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C546083-4028-4C8D-B01A-3914DDC6C900}"/>
              </a:ext>
            </a:extLst>
          </p:cNvPr>
          <p:cNvSpPr txBox="1">
            <a:spLocks/>
          </p:cNvSpPr>
          <p:nvPr/>
        </p:nvSpPr>
        <p:spPr bwMode="auto">
          <a:xfrm>
            <a:off x="457200" y="1320543"/>
            <a:ext cx="8229600" cy="6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defTabSz="914400">
              <a:lnSpc>
                <a:spcPct val="150000"/>
              </a:lnSpc>
            </a:pPr>
            <a:r>
              <a:rPr lang="en-US" altLang="zh-CN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练习</a:t>
            </a:r>
            <a:endParaRPr lang="en-US" altLang="zh-CN" dirty="0">
              <a:solidFill>
                <a:srgbClr val="4F81B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96C20D7-A2FF-4F1C-9761-0A0F37CA5169}"/>
              </a:ext>
            </a:extLst>
          </p:cNvPr>
          <p:cNvSpPr txBox="1"/>
          <p:nvPr/>
        </p:nvSpPr>
        <p:spPr>
          <a:xfrm>
            <a:off x="474567" y="1924902"/>
            <a:ext cx="8507391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四、水平条形图</a:t>
            </a:r>
          </a:p>
          <a:p>
            <a:pPr>
              <a:spcAft>
                <a:spcPts val="6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 = ['Cat1', 'Cat2', 'Cat3', 'Cat4', 'Cat5']</a:t>
            </a:r>
          </a:p>
          <a:p>
            <a:pPr>
              <a:spcAft>
                <a:spcPts val="600"/>
              </a:spcAft>
            </a:pPr>
            <a:r>
              <a:rPr lang="es-E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y = [5, 4, 8, 12, 7] </a:t>
            </a:r>
          </a:p>
          <a:p>
            <a:pPr>
              <a:spcAft>
                <a:spcPts val="600"/>
              </a:spcAft>
            </a:pPr>
            <a:r>
              <a:rPr lang="es-E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plt.barh(x, y)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67" y="3578882"/>
            <a:ext cx="4280120" cy="241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8190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认识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标准库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2/19/2024</a:t>
            </a:fld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EDF51-4307-4B3E-B14A-93826410B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50</a:t>
            </a:fld>
            <a:endParaRPr lang="en-US" altLang="zh-C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C546083-4028-4C8D-B01A-3914DDC6C900}"/>
              </a:ext>
            </a:extLst>
          </p:cNvPr>
          <p:cNvSpPr txBox="1">
            <a:spLocks/>
          </p:cNvSpPr>
          <p:nvPr/>
        </p:nvSpPr>
        <p:spPr bwMode="auto">
          <a:xfrm>
            <a:off x="457200" y="1320543"/>
            <a:ext cx="8229600" cy="6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defTabSz="914400">
              <a:lnSpc>
                <a:spcPct val="150000"/>
              </a:lnSpc>
            </a:pPr>
            <a:r>
              <a:rPr lang="en-US" altLang="zh-CN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练习</a:t>
            </a:r>
            <a:endParaRPr lang="en-US" altLang="zh-CN" dirty="0">
              <a:solidFill>
                <a:srgbClr val="4F81B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96C20D7-A2FF-4F1C-9761-0A0F37CA5169}"/>
              </a:ext>
            </a:extLst>
          </p:cNvPr>
          <p:cNvSpPr txBox="1"/>
          <p:nvPr/>
        </p:nvSpPr>
        <p:spPr>
          <a:xfrm>
            <a:off x="474567" y="1924902"/>
            <a:ext cx="8507391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五、饼图</a:t>
            </a:r>
          </a:p>
          <a:p>
            <a:pPr>
              <a:spcAft>
                <a:spcPts val="600"/>
              </a:spcAft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nums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[25, 37, 33, 37, 6] </a:t>
            </a:r>
          </a:p>
          <a:p>
            <a:pPr>
              <a:spcAft>
                <a:spcPts val="6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labels = ['High-school','Bachelor','Master','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Ph.d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', 'Others'] </a:t>
            </a:r>
          </a:p>
          <a:p>
            <a:pPr>
              <a:spcAft>
                <a:spcPts val="600"/>
              </a:spcAft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plt.pie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(x =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nums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labels=labels)</a:t>
            </a:r>
          </a:p>
          <a:p>
            <a:pPr>
              <a:spcAft>
                <a:spcPts val="600"/>
              </a:spcAft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plt.show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67" y="3812483"/>
            <a:ext cx="2832246" cy="219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74794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认识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标准库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2/19/2024</a:t>
            </a:fld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EDF51-4307-4B3E-B14A-93826410B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51</a:t>
            </a:fld>
            <a:endParaRPr lang="en-US" altLang="zh-C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C546083-4028-4C8D-B01A-3914DDC6C900}"/>
              </a:ext>
            </a:extLst>
          </p:cNvPr>
          <p:cNvSpPr txBox="1">
            <a:spLocks/>
          </p:cNvSpPr>
          <p:nvPr/>
        </p:nvSpPr>
        <p:spPr bwMode="auto">
          <a:xfrm>
            <a:off x="457200" y="1320543"/>
            <a:ext cx="8229600" cy="6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defTabSz="914400">
              <a:lnSpc>
                <a:spcPct val="150000"/>
              </a:lnSpc>
            </a:pPr>
            <a:r>
              <a:rPr lang="en-US" altLang="zh-CN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练习</a:t>
            </a:r>
            <a:endParaRPr lang="en-US" altLang="zh-CN" dirty="0">
              <a:solidFill>
                <a:srgbClr val="4F81B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96C20D7-A2FF-4F1C-9761-0A0F37CA5169}"/>
              </a:ext>
            </a:extLst>
          </p:cNvPr>
          <p:cNvSpPr txBox="1"/>
          <p:nvPr/>
        </p:nvSpPr>
        <p:spPr>
          <a:xfrm>
            <a:off x="474567" y="1924902"/>
            <a:ext cx="8507391" cy="4539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六、箱线图</a:t>
            </a:r>
          </a:p>
          <a:p>
            <a:pPr>
              <a:spcAft>
                <a:spcPts val="6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data=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np.random.normal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(size=(10,4))</a:t>
            </a:r>
          </a:p>
          <a:p>
            <a:pPr>
              <a:spcAft>
                <a:spcPts val="600"/>
              </a:spcAft>
            </a:pPr>
            <a:r>
              <a:rPr lang="fr-FR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lables = ['A','B','C','D']</a:t>
            </a: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Matplotlib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plt.boxplot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data,labels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lables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>
              <a:spcAft>
                <a:spcPts val="6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plt.show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Seaborn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df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pd.DataFrame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(data, columns=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lables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>
              <a:spcAft>
                <a:spcPts val="6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sns.boxplot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(data=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df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>
              <a:spcAft>
                <a:spcPts val="6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plt.show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6689" y="1646236"/>
            <a:ext cx="3816546" cy="242582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7966" y="4194297"/>
            <a:ext cx="3733992" cy="241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96613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认识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标准库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2/19/2024</a:t>
            </a:fld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EDF51-4307-4B3E-B14A-93826410B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52</a:t>
            </a:fld>
            <a:endParaRPr lang="en-US" altLang="zh-C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C546083-4028-4C8D-B01A-3914DDC6C900}"/>
              </a:ext>
            </a:extLst>
          </p:cNvPr>
          <p:cNvSpPr txBox="1">
            <a:spLocks/>
          </p:cNvSpPr>
          <p:nvPr/>
        </p:nvSpPr>
        <p:spPr bwMode="auto">
          <a:xfrm>
            <a:off x="457200" y="1320543"/>
            <a:ext cx="8229600" cy="6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defTabSz="914400">
              <a:lnSpc>
                <a:spcPct val="150000"/>
              </a:lnSpc>
            </a:pPr>
            <a:r>
              <a:rPr lang="en-US" altLang="zh-CN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练习</a:t>
            </a:r>
            <a:endParaRPr lang="en-US" altLang="zh-CN" dirty="0">
              <a:solidFill>
                <a:srgbClr val="4F81B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96C20D7-A2FF-4F1C-9761-0A0F37CA5169}"/>
              </a:ext>
            </a:extLst>
          </p:cNvPr>
          <p:cNvSpPr txBox="1"/>
          <p:nvPr/>
        </p:nvSpPr>
        <p:spPr>
          <a:xfrm>
            <a:off x="474567" y="1924902"/>
            <a:ext cx="850739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七、散点图</a:t>
            </a:r>
          </a:p>
          <a:p>
            <a:pPr>
              <a:spcAft>
                <a:spcPts val="600"/>
              </a:spcAft>
            </a:pPr>
            <a:r>
              <a:rPr lang="pt-BR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= 1000 </a:t>
            </a:r>
          </a:p>
          <a:p>
            <a:pPr>
              <a:spcAft>
                <a:spcPts val="600"/>
              </a:spcAft>
            </a:pPr>
            <a:r>
              <a:rPr lang="pt-BR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 = np.random.randn(N)</a:t>
            </a:r>
          </a:p>
          <a:p>
            <a:pPr>
              <a:spcAft>
                <a:spcPts val="600"/>
              </a:spcAft>
            </a:pPr>
            <a:r>
              <a:rPr lang="pt-BR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y = np.random.randn(N)</a:t>
            </a:r>
          </a:p>
          <a:p>
            <a:pPr>
              <a:spcAft>
                <a:spcPts val="600"/>
              </a:spcAft>
            </a:pPr>
            <a:endParaRPr lang="pt-BR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Matplotlib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plt.scatter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(x,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y,marker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='x') </a:t>
            </a:r>
          </a:p>
          <a:p>
            <a:pPr>
              <a:spcAft>
                <a:spcPts val="600"/>
              </a:spcAft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plt.show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Seaborn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df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pd.DataFrame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({'x': x, 'y': y})</a:t>
            </a:r>
          </a:p>
          <a:p>
            <a:pPr>
              <a:spcAft>
                <a:spcPts val="6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sns.jointplot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(x="x", y="y", data=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df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kind='scatter');</a:t>
            </a:r>
          </a:p>
          <a:p>
            <a:pPr>
              <a:spcAft>
                <a:spcPts val="600"/>
              </a:spcAft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plt.show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4000" y="1130228"/>
            <a:ext cx="3240000" cy="2158122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4000" y="3288350"/>
            <a:ext cx="2880000" cy="289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09143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7E77643-E4A2-4E04-8FAD-A19B65D2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认识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标准库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F018CF-F20E-4E26-924C-FED3626DDA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fld id="{6E2D4AB0-441C-42B1-813F-D0D36EDB80B8}" type="datetime1">
              <a:rPr lang="en-US" altLang="zh-CN" smtClean="0"/>
              <a:t>2/19/2024</a:t>
            </a:fld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1EDF51-4307-4B3E-B14A-93826410B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>
              <a:defRPr/>
            </a:pPr>
            <a:r>
              <a:rPr lang="zh-CN" altLang="en-US" dirty="0"/>
              <a:t>交通大数据</a:t>
            </a:r>
            <a:r>
              <a:rPr lang="en-US" altLang="zh-CN" dirty="0"/>
              <a:t>——</a:t>
            </a:r>
            <a:r>
              <a:rPr lang="zh-CN" altLang="en-US" dirty="0"/>
              <a:t>理论与方法 </a:t>
            </a:r>
            <a:r>
              <a:rPr lang="en-US" altLang="zh-CN" dirty="0"/>
              <a:t>· </a:t>
            </a:r>
            <a:r>
              <a:rPr lang="zh-CN" altLang="en-US" dirty="0"/>
              <a:t>东南大学 </a:t>
            </a:r>
            <a:r>
              <a:rPr lang="en-US" altLang="zh-CN" dirty="0"/>
              <a:t>· </a:t>
            </a:r>
            <a:r>
              <a:rPr lang="zh-CN" altLang="en-US" dirty="0"/>
              <a:t>顾子渊</a:t>
            </a:r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136122-946A-41FE-8914-CEDC7295B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B637DA7A-EB76-4203-8E69-29EB9F37D3B8}" type="slidenum">
              <a:rPr lang="zh-CN" altLang="en-US" smtClean="0"/>
              <a:pPr>
                <a:defRPr/>
              </a:pPr>
              <a:t>53</a:t>
            </a:fld>
            <a:endParaRPr lang="en-US" altLang="zh-C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C546083-4028-4C8D-B01A-3914DDC6C900}"/>
              </a:ext>
            </a:extLst>
          </p:cNvPr>
          <p:cNvSpPr txBox="1">
            <a:spLocks/>
          </p:cNvSpPr>
          <p:nvPr/>
        </p:nvSpPr>
        <p:spPr bwMode="auto">
          <a:xfrm>
            <a:off x="457200" y="1320543"/>
            <a:ext cx="8229600" cy="65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1pPr>
            <a:lvl2pPr marL="457200" lvl="1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2pPr>
            <a:lvl3pPr marL="731838" lvl="2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3pPr>
            <a:lvl4pPr marL="1006475" lvl="3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4pPr>
            <a:lvl5pPr marL="1189038" lvl="4" indent="-136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  <a:sym typeface="Arial" panose="020B0604020202020204" pitchFamily="34" charset="0"/>
              </a:defRPr>
            </a:lvl5pPr>
            <a:lvl6pPr marL="2514600" lvl="5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6pPr>
            <a:lvl7pPr marL="2971800" lvl="6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7pPr>
            <a:lvl8pPr marL="3429000" lvl="7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8pPr>
            <a:lvl9pPr marL="3886200" lvl="8" indent="-228600" algn="l" defTabSz="914400" eaLnBrk="1" fontAlgn="base" latinLnBrk="0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Wingdings" pitchFamily="2" charset="2"/>
              <a:buChar char="•"/>
              <a:defRPr sz="1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itchFamily="34" charset="0"/>
              </a:defRPr>
            </a:lvl9pPr>
          </a:lstStyle>
          <a:p>
            <a:pPr defTabSz="914400">
              <a:lnSpc>
                <a:spcPct val="150000"/>
              </a:lnSpc>
            </a:pPr>
            <a:r>
              <a:rPr lang="en-US" altLang="zh-CN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练习</a:t>
            </a:r>
            <a:endParaRPr lang="en-US" altLang="zh-CN" dirty="0">
              <a:solidFill>
                <a:srgbClr val="4F81B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96C20D7-A2FF-4F1C-9761-0A0F37CA5169}"/>
              </a:ext>
            </a:extLst>
          </p:cNvPr>
          <p:cNvSpPr txBox="1"/>
          <p:nvPr/>
        </p:nvSpPr>
        <p:spPr>
          <a:xfrm>
            <a:off x="474567" y="1924902"/>
            <a:ext cx="8507391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八、面积图</a:t>
            </a:r>
          </a:p>
          <a:p>
            <a:pPr>
              <a:spcAft>
                <a:spcPts val="600"/>
              </a:spcAft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df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pd.DataFrame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np.random.rand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(10, 4), columns=['a', '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b','c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', 'd'])</a:t>
            </a: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df.plot.area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df.plot.area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(stacked=False)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2272" y="2759073"/>
            <a:ext cx="2880000" cy="1920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2272" y="4679073"/>
            <a:ext cx="2880000" cy="1921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07071"/>
      </p:ext>
    </p:extLst>
  </p:cSld>
  <p:clrMapOvr>
    <a:masterClrMapping/>
  </p:clrMapOvr>
</p:sld>
</file>

<file path=ppt/theme/theme1.xml><?xml version="1.0" encoding="utf-8"?>
<a:theme xmlns:a="http://schemas.openxmlformats.org/drawingml/2006/main" name="Clarity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3C1DA"/>
      </a:accent5>
      <a:accent6>
        <a:srgbClr val="AC4744"/>
      </a:accent6>
      <a:hlink>
        <a:srgbClr val="0000FF"/>
      </a:hlink>
      <a:folHlink>
        <a:srgbClr val="80008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6490</TotalTime>
  <Words>5346</Words>
  <Application>Microsoft Office PowerPoint</Application>
  <PresentationFormat>全屏显示(4:3)</PresentationFormat>
  <Paragraphs>686</Paragraphs>
  <Slides>53</Slides>
  <Notes>52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53</vt:i4>
      </vt:variant>
    </vt:vector>
  </HeadingPairs>
  <TitlesOfParts>
    <vt:vector size="61" baseType="lpstr">
      <vt:lpstr>Arial (Headings)</vt:lpstr>
      <vt:lpstr>等线</vt:lpstr>
      <vt:lpstr>宋体</vt:lpstr>
      <vt:lpstr>微软雅黑</vt:lpstr>
      <vt:lpstr>Arial</vt:lpstr>
      <vt:lpstr>Times New Roman</vt:lpstr>
      <vt:lpstr>Wingdings</vt:lpstr>
      <vt:lpstr>Clarity</vt:lpstr>
      <vt:lpstr>PowerPoint 演示文稿</vt:lpstr>
      <vt:lpstr> Python 高阶算法库</vt:lpstr>
      <vt:lpstr>Python 模块安装与基本用法</vt:lpstr>
      <vt:lpstr>Python 模块安装与基本用法</vt:lpstr>
      <vt:lpstr>Python 模块安装与基本用法</vt:lpstr>
      <vt:lpstr>Python 模块安装与基本用法</vt:lpstr>
      <vt:lpstr>认识 Python 标准库</vt:lpstr>
      <vt:lpstr>认识 Python 标准库</vt:lpstr>
      <vt:lpstr>认识 Python 标准库</vt:lpstr>
      <vt:lpstr>认识 Python 标准库</vt:lpstr>
      <vt:lpstr>认识 Python 标准库</vt:lpstr>
      <vt:lpstr>认识 Python 标准库</vt:lpstr>
      <vt:lpstr>认识 Python 标准库</vt:lpstr>
      <vt:lpstr>认识 Python 标准库</vt:lpstr>
      <vt:lpstr>认识 Python 标准库</vt:lpstr>
      <vt:lpstr>认识 Python 标准库</vt:lpstr>
      <vt:lpstr>认识 Python 标准库</vt:lpstr>
      <vt:lpstr>认识 Python 标准库</vt:lpstr>
      <vt:lpstr>认识 Python 标准库</vt:lpstr>
      <vt:lpstr>认识 Python 标准库</vt:lpstr>
      <vt:lpstr>认识 Python 标准库</vt:lpstr>
      <vt:lpstr>认识 Python 标准库</vt:lpstr>
      <vt:lpstr>认识 Python 标准库</vt:lpstr>
      <vt:lpstr>认识 Python 标准库</vt:lpstr>
      <vt:lpstr>认识 Python 标准库</vt:lpstr>
      <vt:lpstr>认识 Python 标准库</vt:lpstr>
      <vt:lpstr>认识 Python 标准库</vt:lpstr>
      <vt:lpstr>认识 Python 标准库</vt:lpstr>
      <vt:lpstr>认识 Python 标准库</vt:lpstr>
      <vt:lpstr>认识 Python 标准库</vt:lpstr>
      <vt:lpstr>认识 Python 标准库</vt:lpstr>
      <vt:lpstr>认识 Python 标准库</vt:lpstr>
      <vt:lpstr>认识 Python 标准库</vt:lpstr>
      <vt:lpstr>认识 Python 标准库</vt:lpstr>
      <vt:lpstr>认识 Python 标准库</vt:lpstr>
      <vt:lpstr>认识 Python 标准库</vt:lpstr>
      <vt:lpstr>认识 Python 标准库</vt:lpstr>
      <vt:lpstr>认识 Python 标准库</vt:lpstr>
      <vt:lpstr>认识 Python 标准库</vt:lpstr>
      <vt:lpstr>认识 Python 标准库</vt:lpstr>
      <vt:lpstr>认识 Python 标准库</vt:lpstr>
      <vt:lpstr>认识 Python 标准库</vt:lpstr>
      <vt:lpstr>认识 Python 标准库</vt:lpstr>
      <vt:lpstr>认识 Python 标准库</vt:lpstr>
      <vt:lpstr>认识 Python 标准库</vt:lpstr>
      <vt:lpstr>认识 Python 标准库</vt:lpstr>
      <vt:lpstr>认识 Python 标准库</vt:lpstr>
      <vt:lpstr>认识 Python 标准库</vt:lpstr>
      <vt:lpstr>认识 Python 标准库</vt:lpstr>
      <vt:lpstr>认识 Python 标准库</vt:lpstr>
      <vt:lpstr>认识 Python 标准库</vt:lpstr>
      <vt:lpstr>认识 Python 标准库</vt:lpstr>
      <vt:lpstr>认识 Python 标准库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Di Huang</dc:creator>
  <cp:lastModifiedBy>Ziyuan Gu</cp:lastModifiedBy>
  <cp:revision>675</cp:revision>
  <dcterms:created xsi:type="dcterms:W3CDTF">2016-02-16T07:55:59Z</dcterms:created>
  <dcterms:modified xsi:type="dcterms:W3CDTF">2024-02-19T03:51:49Z</dcterms:modified>
</cp:coreProperties>
</file>