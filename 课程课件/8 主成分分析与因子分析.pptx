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3"/>
  </p:notesMasterIdLst>
  <p:sldIdLst>
    <p:sldId id="315" r:id="rId2"/>
    <p:sldId id="316" r:id="rId3"/>
    <p:sldId id="579" r:id="rId4"/>
    <p:sldId id="620" r:id="rId5"/>
    <p:sldId id="510" r:id="rId6"/>
    <p:sldId id="581" r:id="rId7"/>
    <p:sldId id="621" r:id="rId8"/>
    <p:sldId id="580" r:id="rId9"/>
    <p:sldId id="623" r:id="rId10"/>
    <p:sldId id="622" r:id="rId11"/>
    <p:sldId id="582" r:id="rId12"/>
    <p:sldId id="624" r:id="rId13"/>
    <p:sldId id="625" r:id="rId14"/>
    <p:sldId id="626" r:id="rId15"/>
    <p:sldId id="585" r:id="rId16"/>
    <p:sldId id="586" r:id="rId17"/>
    <p:sldId id="627" r:id="rId18"/>
    <p:sldId id="628" r:id="rId19"/>
    <p:sldId id="630" r:id="rId20"/>
    <p:sldId id="587" r:id="rId21"/>
    <p:sldId id="629" r:id="rId22"/>
    <p:sldId id="631" r:id="rId23"/>
    <p:sldId id="588" r:id="rId24"/>
    <p:sldId id="589" r:id="rId25"/>
    <p:sldId id="590" r:id="rId26"/>
    <p:sldId id="632" r:id="rId27"/>
    <p:sldId id="591" r:id="rId28"/>
    <p:sldId id="633" r:id="rId29"/>
    <p:sldId id="634" r:id="rId30"/>
    <p:sldId id="635" r:id="rId31"/>
    <p:sldId id="595" r:id="rId32"/>
    <p:sldId id="596" r:id="rId33"/>
    <p:sldId id="597" r:id="rId34"/>
    <p:sldId id="636" r:id="rId35"/>
    <p:sldId id="598" r:id="rId36"/>
    <p:sldId id="637" r:id="rId37"/>
    <p:sldId id="600" r:id="rId38"/>
    <p:sldId id="638" r:id="rId39"/>
    <p:sldId id="603" r:id="rId40"/>
    <p:sldId id="602" r:id="rId41"/>
    <p:sldId id="605" r:id="rId42"/>
    <p:sldId id="606" r:id="rId43"/>
    <p:sldId id="607" r:id="rId44"/>
    <p:sldId id="608" r:id="rId45"/>
    <p:sldId id="639" r:id="rId46"/>
    <p:sldId id="610" r:id="rId47"/>
    <p:sldId id="611" r:id="rId48"/>
    <p:sldId id="640" r:id="rId49"/>
    <p:sldId id="612" r:id="rId50"/>
    <p:sldId id="641" r:id="rId51"/>
    <p:sldId id="614" r:id="rId52"/>
    <p:sldId id="643" r:id="rId53"/>
    <p:sldId id="615" r:id="rId54"/>
    <p:sldId id="644" r:id="rId55"/>
    <p:sldId id="645" r:id="rId56"/>
    <p:sldId id="646" r:id="rId57"/>
    <p:sldId id="647" r:id="rId58"/>
    <p:sldId id="648" r:id="rId59"/>
    <p:sldId id="617" r:id="rId60"/>
    <p:sldId id="619" r:id="rId61"/>
    <p:sldId id="642" r:id="rId6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64" autoAdjust="0"/>
    <p:restoredTop sz="89517" autoAdjust="0"/>
  </p:normalViewPr>
  <p:slideViewPr>
    <p:cSldViewPr snapToGrid="0" showGuides="1">
      <p:cViewPr varScale="1">
        <p:scale>
          <a:sx n="92" d="100"/>
          <a:sy n="92" d="100"/>
        </p:scale>
        <p:origin x="756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6BBA7-2751-4186-92D7-BAFE14A83317}" type="datetimeFigureOut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12F08-2C51-4761-8379-7BF5B777E4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196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918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814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571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456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022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8751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3152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4903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4954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0503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9747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21212"/>
                </a:solidFill>
                <a:effectLst/>
                <a:latin typeface="arial" panose="020B0604020202020204" pitchFamily="34" charset="0"/>
              </a:rPr>
              <a:t>消除量纲和量级影响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2390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2404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3685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6090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9700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975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118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63548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25430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54813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63703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94457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85632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5272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25310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39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t>‹#›</a:t>
            </a:fld>
            <a:endParaRPr lang="en-US" altLang="zh-CN" dirty="0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863" y="6150864"/>
            <a:ext cx="632774" cy="6278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8327" y="6021054"/>
            <a:ext cx="836946" cy="836946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0E55C9-70B6-49A9-B285-7B6B9329A27F}" type="datetime1">
              <a:rPr lang="en-US" altLang="zh-CN" smtClean="0"/>
              <a:t>3/22/2024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F5E73D-1069-4824-94AF-7FF34A7BE33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7C70DC-E5E3-476E-B719-7C406A24E276}" type="datetime1">
              <a:rPr lang="en-US" altLang="zh-CN" smtClean="0"/>
              <a:t>3/22/2024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10F76-1A24-4AF4-8A91-362659113F1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8E72B-6C0E-4F25-B3EF-88ADA2D92673}" type="datetime1">
              <a:rPr lang="en-US" altLang="zh-CN" smtClean="0"/>
              <a:t>3/22/2024</a:t>
            </a:fld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8051D9-6CDB-4A19-9498-B1F31800CB7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FD39B-8021-4531-8CE2-8D21302A74ED}" type="datetime1">
              <a:rPr lang="en-US" altLang="zh-CN" smtClean="0"/>
              <a:t>3/22/2024</a:t>
            </a:fld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2B37D-33B6-4C69-9BD0-32187E70694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5701F-746E-469B-BDDA-F93B22D4DB72}" type="datetime1">
              <a:rPr lang="en-US" altLang="zh-CN" smtClean="0"/>
              <a:t>3/22/2024</a:t>
            </a:fld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09943-BA82-4F6A-BD7C-764069224CD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7B1553-8BA7-4889-BEC6-891C13E10B98}" type="datetime1">
              <a:rPr lang="en-US" altLang="zh-CN" smtClean="0"/>
              <a:t>3/22/2024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CF26E5-2ED2-4F85-94A6-41EA43600B3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62BEB2-F18B-4C21-9638-A76426A31BD0}" type="datetime1">
              <a:rPr lang="en-US" altLang="zh-CN" smtClean="0"/>
              <a:t>3/22/2024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C9128-8DD9-4172-A865-72B9B18E9A1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3C754-25BE-4F5C-AB68-D771A03BCC90}" type="datetime1">
              <a:rPr lang="en-US" altLang="zh-CN" smtClean="0"/>
              <a:t>3/22/2024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15748A-C05D-4102-BCCF-66D346F7008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33400"/>
            <a:ext cx="2057400" cy="59436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052930" cy="59436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560" y="19050"/>
            <a:ext cx="929393" cy="328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3D20E-ACC7-4DDD-AC28-33869E6ABE9A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>
              <a:defRPr/>
            </a:pPr>
            <a:r>
              <a:rPr lang="en-US" altLang="zh-CN" dirty="0"/>
              <a:t>Modelling Transportation Systems · Southeast University · </a:t>
            </a:r>
            <a:r>
              <a:rPr lang="en-US" altLang="zh-CN" dirty="0" err="1"/>
              <a:t>Zhiyuan</a:t>
            </a:r>
            <a:r>
              <a:rPr lang="en-US" altLang="zh-CN" dirty="0"/>
              <a:t>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0738" y="19050"/>
            <a:ext cx="416560" cy="328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8EEBC-8FFF-48D5-BA20-8C9570EB2408}" type="slidenum">
              <a:rPr lang="zh-CN" altLang="en-US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ChangeArrowheads="1"/>
          </p:cNvSpPr>
          <p:nvPr/>
        </p:nvSpPr>
        <p:spPr bwMode="auto">
          <a:xfrm>
            <a:off x="0" y="220663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027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>
                <a:sym typeface="Arial" panose="020B0604020202020204" pitchFamily="34" charset="0"/>
              </a:rPr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>
                <a:sym typeface="Arial" panose="020B0604020202020204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Arial" panose="020B0604020202020204" pitchFamily="34" charset="0"/>
              </a:rPr>
              <a:t>Second level</a:t>
            </a:r>
          </a:p>
          <a:p>
            <a:pPr lvl="2"/>
            <a:r>
              <a:rPr lang="en-US" altLang="zh-CN">
                <a:sym typeface="Arial" panose="020B0604020202020204" pitchFamily="34" charset="0"/>
              </a:rPr>
              <a:t>Third level</a:t>
            </a:r>
          </a:p>
          <a:p>
            <a:pPr lvl="3"/>
            <a:r>
              <a:rPr lang="en-US" altLang="zh-CN">
                <a:sym typeface="Arial" panose="020B0604020202020204" pitchFamily="34" charset="0"/>
              </a:rPr>
              <a:t>Fourth level</a:t>
            </a:r>
          </a:p>
          <a:p>
            <a:pPr lvl="4"/>
            <a:r>
              <a:rPr lang="en-US" altLang="zh-CN">
                <a:sym typeface="Arial" panose="020B0604020202020204" pitchFamily="34" charset="0"/>
              </a:rPr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0" y="0"/>
            <a:ext cx="9144000" cy="3651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13716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18288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22860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27432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182880" indent="-1828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457200" lvl="1" indent="-1828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anose="05000000000000000000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732155" lvl="2" indent="-1828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" panose="05000000000000000000" pitchFamily="2" charset="2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006475" lvl="3" indent="-1828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" panose="05000000000000000000" pitchFamily="2" charset="2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189355" lvl="4" indent="-1365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6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6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8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</a:t>
            </a:fld>
            <a:endParaRPr lang="en-US" altLang="zh-CN" dirty="0"/>
          </a:p>
        </p:txBody>
      </p:sp>
      <p:sp>
        <p:nvSpPr>
          <p:cNvPr id="18" name="Straight Connector 7"/>
          <p:cNvSpPr>
            <a:spLocks noChangeShapeType="1"/>
          </p:cNvSpPr>
          <p:nvPr/>
        </p:nvSpPr>
        <p:spPr bwMode="auto">
          <a:xfrm>
            <a:off x="685800" y="1827213"/>
            <a:ext cx="7848600" cy="15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TextBox 8"/>
          <p:cNvSpPr>
            <a:spLocks noChangeArrowheads="1"/>
          </p:cNvSpPr>
          <p:nvPr/>
        </p:nvSpPr>
        <p:spPr bwMode="auto">
          <a:xfrm>
            <a:off x="838200" y="990600"/>
            <a:ext cx="754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(Headings)" charset="0"/>
                <a:ea typeface="宋体" panose="02010600030101010101" pitchFamily="2" charset="-122"/>
                <a:sym typeface="Arial (Headings)" charset="0"/>
              </a:rPr>
              <a:t> </a:t>
            </a:r>
          </a:p>
        </p:txBody>
      </p:sp>
      <p:sp>
        <p:nvSpPr>
          <p:cNvPr id="21" name="TextBox 3"/>
          <p:cNvSpPr>
            <a:spLocks noChangeArrowheads="1"/>
          </p:cNvSpPr>
          <p:nvPr/>
        </p:nvSpPr>
        <p:spPr bwMode="auto">
          <a:xfrm>
            <a:off x="279400" y="990600"/>
            <a:ext cx="863092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交通大数据</a:t>
            </a:r>
          </a:p>
        </p:txBody>
      </p:sp>
      <p:sp>
        <p:nvSpPr>
          <p:cNvPr id="22" name="文本框 1"/>
          <p:cNvSpPr txBox="1">
            <a:spLocks noChangeArrowheads="1"/>
          </p:cNvSpPr>
          <p:nvPr/>
        </p:nvSpPr>
        <p:spPr bwMode="auto">
          <a:xfrm>
            <a:off x="527901" y="2852419"/>
            <a:ext cx="8088197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主成分分析与因子分析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F815F67-7F01-4347-83A2-CC0BAC8B7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8060" y="4138034"/>
            <a:ext cx="4627880" cy="1016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marL="0" indent="0" algn="ctr" defTabSz="914400" eaLnBrk="1" hangingPunct="1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顾子渊，副研究员、博导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0" indent="0" algn="ctr" defTabSz="914400" eaLnBrk="1" hangingPunct="1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复杂交通网络研究中心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0" indent="0" algn="ctr" defTabSz="914400" eaLnBrk="1" hangingPunct="1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ziyuangu@seu.edu.cn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62560" y="533400"/>
            <a:ext cx="8821184" cy="990600"/>
          </a:xfrm>
        </p:spPr>
        <p:txBody>
          <a:bodyPr/>
          <a:lstStyle/>
          <a:p>
            <a:pPr algn="ctr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主成分分析与因子分析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主成分分析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因子分析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主成分分析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因子分析</a:t>
            </a:r>
            <a:endParaRPr lang="en-US" altLang="zh-CN" sz="2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</a:t>
            </a:fld>
            <a:endParaRPr lang="en-US" altLang="zh-CN" dirty="0"/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162560" y="533400"/>
            <a:ext cx="8821184" cy="990600"/>
          </a:xfrm>
        </p:spPr>
        <p:txBody>
          <a:bodyPr/>
          <a:lstStyle/>
          <a:p>
            <a:pPr algn="ctr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主成分分析与因子分析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隐变量模型（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latent variable model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隐变量：不可观测或不易表达的变量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智商观察不到，但成绩可以观察到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成绩一定程度上反映了智商，或智商可由成绩来部分解释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95135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隐变量模型（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latent variable model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隐变量：不可观测或不易表达的变量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智商观察不到，但成绩可以观察到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成绩一定程度上反映了智商，或智商可由成绩来部分解释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隐变量模型：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主成分分析（降维）：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将多个变量转化为少数几个综合变量（原变量的线性组合，即主成分），对原数据进行有效解释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因子分析（公约数）：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找出多个变量的共同影响因素，浓缩成少数几个因子变量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</a:t>
            </a:fld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555065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原理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以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最少信息丢失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为前提，将原变量化为少数几个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互不相关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的综合变量（原变量的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线性组合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，即主成分）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主成分个数远远少于原变量数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主成分包含原变量绝大部分信息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主成分互不相关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3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若两个变量有一定相关关系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两个变量间信息有重叠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3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物理、化学成绩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理科水平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</a:t>
            </a:fld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555065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原理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以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最少信息丢失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为前提，将原变量化为少数几个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互不相关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的综合变量（原变量的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线性组合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，即主成分）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主成分个数远远少于原变量数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主成分包含原变量绝大部分信息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主成分互不相关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3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若两个变量有一定相关关系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两个变量间信息有重叠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3">
              <a:lnSpc>
                <a:spcPct val="150000"/>
              </a:lnSpc>
              <a:buClrTx/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物理、化学成绩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理科水平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目的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削减变量数，同时保留大部分信息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高效解释数据变化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少数几个变量解释了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90%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的原数据变化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集约性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&amp;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有效性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44730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90E3CDEE-1B92-05B5-BCDF-42C4F1936365}"/>
              </a:ext>
            </a:extLst>
          </p:cNvPr>
          <p:cNvGrpSpPr/>
          <p:nvPr/>
        </p:nvGrpSpPr>
        <p:grpSpPr>
          <a:xfrm>
            <a:off x="457200" y="2737799"/>
            <a:ext cx="3563157" cy="2560296"/>
            <a:chOff x="457200" y="2737799"/>
            <a:chExt cx="3563157" cy="2560296"/>
          </a:xfrm>
        </p:grpSpPr>
        <p:pic>
          <p:nvPicPr>
            <p:cNvPr id="1026" name="Picture 2" descr="样本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" y="2737799"/>
              <a:ext cx="3504490" cy="2523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098DC56F-E38D-7AB3-D212-FCA14789CA17}"/>
                </a:ext>
              </a:extLst>
            </p:cNvPr>
            <p:cNvSpPr txBox="1"/>
            <p:nvPr/>
          </p:nvSpPr>
          <p:spPr>
            <a:xfrm>
              <a:off x="3553563" y="4928763"/>
              <a:ext cx="46679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X1</a:t>
              </a:r>
              <a:endParaRPr lang="zh-CN" altLang="en-US" dirty="0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1310594F-EB4D-3875-C271-146AF7ED6814}"/>
                </a:ext>
              </a:extLst>
            </p:cNvPr>
            <p:cNvSpPr txBox="1"/>
            <p:nvPr/>
          </p:nvSpPr>
          <p:spPr>
            <a:xfrm>
              <a:off x="583053" y="2741932"/>
              <a:ext cx="46679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X2</a:t>
              </a:r>
              <a:endParaRPr lang="zh-CN" altLang="en-US" dirty="0"/>
            </a:p>
          </p:txBody>
        </p:sp>
      </p:grpSp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数学推导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buClrTx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坐标旋转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降维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8</a:t>
            </a:fld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E99BD27F-8368-8E13-207B-4F1E9C4A6BF5}"/>
              </a:ext>
            </a:extLst>
          </p:cNvPr>
          <p:cNvGrpSpPr/>
          <p:nvPr/>
        </p:nvGrpSpPr>
        <p:grpSpPr>
          <a:xfrm>
            <a:off x="3914073" y="2737800"/>
            <a:ext cx="4772727" cy="2520000"/>
            <a:chOff x="3914073" y="2737800"/>
            <a:chExt cx="4772727" cy="2520000"/>
          </a:xfrm>
        </p:grpSpPr>
        <p:pic>
          <p:nvPicPr>
            <p:cNvPr id="1028" name="Picture 4" descr="正交变化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4073" y="2737800"/>
              <a:ext cx="4772727" cy="25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97B8195-0C81-9E59-C202-0F97A78DD2E1}"/>
                </a:ext>
              </a:extLst>
            </p:cNvPr>
            <p:cNvSpPr txBox="1"/>
            <p:nvPr/>
          </p:nvSpPr>
          <p:spPr>
            <a:xfrm>
              <a:off x="8026857" y="4888468"/>
              <a:ext cx="46679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X1</a:t>
              </a:r>
              <a:endParaRPr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4E22D0E-44D8-ACA5-8D91-5F20DC3BF69F}"/>
                </a:ext>
              </a:extLst>
            </p:cNvPr>
            <p:cNvSpPr txBox="1"/>
            <p:nvPr/>
          </p:nvSpPr>
          <p:spPr>
            <a:xfrm>
              <a:off x="5255962" y="2737800"/>
              <a:ext cx="46679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X2</a:t>
              </a:r>
              <a:endParaRPr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6B78D67-9DEB-C4C0-93FF-33052F6DBABA}"/>
                </a:ext>
              </a:extLst>
            </p:cNvPr>
            <p:cNvSpPr txBox="1"/>
            <p:nvPr/>
          </p:nvSpPr>
          <p:spPr>
            <a:xfrm>
              <a:off x="4442044" y="3239029"/>
              <a:ext cx="465496" cy="379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Y2</a:t>
              </a:r>
              <a:endParaRPr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7E5D6F7-2A86-99D8-6D3F-CAD764ADC9B9}"/>
                </a:ext>
              </a:extLst>
            </p:cNvPr>
            <p:cNvSpPr txBox="1"/>
            <p:nvPr/>
          </p:nvSpPr>
          <p:spPr>
            <a:xfrm>
              <a:off x="7794109" y="3289326"/>
              <a:ext cx="465496" cy="379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Y1</a:t>
              </a:r>
              <a:endParaRPr lang="zh-CN" altLang="en-US" dirty="0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0E3CDEE-1B92-05B5-BCDF-42C4F1936365}"/>
              </a:ext>
            </a:extLst>
          </p:cNvPr>
          <p:cNvGrpSpPr/>
          <p:nvPr/>
        </p:nvGrpSpPr>
        <p:grpSpPr>
          <a:xfrm>
            <a:off x="457200" y="2737799"/>
            <a:ext cx="3563157" cy="2560296"/>
            <a:chOff x="457200" y="2737799"/>
            <a:chExt cx="3563157" cy="2560296"/>
          </a:xfrm>
        </p:grpSpPr>
        <p:pic>
          <p:nvPicPr>
            <p:cNvPr id="1026" name="Picture 2" descr="样本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" y="2737799"/>
              <a:ext cx="3504490" cy="2523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098DC56F-E38D-7AB3-D212-FCA14789CA17}"/>
                </a:ext>
              </a:extLst>
            </p:cNvPr>
            <p:cNvSpPr txBox="1"/>
            <p:nvPr/>
          </p:nvSpPr>
          <p:spPr>
            <a:xfrm>
              <a:off x="3553563" y="4928763"/>
              <a:ext cx="46679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X1</a:t>
              </a:r>
              <a:endParaRPr lang="zh-CN" altLang="en-US" dirty="0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1310594F-EB4D-3875-C271-146AF7ED6814}"/>
                </a:ext>
              </a:extLst>
            </p:cNvPr>
            <p:cNvSpPr txBox="1"/>
            <p:nvPr/>
          </p:nvSpPr>
          <p:spPr>
            <a:xfrm>
              <a:off x="583053" y="2741932"/>
              <a:ext cx="46679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X2</a:t>
              </a:r>
              <a:endParaRPr lang="zh-CN" altLang="en-US" dirty="0"/>
            </a:p>
          </p:txBody>
        </p:sp>
      </p:grpSp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数学推导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buClrTx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坐标旋转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降维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9</a:t>
            </a:fld>
            <a:endParaRPr lang="en-US" altLang="zh-CN" dirty="0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4D657079-616F-F3EA-AF0D-D0557B9BB805}"/>
              </a:ext>
            </a:extLst>
          </p:cNvPr>
          <p:cNvSpPr/>
          <p:nvPr/>
        </p:nvSpPr>
        <p:spPr>
          <a:xfrm>
            <a:off x="3614596" y="3339122"/>
            <a:ext cx="341713" cy="1317356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3C6220-B105-67E0-B085-B05B92864945}"/>
              </a:ext>
            </a:extLst>
          </p:cNvPr>
          <p:cNvSpPr txBox="1"/>
          <p:nvPr/>
        </p:nvSpPr>
        <p:spPr>
          <a:xfrm>
            <a:off x="457198" y="5400368"/>
            <a:ext cx="5265558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坐标轴投影重叠少、范围大：信息保留多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坐标轴投影正交：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不相关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39961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E99BD27F-8368-8E13-207B-4F1E9C4A6BF5}"/>
              </a:ext>
            </a:extLst>
          </p:cNvPr>
          <p:cNvGrpSpPr/>
          <p:nvPr/>
        </p:nvGrpSpPr>
        <p:grpSpPr>
          <a:xfrm>
            <a:off x="3914073" y="2737800"/>
            <a:ext cx="4772727" cy="2520000"/>
            <a:chOff x="3914073" y="2737800"/>
            <a:chExt cx="4772727" cy="2520000"/>
          </a:xfrm>
        </p:grpSpPr>
        <p:pic>
          <p:nvPicPr>
            <p:cNvPr id="1028" name="Picture 4" descr="正交变化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4073" y="2737800"/>
              <a:ext cx="4772727" cy="25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97B8195-0C81-9E59-C202-0F97A78DD2E1}"/>
                </a:ext>
              </a:extLst>
            </p:cNvPr>
            <p:cNvSpPr txBox="1"/>
            <p:nvPr/>
          </p:nvSpPr>
          <p:spPr>
            <a:xfrm>
              <a:off x="8026857" y="4888468"/>
              <a:ext cx="46679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X1</a:t>
              </a:r>
              <a:endParaRPr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4E22D0E-44D8-ACA5-8D91-5F20DC3BF69F}"/>
                </a:ext>
              </a:extLst>
            </p:cNvPr>
            <p:cNvSpPr txBox="1"/>
            <p:nvPr/>
          </p:nvSpPr>
          <p:spPr>
            <a:xfrm>
              <a:off x="5255962" y="2737800"/>
              <a:ext cx="46679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X2</a:t>
              </a:r>
              <a:endParaRPr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6B78D67-9DEB-C4C0-93FF-33052F6DBABA}"/>
                </a:ext>
              </a:extLst>
            </p:cNvPr>
            <p:cNvSpPr txBox="1"/>
            <p:nvPr/>
          </p:nvSpPr>
          <p:spPr>
            <a:xfrm>
              <a:off x="4442044" y="3239029"/>
              <a:ext cx="465496" cy="379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Y2</a:t>
              </a:r>
              <a:endParaRPr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7E5D6F7-2A86-99D8-6D3F-CAD764ADC9B9}"/>
                </a:ext>
              </a:extLst>
            </p:cNvPr>
            <p:cNvSpPr txBox="1"/>
            <p:nvPr/>
          </p:nvSpPr>
          <p:spPr>
            <a:xfrm>
              <a:off x="7794109" y="3289326"/>
              <a:ext cx="465496" cy="379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Y1</a:t>
              </a:r>
              <a:endParaRPr lang="zh-CN" altLang="en-US" dirty="0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0E3CDEE-1B92-05B5-BCDF-42C4F1936365}"/>
              </a:ext>
            </a:extLst>
          </p:cNvPr>
          <p:cNvGrpSpPr/>
          <p:nvPr/>
        </p:nvGrpSpPr>
        <p:grpSpPr>
          <a:xfrm>
            <a:off x="457200" y="2737799"/>
            <a:ext cx="3563157" cy="2560296"/>
            <a:chOff x="457200" y="2737799"/>
            <a:chExt cx="3563157" cy="2560296"/>
          </a:xfrm>
        </p:grpSpPr>
        <p:pic>
          <p:nvPicPr>
            <p:cNvPr id="1026" name="Picture 2" descr="样本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" y="2737799"/>
              <a:ext cx="3504490" cy="2523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098DC56F-E38D-7AB3-D212-FCA14789CA17}"/>
                </a:ext>
              </a:extLst>
            </p:cNvPr>
            <p:cNvSpPr txBox="1"/>
            <p:nvPr/>
          </p:nvSpPr>
          <p:spPr>
            <a:xfrm>
              <a:off x="3553563" y="4928763"/>
              <a:ext cx="46679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X1</a:t>
              </a:r>
              <a:endParaRPr lang="zh-CN" altLang="en-US" dirty="0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1310594F-EB4D-3875-C271-146AF7ED6814}"/>
                </a:ext>
              </a:extLst>
            </p:cNvPr>
            <p:cNvSpPr txBox="1"/>
            <p:nvPr/>
          </p:nvSpPr>
          <p:spPr>
            <a:xfrm>
              <a:off x="583053" y="2741932"/>
              <a:ext cx="46679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X2</a:t>
              </a:r>
              <a:endParaRPr lang="zh-CN" altLang="en-US" dirty="0"/>
            </a:p>
          </p:txBody>
        </p:sp>
      </p:grpSp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数学推导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buClrTx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坐标旋转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降维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10</a:t>
            </a:fld>
            <a:endParaRPr lang="en-US" altLang="zh-CN" dirty="0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4D657079-616F-F3EA-AF0D-D0557B9BB805}"/>
              </a:ext>
            </a:extLst>
          </p:cNvPr>
          <p:cNvSpPr/>
          <p:nvPr/>
        </p:nvSpPr>
        <p:spPr>
          <a:xfrm>
            <a:off x="3614596" y="3339122"/>
            <a:ext cx="341713" cy="1317356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3C6220-B105-67E0-B085-B05B92864945}"/>
              </a:ext>
            </a:extLst>
          </p:cNvPr>
          <p:cNvSpPr txBox="1"/>
          <p:nvPr/>
        </p:nvSpPr>
        <p:spPr>
          <a:xfrm>
            <a:off x="457198" y="5400368"/>
            <a:ext cx="5265558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坐标轴投影重叠少、范围大：信息保留多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坐标轴投影正交：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不相关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旋转多少度？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Y1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、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Y2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是 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X1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、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X2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线性组合？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38278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数学推导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假设原坐标系旋转了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sz="2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如何确定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sz="2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？</a:t>
                </a:r>
                <a:endParaRPr lang="en-US" altLang="zh-CN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 b="-16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11</a:t>
            </a:fld>
            <a:endParaRPr lang="en-US" altLang="zh-CN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3F06E82-34A6-9C03-A6FF-AD878EDF460C}"/>
              </a:ext>
            </a:extLst>
          </p:cNvPr>
          <p:cNvGrpSpPr/>
          <p:nvPr/>
        </p:nvGrpSpPr>
        <p:grpSpPr>
          <a:xfrm>
            <a:off x="4569038" y="2920910"/>
            <a:ext cx="4481581" cy="2520000"/>
            <a:chOff x="4052287" y="549000"/>
            <a:chExt cx="4481581" cy="252000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2287" y="549000"/>
              <a:ext cx="4455249" cy="25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4204F141-3185-1EF3-34DC-2C328E4B2884}"/>
                </a:ext>
              </a:extLst>
            </p:cNvPr>
            <p:cNvSpPr txBox="1"/>
            <p:nvPr/>
          </p:nvSpPr>
          <p:spPr>
            <a:xfrm>
              <a:off x="4339252" y="1110638"/>
              <a:ext cx="465496" cy="379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Y2</a:t>
              </a:r>
              <a:endParaRPr lang="zh-CN" altLang="en-US" dirty="0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706491F-4EDA-8510-AD2D-E5F7D0007803}"/>
                </a:ext>
              </a:extLst>
            </p:cNvPr>
            <p:cNvSpPr txBox="1"/>
            <p:nvPr/>
          </p:nvSpPr>
          <p:spPr>
            <a:xfrm>
              <a:off x="7800540" y="1159658"/>
              <a:ext cx="465496" cy="379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Y1</a:t>
              </a:r>
              <a:endParaRPr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A54CA43-D25B-30E8-F50D-EC28A3358B58}"/>
                </a:ext>
              </a:extLst>
            </p:cNvPr>
            <p:cNvSpPr txBox="1"/>
            <p:nvPr/>
          </p:nvSpPr>
          <p:spPr>
            <a:xfrm>
              <a:off x="8068372" y="2689058"/>
              <a:ext cx="465496" cy="379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X1</a:t>
              </a:r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8650B77-A3F4-B09D-D44F-0F7F0B76582B}"/>
                </a:ext>
              </a:extLst>
            </p:cNvPr>
            <p:cNvSpPr txBox="1"/>
            <p:nvPr/>
          </p:nvSpPr>
          <p:spPr>
            <a:xfrm>
              <a:off x="5291593" y="648758"/>
              <a:ext cx="465496" cy="379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X2</a:t>
              </a:r>
              <a:endParaRPr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839FCCC-D420-8E9D-54FF-D7E104C41502}"/>
                  </a:ext>
                </a:extLst>
              </p:cNvPr>
              <p:cNvSpPr txBox="1"/>
              <p:nvPr/>
            </p:nvSpPr>
            <p:spPr>
              <a:xfrm>
                <a:off x="678964" y="2920910"/>
                <a:ext cx="3890075" cy="164339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m:rPr>
                          <m:aln/>
                        </m:rP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CN" sz="20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zh-CN" altLang="en-US" sz="20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20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CN" sz="200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839FCCC-D420-8E9D-54FF-D7E104C41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964" y="2920910"/>
                <a:ext cx="3890075" cy="16433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D63B41C-CA90-2726-0407-5DF57CF6DC69}"/>
                  </a:ext>
                </a:extLst>
              </p:cNvPr>
              <p:cNvSpPr txBox="1"/>
              <p:nvPr/>
            </p:nvSpPr>
            <p:spPr>
              <a:xfrm>
                <a:off x="678963" y="4840089"/>
                <a:ext cx="3890075" cy="8217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=1,2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D63B41C-CA90-2726-0407-5DF57CF6D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963" y="4840089"/>
                <a:ext cx="3890075" cy="8217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数学推导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假设原坐标系旋转了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sz="2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如何确定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zh-CN" alt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sz="2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方差最大化！</a:t>
                </a:r>
                <a:endParaRPr lang="en-US" altLang="zh-CN" sz="2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 b="-16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12</a:t>
            </a:fld>
            <a:endParaRPr lang="en-US" altLang="zh-CN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3F06E82-34A6-9C03-A6FF-AD878EDF460C}"/>
              </a:ext>
            </a:extLst>
          </p:cNvPr>
          <p:cNvGrpSpPr/>
          <p:nvPr/>
        </p:nvGrpSpPr>
        <p:grpSpPr>
          <a:xfrm>
            <a:off x="4569038" y="2920910"/>
            <a:ext cx="4481581" cy="2520000"/>
            <a:chOff x="4052287" y="549000"/>
            <a:chExt cx="4481581" cy="252000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2287" y="549000"/>
              <a:ext cx="4455249" cy="25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4204F141-3185-1EF3-34DC-2C328E4B2884}"/>
                </a:ext>
              </a:extLst>
            </p:cNvPr>
            <p:cNvSpPr txBox="1"/>
            <p:nvPr/>
          </p:nvSpPr>
          <p:spPr>
            <a:xfrm>
              <a:off x="4339252" y="1110638"/>
              <a:ext cx="465496" cy="379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Y2</a:t>
              </a:r>
              <a:endParaRPr lang="zh-CN" altLang="en-US" dirty="0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706491F-4EDA-8510-AD2D-E5F7D0007803}"/>
                </a:ext>
              </a:extLst>
            </p:cNvPr>
            <p:cNvSpPr txBox="1"/>
            <p:nvPr/>
          </p:nvSpPr>
          <p:spPr>
            <a:xfrm>
              <a:off x="7800540" y="1159658"/>
              <a:ext cx="465496" cy="379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Y1</a:t>
              </a:r>
              <a:endParaRPr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A54CA43-D25B-30E8-F50D-EC28A3358B58}"/>
                </a:ext>
              </a:extLst>
            </p:cNvPr>
            <p:cNvSpPr txBox="1"/>
            <p:nvPr/>
          </p:nvSpPr>
          <p:spPr>
            <a:xfrm>
              <a:off x="8068372" y="2689058"/>
              <a:ext cx="465496" cy="379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X1</a:t>
              </a:r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8650B77-A3F4-B09D-D44F-0F7F0B76582B}"/>
                </a:ext>
              </a:extLst>
            </p:cNvPr>
            <p:cNvSpPr txBox="1"/>
            <p:nvPr/>
          </p:nvSpPr>
          <p:spPr>
            <a:xfrm>
              <a:off x="5291593" y="648758"/>
              <a:ext cx="465496" cy="379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X2</a:t>
              </a:r>
              <a:endParaRPr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839FCCC-D420-8E9D-54FF-D7E104C41502}"/>
                  </a:ext>
                </a:extLst>
              </p:cNvPr>
              <p:cNvSpPr txBox="1"/>
              <p:nvPr/>
            </p:nvSpPr>
            <p:spPr>
              <a:xfrm>
                <a:off x="678964" y="2920910"/>
                <a:ext cx="3890075" cy="164339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m:rPr>
                          <m:aln/>
                        </m:rP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CN" sz="20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zh-CN" altLang="en-US" sz="20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20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CN" sz="200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839FCCC-D420-8E9D-54FF-D7E104C41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964" y="2920910"/>
                <a:ext cx="3890075" cy="16433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D63B41C-CA90-2726-0407-5DF57CF6DC69}"/>
                  </a:ext>
                </a:extLst>
              </p:cNvPr>
              <p:cNvSpPr txBox="1"/>
              <p:nvPr/>
            </p:nvSpPr>
            <p:spPr>
              <a:xfrm>
                <a:off x="678964" y="4840089"/>
                <a:ext cx="3890075" cy="8217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=1,2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D63B41C-CA90-2726-0407-5DF57CF6D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964" y="4840089"/>
                <a:ext cx="3890075" cy="8217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2795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数学推导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针对第一个主成分，令其方差最大化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13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E12CEB1-78C8-97F9-B41A-946A1EA49D4E}"/>
                  </a:ext>
                </a:extLst>
              </p:cNvPr>
              <p:cNvSpPr txBox="1"/>
              <p:nvPr/>
            </p:nvSpPr>
            <p:spPr>
              <a:xfrm>
                <a:off x="2252346" y="2991444"/>
                <a:ext cx="4639307" cy="87511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altLang="zh-CN" sz="20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d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00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altLang="zh-CN" sz="20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acc>
                                                      <m:accPr>
                                                        <m:chr m:val="̅"/>
                                                        <m:ctrlPr>
                                                          <a:rPr lang="en-US" altLang="zh-CN" sz="200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accPr>
                                                      <m:e>
                                                        <m:r>
                                                          <a:rPr lang="en-US" altLang="zh-CN" sz="20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</m:e>
                                                    </m:acc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acc>
                                                      <m:accPr>
                                                        <m:chr m:val="̅"/>
                                                        <m:ctrlPr>
                                                          <a:rPr lang="en-US" altLang="zh-CN" sz="20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accPr>
                                                      <m:e>
                                                        <m:r>
                                                          <a:rPr lang="en-US" altLang="zh-CN" sz="20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</m:e>
                                                    </m:acc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E12CEB1-78C8-97F9-B41A-946A1EA49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346" y="2991444"/>
                <a:ext cx="4639307" cy="8751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072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数学推导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针对第一个主成分，令其方差最大化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等式约束优化问题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3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拉格朗日乘子法（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Lagrange multipliers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14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E12CEB1-78C8-97F9-B41A-946A1EA49D4E}"/>
                  </a:ext>
                </a:extLst>
              </p:cNvPr>
              <p:cNvSpPr txBox="1"/>
              <p:nvPr/>
            </p:nvSpPr>
            <p:spPr>
              <a:xfrm>
                <a:off x="2252346" y="2991444"/>
                <a:ext cx="4639307" cy="87511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altLang="zh-CN" sz="20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d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00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altLang="zh-CN" sz="20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acc>
                                                      <m:accPr>
                                                        <m:chr m:val="̅"/>
                                                        <m:ctrlPr>
                                                          <a:rPr lang="en-US" altLang="zh-CN" sz="200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accPr>
                                                      <m:e>
                                                        <m:r>
                                                          <a:rPr lang="en-US" altLang="zh-CN" sz="20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</m:e>
                                                    </m:acc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acc>
                                                      <m:accPr>
                                                        <m:chr m:val="̅"/>
                                                        <m:ctrlPr>
                                                          <a:rPr lang="en-US" altLang="zh-CN" sz="20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accPr>
                                                      <m:e>
                                                        <m:r>
                                                          <a:rPr lang="en-US" altLang="zh-CN" sz="20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</m:e>
                                                    </m:acc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E12CEB1-78C8-97F9-B41A-946A1EA49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346" y="2991444"/>
                <a:ext cx="4639307" cy="8751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65785F2-C2DD-DDDF-D80A-03C17E6C2166}"/>
                  </a:ext>
                </a:extLst>
              </p:cNvPr>
              <p:cNvSpPr txBox="1"/>
              <p:nvPr/>
            </p:nvSpPr>
            <p:spPr>
              <a:xfrm>
                <a:off x="2252346" y="4038600"/>
                <a:ext cx="4639306" cy="41011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m:t>=1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65785F2-C2DD-DDDF-D80A-03C17E6C2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346" y="4038600"/>
                <a:ext cx="4639306" cy="4101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3B16020A-D14C-5622-C29E-1CA795C35142}"/>
              </a:ext>
            </a:extLst>
          </p:cNvPr>
          <p:cNvSpPr txBox="1"/>
          <p:nvPr/>
        </p:nvSpPr>
        <p:spPr>
          <a:xfrm>
            <a:off x="1401268" y="2991444"/>
            <a:ext cx="1132704" cy="369332"/>
          </a:xfrm>
          <a:prstGeom prst="rect">
            <a:avLst/>
          </a:prstGeom>
          <a:solidFill>
            <a:schemeClr val="bg1"/>
          </a:solidFill>
          <a:ln w="127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目标函数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40068D-36B7-27D0-7ED6-0A51C324A344}"/>
              </a:ext>
            </a:extLst>
          </p:cNvPr>
          <p:cNvSpPr txBox="1"/>
          <p:nvPr/>
        </p:nvSpPr>
        <p:spPr>
          <a:xfrm>
            <a:off x="1401268" y="4038600"/>
            <a:ext cx="1132704" cy="369332"/>
          </a:xfrm>
          <a:prstGeom prst="rect">
            <a:avLst/>
          </a:prstGeom>
          <a:solidFill>
            <a:schemeClr val="bg1"/>
          </a:solidFill>
          <a:ln w="127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约束条件</a:t>
            </a:r>
          </a:p>
        </p:txBody>
      </p:sp>
    </p:spTree>
    <p:extLst>
      <p:ext uri="{BB962C8B-B14F-4D97-AF65-F5344CB8AC3E}">
        <p14:creationId xmlns:p14="http://schemas.microsoft.com/office/powerpoint/2010/main" val="164194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拉格朗日乘子法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731520" lvl="1" indent="-457200">
                  <a:lnSpc>
                    <a:spcPct val="150000"/>
                  </a:lnSpc>
                  <a:buClrTx/>
                  <a:buFont typeface="+mj-ea"/>
                  <a:buAutoNum type="circleNumDbPlain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假设目标函数是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，限制条件是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altLang="zh-CN" sz="2400" i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731520" lvl="1" indent="-457200">
                  <a:lnSpc>
                    <a:spcPct val="150000"/>
                  </a:lnSpc>
                  <a:buClrTx/>
                  <a:buFont typeface="+mj-ea"/>
                  <a:buAutoNum type="circleNumDbPlain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构造拉格朗日函数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731520" lvl="1" indent="-457200">
                  <a:lnSpc>
                    <a:spcPct val="150000"/>
                  </a:lnSpc>
                  <a:buClrTx/>
                  <a:buFont typeface="+mj-ea"/>
                  <a:buAutoNum type="circleNumDbPlain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对拉格朗日函数求偏导取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，即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zh-CN" altLang="en-US" sz="24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𝐹</m:t>
                        </m:r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𝐹</m:t>
                        </m:r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𝐹</m:t>
                        </m:r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𝜕𝜆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15</a:t>
            </a:fld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873CEB-128E-6EFD-DD8B-6C7C5CE7730E}"/>
              </a:ext>
            </a:extLst>
          </p:cNvPr>
          <p:cNvSpPr txBox="1"/>
          <p:nvPr/>
        </p:nvSpPr>
        <p:spPr>
          <a:xfrm>
            <a:off x="457199" y="64834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https://www.zhihu.com/question/38586401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数学推导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237066" y="-145257"/>
            <a:ext cx="2895600" cy="328613"/>
          </a:xfrm>
        </p:spPr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3287D9-28D5-7D6E-CB40-136B70859436}"/>
                  </a:ext>
                </a:extLst>
              </p:cNvPr>
              <p:cNvSpPr txBox="1"/>
              <p:nvPr/>
            </p:nvSpPr>
            <p:spPr>
              <a:xfrm>
                <a:off x="4253079" y="591144"/>
                <a:ext cx="4639307" cy="87511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altLang="zh-CN" sz="20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d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00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altLang="zh-CN" sz="20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acc>
                                                      <m:accPr>
                                                        <m:chr m:val="̅"/>
                                                        <m:ctrlPr>
                                                          <a:rPr lang="en-US" altLang="zh-CN" sz="200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accPr>
                                                      <m:e>
                                                        <m:r>
                                                          <a:rPr lang="en-US" altLang="zh-CN" sz="20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</m:e>
                                                    </m:acc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acc>
                                                      <m:accPr>
                                                        <m:chr m:val="̅"/>
                                                        <m:ctrlPr>
                                                          <a:rPr lang="en-US" altLang="zh-CN" sz="20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accPr>
                                                      <m:e>
                                                        <m:r>
                                                          <a:rPr lang="en-US" altLang="zh-CN" sz="20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</m:e>
                                                    </m:acc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3287D9-28D5-7D6E-CB40-136B70859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079" y="591144"/>
                <a:ext cx="4639307" cy="8751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A57757F-0662-F4E6-3601-1FB288659059}"/>
                  </a:ext>
                </a:extLst>
              </p:cNvPr>
              <p:cNvSpPr txBox="1"/>
              <p:nvPr/>
            </p:nvSpPr>
            <p:spPr>
              <a:xfrm>
                <a:off x="237066" y="2236192"/>
                <a:ext cx="8669867" cy="45120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00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 b="0" i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00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00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en-US" altLang="zh-CN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en-US" altLang="zh-CN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d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00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n-US" altLang="zh-CN" sz="2000" i="1" smtClean="0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altLang="zh-CN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n-US" altLang="zh-CN" sz="20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sz="20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altLang="zh-CN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d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d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sz="2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n-US" altLang="zh-CN" sz="20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sz="20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CN" sz="2000" b="0" i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en-US" altLang="zh-CN" sz="2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n-US" altLang="zh-CN" sz="2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en-US" altLang="zh-CN" sz="2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zh-CN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n-US" altLang="zh-CN" sz="2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zh-CN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sz="2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n-US" altLang="zh-CN" sz="20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sz="20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altLang="zh-CN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CN" sz="200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A57757F-0662-F4E6-3601-1FB288659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66" y="2236192"/>
                <a:ext cx="8669867" cy="45120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089387A8-D48C-D048-2F38-2F75157DE8CA}"/>
              </a:ext>
            </a:extLst>
          </p:cNvPr>
          <p:cNvCxnSpPr>
            <a:cxnSpLocks/>
            <a:stCxn id="2" idx="2"/>
          </p:cNvCxnSpPr>
          <p:nvPr/>
        </p:nvCxnSpPr>
        <p:spPr>
          <a:xfrm rot="5400000">
            <a:off x="4763219" y="909277"/>
            <a:ext cx="1252537" cy="2366493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数学推导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237066" y="-145257"/>
            <a:ext cx="2895600" cy="328613"/>
          </a:xfrm>
        </p:spPr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17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3287D9-28D5-7D6E-CB40-136B70859436}"/>
                  </a:ext>
                </a:extLst>
              </p:cNvPr>
              <p:cNvSpPr txBox="1"/>
              <p:nvPr/>
            </p:nvSpPr>
            <p:spPr>
              <a:xfrm>
                <a:off x="4253079" y="591144"/>
                <a:ext cx="4639307" cy="87511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altLang="zh-CN" sz="20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d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00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altLang="zh-CN" sz="20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acc>
                                                      <m:accPr>
                                                        <m:chr m:val="̅"/>
                                                        <m:ctrlPr>
                                                          <a:rPr lang="en-US" altLang="zh-CN" sz="200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accPr>
                                                      <m:e>
                                                        <m:r>
                                                          <a:rPr lang="en-US" altLang="zh-CN" sz="20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</m:e>
                                                    </m:acc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acc>
                                                      <m:accPr>
                                                        <m:chr m:val="̅"/>
                                                        <m:ctrlPr>
                                                          <a:rPr lang="en-US" altLang="zh-CN" sz="20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accPr>
                                                      <m:e>
                                                        <m:r>
                                                          <a:rPr lang="en-US" altLang="zh-CN" sz="20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</m:e>
                                                    </m:acc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3287D9-28D5-7D6E-CB40-136B70859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079" y="591144"/>
                <a:ext cx="4639307" cy="8751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A57757F-0662-F4E6-3601-1FB288659059}"/>
                  </a:ext>
                </a:extLst>
              </p:cNvPr>
              <p:cNvSpPr txBox="1"/>
              <p:nvPr/>
            </p:nvSpPr>
            <p:spPr>
              <a:xfrm>
                <a:off x="237066" y="2236192"/>
                <a:ext cx="8669867" cy="45120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00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 b="0" i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00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00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en-US" altLang="zh-CN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en-US" altLang="zh-CN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d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00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n-US" altLang="zh-CN" sz="2000" i="1" smtClean="0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altLang="zh-CN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n-US" altLang="zh-CN" sz="20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sz="20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altLang="zh-CN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d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>
                                              <a:latin typeface="Cambria Math" panose="02040503050406030204" pitchFamily="18" charset="0"/>
                                            </a:rPr>
                                            <m:t>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d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sz="2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n-US" altLang="zh-CN" sz="20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sz="20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CN" sz="2000" b="0" i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en-US" altLang="zh-CN" sz="2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n-US" altLang="zh-CN" sz="2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en-US" altLang="zh-CN" sz="2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zh-CN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n-US" altLang="zh-CN" sz="2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zh-CN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sz="2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0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20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n-US" altLang="zh-CN" sz="20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sz="20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altLang="zh-CN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CN" sz="200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A57757F-0662-F4E6-3601-1FB288659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66" y="2236192"/>
                <a:ext cx="8669867" cy="45120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089387A8-D48C-D048-2F38-2F75157DE8CA}"/>
              </a:ext>
            </a:extLst>
          </p:cNvPr>
          <p:cNvCxnSpPr>
            <a:cxnSpLocks/>
            <a:stCxn id="2" idx="2"/>
          </p:cNvCxnSpPr>
          <p:nvPr/>
        </p:nvCxnSpPr>
        <p:spPr>
          <a:xfrm rot="5400000">
            <a:off x="4763219" y="909277"/>
            <a:ext cx="1252537" cy="2366493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D0F4ABE-5D13-02D2-54D4-6B6547E66ED3}"/>
                  </a:ext>
                </a:extLst>
              </p:cNvPr>
              <p:cNvSpPr txBox="1"/>
              <p:nvPr/>
            </p:nvSpPr>
            <p:spPr>
              <a:xfrm>
                <a:off x="5120537" y="4140168"/>
                <a:ext cx="3657601" cy="68493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𝑎𝑟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𝐶𝑜𝑣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𝐶𝑜𝑣</m:t>
                                </m:r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𝑎𝑟</m:t>
                                </m:r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D0F4ABE-5D13-02D2-54D4-6B6547E66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537" y="4140168"/>
                <a:ext cx="3657601" cy="6849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2938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数学推导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带入拉格朗日函数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18</a:t>
            </a:fld>
            <a:endParaRPr lang="en-US" altLang="zh-CN" dirty="0"/>
          </a:p>
        </p:txBody>
      </p:sp>
      <p:sp>
        <p:nvSpPr>
          <p:cNvPr id="10" name="矩形 9"/>
          <p:cNvSpPr/>
          <p:nvPr/>
        </p:nvSpPr>
        <p:spPr>
          <a:xfrm>
            <a:off x="3088005" y="5374005"/>
            <a:ext cx="193675" cy="1720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53FD747-F155-C9ED-0DAC-D6A9A6CD3BE3}"/>
                  </a:ext>
                </a:extLst>
              </p:cNvPr>
              <p:cNvSpPr txBox="1"/>
              <p:nvPr/>
            </p:nvSpPr>
            <p:spPr>
              <a:xfrm>
                <a:off x="5292524" y="685836"/>
                <a:ext cx="3657601" cy="68493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𝑎𝑟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𝐶𝑜𝑣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𝐶𝑜𝑣</m:t>
                                </m:r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𝑎𝑟</m:t>
                                </m:r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53FD747-F155-C9ED-0DAC-D6A9A6CD3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524" y="685836"/>
                <a:ext cx="3657601" cy="6849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34954A4-C6ED-F496-7DA0-8DCA505E4F6E}"/>
                  </a:ext>
                </a:extLst>
              </p:cNvPr>
              <p:cNvSpPr txBox="1"/>
              <p:nvPr/>
            </p:nvSpPr>
            <p:spPr>
              <a:xfrm>
                <a:off x="2275822" y="2806691"/>
                <a:ext cx="4592356" cy="52110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zh-CN" altLang="en-US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34954A4-C6ED-F496-7DA0-8DCA505E4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822" y="2806691"/>
                <a:ext cx="4592356" cy="5211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连接符: 肘形 2">
            <a:extLst>
              <a:ext uri="{FF2B5EF4-FFF2-40B4-BE49-F238E27FC236}">
                <a16:creationId xmlns:a16="http://schemas.microsoft.com/office/drawing/2014/main" id="{5A88CB99-DE8F-5B2C-0959-ECBF60F5CA00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5400000">
            <a:off x="5128701" y="814067"/>
            <a:ext cx="1435924" cy="2549325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080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数学推导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带入拉格朗日函数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令偏导等于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19</a:t>
            </a:fld>
            <a:endParaRPr lang="en-US" altLang="zh-CN" dirty="0"/>
          </a:p>
        </p:txBody>
      </p:sp>
      <p:sp>
        <p:nvSpPr>
          <p:cNvPr id="10" name="矩形 9"/>
          <p:cNvSpPr/>
          <p:nvPr/>
        </p:nvSpPr>
        <p:spPr>
          <a:xfrm>
            <a:off x="3088005" y="5374005"/>
            <a:ext cx="193675" cy="1720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34954A4-C6ED-F496-7DA0-8DCA505E4F6E}"/>
                  </a:ext>
                </a:extLst>
              </p:cNvPr>
              <p:cNvSpPr txBox="1"/>
              <p:nvPr/>
            </p:nvSpPr>
            <p:spPr>
              <a:xfrm>
                <a:off x="2275822" y="2806691"/>
                <a:ext cx="4592356" cy="52110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zh-CN" altLang="en-US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34954A4-C6ED-F496-7DA0-8DCA505E4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822" y="2806691"/>
                <a:ext cx="4592356" cy="5211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840C16B-1FB7-687A-250A-394D672C91F3}"/>
                  </a:ext>
                </a:extLst>
              </p:cNvPr>
              <p:cNvSpPr txBox="1"/>
              <p:nvPr/>
            </p:nvSpPr>
            <p:spPr>
              <a:xfrm>
                <a:off x="2275822" y="4030529"/>
                <a:ext cx="4592356" cy="97142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840C16B-1FB7-687A-250A-394D672C9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822" y="4030529"/>
                <a:ext cx="4592356" cy="9714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B832A57-3A52-2E1A-D1DB-DAB4995CC885}"/>
                  </a:ext>
                </a:extLst>
              </p:cNvPr>
              <p:cNvSpPr txBox="1"/>
              <p:nvPr/>
            </p:nvSpPr>
            <p:spPr>
              <a:xfrm>
                <a:off x="2275822" y="5375015"/>
                <a:ext cx="4592356" cy="4001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B832A57-3A52-2E1A-D1DB-DAB4995CC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822" y="5375015"/>
                <a:ext cx="4592356" cy="400110"/>
              </a:xfrm>
              <a:prstGeom prst="rect">
                <a:avLst/>
              </a:prstGeom>
              <a:blipFill>
                <a:blip r:embed="rId5"/>
                <a:stretch>
                  <a:fillRect b="-149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BE1371F-2164-183E-E716-29A3B11510CA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4572000" y="3327796"/>
            <a:ext cx="0" cy="70273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F0D5F67-3532-4398-9CE5-E0C77101F067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>
            <a:off x="4572000" y="5001949"/>
            <a:ext cx="0" cy="37306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04254B3-F6E3-3ADB-5876-77BC0DF0D53A}"/>
                  </a:ext>
                </a:extLst>
              </p:cNvPr>
              <p:cNvSpPr txBox="1"/>
              <p:nvPr/>
            </p:nvSpPr>
            <p:spPr>
              <a:xfrm>
                <a:off x="5292524" y="685836"/>
                <a:ext cx="3657601" cy="68493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𝑎𝑟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𝐶𝑜𝑣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𝐶𝑜𝑣</m:t>
                                </m:r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𝑎𝑟</m:t>
                                </m:r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04254B3-F6E3-3ADB-5876-77BC0DF0D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524" y="685836"/>
                <a:ext cx="3657601" cy="6849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连接符: 肘形 2">
            <a:extLst>
              <a:ext uri="{FF2B5EF4-FFF2-40B4-BE49-F238E27FC236}">
                <a16:creationId xmlns:a16="http://schemas.microsoft.com/office/drawing/2014/main" id="{28FEA2DB-3EBA-8F85-FC3D-6BB91F9F4C7E}"/>
              </a:ext>
            </a:extLst>
          </p:cNvPr>
          <p:cNvCxnSpPr>
            <a:cxnSpLocks/>
            <a:stCxn id="2" idx="2"/>
          </p:cNvCxnSpPr>
          <p:nvPr/>
        </p:nvCxnSpPr>
        <p:spPr>
          <a:xfrm rot="5400000">
            <a:off x="5128701" y="814067"/>
            <a:ext cx="1435924" cy="2549325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871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数学推导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带入拉格朗日函数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令偏导等于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20</a:t>
            </a:fld>
            <a:endParaRPr lang="en-US" altLang="zh-CN" dirty="0"/>
          </a:p>
        </p:txBody>
      </p:sp>
      <p:sp>
        <p:nvSpPr>
          <p:cNvPr id="10" name="矩形 9"/>
          <p:cNvSpPr/>
          <p:nvPr/>
        </p:nvSpPr>
        <p:spPr>
          <a:xfrm>
            <a:off x="3088005" y="5374005"/>
            <a:ext cx="193675" cy="1720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34954A4-C6ED-F496-7DA0-8DCA505E4F6E}"/>
                  </a:ext>
                </a:extLst>
              </p:cNvPr>
              <p:cNvSpPr txBox="1"/>
              <p:nvPr/>
            </p:nvSpPr>
            <p:spPr>
              <a:xfrm>
                <a:off x="2275822" y="2806691"/>
                <a:ext cx="4592356" cy="52110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zh-CN" altLang="en-US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34954A4-C6ED-F496-7DA0-8DCA505E4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822" y="2806691"/>
                <a:ext cx="4592356" cy="5211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840C16B-1FB7-687A-250A-394D672C91F3}"/>
                  </a:ext>
                </a:extLst>
              </p:cNvPr>
              <p:cNvSpPr txBox="1"/>
              <p:nvPr/>
            </p:nvSpPr>
            <p:spPr>
              <a:xfrm>
                <a:off x="2275822" y="4030529"/>
                <a:ext cx="4592356" cy="97142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840C16B-1FB7-687A-250A-394D672C9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822" y="4030529"/>
                <a:ext cx="4592356" cy="9714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B832A57-3A52-2E1A-D1DB-DAB4995CC885}"/>
                  </a:ext>
                </a:extLst>
              </p:cNvPr>
              <p:cNvSpPr txBox="1"/>
              <p:nvPr/>
            </p:nvSpPr>
            <p:spPr>
              <a:xfrm>
                <a:off x="2275822" y="5375015"/>
                <a:ext cx="4592356" cy="4001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B832A57-3A52-2E1A-D1DB-DAB4995CC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822" y="5375015"/>
                <a:ext cx="4592356" cy="400110"/>
              </a:xfrm>
              <a:prstGeom prst="rect">
                <a:avLst/>
              </a:prstGeom>
              <a:blipFill>
                <a:blip r:embed="rId5"/>
                <a:stretch>
                  <a:fillRect b="-149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BE1371F-2164-183E-E716-29A3B11510CA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4572000" y="3327796"/>
            <a:ext cx="0" cy="70273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F0D5F67-3532-4398-9CE5-E0C77101F067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>
            <a:off x="4572000" y="5001949"/>
            <a:ext cx="0" cy="37306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3C4CA846-6C52-F77A-3541-A3B474D161B2}"/>
              </a:ext>
            </a:extLst>
          </p:cNvPr>
          <p:cNvSpPr txBox="1"/>
          <p:nvPr/>
        </p:nvSpPr>
        <p:spPr>
          <a:xfrm>
            <a:off x="1197613" y="5374005"/>
            <a:ext cx="2156417" cy="369332"/>
          </a:xfrm>
          <a:prstGeom prst="rect">
            <a:avLst/>
          </a:prstGeom>
          <a:solidFill>
            <a:schemeClr val="bg1"/>
          </a:solidFill>
          <a:ln w="127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特征值、特征向量！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E91E624-3D13-85C0-BBF5-BBF878975235}"/>
                  </a:ext>
                </a:extLst>
              </p:cNvPr>
              <p:cNvSpPr txBox="1"/>
              <p:nvPr/>
            </p:nvSpPr>
            <p:spPr>
              <a:xfrm>
                <a:off x="5292524" y="685836"/>
                <a:ext cx="3657601" cy="68493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𝑎𝑟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𝐶𝑜𝑣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𝐶𝑜𝑣</m:t>
                                </m:r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𝑎𝑟</m:t>
                                </m:r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E91E624-3D13-85C0-BBF5-BBF878975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524" y="685836"/>
                <a:ext cx="3657601" cy="6849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63BB382B-6BD2-9032-10B0-BE016DE0F0CA}"/>
              </a:ext>
            </a:extLst>
          </p:cNvPr>
          <p:cNvCxnSpPr>
            <a:cxnSpLocks/>
            <a:stCxn id="3" idx="2"/>
          </p:cNvCxnSpPr>
          <p:nvPr/>
        </p:nvCxnSpPr>
        <p:spPr>
          <a:xfrm rot="5400000">
            <a:off x="5128701" y="814067"/>
            <a:ext cx="1435924" cy="2549325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数学推导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带入拉格朗日函数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令偏导等于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21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275822" y="6148191"/>
                <a:ext cx="4592356" cy="4766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r>
                        <a:rPr lang="zh-CN" altLang="en-US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822" y="6148191"/>
                <a:ext cx="4592356" cy="476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3088005" y="5374005"/>
            <a:ext cx="193675" cy="1720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34954A4-C6ED-F496-7DA0-8DCA505E4F6E}"/>
                  </a:ext>
                </a:extLst>
              </p:cNvPr>
              <p:cNvSpPr txBox="1"/>
              <p:nvPr/>
            </p:nvSpPr>
            <p:spPr>
              <a:xfrm>
                <a:off x="2275822" y="2806691"/>
                <a:ext cx="4592356" cy="52110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zh-CN" altLang="en-US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34954A4-C6ED-F496-7DA0-8DCA505E4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822" y="2806691"/>
                <a:ext cx="4592356" cy="5211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840C16B-1FB7-687A-250A-394D672C91F3}"/>
                  </a:ext>
                </a:extLst>
              </p:cNvPr>
              <p:cNvSpPr txBox="1"/>
              <p:nvPr/>
            </p:nvSpPr>
            <p:spPr>
              <a:xfrm>
                <a:off x="2275822" y="4030529"/>
                <a:ext cx="4592356" cy="97142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840C16B-1FB7-687A-250A-394D672C9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822" y="4030529"/>
                <a:ext cx="4592356" cy="9714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B832A57-3A52-2E1A-D1DB-DAB4995CC885}"/>
                  </a:ext>
                </a:extLst>
              </p:cNvPr>
              <p:cNvSpPr txBox="1"/>
              <p:nvPr/>
            </p:nvSpPr>
            <p:spPr>
              <a:xfrm>
                <a:off x="2275822" y="5375015"/>
                <a:ext cx="4592356" cy="4001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B832A57-3A52-2E1A-D1DB-DAB4995CC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822" y="5375015"/>
                <a:ext cx="4592356" cy="400110"/>
              </a:xfrm>
              <a:prstGeom prst="rect">
                <a:avLst/>
              </a:prstGeom>
              <a:blipFill>
                <a:blip r:embed="rId6"/>
                <a:stretch>
                  <a:fillRect b="-149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BE1371F-2164-183E-E716-29A3B11510CA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4572000" y="3327796"/>
            <a:ext cx="0" cy="70273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F0D5F67-3532-4398-9CE5-E0C77101F067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>
            <a:off x="4572000" y="5001949"/>
            <a:ext cx="0" cy="37306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50B5C0D-DE6F-12F7-A387-E2A34F432E72}"/>
              </a:ext>
            </a:extLst>
          </p:cNvPr>
          <p:cNvCxnSpPr>
            <a:cxnSpLocks/>
            <a:stCxn id="18" idx="2"/>
            <a:endCxn id="2" idx="0"/>
          </p:cNvCxnSpPr>
          <p:nvPr/>
        </p:nvCxnSpPr>
        <p:spPr>
          <a:xfrm>
            <a:off x="4572000" y="5775125"/>
            <a:ext cx="0" cy="37306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9360797-F23C-3EE3-4B0C-A77435156C63}"/>
              </a:ext>
            </a:extLst>
          </p:cNvPr>
          <p:cNvSpPr txBox="1"/>
          <p:nvPr/>
        </p:nvSpPr>
        <p:spPr>
          <a:xfrm>
            <a:off x="1197613" y="5374005"/>
            <a:ext cx="2156417" cy="369332"/>
          </a:xfrm>
          <a:prstGeom prst="rect">
            <a:avLst/>
          </a:prstGeom>
          <a:solidFill>
            <a:schemeClr val="bg1"/>
          </a:solidFill>
          <a:ln w="127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特征值、特征向量！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63F56A9-7550-F1B7-C64B-198D2E20CA56}"/>
                  </a:ext>
                </a:extLst>
              </p:cNvPr>
              <p:cNvSpPr txBox="1"/>
              <p:nvPr/>
            </p:nvSpPr>
            <p:spPr>
              <a:xfrm>
                <a:off x="5292524" y="685836"/>
                <a:ext cx="3657601" cy="68493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𝑎𝑟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𝐶𝑜𝑣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𝐶𝑜𝑣</m:t>
                                </m:r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𝑎𝑟</m:t>
                                </m:r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63F56A9-7550-F1B7-C64B-198D2E20C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524" y="685836"/>
                <a:ext cx="3657601" cy="6849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EA90809E-A77B-B118-0DEE-C5FDECD340FA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>
            <a:off x="5128701" y="814067"/>
            <a:ext cx="1435924" cy="2549325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800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数学推导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带入拉格朗日函数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令偏导等于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22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275822" y="6148191"/>
                <a:ext cx="4592356" cy="4766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r>
                        <a:rPr lang="zh-CN" altLang="en-US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822" y="6148191"/>
                <a:ext cx="4592356" cy="476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3088005" y="5374005"/>
            <a:ext cx="193675" cy="1720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34954A4-C6ED-F496-7DA0-8DCA505E4F6E}"/>
                  </a:ext>
                </a:extLst>
              </p:cNvPr>
              <p:cNvSpPr txBox="1"/>
              <p:nvPr/>
            </p:nvSpPr>
            <p:spPr>
              <a:xfrm>
                <a:off x="2275822" y="2806691"/>
                <a:ext cx="4592356" cy="52110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zh-CN" altLang="en-US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34954A4-C6ED-F496-7DA0-8DCA505E4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822" y="2806691"/>
                <a:ext cx="4592356" cy="5211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840C16B-1FB7-687A-250A-394D672C91F3}"/>
                  </a:ext>
                </a:extLst>
              </p:cNvPr>
              <p:cNvSpPr txBox="1"/>
              <p:nvPr/>
            </p:nvSpPr>
            <p:spPr>
              <a:xfrm>
                <a:off x="2275822" y="4030529"/>
                <a:ext cx="4592356" cy="97142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840C16B-1FB7-687A-250A-394D672C9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822" y="4030529"/>
                <a:ext cx="4592356" cy="9714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B832A57-3A52-2E1A-D1DB-DAB4995CC885}"/>
                  </a:ext>
                </a:extLst>
              </p:cNvPr>
              <p:cNvSpPr txBox="1"/>
              <p:nvPr/>
            </p:nvSpPr>
            <p:spPr>
              <a:xfrm>
                <a:off x="2275822" y="5375015"/>
                <a:ext cx="4592356" cy="4001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B832A57-3A52-2E1A-D1DB-DAB4995CC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822" y="5375015"/>
                <a:ext cx="4592356" cy="400110"/>
              </a:xfrm>
              <a:prstGeom prst="rect">
                <a:avLst/>
              </a:prstGeom>
              <a:blipFill>
                <a:blip r:embed="rId6"/>
                <a:stretch>
                  <a:fillRect b="-149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BE1371F-2164-183E-E716-29A3B11510CA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4572000" y="3327796"/>
            <a:ext cx="0" cy="70273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F0D5F67-3532-4398-9CE5-E0C77101F067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>
            <a:off x="4572000" y="5001949"/>
            <a:ext cx="0" cy="37306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50B5C0D-DE6F-12F7-A387-E2A34F432E72}"/>
              </a:ext>
            </a:extLst>
          </p:cNvPr>
          <p:cNvCxnSpPr>
            <a:cxnSpLocks/>
            <a:stCxn id="18" idx="2"/>
            <a:endCxn id="2" idx="0"/>
          </p:cNvCxnSpPr>
          <p:nvPr/>
        </p:nvCxnSpPr>
        <p:spPr>
          <a:xfrm>
            <a:off x="4572000" y="5775125"/>
            <a:ext cx="0" cy="37306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9360797-F23C-3EE3-4B0C-A77435156C63}"/>
              </a:ext>
            </a:extLst>
          </p:cNvPr>
          <p:cNvSpPr txBox="1"/>
          <p:nvPr/>
        </p:nvSpPr>
        <p:spPr>
          <a:xfrm>
            <a:off x="1197613" y="5374005"/>
            <a:ext cx="2156417" cy="369332"/>
          </a:xfrm>
          <a:prstGeom prst="rect">
            <a:avLst/>
          </a:prstGeom>
          <a:solidFill>
            <a:schemeClr val="bg1"/>
          </a:solidFill>
          <a:ln w="127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特征值、特征向量！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FBA178-B653-4332-5773-BA8C6631736A}"/>
              </a:ext>
            </a:extLst>
          </p:cNvPr>
          <p:cNvSpPr txBox="1"/>
          <p:nvPr/>
        </p:nvSpPr>
        <p:spPr>
          <a:xfrm>
            <a:off x="872029" y="6148191"/>
            <a:ext cx="2482001" cy="369332"/>
          </a:xfrm>
          <a:prstGeom prst="rect">
            <a:avLst/>
          </a:prstGeom>
          <a:solidFill>
            <a:schemeClr val="bg1"/>
          </a:solidFill>
          <a:ln w="127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最大方差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最大特征值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15A3B22-6CC6-185E-3ACF-C8DFA58505F5}"/>
                  </a:ext>
                </a:extLst>
              </p:cNvPr>
              <p:cNvSpPr txBox="1"/>
              <p:nvPr/>
            </p:nvSpPr>
            <p:spPr>
              <a:xfrm>
                <a:off x="5292524" y="685836"/>
                <a:ext cx="3657601" cy="68493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𝚺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𝑎𝑟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𝐶𝑜𝑣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𝐶𝑜𝑣</m:t>
                                </m:r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𝑎𝑟</m:t>
                                </m:r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15A3B22-6CC6-185E-3ACF-C8DFA5850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524" y="685836"/>
                <a:ext cx="3657601" cy="6849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B74D0BDF-0A6A-05AE-1E3C-954E31ED3632}"/>
              </a:ext>
            </a:extLst>
          </p:cNvPr>
          <p:cNvCxnSpPr>
            <a:cxnSpLocks/>
            <a:stCxn id="12" idx="2"/>
          </p:cNvCxnSpPr>
          <p:nvPr/>
        </p:nvCxnSpPr>
        <p:spPr>
          <a:xfrm rot="5400000">
            <a:off x="5128701" y="814067"/>
            <a:ext cx="1435924" cy="2549325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7806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数学推导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协方差矩阵 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𝚺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是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实对称半正定阵</a:t>
                </a:r>
                <a:endParaRPr lang="en-US" altLang="zh-CN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特征值 </a:t>
                </a:r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是实数，特征向量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是实向量</a:t>
                </a: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不同特征值的特征向量正交</a:t>
                </a: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协方差矩阵有多少阶，特征值和特征向量就有多少个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sz="2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第一主成分：</a:t>
                </a:r>
                <a14:m>
                  <m:oMath xmlns:m="http://schemas.openxmlformats.org/officeDocument/2006/math">
                    <m:r>
                      <a:rPr lang="zh-CN" altLang="en-US" sz="2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zh-CN" sz="22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最大的特征向量</a:t>
                </a:r>
                <a:endParaRPr lang="en-US" altLang="zh-CN" sz="2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sz="2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第二主成分：</a:t>
                </a:r>
                <a14:m>
                  <m:oMath xmlns:m="http://schemas.openxmlformats.org/officeDocument/2006/math">
                    <m:r>
                      <a:rPr lang="zh-CN" altLang="en-US" sz="2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zh-CN" sz="22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第二大的特征向量</a:t>
                </a:r>
                <a:endParaRPr lang="en-US" altLang="zh-CN" sz="2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依此类推</a:t>
                </a: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23</a:t>
            </a:fld>
            <a:endParaRPr lang="en-US" altLang="zh-C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一般步骤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构建数据矩阵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𝐗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对矩阵进行标准化处理</a:t>
                </a:r>
                <a:endParaRPr lang="en-US" altLang="zh-CN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建立协方差矩阵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求解协方差矩阵的特征值和特征向量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将特征值（即各主成分方差）从大到小排序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第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个主成分的方差贡献为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2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zh-CN" sz="22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2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24</a:t>
            </a:fld>
            <a:endParaRPr lang="en-US" altLang="zh-C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案例分析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25</a:t>
            </a:fld>
            <a:endParaRPr lang="en-US" altLang="zh-CN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AEFEE8A-8508-246B-E31A-ECD0B0B8E8D7}"/>
              </a:ext>
            </a:extLst>
          </p:cNvPr>
          <p:cNvGrpSpPr/>
          <p:nvPr/>
        </p:nvGrpSpPr>
        <p:grpSpPr>
          <a:xfrm>
            <a:off x="602999" y="2284443"/>
            <a:ext cx="7938002" cy="4192557"/>
            <a:chOff x="602999" y="2360643"/>
            <a:chExt cx="7938002" cy="4192557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8EB5E379-EFB5-690C-5EED-D6C215EF3BDA}"/>
                </a:ext>
              </a:extLst>
            </p:cNvPr>
            <p:cNvGrpSpPr/>
            <p:nvPr/>
          </p:nvGrpSpPr>
          <p:grpSpPr>
            <a:xfrm>
              <a:off x="602999" y="2360643"/>
              <a:ext cx="7938002" cy="4166270"/>
              <a:chOff x="602999" y="2360643"/>
              <a:chExt cx="7938002" cy="4166270"/>
            </a:xfrm>
          </p:grpSpPr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2999" y="2360643"/>
                <a:ext cx="7920000" cy="2514285"/>
              </a:xfrm>
              <a:prstGeom prst="rect">
                <a:avLst/>
              </a:prstGeom>
            </p:spPr>
          </p:pic>
          <p:grpSp>
            <p:nvGrpSpPr>
              <p:cNvPr id="10" name="组合 9"/>
              <p:cNvGrpSpPr>
                <a:grpSpLocks noChangeAspect="1"/>
              </p:cNvGrpSpPr>
              <p:nvPr/>
            </p:nvGrpSpPr>
            <p:grpSpPr>
              <a:xfrm>
                <a:off x="621001" y="4804337"/>
                <a:ext cx="7920000" cy="1722576"/>
                <a:chOff x="1681647" y="3293345"/>
                <a:chExt cx="5909310" cy="1150836"/>
              </a:xfrm>
            </p:grpSpPr>
            <p:pic>
              <p:nvPicPr>
                <p:cNvPr id="11" name="图片 10"/>
                <p:cNvPicPr>
                  <a:picLocks noChangeAspect="1"/>
                </p:cNvPicPr>
                <p:nvPr/>
              </p:nvPicPr>
              <p:blipFill rotWithShape="1">
                <a:blip r:embed="rId4"/>
                <a:srcRect b="53654"/>
                <a:stretch>
                  <a:fillRect/>
                </a:stretch>
              </p:blipFill>
              <p:spPr>
                <a:xfrm>
                  <a:off x="1681647" y="3293345"/>
                  <a:ext cx="5909310" cy="1150836"/>
                </a:xfrm>
                <a:prstGeom prst="rect">
                  <a:avLst/>
                </a:prstGeom>
              </p:spPr>
            </p:pic>
            <p:sp>
              <p:nvSpPr>
                <p:cNvPr id="12" name="矩形 11"/>
                <p:cNvSpPr/>
                <p:nvPr/>
              </p:nvSpPr>
              <p:spPr>
                <a:xfrm>
                  <a:off x="2094271" y="4198373"/>
                  <a:ext cx="5440892" cy="2458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27325BAD-D68A-72F9-DC0B-A49F0E6E4D23}"/>
                </a:ext>
              </a:extLst>
            </p:cNvPr>
            <p:cNvSpPr/>
            <p:nvPr/>
          </p:nvSpPr>
          <p:spPr>
            <a:xfrm>
              <a:off x="621001" y="2360643"/>
              <a:ext cx="7845222" cy="419255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案例分析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26</a:t>
            </a:fld>
            <a:endParaRPr lang="en-US" altLang="zh-CN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AEFEE8A-8508-246B-E31A-ECD0B0B8E8D7}"/>
              </a:ext>
            </a:extLst>
          </p:cNvPr>
          <p:cNvGrpSpPr/>
          <p:nvPr/>
        </p:nvGrpSpPr>
        <p:grpSpPr>
          <a:xfrm>
            <a:off x="602999" y="2284443"/>
            <a:ext cx="7938002" cy="4192557"/>
            <a:chOff x="602999" y="2360643"/>
            <a:chExt cx="7938002" cy="4192557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8EB5E379-EFB5-690C-5EED-D6C215EF3BDA}"/>
                </a:ext>
              </a:extLst>
            </p:cNvPr>
            <p:cNvGrpSpPr/>
            <p:nvPr/>
          </p:nvGrpSpPr>
          <p:grpSpPr>
            <a:xfrm>
              <a:off x="602999" y="2360643"/>
              <a:ext cx="7938002" cy="4166270"/>
              <a:chOff x="602999" y="2360643"/>
              <a:chExt cx="7938002" cy="4166270"/>
            </a:xfrm>
          </p:grpSpPr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2999" y="2360643"/>
                <a:ext cx="7920000" cy="2514285"/>
              </a:xfrm>
              <a:prstGeom prst="rect">
                <a:avLst/>
              </a:prstGeom>
            </p:spPr>
          </p:pic>
          <p:grpSp>
            <p:nvGrpSpPr>
              <p:cNvPr id="10" name="组合 9"/>
              <p:cNvGrpSpPr>
                <a:grpSpLocks noChangeAspect="1"/>
              </p:cNvGrpSpPr>
              <p:nvPr/>
            </p:nvGrpSpPr>
            <p:grpSpPr>
              <a:xfrm>
                <a:off x="621001" y="4804337"/>
                <a:ext cx="7920000" cy="1722576"/>
                <a:chOff x="1681647" y="3293345"/>
                <a:chExt cx="5909310" cy="1150836"/>
              </a:xfrm>
            </p:grpSpPr>
            <p:pic>
              <p:nvPicPr>
                <p:cNvPr id="11" name="图片 10"/>
                <p:cNvPicPr>
                  <a:picLocks noChangeAspect="1"/>
                </p:cNvPicPr>
                <p:nvPr/>
              </p:nvPicPr>
              <p:blipFill rotWithShape="1">
                <a:blip r:embed="rId4"/>
                <a:srcRect b="53654"/>
                <a:stretch>
                  <a:fillRect/>
                </a:stretch>
              </p:blipFill>
              <p:spPr>
                <a:xfrm>
                  <a:off x="1681647" y="3293345"/>
                  <a:ext cx="5909310" cy="1150836"/>
                </a:xfrm>
                <a:prstGeom prst="rect">
                  <a:avLst/>
                </a:prstGeom>
              </p:spPr>
            </p:pic>
            <p:sp>
              <p:nvSpPr>
                <p:cNvPr id="12" name="矩形 11"/>
                <p:cNvSpPr/>
                <p:nvPr/>
              </p:nvSpPr>
              <p:spPr>
                <a:xfrm>
                  <a:off x="2094271" y="4198373"/>
                  <a:ext cx="5440892" cy="2458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27325BAD-D68A-72F9-DC0B-A49F0E6E4D23}"/>
                </a:ext>
              </a:extLst>
            </p:cNvPr>
            <p:cNvSpPr/>
            <p:nvPr/>
          </p:nvSpPr>
          <p:spPr>
            <a:xfrm>
              <a:off x="621001" y="2360643"/>
              <a:ext cx="7845222" cy="419255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17A9D09A-BBCC-FC63-CF12-20F647AEECBC}"/>
              </a:ext>
            </a:extLst>
          </p:cNvPr>
          <p:cNvSpPr/>
          <p:nvPr/>
        </p:nvSpPr>
        <p:spPr>
          <a:xfrm>
            <a:off x="621001" y="5410201"/>
            <a:ext cx="7845222" cy="1066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773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案例分析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27</a:t>
            </a:fld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400" y="451382"/>
            <a:ext cx="3960000" cy="62885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00" y="2232245"/>
            <a:ext cx="3960000" cy="45077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案例分析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28</a:t>
            </a:fld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400" y="451382"/>
            <a:ext cx="3960000" cy="62885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00" y="2232245"/>
            <a:ext cx="3960000" cy="45077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6AAE0F1-DC05-5A26-05F0-9F04E66369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824" y="2157000"/>
            <a:ext cx="7012351" cy="432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099611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案例分析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29</a:t>
            </a:fld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400" y="451382"/>
            <a:ext cx="3960000" cy="62885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00" y="2232245"/>
            <a:ext cx="3960000" cy="45077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6AAE0F1-DC05-5A26-05F0-9F04E66369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824" y="2157000"/>
            <a:ext cx="7012351" cy="43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770219F-185B-6C40-BBE3-37A3BD09246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5177"/>
          <a:stretch>
            <a:fillRect/>
          </a:stretch>
        </p:blipFill>
        <p:spPr>
          <a:xfrm>
            <a:off x="838167" y="1338600"/>
            <a:ext cx="7467664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68566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主成分分分析</a:t>
            </a:r>
            <a:endParaRPr lang="en-US" altLang="zh-CN" sz="2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因子分析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30</a:t>
            </a:fld>
            <a:endParaRPr lang="en-US" altLang="zh-CN" dirty="0"/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162560" y="533400"/>
            <a:ext cx="8821184" cy="990600"/>
          </a:xfrm>
        </p:spPr>
        <p:txBody>
          <a:bodyPr/>
          <a:lstStyle/>
          <a:p>
            <a:pPr algn="ctr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主成分分析与因子分析</a:t>
            </a:r>
          </a:p>
        </p:txBody>
      </p:sp>
    </p:spTree>
    <p:extLst>
      <p:ext uri="{BB962C8B-B14F-4D97-AF65-F5344CB8AC3E}">
        <p14:creationId xmlns:p14="http://schemas.microsoft.com/office/powerpoint/2010/main" val="17555313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概念简介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用于分析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不能直接观测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的变量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例如智力，爱国主义，消费者态度等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隐变量（因子）：不能直接观测，但可从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与可观测变量的相关关系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中推导出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例如虚弱，可从力量、速度等可观测变量中推导出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因子取值的变化，可影响多个可观测变量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31</a:t>
            </a:fld>
            <a:endParaRPr lang="en-US" altLang="zh-C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概念简介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探索性因子分析（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exploratory factor analysis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降维：用少数几个因子来描述原变量的本质结构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无特定模型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验证性因子分析（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confirmatory factor analysis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验证：某个因子模型对新样本的拟合程度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有特定模型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数学模型</a:t>
                </a: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给定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维观测变量 </a:t>
                </a:r>
                <a14:m>
                  <m:oMath xmlns:m="http://schemas.openxmlformats.org/officeDocument/2006/math">
                    <m:r>
                      <a:rPr lang="en-US" altLang="zh-CN" sz="22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𝐗</m:t>
                    </m:r>
                  </m:oMath>
                </a14:m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，均值和协方差分别为 </a:t>
                </a:r>
                <a14:m>
                  <m:oMath xmlns:m="http://schemas.openxmlformats.org/officeDocument/2006/math">
                    <m:r>
                      <a:rPr lang="zh-CN" altLang="en-US" sz="2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en-US" altLang="zh-CN" sz="22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r>
                      <a:rPr lang="zh-CN" altLang="en-US" sz="2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𝚺</m:t>
                    </m:r>
                  </m:oMath>
                </a14:m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假定 </a:t>
                </a:r>
                <a14:m>
                  <m:oMath xmlns:m="http://schemas.openxmlformats.org/officeDocument/2006/math">
                    <m:r>
                      <a:rPr lang="en-US" altLang="zh-CN" sz="2200" b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𝐗</m:t>
                    </m:r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可表示为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</a:t>
                </a:r>
                <a:r>
                  <a:rPr lang="zh-CN" altLang="en-US" sz="2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公共因子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</a:t>
                </a:r>
                <a:r>
                  <a:rPr lang="zh-CN" altLang="en-US" sz="2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特殊因子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线性组合</a:t>
                </a:r>
                <a:endParaRPr lang="en-US" altLang="zh-CN" sz="2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en-US" altLang="zh-CN" sz="1800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：第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个变量在第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个因子上的</a:t>
                </a:r>
                <a:r>
                  <a:rPr lang="zh-CN" altLang="en-US" sz="18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因子负荷</a:t>
                </a:r>
                <a:endParaRPr lang="en-US" altLang="zh-CN" sz="1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 b="-3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33</a:t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148" y="3916680"/>
            <a:ext cx="5227704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数学模型</a:t>
                </a: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给定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维观测变量 </a:t>
                </a:r>
                <a14:m>
                  <m:oMath xmlns:m="http://schemas.openxmlformats.org/officeDocument/2006/math">
                    <m:r>
                      <a:rPr lang="en-US" altLang="zh-CN" sz="22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𝐗</m:t>
                    </m:r>
                  </m:oMath>
                </a14:m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，均值和协方差分别为 </a:t>
                </a:r>
                <a14:m>
                  <m:oMath xmlns:m="http://schemas.openxmlformats.org/officeDocument/2006/math">
                    <m:r>
                      <a:rPr lang="zh-CN" altLang="en-US" sz="2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en-US" altLang="zh-CN" sz="22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r>
                      <a:rPr lang="zh-CN" altLang="en-US" sz="22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𝚺</m:t>
                    </m:r>
                  </m:oMath>
                </a14:m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假定 </a:t>
                </a:r>
                <a14:m>
                  <m:oMath xmlns:m="http://schemas.openxmlformats.org/officeDocument/2006/math">
                    <m:r>
                      <a:rPr lang="en-US" altLang="zh-CN" sz="2200" b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𝐗</m:t>
                    </m:r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可表示为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</a:t>
                </a:r>
                <a:r>
                  <a:rPr lang="zh-CN" altLang="en-US" sz="2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公共因子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</a:t>
                </a:r>
                <a:r>
                  <a:rPr lang="zh-CN" altLang="en-US" sz="2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特殊因子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线性组合</a:t>
                </a:r>
                <a:endParaRPr lang="en-US" altLang="zh-CN" sz="2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en-US" altLang="zh-CN" sz="1800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：第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个变量在第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个因子上的</a:t>
                </a:r>
                <a:r>
                  <a:rPr lang="zh-CN" altLang="en-US" sz="18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因子负荷</a:t>
                </a:r>
                <a:endParaRPr lang="en-US" altLang="zh-CN" sz="1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 b="-3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34</a:t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148" y="3916680"/>
            <a:ext cx="5227704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5D2CE8FE-28D2-91A7-B359-161480DB2E7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626" y="4996680"/>
            <a:ext cx="4703512" cy="396000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5423253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数学模型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在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正交因子模型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的假设下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35</a:t>
            </a:fld>
            <a:endParaRPr lang="en-US" altLang="zh-CN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137" y="2776537"/>
            <a:ext cx="5991726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数学模型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在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正交因子模型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的假设下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36</a:t>
            </a:fld>
            <a:endParaRPr lang="en-US" altLang="zh-CN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137" y="2776537"/>
            <a:ext cx="5991726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02FBD89-9692-2A22-3CDE-FE5DC2E74A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059" y="4719466"/>
            <a:ext cx="2229881" cy="468000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2C7F33A-7533-BAA6-8845-2814EE522F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196" y="5469074"/>
            <a:ext cx="5241605" cy="468000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B4E7A52-DD12-45DD-DB3A-36344BB31416}"/>
                  </a:ext>
                </a:extLst>
              </p:cNvPr>
              <p:cNvSpPr txBox="1"/>
              <p:nvPr/>
            </p:nvSpPr>
            <p:spPr>
              <a:xfrm>
                <a:off x="457199" y="6488668"/>
                <a:ext cx="7408375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𝐋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>
                              <a:latin typeface="Cambria Math" panose="02040503050406030204" pitchFamily="18" charset="0"/>
                            </a:rPr>
                            <m:t>𝐋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  <m:sSup>
                            <m:sSup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>
                                      <a:latin typeface="Cambria Math" panose="02040503050406030204" pitchFamily="18" charset="0"/>
                                    </a:rPr>
                                    <m:t>𝐋</m:t>
                                  </m:r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>
                              <a:latin typeface="Cambria Math" panose="02040503050406030204" pitchFamily="18" charset="0"/>
                            </a:rPr>
                            <m:t>𝐋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>
                          <a:latin typeface="Cambria Math" panose="02040503050406030204" pitchFamily="18" charset="0"/>
                        </a:rPr>
                        <m:t>𝐋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>
                              <a:latin typeface="Cambria Math" panose="02040503050406030204" pitchFamily="18" charset="0"/>
                            </a:rPr>
                            <m:t>𝐋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>
                          <a:latin typeface="Cambria Math" panose="02040503050406030204" pitchFamily="18" charset="0"/>
                        </a:rPr>
                        <m:t>𝐋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>
                              <a:latin typeface="Cambria Math" panose="02040503050406030204" pitchFamily="18" charset="0"/>
                            </a:rPr>
                            <m:t>𝐋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B4E7A52-DD12-45DD-DB3A-36344BB31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6488668"/>
                <a:ext cx="7408375" cy="369332"/>
              </a:xfrm>
              <a:prstGeom prst="rect">
                <a:avLst/>
              </a:prstGeom>
              <a:blipFill>
                <a:blip r:embed="rId6"/>
                <a:stretch>
                  <a:fillRect l="-247" b="-793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F2B29344-D381-ED63-3FE8-A32883655973}"/>
              </a:ext>
            </a:extLst>
          </p:cNvPr>
          <p:cNvCxnSpPr>
            <a:stCxn id="12" idx="0"/>
            <a:endCxn id="10" idx="2"/>
          </p:cNvCxnSpPr>
          <p:nvPr/>
        </p:nvCxnSpPr>
        <p:spPr>
          <a:xfrm rot="5400000" flipH="1" flipV="1">
            <a:off x="4090896" y="6007565"/>
            <a:ext cx="551594" cy="410612"/>
          </a:xfrm>
          <a:prstGeom prst="bentConnector3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E8CEC1D-FDBC-FD50-5D58-B9FC50D73187}"/>
              </a:ext>
            </a:extLst>
          </p:cNvPr>
          <p:cNvCxnSpPr>
            <a:stCxn id="11" idx="2"/>
            <a:endCxn id="3" idx="0"/>
          </p:cNvCxnSpPr>
          <p:nvPr/>
        </p:nvCxnSpPr>
        <p:spPr>
          <a:xfrm>
            <a:off x="4572000" y="4216537"/>
            <a:ext cx="0" cy="50292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79490BEA-3530-6467-A11E-CE20F2407A90}"/>
              </a:ext>
            </a:extLst>
          </p:cNvPr>
          <p:cNvSpPr/>
          <p:nvPr/>
        </p:nvSpPr>
        <p:spPr>
          <a:xfrm>
            <a:off x="1573078" y="4541003"/>
            <a:ext cx="5991727" cy="1578333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733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数学模型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320" lvl="1" indent="0">
                  <a:lnSpc>
                    <a:spcPct val="150000"/>
                  </a:lnSpc>
                  <a:buNone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buNone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变量 </a:t>
                </a:r>
                <a14:m>
                  <m:oMath xmlns:m="http://schemas.openxmlformats.org/officeDocument/2006/math">
                    <m:r>
                      <a:rPr lang="en-US" altLang="zh-CN" sz="2400" b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𝐗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的方差由两部分组成：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1006475" lvl="2" indent="-457200">
                  <a:lnSpc>
                    <a:spcPct val="150000"/>
                  </a:lnSpc>
                  <a:buClrTx/>
                  <a:buFont typeface="+mj-ea"/>
                  <a:buAutoNum type="circleNumDbPlain"/>
                </a:pP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个公共因子贡献的部分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称为</a:t>
                </a:r>
                <a:r>
                  <a:rPr lang="zh-CN" altLang="en-US" sz="2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共性方差</a:t>
                </a:r>
                <a:endParaRPr lang="en-US" altLang="zh-CN" sz="2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1006475" lvl="2" indent="-457200">
                  <a:lnSpc>
                    <a:spcPct val="150000"/>
                  </a:lnSpc>
                  <a:buClrTx/>
                  <a:buFont typeface="+mj-ea"/>
                  <a:buAutoNum type="circleNumDbPlain"/>
                </a:pP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公共因子不能解释的部分，即由特殊因子解释的部分，称为</a:t>
                </a:r>
                <a:r>
                  <a:rPr lang="zh-CN" altLang="en-US" sz="2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特殊方差</a:t>
                </a:r>
                <a:endParaRPr lang="en-US" altLang="zh-CN" sz="2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1006475" lvl="2" indent="-457200">
                  <a:lnSpc>
                    <a:spcPct val="150000"/>
                  </a:lnSpc>
                  <a:buClrTx/>
                  <a:buFont typeface="+mj-ea"/>
                  <a:buAutoNum type="circleNumDbPlain"/>
                </a:pP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2" indent="0">
                  <a:lnSpc>
                    <a:spcPct val="150000"/>
                  </a:lnSpc>
                  <a:buNone/>
                </a:pP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因子分析力求</a:t>
                </a:r>
                <a:r>
                  <a:rPr lang="zh-CN" altLang="en-US" sz="2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共性方差大，特殊方差小！</a:t>
                </a:r>
                <a:endParaRPr lang="en-US" altLang="zh-CN" sz="2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1084" t="-1375" b="-7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37</a:t>
            </a:fld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338" y="2276404"/>
            <a:ext cx="5363323" cy="10002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3A79120-1CC0-F820-982B-098B87266C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520" y="794700"/>
            <a:ext cx="5241605" cy="468000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  <p:cxnSp>
        <p:nvCxnSpPr>
          <p:cNvPr id="3" name="连接符: 肘形 2">
            <a:extLst>
              <a:ext uri="{FF2B5EF4-FFF2-40B4-BE49-F238E27FC236}">
                <a16:creationId xmlns:a16="http://schemas.microsoft.com/office/drawing/2014/main" id="{5C7D82F6-2ED5-F102-B9D6-018061E15A0F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rot="5400000">
            <a:off x="4943810" y="890891"/>
            <a:ext cx="1013704" cy="1757323"/>
          </a:xfrm>
          <a:prstGeom prst="bentConnector3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数学模型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320" lvl="1" indent="0">
                  <a:lnSpc>
                    <a:spcPct val="150000"/>
                  </a:lnSpc>
                  <a:buNone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buNone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变量 </a:t>
                </a:r>
                <a14:m>
                  <m:oMath xmlns:m="http://schemas.openxmlformats.org/officeDocument/2006/math">
                    <m:r>
                      <a:rPr lang="en-US" altLang="zh-CN" sz="2400" b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𝐗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的方差由两部分组成：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1006475" lvl="2" indent="-457200">
                  <a:lnSpc>
                    <a:spcPct val="150000"/>
                  </a:lnSpc>
                  <a:buClrTx/>
                  <a:buFont typeface="+mj-ea"/>
                  <a:buAutoNum type="circleNumDbPlain"/>
                </a:pP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个公共因子贡献的部分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称为</a:t>
                </a:r>
                <a:r>
                  <a:rPr lang="zh-CN" altLang="en-US" sz="2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共性方差</a:t>
                </a:r>
                <a:endParaRPr lang="en-US" altLang="zh-CN" sz="2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1006475" lvl="2" indent="-457200">
                  <a:lnSpc>
                    <a:spcPct val="150000"/>
                  </a:lnSpc>
                  <a:buClrTx/>
                  <a:buFont typeface="+mj-ea"/>
                  <a:buAutoNum type="circleNumDbPlain"/>
                </a:pP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公共因子不能解释的部分，即由特殊因子解释的部分，称为</a:t>
                </a:r>
                <a:r>
                  <a:rPr lang="zh-CN" altLang="en-US" sz="2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特殊方差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1084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38</a:t>
            </a:fld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338" y="2276404"/>
            <a:ext cx="5363323" cy="10002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3A79120-1CC0-F820-982B-098B87266C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520" y="794700"/>
            <a:ext cx="5241605" cy="468000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  <p:cxnSp>
        <p:nvCxnSpPr>
          <p:cNvPr id="3" name="连接符: 肘形 2">
            <a:extLst>
              <a:ext uri="{FF2B5EF4-FFF2-40B4-BE49-F238E27FC236}">
                <a16:creationId xmlns:a16="http://schemas.microsoft.com/office/drawing/2014/main" id="{5C7D82F6-2ED5-F102-B9D6-018061E15A0F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rot="5400000">
            <a:off x="4943810" y="890891"/>
            <a:ext cx="1013704" cy="1757323"/>
          </a:xfrm>
          <a:prstGeom prst="bentConnector3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B183C4B-C61F-25BB-336C-865865CAC92C}"/>
                  </a:ext>
                </a:extLst>
              </p:cNvPr>
              <p:cNvSpPr txBox="1"/>
              <p:nvPr/>
            </p:nvSpPr>
            <p:spPr>
              <a:xfrm>
                <a:off x="457199" y="6368186"/>
                <a:ext cx="6038054" cy="48981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zh-CN" altLang="en-US" sz="2200" dirty="0"/>
                  <a:t>：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因子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对变量 </a:t>
                </a:r>
                <a14:m>
                  <m:oMath xmlns:m="http://schemas.openxmlformats.org/officeDocument/2006/math">
                    <m:r>
                      <a:rPr lang="en-US" altLang="zh-CN" sz="2200" b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𝐗</m:t>
                    </m:r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的总体方差贡献</a:t>
                </a: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B183C4B-C61F-25BB-336C-865865CAC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6368186"/>
                <a:ext cx="6038054" cy="489814"/>
              </a:xfrm>
              <a:prstGeom prst="rect">
                <a:avLst/>
              </a:prstGeom>
              <a:blipFill>
                <a:blip r:embed="rId6"/>
                <a:stretch>
                  <a:fillRect t="-103659" r="-806" b="-156098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46627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数学模型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考虑如下协方差矩阵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可得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39</a:t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485" y="2781277"/>
            <a:ext cx="3171029" cy="180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999" y="5058000"/>
            <a:ext cx="6120000" cy="1800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数学模型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公共因子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𝑭</m:t>
                    </m:r>
                  </m:oMath>
                </a14:m>
                <a:r>
                  <a:rPr lang="en-US" altLang="zh-CN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和负荷阵 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𝐋</m:t>
                    </m:r>
                  </m:oMath>
                </a14:m>
                <a:r>
                  <a:rPr lang="en-US" altLang="zh-CN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不唯一！</a:t>
                </a:r>
                <a:endParaRPr lang="en-US" altLang="zh-CN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549275" lvl="2" indent="0">
                  <a:lnSpc>
                    <a:spcPct val="150000"/>
                  </a:lnSpc>
                  <a:buClrTx/>
                  <a:buNone/>
                </a:pPr>
                <a:r>
                  <a:rPr lang="zh-CN" altLang="en-US" sz="22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任意正交矩阵</a:t>
                </a:r>
                <a:endParaRPr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549275" lvl="2" indent="0">
                  <a:lnSpc>
                    <a:spcPct val="150000"/>
                  </a:lnSpc>
                  <a:buClrTx/>
                  <a:buNone/>
                </a:pP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549275" lvl="2" indent="0">
                  <a:lnSpc>
                    <a:spcPct val="150000"/>
                  </a:lnSpc>
                  <a:buClrTx/>
                  <a:buNone/>
                </a:pPr>
                <a:endParaRPr lang="en-US" altLang="zh-CN" sz="2200" i="1" dirty="0"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en-US" altLang="zh-CN" sz="2200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𝐋</m:t>
                        </m:r>
                      </m:e>
                      <m:sup>
                        <m:r>
                          <a:rPr lang="en-US" altLang="zh-CN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满足正交因子模型</a:t>
                </a: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sz="2200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负荷阵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𝐋</m:t>
                        </m:r>
                      </m:e>
                      <m:sup>
                        <m:r>
                          <a:rPr lang="en-US" altLang="zh-CN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𝐋𝐓</m:t>
                    </m:r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r>
                      <a:rPr lang="en-US" altLang="zh-CN" sz="2200" b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𝐋</m:t>
                    </m:r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在解释协方差时等价</a:t>
                </a: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正交变换 </a:t>
                </a:r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zh-CN" altLang="en-US" sz="2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因子旋转 </a:t>
                </a:r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旋转负荷阵，得到易解释结果</a:t>
                </a: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40</a:t>
            </a:fld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540" y="3498600"/>
            <a:ext cx="5994920" cy="5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18B99175-2408-5F9C-7141-DA9375BF1A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520" y="794700"/>
            <a:ext cx="5241605" cy="468000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  <p:cxnSp>
        <p:nvCxnSpPr>
          <p:cNvPr id="3" name="连接符: 肘形 2">
            <a:extLst>
              <a:ext uri="{FF2B5EF4-FFF2-40B4-BE49-F238E27FC236}">
                <a16:creationId xmlns:a16="http://schemas.microsoft.com/office/drawing/2014/main" id="{FF428B7B-8CE7-B3CD-875E-D4B210669AE2}"/>
              </a:ext>
            </a:extLst>
          </p:cNvPr>
          <p:cNvCxnSpPr>
            <a:cxnSpLocks/>
            <a:endCxn id="9" idx="3"/>
          </p:cNvCxnSpPr>
          <p:nvPr/>
        </p:nvCxnSpPr>
        <p:spPr>
          <a:xfrm rot="16200000" flipH="1">
            <a:off x="5696442" y="1895582"/>
            <a:ext cx="2505900" cy="1240136"/>
          </a:xfrm>
          <a:prstGeom prst="bentConnector4">
            <a:avLst>
              <a:gd name="adj1" fmla="val 44613"/>
              <a:gd name="adj2" fmla="val 118433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负荷阵估计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——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主成分法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协方差矩阵 </a:t>
                </a:r>
                <a14:m>
                  <m:oMath xmlns:m="http://schemas.openxmlformats.org/officeDocument/2006/math">
                    <m:r>
                      <a:rPr lang="zh-CN" altLang="en-US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𝚺</m:t>
                    </m:r>
                  </m:oMath>
                </a14:m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实对称半正定阵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正交对角化</a:t>
                </a:r>
                <a:endParaRPr lang="en-US" altLang="zh-CN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en-US" altLang="zh-CN" sz="2200" dirty="0"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zh-CN" altLang="en-US" sz="2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𝜆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≥</m:t>
                    </m:r>
                    <m:sSub>
                      <m:sSubPr>
                        <m:ctrlPr>
                          <a:rPr lang="en-US" altLang="zh-CN" sz="2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zh-CN" altLang="en-US" sz="2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𝜆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≥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…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≥</m:t>
                    </m:r>
                    <m:sSub>
                      <m:sSub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zh-CN" altLang="en-US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𝜆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≥0</m:t>
                    </m:r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为 </a:t>
                </a:r>
                <a14:m>
                  <m:oMath xmlns:m="http://schemas.openxmlformats.org/officeDocument/2006/math">
                    <m:r>
                      <a:rPr lang="zh-CN" altLang="en-US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𝚺</m:t>
                    </m:r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的特征值</a:t>
                </a: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en-US" altLang="zh-CN" sz="2200" dirty="0"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𝒖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𝒖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𝒖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为对应的正交特征向量</a:t>
                </a: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 b="-6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41</a:t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372" y="2981177"/>
            <a:ext cx="3581900" cy="21148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负荷阵估计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——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主成分法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因此协方差矩阵 </a:t>
                </a:r>
                <a14:m>
                  <m:oMath xmlns:m="http://schemas.openxmlformats.org/officeDocument/2006/math">
                    <m:r>
                      <a:rPr lang="zh-CN" altLang="en-US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𝚺</m:t>
                    </m:r>
                  </m:oMath>
                </a14:m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可做如下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精确分解</a:t>
                </a:r>
                <a:endParaRPr lang="en-US" altLang="zh-CN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42</a:t>
            </a:fld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696" y="2877000"/>
            <a:ext cx="6436607" cy="36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68E42C7-241A-57FB-72CA-CEB1190023F6}"/>
              </a:ext>
            </a:extLst>
          </p:cNvPr>
          <p:cNvSpPr/>
          <p:nvPr/>
        </p:nvSpPr>
        <p:spPr>
          <a:xfrm>
            <a:off x="4994694" y="4494362"/>
            <a:ext cx="2795609" cy="36435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负荷阵估计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——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主成分法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寻求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少数几个公共因子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精确分解毫无价值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因此省略后面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项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43</a:t>
            </a:fld>
            <a:endParaRPr lang="en-US" altLang="zh-CN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734" y="3597000"/>
            <a:ext cx="6354531" cy="288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D40BC1-B0BD-5FF6-1005-9A28A110F6CE}"/>
              </a:ext>
            </a:extLst>
          </p:cNvPr>
          <p:cNvSpPr/>
          <p:nvPr/>
        </p:nvSpPr>
        <p:spPr>
          <a:xfrm>
            <a:off x="5374640" y="3637279"/>
            <a:ext cx="289560" cy="36576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6806E9-CE6F-C4D5-5548-8862957D1DB2}"/>
              </a:ext>
            </a:extLst>
          </p:cNvPr>
          <p:cNvSpPr/>
          <p:nvPr/>
        </p:nvSpPr>
        <p:spPr>
          <a:xfrm>
            <a:off x="6362272" y="4759959"/>
            <a:ext cx="289560" cy="36576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负荷阵估计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主成分法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正交因子模型的主成分分解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44</a:t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000" y="2961000"/>
            <a:ext cx="3821999" cy="46800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217177D-837E-87BE-D999-EDED18BD2193}"/>
                  </a:ext>
                </a:extLst>
              </p:cNvPr>
              <p:cNvSpPr txBox="1"/>
              <p:nvPr/>
            </p:nvSpPr>
            <p:spPr>
              <a:xfrm>
                <a:off x="2661000" y="3763236"/>
                <a:ext cx="3821999" cy="5507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𝐋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rad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,…,</m:t>
                          </m:r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rad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217177D-837E-87BE-D999-EDED18BD2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000" y="3763236"/>
                <a:ext cx="3821999" cy="5507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89CD3C8-4408-492A-63A7-A9E6CC81BC01}"/>
              </a:ext>
            </a:extLst>
          </p:cNvPr>
          <p:cNvCxnSpPr>
            <a:endCxn id="3" idx="2"/>
          </p:cNvCxnSpPr>
          <p:nvPr/>
        </p:nvCxnSpPr>
        <p:spPr>
          <a:xfrm flipV="1">
            <a:off x="4572000" y="3429000"/>
            <a:ext cx="0" cy="33423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027A313C-C7CE-161B-03E3-9399EED07145}"/>
              </a:ext>
            </a:extLst>
          </p:cNvPr>
          <p:cNvSpPr/>
          <p:nvPr/>
        </p:nvSpPr>
        <p:spPr>
          <a:xfrm>
            <a:off x="2286000" y="2719953"/>
            <a:ext cx="4572000" cy="182500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负荷阵估计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主成分法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正交因子模型的主成分分解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45</a:t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000" y="2961000"/>
            <a:ext cx="3821999" cy="46800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217177D-837E-87BE-D999-EDED18BD2193}"/>
                  </a:ext>
                </a:extLst>
              </p:cNvPr>
              <p:cNvSpPr txBox="1"/>
              <p:nvPr/>
            </p:nvSpPr>
            <p:spPr>
              <a:xfrm>
                <a:off x="2661000" y="3763236"/>
                <a:ext cx="3821999" cy="5507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𝐋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rad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,…,</m:t>
                          </m:r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rad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217177D-837E-87BE-D999-EDED18BD2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000" y="3763236"/>
                <a:ext cx="3821999" cy="5507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89CD3C8-4408-492A-63A7-A9E6CC81BC01}"/>
              </a:ext>
            </a:extLst>
          </p:cNvPr>
          <p:cNvCxnSpPr>
            <a:endCxn id="3" idx="2"/>
          </p:cNvCxnSpPr>
          <p:nvPr/>
        </p:nvCxnSpPr>
        <p:spPr>
          <a:xfrm flipV="1">
            <a:off x="4572000" y="3429000"/>
            <a:ext cx="0" cy="33423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F21DF78-3C7C-CC31-A846-50D3814EEFA7}"/>
                  </a:ext>
                </a:extLst>
              </p:cNvPr>
              <p:cNvSpPr txBox="1"/>
              <p:nvPr/>
            </p:nvSpPr>
            <p:spPr>
              <a:xfrm>
                <a:off x="2285999" y="4880793"/>
                <a:ext cx="4572000" cy="4458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𝚿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𝑑𝑖𝑎𝑔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𝑑𝑖𝑎𝑔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l-GR" altLang="zh-CN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𝚺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𝐋</m:t>
                          </m:r>
                          <m:sSup>
                            <m:sSup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𝐋</m:t>
                              </m:r>
                            </m:e>
                            <m:sup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F21DF78-3C7C-CC31-A846-50D3814EE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999" y="4880793"/>
                <a:ext cx="4572000" cy="445891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0654E54-7E2E-792F-DF78-B08D3646AE1C}"/>
                  </a:ext>
                </a:extLst>
              </p:cNvPr>
              <p:cNvSpPr txBox="1"/>
              <p:nvPr/>
            </p:nvSpPr>
            <p:spPr>
              <a:xfrm>
                <a:off x="2285999" y="5662517"/>
                <a:ext cx="4572000" cy="7319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0654E54-7E2E-792F-DF78-B08D3646A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999" y="5662517"/>
                <a:ext cx="4572000" cy="7319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027A313C-C7CE-161B-03E3-9399EED07145}"/>
              </a:ext>
            </a:extLst>
          </p:cNvPr>
          <p:cNvSpPr/>
          <p:nvPr/>
        </p:nvSpPr>
        <p:spPr>
          <a:xfrm>
            <a:off x="2041900" y="4648200"/>
            <a:ext cx="5060197" cy="201072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4020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主成分法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考虑如下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相关系数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矩阵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lnSpc>
                <a:spcPct val="150000"/>
              </a:lnSpc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首先求特征值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lnSpc>
                <a:spcPct val="150000"/>
              </a:lnSpc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46</a:t>
            </a:fld>
            <a:endParaRPr lang="en-US" altLang="zh-CN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374" y="2709000"/>
            <a:ext cx="2517252" cy="1440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25" y="4677000"/>
            <a:ext cx="6025150" cy="1800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主成分法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lnSpc>
                <a:spcPct val="150000"/>
              </a:lnSpc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然后排序特征值，求特征向量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lnSpc>
                <a:spcPct val="150000"/>
              </a:lnSpc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47</a:t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587" y="2319297"/>
            <a:ext cx="6550821" cy="72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726" y="4291834"/>
            <a:ext cx="6536544" cy="2160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171950" y="5786120"/>
            <a:ext cx="238125" cy="2095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124325" y="5995670"/>
            <a:ext cx="259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-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主成分法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lnSpc>
                <a:spcPct val="150000"/>
              </a:lnSpc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然后排序特征值，求特征向量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lnSpc>
                <a:spcPct val="150000"/>
              </a:lnSpc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48</a:t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587" y="2319297"/>
            <a:ext cx="6550821" cy="72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726" y="4291834"/>
            <a:ext cx="6536544" cy="2160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171950" y="5786120"/>
            <a:ext cx="238125" cy="2095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124325" y="5995670"/>
            <a:ext cx="259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919DE26-6B95-65E0-88BA-4FC25BF7F0F7}"/>
                  </a:ext>
                </a:extLst>
              </p:cNvPr>
              <p:cNvSpPr txBox="1"/>
              <p:nvPr/>
            </p:nvSpPr>
            <p:spPr>
              <a:xfrm>
                <a:off x="5177295" y="3039297"/>
                <a:ext cx="3772830" cy="18097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marL="3429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l-GR" altLang="zh-CN" sz="2000" b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𝐋</m:t>
                    </m:r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𝐋</m:t>
                        </m:r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非对角元较小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429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较大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429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相关系数矩阵特征值不小于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919DE26-6B95-65E0-88BA-4FC25BF7F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295" y="3039297"/>
                <a:ext cx="3772830" cy="1809791"/>
              </a:xfrm>
              <a:prstGeom prst="rect">
                <a:avLst/>
              </a:prstGeom>
              <a:blipFill>
                <a:blip r:embed="rId5"/>
                <a:stretch>
                  <a:fillRect l="-1122" r="-321" b="-4319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14123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因子旋转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公共因子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𝑭</m:t>
                    </m:r>
                  </m:oMath>
                </a14:m>
                <a:r>
                  <a:rPr lang="en-US" altLang="zh-CN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和负荷阵 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𝐋</m:t>
                    </m:r>
                  </m:oMath>
                </a14:m>
                <a:r>
                  <a:rPr lang="en-US" altLang="zh-CN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不唯一！</a:t>
                </a:r>
                <a:endParaRPr lang="en-US" altLang="zh-CN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49</a:t>
            </a:fld>
            <a:endParaRPr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1C18312-8440-D76E-4EC5-625A85F8D8C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540" y="2888587"/>
            <a:ext cx="5994920" cy="54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因子旋转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公共因子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𝑭</m:t>
                    </m:r>
                  </m:oMath>
                </a14:m>
                <a:r>
                  <a:rPr lang="en-US" altLang="zh-CN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和负荷阵 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𝐋</m:t>
                    </m:r>
                  </m:oMath>
                </a14:m>
                <a:r>
                  <a:rPr lang="en-US" altLang="zh-CN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不唯一！</a:t>
                </a:r>
                <a:endParaRPr lang="en-US" altLang="zh-CN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320" lvl="1" indent="0">
                  <a:lnSpc>
                    <a:spcPct val="150000"/>
                  </a:lnSpc>
                  <a:buClrTx/>
                  <a:buNone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320" lvl="1" indent="0">
                  <a:lnSpc>
                    <a:spcPct val="150000"/>
                  </a:lnSpc>
                  <a:buClrTx/>
                  <a:buNone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正交阵 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𝐓</m:t>
                    </m:r>
                  </m:oMath>
                </a14:m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因子旋转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因子负荷平方两极分化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，即要么接近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0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，要么接近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1</a:t>
                </a:r>
              </a:p>
              <a:p>
                <a:pPr marL="549275" lvl="2" indent="0">
                  <a:lnSpc>
                    <a:spcPct val="150000"/>
                  </a:lnSpc>
                  <a:buClrTx/>
                  <a:buNone/>
                </a:pPr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	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公共因子对许多变量有较大负荷，不利于解释</a:t>
                </a: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549275" lvl="2" indent="0">
                  <a:lnSpc>
                    <a:spcPct val="150000"/>
                  </a:lnSpc>
                  <a:buClrTx/>
                  <a:buNone/>
                </a:pPr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	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公共因子对部分变量有较大负荷，有利于解释</a:t>
                </a: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939" t="-1375" r="-7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50</a:t>
            </a:fld>
            <a:endParaRPr lang="en-US" altLang="zh-CN" dirty="0"/>
          </a:p>
        </p:txBody>
      </p:sp>
      <p:sp>
        <p:nvSpPr>
          <p:cNvPr id="2" name="L 形 1"/>
          <p:cNvSpPr>
            <a:spLocks noChangeAspect="1"/>
          </p:cNvSpPr>
          <p:nvPr/>
        </p:nvSpPr>
        <p:spPr>
          <a:xfrm rot="18074815">
            <a:off x="1026432" y="5957399"/>
            <a:ext cx="394615" cy="180000"/>
          </a:xfrm>
          <a:prstGeom prst="corner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乘号 2"/>
          <p:cNvSpPr>
            <a:spLocks noChangeAspect="1"/>
          </p:cNvSpPr>
          <p:nvPr/>
        </p:nvSpPr>
        <p:spPr>
          <a:xfrm>
            <a:off x="1044446" y="5257800"/>
            <a:ext cx="360000" cy="360000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1C18312-8440-D76E-4EC5-625A85F8D8C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540" y="2888587"/>
            <a:ext cx="5994920" cy="54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10890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因子旋转</a:t>
                </a:r>
              </a:p>
              <a:p>
                <a:pPr marL="0" lvl="1" indent="0">
                  <a:lnSpc>
                    <a:spcPct val="150000"/>
                  </a:lnSpc>
                  <a:buNone/>
                </a:pP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最大方差正交旋转法</a:t>
                </a:r>
                <a:endParaRPr lang="en-US" altLang="zh-CN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通过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因子旋转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，调整负荷阵的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列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，使变量在每个因子上的负荷尽可能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分散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，即（列）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方差最大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选择 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𝐓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使如下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𝑉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最大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823595" lvl="3" indent="0">
                  <a:lnSpc>
                    <a:spcPct val="150000"/>
                  </a:lnSpc>
                  <a:buClrTx/>
                  <a:buNone/>
                </a:pPr>
                <a:r>
                  <a:rPr lang="en-US" altLang="zh-CN" sz="1800" b="0" dirty="0"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endParaRPr lang="en-US" altLang="zh-CN" sz="1800" i="1" dirty="0"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sz="1800" dirty="0"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其中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  <m:t>𝑖𝑗</m:t>
                                </m:r>
                              </m:sub>
                              <m:sup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Times New Roman" panose="020206030504050203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Times New Roman" panose="02020603050405020304" pitchFamily="18" charset="0"/>
                                            <a:sym typeface="Wingdings" panose="05000000000000000000" pitchFamily="2" charset="2"/>
                                          </a:rPr>
                                          <m:t>𝑙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80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Times New Roman" panose="020206030504050203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Times New Roman" panose="02020603050405020304" pitchFamily="18" charset="0"/>
                                            <a:sym typeface="Wingdings" panose="05000000000000000000" pitchFamily="2" charset="2"/>
                                          </a:rPr>
                                          <m:t>h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Times New Roman" panose="020206030504050203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Times New Roman" panose="02020603050405020304" pitchFamily="18" charset="0"/>
                                            <a:sym typeface="Wingdings" panose="05000000000000000000" pitchFamily="2" charset="2"/>
                                          </a:rPr>
                                          <m:t>𝑙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zh-CN" sz="18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𝑗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Times New Roman" panose="020206030504050203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  <a:cs typeface="Times New Roman" panose="02020603050405020304" pitchFamily="18" charset="0"/>
                                                <a:sym typeface="Wingdings" panose="05000000000000000000" pitchFamily="2" charset="2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  <a:cs typeface="Times New Roman" panose="02020603050405020304" pitchFamily="18" charset="0"/>
                                                <a:sym typeface="Wingdings" panose="05000000000000000000" pitchFamily="2" charset="2"/>
                                              </a:rPr>
                                              <m:t>𝑙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Times New Roman" panose="02020603050405020304" pitchFamily="18" charset="0"/>
                                            <a:sym typeface="Wingdings" panose="05000000000000000000" pitchFamily="2" charset="2"/>
                                          </a:rPr>
                                          <m:t>𝑖𝑗</m:t>
                                        </m:r>
                                      </m:sub>
                                      <m:sup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Times New Roman" panose="02020603050405020304" pitchFamily="18" charset="0"/>
                                            <a:sym typeface="Wingdings" panose="05000000000000000000" pitchFamily="2" charset="2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altLang="zh-CN" sz="1800" b="0" dirty="0"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1084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51</a:t>
            </a:fld>
            <a:endParaRPr lang="en-US" altLang="zh-CN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195" y="4357800"/>
            <a:ext cx="4779609" cy="9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C459D23B-F349-2902-A8D1-BDA61E7598E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421" y="533400"/>
            <a:ext cx="5227704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因子旋转</a:t>
                </a:r>
              </a:p>
              <a:p>
                <a:pPr marL="0" lvl="1" indent="0">
                  <a:lnSpc>
                    <a:spcPct val="150000"/>
                  </a:lnSpc>
                  <a:buNone/>
                </a:pP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最大方差正交旋转法</a:t>
                </a:r>
                <a:endParaRPr lang="en-US" altLang="zh-CN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通过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因子旋转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，调整负荷阵的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列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，使变量在每个因子上的负荷尽可能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分散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，即（列）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方差最大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2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选择 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𝐓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使如下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𝑉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最大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823595" lvl="3" indent="0">
                  <a:lnSpc>
                    <a:spcPct val="150000"/>
                  </a:lnSpc>
                  <a:buClrTx/>
                  <a:buNone/>
                </a:pPr>
                <a:r>
                  <a:rPr lang="en-US" altLang="zh-CN" sz="1800" b="0" dirty="0"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endParaRPr lang="en-US" altLang="zh-CN" sz="1800" i="1" dirty="0"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zh-CN" altLang="en-US" sz="1800" dirty="0"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1800" dirty="0">
                        <a:ea typeface="微软雅黑" panose="020B0503020204020204" pitchFamily="34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其中</m:t>
                    </m:r>
                    <m:r>
                      <m:rPr>
                        <m:nor/>
                      </m:rPr>
                      <a:rPr lang="zh-CN" altLang="en-US" sz="1800" dirty="0">
                        <a:ea typeface="微软雅黑" panose="020B0503020204020204" pitchFamily="34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 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  <m:t>𝑖𝑗</m:t>
                                </m:r>
                              </m:sub>
                              <m:sup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altLang="zh-CN" sz="18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Times New Roman" panose="020206030504050203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Times New Roman" panose="02020603050405020304" pitchFamily="18" charset="0"/>
                                            <a:sym typeface="Wingdings" panose="05000000000000000000" pitchFamily="2" charset="2"/>
                                          </a:rPr>
                                          <m:t>𝑙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Times New Roman" panose="020206030504050203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Times New Roman" panose="02020603050405020304" pitchFamily="18" charset="0"/>
                                            <a:sym typeface="Wingdings" panose="05000000000000000000" pitchFamily="2" charset="2"/>
                                          </a:rPr>
                                          <m:t>h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18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Times New Roman" panose="020206030504050203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Times New Roman" panose="02020603050405020304" pitchFamily="18" charset="0"/>
                                            <a:sym typeface="Wingdings" panose="05000000000000000000" pitchFamily="2" charset="2"/>
                                          </a:rPr>
                                          <m:t>𝑙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𝑗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  <a:sym typeface="Wingdings" panose="05000000000000000000" pitchFamily="2" charset="2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Times New Roman" panose="020206030504050203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  <a:cs typeface="Times New Roman" panose="02020603050405020304" pitchFamily="18" charset="0"/>
                                                <a:sym typeface="Wingdings" panose="05000000000000000000" pitchFamily="2" charset="2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  <a:cs typeface="Times New Roman" panose="02020603050405020304" pitchFamily="18" charset="0"/>
                                                <a:sym typeface="Wingdings" panose="05000000000000000000" pitchFamily="2" charset="2"/>
                                              </a:rPr>
                                              <m:t>𝑙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Times New Roman" panose="02020603050405020304" pitchFamily="18" charset="0"/>
                                            <a:sym typeface="Wingdings" panose="05000000000000000000" pitchFamily="2" charset="2"/>
                                          </a:rPr>
                                          <m:t>𝑖𝑗</m:t>
                                        </m:r>
                                      </m:sub>
                                      <m:sup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Times New Roman" panose="02020603050405020304" pitchFamily="18" charset="0"/>
                                            <a:sym typeface="Wingdings" panose="05000000000000000000" pitchFamily="2" charset="2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  <a:sym typeface="Wingdings" panose="05000000000000000000" pitchFamily="2" charset="2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altLang="zh-CN" sz="1800" b="0" dirty="0"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3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ü"/>
                </a:pPr>
                <a:r>
                  <a:rPr lang="en-US" altLang="zh-CN" sz="1800" dirty="0">
                    <a:solidFill>
                      <a:srgbClr val="C00000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𝑉</m:t>
                    </m:r>
                  </m:oMath>
                </a14:m>
                <a:r>
                  <a:rPr lang="en-US" altLang="zh-CN" sz="18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:r>
                  <a:rPr lang="zh-CN" altLang="en-US" sz="18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是旋转角度 </a:t>
                </a:r>
                <a14:m>
                  <m:oMath xmlns:m="http://schemas.openxmlformats.org/officeDocument/2006/math">
                    <m:r>
                      <a:rPr lang="zh-CN" altLang="en-US" sz="1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𝜃</m:t>
                    </m:r>
                  </m:oMath>
                </a14:m>
                <a:r>
                  <a:rPr lang="en-US" altLang="zh-CN" sz="18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:r>
                  <a:rPr lang="zh-CN" altLang="en-US" sz="18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的函数：单变量优化问题</a:t>
                </a:r>
                <a:endParaRPr lang="en-US" altLang="zh-CN" sz="1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1084" t="-1375" b="-86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52</a:t>
            </a:fld>
            <a:endParaRPr lang="en-US" altLang="zh-CN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195" y="4357800"/>
            <a:ext cx="4779609" cy="9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C459D23B-F349-2902-A8D1-BDA61E7598E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421" y="533400"/>
            <a:ext cx="5227704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220196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因子得分</a:t>
                </a:r>
              </a:p>
              <a:p>
                <a:pPr marL="0" lvl="1" indent="0">
                  <a:lnSpc>
                    <a:spcPct val="150000"/>
                  </a:lnSpc>
                  <a:buClrTx/>
                  <a:buNone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计算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公共因子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𝑭</m:t>
                    </m:r>
                  </m:oMath>
                </a14:m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的数值：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回归估计法</a:t>
                </a:r>
                <a:endParaRPr lang="en-US" altLang="zh-CN" sz="2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假设公共因子对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个变量做回归</a:t>
                </a:r>
                <a:endParaRPr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1084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53</a:t>
            </a:fld>
            <a:endParaRPr lang="en-US" altLang="zh-CN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92798FE-AB42-794C-33E8-B733A896FBD6}"/>
              </a:ext>
            </a:extLst>
          </p:cNvPr>
          <p:cNvGrpSpPr/>
          <p:nvPr/>
        </p:nvGrpSpPr>
        <p:grpSpPr>
          <a:xfrm>
            <a:off x="1627516" y="3537263"/>
            <a:ext cx="5888968" cy="468000"/>
            <a:chOff x="1251315" y="3632835"/>
            <a:chExt cx="5888968" cy="468000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bg1">
                  <a:lumMod val="85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1315" y="3632835"/>
              <a:ext cx="4671492" cy="468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bg1">
                  <a:lumMod val="85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93562" y="3650835"/>
              <a:ext cx="846721" cy="432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因子得分</a:t>
                </a:r>
              </a:p>
              <a:p>
                <a:pPr marL="0" lvl="1" indent="0">
                  <a:lnSpc>
                    <a:spcPct val="150000"/>
                  </a:lnSpc>
                  <a:buClrTx/>
                  <a:buNone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计算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公共因子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𝑭</m:t>
                    </m:r>
                  </m:oMath>
                </a14:m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的数值：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回归估计法</a:t>
                </a:r>
                <a:endParaRPr lang="en-US" altLang="zh-CN" sz="2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假设公共因子对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个变量做回归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1084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54</a:t>
            </a:fld>
            <a:endParaRPr lang="en-US" altLang="zh-CN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92798FE-AB42-794C-33E8-B733A896FBD6}"/>
              </a:ext>
            </a:extLst>
          </p:cNvPr>
          <p:cNvGrpSpPr/>
          <p:nvPr/>
        </p:nvGrpSpPr>
        <p:grpSpPr>
          <a:xfrm>
            <a:off x="1627516" y="3537263"/>
            <a:ext cx="5888968" cy="468000"/>
            <a:chOff x="1251315" y="3632835"/>
            <a:chExt cx="5888968" cy="468000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bg1">
                  <a:lumMod val="85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1315" y="3632835"/>
              <a:ext cx="4671492" cy="468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bg1">
                  <a:lumMod val="85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93562" y="3650835"/>
              <a:ext cx="846721" cy="432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83A62B3-9B1C-4CC3-FB44-D4E5995BDEB5}"/>
                  </a:ext>
                </a:extLst>
              </p:cNvPr>
              <p:cNvSpPr txBox="1"/>
              <p:nvPr/>
            </p:nvSpPr>
            <p:spPr>
              <a:xfrm>
                <a:off x="7231980" y="4179213"/>
                <a:ext cx="1660407" cy="56650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𝑿</m:t>
                      </m:r>
                    </m:oMath>
                  </m:oMathPara>
                </a14:m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83A62B3-9B1C-4CC3-FB44-D4E5995BD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1980" y="4179213"/>
                <a:ext cx="1660407" cy="5665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AC4B4370-E0A6-BE77-8CDB-30DA13B8DBC2}"/>
              </a:ext>
            </a:extLst>
          </p:cNvPr>
          <p:cNvCxnSpPr>
            <a:cxnSpLocks/>
            <a:endCxn id="3" idx="1"/>
          </p:cNvCxnSpPr>
          <p:nvPr/>
        </p:nvCxnSpPr>
        <p:spPr>
          <a:xfrm rot="16200000" flipH="1">
            <a:off x="5369021" y="2599505"/>
            <a:ext cx="457200" cy="3268717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02900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因子得分</a:t>
                </a:r>
              </a:p>
              <a:p>
                <a:pPr marL="0" lvl="1" indent="0">
                  <a:lnSpc>
                    <a:spcPct val="150000"/>
                  </a:lnSpc>
                  <a:buClrTx/>
                  <a:buNone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计算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公共因子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𝑭</m:t>
                    </m:r>
                  </m:oMath>
                </a14:m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的数值：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回归估计法</a:t>
                </a:r>
                <a:endParaRPr lang="en-US" altLang="zh-CN" sz="2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假设公共因子对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个变量做回归</a:t>
                </a: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考虑</a:t>
                </a:r>
                <a:r>
                  <a:rPr lang="zh-CN" alt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去中心化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1084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55</a:t>
            </a:fld>
            <a:endParaRPr lang="en-US" altLang="zh-CN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92798FE-AB42-794C-33E8-B733A896FBD6}"/>
              </a:ext>
            </a:extLst>
          </p:cNvPr>
          <p:cNvGrpSpPr/>
          <p:nvPr/>
        </p:nvGrpSpPr>
        <p:grpSpPr>
          <a:xfrm>
            <a:off x="1627516" y="3537263"/>
            <a:ext cx="5888968" cy="468000"/>
            <a:chOff x="1251315" y="3632835"/>
            <a:chExt cx="5888968" cy="468000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bg1">
                  <a:lumMod val="85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1315" y="3632835"/>
              <a:ext cx="4671492" cy="468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bg1">
                  <a:lumMod val="85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93562" y="3650835"/>
              <a:ext cx="846721" cy="432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4642407-1162-0035-C76E-FE7338694939}"/>
                  </a:ext>
                </a:extLst>
              </p:cNvPr>
              <p:cNvSpPr txBox="1"/>
              <p:nvPr/>
            </p:nvSpPr>
            <p:spPr>
              <a:xfrm>
                <a:off x="858740" y="5077727"/>
                <a:ext cx="7426519" cy="148854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m:rPr>
                          <m:aln/>
                        </m:rPr>
                        <a:rPr lang="en-US" altLang="zh-CN" sz="200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00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𝑗𝑝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4642407-1162-0035-C76E-FE7338694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740" y="5077727"/>
                <a:ext cx="7426519" cy="1488549"/>
              </a:xfrm>
              <a:prstGeom prst="rect">
                <a:avLst/>
              </a:prstGeom>
              <a:blipFill>
                <a:blip r:embed="rId6"/>
                <a:stretch>
                  <a:fillRect b="-16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B56648F-6275-5113-6FF6-1CD2C329DB37}"/>
                  </a:ext>
                </a:extLst>
              </p:cNvPr>
              <p:cNvSpPr txBox="1"/>
              <p:nvPr/>
            </p:nvSpPr>
            <p:spPr>
              <a:xfrm>
                <a:off x="7231980" y="4179213"/>
                <a:ext cx="1660407" cy="56650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𝑿</m:t>
                      </m:r>
                    </m:oMath>
                  </m:oMathPara>
                </a14:m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B56648F-6275-5113-6FF6-1CD2C329D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1980" y="4179213"/>
                <a:ext cx="1660407" cy="56650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D214EDFB-7035-C66F-22E3-0CC479779714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5369021" y="2599505"/>
            <a:ext cx="457200" cy="3268717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0092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因子得分</a:t>
                </a:r>
              </a:p>
              <a:p>
                <a:pPr marL="0" lvl="1" indent="0">
                  <a:lnSpc>
                    <a:spcPct val="150000"/>
                  </a:lnSpc>
                  <a:buClrTx/>
                  <a:buNone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计算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公共因子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𝑭</m:t>
                    </m:r>
                  </m:oMath>
                </a14:m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的数值：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回归估计法</a:t>
                </a:r>
                <a:endParaRPr lang="en-US" altLang="zh-CN" sz="2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假设公共因子对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CN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个变量做回归</a:t>
                </a: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endParaRPr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考虑</a:t>
                </a:r>
                <a:r>
                  <a:rPr lang="zh-CN" alt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去中心化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5187" cy="4876800"/>
              </a:xfrm>
              <a:blipFill>
                <a:blip r:embed="rId3"/>
                <a:stretch>
                  <a:fillRect l="-1084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56</a:t>
            </a:fld>
            <a:endParaRPr lang="en-US" altLang="zh-CN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92798FE-AB42-794C-33E8-B733A896FBD6}"/>
              </a:ext>
            </a:extLst>
          </p:cNvPr>
          <p:cNvGrpSpPr/>
          <p:nvPr/>
        </p:nvGrpSpPr>
        <p:grpSpPr>
          <a:xfrm>
            <a:off x="1627516" y="3537263"/>
            <a:ext cx="5888968" cy="468000"/>
            <a:chOff x="1251315" y="3632835"/>
            <a:chExt cx="5888968" cy="468000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bg1">
                  <a:lumMod val="85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1315" y="3632835"/>
              <a:ext cx="4671492" cy="468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bg1">
                  <a:lumMod val="85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93562" y="3650835"/>
              <a:ext cx="846721" cy="432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4642407-1162-0035-C76E-FE7338694939}"/>
                  </a:ext>
                </a:extLst>
              </p:cNvPr>
              <p:cNvSpPr txBox="1"/>
              <p:nvPr/>
            </p:nvSpPr>
            <p:spPr>
              <a:xfrm>
                <a:off x="858740" y="5077727"/>
                <a:ext cx="7426519" cy="148854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m:rPr>
                          <m:aln/>
                        </m:rPr>
                        <a:rPr lang="en-US" altLang="zh-CN" sz="200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00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𝑗𝑝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4642407-1162-0035-C76E-FE7338694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740" y="5077727"/>
                <a:ext cx="7426519" cy="1488549"/>
              </a:xfrm>
              <a:prstGeom prst="rect">
                <a:avLst/>
              </a:prstGeom>
              <a:blipFill>
                <a:blip r:embed="rId6"/>
                <a:stretch>
                  <a:fillRect b="-16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B56648F-6275-5113-6FF6-1CD2C329DB37}"/>
                  </a:ext>
                </a:extLst>
              </p:cNvPr>
              <p:cNvSpPr txBox="1"/>
              <p:nvPr/>
            </p:nvSpPr>
            <p:spPr>
              <a:xfrm>
                <a:off x="7231980" y="4179213"/>
                <a:ext cx="1660407" cy="56650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𝑿</m:t>
                      </m:r>
                    </m:oMath>
                  </m:oMathPara>
                </a14:m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B56648F-6275-5113-6FF6-1CD2C329D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1980" y="4179213"/>
                <a:ext cx="1660407" cy="56650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D214EDFB-7035-C66F-22E3-0CC479779714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5369021" y="2599505"/>
            <a:ext cx="457200" cy="3268717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41628DD-9A7A-98DB-8806-9F62E3CFDC22}"/>
                  </a:ext>
                </a:extLst>
              </p:cNvPr>
              <p:cNvSpPr txBox="1"/>
              <p:nvPr/>
            </p:nvSpPr>
            <p:spPr>
              <a:xfrm>
                <a:off x="4118394" y="539613"/>
                <a:ext cx="4831731" cy="107054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𝚺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 </m:t>
                      </m:r>
                      <m:r>
                        <a:rPr lang="zh-CN" altLang="en-U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𝚺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𝑗𝑝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41628DD-9A7A-98DB-8806-9F62E3CFD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394" y="539613"/>
                <a:ext cx="4831731" cy="107054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连接符: 肘形 2">
            <a:extLst>
              <a:ext uri="{FF2B5EF4-FFF2-40B4-BE49-F238E27FC236}">
                <a16:creationId xmlns:a16="http://schemas.microsoft.com/office/drawing/2014/main" id="{2DCCAA7E-B628-A8B7-BEE2-81BED44A7BF3}"/>
              </a:ext>
            </a:extLst>
          </p:cNvPr>
          <p:cNvCxnSpPr>
            <a:cxnSpLocks/>
            <a:stCxn id="11" idx="3"/>
            <a:endCxn id="15" idx="2"/>
          </p:cNvCxnSpPr>
          <p:nvPr/>
        </p:nvCxnSpPr>
        <p:spPr>
          <a:xfrm flipH="1" flipV="1">
            <a:off x="6534260" y="1610162"/>
            <a:ext cx="1750999" cy="4211840"/>
          </a:xfrm>
          <a:prstGeom prst="bentConnector4">
            <a:avLst>
              <a:gd name="adj1" fmla="val -13055"/>
              <a:gd name="adj2" fmla="val 5883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654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因子得分</a:t>
            </a:r>
          </a:p>
          <a:p>
            <a:pPr marL="274320" lvl="1" indent="0">
              <a:lnSpc>
                <a:spcPct val="150000"/>
              </a:lnSpc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57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A25214C-830D-F088-895B-2EC358606607}"/>
                  </a:ext>
                </a:extLst>
              </p:cNvPr>
              <p:cNvSpPr txBox="1"/>
              <p:nvPr/>
            </p:nvSpPr>
            <p:spPr>
              <a:xfrm>
                <a:off x="4118394" y="539613"/>
                <a:ext cx="4831731" cy="107054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𝚺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 </m:t>
                      </m:r>
                      <m:r>
                        <a:rPr lang="zh-CN" altLang="en-U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𝚺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𝑗𝑝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A25214C-830D-F088-895B-2EC358606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394" y="539613"/>
                <a:ext cx="4831731" cy="10705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AE2D638-6981-7D6C-60B5-4850F207CA0D}"/>
                  </a:ext>
                </a:extLst>
              </p:cNvPr>
              <p:cNvSpPr txBox="1"/>
              <p:nvPr/>
            </p:nvSpPr>
            <p:spPr>
              <a:xfrm>
                <a:off x="2286000" y="2327424"/>
                <a:ext cx="4572000" cy="107054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000" b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𝚺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𝑚𝑝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AE2D638-6981-7D6C-60B5-4850F207C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2327424"/>
                <a:ext cx="4572000" cy="10705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AE68430B-B130-18BE-6974-CB93FA265718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 rot="5400000">
            <a:off x="5194499" y="987663"/>
            <a:ext cx="717262" cy="1962260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8368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因子得分</a:t>
            </a:r>
          </a:p>
          <a:p>
            <a:pPr marL="274320" lvl="1" indent="0">
              <a:lnSpc>
                <a:spcPct val="150000"/>
              </a:lnSpc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58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A25214C-830D-F088-895B-2EC358606607}"/>
                  </a:ext>
                </a:extLst>
              </p:cNvPr>
              <p:cNvSpPr txBox="1"/>
              <p:nvPr/>
            </p:nvSpPr>
            <p:spPr>
              <a:xfrm>
                <a:off x="4118394" y="539613"/>
                <a:ext cx="4831731" cy="107054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𝚺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 </m:t>
                      </m:r>
                      <m:r>
                        <a:rPr lang="zh-CN" altLang="en-U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𝚺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𝑗𝑝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A25214C-830D-F088-895B-2EC358606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394" y="539613"/>
                <a:ext cx="4831731" cy="10705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AE2D638-6981-7D6C-60B5-4850F207CA0D}"/>
                  </a:ext>
                </a:extLst>
              </p:cNvPr>
              <p:cNvSpPr txBox="1"/>
              <p:nvPr/>
            </p:nvSpPr>
            <p:spPr>
              <a:xfrm>
                <a:off x="2286000" y="2327424"/>
                <a:ext cx="4572000" cy="107054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000" b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𝚺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𝑚𝑝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AE2D638-6981-7D6C-60B5-4850F207C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2327424"/>
                <a:ext cx="4572000" cy="10705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F9AD220-99D3-2AEE-C013-2D2FCEFDA96F}"/>
                  </a:ext>
                </a:extLst>
              </p:cNvPr>
              <p:cNvSpPr txBox="1"/>
              <p:nvPr/>
            </p:nvSpPr>
            <p:spPr>
              <a:xfrm>
                <a:off x="2286000" y="3766582"/>
                <a:ext cx="4572000" cy="55399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27432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𝚺</m:t>
                      </m:r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𝐁</m:t>
                          </m:r>
                        </m:e>
                        <m:sup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𝐋</m:t>
                      </m:r>
                    </m:oMath>
                  </m:oMathPara>
                </a14:m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F9AD220-99D3-2AEE-C013-2D2FCEFDA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766582"/>
                <a:ext cx="4572000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AE68430B-B130-18BE-6974-CB93FA265718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 rot="5400000">
            <a:off x="5194499" y="987663"/>
            <a:ext cx="717262" cy="1962260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1CF3F2F-2B10-CFAB-5DC8-320206BAF640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4572000" y="3397973"/>
            <a:ext cx="0" cy="36860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0590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因子得分</a:t>
            </a:r>
          </a:p>
          <a:p>
            <a:pPr marL="274320" lvl="1" indent="0">
              <a:lnSpc>
                <a:spcPct val="150000"/>
              </a:lnSpc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59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A25214C-830D-F088-895B-2EC358606607}"/>
                  </a:ext>
                </a:extLst>
              </p:cNvPr>
              <p:cNvSpPr txBox="1"/>
              <p:nvPr/>
            </p:nvSpPr>
            <p:spPr>
              <a:xfrm>
                <a:off x="4118394" y="539613"/>
                <a:ext cx="4831731" cy="107054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𝚺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 </m:t>
                      </m:r>
                      <m:r>
                        <a:rPr lang="zh-CN" altLang="en-U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𝚺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𝑗𝑝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A25214C-830D-F088-895B-2EC358606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394" y="539613"/>
                <a:ext cx="4831731" cy="10705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AE2D638-6981-7D6C-60B5-4850F207CA0D}"/>
                  </a:ext>
                </a:extLst>
              </p:cNvPr>
              <p:cNvSpPr txBox="1"/>
              <p:nvPr/>
            </p:nvSpPr>
            <p:spPr>
              <a:xfrm>
                <a:off x="2286000" y="2327424"/>
                <a:ext cx="4572000" cy="107054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000" b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𝚺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𝑚𝑝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AE2D638-6981-7D6C-60B5-4850F207C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2327424"/>
                <a:ext cx="4572000" cy="10705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F9AD220-99D3-2AEE-C013-2D2FCEFDA96F}"/>
                  </a:ext>
                </a:extLst>
              </p:cNvPr>
              <p:cNvSpPr txBox="1"/>
              <p:nvPr/>
            </p:nvSpPr>
            <p:spPr>
              <a:xfrm>
                <a:off x="2286000" y="3766582"/>
                <a:ext cx="4572000" cy="55399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27432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𝚺</m:t>
                      </m:r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𝐁</m:t>
                          </m:r>
                        </m:e>
                        <m:sup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𝐋</m:t>
                      </m:r>
                    </m:oMath>
                  </m:oMathPara>
                </a14:m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F9AD220-99D3-2AEE-C013-2D2FCEFDA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766582"/>
                <a:ext cx="4572000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AE68430B-B130-18BE-6974-CB93FA265718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 rot="5400000">
            <a:off x="5194499" y="987663"/>
            <a:ext cx="717262" cy="1962260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1CF3F2F-2B10-CFAB-5DC8-320206BAF640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4572000" y="3397973"/>
            <a:ext cx="0" cy="36860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4951ABE-393B-7752-043C-8D05D785ED83}"/>
                  </a:ext>
                </a:extLst>
              </p:cNvPr>
              <p:cNvSpPr txBox="1"/>
              <p:nvPr/>
            </p:nvSpPr>
            <p:spPr>
              <a:xfrm>
                <a:off x="2286000" y="4691298"/>
                <a:ext cx="4572000" cy="56650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27432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</m:acc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𝑿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𝐋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𝚺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𝑿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4951ABE-393B-7752-043C-8D05D785E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4691298"/>
                <a:ext cx="4572000" cy="5665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DB3BEA9-AF5A-0B34-E89E-2F6C018B373C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4572000" y="4320580"/>
            <a:ext cx="0" cy="37071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2B258A07-A823-88CC-9DA6-CFD18DA24348}"/>
              </a:ext>
            </a:extLst>
          </p:cNvPr>
          <p:cNvSpPr txBox="1"/>
          <p:nvPr/>
        </p:nvSpPr>
        <p:spPr>
          <a:xfrm>
            <a:off x="457199" y="6488668"/>
            <a:ext cx="482772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1"/>
            <a:r>
              <a:rPr lang="zh-CN" altLang="en-US" sz="1800" dirty="0">
                <a:latin typeface="Cambria Math" panose="020405030504060302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若数据标准化，协方差矩阵即为相关系数矩阵</a:t>
            </a:r>
            <a:endParaRPr lang="en-US" altLang="zh-CN" sz="1800" dirty="0">
              <a:latin typeface="Cambria Math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因子</a:t>
            </a: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分析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435187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步骤总结</a:t>
            </a: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Cambria Math" panose="020405030504060302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检验变量相关性</a:t>
            </a:r>
            <a:endParaRPr lang="en-US" altLang="zh-CN" sz="2400" b="1" dirty="0">
              <a:latin typeface="Cambria Math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KMO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检验、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Bartlett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球形检验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估计负荷阵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sz="216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因子负荷、因子旋转</a:t>
            </a:r>
            <a:endParaRPr lang="en-US" altLang="zh-CN" sz="216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模型解释</a:t>
            </a:r>
          </a:p>
          <a:p>
            <a:pPr lvl="2"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sz="216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负荷分布、因子得分</a:t>
            </a:r>
            <a:endParaRPr lang="en-US" altLang="zh-CN" sz="216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60</a:t>
            </a:fld>
            <a:endParaRPr lang="en-US" altLang="zh-CN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 (Headings)" charset="0"/>
              </a:rPr>
              <a:t>参考文献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862801" cy="4876800"/>
          </a:xfrm>
        </p:spPr>
        <p:txBody>
          <a:bodyPr/>
          <a:lstStyle/>
          <a:p>
            <a:pPr marL="0" indent="0">
              <a:buClrTx/>
              <a:buNone/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Washington, S., 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Karlaftis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M., and Mannering, F. Statistical and Econometric Methods for Transportation Data Analysis, Chapman &amp; HALL/CRC, 2003.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3/22/2024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61</a:t>
            </a:fld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3A50209-847B-72F8-17D5-90EC261A3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338" y="1338600"/>
            <a:ext cx="3861868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3031714"/>
      </p:ext>
    </p:extLst>
  </p:cSld>
  <p:clrMapOvr>
    <a:masterClrMapping/>
  </p:clrMapOvr>
</p:sld>
</file>

<file path=ppt/theme/theme1.xml><?xml version="1.0" encoding="utf-8"?>
<a:theme xmlns:a="http://schemas.openxmlformats.org/drawingml/2006/main" name="Clarity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2458</TotalTime>
  <Words>3082</Words>
  <Application>Microsoft Office PowerPoint</Application>
  <PresentationFormat>全屏显示(4:3)</PresentationFormat>
  <Paragraphs>661</Paragraphs>
  <Slides>61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1" baseType="lpstr">
      <vt:lpstr>Arial (Headings)</vt:lpstr>
      <vt:lpstr>等线</vt:lpstr>
      <vt:lpstr>宋体</vt:lpstr>
      <vt:lpstr>微软雅黑</vt:lpstr>
      <vt:lpstr>Arial</vt:lpstr>
      <vt:lpstr>Arial</vt:lpstr>
      <vt:lpstr>Cambria Math</vt:lpstr>
      <vt:lpstr>Times New Roman</vt:lpstr>
      <vt:lpstr>Wingdings</vt:lpstr>
      <vt:lpstr>Clarity</vt:lpstr>
      <vt:lpstr>PowerPoint 演示文稿</vt:lpstr>
      <vt:lpstr>主成分分析与因子分析</vt:lpstr>
      <vt:lpstr>主成分分析与因子分析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</vt:lpstr>
      <vt:lpstr>主成分分析与因子分析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因子分析</vt:lpstr>
      <vt:lpstr>参考文献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 Huang</dc:creator>
  <cp:lastModifiedBy>Ziyuan Gu</cp:lastModifiedBy>
  <cp:revision>1129</cp:revision>
  <dcterms:created xsi:type="dcterms:W3CDTF">2016-02-16T07:55:00Z</dcterms:created>
  <dcterms:modified xsi:type="dcterms:W3CDTF">2024-03-23T09:51:27Z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027037F905BD4CD0875E1554910E30B8</vt:lpwstr>
  </property>
  <property fmtid="{D5CDD505-2E9C-101B-9397-08002B2CF9AE}" pid="3" name="KSOProductBuildVer">
    <vt:lpwstr>2052-11.1.0.11365</vt:lpwstr>
  </property>
</Properties>
</file>