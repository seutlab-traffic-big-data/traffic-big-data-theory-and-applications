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81" r:id="rId13"/>
    <p:sldId id="282" r:id="rId14"/>
    <p:sldId id="283" r:id="rId15"/>
    <p:sldId id="273" r:id="rId16"/>
    <p:sldId id="274" r:id="rId17"/>
    <p:sldId id="284" r:id="rId18"/>
    <p:sldId id="285" r:id="rId19"/>
    <p:sldId id="286" r:id="rId20"/>
    <p:sldId id="287" r:id="rId21"/>
    <p:sldId id="288" r:id="rId22"/>
    <p:sldId id="289" r:id="rId23"/>
    <p:sldId id="290" r:id="rId24"/>
    <p:sldId id="291" r:id="rId25"/>
    <p:sldId id="292" r:id="rId26"/>
    <p:sldId id="293" r:id="rId27"/>
    <p:sldId id="277" r:id="rId28"/>
    <p:sldId id="278" r:id="rId29"/>
    <p:sldId id="279" r:id="rId30"/>
    <p:sldId id="280" r:id="rId31"/>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728" y="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365760"/>
          </a:xfrm>
          <a:custGeom>
            <a:avLst/>
            <a:gdLst/>
            <a:ahLst/>
            <a:cxnLst/>
            <a:rect l="l" t="t" r="r" b="b"/>
            <a:pathLst>
              <a:path w="9144000" h="365760">
                <a:moveTo>
                  <a:pt x="0" y="365760"/>
                </a:moveTo>
                <a:lnTo>
                  <a:pt x="9144000" y="365760"/>
                </a:lnTo>
                <a:lnTo>
                  <a:pt x="9144000" y="0"/>
                </a:lnTo>
                <a:lnTo>
                  <a:pt x="0" y="0"/>
                </a:lnTo>
                <a:lnTo>
                  <a:pt x="0" y="365760"/>
                </a:lnTo>
                <a:close/>
              </a:path>
            </a:pathLst>
          </a:custGeom>
          <a:solidFill>
            <a:srgbClr val="4F81BC"/>
          </a:solidFill>
        </p:spPr>
        <p:txBody>
          <a:bodyPr wrap="square" lIns="0" tIns="0" rIns="0" bIns="0" rtlCol="0"/>
          <a:lstStyle/>
          <a:p>
            <a:endParaRPr/>
          </a:p>
        </p:txBody>
      </p:sp>
      <p:sp>
        <p:nvSpPr>
          <p:cNvPr id="17" name="bk object 17"/>
          <p:cNvSpPr/>
          <p:nvPr/>
        </p:nvSpPr>
        <p:spPr>
          <a:xfrm>
            <a:off x="8439911" y="6150862"/>
            <a:ext cx="632459" cy="627888"/>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457200" y="274319"/>
            <a:ext cx="8229599" cy="10972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457200" y="1577340"/>
            <a:ext cx="8229599"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3/27/2023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1.wmf"/></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686562" y="1828038"/>
            <a:ext cx="7848600" cy="1905"/>
          </a:xfrm>
          <a:custGeom>
            <a:avLst/>
            <a:gdLst/>
            <a:ahLst/>
            <a:cxnLst/>
            <a:rect l="l" t="t" r="r" b="b"/>
            <a:pathLst>
              <a:path w="7848600" h="1905">
                <a:moveTo>
                  <a:pt x="0" y="0"/>
                </a:moveTo>
                <a:lnTo>
                  <a:pt x="7848600" y="1524"/>
                </a:lnTo>
              </a:path>
            </a:pathLst>
          </a:custGeom>
          <a:ln w="19812">
            <a:solidFill>
              <a:srgbClr val="1F487C"/>
            </a:solidFill>
          </a:ln>
        </p:spPr>
        <p:txBody>
          <a:bodyPr wrap="square" lIns="0" tIns="0" rIns="0" bIns="0" rtlCol="0"/>
          <a:lstStyle/>
          <a:p>
            <a:endParaRPr/>
          </a:p>
        </p:txBody>
      </p:sp>
      <p:sp>
        <p:nvSpPr>
          <p:cNvPr id="6" name="object 6"/>
          <p:cNvSpPr txBox="1"/>
          <p:nvPr/>
        </p:nvSpPr>
        <p:spPr>
          <a:xfrm>
            <a:off x="3314191" y="1105976"/>
            <a:ext cx="2826385" cy="2362200"/>
          </a:xfrm>
          <a:prstGeom prst="rect">
            <a:avLst/>
          </a:prstGeom>
        </p:spPr>
        <p:txBody>
          <a:bodyPr vert="horz" wrap="square" lIns="0" tIns="0" rIns="0" bIns="0" rtlCol="0">
            <a:spAutoFit/>
          </a:bodyPr>
          <a:lstStyle/>
          <a:p>
            <a:pPr marL="69850" indent="-57785">
              <a:lnSpc>
                <a:spcPct val="100000"/>
              </a:lnSpc>
            </a:pPr>
            <a:r>
              <a:rPr sz="4000" b="1" spc="-10" dirty="0">
                <a:solidFill>
                  <a:srgbClr val="1F487C"/>
                </a:solidFill>
                <a:latin typeface="微软雅黑"/>
                <a:cs typeface="微软雅黑"/>
              </a:rPr>
              <a:t>交通大数据</a:t>
            </a:r>
            <a:endParaRPr sz="4000">
              <a:latin typeface="微软雅黑"/>
              <a:cs typeface="微软雅黑"/>
            </a:endParaRPr>
          </a:p>
          <a:p>
            <a:pPr>
              <a:lnSpc>
                <a:spcPct val="100000"/>
              </a:lnSpc>
            </a:pPr>
            <a:endParaRPr sz="4000">
              <a:latin typeface="Times New Roman"/>
              <a:cs typeface="Times New Roman"/>
            </a:endParaRPr>
          </a:p>
          <a:p>
            <a:pPr>
              <a:lnSpc>
                <a:spcPct val="100000"/>
              </a:lnSpc>
              <a:spcBef>
                <a:spcPts val="15"/>
              </a:spcBef>
            </a:pPr>
            <a:endParaRPr sz="4750">
              <a:latin typeface="Times New Roman"/>
              <a:cs typeface="Times New Roman"/>
            </a:endParaRPr>
          </a:p>
          <a:p>
            <a:pPr marL="69850">
              <a:lnSpc>
                <a:spcPct val="100000"/>
              </a:lnSpc>
            </a:pPr>
            <a:r>
              <a:rPr sz="3600" b="1" dirty="0">
                <a:solidFill>
                  <a:srgbClr val="1F487C"/>
                </a:solidFill>
                <a:latin typeface="微软雅黑"/>
                <a:cs typeface="微软雅黑"/>
              </a:rPr>
              <a:t>对数几率回归</a:t>
            </a:r>
            <a:endParaRPr sz="3600">
              <a:latin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3072765" cy="226504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对数几率回归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学习目标</a:t>
            </a:r>
            <a:endParaRPr sz="2800">
              <a:latin typeface="微软雅黑"/>
              <a:cs typeface="微软雅黑"/>
            </a:endParaRPr>
          </a:p>
          <a:p>
            <a:pPr marL="269875" indent="-257175">
              <a:lnSpc>
                <a:spcPct val="100000"/>
              </a:lnSpc>
              <a:spcBef>
                <a:spcPts val="1290"/>
              </a:spcBef>
              <a:buClr>
                <a:srgbClr val="4F81BC"/>
              </a:buClr>
              <a:buSzPct val="85000"/>
              <a:buFont typeface="Segoe UI Symbol"/>
              <a:buChar char="•"/>
              <a:tabLst>
                <a:tab pos="270510" algn="l"/>
              </a:tabLst>
            </a:pPr>
            <a:r>
              <a:rPr sz="2000" dirty="0">
                <a:latin typeface="微软雅黑"/>
                <a:cs typeface="微软雅黑"/>
              </a:rPr>
              <a:t>二项</a:t>
            </a:r>
            <a:r>
              <a:rPr sz="2000" spc="-20" dirty="0">
                <a:latin typeface="微软雅黑"/>
                <a:cs typeface="微软雅黑"/>
              </a:rPr>
              <a:t> </a:t>
            </a:r>
            <a:r>
              <a:rPr sz="2000" spc="-5" dirty="0">
                <a:latin typeface="微软雅黑"/>
                <a:cs typeface="微软雅黑"/>
              </a:rPr>
              <a:t>Logis</a:t>
            </a:r>
            <a:r>
              <a:rPr sz="2000" dirty="0">
                <a:latin typeface="微软雅黑"/>
                <a:cs typeface="微软雅黑"/>
              </a:rPr>
              <a:t>t</a:t>
            </a:r>
            <a:r>
              <a:rPr sz="2000" spc="-10" dirty="0">
                <a:latin typeface="微软雅黑"/>
                <a:cs typeface="微软雅黑"/>
              </a:rPr>
              <a:t>i</a:t>
            </a:r>
            <a:r>
              <a:rPr sz="2000" dirty="0">
                <a:latin typeface="微软雅黑"/>
                <a:cs typeface="微软雅黑"/>
              </a:rPr>
              <a:t>c</a:t>
            </a:r>
            <a:r>
              <a:rPr sz="2000" spc="10" dirty="0">
                <a:latin typeface="微软雅黑"/>
                <a:cs typeface="微软雅黑"/>
              </a:rPr>
              <a:t> </a:t>
            </a:r>
            <a:r>
              <a:rPr sz="2000" dirty="0">
                <a:latin typeface="微软雅黑"/>
                <a:cs typeface="微软雅黑"/>
              </a:rPr>
              <a:t>回归</a:t>
            </a:r>
            <a:endParaRPr sz="2000">
              <a:latin typeface="微软雅黑"/>
              <a:cs typeface="微软雅黑"/>
            </a:endParaRPr>
          </a:p>
          <a:p>
            <a:pPr marL="269875" indent="-257175">
              <a:lnSpc>
                <a:spcPct val="100000"/>
              </a:lnSpc>
              <a:spcBef>
                <a:spcPts val="1680"/>
              </a:spcBef>
              <a:buClr>
                <a:srgbClr val="4F81BC"/>
              </a:buClr>
              <a:buSzPct val="85000"/>
              <a:buFont typeface="Segoe UI Symbol"/>
              <a:buChar char="•"/>
              <a:tabLst>
                <a:tab pos="270510" algn="l"/>
              </a:tabLst>
            </a:pPr>
            <a:r>
              <a:rPr sz="2000" spc="5" dirty="0">
                <a:latin typeface="微软雅黑"/>
                <a:cs typeface="微软雅黑"/>
              </a:rPr>
              <a:t>多项</a:t>
            </a:r>
            <a:r>
              <a:rPr sz="2000" spc="-20" dirty="0">
                <a:latin typeface="微软雅黑"/>
                <a:cs typeface="微软雅黑"/>
              </a:rPr>
              <a:t> </a:t>
            </a:r>
            <a:r>
              <a:rPr sz="2000" spc="-5" dirty="0">
                <a:latin typeface="微软雅黑"/>
                <a:cs typeface="微软雅黑"/>
              </a:rPr>
              <a:t>Log</a:t>
            </a:r>
            <a:r>
              <a:rPr sz="2000" spc="-10" dirty="0">
                <a:latin typeface="微软雅黑"/>
                <a:cs typeface="微软雅黑"/>
              </a:rPr>
              <a:t>i</a:t>
            </a:r>
            <a:r>
              <a:rPr sz="2000" dirty="0">
                <a:latin typeface="微软雅黑"/>
                <a:cs typeface="微软雅黑"/>
              </a:rPr>
              <a:t>s</a:t>
            </a:r>
            <a:r>
              <a:rPr sz="2000" spc="-10" dirty="0">
                <a:latin typeface="微软雅黑"/>
                <a:cs typeface="微软雅黑"/>
              </a:rPr>
              <a:t>t</a:t>
            </a:r>
            <a:r>
              <a:rPr sz="2000" spc="-5" dirty="0">
                <a:latin typeface="微软雅黑"/>
                <a:cs typeface="微软雅黑"/>
              </a:rPr>
              <a:t>i</a:t>
            </a:r>
            <a:r>
              <a:rPr sz="2000" dirty="0">
                <a:latin typeface="微软雅黑"/>
                <a:cs typeface="微软雅黑"/>
              </a:rPr>
              <a:t>c</a:t>
            </a:r>
            <a:r>
              <a:rPr sz="2000" spc="5" dirty="0">
                <a:latin typeface="微软雅黑"/>
                <a:cs typeface="微软雅黑"/>
              </a:rPr>
              <a:t> </a:t>
            </a:r>
            <a:r>
              <a:rPr sz="2000" dirty="0">
                <a:latin typeface="微软雅黑"/>
                <a:cs typeface="微软雅黑"/>
              </a:rPr>
              <a:t>回归</a:t>
            </a:r>
            <a:endParaRPr sz="2000">
              <a:latin typeface="微软雅黑"/>
              <a:cs typeface="微软雅黑"/>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3072765" cy="226504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对数几率回归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学习目标</a:t>
            </a:r>
            <a:endParaRPr sz="2800">
              <a:latin typeface="微软雅黑"/>
              <a:cs typeface="微软雅黑"/>
            </a:endParaRPr>
          </a:p>
          <a:p>
            <a:pPr marL="269875" indent="-257175">
              <a:lnSpc>
                <a:spcPct val="100000"/>
              </a:lnSpc>
              <a:spcBef>
                <a:spcPts val="1290"/>
              </a:spcBef>
              <a:buClr>
                <a:srgbClr val="4F81BC"/>
              </a:buClr>
              <a:buSzPct val="85000"/>
              <a:buFont typeface="Segoe UI Symbol"/>
              <a:buChar char="•"/>
              <a:tabLst>
                <a:tab pos="270510" algn="l"/>
              </a:tabLst>
            </a:pPr>
            <a:r>
              <a:rPr sz="2000" dirty="0">
                <a:latin typeface="微软雅黑"/>
                <a:cs typeface="微软雅黑"/>
              </a:rPr>
              <a:t>二项</a:t>
            </a:r>
            <a:r>
              <a:rPr sz="2000" spc="-20" dirty="0">
                <a:latin typeface="微软雅黑"/>
                <a:cs typeface="微软雅黑"/>
              </a:rPr>
              <a:t> </a:t>
            </a:r>
            <a:r>
              <a:rPr sz="2000" spc="-5" dirty="0">
                <a:latin typeface="微软雅黑"/>
                <a:cs typeface="微软雅黑"/>
              </a:rPr>
              <a:t>Logis</a:t>
            </a:r>
            <a:r>
              <a:rPr sz="2000" dirty="0">
                <a:latin typeface="微软雅黑"/>
                <a:cs typeface="微软雅黑"/>
              </a:rPr>
              <a:t>t</a:t>
            </a:r>
            <a:r>
              <a:rPr sz="2000" spc="-10" dirty="0">
                <a:latin typeface="微软雅黑"/>
                <a:cs typeface="微软雅黑"/>
              </a:rPr>
              <a:t>i</a:t>
            </a:r>
            <a:r>
              <a:rPr sz="2000" dirty="0">
                <a:latin typeface="微软雅黑"/>
                <a:cs typeface="微软雅黑"/>
              </a:rPr>
              <a:t>c</a:t>
            </a:r>
            <a:r>
              <a:rPr sz="2000" spc="10" dirty="0">
                <a:latin typeface="微软雅黑"/>
                <a:cs typeface="微软雅黑"/>
              </a:rPr>
              <a:t> </a:t>
            </a:r>
            <a:r>
              <a:rPr sz="2000" dirty="0">
                <a:latin typeface="微软雅黑"/>
                <a:cs typeface="微软雅黑"/>
              </a:rPr>
              <a:t>回归</a:t>
            </a:r>
            <a:endParaRPr sz="2000">
              <a:latin typeface="微软雅黑"/>
              <a:cs typeface="微软雅黑"/>
            </a:endParaRPr>
          </a:p>
          <a:p>
            <a:pPr marL="269875" indent="-257175">
              <a:lnSpc>
                <a:spcPct val="100000"/>
              </a:lnSpc>
              <a:spcBef>
                <a:spcPts val="1680"/>
              </a:spcBef>
              <a:buClr>
                <a:srgbClr val="4F81BC"/>
              </a:buClr>
              <a:buSzPct val="85000"/>
              <a:buFont typeface="Segoe UI Symbol"/>
              <a:buChar char="•"/>
              <a:tabLst>
                <a:tab pos="270510" algn="l"/>
              </a:tabLst>
            </a:pPr>
            <a:r>
              <a:rPr sz="2000" spc="5" dirty="0">
                <a:solidFill>
                  <a:srgbClr val="BEBEBE"/>
                </a:solidFill>
                <a:latin typeface="微软雅黑"/>
                <a:cs typeface="微软雅黑"/>
              </a:rPr>
              <a:t>多项</a:t>
            </a:r>
            <a:r>
              <a:rPr sz="2000" spc="-20" dirty="0">
                <a:solidFill>
                  <a:srgbClr val="BEBEBE"/>
                </a:solidFill>
                <a:latin typeface="微软雅黑"/>
                <a:cs typeface="微软雅黑"/>
              </a:rPr>
              <a:t> </a:t>
            </a:r>
            <a:r>
              <a:rPr sz="2000" spc="-5" dirty="0">
                <a:solidFill>
                  <a:srgbClr val="BEBEBE"/>
                </a:solidFill>
                <a:latin typeface="微软雅黑"/>
                <a:cs typeface="微软雅黑"/>
              </a:rPr>
              <a:t>Log</a:t>
            </a:r>
            <a:r>
              <a:rPr sz="2000" spc="-10" dirty="0">
                <a:solidFill>
                  <a:srgbClr val="BEBEBE"/>
                </a:solidFill>
                <a:latin typeface="微软雅黑"/>
                <a:cs typeface="微软雅黑"/>
              </a:rPr>
              <a:t>i</a:t>
            </a:r>
            <a:r>
              <a:rPr sz="2000" dirty="0">
                <a:solidFill>
                  <a:srgbClr val="BEBEBE"/>
                </a:solidFill>
                <a:latin typeface="微软雅黑"/>
                <a:cs typeface="微软雅黑"/>
              </a:rPr>
              <a:t>s</a:t>
            </a:r>
            <a:r>
              <a:rPr sz="2000" spc="-10" dirty="0">
                <a:solidFill>
                  <a:srgbClr val="BEBEBE"/>
                </a:solidFill>
                <a:latin typeface="微软雅黑"/>
                <a:cs typeface="微软雅黑"/>
              </a:rPr>
              <a:t>t</a:t>
            </a:r>
            <a:r>
              <a:rPr sz="2000" spc="-5" dirty="0">
                <a:solidFill>
                  <a:srgbClr val="BEBEBE"/>
                </a:solidFill>
                <a:latin typeface="微软雅黑"/>
                <a:cs typeface="微软雅黑"/>
              </a:rPr>
              <a:t>i</a:t>
            </a:r>
            <a:r>
              <a:rPr sz="2000" dirty="0">
                <a:solidFill>
                  <a:srgbClr val="BEBEBE"/>
                </a:solidFill>
                <a:latin typeface="微软雅黑"/>
                <a:cs typeface="微软雅黑"/>
              </a:rPr>
              <a:t>c</a:t>
            </a:r>
            <a:r>
              <a:rPr sz="2000" spc="5" dirty="0">
                <a:solidFill>
                  <a:srgbClr val="BEBEBE"/>
                </a:solidFill>
                <a:latin typeface="微软雅黑"/>
                <a:cs typeface="微软雅黑"/>
              </a:rPr>
              <a:t> </a:t>
            </a:r>
            <a:r>
              <a:rPr sz="2000" dirty="0">
                <a:solidFill>
                  <a:srgbClr val="BEBEBE"/>
                </a:solidFill>
                <a:latin typeface="微软雅黑"/>
                <a:cs typeface="微软雅黑"/>
              </a:rPr>
              <a:t>回归</a:t>
            </a:r>
            <a:endParaRPr sz="2000">
              <a:latin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74688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a:p>
            <a:pPr marL="286385">
              <a:lnSpc>
                <a:spcPct val="100000"/>
              </a:lnSpc>
              <a:spcBef>
                <a:spcPts val="129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概率密度或质量函数如下</a:t>
            </a:r>
            <a:endParaRPr sz="2000">
              <a:latin typeface="微软雅黑"/>
              <a:cs typeface="微软雅黑"/>
            </a:endParaRPr>
          </a:p>
        </p:txBody>
      </p:sp>
      <p:sp>
        <p:nvSpPr>
          <p:cNvPr id="3" name="object 3"/>
          <p:cNvSpPr/>
          <p:nvPr/>
        </p:nvSpPr>
        <p:spPr>
          <a:xfrm>
            <a:off x="6814566" y="4072254"/>
            <a:ext cx="55880" cy="0"/>
          </a:xfrm>
          <a:custGeom>
            <a:avLst/>
            <a:gdLst/>
            <a:ahLst/>
            <a:cxnLst/>
            <a:rect l="l" t="t" r="r" b="b"/>
            <a:pathLst>
              <a:path w="55879">
                <a:moveTo>
                  <a:pt x="0" y="0"/>
                </a:moveTo>
                <a:lnTo>
                  <a:pt x="55372" y="0"/>
                </a:lnTo>
              </a:path>
            </a:pathLst>
          </a:custGeom>
          <a:ln w="8890">
            <a:solidFill>
              <a:srgbClr val="000000"/>
            </a:solidFill>
          </a:ln>
        </p:spPr>
        <p:txBody>
          <a:bodyPr wrap="square" lIns="0" tIns="0" rIns="0" bIns="0" rtlCol="0"/>
          <a:lstStyle/>
          <a:p>
            <a:endParaRPr/>
          </a:p>
        </p:txBody>
      </p:sp>
      <p:sp>
        <p:nvSpPr>
          <p:cNvPr id="4" name="object 4"/>
          <p:cNvSpPr/>
          <p:nvPr/>
        </p:nvSpPr>
        <p:spPr>
          <a:xfrm>
            <a:off x="6859651" y="3849370"/>
            <a:ext cx="0" cy="218440"/>
          </a:xfrm>
          <a:custGeom>
            <a:avLst/>
            <a:gdLst/>
            <a:ahLst/>
            <a:cxnLst/>
            <a:rect l="l" t="t" r="r" b="b"/>
            <a:pathLst>
              <a:path h="218439">
                <a:moveTo>
                  <a:pt x="0" y="0"/>
                </a:moveTo>
                <a:lnTo>
                  <a:pt x="0" y="218439"/>
                </a:lnTo>
              </a:path>
            </a:pathLst>
          </a:custGeom>
          <a:ln w="20574">
            <a:solidFill>
              <a:srgbClr val="000000"/>
            </a:solidFill>
          </a:ln>
        </p:spPr>
        <p:txBody>
          <a:bodyPr wrap="square" lIns="0" tIns="0" rIns="0" bIns="0" rtlCol="0"/>
          <a:lstStyle/>
          <a:p>
            <a:endParaRPr/>
          </a:p>
        </p:txBody>
      </p:sp>
      <p:sp>
        <p:nvSpPr>
          <p:cNvPr id="5" name="object 5"/>
          <p:cNvSpPr/>
          <p:nvPr/>
        </p:nvSpPr>
        <p:spPr>
          <a:xfrm>
            <a:off x="6814566" y="3844925"/>
            <a:ext cx="55880" cy="0"/>
          </a:xfrm>
          <a:custGeom>
            <a:avLst/>
            <a:gdLst/>
            <a:ahLst/>
            <a:cxnLst/>
            <a:rect l="l" t="t" r="r" b="b"/>
            <a:pathLst>
              <a:path w="55879">
                <a:moveTo>
                  <a:pt x="0" y="0"/>
                </a:moveTo>
                <a:lnTo>
                  <a:pt x="55372" y="0"/>
                </a:lnTo>
              </a:path>
            </a:pathLst>
          </a:custGeom>
          <a:ln w="8890">
            <a:solidFill>
              <a:srgbClr val="000000"/>
            </a:solidFill>
          </a:ln>
        </p:spPr>
        <p:txBody>
          <a:bodyPr wrap="square" lIns="0" tIns="0" rIns="0" bIns="0" rtlCol="0"/>
          <a:lstStyle/>
          <a:p>
            <a:endParaRPr/>
          </a:p>
        </p:txBody>
      </p:sp>
      <p:sp>
        <p:nvSpPr>
          <p:cNvPr id="6" name="object 6"/>
          <p:cNvSpPr/>
          <p:nvPr/>
        </p:nvSpPr>
        <p:spPr>
          <a:xfrm>
            <a:off x="6415404" y="4072254"/>
            <a:ext cx="55880" cy="0"/>
          </a:xfrm>
          <a:custGeom>
            <a:avLst/>
            <a:gdLst/>
            <a:ahLst/>
            <a:cxnLst/>
            <a:rect l="l" t="t" r="r" b="b"/>
            <a:pathLst>
              <a:path w="55879">
                <a:moveTo>
                  <a:pt x="0" y="0"/>
                </a:moveTo>
                <a:lnTo>
                  <a:pt x="55499" y="0"/>
                </a:lnTo>
              </a:path>
            </a:pathLst>
          </a:custGeom>
          <a:ln w="8890">
            <a:solidFill>
              <a:srgbClr val="000000"/>
            </a:solidFill>
          </a:ln>
        </p:spPr>
        <p:txBody>
          <a:bodyPr wrap="square" lIns="0" tIns="0" rIns="0" bIns="0" rtlCol="0"/>
          <a:lstStyle/>
          <a:p>
            <a:endParaRPr/>
          </a:p>
        </p:txBody>
      </p:sp>
      <p:sp>
        <p:nvSpPr>
          <p:cNvPr id="7" name="object 7"/>
          <p:cNvSpPr/>
          <p:nvPr/>
        </p:nvSpPr>
        <p:spPr>
          <a:xfrm>
            <a:off x="6425755" y="3849370"/>
            <a:ext cx="0" cy="218440"/>
          </a:xfrm>
          <a:custGeom>
            <a:avLst/>
            <a:gdLst/>
            <a:ahLst/>
            <a:cxnLst/>
            <a:rect l="l" t="t" r="r" b="b"/>
            <a:pathLst>
              <a:path h="218439">
                <a:moveTo>
                  <a:pt x="0" y="0"/>
                </a:moveTo>
                <a:lnTo>
                  <a:pt x="0" y="218439"/>
                </a:lnTo>
              </a:path>
            </a:pathLst>
          </a:custGeom>
          <a:ln w="20700">
            <a:solidFill>
              <a:srgbClr val="000000"/>
            </a:solidFill>
          </a:ln>
        </p:spPr>
        <p:txBody>
          <a:bodyPr wrap="square" lIns="0" tIns="0" rIns="0" bIns="0" rtlCol="0"/>
          <a:lstStyle/>
          <a:p>
            <a:endParaRPr/>
          </a:p>
        </p:txBody>
      </p:sp>
      <p:sp>
        <p:nvSpPr>
          <p:cNvPr id="8" name="object 8"/>
          <p:cNvSpPr/>
          <p:nvPr/>
        </p:nvSpPr>
        <p:spPr>
          <a:xfrm>
            <a:off x="6415404" y="3844925"/>
            <a:ext cx="55880" cy="0"/>
          </a:xfrm>
          <a:custGeom>
            <a:avLst/>
            <a:gdLst/>
            <a:ahLst/>
            <a:cxnLst/>
            <a:rect l="l" t="t" r="r" b="b"/>
            <a:pathLst>
              <a:path w="55879">
                <a:moveTo>
                  <a:pt x="0" y="0"/>
                </a:moveTo>
                <a:lnTo>
                  <a:pt x="55499" y="0"/>
                </a:lnTo>
              </a:path>
            </a:pathLst>
          </a:custGeom>
          <a:ln w="8890">
            <a:solidFill>
              <a:srgbClr val="000000"/>
            </a:solidFill>
          </a:ln>
        </p:spPr>
        <p:txBody>
          <a:bodyPr wrap="square" lIns="0" tIns="0" rIns="0" bIns="0" rtlCol="0"/>
          <a:lstStyle/>
          <a:p>
            <a:endParaRPr/>
          </a:p>
        </p:txBody>
      </p:sp>
      <p:sp>
        <p:nvSpPr>
          <p:cNvPr id="9" name="object 9"/>
          <p:cNvSpPr txBox="1"/>
          <p:nvPr/>
        </p:nvSpPr>
        <p:spPr>
          <a:xfrm>
            <a:off x="810259" y="3815129"/>
            <a:ext cx="6717665" cy="1910779"/>
          </a:xfrm>
          <a:prstGeom prst="rect">
            <a:avLst/>
          </a:prstGeom>
        </p:spPr>
        <p:txBody>
          <a:bodyPr vert="horz" wrap="square" lIns="0" tIns="0" rIns="0" bIns="0" rtlCol="0">
            <a:spAutoFit/>
          </a:bodyPr>
          <a:lstStyle/>
          <a:p>
            <a:pPr marL="12700">
              <a:lnSpc>
                <a:spcPct val="100000"/>
              </a:lnSpc>
              <a:tabLst>
                <a:tab pos="5666105" algn="l"/>
              </a:tabLst>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二项</a:t>
            </a:r>
            <a:r>
              <a:rPr sz="2000" spc="-20" dirty="0">
                <a:latin typeface="微软雅黑"/>
                <a:cs typeface="微软雅黑"/>
              </a:rPr>
              <a:t> </a:t>
            </a:r>
            <a:r>
              <a:rPr sz="2000" spc="-5" dirty="0">
                <a:latin typeface="微软雅黑"/>
                <a:cs typeface="微软雅黑"/>
              </a:rPr>
              <a:t>Logis</a:t>
            </a:r>
            <a:r>
              <a:rPr sz="2000" dirty="0">
                <a:latin typeface="微软雅黑"/>
                <a:cs typeface="微软雅黑"/>
              </a:rPr>
              <a:t>t</a:t>
            </a:r>
            <a:r>
              <a:rPr sz="2000" spc="-10" dirty="0">
                <a:latin typeface="微软雅黑"/>
                <a:cs typeface="微软雅黑"/>
              </a:rPr>
              <a:t>i</a:t>
            </a:r>
            <a:r>
              <a:rPr sz="2000" dirty="0">
                <a:latin typeface="微软雅黑"/>
                <a:cs typeface="微软雅黑"/>
              </a:rPr>
              <a:t>c</a:t>
            </a:r>
            <a:r>
              <a:rPr sz="2000" spc="10" dirty="0">
                <a:latin typeface="微软雅黑"/>
                <a:cs typeface="微软雅黑"/>
              </a:rPr>
              <a:t> </a:t>
            </a:r>
            <a:r>
              <a:rPr sz="2000" dirty="0">
                <a:latin typeface="微软雅黑"/>
                <a:cs typeface="微软雅黑"/>
              </a:rPr>
              <a:t>回归实际</a:t>
            </a:r>
            <a:r>
              <a:rPr sz="2000" spc="-10" dirty="0">
                <a:latin typeface="微软雅黑"/>
                <a:cs typeface="微软雅黑"/>
              </a:rPr>
              <a:t>是</a:t>
            </a:r>
            <a:r>
              <a:rPr sz="2000" dirty="0">
                <a:latin typeface="微软雅黑"/>
                <a:cs typeface="微软雅黑"/>
              </a:rPr>
              <a:t>0</a:t>
            </a:r>
            <a:r>
              <a:rPr sz="2000" spc="-5" dirty="0">
                <a:latin typeface="微软雅黑"/>
                <a:cs typeface="微软雅黑"/>
              </a:rPr>
              <a:t>-</a:t>
            </a:r>
            <a:r>
              <a:rPr sz="2000" dirty="0">
                <a:latin typeface="微软雅黑"/>
                <a:cs typeface="微软雅黑"/>
              </a:rPr>
              <a:t>1分类问</a:t>
            </a:r>
            <a:r>
              <a:rPr sz="2000" spc="-15" dirty="0">
                <a:latin typeface="微软雅黑"/>
                <a:cs typeface="微软雅黑"/>
              </a:rPr>
              <a:t>题</a:t>
            </a:r>
            <a:r>
              <a:rPr sz="2000" dirty="0">
                <a:latin typeface="微软雅黑"/>
                <a:cs typeface="微软雅黑"/>
              </a:rPr>
              <a:t>，即</a:t>
            </a:r>
            <a:r>
              <a:rPr sz="2000" spc="-40" dirty="0">
                <a:latin typeface="微软雅黑"/>
                <a:cs typeface="微软雅黑"/>
              </a:rPr>
              <a:t> </a:t>
            </a:r>
            <a:r>
              <a:rPr lang="en-US" altLang="zh-CN" sz="2000" spc="-365" dirty="0" err="1" smtClean="0">
                <a:latin typeface="Cambria Math"/>
                <a:cs typeface="微软雅黑"/>
              </a:rPr>
              <a:t>yi</a:t>
            </a:r>
            <a:r>
              <a:rPr lang="en-US" altLang="zh-CN" sz="2000" spc="-365" dirty="0" smtClean="0">
                <a:latin typeface="Cambria Math"/>
                <a:cs typeface="微软雅黑"/>
              </a:rPr>
              <a:t> </a:t>
            </a:r>
            <a:r>
              <a:rPr lang="zh-CN" altLang="en-US" sz="2000" dirty="0" smtClean="0">
                <a:latin typeface="Cambria Math"/>
                <a:cs typeface="Cambria Math"/>
              </a:rPr>
              <a:t>∈ </a:t>
            </a:r>
            <a:r>
              <a:rPr sz="2000" spc="5" dirty="0" smtClean="0">
                <a:latin typeface="Cambria Math"/>
                <a:cs typeface="Cambria Math"/>
              </a:rPr>
              <a:t>0</a:t>
            </a:r>
            <a:r>
              <a:rPr sz="2000" spc="-5" dirty="0" smtClean="0">
                <a:latin typeface="Cambria Math"/>
                <a:cs typeface="Cambria Math"/>
              </a:rPr>
              <a:t>,</a:t>
            </a:r>
            <a:r>
              <a:rPr sz="2000" dirty="0" smtClean="0">
                <a:latin typeface="Cambria Math"/>
                <a:cs typeface="Cambria Math"/>
              </a:rPr>
              <a:t>1</a:t>
            </a:r>
            <a:endParaRPr sz="2000" dirty="0">
              <a:latin typeface="Cambria Math"/>
              <a:cs typeface="Cambria Math"/>
            </a:endParaRPr>
          </a:p>
          <a:p>
            <a:pPr marL="12700">
              <a:lnSpc>
                <a:spcPct val="100000"/>
              </a:lnSpc>
              <a:spcBef>
                <a:spcPts val="168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针</a:t>
            </a:r>
            <a:r>
              <a:rPr sz="2000" spc="-5" dirty="0">
                <a:latin typeface="微软雅黑"/>
                <a:cs typeface="微软雅黑"/>
              </a:rPr>
              <a:t>对</a:t>
            </a:r>
            <a:r>
              <a:rPr sz="2000" dirty="0">
                <a:latin typeface="微软雅黑"/>
                <a:cs typeface="微软雅黑"/>
              </a:rPr>
              <a:t>0</a:t>
            </a:r>
            <a:r>
              <a:rPr sz="2000" spc="-5" dirty="0">
                <a:latin typeface="微软雅黑"/>
                <a:cs typeface="微软雅黑"/>
              </a:rPr>
              <a:t>-</a:t>
            </a:r>
            <a:r>
              <a:rPr sz="2000" dirty="0">
                <a:latin typeface="微软雅黑"/>
                <a:cs typeface="微软雅黑"/>
              </a:rPr>
              <a:t>1分类问题，广义</a:t>
            </a:r>
            <a:r>
              <a:rPr sz="2000" spc="-15" dirty="0">
                <a:latin typeface="微软雅黑"/>
                <a:cs typeface="微软雅黑"/>
              </a:rPr>
              <a:t>线</a:t>
            </a:r>
            <a:r>
              <a:rPr sz="2000" dirty="0">
                <a:latin typeface="微软雅黑"/>
                <a:cs typeface="微软雅黑"/>
              </a:rPr>
              <a:t>性模</a:t>
            </a:r>
            <a:r>
              <a:rPr sz="2000" spc="-15" dirty="0">
                <a:latin typeface="微软雅黑"/>
                <a:cs typeface="微软雅黑"/>
              </a:rPr>
              <a:t>型</a:t>
            </a:r>
            <a:r>
              <a:rPr sz="2000" dirty="0">
                <a:latin typeface="微软雅黑"/>
                <a:cs typeface="微软雅黑"/>
              </a:rPr>
              <a:t>的随</a:t>
            </a:r>
            <a:r>
              <a:rPr sz="2000" spc="-15" dirty="0">
                <a:latin typeface="微软雅黑"/>
                <a:cs typeface="微软雅黑"/>
              </a:rPr>
              <a:t>机</a:t>
            </a:r>
            <a:r>
              <a:rPr sz="2000" dirty="0">
                <a:latin typeface="微软雅黑"/>
                <a:cs typeface="微软雅黑"/>
              </a:rPr>
              <a:t>部分</a:t>
            </a:r>
            <a:r>
              <a:rPr sz="2000" spc="-15" dirty="0">
                <a:latin typeface="微软雅黑"/>
                <a:cs typeface="微软雅黑"/>
              </a:rPr>
              <a:t>该</a:t>
            </a:r>
            <a:r>
              <a:rPr sz="2000" dirty="0">
                <a:latin typeface="微软雅黑"/>
                <a:cs typeface="微软雅黑"/>
              </a:rPr>
              <a:t>如何</a:t>
            </a:r>
            <a:r>
              <a:rPr sz="2000" spc="-15" dirty="0">
                <a:latin typeface="微软雅黑"/>
                <a:cs typeface="微软雅黑"/>
              </a:rPr>
              <a:t>选</a:t>
            </a:r>
            <a:r>
              <a:rPr sz="2000" dirty="0">
                <a:latin typeface="微软雅黑"/>
                <a:cs typeface="微软雅黑"/>
              </a:rPr>
              <a:t>取</a:t>
            </a:r>
            <a:r>
              <a:rPr sz="2000" dirty="0" smtClean="0">
                <a:latin typeface="微软雅黑"/>
                <a:cs typeface="微软雅黑"/>
              </a:rPr>
              <a:t>？</a:t>
            </a:r>
          </a:p>
          <a:p>
            <a:pPr>
              <a:lnSpc>
                <a:spcPct val="100000"/>
              </a:lnSpc>
            </a:pPr>
            <a:endParaRPr sz="2000" dirty="0" smtClean="0">
              <a:latin typeface="Times New Roman"/>
              <a:cs typeface="Times New Roman"/>
            </a:endParaRPr>
          </a:p>
          <a:p>
            <a:pPr>
              <a:lnSpc>
                <a:spcPct val="100000"/>
              </a:lnSpc>
            </a:pPr>
            <a:endParaRPr sz="2000" dirty="0">
              <a:latin typeface="Times New Roman"/>
              <a:cs typeface="Times New Roman"/>
            </a:endParaRPr>
          </a:p>
          <a:p>
            <a:pPr marL="12700">
              <a:lnSpc>
                <a:spcPct val="100000"/>
              </a:lnSpc>
              <a:spcBef>
                <a:spcPts val="116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伯努利分布！</a:t>
            </a:r>
          </a:p>
        </p:txBody>
      </p:sp>
      <p:sp>
        <p:nvSpPr>
          <p:cNvPr id="12" name="object 12"/>
          <p:cNvSpPr/>
          <p:nvPr/>
        </p:nvSpPr>
        <p:spPr>
          <a:xfrm>
            <a:off x="2394204" y="2718816"/>
            <a:ext cx="4355592" cy="864108"/>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3240023" y="5873496"/>
            <a:ext cx="2663952" cy="684276"/>
          </a:xfrm>
          <a:prstGeom prst="rect">
            <a:avLst/>
          </a:prstGeom>
          <a:blipFill>
            <a:blip r:embed="rId3" cstate="print"/>
            <a:stretch>
              <a:fillRect/>
            </a:stretch>
          </a:blipFill>
        </p:spPr>
        <p:txBody>
          <a:bodyPr wrap="square" lIns="0" tIns="0" rIns="0" bIns="0" rtlCol="0"/>
          <a:lstStyle/>
          <a:p>
            <a:endParaRP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602040"/>
            <a:ext cx="7644358" cy="5103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74688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a:p>
            <a:pPr marL="286385">
              <a:lnSpc>
                <a:spcPct val="100000"/>
              </a:lnSpc>
              <a:spcBef>
                <a:spcPts val="129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概率质量函数变形如下</a:t>
            </a:r>
            <a:endParaRPr sz="2000">
              <a:latin typeface="微软雅黑"/>
              <a:cs typeface="微软雅黑"/>
            </a:endParaRPr>
          </a:p>
        </p:txBody>
      </p:sp>
      <p:sp>
        <p:nvSpPr>
          <p:cNvPr id="5" name="object 5"/>
          <p:cNvSpPr/>
          <p:nvPr/>
        </p:nvSpPr>
        <p:spPr>
          <a:xfrm>
            <a:off x="2394204" y="2718816"/>
            <a:ext cx="4355592" cy="864108"/>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240023" y="3697223"/>
            <a:ext cx="2663952" cy="682751"/>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818132" y="4744211"/>
            <a:ext cx="5507736" cy="1368552"/>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4482846" y="4385309"/>
            <a:ext cx="180340" cy="360045"/>
          </a:xfrm>
          <a:custGeom>
            <a:avLst/>
            <a:gdLst/>
            <a:ahLst/>
            <a:cxnLst/>
            <a:rect l="l" t="t" r="r" b="b"/>
            <a:pathLst>
              <a:path w="180339" h="360045">
                <a:moveTo>
                  <a:pt x="179831" y="269747"/>
                </a:moveTo>
                <a:lnTo>
                  <a:pt x="0" y="269747"/>
                </a:lnTo>
                <a:lnTo>
                  <a:pt x="89915" y="359663"/>
                </a:lnTo>
                <a:lnTo>
                  <a:pt x="179831" y="269747"/>
                </a:lnTo>
                <a:close/>
              </a:path>
              <a:path w="180339" h="360045">
                <a:moveTo>
                  <a:pt x="134874" y="0"/>
                </a:moveTo>
                <a:lnTo>
                  <a:pt x="44957" y="0"/>
                </a:lnTo>
                <a:lnTo>
                  <a:pt x="44957" y="269747"/>
                </a:lnTo>
                <a:lnTo>
                  <a:pt x="134874" y="269747"/>
                </a:lnTo>
                <a:lnTo>
                  <a:pt x="134874" y="0"/>
                </a:lnTo>
                <a:close/>
              </a:path>
            </a:pathLst>
          </a:custGeom>
          <a:solidFill>
            <a:srgbClr val="4F81BC"/>
          </a:solidFill>
        </p:spPr>
        <p:txBody>
          <a:bodyPr wrap="square" lIns="0" tIns="0" rIns="0" bIns="0" rtlCol="0"/>
          <a:lstStyle/>
          <a:p>
            <a:endParaRPr/>
          </a:p>
        </p:txBody>
      </p:sp>
      <p:sp>
        <p:nvSpPr>
          <p:cNvPr id="9" name="object 9"/>
          <p:cNvSpPr/>
          <p:nvPr/>
        </p:nvSpPr>
        <p:spPr>
          <a:xfrm>
            <a:off x="4482846" y="4385309"/>
            <a:ext cx="180340" cy="360045"/>
          </a:xfrm>
          <a:custGeom>
            <a:avLst/>
            <a:gdLst/>
            <a:ahLst/>
            <a:cxnLst/>
            <a:rect l="l" t="t" r="r" b="b"/>
            <a:pathLst>
              <a:path w="180339" h="360045">
                <a:moveTo>
                  <a:pt x="0" y="269747"/>
                </a:moveTo>
                <a:lnTo>
                  <a:pt x="44957" y="269747"/>
                </a:lnTo>
                <a:lnTo>
                  <a:pt x="44957" y="0"/>
                </a:lnTo>
                <a:lnTo>
                  <a:pt x="134874" y="0"/>
                </a:lnTo>
                <a:lnTo>
                  <a:pt x="134874" y="269747"/>
                </a:lnTo>
                <a:lnTo>
                  <a:pt x="179831" y="269747"/>
                </a:lnTo>
                <a:lnTo>
                  <a:pt x="89915" y="359663"/>
                </a:lnTo>
                <a:lnTo>
                  <a:pt x="0" y="269747"/>
                </a:lnTo>
                <a:close/>
              </a:path>
            </a:pathLst>
          </a:custGeom>
          <a:ln w="25908">
            <a:solidFill>
              <a:srgbClr val="385D89"/>
            </a:solidFill>
          </a:ln>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277620"/>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p:txBody>
      </p:sp>
      <p:sp>
        <p:nvSpPr>
          <p:cNvPr id="3" name="object 3"/>
          <p:cNvSpPr/>
          <p:nvPr/>
        </p:nvSpPr>
        <p:spPr>
          <a:xfrm>
            <a:off x="2030322" y="4384802"/>
            <a:ext cx="1126490" cy="212090"/>
          </a:xfrm>
          <a:custGeom>
            <a:avLst/>
            <a:gdLst/>
            <a:ahLst/>
            <a:cxnLst/>
            <a:rect l="l" t="t" r="r" b="b"/>
            <a:pathLst>
              <a:path w="1126489" h="212089">
                <a:moveTo>
                  <a:pt x="1058444" y="0"/>
                </a:moveTo>
                <a:lnTo>
                  <a:pt x="1058326" y="9658"/>
                </a:lnTo>
                <a:lnTo>
                  <a:pt x="1069626" y="15114"/>
                </a:lnTo>
                <a:lnTo>
                  <a:pt x="1079508" y="22641"/>
                </a:lnTo>
                <a:lnTo>
                  <a:pt x="1102622" y="66220"/>
                </a:lnTo>
                <a:lnTo>
                  <a:pt x="1106685" y="107840"/>
                </a:lnTo>
                <a:lnTo>
                  <a:pt x="1106027" y="122135"/>
                </a:lnTo>
                <a:lnTo>
                  <a:pt x="1093896" y="169635"/>
                </a:lnTo>
                <a:lnTo>
                  <a:pt x="1067720" y="197852"/>
                </a:lnTo>
                <a:lnTo>
                  <a:pt x="1055777" y="203200"/>
                </a:lnTo>
                <a:lnTo>
                  <a:pt x="1070391" y="207710"/>
                </a:lnTo>
                <a:lnTo>
                  <a:pt x="1108878" y="174308"/>
                </a:lnTo>
                <a:lnTo>
                  <a:pt x="1124066" y="129553"/>
                </a:lnTo>
                <a:lnTo>
                  <a:pt x="1125908" y="99974"/>
                </a:lnTo>
                <a:lnTo>
                  <a:pt x="1125007" y="87999"/>
                </a:lnTo>
                <a:lnTo>
                  <a:pt x="1109284" y="40246"/>
                </a:lnTo>
                <a:lnTo>
                  <a:pt x="1082526" y="10333"/>
                </a:lnTo>
                <a:lnTo>
                  <a:pt x="1071109" y="4333"/>
                </a:lnTo>
                <a:lnTo>
                  <a:pt x="1058444" y="0"/>
                </a:lnTo>
                <a:close/>
              </a:path>
              <a:path w="1126489" h="212089">
                <a:moveTo>
                  <a:pt x="67463" y="0"/>
                </a:moveTo>
                <a:lnTo>
                  <a:pt x="24926" y="26642"/>
                </a:lnTo>
                <a:lnTo>
                  <a:pt x="4221" y="69646"/>
                </a:lnTo>
                <a:lnTo>
                  <a:pt x="0" y="111876"/>
                </a:lnTo>
                <a:lnTo>
                  <a:pt x="899" y="123894"/>
                </a:lnTo>
                <a:lnTo>
                  <a:pt x="16583" y="171640"/>
                </a:lnTo>
                <a:lnTo>
                  <a:pt x="43328" y="201427"/>
                </a:lnTo>
                <a:lnTo>
                  <a:pt x="67463" y="211709"/>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6"/>
                </a:lnTo>
                <a:lnTo>
                  <a:pt x="67463" y="0"/>
                </a:lnTo>
                <a:close/>
              </a:path>
            </a:pathLst>
          </a:custGeom>
          <a:solidFill>
            <a:srgbClr val="000000"/>
          </a:solidFill>
        </p:spPr>
        <p:txBody>
          <a:bodyPr wrap="square" lIns="0" tIns="0" rIns="0" bIns="0" rtlCol="0"/>
          <a:lstStyle/>
          <a:p>
            <a:endParaRPr/>
          </a:p>
        </p:txBody>
      </p:sp>
      <p:sp>
        <p:nvSpPr>
          <p:cNvPr id="4" name="object 4"/>
          <p:cNvSpPr/>
          <p:nvPr/>
        </p:nvSpPr>
        <p:spPr>
          <a:xfrm>
            <a:off x="2380842" y="4384802"/>
            <a:ext cx="681355" cy="212090"/>
          </a:xfrm>
          <a:custGeom>
            <a:avLst/>
            <a:gdLst/>
            <a:ahLst/>
            <a:cxnLst/>
            <a:rect l="l" t="t" r="r" b="b"/>
            <a:pathLst>
              <a:path w="681355" h="212089">
                <a:moveTo>
                  <a:pt x="613436" y="0"/>
                </a:moveTo>
                <a:lnTo>
                  <a:pt x="613318" y="9658"/>
                </a:lnTo>
                <a:lnTo>
                  <a:pt x="624618" y="15114"/>
                </a:lnTo>
                <a:lnTo>
                  <a:pt x="634500" y="22641"/>
                </a:lnTo>
                <a:lnTo>
                  <a:pt x="657614" y="66220"/>
                </a:lnTo>
                <a:lnTo>
                  <a:pt x="661677" y="107840"/>
                </a:lnTo>
                <a:lnTo>
                  <a:pt x="661019" y="122135"/>
                </a:lnTo>
                <a:lnTo>
                  <a:pt x="648888" y="169635"/>
                </a:lnTo>
                <a:lnTo>
                  <a:pt x="622712" y="197852"/>
                </a:lnTo>
                <a:lnTo>
                  <a:pt x="610769" y="203200"/>
                </a:lnTo>
                <a:lnTo>
                  <a:pt x="625383" y="207710"/>
                </a:lnTo>
                <a:lnTo>
                  <a:pt x="663870" y="174308"/>
                </a:lnTo>
                <a:lnTo>
                  <a:pt x="679058" y="129553"/>
                </a:lnTo>
                <a:lnTo>
                  <a:pt x="680900" y="99974"/>
                </a:lnTo>
                <a:lnTo>
                  <a:pt x="679999" y="87999"/>
                </a:lnTo>
                <a:lnTo>
                  <a:pt x="664276" y="40246"/>
                </a:lnTo>
                <a:lnTo>
                  <a:pt x="637518" y="10333"/>
                </a:lnTo>
                <a:lnTo>
                  <a:pt x="626101" y="4333"/>
                </a:lnTo>
                <a:lnTo>
                  <a:pt x="613436" y="0"/>
                </a:lnTo>
                <a:close/>
              </a:path>
              <a:path w="681355" h="212089">
                <a:moveTo>
                  <a:pt x="67463" y="0"/>
                </a:moveTo>
                <a:lnTo>
                  <a:pt x="24926" y="26642"/>
                </a:lnTo>
                <a:lnTo>
                  <a:pt x="4221" y="69646"/>
                </a:lnTo>
                <a:lnTo>
                  <a:pt x="0" y="111876"/>
                </a:lnTo>
                <a:lnTo>
                  <a:pt x="899" y="123894"/>
                </a:lnTo>
                <a:lnTo>
                  <a:pt x="16583" y="171640"/>
                </a:lnTo>
                <a:lnTo>
                  <a:pt x="43328" y="201427"/>
                </a:lnTo>
                <a:lnTo>
                  <a:pt x="67463" y="211709"/>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6"/>
                </a:lnTo>
                <a:lnTo>
                  <a:pt x="67463" y="0"/>
                </a:lnTo>
                <a:close/>
              </a:path>
            </a:pathLst>
          </a:custGeom>
          <a:solidFill>
            <a:srgbClr val="000000"/>
          </a:solidFill>
        </p:spPr>
        <p:txBody>
          <a:bodyPr wrap="square" lIns="0" tIns="0" rIns="0" bIns="0" rtlCol="0"/>
          <a:lstStyle/>
          <a:p>
            <a:endParaRPr/>
          </a:p>
        </p:txBody>
      </p:sp>
      <p:sp>
        <p:nvSpPr>
          <p:cNvPr id="5" name="object 5"/>
          <p:cNvSpPr/>
          <p:nvPr/>
        </p:nvSpPr>
        <p:spPr>
          <a:xfrm>
            <a:off x="4520743" y="4351909"/>
            <a:ext cx="810895" cy="276225"/>
          </a:xfrm>
          <a:custGeom>
            <a:avLst/>
            <a:gdLst/>
            <a:ahLst/>
            <a:cxnLst/>
            <a:rect l="l" t="t" r="r" b="b"/>
            <a:pathLst>
              <a:path w="810895" h="276225">
                <a:moveTo>
                  <a:pt x="737945" y="0"/>
                </a:moveTo>
                <a:lnTo>
                  <a:pt x="735381" y="9230"/>
                </a:lnTo>
                <a:lnTo>
                  <a:pt x="745616" y="14274"/>
                </a:lnTo>
                <a:lnTo>
                  <a:pt x="754865" y="21395"/>
                </a:lnTo>
                <a:lnTo>
                  <a:pt x="777399" y="56912"/>
                </a:lnTo>
                <a:lnTo>
                  <a:pt x="787668" y="101305"/>
                </a:lnTo>
                <a:lnTo>
                  <a:pt x="789926" y="145975"/>
                </a:lnTo>
                <a:lnTo>
                  <a:pt x="789351" y="158726"/>
                </a:lnTo>
                <a:lnTo>
                  <a:pt x="780535" y="207617"/>
                </a:lnTo>
                <a:lnTo>
                  <a:pt x="764041" y="244527"/>
                </a:lnTo>
                <a:lnTo>
                  <a:pt x="735151" y="266954"/>
                </a:lnTo>
                <a:lnTo>
                  <a:pt x="748161" y="272637"/>
                </a:lnTo>
                <a:lnTo>
                  <a:pt x="785672" y="239022"/>
                </a:lnTo>
                <a:lnTo>
                  <a:pt x="801660" y="203206"/>
                </a:lnTo>
                <a:lnTo>
                  <a:pt x="809057" y="165666"/>
                </a:lnTo>
                <a:lnTo>
                  <a:pt x="810462" y="137958"/>
                </a:lnTo>
                <a:lnTo>
                  <a:pt x="810157" y="125079"/>
                </a:lnTo>
                <a:lnTo>
                  <a:pt x="802034" y="76011"/>
                </a:lnTo>
                <a:lnTo>
                  <a:pt x="787182" y="39062"/>
                </a:lnTo>
                <a:lnTo>
                  <a:pt x="760658" y="10132"/>
                </a:lnTo>
                <a:lnTo>
                  <a:pt x="749805" y="4153"/>
                </a:lnTo>
                <a:lnTo>
                  <a:pt x="737945" y="0"/>
                </a:lnTo>
                <a:close/>
              </a:path>
              <a:path w="810895" h="276225">
                <a:moveTo>
                  <a:pt x="72211" y="0"/>
                </a:moveTo>
                <a:lnTo>
                  <a:pt x="32994" y="25402"/>
                </a:lnTo>
                <a:lnTo>
                  <a:pt x="13188" y="59710"/>
                </a:lnTo>
                <a:lnTo>
                  <a:pt x="2260" y="105346"/>
                </a:lnTo>
                <a:lnTo>
                  <a:pt x="0" y="150934"/>
                </a:lnTo>
                <a:lnTo>
                  <a:pt x="951" y="163483"/>
                </a:lnTo>
                <a:lnTo>
                  <a:pt x="12226" y="212155"/>
                </a:lnTo>
                <a:lnTo>
                  <a:pt x="30888" y="248403"/>
                </a:lnTo>
                <a:lnTo>
                  <a:pt x="72211" y="276098"/>
                </a:lnTo>
                <a:lnTo>
                  <a:pt x="74772" y="266865"/>
                </a:lnTo>
                <a:lnTo>
                  <a:pt x="64585" y="261808"/>
                </a:lnTo>
                <a:lnTo>
                  <a:pt x="55343" y="254663"/>
                </a:lnTo>
                <a:lnTo>
                  <a:pt x="32755" y="219179"/>
                </a:lnTo>
                <a:lnTo>
                  <a:pt x="22569" y="174836"/>
                </a:lnTo>
                <a:lnTo>
                  <a:pt x="20360" y="130094"/>
                </a:lnTo>
                <a:lnTo>
                  <a:pt x="20931" y="117337"/>
                </a:lnTo>
                <a:lnTo>
                  <a:pt x="29666" y="68419"/>
                </a:lnTo>
                <a:lnTo>
                  <a:pt x="46148" y="31514"/>
                </a:lnTo>
                <a:lnTo>
                  <a:pt x="75005" y="9144"/>
                </a:lnTo>
                <a:lnTo>
                  <a:pt x="72211" y="0"/>
                </a:lnTo>
                <a:close/>
              </a:path>
            </a:pathLst>
          </a:custGeom>
          <a:solidFill>
            <a:srgbClr val="000000"/>
          </a:solidFill>
        </p:spPr>
        <p:txBody>
          <a:bodyPr wrap="square" lIns="0" tIns="0" rIns="0" bIns="0" rtlCol="0"/>
          <a:lstStyle/>
          <a:p>
            <a:endParaRPr/>
          </a:p>
        </p:txBody>
      </p:sp>
      <p:sp>
        <p:nvSpPr>
          <p:cNvPr id="6" name="object 6"/>
          <p:cNvSpPr/>
          <p:nvPr/>
        </p:nvSpPr>
        <p:spPr>
          <a:xfrm>
            <a:off x="1429866" y="4912105"/>
            <a:ext cx="283210" cy="212090"/>
          </a:xfrm>
          <a:custGeom>
            <a:avLst/>
            <a:gdLst/>
            <a:ahLst/>
            <a:cxnLst/>
            <a:rect l="l" t="t" r="r" b="b"/>
            <a:pathLst>
              <a:path w="283210" h="212089">
                <a:moveTo>
                  <a:pt x="215672" y="0"/>
                </a:moveTo>
                <a:lnTo>
                  <a:pt x="215554" y="9658"/>
                </a:lnTo>
                <a:lnTo>
                  <a:pt x="226854" y="15114"/>
                </a:lnTo>
                <a:lnTo>
                  <a:pt x="236736" y="22641"/>
                </a:lnTo>
                <a:lnTo>
                  <a:pt x="259850" y="66220"/>
                </a:lnTo>
                <a:lnTo>
                  <a:pt x="263913" y="107840"/>
                </a:lnTo>
                <a:lnTo>
                  <a:pt x="263255" y="122135"/>
                </a:lnTo>
                <a:lnTo>
                  <a:pt x="251124" y="169635"/>
                </a:lnTo>
                <a:lnTo>
                  <a:pt x="224948" y="197852"/>
                </a:lnTo>
                <a:lnTo>
                  <a:pt x="213005" y="203200"/>
                </a:lnTo>
                <a:lnTo>
                  <a:pt x="227619" y="207710"/>
                </a:lnTo>
                <a:lnTo>
                  <a:pt x="266106" y="174308"/>
                </a:lnTo>
                <a:lnTo>
                  <a:pt x="281294" y="129553"/>
                </a:lnTo>
                <a:lnTo>
                  <a:pt x="283136" y="99974"/>
                </a:lnTo>
                <a:lnTo>
                  <a:pt x="282235" y="87999"/>
                </a:lnTo>
                <a:lnTo>
                  <a:pt x="266512" y="40246"/>
                </a:lnTo>
                <a:lnTo>
                  <a:pt x="239754" y="10333"/>
                </a:lnTo>
                <a:lnTo>
                  <a:pt x="228337" y="4333"/>
                </a:lnTo>
                <a:lnTo>
                  <a:pt x="215672" y="0"/>
                </a:lnTo>
                <a:close/>
              </a:path>
              <a:path w="283210" h="212089">
                <a:moveTo>
                  <a:pt x="67463" y="0"/>
                </a:moveTo>
                <a:lnTo>
                  <a:pt x="24926" y="26642"/>
                </a:lnTo>
                <a:lnTo>
                  <a:pt x="4221" y="69646"/>
                </a:lnTo>
                <a:lnTo>
                  <a:pt x="0" y="111876"/>
                </a:lnTo>
                <a:lnTo>
                  <a:pt x="899" y="123894"/>
                </a:lnTo>
                <a:lnTo>
                  <a:pt x="16583" y="171640"/>
                </a:lnTo>
                <a:lnTo>
                  <a:pt x="43328" y="201427"/>
                </a:lnTo>
                <a:lnTo>
                  <a:pt x="67463" y="211709"/>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6"/>
                </a:lnTo>
                <a:lnTo>
                  <a:pt x="67463" y="0"/>
                </a:lnTo>
                <a:close/>
              </a:path>
            </a:pathLst>
          </a:custGeom>
          <a:solidFill>
            <a:srgbClr val="000000"/>
          </a:solidFill>
        </p:spPr>
        <p:txBody>
          <a:bodyPr wrap="square" lIns="0" tIns="0" rIns="0" bIns="0" rtlCol="0"/>
          <a:lstStyle/>
          <a:p>
            <a:endParaRPr/>
          </a:p>
        </p:txBody>
      </p:sp>
      <p:sp>
        <p:nvSpPr>
          <p:cNvPr id="7" name="object 7"/>
          <p:cNvSpPr/>
          <p:nvPr/>
        </p:nvSpPr>
        <p:spPr>
          <a:xfrm>
            <a:off x="2557626" y="4912105"/>
            <a:ext cx="681355" cy="212090"/>
          </a:xfrm>
          <a:custGeom>
            <a:avLst/>
            <a:gdLst/>
            <a:ahLst/>
            <a:cxnLst/>
            <a:rect l="l" t="t" r="r" b="b"/>
            <a:pathLst>
              <a:path w="681355" h="212089">
                <a:moveTo>
                  <a:pt x="613436" y="0"/>
                </a:moveTo>
                <a:lnTo>
                  <a:pt x="613318" y="9658"/>
                </a:lnTo>
                <a:lnTo>
                  <a:pt x="624618" y="15114"/>
                </a:lnTo>
                <a:lnTo>
                  <a:pt x="634500" y="22641"/>
                </a:lnTo>
                <a:lnTo>
                  <a:pt x="657614" y="66220"/>
                </a:lnTo>
                <a:lnTo>
                  <a:pt x="661677" y="107840"/>
                </a:lnTo>
                <a:lnTo>
                  <a:pt x="661019" y="122135"/>
                </a:lnTo>
                <a:lnTo>
                  <a:pt x="648888" y="169635"/>
                </a:lnTo>
                <a:lnTo>
                  <a:pt x="622712" y="197852"/>
                </a:lnTo>
                <a:lnTo>
                  <a:pt x="610769" y="203200"/>
                </a:lnTo>
                <a:lnTo>
                  <a:pt x="625383" y="207710"/>
                </a:lnTo>
                <a:lnTo>
                  <a:pt x="663870" y="174308"/>
                </a:lnTo>
                <a:lnTo>
                  <a:pt x="679058" y="129553"/>
                </a:lnTo>
                <a:lnTo>
                  <a:pt x="680900" y="99974"/>
                </a:lnTo>
                <a:lnTo>
                  <a:pt x="679999" y="87999"/>
                </a:lnTo>
                <a:lnTo>
                  <a:pt x="664276" y="40246"/>
                </a:lnTo>
                <a:lnTo>
                  <a:pt x="637518" y="10333"/>
                </a:lnTo>
                <a:lnTo>
                  <a:pt x="626101" y="4333"/>
                </a:lnTo>
                <a:lnTo>
                  <a:pt x="613436" y="0"/>
                </a:lnTo>
                <a:close/>
              </a:path>
              <a:path w="681355" h="212089">
                <a:moveTo>
                  <a:pt x="67463" y="0"/>
                </a:moveTo>
                <a:lnTo>
                  <a:pt x="24926" y="26642"/>
                </a:lnTo>
                <a:lnTo>
                  <a:pt x="4221" y="69646"/>
                </a:lnTo>
                <a:lnTo>
                  <a:pt x="0" y="111876"/>
                </a:lnTo>
                <a:lnTo>
                  <a:pt x="899" y="123894"/>
                </a:lnTo>
                <a:lnTo>
                  <a:pt x="16583" y="171640"/>
                </a:lnTo>
                <a:lnTo>
                  <a:pt x="43328" y="201427"/>
                </a:lnTo>
                <a:lnTo>
                  <a:pt x="67463" y="211709"/>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6"/>
                </a:lnTo>
                <a:lnTo>
                  <a:pt x="67463" y="0"/>
                </a:lnTo>
                <a:close/>
              </a:path>
            </a:pathLst>
          </a:custGeom>
          <a:solidFill>
            <a:srgbClr val="000000"/>
          </a:solidFill>
        </p:spPr>
        <p:txBody>
          <a:bodyPr wrap="square" lIns="0" tIns="0" rIns="0" bIns="0" rtlCol="0"/>
          <a:lstStyle/>
          <a:p>
            <a:endParaRPr/>
          </a:p>
        </p:txBody>
      </p:sp>
      <p:sp>
        <p:nvSpPr>
          <p:cNvPr id="8" name="object 8"/>
          <p:cNvSpPr/>
          <p:nvPr/>
        </p:nvSpPr>
        <p:spPr>
          <a:xfrm>
            <a:off x="3871519" y="4879213"/>
            <a:ext cx="810895" cy="276225"/>
          </a:xfrm>
          <a:custGeom>
            <a:avLst/>
            <a:gdLst/>
            <a:ahLst/>
            <a:cxnLst/>
            <a:rect l="l" t="t" r="r" b="b"/>
            <a:pathLst>
              <a:path w="810895" h="276225">
                <a:moveTo>
                  <a:pt x="737945" y="0"/>
                </a:moveTo>
                <a:lnTo>
                  <a:pt x="735381" y="9230"/>
                </a:lnTo>
                <a:lnTo>
                  <a:pt x="745616" y="14274"/>
                </a:lnTo>
                <a:lnTo>
                  <a:pt x="754865" y="21395"/>
                </a:lnTo>
                <a:lnTo>
                  <a:pt x="777399" y="56912"/>
                </a:lnTo>
                <a:lnTo>
                  <a:pt x="787668" y="101305"/>
                </a:lnTo>
                <a:lnTo>
                  <a:pt x="789926" y="145975"/>
                </a:lnTo>
                <a:lnTo>
                  <a:pt x="789351" y="158726"/>
                </a:lnTo>
                <a:lnTo>
                  <a:pt x="780535" y="207617"/>
                </a:lnTo>
                <a:lnTo>
                  <a:pt x="764041" y="244527"/>
                </a:lnTo>
                <a:lnTo>
                  <a:pt x="735151" y="266954"/>
                </a:lnTo>
                <a:lnTo>
                  <a:pt x="748161" y="272637"/>
                </a:lnTo>
                <a:lnTo>
                  <a:pt x="785672" y="239022"/>
                </a:lnTo>
                <a:lnTo>
                  <a:pt x="801660" y="203206"/>
                </a:lnTo>
                <a:lnTo>
                  <a:pt x="809057" y="165666"/>
                </a:lnTo>
                <a:lnTo>
                  <a:pt x="810462" y="137958"/>
                </a:lnTo>
                <a:lnTo>
                  <a:pt x="810157" y="125079"/>
                </a:lnTo>
                <a:lnTo>
                  <a:pt x="802034" y="76011"/>
                </a:lnTo>
                <a:lnTo>
                  <a:pt x="787182" y="39062"/>
                </a:lnTo>
                <a:lnTo>
                  <a:pt x="760658" y="10132"/>
                </a:lnTo>
                <a:lnTo>
                  <a:pt x="749805" y="4153"/>
                </a:lnTo>
                <a:lnTo>
                  <a:pt x="737945" y="0"/>
                </a:lnTo>
                <a:close/>
              </a:path>
              <a:path w="810895" h="276225">
                <a:moveTo>
                  <a:pt x="72211" y="0"/>
                </a:moveTo>
                <a:lnTo>
                  <a:pt x="32994" y="25402"/>
                </a:lnTo>
                <a:lnTo>
                  <a:pt x="13188" y="59710"/>
                </a:lnTo>
                <a:lnTo>
                  <a:pt x="2260" y="105346"/>
                </a:lnTo>
                <a:lnTo>
                  <a:pt x="0" y="150934"/>
                </a:lnTo>
                <a:lnTo>
                  <a:pt x="951" y="163483"/>
                </a:lnTo>
                <a:lnTo>
                  <a:pt x="12226" y="212155"/>
                </a:lnTo>
                <a:lnTo>
                  <a:pt x="30888" y="248403"/>
                </a:lnTo>
                <a:lnTo>
                  <a:pt x="72211" y="276098"/>
                </a:lnTo>
                <a:lnTo>
                  <a:pt x="74772" y="266865"/>
                </a:lnTo>
                <a:lnTo>
                  <a:pt x="64585" y="261808"/>
                </a:lnTo>
                <a:lnTo>
                  <a:pt x="55343" y="254663"/>
                </a:lnTo>
                <a:lnTo>
                  <a:pt x="32755" y="219179"/>
                </a:lnTo>
                <a:lnTo>
                  <a:pt x="22569" y="174836"/>
                </a:lnTo>
                <a:lnTo>
                  <a:pt x="20360" y="130094"/>
                </a:lnTo>
                <a:lnTo>
                  <a:pt x="20931" y="117337"/>
                </a:lnTo>
                <a:lnTo>
                  <a:pt x="29666" y="68419"/>
                </a:lnTo>
                <a:lnTo>
                  <a:pt x="46148" y="31514"/>
                </a:lnTo>
                <a:lnTo>
                  <a:pt x="75005" y="9143"/>
                </a:lnTo>
                <a:lnTo>
                  <a:pt x="72211" y="0"/>
                </a:lnTo>
                <a:close/>
              </a:path>
            </a:pathLst>
          </a:custGeom>
          <a:solidFill>
            <a:srgbClr val="000000"/>
          </a:solidFill>
        </p:spPr>
        <p:txBody>
          <a:bodyPr wrap="square" lIns="0" tIns="0" rIns="0" bIns="0" rtlCol="0"/>
          <a:lstStyle/>
          <a:p>
            <a:endParaRPr/>
          </a:p>
        </p:txBody>
      </p:sp>
      <p:sp>
        <p:nvSpPr>
          <p:cNvPr id="9" name="object 9"/>
          <p:cNvSpPr/>
          <p:nvPr/>
        </p:nvSpPr>
        <p:spPr>
          <a:xfrm>
            <a:off x="1432914" y="5390641"/>
            <a:ext cx="309245" cy="212090"/>
          </a:xfrm>
          <a:custGeom>
            <a:avLst/>
            <a:gdLst/>
            <a:ahLst/>
            <a:cxnLst/>
            <a:rect l="l" t="t" r="r" b="b"/>
            <a:pathLst>
              <a:path w="309244" h="212089">
                <a:moveTo>
                  <a:pt x="241580" y="0"/>
                </a:moveTo>
                <a:lnTo>
                  <a:pt x="241436" y="9648"/>
                </a:lnTo>
                <a:lnTo>
                  <a:pt x="252744" y="15103"/>
                </a:lnTo>
                <a:lnTo>
                  <a:pt x="262631" y="22627"/>
                </a:lnTo>
                <a:lnTo>
                  <a:pt x="285752" y="66196"/>
                </a:lnTo>
                <a:lnTo>
                  <a:pt x="289821" y="107800"/>
                </a:lnTo>
                <a:lnTo>
                  <a:pt x="289165" y="122105"/>
                </a:lnTo>
                <a:lnTo>
                  <a:pt x="277047" y="169602"/>
                </a:lnTo>
                <a:lnTo>
                  <a:pt x="250862" y="197853"/>
                </a:lnTo>
                <a:lnTo>
                  <a:pt x="238913" y="203149"/>
                </a:lnTo>
                <a:lnTo>
                  <a:pt x="253543" y="207727"/>
                </a:lnTo>
                <a:lnTo>
                  <a:pt x="292014" y="174308"/>
                </a:lnTo>
                <a:lnTo>
                  <a:pt x="307201" y="129553"/>
                </a:lnTo>
                <a:lnTo>
                  <a:pt x="309043" y="99974"/>
                </a:lnTo>
                <a:lnTo>
                  <a:pt x="308142" y="87999"/>
                </a:lnTo>
                <a:lnTo>
                  <a:pt x="292419" y="40246"/>
                </a:lnTo>
                <a:lnTo>
                  <a:pt x="265661" y="10333"/>
                </a:lnTo>
                <a:lnTo>
                  <a:pt x="254245" y="4333"/>
                </a:lnTo>
                <a:lnTo>
                  <a:pt x="241580" y="0"/>
                </a:lnTo>
                <a:close/>
              </a:path>
              <a:path w="309244" h="212089">
                <a:moveTo>
                  <a:pt x="67463" y="0"/>
                </a:moveTo>
                <a:lnTo>
                  <a:pt x="24920" y="26651"/>
                </a:lnTo>
                <a:lnTo>
                  <a:pt x="4219" y="69656"/>
                </a:lnTo>
                <a:lnTo>
                  <a:pt x="0" y="111892"/>
                </a:lnTo>
                <a:lnTo>
                  <a:pt x="900" y="123907"/>
                </a:lnTo>
                <a:lnTo>
                  <a:pt x="16591" y="171652"/>
                </a:lnTo>
                <a:lnTo>
                  <a:pt x="43335" y="201445"/>
                </a:lnTo>
                <a:lnTo>
                  <a:pt x="67463" y="211747"/>
                </a:lnTo>
                <a:lnTo>
                  <a:pt x="67435" y="202188"/>
                </a:lnTo>
                <a:lnTo>
                  <a:pt x="56287" y="196694"/>
                </a:lnTo>
                <a:lnTo>
                  <a:pt x="46493" y="189086"/>
                </a:lnTo>
                <a:lnTo>
                  <a:pt x="26531" y="156397"/>
                </a:lnTo>
                <a:lnTo>
                  <a:pt x="19662" y="118679"/>
                </a:lnTo>
                <a:lnTo>
                  <a:pt x="19205" y="103823"/>
                </a:lnTo>
                <a:lnTo>
                  <a:pt x="19760" y="89491"/>
                </a:lnTo>
                <a:lnTo>
                  <a:pt x="31988" y="41746"/>
                </a:lnTo>
                <a:lnTo>
                  <a:pt x="58392" y="13893"/>
                </a:lnTo>
                <a:lnTo>
                  <a:pt x="70511" y="8636"/>
                </a:lnTo>
                <a:lnTo>
                  <a:pt x="67463" y="0"/>
                </a:lnTo>
                <a:close/>
              </a:path>
            </a:pathLst>
          </a:custGeom>
          <a:solidFill>
            <a:srgbClr val="000000"/>
          </a:solidFill>
        </p:spPr>
        <p:txBody>
          <a:bodyPr wrap="square" lIns="0" tIns="0" rIns="0" bIns="0" rtlCol="0"/>
          <a:lstStyle/>
          <a:p>
            <a:endParaRPr/>
          </a:p>
        </p:txBody>
      </p:sp>
      <p:sp>
        <p:nvSpPr>
          <p:cNvPr id="10" name="object 10"/>
          <p:cNvSpPr/>
          <p:nvPr/>
        </p:nvSpPr>
        <p:spPr>
          <a:xfrm>
            <a:off x="2550006" y="5390641"/>
            <a:ext cx="527050" cy="212090"/>
          </a:xfrm>
          <a:custGeom>
            <a:avLst/>
            <a:gdLst/>
            <a:ahLst/>
            <a:cxnLst/>
            <a:rect l="l" t="t" r="r" b="b"/>
            <a:pathLst>
              <a:path w="527050" h="212089">
                <a:moveTo>
                  <a:pt x="459512" y="0"/>
                </a:moveTo>
                <a:lnTo>
                  <a:pt x="459368" y="9648"/>
                </a:lnTo>
                <a:lnTo>
                  <a:pt x="470676" y="15103"/>
                </a:lnTo>
                <a:lnTo>
                  <a:pt x="480563" y="22627"/>
                </a:lnTo>
                <a:lnTo>
                  <a:pt x="503684" y="66196"/>
                </a:lnTo>
                <a:lnTo>
                  <a:pt x="507753" y="107800"/>
                </a:lnTo>
                <a:lnTo>
                  <a:pt x="507097" y="122105"/>
                </a:lnTo>
                <a:lnTo>
                  <a:pt x="494979" y="169602"/>
                </a:lnTo>
                <a:lnTo>
                  <a:pt x="468794" y="197853"/>
                </a:lnTo>
                <a:lnTo>
                  <a:pt x="456845" y="203149"/>
                </a:lnTo>
                <a:lnTo>
                  <a:pt x="471475" y="207727"/>
                </a:lnTo>
                <a:lnTo>
                  <a:pt x="509946" y="174308"/>
                </a:lnTo>
                <a:lnTo>
                  <a:pt x="525133" y="129553"/>
                </a:lnTo>
                <a:lnTo>
                  <a:pt x="526975" y="99974"/>
                </a:lnTo>
                <a:lnTo>
                  <a:pt x="526074" y="87999"/>
                </a:lnTo>
                <a:lnTo>
                  <a:pt x="510351" y="40246"/>
                </a:lnTo>
                <a:lnTo>
                  <a:pt x="483593" y="10333"/>
                </a:lnTo>
                <a:lnTo>
                  <a:pt x="472177" y="4333"/>
                </a:lnTo>
                <a:lnTo>
                  <a:pt x="459512" y="0"/>
                </a:lnTo>
                <a:close/>
              </a:path>
              <a:path w="527050" h="212089">
                <a:moveTo>
                  <a:pt x="67463" y="0"/>
                </a:moveTo>
                <a:lnTo>
                  <a:pt x="24920" y="26651"/>
                </a:lnTo>
                <a:lnTo>
                  <a:pt x="4219" y="69656"/>
                </a:lnTo>
                <a:lnTo>
                  <a:pt x="0" y="111892"/>
                </a:lnTo>
                <a:lnTo>
                  <a:pt x="900" y="123907"/>
                </a:lnTo>
                <a:lnTo>
                  <a:pt x="16591" y="171652"/>
                </a:lnTo>
                <a:lnTo>
                  <a:pt x="43335" y="201445"/>
                </a:lnTo>
                <a:lnTo>
                  <a:pt x="67463" y="211747"/>
                </a:lnTo>
                <a:lnTo>
                  <a:pt x="67435" y="202188"/>
                </a:lnTo>
                <a:lnTo>
                  <a:pt x="56287" y="196694"/>
                </a:lnTo>
                <a:lnTo>
                  <a:pt x="46493" y="189086"/>
                </a:lnTo>
                <a:lnTo>
                  <a:pt x="26531" y="156397"/>
                </a:lnTo>
                <a:lnTo>
                  <a:pt x="19662" y="118679"/>
                </a:lnTo>
                <a:lnTo>
                  <a:pt x="19205" y="103823"/>
                </a:lnTo>
                <a:lnTo>
                  <a:pt x="19760" y="89491"/>
                </a:lnTo>
                <a:lnTo>
                  <a:pt x="31988" y="41746"/>
                </a:lnTo>
                <a:lnTo>
                  <a:pt x="58392" y="13893"/>
                </a:lnTo>
                <a:lnTo>
                  <a:pt x="70511" y="8636"/>
                </a:lnTo>
                <a:lnTo>
                  <a:pt x="67463" y="0"/>
                </a:lnTo>
                <a:close/>
              </a:path>
            </a:pathLst>
          </a:custGeom>
          <a:solidFill>
            <a:srgbClr val="000000"/>
          </a:solidFill>
        </p:spPr>
        <p:txBody>
          <a:bodyPr wrap="square" lIns="0" tIns="0" rIns="0" bIns="0" rtlCol="0"/>
          <a:lstStyle/>
          <a:p>
            <a:endParaRPr/>
          </a:p>
        </p:txBody>
      </p:sp>
      <p:sp>
        <p:nvSpPr>
          <p:cNvPr id="11" name="object 11"/>
          <p:cNvSpPr txBox="1"/>
          <p:nvPr/>
        </p:nvSpPr>
        <p:spPr>
          <a:xfrm>
            <a:off x="810259" y="3815129"/>
            <a:ext cx="4438015" cy="1811020"/>
          </a:xfrm>
          <a:prstGeom prst="rect">
            <a:avLst/>
          </a:prstGeom>
        </p:spPr>
        <p:txBody>
          <a:bodyPr vert="horz" wrap="square" lIns="0" tIns="0" rIns="0" bIns="0" rtlCol="0">
            <a:spAutoFit/>
          </a:bodyPr>
          <a:lstStyle/>
          <a:p>
            <a:pPr marL="12700">
              <a:lnSpc>
                <a:spcPct val="100000"/>
              </a:lnSpc>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对应的广义线性模型的</a:t>
            </a:r>
            <a:r>
              <a:rPr sz="2000" spc="-15" dirty="0">
                <a:latin typeface="微软雅黑"/>
                <a:cs typeface="微软雅黑"/>
              </a:rPr>
              <a:t>参</a:t>
            </a:r>
            <a:r>
              <a:rPr sz="2000" dirty="0">
                <a:latin typeface="微软雅黑"/>
                <a:cs typeface="微软雅黑"/>
              </a:rPr>
              <a:t>数如下</a:t>
            </a:r>
            <a:endParaRPr sz="2000">
              <a:latin typeface="微软雅黑"/>
              <a:cs typeface="微软雅黑"/>
            </a:endParaRPr>
          </a:p>
          <a:p>
            <a:pPr>
              <a:lnSpc>
                <a:spcPct val="100000"/>
              </a:lnSpc>
              <a:spcBef>
                <a:spcPts val="33"/>
              </a:spcBef>
            </a:pPr>
            <a:endParaRPr sz="1650">
              <a:latin typeface="Times New Roman"/>
              <a:cs typeface="Times New Roman"/>
            </a:endParaRPr>
          </a:p>
          <a:p>
            <a:pPr marL="287020">
              <a:lnSpc>
                <a:spcPct val="100000"/>
              </a:lnSpc>
              <a:tabLst>
                <a:tab pos="2364740" algn="l"/>
              </a:tabLst>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spc="-260" dirty="0">
                <a:latin typeface="Cambria Math"/>
                <a:cs typeface="Cambria Math"/>
              </a:rPr>
              <a:t>�</a:t>
            </a:r>
            <a:r>
              <a:rPr sz="1800" spc="160" dirty="0">
                <a:latin typeface="Cambria Math"/>
                <a:cs typeface="Cambria Math"/>
              </a:rPr>
              <a:t> </a:t>
            </a:r>
            <a:r>
              <a:rPr sz="1800" dirty="0">
                <a:latin typeface="Cambria Math"/>
                <a:cs typeface="Cambria Math"/>
              </a:rPr>
              <a:t>=</a:t>
            </a:r>
            <a:r>
              <a:rPr sz="1800" spc="105" dirty="0">
                <a:latin typeface="Cambria Math"/>
                <a:cs typeface="Cambria Math"/>
              </a:rPr>
              <a:t> </a:t>
            </a:r>
            <a:r>
              <a:rPr sz="1800" dirty="0">
                <a:latin typeface="Cambria Math"/>
                <a:cs typeface="Cambria Math"/>
              </a:rPr>
              <a:t>log </a:t>
            </a:r>
            <a:r>
              <a:rPr sz="1800" spc="-65" dirty="0">
                <a:latin typeface="Cambria Math"/>
                <a:cs typeface="Cambria Math"/>
              </a:rPr>
              <a:t> </a:t>
            </a:r>
            <a:r>
              <a:rPr sz="1800" spc="15" dirty="0">
                <a:latin typeface="Cambria Math"/>
                <a:cs typeface="Cambria Math"/>
              </a:rPr>
              <a:t>𝑝</a:t>
            </a:r>
            <a:r>
              <a:rPr sz="2700" spc="-112" baseline="1543" dirty="0">
                <a:latin typeface="Cambria Math"/>
                <a:cs typeface="Cambria Math"/>
              </a:rPr>
              <a:t>Τ</a:t>
            </a:r>
            <a:r>
              <a:rPr sz="2700" baseline="1543" dirty="0">
                <a:latin typeface="Cambria Math"/>
                <a:cs typeface="Cambria Math"/>
              </a:rPr>
              <a:t> </a:t>
            </a:r>
            <a:r>
              <a:rPr sz="2700" spc="-75" baseline="1543" dirty="0">
                <a:latin typeface="Cambria Math"/>
                <a:cs typeface="Cambria Math"/>
              </a:rPr>
              <a:t> </a:t>
            </a:r>
            <a:r>
              <a:rPr sz="1800" dirty="0">
                <a:latin typeface="Cambria Math"/>
                <a:cs typeface="Cambria Math"/>
              </a:rPr>
              <a:t>1</a:t>
            </a:r>
            <a:r>
              <a:rPr sz="1800" spc="10" dirty="0">
                <a:latin typeface="Cambria Math"/>
                <a:cs typeface="Cambria Math"/>
              </a:rPr>
              <a:t> </a:t>
            </a:r>
            <a:r>
              <a:rPr sz="1800" dirty="0">
                <a:latin typeface="Cambria Math"/>
                <a:cs typeface="Cambria Math"/>
              </a:rPr>
              <a:t>−</a:t>
            </a:r>
            <a:r>
              <a:rPr sz="1800" spc="10" dirty="0">
                <a:latin typeface="Cambria Math"/>
                <a:cs typeface="Cambria Math"/>
              </a:rPr>
              <a:t> </a:t>
            </a:r>
            <a:r>
              <a:rPr sz="1800" dirty="0">
                <a:latin typeface="Cambria Math"/>
                <a:cs typeface="Cambria Math"/>
              </a:rPr>
              <a:t>𝑝	</a:t>
            </a:r>
            <a:r>
              <a:rPr sz="1800" dirty="0">
                <a:latin typeface="微软雅黑"/>
                <a:cs typeface="微软雅黑"/>
              </a:rPr>
              <a:t>，或</a:t>
            </a:r>
            <a:r>
              <a:rPr sz="1800" spc="5" dirty="0">
                <a:latin typeface="微软雅黑"/>
                <a:cs typeface="微软雅黑"/>
              </a:rPr>
              <a:t> </a:t>
            </a:r>
            <a:r>
              <a:rPr sz="1800" dirty="0">
                <a:latin typeface="Cambria Math"/>
                <a:cs typeface="Cambria Math"/>
              </a:rPr>
              <a:t>𝑝</a:t>
            </a:r>
            <a:r>
              <a:rPr sz="1800" spc="120" dirty="0">
                <a:latin typeface="Cambria Math"/>
                <a:cs typeface="Cambria Math"/>
              </a:rPr>
              <a:t> </a:t>
            </a:r>
            <a:r>
              <a:rPr sz="1800" dirty="0">
                <a:latin typeface="Cambria Math"/>
                <a:cs typeface="Cambria Math"/>
              </a:rPr>
              <a:t>=</a:t>
            </a:r>
            <a:r>
              <a:rPr sz="1800" spc="105" dirty="0">
                <a:latin typeface="Cambria Math"/>
                <a:cs typeface="Cambria Math"/>
              </a:rPr>
              <a:t> </a:t>
            </a:r>
            <a:r>
              <a:rPr sz="1800" spc="90" dirty="0">
                <a:latin typeface="Cambria Math"/>
                <a:cs typeface="Cambria Math"/>
              </a:rPr>
              <a:t>𝑒</a:t>
            </a:r>
            <a:r>
              <a:rPr sz="1950" spc="434" baseline="27777" dirty="0">
                <a:latin typeface="Cambria Math"/>
                <a:cs typeface="Cambria Math"/>
              </a:rPr>
              <a:t>𝜃</a:t>
            </a:r>
            <a:r>
              <a:rPr sz="1800" spc="-810" dirty="0">
                <a:latin typeface="Cambria Math"/>
                <a:cs typeface="Cambria Math"/>
              </a:rPr>
              <a:t>ൗ</a:t>
            </a:r>
            <a:r>
              <a:rPr sz="1800" dirty="0">
                <a:latin typeface="Cambria Math"/>
                <a:cs typeface="Cambria Math"/>
              </a:rPr>
              <a:t> </a:t>
            </a:r>
            <a:r>
              <a:rPr sz="1800" spc="15" dirty="0">
                <a:latin typeface="Cambria Math"/>
                <a:cs typeface="Cambria Math"/>
              </a:rPr>
              <a:t> </a:t>
            </a:r>
            <a:r>
              <a:rPr sz="1800" dirty="0">
                <a:latin typeface="Cambria Math"/>
                <a:cs typeface="Cambria Math"/>
              </a:rPr>
              <a:t>1</a:t>
            </a:r>
            <a:r>
              <a:rPr sz="1800" spc="10" dirty="0">
                <a:latin typeface="Cambria Math"/>
                <a:cs typeface="Cambria Math"/>
              </a:rPr>
              <a:t> </a:t>
            </a:r>
            <a:r>
              <a:rPr sz="1800" dirty="0">
                <a:latin typeface="Cambria Math"/>
                <a:cs typeface="Cambria Math"/>
              </a:rPr>
              <a:t>+</a:t>
            </a:r>
            <a:r>
              <a:rPr sz="1800" spc="10" dirty="0">
                <a:latin typeface="Cambria Math"/>
                <a:cs typeface="Cambria Math"/>
              </a:rPr>
              <a:t> </a:t>
            </a:r>
            <a:r>
              <a:rPr sz="1800" spc="90" dirty="0">
                <a:latin typeface="Cambria Math"/>
                <a:cs typeface="Cambria Math"/>
              </a:rPr>
              <a:t>𝑒</a:t>
            </a:r>
            <a:r>
              <a:rPr sz="1950" spc="270" baseline="27777" dirty="0">
                <a:latin typeface="Cambria Math"/>
                <a:cs typeface="Cambria Math"/>
              </a:rPr>
              <a:t>𝜃</a:t>
            </a:r>
            <a:endParaRPr sz="1950" baseline="27777">
              <a:latin typeface="Cambria Math"/>
              <a:cs typeface="Cambria Math"/>
            </a:endParaRPr>
          </a:p>
          <a:p>
            <a:pPr>
              <a:lnSpc>
                <a:spcPct val="100000"/>
              </a:lnSpc>
              <a:spcBef>
                <a:spcPts val="37"/>
              </a:spcBef>
            </a:pPr>
            <a:endParaRPr sz="1700">
              <a:latin typeface="Times New Roman"/>
              <a:cs typeface="Times New Roman"/>
            </a:endParaRPr>
          </a:p>
          <a:p>
            <a:pPr marL="287020">
              <a:lnSpc>
                <a:spcPct val="100000"/>
              </a:lnSpc>
              <a:tabLst>
                <a:tab pos="988060" algn="l"/>
                <a:tab pos="2510790" algn="l"/>
              </a:tabLst>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spc="-330" dirty="0">
                <a:latin typeface="Cambria Math"/>
                <a:cs typeface="Cambria Math"/>
              </a:rPr>
              <a:t>�</a:t>
            </a:r>
            <a:r>
              <a:rPr sz="1800" dirty="0">
                <a:latin typeface="Cambria Math"/>
                <a:cs typeface="Cambria Math"/>
              </a:rPr>
              <a:t>  </a:t>
            </a:r>
            <a:r>
              <a:rPr sz="1800" spc="-260" dirty="0">
                <a:latin typeface="Cambria Math"/>
                <a:cs typeface="Cambria Math"/>
              </a:rPr>
              <a:t>�</a:t>
            </a:r>
            <a:r>
              <a:rPr sz="1800" dirty="0">
                <a:latin typeface="Cambria Math"/>
                <a:cs typeface="Cambria Math"/>
              </a:rPr>
              <a:t>	=</a:t>
            </a:r>
            <a:r>
              <a:rPr sz="1800" spc="105" dirty="0">
                <a:latin typeface="Cambria Math"/>
                <a:cs typeface="Cambria Math"/>
              </a:rPr>
              <a:t> </a:t>
            </a:r>
            <a:r>
              <a:rPr sz="1800" dirty="0">
                <a:latin typeface="Cambria Math"/>
                <a:cs typeface="Cambria Math"/>
              </a:rPr>
              <a:t>−</a:t>
            </a:r>
            <a:r>
              <a:rPr sz="1800" spc="-85" dirty="0">
                <a:latin typeface="Cambria Math"/>
                <a:cs typeface="Cambria Math"/>
              </a:rPr>
              <a:t> </a:t>
            </a:r>
            <a:r>
              <a:rPr sz="1800" dirty="0">
                <a:latin typeface="Cambria Math"/>
                <a:cs typeface="Cambria Math"/>
              </a:rPr>
              <a:t>log </a:t>
            </a:r>
            <a:r>
              <a:rPr sz="1800" spc="-65" dirty="0">
                <a:latin typeface="Cambria Math"/>
                <a:cs typeface="Cambria Math"/>
              </a:rPr>
              <a:t> </a:t>
            </a:r>
            <a:r>
              <a:rPr sz="1800" dirty="0">
                <a:latin typeface="Cambria Math"/>
                <a:cs typeface="Cambria Math"/>
              </a:rPr>
              <a:t>1</a:t>
            </a:r>
            <a:r>
              <a:rPr sz="1800" spc="10" dirty="0">
                <a:latin typeface="Cambria Math"/>
                <a:cs typeface="Cambria Math"/>
              </a:rPr>
              <a:t> </a:t>
            </a:r>
            <a:r>
              <a:rPr sz="1800" dirty="0">
                <a:latin typeface="Cambria Math"/>
                <a:cs typeface="Cambria Math"/>
              </a:rPr>
              <a:t>−</a:t>
            </a:r>
            <a:r>
              <a:rPr sz="1800" spc="10" dirty="0">
                <a:latin typeface="Cambria Math"/>
                <a:cs typeface="Cambria Math"/>
              </a:rPr>
              <a:t> </a:t>
            </a:r>
            <a:r>
              <a:rPr sz="1800" dirty="0">
                <a:latin typeface="Cambria Math"/>
                <a:cs typeface="Cambria Math"/>
              </a:rPr>
              <a:t>𝑝	=</a:t>
            </a:r>
            <a:r>
              <a:rPr sz="1800" spc="105" dirty="0">
                <a:latin typeface="Cambria Math"/>
                <a:cs typeface="Cambria Math"/>
              </a:rPr>
              <a:t> </a:t>
            </a:r>
            <a:r>
              <a:rPr sz="1800" dirty="0">
                <a:latin typeface="Cambria Math"/>
                <a:cs typeface="Cambria Math"/>
              </a:rPr>
              <a:t>log </a:t>
            </a:r>
            <a:r>
              <a:rPr sz="1800" spc="-5" dirty="0">
                <a:latin typeface="Cambria Math"/>
                <a:cs typeface="Cambria Math"/>
              </a:rPr>
              <a:t> </a:t>
            </a:r>
            <a:r>
              <a:rPr sz="1800" dirty="0">
                <a:latin typeface="Cambria Math"/>
                <a:cs typeface="Cambria Math"/>
              </a:rPr>
              <a:t>1</a:t>
            </a:r>
            <a:r>
              <a:rPr sz="1800" spc="10" dirty="0">
                <a:latin typeface="Cambria Math"/>
                <a:cs typeface="Cambria Math"/>
              </a:rPr>
              <a:t> </a:t>
            </a:r>
            <a:r>
              <a:rPr sz="1800" dirty="0">
                <a:latin typeface="Cambria Math"/>
                <a:cs typeface="Cambria Math"/>
              </a:rPr>
              <a:t>+</a:t>
            </a:r>
            <a:r>
              <a:rPr sz="1800" spc="10" dirty="0">
                <a:latin typeface="Cambria Math"/>
                <a:cs typeface="Cambria Math"/>
              </a:rPr>
              <a:t> </a:t>
            </a:r>
            <a:r>
              <a:rPr sz="1800" spc="90" dirty="0">
                <a:latin typeface="Cambria Math"/>
                <a:cs typeface="Cambria Math"/>
              </a:rPr>
              <a:t>𝑒</a:t>
            </a:r>
            <a:r>
              <a:rPr sz="1950" spc="270" baseline="27777" dirty="0">
                <a:latin typeface="Cambria Math"/>
                <a:cs typeface="Cambria Math"/>
              </a:rPr>
              <a:t>𝜃</a:t>
            </a:r>
            <a:endParaRPr sz="1950" baseline="27777">
              <a:latin typeface="Cambria Math"/>
              <a:cs typeface="Cambria Math"/>
            </a:endParaRPr>
          </a:p>
          <a:p>
            <a:pPr marL="287020">
              <a:lnSpc>
                <a:spcPct val="100000"/>
              </a:lnSpc>
              <a:spcBef>
                <a:spcPts val="1610"/>
              </a:spcBef>
              <a:tabLst>
                <a:tab pos="1016635" algn="l"/>
                <a:tab pos="2352040" algn="l"/>
              </a:tabLst>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spc="-280" dirty="0">
                <a:latin typeface="Cambria Math"/>
                <a:cs typeface="Cambria Math"/>
              </a:rPr>
              <a:t>�</a:t>
            </a:r>
            <a:r>
              <a:rPr sz="1800" dirty="0">
                <a:latin typeface="Cambria Math"/>
                <a:cs typeface="Cambria Math"/>
              </a:rPr>
              <a:t> </a:t>
            </a:r>
            <a:r>
              <a:rPr sz="1800" spc="-10" dirty="0">
                <a:latin typeface="Cambria Math"/>
                <a:cs typeface="Cambria Math"/>
              </a:rPr>
              <a:t> </a:t>
            </a:r>
            <a:r>
              <a:rPr sz="1800" dirty="0">
                <a:latin typeface="Cambria Math"/>
                <a:cs typeface="Cambria Math"/>
              </a:rPr>
              <a:t>𝜙	=</a:t>
            </a:r>
            <a:r>
              <a:rPr sz="1800" spc="105" dirty="0">
                <a:latin typeface="Cambria Math"/>
                <a:cs typeface="Cambria Math"/>
              </a:rPr>
              <a:t> </a:t>
            </a:r>
            <a:r>
              <a:rPr sz="1800" spc="-5" dirty="0">
                <a:latin typeface="Cambria Math"/>
                <a:cs typeface="Cambria Math"/>
              </a:rPr>
              <a:t>1</a:t>
            </a:r>
            <a:r>
              <a:rPr sz="1800" dirty="0">
                <a:latin typeface="微软雅黑"/>
                <a:cs typeface="微软雅黑"/>
              </a:rPr>
              <a:t>，</a:t>
            </a:r>
            <a:r>
              <a:rPr sz="1800" spc="-545" dirty="0">
                <a:latin typeface="Cambria Math"/>
                <a:cs typeface="Cambria Math"/>
              </a:rPr>
              <a:t>�</a:t>
            </a:r>
            <a:r>
              <a:rPr sz="1800" dirty="0">
                <a:latin typeface="Cambria Math"/>
                <a:cs typeface="Cambria Math"/>
              </a:rPr>
              <a:t> </a:t>
            </a:r>
            <a:r>
              <a:rPr sz="1800" spc="10" dirty="0">
                <a:latin typeface="Cambria Math"/>
                <a:cs typeface="Cambria Math"/>
              </a:rPr>
              <a:t> </a:t>
            </a:r>
            <a:r>
              <a:rPr sz="1800" spc="-235" dirty="0">
                <a:latin typeface="Cambria Math"/>
                <a:cs typeface="Cambria Math"/>
              </a:rPr>
              <a:t>�</a:t>
            </a:r>
            <a:r>
              <a:rPr sz="1800" dirty="0">
                <a:latin typeface="Cambria Math"/>
                <a:cs typeface="Cambria Math"/>
              </a:rPr>
              <a:t>,</a:t>
            </a:r>
            <a:r>
              <a:rPr sz="1800" spc="-95" dirty="0">
                <a:latin typeface="Cambria Math"/>
                <a:cs typeface="Cambria Math"/>
              </a:rPr>
              <a:t> </a:t>
            </a:r>
            <a:r>
              <a:rPr sz="1800" dirty="0">
                <a:latin typeface="Cambria Math"/>
                <a:cs typeface="Cambria Math"/>
              </a:rPr>
              <a:t>𝜙	=</a:t>
            </a:r>
            <a:r>
              <a:rPr sz="1800" spc="105" dirty="0">
                <a:latin typeface="Cambria Math"/>
                <a:cs typeface="Cambria Math"/>
              </a:rPr>
              <a:t> </a:t>
            </a:r>
            <a:r>
              <a:rPr sz="1800" dirty="0">
                <a:latin typeface="Cambria Math"/>
                <a:cs typeface="Cambria Math"/>
              </a:rPr>
              <a:t>0</a:t>
            </a:r>
            <a:endParaRPr sz="1800">
              <a:latin typeface="Cambria Math"/>
              <a:cs typeface="Cambria Math"/>
            </a:endParaRPr>
          </a:p>
        </p:txBody>
      </p:sp>
      <p:sp>
        <p:nvSpPr>
          <p:cNvPr id="14" name="object 14"/>
          <p:cNvSpPr/>
          <p:nvPr/>
        </p:nvSpPr>
        <p:spPr>
          <a:xfrm>
            <a:off x="1818132" y="2237232"/>
            <a:ext cx="5507736" cy="1368552"/>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1216152" y="4311396"/>
            <a:ext cx="1971039" cy="355600"/>
          </a:xfrm>
          <a:custGeom>
            <a:avLst/>
            <a:gdLst/>
            <a:ahLst/>
            <a:cxnLst/>
            <a:rect l="l" t="t" r="r" b="b"/>
            <a:pathLst>
              <a:path w="1971039" h="355600">
                <a:moveTo>
                  <a:pt x="0" y="355091"/>
                </a:moveTo>
                <a:lnTo>
                  <a:pt x="1970532" y="355091"/>
                </a:lnTo>
                <a:lnTo>
                  <a:pt x="1970532" y="0"/>
                </a:lnTo>
                <a:lnTo>
                  <a:pt x="0" y="0"/>
                </a:lnTo>
                <a:lnTo>
                  <a:pt x="0" y="355091"/>
                </a:lnTo>
                <a:close/>
              </a:path>
            </a:pathLst>
          </a:custGeom>
          <a:ln w="12192">
            <a:solidFill>
              <a:srgbClr val="FF0000"/>
            </a:solidFill>
          </a:ln>
        </p:spPr>
        <p:txBody>
          <a:bodyPr wrap="square" lIns="0" tIns="0" rIns="0" bIns="0" rtlCol="0"/>
          <a:lstStyle/>
          <a:p>
            <a:endParaRPr/>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609600"/>
            <a:ext cx="8216845" cy="57041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30322" y="3820921"/>
            <a:ext cx="1126490" cy="212090"/>
          </a:xfrm>
          <a:custGeom>
            <a:avLst/>
            <a:gdLst/>
            <a:ahLst/>
            <a:cxnLst/>
            <a:rect l="l" t="t" r="r" b="b"/>
            <a:pathLst>
              <a:path w="1126489" h="212089">
                <a:moveTo>
                  <a:pt x="1058444" y="0"/>
                </a:moveTo>
                <a:lnTo>
                  <a:pt x="1058326" y="9658"/>
                </a:lnTo>
                <a:lnTo>
                  <a:pt x="1069626" y="15114"/>
                </a:lnTo>
                <a:lnTo>
                  <a:pt x="1079508" y="22641"/>
                </a:lnTo>
                <a:lnTo>
                  <a:pt x="1102622" y="66220"/>
                </a:lnTo>
                <a:lnTo>
                  <a:pt x="1106685" y="107840"/>
                </a:lnTo>
                <a:lnTo>
                  <a:pt x="1106027" y="122135"/>
                </a:lnTo>
                <a:lnTo>
                  <a:pt x="1093896" y="169635"/>
                </a:lnTo>
                <a:lnTo>
                  <a:pt x="1067720" y="197852"/>
                </a:lnTo>
                <a:lnTo>
                  <a:pt x="1055777" y="203200"/>
                </a:lnTo>
                <a:lnTo>
                  <a:pt x="1070391" y="207710"/>
                </a:lnTo>
                <a:lnTo>
                  <a:pt x="1108878" y="174308"/>
                </a:lnTo>
                <a:lnTo>
                  <a:pt x="1124066" y="129553"/>
                </a:lnTo>
                <a:lnTo>
                  <a:pt x="1125908" y="99974"/>
                </a:lnTo>
                <a:lnTo>
                  <a:pt x="1125007" y="87999"/>
                </a:lnTo>
                <a:lnTo>
                  <a:pt x="1109284" y="40246"/>
                </a:lnTo>
                <a:lnTo>
                  <a:pt x="1082526" y="10333"/>
                </a:lnTo>
                <a:lnTo>
                  <a:pt x="1071109" y="4333"/>
                </a:lnTo>
                <a:lnTo>
                  <a:pt x="1058444" y="0"/>
                </a:lnTo>
                <a:close/>
              </a:path>
              <a:path w="1126489" h="212089">
                <a:moveTo>
                  <a:pt x="67463" y="0"/>
                </a:moveTo>
                <a:lnTo>
                  <a:pt x="24926" y="26642"/>
                </a:lnTo>
                <a:lnTo>
                  <a:pt x="4221" y="69646"/>
                </a:lnTo>
                <a:lnTo>
                  <a:pt x="0" y="111876"/>
                </a:lnTo>
                <a:lnTo>
                  <a:pt x="899" y="123894"/>
                </a:lnTo>
                <a:lnTo>
                  <a:pt x="16583" y="171640"/>
                </a:lnTo>
                <a:lnTo>
                  <a:pt x="43328" y="201427"/>
                </a:lnTo>
                <a:lnTo>
                  <a:pt x="67463" y="211708"/>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5"/>
                </a:lnTo>
                <a:lnTo>
                  <a:pt x="67463" y="0"/>
                </a:lnTo>
                <a:close/>
              </a:path>
            </a:pathLst>
          </a:custGeom>
          <a:solidFill>
            <a:srgbClr val="000000"/>
          </a:solidFill>
        </p:spPr>
        <p:txBody>
          <a:bodyPr wrap="square" lIns="0" tIns="0" rIns="0" bIns="0" rtlCol="0"/>
          <a:lstStyle/>
          <a:p>
            <a:endParaRPr/>
          </a:p>
        </p:txBody>
      </p:sp>
      <p:sp>
        <p:nvSpPr>
          <p:cNvPr id="3" name="object 3"/>
          <p:cNvSpPr/>
          <p:nvPr/>
        </p:nvSpPr>
        <p:spPr>
          <a:xfrm>
            <a:off x="2380842" y="3820921"/>
            <a:ext cx="681355" cy="212090"/>
          </a:xfrm>
          <a:custGeom>
            <a:avLst/>
            <a:gdLst/>
            <a:ahLst/>
            <a:cxnLst/>
            <a:rect l="l" t="t" r="r" b="b"/>
            <a:pathLst>
              <a:path w="681355" h="212089">
                <a:moveTo>
                  <a:pt x="613436" y="0"/>
                </a:moveTo>
                <a:lnTo>
                  <a:pt x="613318" y="9658"/>
                </a:lnTo>
                <a:lnTo>
                  <a:pt x="624618" y="15114"/>
                </a:lnTo>
                <a:lnTo>
                  <a:pt x="634500" y="22641"/>
                </a:lnTo>
                <a:lnTo>
                  <a:pt x="657614" y="66220"/>
                </a:lnTo>
                <a:lnTo>
                  <a:pt x="661677" y="107840"/>
                </a:lnTo>
                <a:lnTo>
                  <a:pt x="661019" y="122135"/>
                </a:lnTo>
                <a:lnTo>
                  <a:pt x="648888" y="169635"/>
                </a:lnTo>
                <a:lnTo>
                  <a:pt x="622712" y="197852"/>
                </a:lnTo>
                <a:lnTo>
                  <a:pt x="610769" y="203200"/>
                </a:lnTo>
                <a:lnTo>
                  <a:pt x="625383" y="207710"/>
                </a:lnTo>
                <a:lnTo>
                  <a:pt x="663870" y="174308"/>
                </a:lnTo>
                <a:lnTo>
                  <a:pt x="679058" y="129553"/>
                </a:lnTo>
                <a:lnTo>
                  <a:pt x="680900" y="99974"/>
                </a:lnTo>
                <a:lnTo>
                  <a:pt x="679999" y="87999"/>
                </a:lnTo>
                <a:lnTo>
                  <a:pt x="664276" y="40246"/>
                </a:lnTo>
                <a:lnTo>
                  <a:pt x="637518" y="10333"/>
                </a:lnTo>
                <a:lnTo>
                  <a:pt x="626101" y="4333"/>
                </a:lnTo>
                <a:lnTo>
                  <a:pt x="613436" y="0"/>
                </a:lnTo>
                <a:close/>
              </a:path>
              <a:path w="681355" h="212089">
                <a:moveTo>
                  <a:pt x="67463" y="0"/>
                </a:moveTo>
                <a:lnTo>
                  <a:pt x="24926" y="26642"/>
                </a:lnTo>
                <a:lnTo>
                  <a:pt x="4221" y="69646"/>
                </a:lnTo>
                <a:lnTo>
                  <a:pt x="0" y="111876"/>
                </a:lnTo>
                <a:lnTo>
                  <a:pt x="899" y="123894"/>
                </a:lnTo>
                <a:lnTo>
                  <a:pt x="16583" y="171640"/>
                </a:lnTo>
                <a:lnTo>
                  <a:pt x="43328" y="201427"/>
                </a:lnTo>
                <a:lnTo>
                  <a:pt x="67463" y="211708"/>
                </a:lnTo>
                <a:lnTo>
                  <a:pt x="67406" y="202211"/>
                </a:lnTo>
                <a:lnTo>
                  <a:pt x="56267" y="196671"/>
                </a:lnTo>
                <a:lnTo>
                  <a:pt x="46482" y="189057"/>
                </a:lnTo>
                <a:lnTo>
                  <a:pt x="26532" y="156397"/>
                </a:lnTo>
                <a:lnTo>
                  <a:pt x="19662" y="118679"/>
                </a:lnTo>
                <a:lnTo>
                  <a:pt x="19205" y="103823"/>
                </a:lnTo>
                <a:lnTo>
                  <a:pt x="19760" y="89491"/>
                </a:lnTo>
                <a:lnTo>
                  <a:pt x="31988" y="41746"/>
                </a:lnTo>
                <a:lnTo>
                  <a:pt x="58393" y="13893"/>
                </a:lnTo>
                <a:lnTo>
                  <a:pt x="70511" y="8635"/>
                </a:lnTo>
                <a:lnTo>
                  <a:pt x="67463" y="0"/>
                </a:lnTo>
                <a:close/>
              </a:path>
            </a:pathLst>
          </a:custGeom>
          <a:solidFill>
            <a:srgbClr val="000000"/>
          </a:solidFill>
        </p:spPr>
        <p:txBody>
          <a:bodyPr wrap="square" lIns="0" tIns="0" rIns="0" bIns="0" rtlCol="0"/>
          <a:lstStyle/>
          <a:p>
            <a:endParaRPr/>
          </a:p>
        </p:txBody>
      </p:sp>
      <p:sp>
        <p:nvSpPr>
          <p:cNvPr id="4" name="object 4"/>
          <p:cNvSpPr txBox="1"/>
          <p:nvPr/>
        </p:nvSpPr>
        <p:spPr>
          <a:xfrm>
            <a:off x="535940" y="793800"/>
            <a:ext cx="6446520" cy="476059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a:p>
            <a:pPr marL="286385">
              <a:lnSpc>
                <a:spcPct val="100000"/>
              </a:lnSpc>
              <a:spcBef>
                <a:spcPts val="129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二项分布的期望</a:t>
            </a:r>
            <a:r>
              <a:rPr sz="2000" spc="-30" dirty="0">
                <a:latin typeface="微软雅黑"/>
                <a:cs typeface="微软雅黑"/>
              </a:rPr>
              <a:t> </a:t>
            </a:r>
            <a:r>
              <a:rPr sz="2000" dirty="0">
                <a:latin typeface="微软雅黑"/>
                <a:cs typeface="微软雅黑"/>
              </a:rPr>
              <a:t>=</a:t>
            </a:r>
            <a:r>
              <a:rPr sz="2000" spc="-5" dirty="0">
                <a:latin typeface="微软雅黑"/>
                <a:cs typeface="微软雅黑"/>
              </a:rPr>
              <a:t> </a:t>
            </a:r>
            <a:r>
              <a:rPr sz="2000" dirty="0">
                <a:latin typeface="微软雅黑"/>
                <a:cs typeface="微软雅黑"/>
              </a:rPr>
              <a:t>二项</a:t>
            </a:r>
            <a:r>
              <a:rPr sz="2000" spc="-20" dirty="0">
                <a:latin typeface="微软雅黑"/>
                <a:cs typeface="微软雅黑"/>
              </a:rPr>
              <a:t> </a:t>
            </a:r>
            <a:r>
              <a:rPr sz="2000" spc="-5" dirty="0">
                <a:latin typeface="微软雅黑"/>
                <a:cs typeface="微软雅黑"/>
              </a:rPr>
              <a:t>Logis</a:t>
            </a:r>
            <a:r>
              <a:rPr sz="2000" dirty="0">
                <a:latin typeface="微软雅黑"/>
                <a:cs typeface="微软雅黑"/>
              </a:rPr>
              <a:t>t</a:t>
            </a:r>
            <a:r>
              <a:rPr sz="2000" spc="-10" dirty="0">
                <a:latin typeface="微软雅黑"/>
                <a:cs typeface="微软雅黑"/>
              </a:rPr>
              <a:t>i</a:t>
            </a:r>
            <a:r>
              <a:rPr sz="2000" dirty="0">
                <a:latin typeface="微软雅黑"/>
                <a:cs typeface="微软雅黑"/>
              </a:rPr>
              <a:t>c 回归的估计对象</a:t>
            </a:r>
            <a:r>
              <a:rPr sz="2000" spc="-25" dirty="0">
                <a:latin typeface="微软雅黑"/>
                <a:cs typeface="微软雅黑"/>
              </a:rPr>
              <a:t> </a:t>
            </a:r>
            <a:r>
              <a:rPr sz="2000" dirty="0">
                <a:latin typeface="微软雅黑"/>
                <a:cs typeface="微软雅黑"/>
              </a:rPr>
              <a:t>=</a:t>
            </a:r>
            <a:r>
              <a:rPr sz="2000" spc="-5" dirty="0">
                <a:latin typeface="微软雅黑"/>
                <a:cs typeface="微软雅黑"/>
              </a:rPr>
              <a:t> </a:t>
            </a:r>
            <a:r>
              <a:rPr sz="2000" dirty="0">
                <a:latin typeface="Cambria Math"/>
                <a:cs typeface="Cambria Math"/>
              </a:rPr>
              <a:t>𝑝</a:t>
            </a:r>
            <a:endParaRPr sz="2000">
              <a:latin typeface="Cambria Math"/>
              <a:cs typeface="Cambria Math"/>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marL="286385">
              <a:lnSpc>
                <a:spcPct val="100000"/>
              </a:lnSpc>
              <a:spcBef>
                <a:spcPts val="116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我们有</a:t>
            </a:r>
            <a:endParaRPr sz="2000">
              <a:latin typeface="微软雅黑"/>
              <a:cs typeface="微软雅黑"/>
            </a:endParaRPr>
          </a:p>
          <a:p>
            <a:pPr marL="561340">
              <a:lnSpc>
                <a:spcPct val="100000"/>
              </a:lnSpc>
              <a:spcBef>
                <a:spcPts val="1565"/>
              </a:spcBef>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spc="-260" dirty="0">
                <a:latin typeface="Cambria Math"/>
                <a:cs typeface="Cambria Math"/>
              </a:rPr>
              <a:t>�</a:t>
            </a:r>
            <a:r>
              <a:rPr sz="1800" spc="160" dirty="0">
                <a:latin typeface="Cambria Math"/>
                <a:cs typeface="Cambria Math"/>
              </a:rPr>
              <a:t> </a:t>
            </a:r>
            <a:r>
              <a:rPr sz="1800" dirty="0">
                <a:latin typeface="Cambria Math"/>
                <a:cs typeface="Cambria Math"/>
              </a:rPr>
              <a:t>=</a:t>
            </a:r>
            <a:r>
              <a:rPr sz="1800" spc="105" dirty="0">
                <a:latin typeface="Cambria Math"/>
                <a:cs typeface="Cambria Math"/>
              </a:rPr>
              <a:t> </a:t>
            </a:r>
            <a:r>
              <a:rPr sz="1800" dirty="0">
                <a:latin typeface="Cambria Math"/>
                <a:cs typeface="Cambria Math"/>
              </a:rPr>
              <a:t>log </a:t>
            </a:r>
            <a:r>
              <a:rPr sz="1800" spc="-65" dirty="0">
                <a:latin typeface="Cambria Math"/>
                <a:cs typeface="Cambria Math"/>
              </a:rPr>
              <a:t> </a:t>
            </a:r>
            <a:r>
              <a:rPr sz="1800" spc="15" dirty="0">
                <a:latin typeface="Cambria Math"/>
                <a:cs typeface="Cambria Math"/>
              </a:rPr>
              <a:t>𝑝</a:t>
            </a:r>
            <a:r>
              <a:rPr sz="2700" spc="-112" baseline="1543" dirty="0">
                <a:latin typeface="Cambria Math"/>
                <a:cs typeface="Cambria Math"/>
              </a:rPr>
              <a:t>Τ</a:t>
            </a:r>
            <a:r>
              <a:rPr sz="2700" baseline="1543" dirty="0">
                <a:latin typeface="Cambria Math"/>
                <a:cs typeface="Cambria Math"/>
              </a:rPr>
              <a:t> </a:t>
            </a:r>
            <a:r>
              <a:rPr sz="2700" spc="-75" baseline="1543" dirty="0">
                <a:latin typeface="Cambria Math"/>
                <a:cs typeface="Cambria Math"/>
              </a:rPr>
              <a:t> </a:t>
            </a:r>
            <a:r>
              <a:rPr sz="1800" dirty="0">
                <a:latin typeface="Cambria Math"/>
                <a:cs typeface="Cambria Math"/>
              </a:rPr>
              <a:t>1</a:t>
            </a:r>
            <a:r>
              <a:rPr sz="1800" spc="10" dirty="0">
                <a:latin typeface="Cambria Math"/>
                <a:cs typeface="Cambria Math"/>
              </a:rPr>
              <a:t> </a:t>
            </a:r>
            <a:r>
              <a:rPr sz="1800" dirty="0">
                <a:latin typeface="Cambria Math"/>
                <a:cs typeface="Cambria Math"/>
              </a:rPr>
              <a:t>−</a:t>
            </a:r>
            <a:r>
              <a:rPr sz="1800" spc="10" dirty="0">
                <a:latin typeface="Cambria Math"/>
                <a:cs typeface="Cambria Math"/>
              </a:rPr>
              <a:t> </a:t>
            </a:r>
            <a:r>
              <a:rPr sz="1800" dirty="0">
                <a:latin typeface="Cambria Math"/>
                <a:cs typeface="Cambria Math"/>
              </a:rPr>
              <a:t>𝑝</a:t>
            </a:r>
            <a:endParaRPr sz="1800">
              <a:latin typeface="Cambria Math"/>
              <a:cs typeface="Cambria Math"/>
            </a:endParaRPr>
          </a:p>
          <a:p>
            <a:pPr marL="561340">
              <a:lnSpc>
                <a:spcPct val="100000"/>
              </a:lnSpc>
              <a:spcBef>
                <a:spcPts val="1560"/>
              </a:spcBef>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dirty="0">
                <a:latin typeface="微软雅黑"/>
                <a:cs typeface="微软雅黑"/>
              </a:rPr>
              <a:t>标准连接函数</a:t>
            </a:r>
            <a:r>
              <a:rPr sz="1800" spc="-30" dirty="0">
                <a:latin typeface="微软雅黑"/>
                <a:cs typeface="微软雅黑"/>
              </a:rPr>
              <a:t> </a:t>
            </a:r>
            <a:r>
              <a:rPr sz="1800" spc="-260" dirty="0">
                <a:latin typeface="Cambria Math"/>
                <a:cs typeface="Cambria Math"/>
              </a:rPr>
              <a:t>�</a:t>
            </a:r>
            <a:r>
              <a:rPr sz="1800" spc="165" dirty="0">
                <a:latin typeface="Cambria Math"/>
                <a:cs typeface="Cambria Math"/>
              </a:rPr>
              <a:t> </a:t>
            </a:r>
            <a:r>
              <a:rPr sz="1800" dirty="0">
                <a:latin typeface="Cambria Math"/>
                <a:cs typeface="Cambria Math"/>
              </a:rPr>
              <a:t>=</a:t>
            </a:r>
            <a:r>
              <a:rPr sz="1800" spc="105" dirty="0">
                <a:latin typeface="Cambria Math"/>
                <a:cs typeface="Cambria Math"/>
              </a:rPr>
              <a:t> </a:t>
            </a:r>
            <a:r>
              <a:rPr sz="1800" spc="-370" dirty="0">
                <a:latin typeface="Cambria Math"/>
                <a:cs typeface="Cambria Math"/>
              </a:rPr>
              <a:t>�</a:t>
            </a:r>
            <a:r>
              <a:rPr sz="1800" spc="160" dirty="0">
                <a:latin typeface="Cambria Math"/>
                <a:cs typeface="Cambria Math"/>
              </a:rPr>
              <a:t> </a:t>
            </a:r>
            <a:r>
              <a:rPr sz="1800" dirty="0">
                <a:latin typeface="Cambria Math"/>
                <a:cs typeface="Cambria Math"/>
              </a:rPr>
              <a:t>=</a:t>
            </a:r>
            <a:r>
              <a:rPr sz="1800" spc="105" dirty="0">
                <a:latin typeface="Cambria Math"/>
                <a:cs typeface="Cambria Math"/>
              </a:rPr>
              <a:t> </a:t>
            </a:r>
            <a:r>
              <a:rPr sz="1800" spc="70" dirty="0">
                <a:latin typeface="Cambria Math"/>
                <a:cs typeface="Cambria Math"/>
              </a:rPr>
              <a:t>𝐗</a:t>
            </a:r>
            <a:r>
              <a:rPr sz="1950" spc="225" baseline="27777" dirty="0">
                <a:latin typeface="Cambria Math"/>
                <a:cs typeface="Cambria Math"/>
              </a:rPr>
              <a:t>T</a:t>
            </a:r>
            <a:r>
              <a:rPr sz="1800" dirty="0">
                <a:latin typeface="Cambria Math"/>
                <a:cs typeface="Cambria Math"/>
              </a:rPr>
              <a:t>𝛃</a:t>
            </a:r>
            <a:endParaRPr sz="1800">
              <a:latin typeface="Cambria Math"/>
              <a:cs typeface="Cambria Math"/>
            </a:endParaRPr>
          </a:p>
          <a:p>
            <a:pPr>
              <a:lnSpc>
                <a:spcPct val="100000"/>
              </a:lnSpc>
            </a:pPr>
            <a:endParaRPr sz="2100">
              <a:latin typeface="Times New Roman"/>
              <a:cs typeface="Times New Roman"/>
            </a:endParaRPr>
          </a:p>
          <a:p>
            <a:pPr>
              <a:lnSpc>
                <a:spcPct val="100000"/>
              </a:lnSpc>
              <a:spcBef>
                <a:spcPts val="23"/>
              </a:spcBef>
            </a:pPr>
            <a:endParaRPr sz="2850">
              <a:latin typeface="Times New Roman"/>
              <a:cs typeface="Times New Roman"/>
            </a:endParaRPr>
          </a:p>
          <a:p>
            <a:pPr marL="286385">
              <a:lnSpc>
                <a:spcPct val="100000"/>
              </a:lnSpc>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因此我们有</a:t>
            </a:r>
            <a:endParaRPr sz="2000">
              <a:latin typeface="微软雅黑"/>
              <a:cs typeface="微软雅黑"/>
            </a:endParaRPr>
          </a:p>
        </p:txBody>
      </p:sp>
      <p:sp>
        <p:nvSpPr>
          <p:cNvPr id="5" name="object 5"/>
          <p:cNvSpPr txBox="1"/>
          <p:nvPr/>
        </p:nvSpPr>
        <p:spPr>
          <a:xfrm>
            <a:off x="3005454" y="6033108"/>
            <a:ext cx="355600" cy="280035"/>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log</a:t>
            </a:r>
            <a:endParaRPr sz="2000">
              <a:latin typeface="Cambria Math"/>
              <a:cs typeface="Cambria Math"/>
            </a:endParaRPr>
          </a:p>
        </p:txBody>
      </p:sp>
      <p:sp>
        <p:nvSpPr>
          <p:cNvPr id="6" name="object 6"/>
          <p:cNvSpPr/>
          <p:nvPr/>
        </p:nvSpPr>
        <p:spPr>
          <a:xfrm>
            <a:off x="3387852" y="6169914"/>
            <a:ext cx="589915" cy="0"/>
          </a:xfrm>
          <a:custGeom>
            <a:avLst/>
            <a:gdLst/>
            <a:ahLst/>
            <a:cxnLst/>
            <a:rect l="l" t="t" r="r" b="b"/>
            <a:pathLst>
              <a:path w="589914">
                <a:moveTo>
                  <a:pt x="0" y="0"/>
                </a:moveTo>
                <a:lnTo>
                  <a:pt x="589788" y="0"/>
                </a:lnTo>
              </a:path>
            </a:pathLst>
          </a:custGeom>
          <a:ln w="16764">
            <a:solidFill>
              <a:srgbClr val="000000"/>
            </a:solidFill>
          </a:ln>
        </p:spPr>
        <p:txBody>
          <a:bodyPr wrap="square" lIns="0" tIns="0" rIns="0" bIns="0" rtlCol="0"/>
          <a:lstStyle/>
          <a:p>
            <a:endParaRPr/>
          </a:p>
        </p:txBody>
      </p:sp>
      <p:sp>
        <p:nvSpPr>
          <p:cNvPr id="7" name="object 7"/>
          <p:cNvSpPr txBox="1"/>
          <p:nvPr/>
        </p:nvSpPr>
        <p:spPr>
          <a:xfrm>
            <a:off x="3598290" y="5841084"/>
            <a:ext cx="167640" cy="280035"/>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𝑝</a:t>
            </a:r>
            <a:endParaRPr sz="2000">
              <a:latin typeface="Cambria Math"/>
              <a:cs typeface="Cambria Math"/>
            </a:endParaRPr>
          </a:p>
        </p:txBody>
      </p:sp>
      <p:sp>
        <p:nvSpPr>
          <p:cNvPr id="8" name="object 8"/>
          <p:cNvSpPr txBox="1"/>
          <p:nvPr/>
        </p:nvSpPr>
        <p:spPr>
          <a:xfrm>
            <a:off x="3375786" y="6203796"/>
            <a:ext cx="612775" cy="280035"/>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dirty="0">
                <a:latin typeface="Cambria Math"/>
                <a:cs typeface="Cambria Math"/>
              </a:rPr>
              <a:t>𝑝</a:t>
            </a:r>
            <a:endParaRPr sz="2000">
              <a:latin typeface="Cambria Math"/>
              <a:cs typeface="Cambria Math"/>
            </a:endParaRPr>
          </a:p>
        </p:txBody>
      </p:sp>
      <p:sp>
        <p:nvSpPr>
          <p:cNvPr id="9" name="object 9"/>
          <p:cNvSpPr txBox="1"/>
          <p:nvPr/>
        </p:nvSpPr>
        <p:spPr>
          <a:xfrm>
            <a:off x="4035678" y="5993502"/>
            <a:ext cx="1402715" cy="320040"/>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a:t>
            </a:r>
            <a:r>
              <a:rPr sz="2000" spc="114" dirty="0">
                <a:latin typeface="Cambria Math"/>
                <a:cs typeface="Cambria Math"/>
              </a:rPr>
              <a:t> </a:t>
            </a:r>
            <a:r>
              <a:rPr sz="2000" spc="75" dirty="0">
                <a:latin typeface="Cambria Math"/>
                <a:cs typeface="Cambria Math"/>
              </a:rPr>
              <a:t>𝐗</a:t>
            </a:r>
            <a:r>
              <a:rPr sz="2175" spc="254" baseline="28735" dirty="0">
                <a:latin typeface="Cambria Math"/>
                <a:cs typeface="Cambria Math"/>
              </a:rPr>
              <a:t>T</a:t>
            </a:r>
            <a:r>
              <a:rPr sz="2000" dirty="0">
                <a:latin typeface="Cambria Math"/>
                <a:cs typeface="Cambria Math"/>
              </a:rPr>
              <a:t>𝛃</a:t>
            </a:r>
            <a:r>
              <a:rPr sz="2000" spc="120" dirty="0">
                <a:latin typeface="Cambria Math"/>
                <a:cs typeface="Cambria Math"/>
              </a:rPr>
              <a:t> </a:t>
            </a:r>
            <a:r>
              <a:rPr sz="2000" dirty="0">
                <a:latin typeface="Cambria Math"/>
                <a:cs typeface="Cambria Math"/>
              </a:rPr>
              <a:t>=</a:t>
            </a:r>
            <a:r>
              <a:rPr sz="2000" spc="114" dirty="0">
                <a:latin typeface="Cambria Math"/>
                <a:cs typeface="Cambria Math"/>
              </a:rPr>
              <a:t> </a:t>
            </a:r>
            <a:r>
              <a:rPr sz="2000" dirty="0">
                <a:latin typeface="Cambria Math"/>
                <a:cs typeface="Cambria Math"/>
              </a:rPr>
              <a:t>log</a:t>
            </a:r>
            <a:endParaRPr sz="2000">
              <a:latin typeface="Cambria Math"/>
              <a:cs typeface="Cambria Math"/>
            </a:endParaRPr>
          </a:p>
        </p:txBody>
      </p:sp>
      <p:sp>
        <p:nvSpPr>
          <p:cNvPr id="10" name="object 10"/>
          <p:cNvSpPr/>
          <p:nvPr/>
        </p:nvSpPr>
        <p:spPr>
          <a:xfrm>
            <a:off x="5465064" y="6169914"/>
            <a:ext cx="591820" cy="0"/>
          </a:xfrm>
          <a:custGeom>
            <a:avLst/>
            <a:gdLst/>
            <a:ahLst/>
            <a:cxnLst/>
            <a:rect l="l" t="t" r="r" b="b"/>
            <a:pathLst>
              <a:path w="591820">
                <a:moveTo>
                  <a:pt x="0" y="0"/>
                </a:moveTo>
                <a:lnTo>
                  <a:pt x="591312" y="0"/>
                </a:lnTo>
              </a:path>
            </a:pathLst>
          </a:custGeom>
          <a:ln w="16764">
            <a:solidFill>
              <a:srgbClr val="000000"/>
            </a:solidFill>
          </a:ln>
        </p:spPr>
        <p:txBody>
          <a:bodyPr wrap="square" lIns="0" tIns="0" rIns="0" bIns="0" rtlCol="0"/>
          <a:lstStyle/>
          <a:p>
            <a:endParaRPr/>
          </a:p>
        </p:txBody>
      </p:sp>
      <p:sp>
        <p:nvSpPr>
          <p:cNvPr id="11" name="object 11"/>
          <p:cNvSpPr txBox="1"/>
          <p:nvPr/>
        </p:nvSpPr>
        <p:spPr>
          <a:xfrm>
            <a:off x="5674233" y="5841084"/>
            <a:ext cx="168275" cy="280035"/>
          </a:xfrm>
          <a:prstGeom prst="rect">
            <a:avLst/>
          </a:prstGeom>
        </p:spPr>
        <p:txBody>
          <a:bodyPr vert="horz" wrap="square" lIns="0" tIns="0" rIns="0" bIns="0" rtlCol="0">
            <a:spAutoFit/>
          </a:bodyPr>
          <a:lstStyle/>
          <a:p>
            <a:pPr marL="12700">
              <a:lnSpc>
                <a:spcPct val="100000"/>
              </a:lnSpc>
            </a:pPr>
            <a:r>
              <a:rPr sz="2000" spc="-295" dirty="0">
                <a:latin typeface="Cambria Math"/>
                <a:cs typeface="Cambria Math"/>
              </a:rPr>
              <a:t>�</a:t>
            </a:r>
            <a:endParaRPr sz="2000">
              <a:latin typeface="Cambria Math"/>
              <a:cs typeface="Cambria Math"/>
            </a:endParaRPr>
          </a:p>
        </p:txBody>
      </p:sp>
      <p:sp>
        <p:nvSpPr>
          <p:cNvPr id="12" name="object 12"/>
          <p:cNvSpPr txBox="1"/>
          <p:nvPr/>
        </p:nvSpPr>
        <p:spPr>
          <a:xfrm>
            <a:off x="5453253" y="6203796"/>
            <a:ext cx="613410" cy="280035"/>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spc="-295" dirty="0">
                <a:latin typeface="Cambria Math"/>
                <a:cs typeface="Cambria Math"/>
              </a:rPr>
              <a:t>�</a:t>
            </a:r>
            <a:endParaRPr sz="2000">
              <a:latin typeface="Cambria Math"/>
              <a:cs typeface="Cambria Math"/>
            </a:endParaRPr>
          </a:p>
        </p:txBody>
      </p:sp>
      <p:sp>
        <p:nvSpPr>
          <p:cNvPr id="15" name="object 15"/>
          <p:cNvSpPr/>
          <p:nvPr/>
        </p:nvSpPr>
        <p:spPr>
          <a:xfrm>
            <a:off x="4258055" y="5753100"/>
            <a:ext cx="1858010" cy="800100"/>
          </a:xfrm>
          <a:custGeom>
            <a:avLst/>
            <a:gdLst/>
            <a:ahLst/>
            <a:cxnLst/>
            <a:rect l="l" t="t" r="r" b="b"/>
            <a:pathLst>
              <a:path w="1858010" h="800100">
                <a:moveTo>
                  <a:pt x="0" y="800100"/>
                </a:moveTo>
                <a:lnTo>
                  <a:pt x="1857755" y="800100"/>
                </a:lnTo>
                <a:lnTo>
                  <a:pt x="1857755" y="0"/>
                </a:lnTo>
                <a:lnTo>
                  <a:pt x="0" y="0"/>
                </a:lnTo>
                <a:lnTo>
                  <a:pt x="0" y="800100"/>
                </a:lnTo>
                <a:close/>
              </a:path>
            </a:pathLst>
          </a:custGeom>
          <a:ln w="12192">
            <a:solidFill>
              <a:srgbClr val="FF0000"/>
            </a:solidFill>
          </a:ln>
        </p:spPr>
        <p:txBody>
          <a:bodyPr wrap="square" lIns="0" tIns="0" rIns="0" bIns="0" rtlCol="0"/>
          <a:lstStyle/>
          <a:p>
            <a:endParaRP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930" y="1716333"/>
            <a:ext cx="6858000" cy="51416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277620"/>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p:txBody>
      </p:sp>
      <p:sp>
        <p:nvSpPr>
          <p:cNvPr id="3" name="object 3"/>
          <p:cNvSpPr txBox="1"/>
          <p:nvPr/>
        </p:nvSpPr>
        <p:spPr>
          <a:xfrm>
            <a:off x="3651630" y="2300787"/>
            <a:ext cx="1833245" cy="478790"/>
          </a:xfrm>
          <a:prstGeom prst="rect">
            <a:avLst/>
          </a:prstGeom>
        </p:spPr>
        <p:txBody>
          <a:bodyPr vert="horz" wrap="square" lIns="0" tIns="0" rIns="0" bIns="0" rtlCol="0">
            <a:spAutoFit/>
          </a:bodyPr>
          <a:lstStyle/>
          <a:p>
            <a:pPr marL="1168400">
              <a:lnSpc>
                <a:spcPts val="1955"/>
              </a:lnSpc>
              <a:tabLst>
                <a:tab pos="1390015" algn="l"/>
                <a:tab pos="1819910" algn="l"/>
              </a:tabLst>
            </a:pPr>
            <a:r>
              <a:rPr sz="2000" u="heavy" dirty="0">
                <a:latin typeface="Times New Roman"/>
                <a:cs typeface="Times New Roman"/>
              </a:rPr>
              <a:t> 	</a:t>
            </a:r>
            <a:r>
              <a:rPr sz="2000" u="heavy" spc="-295" dirty="0">
                <a:latin typeface="Cambria Math"/>
                <a:cs typeface="Cambria Math"/>
              </a:rPr>
              <a:t>�</a:t>
            </a:r>
            <a:r>
              <a:rPr sz="2000" u="heavy" dirty="0">
                <a:latin typeface="Times New Roman"/>
                <a:cs typeface="Times New Roman"/>
              </a:rPr>
              <a:t> 	</a:t>
            </a:r>
            <a:endParaRPr sz="2000">
              <a:latin typeface="Times New Roman"/>
              <a:cs typeface="Times New Roman"/>
            </a:endParaRPr>
          </a:p>
          <a:p>
            <a:pPr marL="12700">
              <a:lnSpc>
                <a:spcPts val="1955"/>
              </a:lnSpc>
            </a:pPr>
            <a:r>
              <a:rPr sz="2000" spc="75" dirty="0">
                <a:latin typeface="Cambria Math"/>
                <a:cs typeface="Cambria Math"/>
              </a:rPr>
              <a:t>𝐗</a:t>
            </a:r>
            <a:r>
              <a:rPr sz="2175" spc="254" baseline="28735" dirty="0">
                <a:latin typeface="Cambria Math"/>
                <a:cs typeface="Cambria Math"/>
              </a:rPr>
              <a:t>T</a:t>
            </a:r>
            <a:r>
              <a:rPr sz="2000" dirty="0">
                <a:latin typeface="Cambria Math"/>
                <a:cs typeface="Cambria Math"/>
              </a:rPr>
              <a:t>𝛃</a:t>
            </a:r>
            <a:r>
              <a:rPr sz="2000" spc="110" dirty="0">
                <a:latin typeface="Cambria Math"/>
                <a:cs typeface="Cambria Math"/>
              </a:rPr>
              <a:t> </a:t>
            </a:r>
            <a:r>
              <a:rPr sz="2000" dirty="0">
                <a:latin typeface="Cambria Math"/>
                <a:cs typeface="Cambria Math"/>
              </a:rPr>
              <a:t>=</a:t>
            </a:r>
            <a:r>
              <a:rPr sz="2000" spc="114" dirty="0">
                <a:latin typeface="Cambria Math"/>
                <a:cs typeface="Cambria Math"/>
              </a:rPr>
              <a:t> </a:t>
            </a:r>
            <a:r>
              <a:rPr sz="2000" dirty="0">
                <a:latin typeface="Cambria Math"/>
                <a:cs typeface="Cambria Math"/>
              </a:rPr>
              <a:t>log</a:t>
            </a:r>
            <a:endParaRPr sz="2000">
              <a:latin typeface="Cambria Math"/>
              <a:cs typeface="Cambria Math"/>
            </a:endParaRPr>
          </a:p>
        </p:txBody>
      </p:sp>
      <p:sp>
        <p:nvSpPr>
          <p:cNvPr id="4" name="object 4"/>
          <p:cNvSpPr txBox="1"/>
          <p:nvPr/>
        </p:nvSpPr>
        <p:spPr>
          <a:xfrm>
            <a:off x="810259" y="2670038"/>
            <a:ext cx="5209540" cy="737870"/>
          </a:xfrm>
          <a:prstGeom prst="rect">
            <a:avLst/>
          </a:prstGeom>
        </p:spPr>
        <p:txBody>
          <a:bodyPr vert="horz" wrap="square" lIns="0" tIns="0" rIns="0" bIns="0" rtlCol="0">
            <a:spAutoFit/>
          </a:bodyPr>
          <a:lstStyle/>
          <a:p>
            <a:pPr marR="604520" algn="r">
              <a:lnSpc>
                <a:spcPct val="100000"/>
              </a:lnSpc>
            </a:pP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spc="-295" dirty="0">
                <a:latin typeface="Cambria Math"/>
                <a:cs typeface="Cambria Math"/>
              </a:rPr>
              <a:t>�</a:t>
            </a:r>
            <a:endParaRPr sz="2000">
              <a:latin typeface="Cambria Math"/>
              <a:cs typeface="Cambria Math"/>
            </a:endParaRPr>
          </a:p>
          <a:p>
            <a:pPr marL="12700">
              <a:lnSpc>
                <a:spcPct val="100000"/>
              </a:lnSpc>
              <a:spcBef>
                <a:spcPts val="120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spc="-295" dirty="0">
                <a:latin typeface="Cambria Math"/>
                <a:cs typeface="Cambria Math"/>
              </a:rPr>
              <a:t>�</a:t>
            </a:r>
            <a:r>
              <a:rPr sz="2000" spc="185" dirty="0">
                <a:latin typeface="Cambria Math"/>
                <a:cs typeface="Cambria Math"/>
              </a:rPr>
              <a:t> </a:t>
            </a:r>
            <a:r>
              <a:rPr sz="2000" dirty="0">
                <a:latin typeface="微软雅黑"/>
                <a:cs typeface="微软雅黑"/>
              </a:rPr>
              <a:t>是取值</a:t>
            </a:r>
            <a:r>
              <a:rPr sz="2000" spc="-5" dirty="0">
                <a:latin typeface="微软雅黑"/>
                <a:cs typeface="微软雅黑"/>
              </a:rPr>
              <a:t>为</a:t>
            </a:r>
            <a:r>
              <a:rPr sz="2000" dirty="0">
                <a:latin typeface="微软雅黑"/>
                <a:cs typeface="微软雅黑"/>
              </a:rPr>
              <a:t>1的概率，</a:t>
            </a: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spc="-295" dirty="0">
                <a:latin typeface="Cambria Math"/>
                <a:cs typeface="Cambria Math"/>
              </a:rPr>
              <a:t>�</a:t>
            </a:r>
            <a:r>
              <a:rPr sz="2000" spc="140" dirty="0">
                <a:latin typeface="Cambria Math"/>
                <a:cs typeface="Cambria Math"/>
              </a:rPr>
              <a:t> </a:t>
            </a:r>
            <a:r>
              <a:rPr sz="2000" dirty="0">
                <a:latin typeface="微软雅黑"/>
                <a:cs typeface="微软雅黑"/>
              </a:rPr>
              <a:t>是取值为0的概率</a:t>
            </a:r>
            <a:endParaRPr sz="2000">
              <a:latin typeface="微软雅黑"/>
              <a:cs typeface="微软雅黑"/>
            </a:endParaRPr>
          </a:p>
        </p:txBody>
      </p:sp>
      <p:sp>
        <p:nvSpPr>
          <p:cNvPr id="5" name="object 5"/>
          <p:cNvSpPr txBox="1"/>
          <p:nvPr/>
        </p:nvSpPr>
        <p:spPr>
          <a:xfrm>
            <a:off x="810259" y="3672961"/>
            <a:ext cx="7576820" cy="375285"/>
          </a:xfrm>
          <a:prstGeom prst="rect">
            <a:avLst/>
          </a:prstGeom>
        </p:spPr>
        <p:txBody>
          <a:bodyPr vert="horz" wrap="square" lIns="0" tIns="0" rIns="0" bIns="0" rtlCol="0">
            <a:spAutoFit/>
          </a:bodyPr>
          <a:lstStyle/>
          <a:p>
            <a:pPr marL="12700">
              <a:lnSpc>
                <a:spcPct val="100000"/>
              </a:lnSpc>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两者的比值</a:t>
            </a:r>
            <a:r>
              <a:rPr sz="2000" spc="-35" dirty="0">
                <a:latin typeface="微软雅黑"/>
                <a:cs typeface="微软雅黑"/>
              </a:rPr>
              <a:t> </a:t>
            </a:r>
            <a:r>
              <a:rPr sz="2175" u="heavy" baseline="45977" dirty="0">
                <a:latin typeface="Times New Roman"/>
                <a:cs typeface="Times New Roman"/>
              </a:rPr>
              <a:t>  </a:t>
            </a:r>
            <a:r>
              <a:rPr sz="2175" u="heavy" spc="-217" baseline="45977" dirty="0">
                <a:latin typeface="Times New Roman"/>
                <a:cs typeface="Times New Roman"/>
              </a:rPr>
              <a:t> </a:t>
            </a:r>
            <a:r>
              <a:rPr sz="2175" u="heavy" spc="-67" baseline="45977" dirty="0">
                <a:latin typeface="Cambria Math"/>
                <a:cs typeface="Cambria Math"/>
              </a:rPr>
              <a:t>�</a:t>
            </a:r>
            <a:r>
              <a:rPr sz="2175" u="heavy" baseline="45977" dirty="0">
                <a:latin typeface="Times New Roman"/>
                <a:cs typeface="Times New Roman"/>
              </a:rPr>
              <a:t>   </a:t>
            </a:r>
            <a:r>
              <a:rPr sz="2175" u="heavy" spc="-187" baseline="45977" dirty="0">
                <a:latin typeface="Times New Roman"/>
                <a:cs typeface="Times New Roman"/>
              </a:rPr>
              <a:t> </a:t>
            </a:r>
            <a:r>
              <a:rPr sz="2175" spc="-172" baseline="45977" dirty="0">
                <a:latin typeface="Times New Roman"/>
                <a:cs typeface="Times New Roman"/>
              </a:rPr>
              <a:t> </a:t>
            </a:r>
            <a:r>
              <a:rPr sz="2000" dirty="0">
                <a:latin typeface="微软雅黑"/>
                <a:cs typeface="微软雅黑"/>
              </a:rPr>
              <a:t>表示取值为1的</a:t>
            </a:r>
            <a:r>
              <a:rPr sz="2000" b="1" dirty="0">
                <a:latin typeface="微软雅黑"/>
                <a:cs typeface="微软雅黑"/>
              </a:rPr>
              <a:t>相对可能</a:t>
            </a:r>
            <a:r>
              <a:rPr sz="2000" b="1" spc="-10" dirty="0">
                <a:latin typeface="微软雅黑"/>
                <a:cs typeface="微软雅黑"/>
              </a:rPr>
              <a:t>性</a:t>
            </a:r>
            <a:r>
              <a:rPr sz="2000" spc="-15" dirty="0">
                <a:latin typeface="微软雅黑"/>
                <a:cs typeface="微软雅黑"/>
              </a:rPr>
              <a:t>，</a:t>
            </a:r>
            <a:r>
              <a:rPr sz="2000" dirty="0">
                <a:latin typeface="微软雅黑"/>
                <a:cs typeface="微软雅黑"/>
              </a:rPr>
              <a:t>即“</a:t>
            </a:r>
            <a:r>
              <a:rPr sz="2000" spc="-15" dirty="0">
                <a:latin typeface="微软雅黑"/>
                <a:cs typeface="微软雅黑"/>
              </a:rPr>
              <a:t>几</a:t>
            </a:r>
            <a:r>
              <a:rPr sz="2000" dirty="0">
                <a:latin typeface="微软雅黑"/>
                <a:cs typeface="微软雅黑"/>
              </a:rPr>
              <a:t>率”</a:t>
            </a:r>
            <a:r>
              <a:rPr sz="2000" spc="-10" dirty="0">
                <a:latin typeface="微软雅黑"/>
                <a:cs typeface="微软雅黑"/>
              </a:rPr>
              <a:t>（</a:t>
            </a:r>
            <a:r>
              <a:rPr sz="2000" dirty="0">
                <a:latin typeface="微软雅黑"/>
                <a:cs typeface="微软雅黑"/>
              </a:rPr>
              <a:t>od</a:t>
            </a:r>
            <a:r>
              <a:rPr sz="2000" spc="-15" dirty="0">
                <a:latin typeface="微软雅黑"/>
                <a:cs typeface="微软雅黑"/>
              </a:rPr>
              <a:t>d</a:t>
            </a:r>
            <a:r>
              <a:rPr sz="2000" spc="-5" dirty="0">
                <a:latin typeface="微软雅黑"/>
                <a:cs typeface="微软雅黑"/>
              </a:rPr>
              <a:t>s</a:t>
            </a:r>
            <a:r>
              <a:rPr sz="2000" dirty="0">
                <a:latin typeface="微软雅黑"/>
                <a:cs typeface="微软雅黑"/>
              </a:rPr>
              <a:t>）</a:t>
            </a:r>
            <a:endParaRPr sz="2000">
              <a:latin typeface="微软雅黑"/>
              <a:cs typeface="微软雅黑"/>
            </a:endParaRPr>
          </a:p>
        </p:txBody>
      </p:sp>
      <p:sp>
        <p:nvSpPr>
          <p:cNvPr id="6" name="object 6"/>
          <p:cNvSpPr txBox="1"/>
          <p:nvPr/>
        </p:nvSpPr>
        <p:spPr>
          <a:xfrm>
            <a:off x="2337561" y="3955279"/>
            <a:ext cx="387350" cy="211454"/>
          </a:xfrm>
          <a:prstGeom prst="rect">
            <a:avLst/>
          </a:prstGeom>
        </p:spPr>
        <p:txBody>
          <a:bodyPr vert="horz" wrap="square" lIns="0" tIns="0" rIns="0" bIns="0" rtlCol="0">
            <a:spAutoFit/>
          </a:bodyPr>
          <a:lstStyle/>
          <a:p>
            <a:pPr marL="12700">
              <a:lnSpc>
                <a:spcPct val="100000"/>
              </a:lnSpc>
            </a:pPr>
            <a:r>
              <a:rPr sz="1450" spc="40" dirty="0">
                <a:latin typeface="Cambria Math"/>
                <a:cs typeface="Cambria Math"/>
              </a:rPr>
              <a:t>1</a:t>
            </a:r>
            <a:r>
              <a:rPr sz="1450" spc="-20" dirty="0">
                <a:latin typeface="Cambria Math"/>
                <a:cs typeface="Cambria Math"/>
              </a:rPr>
              <a:t>−</a:t>
            </a:r>
            <a:r>
              <a:rPr sz="1450" spc="-45" dirty="0">
                <a:latin typeface="Cambria Math"/>
                <a:cs typeface="Cambria Math"/>
              </a:rPr>
              <a:t>�</a:t>
            </a:r>
            <a:endParaRPr sz="1450">
              <a:latin typeface="Cambria Math"/>
              <a:cs typeface="Cambria Math"/>
            </a:endParaRPr>
          </a:p>
        </p:txBody>
      </p:sp>
      <p:sp>
        <p:nvSpPr>
          <p:cNvPr id="7" name="object 7"/>
          <p:cNvSpPr txBox="1"/>
          <p:nvPr/>
        </p:nvSpPr>
        <p:spPr>
          <a:xfrm>
            <a:off x="810259" y="4391582"/>
            <a:ext cx="6107430" cy="280035"/>
          </a:xfrm>
          <a:prstGeom prst="rect">
            <a:avLst/>
          </a:prstGeom>
        </p:spPr>
        <p:txBody>
          <a:bodyPr vert="horz" wrap="square" lIns="0" tIns="0" rIns="0" bIns="0" rtlCol="0">
            <a:spAutoFit/>
          </a:bodyPr>
          <a:lstStyle/>
          <a:p>
            <a:pPr marL="12700">
              <a:lnSpc>
                <a:spcPct val="100000"/>
              </a:lnSpc>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对“几率”取对数，则</a:t>
            </a:r>
            <a:r>
              <a:rPr sz="2000" spc="-15" dirty="0">
                <a:latin typeface="微软雅黑"/>
                <a:cs typeface="微软雅黑"/>
              </a:rPr>
              <a:t>是</a:t>
            </a:r>
            <a:r>
              <a:rPr sz="2000" dirty="0">
                <a:latin typeface="微软雅黑"/>
                <a:cs typeface="微软雅黑"/>
              </a:rPr>
              <a:t>“对</a:t>
            </a:r>
            <a:r>
              <a:rPr sz="2000" spc="-15" dirty="0">
                <a:latin typeface="微软雅黑"/>
                <a:cs typeface="微软雅黑"/>
              </a:rPr>
              <a:t>数</a:t>
            </a:r>
            <a:r>
              <a:rPr sz="2000" dirty="0">
                <a:latin typeface="微软雅黑"/>
                <a:cs typeface="微软雅黑"/>
              </a:rPr>
              <a:t>几率</a:t>
            </a:r>
            <a:r>
              <a:rPr sz="2000" spc="-15" dirty="0">
                <a:latin typeface="微软雅黑"/>
                <a:cs typeface="微软雅黑"/>
              </a:rPr>
              <a:t>”</a:t>
            </a:r>
            <a:r>
              <a:rPr sz="2000" dirty="0">
                <a:latin typeface="微软雅黑"/>
                <a:cs typeface="微软雅黑"/>
              </a:rPr>
              <a:t>（</a:t>
            </a:r>
            <a:r>
              <a:rPr sz="2000" spc="-5" dirty="0">
                <a:latin typeface="微软雅黑"/>
                <a:cs typeface="微软雅黑"/>
              </a:rPr>
              <a:t>l</a:t>
            </a:r>
            <a:r>
              <a:rPr sz="2000" spc="-10" dirty="0">
                <a:latin typeface="微软雅黑"/>
                <a:cs typeface="微软雅黑"/>
              </a:rPr>
              <a:t>o</a:t>
            </a:r>
            <a:r>
              <a:rPr sz="2000" dirty="0">
                <a:latin typeface="微软雅黑"/>
                <a:cs typeface="微软雅黑"/>
              </a:rPr>
              <a:t>g</a:t>
            </a:r>
            <a:r>
              <a:rPr sz="2000" spc="-40" dirty="0">
                <a:latin typeface="微软雅黑"/>
                <a:cs typeface="微软雅黑"/>
              </a:rPr>
              <a:t> </a:t>
            </a:r>
            <a:r>
              <a:rPr sz="2000" dirty="0">
                <a:latin typeface="微软雅黑"/>
                <a:cs typeface="微软雅黑"/>
              </a:rPr>
              <a:t>odds）</a:t>
            </a:r>
            <a:endParaRPr sz="2000">
              <a:latin typeface="微软雅黑"/>
              <a:cs typeface="微软雅黑"/>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32628"/>
            <a:ext cx="8153400" cy="35505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277620"/>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a:latin typeface="微软雅黑"/>
              <a:cs typeface="微软雅黑"/>
            </a:endParaRPr>
          </a:p>
        </p:txBody>
      </p:sp>
      <p:sp>
        <p:nvSpPr>
          <p:cNvPr id="3" name="object 3"/>
          <p:cNvSpPr txBox="1"/>
          <p:nvPr/>
        </p:nvSpPr>
        <p:spPr>
          <a:xfrm>
            <a:off x="3651630" y="2300787"/>
            <a:ext cx="1833245" cy="478790"/>
          </a:xfrm>
          <a:prstGeom prst="rect">
            <a:avLst/>
          </a:prstGeom>
        </p:spPr>
        <p:txBody>
          <a:bodyPr vert="horz" wrap="square" lIns="0" tIns="0" rIns="0" bIns="0" rtlCol="0">
            <a:spAutoFit/>
          </a:bodyPr>
          <a:lstStyle/>
          <a:p>
            <a:pPr marL="1168400">
              <a:lnSpc>
                <a:spcPts val="1955"/>
              </a:lnSpc>
              <a:tabLst>
                <a:tab pos="1390015" algn="l"/>
                <a:tab pos="1819910" algn="l"/>
              </a:tabLst>
            </a:pPr>
            <a:r>
              <a:rPr sz="2000" u="heavy" dirty="0">
                <a:latin typeface="Times New Roman"/>
                <a:cs typeface="Times New Roman"/>
              </a:rPr>
              <a:t> 	</a:t>
            </a:r>
            <a:r>
              <a:rPr sz="2000" u="heavy" spc="-295" dirty="0">
                <a:latin typeface="Cambria Math"/>
                <a:cs typeface="Cambria Math"/>
              </a:rPr>
              <a:t>�</a:t>
            </a:r>
            <a:r>
              <a:rPr sz="2000" u="heavy" dirty="0">
                <a:latin typeface="Times New Roman"/>
                <a:cs typeface="Times New Roman"/>
              </a:rPr>
              <a:t> 	</a:t>
            </a:r>
            <a:endParaRPr sz="2000">
              <a:latin typeface="Times New Roman"/>
              <a:cs typeface="Times New Roman"/>
            </a:endParaRPr>
          </a:p>
          <a:p>
            <a:pPr marL="12700">
              <a:lnSpc>
                <a:spcPts val="1955"/>
              </a:lnSpc>
            </a:pPr>
            <a:r>
              <a:rPr sz="2000" spc="75" dirty="0">
                <a:latin typeface="Cambria Math"/>
                <a:cs typeface="Cambria Math"/>
              </a:rPr>
              <a:t>𝐗</a:t>
            </a:r>
            <a:r>
              <a:rPr sz="2175" spc="254" baseline="28735" dirty="0">
                <a:latin typeface="Cambria Math"/>
                <a:cs typeface="Cambria Math"/>
              </a:rPr>
              <a:t>T</a:t>
            </a:r>
            <a:r>
              <a:rPr sz="2000" dirty="0">
                <a:latin typeface="Cambria Math"/>
                <a:cs typeface="Cambria Math"/>
              </a:rPr>
              <a:t>𝛃</a:t>
            </a:r>
            <a:r>
              <a:rPr sz="2000" spc="110" dirty="0">
                <a:latin typeface="Cambria Math"/>
                <a:cs typeface="Cambria Math"/>
              </a:rPr>
              <a:t> </a:t>
            </a:r>
            <a:r>
              <a:rPr sz="2000" dirty="0">
                <a:latin typeface="Cambria Math"/>
                <a:cs typeface="Cambria Math"/>
              </a:rPr>
              <a:t>=</a:t>
            </a:r>
            <a:r>
              <a:rPr sz="2000" spc="114" dirty="0">
                <a:latin typeface="Cambria Math"/>
                <a:cs typeface="Cambria Math"/>
              </a:rPr>
              <a:t> </a:t>
            </a:r>
            <a:r>
              <a:rPr sz="2000" dirty="0">
                <a:latin typeface="Cambria Math"/>
                <a:cs typeface="Cambria Math"/>
              </a:rPr>
              <a:t>log</a:t>
            </a:r>
            <a:endParaRPr sz="2000">
              <a:latin typeface="Cambria Math"/>
              <a:cs typeface="Cambria Math"/>
            </a:endParaRPr>
          </a:p>
        </p:txBody>
      </p:sp>
      <p:sp>
        <p:nvSpPr>
          <p:cNvPr id="4" name="object 4"/>
          <p:cNvSpPr txBox="1"/>
          <p:nvPr/>
        </p:nvSpPr>
        <p:spPr>
          <a:xfrm>
            <a:off x="4808601" y="2670038"/>
            <a:ext cx="612140" cy="280670"/>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spc="-295" dirty="0">
                <a:latin typeface="Cambria Math"/>
                <a:cs typeface="Cambria Math"/>
              </a:rPr>
              <a:t>�</a:t>
            </a:r>
            <a:endParaRPr sz="2000">
              <a:latin typeface="Cambria Math"/>
              <a:cs typeface="Cambria Math"/>
            </a:endParaRPr>
          </a:p>
        </p:txBody>
      </p:sp>
      <p:sp>
        <p:nvSpPr>
          <p:cNvPr id="5" name="object 5"/>
          <p:cNvSpPr txBox="1"/>
          <p:nvPr/>
        </p:nvSpPr>
        <p:spPr>
          <a:xfrm>
            <a:off x="810259" y="3121709"/>
            <a:ext cx="2467610" cy="286385"/>
          </a:xfrm>
          <a:prstGeom prst="rect">
            <a:avLst/>
          </a:prstGeom>
        </p:spPr>
        <p:txBody>
          <a:bodyPr vert="horz" wrap="square" lIns="0" tIns="0" rIns="0" bIns="0" rtlCol="0">
            <a:spAutoFit/>
          </a:bodyPr>
          <a:lstStyle/>
          <a:p>
            <a:pPr marL="12700">
              <a:lnSpc>
                <a:spcPct val="100000"/>
              </a:lnSpc>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spc="-295" dirty="0">
                <a:latin typeface="Cambria Math"/>
                <a:cs typeface="Cambria Math"/>
              </a:rPr>
              <a:t>�</a:t>
            </a:r>
            <a:r>
              <a:rPr sz="2000" spc="185" dirty="0">
                <a:latin typeface="Cambria Math"/>
                <a:cs typeface="Cambria Math"/>
              </a:rPr>
              <a:t> </a:t>
            </a:r>
            <a:r>
              <a:rPr sz="2000" dirty="0">
                <a:latin typeface="微软雅黑"/>
                <a:cs typeface="微软雅黑"/>
              </a:rPr>
              <a:t>到底是什么形式？</a:t>
            </a:r>
            <a:endParaRPr sz="2000">
              <a:latin typeface="微软雅黑"/>
              <a:cs typeface="微软雅黑"/>
            </a:endParaRPr>
          </a:p>
        </p:txBody>
      </p:sp>
      <p:sp>
        <p:nvSpPr>
          <p:cNvPr id="6" name="object 6"/>
          <p:cNvSpPr/>
          <p:nvPr/>
        </p:nvSpPr>
        <p:spPr>
          <a:xfrm>
            <a:off x="3826764" y="4016502"/>
            <a:ext cx="591820" cy="0"/>
          </a:xfrm>
          <a:custGeom>
            <a:avLst/>
            <a:gdLst/>
            <a:ahLst/>
            <a:cxnLst/>
            <a:rect l="l" t="t" r="r" b="b"/>
            <a:pathLst>
              <a:path w="591820">
                <a:moveTo>
                  <a:pt x="0" y="0"/>
                </a:moveTo>
                <a:lnTo>
                  <a:pt x="591312" y="0"/>
                </a:lnTo>
              </a:path>
            </a:pathLst>
          </a:custGeom>
          <a:ln w="16763">
            <a:solidFill>
              <a:srgbClr val="000000"/>
            </a:solidFill>
          </a:ln>
        </p:spPr>
        <p:txBody>
          <a:bodyPr wrap="square" lIns="0" tIns="0" rIns="0" bIns="0" rtlCol="0"/>
          <a:lstStyle/>
          <a:p>
            <a:endParaRPr/>
          </a:p>
        </p:txBody>
      </p:sp>
      <p:sp>
        <p:nvSpPr>
          <p:cNvPr id="7" name="object 7"/>
          <p:cNvSpPr txBox="1"/>
          <p:nvPr/>
        </p:nvSpPr>
        <p:spPr>
          <a:xfrm>
            <a:off x="4035678" y="3687037"/>
            <a:ext cx="168275" cy="280035"/>
          </a:xfrm>
          <a:prstGeom prst="rect">
            <a:avLst/>
          </a:prstGeom>
        </p:spPr>
        <p:txBody>
          <a:bodyPr vert="horz" wrap="square" lIns="0" tIns="0" rIns="0" bIns="0" rtlCol="0">
            <a:spAutoFit/>
          </a:bodyPr>
          <a:lstStyle/>
          <a:p>
            <a:pPr marL="12700">
              <a:lnSpc>
                <a:spcPct val="100000"/>
              </a:lnSpc>
            </a:pPr>
            <a:r>
              <a:rPr sz="2000" spc="-295" dirty="0">
                <a:latin typeface="Cambria Math"/>
                <a:cs typeface="Cambria Math"/>
              </a:rPr>
              <a:t>�</a:t>
            </a:r>
            <a:endParaRPr sz="2000">
              <a:latin typeface="Cambria Math"/>
              <a:cs typeface="Cambria Math"/>
            </a:endParaRPr>
          </a:p>
        </p:txBody>
      </p:sp>
      <p:sp>
        <p:nvSpPr>
          <p:cNvPr id="8" name="object 8"/>
          <p:cNvSpPr txBox="1"/>
          <p:nvPr/>
        </p:nvSpPr>
        <p:spPr>
          <a:xfrm>
            <a:off x="3814698" y="4049512"/>
            <a:ext cx="613410" cy="280670"/>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1</a:t>
            </a:r>
            <a:r>
              <a:rPr sz="2000" spc="5" dirty="0">
                <a:latin typeface="Cambria Math"/>
                <a:cs typeface="Cambria Math"/>
              </a:rPr>
              <a:t> </a:t>
            </a:r>
            <a:r>
              <a:rPr sz="2000" dirty="0">
                <a:latin typeface="Cambria Math"/>
                <a:cs typeface="Cambria Math"/>
              </a:rPr>
              <a:t>−</a:t>
            </a:r>
            <a:r>
              <a:rPr sz="2000" spc="5" dirty="0">
                <a:latin typeface="Cambria Math"/>
                <a:cs typeface="Cambria Math"/>
              </a:rPr>
              <a:t> </a:t>
            </a:r>
            <a:r>
              <a:rPr sz="2000" spc="-295" dirty="0">
                <a:latin typeface="Cambria Math"/>
                <a:cs typeface="Cambria Math"/>
              </a:rPr>
              <a:t>�</a:t>
            </a:r>
            <a:endParaRPr sz="2000">
              <a:latin typeface="Cambria Math"/>
              <a:cs typeface="Cambria Math"/>
            </a:endParaRPr>
          </a:p>
        </p:txBody>
      </p:sp>
      <p:sp>
        <p:nvSpPr>
          <p:cNvPr id="9" name="object 9"/>
          <p:cNvSpPr txBox="1"/>
          <p:nvPr/>
        </p:nvSpPr>
        <p:spPr>
          <a:xfrm>
            <a:off x="4477639" y="3796962"/>
            <a:ext cx="775335" cy="362585"/>
          </a:xfrm>
          <a:prstGeom prst="rect">
            <a:avLst/>
          </a:prstGeom>
        </p:spPr>
        <p:txBody>
          <a:bodyPr vert="horz" wrap="square" lIns="0" tIns="0" rIns="0" bIns="0" rtlCol="0">
            <a:spAutoFit/>
          </a:bodyPr>
          <a:lstStyle/>
          <a:p>
            <a:pPr marL="12700">
              <a:lnSpc>
                <a:spcPct val="100000"/>
              </a:lnSpc>
            </a:pPr>
            <a:r>
              <a:rPr sz="3000" baseline="-20833" dirty="0">
                <a:latin typeface="Cambria Math"/>
                <a:cs typeface="Cambria Math"/>
              </a:rPr>
              <a:t>=</a:t>
            </a:r>
            <a:r>
              <a:rPr sz="3000" spc="172" baseline="-20833" dirty="0">
                <a:latin typeface="Cambria Math"/>
                <a:cs typeface="Cambria Math"/>
              </a:rPr>
              <a:t> </a:t>
            </a:r>
            <a:r>
              <a:rPr sz="3000" spc="165" baseline="-20833" dirty="0">
                <a:latin typeface="Cambria Math"/>
                <a:cs typeface="Cambria Math"/>
              </a:rPr>
              <a:t>𝑒</a:t>
            </a:r>
            <a:r>
              <a:rPr sz="1450" spc="60" dirty="0">
                <a:latin typeface="Cambria Math"/>
                <a:cs typeface="Cambria Math"/>
              </a:rPr>
              <a:t>𝐗</a:t>
            </a:r>
            <a:r>
              <a:rPr sz="1800" spc="262" baseline="25462" dirty="0">
                <a:latin typeface="Cambria Math"/>
                <a:cs typeface="Cambria Math"/>
              </a:rPr>
              <a:t>T</a:t>
            </a:r>
            <a:r>
              <a:rPr sz="1450" spc="10" dirty="0">
                <a:latin typeface="Cambria Math"/>
                <a:cs typeface="Cambria Math"/>
              </a:rPr>
              <a:t>𝛃</a:t>
            </a:r>
            <a:endParaRPr sz="1450">
              <a:latin typeface="Cambria Math"/>
              <a:cs typeface="Cambria Math"/>
            </a:endParaRPr>
          </a:p>
        </p:txBody>
      </p:sp>
      <p:sp>
        <p:nvSpPr>
          <p:cNvPr id="10" name="object 10"/>
          <p:cNvSpPr txBox="1"/>
          <p:nvPr/>
        </p:nvSpPr>
        <p:spPr>
          <a:xfrm>
            <a:off x="3747642" y="4732882"/>
            <a:ext cx="433705" cy="280035"/>
          </a:xfrm>
          <a:prstGeom prst="rect">
            <a:avLst/>
          </a:prstGeom>
        </p:spPr>
        <p:txBody>
          <a:bodyPr vert="horz" wrap="square" lIns="0" tIns="0" rIns="0" bIns="0" rtlCol="0">
            <a:spAutoFit/>
          </a:bodyPr>
          <a:lstStyle/>
          <a:p>
            <a:pPr marL="12700">
              <a:lnSpc>
                <a:spcPct val="100000"/>
              </a:lnSpc>
            </a:pPr>
            <a:r>
              <a:rPr sz="2000" spc="-295" dirty="0">
                <a:latin typeface="Cambria Math"/>
                <a:cs typeface="Cambria Math"/>
              </a:rPr>
              <a:t>�</a:t>
            </a:r>
            <a:r>
              <a:rPr sz="2000" spc="150" dirty="0">
                <a:latin typeface="Cambria Math"/>
                <a:cs typeface="Cambria Math"/>
              </a:rPr>
              <a:t> </a:t>
            </a:r>
            <a:r>
              <a:rPr sz="2000" dirty="0">
                <a:latin typeface="Cambria Math"/>
                <a:cs typeface="Cambria Math"/>
              </a:rPr>
              <a:t>=</a:t>
            </a:r>
            <a:endParaRPr sz="2000">
              <a:latin typeface="Cambria Math"/>
              <a:cs typeface="Cambria Math"/>
            </a:endParaRPr>
          </a:p>
        </p:txBody>
      </p:sp>
      <p:sp>
        <p:nvSpPr>
          <p:cNvPr id="11" name="object 11"/>
          <p:cNvSpPr/>
          <p:nvPr/>
        </p:nvSpPr>
        <p:spPr>
          <a:xfrm>
            <a:off x="4238244" y="4869941"/>
            <a:ext cx="1076325" cy="0"/>
          </a:xfrm>
          <a:custGeom>
            <a:avLst/>
            <a:gdLst/>
            <a:ahLst/>
            <a:cxnLst/>
            <a:rect l="l" t="t" r="r" b="b"/>
            <a:pathLst>
              <a:path w="1076325">
                <a:moveTo>
                  <a:pt x="0" y="0"/>
                </a:moveTo>
                <a:lnTo>
                  <a:pt x="1075944" y="0"/>
                </a:lnTo>
              </a:path>
            </a:pathLst>
          </a:custGeom>
          <a:ln w="16763">
            <a:solidFill>
              <a:srgbClr val="000000"/>
            </a:solidFill>
          </a:ln>
        </p:spPr>
        <p:txBody>
          <a:bodyPr wrap="square" lIns="0" tIns="0" rIns="0" bIns="0" rtlCol="0"/>
          <a:lstStyle/>
          <a:p>
            <a:endParaRPr/>
          </a:p>
        </p:txBody>
      </p:sp>
      <p:sp>
        <p:nvSpPr>
          <p:cNvPr id="12" name="object 12"/>
          <p:cNvSpPr txBox="1"/>
          <p:nvPr/>
        </p:nvSpPr>
        <p:spPr>
          <a:xfrm>
            <a:off x="4692777" y="4540858"/>
            <a:ext cx="167005" cy="280035"/>
          </a:xfrm>
          <a:prstGeom prst="rect">
            <a:avLst/>
          </a:prstGeom>
        </p:spPr>
        <p:txBody>
          <a:bodyPr vert="horz" wrap="square" lIns="0" tIns="0" rIns="0" bIns="0" rtlCol="0">
            <a:spAutoFit/>
          </a:bodyPr>
          <a:lstStyle/>
          <a:p>
            <a:pPr marL="12700">
              <a:lnSpc>
                <a:spcPct val="100000"/>
              </a:lnSpc>
            </a:pPr>
            <a:r>
              <a:rPr sz="2000" dirty="0">
                <a:latin typeface="Cambria Math"/>
                <a:cs typeface="Cambria Math"/>
              </a:rPr>
              <a:t>1</a:t>
            </a:r>
            <a:endParaRPr sz="2000">
              <a:latin typeface="Cambria Math"/>
              <a:cs typeface="Cambria Math"/>
            </a:endParaRPr>
          </a:p>
        </p:txBody>
      </p:sp>
      <p:sp>
        <p:nvSpPr>
          <p:cNvPr id="13" name="object 13"/>
          <p:cNvSpPr txBox="1"/>
          <p:nvPr/>
        </p:nvSpPr>
        <p:spPr>
          <a:xfrm>
            <a:off x="4226178" y="4880907"/>
            <a:ext cx="1093470" cy="333375"/>
          </a:xfrm>
          <a:prstGeom prst="rect">
            <a:avLst/>
          </a:prstGeom>
        </p:spPr>
        <p:txBody>
          <a:bodyPr vert="horz" wrap="square" lIns="0" tIns="0" rIns="0" bIns="0" rtlCol="0">
            <a:spAutoFit/>
          </a:bodyPr>
          <a:lstStyle/>
          <a:p>
            <a:pPr marL="12700">
              <a:lnSpc>
                <a:spcPct val="100000"/>
              </a:lnSpc>
            </a:pPr>
            <a:r>
              <a:rPr sz="3000" baseline="-16666" dirty="0">
                <a:latin typeface="Cambria Math"/>
                <a:cs typeface="Cambria Math"/>
              </a:rPr>
              <a:t>1</a:t>
            </a:r>
            <a:r>
              <a:rPr sz="3000" spc="7" baseline="-16666" dirty="0">
                <a:latin typeface="Cambria Math"/>
                <a:cs typeface="Cambria Math"/>
              </a:rPr>
              <a:t> </a:t>
            </a:r>
            <a:r>
              <a:rPr sz="3000" baseline="-16666" dirty="0">
                <a:latin typeface="Cambria Math"/>
                <a:cs typeface="Cambria Math"/>
              </a:rPr>
              <a:t>+</a:t>
            </a:r>
            <a:r>
              <a:rPr sz="3000" spc="7" baseline="-16666" dirty="0">
                <a:latin typeface="Cambria Math"/>
                <a:cs typeface="Cambria Math"/>
              </a:rPr>
              <a:t> </a:t>
            </a:r>
            <a:r>
              <a:rPr sz="3000" spc="165" baseline="-16666" dirty="0">
                <a:latin typeface="Cambria Math"/>
                <a:cs typeface="Cambria Math"/>
              </a:rPr>
              <a:t>𝑒</a:t>
            </a:r>
            <a:r>
              <a:rPr sz="1450" spc="-20" dirty="0">
                <a:latin typeface="Cambria Math"/>
                <a:cs typeface="Cambria Math"/>
              </a:rPr>
              <a:t>−</a:t>
            </a:r>
            <a:r>
              <a:rPr sz="1450" spc="60" dirty="0">
                <a:latin typeface="Cambria Math"/>
                <a:cs typeface="Cambria Math"/>
              </a:rPr>
              <a:t>𝐗</a:t>
            </a:r>
            <a:r>
              <a:rPr sz="1800" spc="232" baseline="20833" dirty="0">
                <a:latin typeface="Cambria Math"/>
                <a:cs typeface="Cambria Math"/>
              </a:rPr>
              <a:t>T</a:t>
            </a:r>
            <a:r>
              <a:rPr sz="1450" spc="10" dirty="0">
                <a:latin typeface="Cambria Math"/>
                <a:cs typeface="Cambria Math"/>
              </a:rPr>
              <a:t>𝛃</a:t>
            </a:r>
            <a:endParaRPr sz="1450">
              <a:latin typeface="Cambria Math"/>
              <a:cs typeface="Cambria Math"/>
            </a:endParaRP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054" y="1524000"/>
            <a:ext cx="6618755" cy="39100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1760220"/>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dirty="0">
              <a:latin typeface="微软雅黑"/>
              <a:cs typeface="微软雅黑"/>
            </a:endParaRPr>
          </a:p>
          <a:p>
            <a:pPr marL="12700">
              <a:lnSpc>
                <a:spcPct val="100000"/>
              </a:lnSpc>
              <a:spcBef>
                <a:spcPts val="2510"/>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dirty="0">
              <a:latin typeface="微软雅黑"/>
              <a:cs typeface="微软雅黑"/>
            </a:endParaRPr>
          </a:p>
          <a:p>
            <a:pPr marL="286385">
              <a:lnSpc>
                <a:spcPct val="100000"/>
              </a:lnSpc>
              <a:spcBef>
                <a:spcPts val="134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考虑定义</a:t>
            </a:r>
            <a:r>
              <a:rPr sz="2000" spc="-65" dirty="0">
                <a:latin typeface="微软雅黑"/>
                <a:cs typeface="微软雅黑"/>
              </a:rPr>
              <a:t> </a:t>
            </a:r>
            <a:r>
              <a:rPr sz="2000" spc="75" dirty="0">
                <a:latin typeface="Cambria Math"/>
                <a:cs typeface="Cambria Math"/>
              </a:rPr>
              <a:t>𝐗</a:t>
            </a:r>
            <a:r>
              <a:rPr sz="2175" spc="254" baseline="28735" dirty="0">
                <a:latin typeface="Cambria Math"/>
                <a:cs typeface="Cambria Math"/>
              </a:rPr>
              <a:t>T</a:t>
            </a:r>
            <a:r>
              <a:rPr sz="2000" dirty="0">
                <a:latin typeface="Cambria Math"/>
                <a:cs typeface="Cambria Math"/>
              </a:rPr>
              <a:t>𝛃</a:t>
            </a:r>
            <a:r>
              <a:rPr sz="2000" spc="110" dirty="0">
                <a:latin typeface="Cambria Math"/>
                <a:cs typeface="Cambria Math"/>
              </a:rPr>
              <a:t> </a:t>
            </a:r>
            <a:r>
              <a:rPr sz="2000" dirty="0">
                <a:latin typeface="Cambria Math"/>
                <a:cs typeface="Cambria Math"/>
              </a:rPr>
              <a:t>=</a:t>
            </a:r>
            <a:r>
              <a:rPr sz="2000" spc="114" dirty="0">
                <a:latin typeface="Cambria Math"/>
                <a:cs typeface="Cambria Math"/>
              </a:rPr>
              <a:t> </a:t>
            </a:r>
            <a:r>
              <a:rPr sz="2000" spc="-405" dirty="0">
                <a:latin typeface="Cambria Math"/>
                <a:cs typeface="Cambria Math"/>
              </a:rPr>
              <a:t>�</a:t>
            </a:r>
            <a:endParaRPr sz="2000" dirty="0">
              <a:latin typeface="Cambria Math"/>
              <a:cs typeface="Cambria Math"/>
            </a:endParaRPr>
          </a:p>
        </p:txBody>
      </p:sp>
      <p:sp>
        <p:nvSpPr>
          <p:cNvPr id="4" name="object 4"/>
          <p:cNvSpPr txBox="1"/>
          <p:nvPr/>
        </p:nvSpPr>
        <p:spPr>
          <a:xfrm>
            <a:off x="1795017" y="3089826"/>
            <a:ext cx="798830" cy="287655"/>
          </a:xfrm>
          <a:prstGeom prst="rect">
            <a:avLst/>
          </a:prstGeom>
        </p:spPr>
        <p:txBody>
          <a:bodyPr vert="horz" wrap="square" lIns="0" tIns="0" rIns="0" bIns="0" rtlCol="0">
            <a:spAutoFit/>
          </a:bodyPr>
          <a:lstStyle/>
          <a:p>
            <a:pPr marL="12700">
              <a:lnSpc>
                <a:spcPct val="100000"/>
              </a:lnSpc>
            </a:pPr>
            <a:r>
              <a:rPr sz="2175" spc="60" baseline="-17241" dirty="0">
                <a:latin typeface="Cambria Math"/>
                <a:cs typeface="Cambria Math"/>
              </a:rPr>
              <a:t>1</a:t>
            </a:r>
            <a:r>
              <a:rPr sz="2175" spc="-30" baseline="-17241" dirty="0">
                <a:latin typeface="Cambria Math"/>
                <a:cs typeface="Cambria Math"/>
              </a:rPr>
              <a:t>+</a:t>
            </a:r>
            <a:r>
              <a:rPr sz="2175" spc="337" baseline="-17241" dirty="0">
                <a:latin typeface="Cambria Math"/>
                <a:cs typeface="Cambria Math"/>
              </a:rPr>
              <a:t>𝑒</a:t>
            </a:r>
            <a:r>
              <a:rPr sz="1200" dirty="0">
                <a:latin typeface="Cambria Math"/>
                <a:cs typeface="Cambria Math"/>
              </a:rPr>
              <a:t>−</a:t>
            </a:r>
            <a:r>
              <a:rPr sz="1200" spc="45" dirty="0">
                <a:latin typeface="Cambria Math"/>
                <a:cs typeface="Cambria Math"/>
              </a:rPr>
              <a:t>𝐗</a:t>
            </a:r>
            <a:r>
              <a:rPr sz="1800" spc="225" baseline="16203" dirty="0">
                <a:latin typeface="Cambria Math"/>
                <a:cs typeface="Cambria Math"/>
              </a:rPr>
              <a:t>T</a:t>
            </a:r>
            <a:r>
              <a:rPr sz="1200" dirty="0">
                <a:latin typeface="Cambria Math"/>
                <a:cs typeface="Cambria Math"/>
              </a:rPr>
              <a:t>𝛃</a:t>
            </a:r>
            <a:endParaRPr sz="1200">
              <a:latin typeface="Cambria Math"/>
              <a:cs typeface="Cambria Math"/>
            </a:endParaRPr>
          </a:p>
        </p:txBody>
      </p:sp>
      <p:sp>
        <p:nvSpPr>
          <p:cNvPr id="5" name="object 5"/>
          <p:cNvSpPr txBox="1"/>
          <p:nvPr/>
        </p:nvSpPr>
        <p:spPr>
          <a:xfrm>
            <a:off x="2907919" y="3108114"/>
            <a:ext cx="596265" cy="241935"/>
          </a:xfrm>
          <a:prstGeom prst="rect">
            <a:avLst/>
          </a:prstGeom>
        </p:spPr>
        <p:txBody>
          <a:bodyPr vert="horz" wrap="square" lIns="0" tIns="0" rIns="0" bIns="0" rtlCol="0">
            <a:spAutoFit/>
          </a:bodyPr>
          <a:lstStyle/>
          <a:p>
            <a:pPr marL="12700">
              <a:lnSpc>
                <a:spcPct val="100000"/>
              </a:lnSpc>
            </a:pPr>
            <a:r>
              <a:rPr sz="1450" spc="40" dirty="0">
                <a:latin typeface="Cambria Math"/>
                <a:cs typeface="Cambria Math"/>
              </a:rPr>
              <a:t>1</a:t>
            </a:r>
            <a:r>
              <a:rPr sz="1450" spc="-20" dirty="0">
                <a:latin typeface="Cambria Math"/>
                <a:cs typeface="Cambria Math"/>
              </a:rPr>
              <a:t>+</a:t>
            </a:r>
            <a:r>
              <a:rPr sz="1450" spc="225" dirty="0">
                <a:latin typeface="Cambria Math"/>
                <a:cs typeface="Cambria Math"/>
              </a:rPr>
              <a:t>𝑒</a:t>
            </a:r>
            <a:r>
              <a:rPr sz="1800" baseline="20833" dirty="0">
                <a:latin typeface="Cambria Math"/>
                <a:cs typeface="Cambria Math"/>
              </a:rPr>
              <a:t>−</a:t>
            </a:r>
            <a:r>
              <a:rPr sz="1800" spc="472" baseline="20833" dirty="0">
                <a:latin typeface="Cambria Math"/>
                <a:cs typeface="Cambria Math"/>
              </a:rPr>
              <a:t>𝜂</a:t>
            </a:r>
            <a:endParaRPr sz="1800" baseline="20833">
              <a:latin typeface="Cambria Math"/>
              <a:cs typeface="Cambria Math"/>
            </a:endParaRPr>
          </a:p>
        </p:txBody>
      </p:sp>
      <p:pic>
        <p:nvPicPr>
          <p:cNvPr id="22" name="图片 21"/>
          <p:cNvPicPr>
            <a:picLocks noChangeAspect="1"/>
          </p:cNvPicPr>
          <p:nvPr/>
        </p:nvPicPr>
        <p:blipFill rotWithShape="1">
          <a:blip r:embed="rId2">
            <a:extLst>
              <a:ext uri="{28A0092B-C50C-407E-A947-70E740481C1C}">
                <a14:useLocalDpi xmlns:a14="http://schemas.microsoft.com/office/drawing/2010/main" val="0"/>
              </a:ext>
            </a:extLst>
          </a:blip>
          <a:srcRect r="1687"/>
          <a:stretch/>
        </p:blipFill>
        <p:spPr>
          <a:xfrm>
            <a:off x="457200" y="1702786"/>
            <a:ext cx="7620000" cy="45854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4333240" cy="470725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dirty="0">
              <a:latin typeface="微软雅黑"/>
              <a:cs typeface="微软雅黑"/>
            </a:endParaRPr>
          </a:p>
          <a:p>
            <a:pPr marL="12700">
              <a:lnSpc>
                <a:spcPct val="100000"/>
              </a:lnSpc>
              <a:spcBef>
                <a:spcPts val="2510"/>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广义线性模型</a:t>
            </a:r>
            <a:endParaRPr sz="2800" dirty="0">
              <a:latin typeface="微软雅黑"/>
              <a:cs typeface="微软雅黑"/>
            </a:endParaRPr>
          </a:p>
          <a:p>
            <a:pPr marL="286385">
              <a:lnSpc>
                <a:spcPct val="100000"/>
              </a:lnSpc>
              <a:spcBef>
                <a:spcPts val="128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对比单位阶跃函数</a:t>
            </a:r>
            <a:r>
              <a:rPr sz="2000" spc="-40" dirty="0">
                <a:latin typeface="微软雅黑"/>
                <a:cs typeface="微软雅黑"/>
              </a:rPr>
              <a:t> </a:t>
            </a:r>
            <a:r>
              <a:rPr sz="2000" dirty="0">
                <a:latin typeface="微软雅黑"/>
                <a:cs typeface="微软雅黑"/>
              </a:rPr>
              <a:t>（</a:t>
            </a:r>
            <a:r>
              <a:rPr sz="2000" spc="-5" dirty="0">
                <a:latin typeface="微软雅黑"/>
                <a:cs typeface="微软雅黑"/>
              </a:rPr>
              <a:t>unit</a:t>
            </a:r>
            <a:endParaRPr sz="2000" dirty="0">
              <a:latin typeface="微软雅黑"/>
              <a:cs typeface="微软雅黑"/>
            </a:endParaRPr>
          </a:p>
          <a:p>
            <a:pPr marL="469900">
              <a:lnSpc>
                <a:spcPct val="100000"/>
              </a:lnSpc>
              <a:spcBef>
                <a:spcPts val="1200"/>
              </a:spcBef>
            </a:pPr>
            <a:r>
              <a:rPr sz="2000" dirty="0">
                <a:latin typeface="微软雅黑"/>
                <a:cs typeface="微软雅黑"/>
              </a:rPr>
              <a:t>s</a:t>
            </a:r>
            <a:r>
              <a:rPr sz="2000" spc="-25" dirty="0">
                <a:latin typeface="微软雅黑"/>
                <a:cs typeface="微软雅黑"/>
              </a:rPr>
              <a:t>t</a:t>
            </a:r>
            <a:r>
              <a:rPr sz="2000" spc="-5" dirty="0">
                <a:latin typeface="微软雅黑"/>
                <a:cs typeface="微软雅黑"/>
              </a:rPr>
              <a:t>e</a:t>
            </a:r>
            <a:r>
              <a:rPr sz="2000" dirty="0">
                <a:latin typeface="微软雅黑"/>
                <a:cs typeface="微软雅黑"/>
              </a:rPr>
              <a:t>p</a:t>
            </a:r>
            <a:r>
              <a:rPr sz="2000" spc="-15" dirty="0">
                <a:latin typeface="微软雅黑"/>
                <a:cs typeface="微软雅黑"/>
              </a:rPr>
              <a:t> </a:t>
            </a:r>
            <a:r>
              <a:rPr sz="2000" dirty="0">
                <a:latin typeface="微软雅黑"/>
                <a:cs typeface="微软雅黑"/>
              </a:rPr>
              <a:t>funct</a:t>
            </a:r>
            <a:r>
              <a:rPr sz="2000" spc="-15" dirty="0">
                <a:latin typeface="微软雅黑"/>
                <a:cs typeface="微软雅黑"/>
              </a:rPr>
              <a:t>i</a:t>
            </a:r>
            <a:r>
              <a:rPr sz="2000" dirty="0">
                <a:latin typeface="微软雅黑"/>
                <a:cs typeface="微软雅黑"/>
              </a:rPr>
              <a:t>o</a:t>
            </a:r>
            <a:r>
              <a:rPr sz="2000" spc="-5" dirty="0">
                <a:latin typeface="微软雅黑"/>
                <a:cs typeface="微软雅黑"/>
              </a:rPr>
              <a:t>n</a:t>
            </a:r>
            <a:r>
              <a:rPr sz="2000" spc="5" dirty="0">
                <a:latin typeface="微软雅黑"/>
                <a:cs typeface="微软雅黑"/>
              </a:rPr>
              <a:t>）</a:t>
            </a:r>
            <a:endParaRPr sz="2000" dirty="0">
              <a:latin typeface="微软雅黑"/>
              <a:cs typeface="微软雅黑"/>
            </a:endParaRPr>
          </a:p>
          <a:p>
            <a:pPr marR="1875789" algn="ctr">
              <a:lnSpc>
                <a:spcPct val="100000"/>
              </a:lnSpc>
              <a:spcBef>
                <a:spcPts val="1570"/>
              </a:spcBef>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dirty="0">
                <a:latin typeface="微软雅黑"/>
                <a:cs typeface="微软雅黑"/>
              </a:rPr>
              <a:t>不连续可微</a:t>
            </a:r>
          </a:p>
          <a:p>
            <a:pPr marL="561340">
              <a:lnSpc>
                <a:spcPct val="100000"/>
              </a:lnSpc>
              <a:spcBef>
                <a:spcPts val="1510"/>
              </a:spcBef>
            </a:pPr>
            <a:r>
              <a:rPr sz="1600" spc="-640" dirty="0">
                <a:solidFill>
                  <a:srgbClr val="4F81BC"/>
                </a:solidFill>
                <a:latin typeface="Segoe UI Symbol"/>
                <a:cs typeface="Segoe UI Symbol"/>
              </a:rPr>
              <a:t>▪ </a:t>
            </a:r>
            <a:r>
              <a:rPr sz="1600" spc="-180" dirty="0">
                <a:solidFill>
                  <a:srgbClr val="4F81BC"/>
                </a:solidFill>
                <a:latin typeface="Segoe UI Symbol"/>
                <a:cs typeface="Segoe UI Symbol"/>
              </a:rPr>
              <a:t> </a:t>
            </a:r>
            <a:r>
              <a:rPr sz="1800" dirty="0">
                <a:latin typeface="微软雅黑"/>
                <a:cs typeface="微软雅黑"/>
              </a:rPr>
              <a:t>未能给分类结果一个“置</a:t>
            </a:r>
          </a:p>
          <a:p>
            <a:pPr marR="1921510" algn="ctr">
              <a:lnSpc>
                <a:spcPct val="100000"/>
              </a:lnSpc>
              <a:spcBef>
                <a:spcPts val="1080"/>
              </a:spcBef>
            </a:pPr>
            <a:r>
              <a:rPr sz="1800" spc="-5" dirty="0">
                <a:latin typeface="微软雅黑"/>
                <a:cs typeface="微软雅黑"/>
              </a:rPr>
              <a:t>信程度”</a:t>
            </a:r>
            <a:endParaRPr sz="1800" dirty="0">
              <a:latin typeface="微软雅黑"/>
              <a:cs typeface="微软雅黑"/>
            </a:endParaRPr>
          </a:p>
          <a:p>
            <a:pPr marL="1018540" marR="896619" indent="-182880">
              <a:lnSpc>
                <a:spcPct val="150000"/>
              </a:lnSpc>
              <a:spcBef>
                <a:spcPts val="430"/>
              </a:spcBef>
            </a:pPr>
            <a:r>
              <a:rPr sz="1450" spc="-590" dirty="0">
                <a:solidFill>
                  <a:srgbClr val="4F81BC"/>
                </a:solidFill>
                <a:latin typeface="Segoe UI Symbol"/>
                <a:cs typeface="Segoe UI Symbol"/>
              </a:rPr>
              <a:t>▪ </a:t>
            </a:r>
            <a:r>
              <a:rPr sz="1450" spc="-15" dirty="0">
                <a:solidFill>
                  <a:srgbClr val="4F81BC"/>
                </a:solidFill>
                <a:latin typeface="Segoe UI Symbol"/>
                <a:cs typeface="Segoe UI Symbol"/>
              </a:rPr>
              <a:t> </a:t>
            </a:r>
            <a:r>
              <a:rPr sz="1600" spc="-330" dirty="0">
                <a:latin typeface="Cambria Math"/>
                <a:cs typeface="Cambria Math"/>
              </a:rPr>
              <a:t>�</a:t>
            </a:r>
            <a:r>
              <a:rPr sz="1600" spc="140" dirty="0">
                <a:latin typeface="Cambria Math"/>
                <a:cs typeface="Cambria Math"/>
              </a:rPr>
              <a:t> </a:t>
            </a:r>
            <a:r>
              <a:rPr sz="1600" spc="-5" dirty="0">
                <a:latin typeface="Cambria Math"/>
                <a:cs typeface="Cambria Math"/>
              </a:rPr>
              <a:t>=</a:t>
            </a:r>
            <a:r>
              <a:rPr sz="1600" spc="95" dirty="0">
                <a:latin typeface="Cambria Math"/>
                <a:cs typeface="Cambria Math"/>
              </a:rPr>
              <a:t> </a:t>
            </a:r>
            <a:r>
              <a:rPr sz="1600" spc="-5" dirty="0">
                <a:latin typeface="Cambria Math"/>
                <a:cs typeface="Cambria Math"/>
              </a:rPr>
              <a:t>2</a:t>
            </a:r>
            <a:r>
              <a:rPr sz="1600" spc="130" dirty="0">
                <a:latin typeface="Cambria Math"/>
                <a:cs typeface="Cambria Math"/>
              </a:rPr>
              <a:t> </a:t>
            </a:r>
            <a:r>
              <a:rPr sz="1600" spc="-5" dirty="0">
                <a:latin typeface="微软雅黑"/>
                <a:cs typeface="微软雅黑"/>
              </a:rPr>
              <a:t>和</a:t>
            </a:r>
            <a:r>
              <a:rPr sz="1600" spc="-10" dirty="0">
                <a:latin typeface="微软雅黑"/>
                <a:cs typeface="微软雅黑"/>
              </a:rPr>
              <a:t> </a:t>
            </a:r>
            <a:r>
              <a:rPr sz="1600" spc="-330" dirty="0">
                <a:latin typeface="Cambria Math"/>
                <a:cs typeface="Cambria Math"/>
              </a:rPr>
              <a:t>�</a:t>
            </a:r>
            <a:r>
              <a:rPr sz="1600" spc="130" dirty="0">
                <a:latin typeface="Cambria Math"/>
                <a:cs typeface="Cambria Math"/>
              </a:rPr>
              <a:t> </a:t>
            </a:r>
            <a:r>
              <a:rPr sz="1600" spc="-5" dirty="0">
                <a:latin typeface="Cambria Math"/>
                <a:cs typeface="Cambria Math"/>
              </a:rPr>
              <a:t>=</a:t>
            </a:r>
            <a:r>
              <a:rPr sz="1600" spc="100" dirty="0">
                <a:latin typeface="Cambria Math"/>
                <a:cs typeface="Cambria Math"/>
              </a:rPr>
              <a:t> </a:t>
            </a:r>
            <a:r>
              <a:rPr sz="1600" spc="-5" dirty="0">
                <a:latin typeface="Cambria Math"/>
                <a:cs typeface="Cambria Math"/>
              </a:rPr>
              <a:t>4</a:t>
            </a:r>
            <a:r>
              <a:rPr sz="1600" spc="140" dirty="0">
                <a:latin typeface="Cambria Math"/>
                <a:cs typeface="Cambria Math"/>
              </a:rPr>
              <a:t> </a:t>
            </a:r>
            <a:r>
              <a:rPr sz="1600" spc="-5" dirty="0">
                <a:latin typeface="微软雅黑"/>
                <a:cs typeface="微软雅黑"/>
              </a:rPr>
              <a:t>取值为1的 概率均为</a:t>
            </a:r>
            <a:r>
              <a:rPr sz="1600" spc="15" dirty="0">
                <a:latin typeface="微软雅黑"/>
                <a:cs typeface="微软雅黑"/>
              </a:rPr>
              <a:t> </a:t>
            </a:r>
            <a:r>
              <a:rPr sz="1600" spc="-5" dirty="0">
                <a:latin typeface="Cambria Math"/>
                <a:cs typeface="Cambria Math"/>
              </a:rPr>
              <a:t>1</a:t>
            </a:r>
            <a:r>
              <a:rPr sz="1600" spc="-5" dirty="0">
                <a:latin typeface="微软雅黑"/>
                <a:cs typeface="微软雅黑"/>
              </a:rPr>
              <a:t>，但是</a:t>
            </a:r>
            <a:r>
              <a:rPr sz="1600" dirty="0">
                <a:latin typeface="微软雅黑"/>
                <a:cs typeface="微软雅黑"/>
              </a:rPr>
              <a:t> </a:t>
            </a:r>
            <a:r>
              <a:rPr sz="1600" spc="-330" dirty="0">
                <a:latin typeface="Cambria Math"/>
                <a:cs typeface="Cambria Math"/>
              </a:rPr>
              <a:t>�</a:t>
            </a:r>
            <a:r>
              <a:rPr sz="1600" spc="140" dirty="0">
                <a:latin typeface="Cambria Math"/>
                <a:cs typeface="Cambria Math"/>
              </a:rPr>
              <a:t> </a:t>
            </a:r>
            <a:r>
              <a:rPr sz="1600" spc="-5" dirty="0">
                <a:latin typeface="Cambria Math"/>
                <a:cs typeface="Cambria Math"/>
              </a:rPr>
              <a:t>=</a:t>
            </a:r>
            <a:r>
              <a:rPr sz="1600" spc="95" dirty="0">
                <a:latin typeface="Cambria Math"/>
                <a:cs typeface="Cambria Math"/>
              </a:rPr>
              <a:t> </a:t>
            </a:r>
            <a:r>
              <a:rPr sz="1600" spc="-5" dirty="0">
                <a:latin typeface="Cambria Math"/>
                <a:cs typeface="Cambria Math"/>
              </a:rPr>
              <a:t>4</a:t>
            </a:r>
            <a:r>
              <a:rPr sz="1600" spc="130" dirty="0">
                <a:latin typeface="Cambria Math"/>
                <a:cs typeface="Cambria Math"/>
              </a:rPr>
              <a:t> </a:t>
            </a:r>
            <a:r>
              <a:rPr sz="1600" spc="-5" dirty="0">
                <a:latin typeface="微软雅黑"/>
                <a:cs typeface="微软雅黑"/>
              </a:rPr>
              <a:t>取 </a:t>
            </a:r>
            <a:r>
              <a:rPr sz="1600" spc="-10" dirty="0">
                <a:latin typeface="微软雅黑"/>
                <a:cs typeface="微软雅黑"/>
              </a:rPr>
              <a:t>值为1的概率理应更大</a:t>
            </a:r>
            <a:endParaRPr sz="1600" dirty="0">
              <a:latin typeface="微软雅黑"/>
              <a:cs typeface="微软雅黑"/>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676400"/>
            <a:ext cx="8001000" cy="48853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12775" y="381000"/>
            <a:ext cx="8153400" cy="990600"/>
          </a:xfrm>
        </p:spPr>
        <p:txBody>
          <a:bodyPr/>
          <a:lstStyle/>
          <a:p>
            <a:pPr algn="ctr" eaLnBrk="1" hangingPunct="1"/>
            <a:r>
              <a:rPr lang="en-US" altLang="zh-CN" b="1" smtClean="0">
                <a:latin typeface="Times New Roman" panose="02020603050405020304" pitchFamily="18" charset="0"/>
                <a:cs typeface="Times New Roman" panose="02020603050405020304" pitchFamily="18" charset="0"/>
              </a:rPr>
              <a:t>Logistic Regression</a:t>
            </a:r>
          </a:p>
        </p:txBody>
      </p:sp>
      <p:sp>
        <p:nvSpPr>
          <p:cNvPr id="31747" name="Rectangle 2"/>
          <p:cNvSpPr txBox="1">
            <a:spLocks noChangeArrowheads="1"/>
          </p:cNvSpPr>
          <p:nvPr/>
        </p:nvSpPr>
        <p:spPr bwMode="auto">
          <a:xfrm>
            <a:off x="0" y="1524000"/>
            <a:ext cx="9220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tabLst>
                <a:tab pos="633413" algn="l"/>
              </a:tabLst>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tabLst>
                <a:tab pos="633413" algn="l"/>
              </a:tabLst>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tabLst>
                <a:tab pos="633413" algn="l"/>
              </a:tabLst>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tabLst>
                <a:tab pos="633413" algn="l"/>
              </a:tabLst>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9pPr>
          </a:lstStyle>
          <a:p>
            <a:pPr eaLnBrk="1" hangingPunct="1">
              <a:spcBef>
                <a:spcPts val="1200"/>
              </a:spcBef>
            </a:pPr>
            <a:r>
              <a:rPr lang="en-US" altLang="zh-CN" sz="2400">
                <a:latin typeface="Times New Roman" panose="02020603050405020304" pitchFamily="18" charset="0"/>
                <a:cs typeface="Times New Roman" panose="02020603050405020304" pitchFamily="18" charset="0"/>
              </a:rPr>
              <a:t>Using a logistic regression model, the probability of exceeding the speed limit under certain traffic conditions can be estimated using the following equation</a:t>
            </a:r>
          </a:p>
        </p:txBody>
      </p:sp>
      <p:pic>
        <p:nvPicPr>
          <p:cNvPr id="31748" name="Picture 1" descr="C:\Users\cheng\AppData\Roaming\Tencent\Users\394197411\QQ\WinTemp\RichOle\)14}Y$ZZ21K6_8DB[}Y03B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2590800"/>
            <a:ext cx="518160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Rectangle 2"/>
          <p:cNvSpPr txBox="1">
            <a:spLocks noChangeArrowheads="1"/>
          </p:cNvSpPr>
          <p:nvPr/>
        </p:nvSpPr>
        <p:spPr bwMode="auto">
          <a:xfrm>
            <a:off x="0" y="3352800"/>
            <a:ext cx="92202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tabLst>
                <a:tab pos="633413" algn="l"/>
              </a:tabLst>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tabLst>
                <a:tab pos="633413" algn="l"/>
              </a:tabLst>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tabLst>
                <a:tab pos="633413" algn="l"/>
              </a:tabLst>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tabLst>
                <a:tab pos="633413" algn="l"/>
              </a:tabLst>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9pPr>
          </a:lstStyle>
          <a:p>
            <a:pPr eaLnBrk="1" hangingPunct="1">
              <a:spcBef>
                <a:spcPts val="1200"/>
              </a:spcBef>
            </a:pPr>
            <a:r>
              <a:rPr lang="en-US" altLang="zh-CN" sz="2400">
                <a:latin typeface="Times New Roman" panose="02020603050405020304" pitchFamily="18" charset="0"/>
                <a:cs typeface="Times New Roman" panose="02020603050405020304" pitchFamily="18" charset="0"/>
              </a:rPr>
              <a:t>where P(yi = 1) denotes the probability of exceeding the speed limit, and−</a:t>
            </a:r>
            <a:r>
              <a:rPr lang="en-US" altLang="zh-CN" sz="2400" i="1">
                <a:latin typeface="Times New Roman" panose="02020603050405020304" pitchFamily="18" charset="0"/>
                <a:cs typeface="Times New Roman" panose="02020603050405020304" pitchFamily="18" charset="0"/>
              </a:rPr>
              <a:t>x</a:t>
            </a:r>
            <a:r>
              <a:rPr lang="en-US" altLang="zh-CN" sz="2400">
                <a:latin typeface="Times New Roman" panose="02020603050405020304" pitchFamily="18" charset="0"/>
                <a:cs typeface="Times New Roman" panose="02020603050405020304" pitchFamily="18" charset="0"/>
              </a:rPr>
              <a:t>′</a:t>
            </a:r>
            <a:r>
              <a:rPr lang="en-US" altLang="zh-CN" sz="2400" baseline="-25000">
                <a:latin typeface="Times New Roman" panose="02020603050405020304" pitchFamily="18" charset="0"/>
                <a:cs typeface="Times New Roman" panose="02020603050405020304" pitchFamily="18" charset="0"/>
              </a:rPr>
              <a:t>i</a:t>
            </a:r>
            <a:r>
              <a:rPr lang="en-US" altLang="zh-CN" sz="2400" b="1" i="1">
                <a:latin typeface="Times New Roman" panose="02020603050405020304" pitchFamily="18" charset="0"/>
                <a:cs typeface="Times New Roman" panose="02020603050405020304" pitchFamily="18" charset="0"/>
              </a:rPr>
              <a:t>β</a:t>
            </a:r>
            <a:r>
              <a:rPr lang="en-US" altLang="zh-CN" sz="2400">
                <a:latin typeface="Times New Roman" panose="02020603050405020304" pitchFamily="18" charset="0"/>
                <a:cs typeface="Times New Roman" panose="02020603050405020304" pitchFamily="18" charset="0"/>
              </a:rPr>
              <a:t> is the multiple linear combination of explanatory variables:</a:t>
            </a:r>
          </a:p>
        </p:txBody>
      </p:sp>
      <p:pic>
        <p:nvPicPr>
          <p:cNvPr id="31750" name="Picture 2" descr="C:\Users\cheng\AppData\Roaming\Tencent\Users\394197411\QQ\WinTemp\RichOle\LW{UO~T2VY631)ENQCJN~A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4133850"/>
            <a:ext cx="46291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Rectangle 2"/>
          <p:cNvSpPr txBox="1">
            <a:spLocks noChangeArrowheads="1"/>
          </p:cNvSpPr>
          <p:nvPr/>
        </p:nvSpPr>
        <p:spPr bwMode="auto">
          <a:xfrm>
            <a:off x="0" y="4800600"/>
            <a:ext cx="92202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tabLst>
                <a:tab pos="633413" algn="l"/>
              </a:tabLst>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tabLst>
                <a:tab pos="633413" algn="l"/>
              </a:tabLst>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tabLst>
                <a:tab pos="633413" algn="l"/>
              </a:tabLst>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tabLst>
                <a:tab pos="633413" algn="l"/>
              </a:tabLst>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9pPr>
          </a:lstStyle>
          <a:p>
            <a:pPr eaLnBrk="1" hangingPunct="1">
              <a:spcBef>
                <a:spcPts val="1200"/>
              </a:spcBef>
            </a:pPr>
            <a:r>
              <a:rPr lang="en-US" altLang="zh-CN" sz="2400">
                <a:latin typeface="Times New Roman" panose="02020603050405020304" pitchFamily="18" charset="0"/>
                <a:cs typeface="Times New Roman" panose="02020603050405020304" pitchFamily="18" charset="0"/>
              </a:rPr>
              <a:t>This model is estimable by standard maximum likelihood methods, with the likelihood function given as:</a:t>
            </a:r>
          </a:p>
        </p:txBody>
      </p:sp>
      <p:pic>
        <p:nvPicPr>
          <p:cNvPr id="28680" name="Picture 3" descr="C:\Users\cheng\AppData\Roaming\Tencent\Users\394197411\QQ\WinTemp\RichOle\37X[44UDR$7T0AV53OMAFP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5678488"/>
            <a:ext cx="74485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051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80"/>
                                        </p:tgtEl>
                                        <p:attrNameLst>
                                          <p:attrName>style.visibility</p:attrName>
                                        </p:attrNameLst>
                                      </p:cBhvr>
                                      <p:to>
                                        <p:strVal val="visible"/>
                                      </p:to>
                                    </p:set>
                                    <p:anim calcmode="lin" valueType="num">
                                      <p:cBhvr additive="base">
                                        <p:cTn id="7" dur="500" fill="hold"/>
                                        <p:tgtEl>
                                          <p:spTgt spid="28680"/>
                                        </p:tgtEl>
                                        <p:attrNameLst>
                                          <p:attrName>ppt_x</p:attrName>
                                        </p:attrNameLst>
                                      </p:cBhvr>
                                      <p:tavLst>
                                        <p:tav tm="0">
                                          <p:val>
                                            <p:strVal val="#ppt_x"/>
                                          </p:val>
                                        </p:tav>
                                        <p:tav tm="100000">
                                          <p:val>
                                            <p:strVal val="#ppt_x"/>
                                          </p:val>
                                        </p:tav>
                                      </p:tavLst>
                                    </p:anim>
                                    <p:anim calcmode="lin" valueType="num">
                                      <p:cBhvr additive="base">
                                        <p:cTn id="8" dur="500" fill="hold"/>
                                        <p:tgtEl>
                                          <p:spTgt spid="286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12775" y="381000"/>
            <a:ext cx="8153400" cy="990600"/>
          </a:xfrm>
        </p:spPr>
        <p:txBody>
          <a:bodyPr/>
          <a:lstStyle/>
          <a:p>
            <a:pPr algn="ctr" eaLnBrk="1" hangingPunct="1"/>
            <a:r>
              <a:rPr lang="en-US" altLang="zh-CN" b="1" smtClean="0">
                <a:latin typeface="Times New Roman" panose="02020603050405020304" pitchFamily="18" charset="0"/>
                <a:cs typeface="Times New Roman" panose="02020603050405020304" pitchFamily="18" charset="0"/>
              </a:rPr>
              <a:t>Logistic Regression</a:t>
            </a:r>
          </a:p>
        </p:txBody>
      </p:sp>
      <p:sp>
        <p:nvSpPr>
          <p:cNvPr id="32771" name="Rectangle 2"/>
          <p:cNvSpPr txBox="1">
            <a:spLocks noChangeArrowheads="1"/>
          </p:cNvSpPr>
          <p:nvPr/>
        </p:nvSpPr>
        <p:spPr bwMode="auto">
          <a:xfrm>
            <a:off x="0" y="1524000"/>
            <a:ext cx="9220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tabLst>
                <a:tab pos="633413" algn="l"/>
              </a:tabLst>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tabLst>
                <a:tab pos="633413" algn="l"/>
              </a:tabLst>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tabLst>
                <a:tab pos="633413" algn="l"/>
              </a:tabLst>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tabLst>
                <a:tab pos="633413" algn="l"/>
              </a:tabLst>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9pPr>
          </a:lstStyle>
          <a:p>
            <a:pPr eaLnBrk="1" hangingPunct="1">
              <a:spcBef>
                <a:spcPts val="1200"/>
              </a:spcBef>
            </a:pPr>
            <a:r>
              <a:rPr lang="en-US" altLang="zh-CN" sz="2400">
                <a:latin typeface="Times New Roman" panose="02020603050405020304" pitchFamily="18" charset="0"/>
                <a:cs typeface="Times New Roman" panose="02020603050405020304" pitchFamily="18" charset="0"/>
              </a:rPr>
              <a:t>The interpretation of variable parameter in logistic regression:</a:t>
            </a:r>
          </a:p>
        </p:txBody>
      </p:sp>
      <p:pic>
        <p:nvPicPr>
          <p:cNvPr id="32772" name="Picture 1" descr="C:\Users\cheng\AppData\Roaming\Tencent\Users\394197411\QQ\WinTemp\RichOle\CQF}4VN%P)5}87(C[53I{`V.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5525" y="2057400"/>
            <a:ext cx="46291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2"/>
          <p:cNvSpPr txBox="1">
            <a:spLocks noChangeArrowheads="1"/>
          </p:cNvSpPr>
          <p:nvPr/>
        </p:nvSpPr>
        <p:spPr bwMode="auto">
          <a:xfrm>
            <a:off x="20638" y="3400425"/>
            <a:ext cx="92202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spcBef>
                <a:spcPts val="700"/>
              </a:spcBef>
              <a:buClr>
                <a:schemeClr val="accent2"/>
              </a:buClr>
              <a:buSzPct val="60000"/>
              <a:buFont typeface="Wingdings" panose="05000000000000000000" pitchFamily="2" charset="2"/>
              <a:buChar char=""/>
              <a:tabLst>
                <a:tab pos="633413" algn="l"/>
              </a:tabLst>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tabLst>
                <a:tab pos="633413" algn="l"/>
              </a:tabLst>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tabLst>
                <a:tab pos="633413" algn="l"/>
              </a:tabLst>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tabLst>
                <a:tab pos="633413" algn="l"/>
              </a:tabLst>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tabLst>
                <a:tab pos="633413" algn="l"/>
              </a:tabLst>
              <a:defRPr sz="2000">
                <a:solidFill>
                  <a:schemeClr val="tx1"/>
                </a:solidFill>
                <a:latin typeface="Tw Cen MT" panose="020B0602020104020603" pitchFamily="34" charset="0"/>
              </a:defRPr>
            </a:lvl9pPr>
          </a:lstStyle>
          <a:p>
            <a:pPr eaLnBrk="1" hangingPunct="1">
              <a:spcBef>
                <a:spcPts val="1200"/>
              </a:spcBef>
            </a:pPr>
            <a:r>
              <a:rPr lang="en-US" altLang="zh-CN" sz="2400">
                <a:latin typeface="Times New Roman" panose="02020603050405020304" pitchFamily="18" charset="0"/>
                <a:cs typeface="Times New Roman" panose="02020603050405020304" pitchFamily="18" charset="0"/>
              </a:rPr>
              <a:t>The fundamental equation for the logistic regression shows that when the value of an independent variable increases by one unit, and all other variables are held constant, the new probability ratio [</a:t>
            </a:r>
            <a:r>
              <a:rPr lang="en-US" altLang="zh-CN" sz="2400" i="1">
                <a:latin typeface="Times New Roman" panose="02020603050405020304" pitchFamily="18" charset="0"/>
                <a:cs typeface="Times New Roman" panose="02020603050405020304" pitchFamily="18" charset="0"/>
              </a:rPr>
              <a:t>P</a:t>
            </a:r>
            <a:r>
              <a:rPr lang="en-US" altLang="zh-CN" sz="2400" i="1" baseline="-25000">
                <a:latin typeface="Times New Roman" panose="02020603050405020304" pitchFamily="18" charset="0"/>
                <a:cs typeface="Times New Roman" panose="02020603050405020304" pitchFamily="18" charset="0"/>
              </a:rPr>
              <a:t>i</a:t>
            </a:r>
            <a:r>
              <a:rPr lang="en-US" altLang="zh-CN" sz="2400">
                <a:latin typeface="Times New Roman" panose="02020603050405020304" pitchFamily="18" charset="0"/>
                <a:cs typeface="Times New Roman" panose="02020603050405020304" pitchFamily="18" charset="0"/>
              </a:rPr>
              <a:t>/(1 – </a:t>
            </a:r>
            <a:r>
              <a:rPr lang="en-US" altLang="zh-CN" sz="2400" i="1">
                <a:latin typeface="Times New Roman" panose="02020603050405020304" pitchFamily="18" charset="0"/>
                <a:cs typeface="Times New Roman" panose="02020603050405020304" pitchFamily="18" charset="0"/>
              </a:rPr>
              <a:t>P</a:t>
            </a:r>
            <a:r>
              <a:rPr lang="en-US" altLang="zh-CN" sz="2400" i="1" baseline="-25000">
                <a:latin typeface="Times New Roman" panose="02020603050405020304" pitchFamily="18" charset="0"/>
                <a:cs typeface="Times New Roman" panose="02020603050405020304" pitchFamily="18" charset="0"/>
              </a:rPr>
              <a:t>i</a:t>
            </a:r>
            <a:r>
              <a:rPr lang="en-US" altLang="zh-CN" sz="2400">
                <a:latin typeface="Times New Roman" panose="02020603050405020304" pitchFamily="18" charset="0"/>
                <a:cs typeface="Times New Roman" panose="02020603050405020304" pitchFamily="18" charset="0"/>
              </a:rPr>
              <a:t>)] is given as</a:t>
            </a:r>
          </a:p>
        </p:txBody>
      </p:sp>
      <p:pic>
        <p:nvPicPr>
          <p:cNvPr id="2970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113" y="4905375"/>
            <a:ext cx="8477250" cy="111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3878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additive="base">
                                        <p:cTn id="7" dur="500" fill="hold"/>
                                        <p:tgtEl>
                                          <p:spTgt spid="29702"/>
                                        </p:tgtEl>
                                        <p:attrNameLst>
                                          <p:attrName>ppt_x</p:attrName>
                                        </p:attrNameLst>
                                      </p:cBhvr>
                                      <p:tavLst>
                                        <p:tav tm="0">
                                          <p:val>
                                            <p:strVal val="#ppt_x"/>
                                          </p:val>
                                        </p:tav>
                                        <p:tav tm="100000">
                                          <p:val>
                                            <p:strVal val="#ppt_x"/>
                                          </p:val>
                                        </p:tav>
                                      </p:tavLst>
                                    </p:anim>
                                    <p:anim calcmode="lin" valueType="num">
                                      <p:cBhvr additive="base">
                                        <p:cTn id="8"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381000"/>
            <a:ext cx="8153400" cy="990600"/>
          </a:xfrm>
        </p:spPr>
        <p:txBody>
          <a:bodyPr/>
          <a:lstStyle/>
          <a:p>
            <a:pPr algn="ctr" eaLnBrk="1" hangingPunct="1"/>
            <a:r>
              <a:rPr lang="en-US" altLang="zh-CN" b="1" smtClean="0">
                <a:latin typeface="Times New Roman" panose="02020603050405020304" pitchFamily="18" charset="0"/>
                <a:cs typeface="Times New Roman" panose="02020603050405020304" pitchFamily="18" charset="0"/>
              </a:rPr>
              <a:t>Logistic Regression</a:t>
            </a:r>
          </a:p>
        </p:txBody>
      </p:sp>
      <p:pic>
        <p:nvPicPr>
          <p:cNvPr id="33795" name="Picture 1" descr="C:\Users\cheng\AppData\Roaming\Tencent\Users\394197411\QQ\WinTemp\RichOle\CQF}4VN%P)5}87(C[53I{`V.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163" y="1570038"/>
            <a:ext cx="46291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2495550"/>
            <a:ext cx="8477250" cy="111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797" name="AutoShape 1" descr="C:\Users\cheng\AppData\Roaming\Tencent\Users\394197411\QQ\WinTemp\RichOle\FN766S(XK%RT}CT@KE%3.jpg"/>
          <p:cNvSpPr>
            <a:spLocks noChangeAspect="1" noChangeArrowheads="1"/>
          </p:cNvSpPr>
          <p:nvPr/>
        </p:nvSpPr>
        <p:spPr bwMode="auto">
          <a:xfrm>
            <a:off x="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33798" name="AutoShape 2" descr="C:\Users\cheng\AppData\Roaming\Tencent\Users\394197411\QQ\WinTemp\RichOle\FN766S(XK%RT}CT@KE%3.jpg"/>
          <p:cNvSpPr>
            <a:spLocks noChangeAspect="1" noChangeArrowheads="1"/>
          </p:cNvSpPr>
          <p:nvPr/>
        </p:nvSpPr>
        <p:spPr bwMode="auto">
          <a:xfrm>
            <a:off x="152400"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zh-CN" altLang="en-US" sz="2400">
              <a:latin typeface="Times New Roman" panose="02020603050405020304" pitchFamily="18" charset="0"/>
            </a:endParaRPr>
          </a:p>
        </p:txBody>
      </p:sp>
      <p:sp>
        <p:nvSpPr>
          <p:cNvPr id="33799" name="AutoShape 3" descr="C:\Users\cheng\AppData\Roaming\Tencent\Users\394197411\QQ\WinTemp\RichOle\FN766S(XK%RT}CT@KE%3.jpg"/>
          <p:cNvSpPr>
            <a:spLocks noChangeAspect="1" noChangeArrowheads="1"/>
          </p:cNvSpPr>
          <p:nvPr/>
        </p:nvSpPr>
        <p:spPr bwMode="auto">
          <a:xfrm>
            <a:off x="304800" y="304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endParaRPr lang="zh-CN" altLang="en-US" sz="2400">
              <a:latin typeface="Times New Roman" panose="02020603050405020304" pitchFamily="18" charset="0"/>
            </a:endParaRPr>
          </a:p>
        </p:txBody>
      </p:sp>
      <p:pic>
        <p:nvPicPr>
          <p:cNvPr id="33800" name="Picture 4" descr="C:\Users\cheng\AppData\Roaming\Tencent\Users\394197411\QQ\WinTemp\RichOle\LYPZ_T(ILWSEW[F3BDR@M`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3" y="4114800"/>
            <a:ext cx="875665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08489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7503795" cy="174688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dirty="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如何定量分析自变量的变化对因变量</a:t>
            </a:r>
            <a:r>
              <a:rPr sz="2800" dirty="0">
                <a:solidFill>
                  <a:srgbClr val="006FC0"/>
                </a:solidFill>
                <a:latin typeface="微软雅黑"/>
                <a:cs typeface="微软雅黑"/>
              </a:rPr>
              <a:t>的</a:t>
            </a:r>
            <a:r>
              <a:rPr sz="2800" spc="-5" dirty="0">
                <a:solidFill>
                  <a:srgbClr val="006FC0"/>
                </a:solidFill>
                <a:latin typeface="微软雅黑"/>
                <a:cs typeface="微软雅黑"/>
              </a:rPr>
              <a:t>影响？</a:t>
            </a:r>
            <a:endParaRPr sz="2800" dirty="0">
              <a:latin typeface="微软雅黑"/>
              <a:cs typeface="微软雅黑"/>
            </a:endParaRPr>
          </a:p>
          <a:p>
            <a:pPr marL="286385">
              <a:lnSpc>
                <a:spcPct val="100000"/>
              </a:lnSpc>
              <a:spcBef>
                <a:spcPts val="129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弹性（连续变量）</a:t>
            </a:r>
          </a:p>
        </p:txBody>
      </p:sp>
      <p:pic>
        <p:nvPicPr>
          <p:cNvPr id="45" name="图片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949" y="1447800"/>
            <a:ext cx="7939051" cy="47473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7503795" cy="174688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二项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如何定量分析自变量的变化对因变量</a:t>
            </a:r>
            <a:r>
              <a:rPr sz="2800" dirty="0">
                <a:solidFill>
                  <a:srgbClr val="006FC0"/>
                </a:solidFill>
                <a:latin typeface="微软雅黑"/>
                <a:cs typeface="微软雅黑"/>
              </a:rPr>
              <a:t>的</a:t>
            </a:r>
            <a:r>
              <a:rPr sz="2800" spc="-5" dirty="0">
                <a:solidFill>
                  <a:srgbClr val="006FC0"/>
                </a:solidFill>
                <a:latin typeface="微软雅黑"/>
                <a:cs typeface="微软雅黑"/>
              </a:rPr>
              <a:t>影响？</a:t>
            </a:r>
            <a:endParaRPr sz="2800">
              <a:latin typeface="微软雅黑"/>
              <a:cs typeface="微软雅黑"/>
            </a:endParaRPr>
          </a:p>
          <a:p>
            <a:pPr marL="286385">
              <a:lnSpc>
                <a:spcPct val="100000"/>
              </a:lnSpc>
              <a:spcBef>
                <a:spcPts val="1290"/>
              </a:spcBef>
            </a:pPr>
            <a:r>
              <a:rPr sz="1700" spc="-685" dirty="0">
                <a:solidFill>
                  <a:srgbClr val="4F81BC"/>
                </a:solidFill>
                <a:latin typeface="Segoe UI Symbol"/>
                <a:cs typeface="Segoe UI Symbol"/>
              </a:rPr>
              <a:t>▪</a:t>
            </a:r>
            <a:r>
              <a:rPr sz="1700" spc="195" dirty="0">
                <a:solidFill>
                  <a:srgbClr val="4F81BC"/>
                </a:solidFill>
                <a:latin typeface="Segoe UI Symbol"/>
                <a:cs typeface="Segoe UI Symbol"/>
              </a:rPr>
              <a:t> </a:t>
            </a:r>
            <a:r>
              <a:rPr sz="2000" dirty="0">
                <a:latin typeface="微软雅黑"/>
                <a:cs typeface="微软雅黑"/>
              </a:rPr>
              <a:t>伪弹性（名义尺度变量）</a:t>
            </a:r>
            <a:endParaRPr sz="2000">
              <a:latin typeface="微软雅黑"/>
              <a:cs typeface="微软雅黑"/>
            </a:endParaRP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0"/>
            <a:ext cx="7772400" cy="48522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361950" y="435769"/>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sp>
        <p:nvSpPr>
          <p:cNvPr id="46083" name="Rectangle 2"/>
          <p:cNvSpPr txBox="1">
            <a:spLocks noChangeArrowheads="1"/>
          </p:cNvSpPr>
          <p:nvPr/>
        </p:nvSpPr>
        <p:spPr bwMode="auto">
          <a:xfrm>
            <a:off x="663575" y="1557338"/>
            <a:ext cx="8229600" cy="5300662"/>
          </a:xfrm>
          <a:prstGeom prst="rect">
            <a:avLst/>
          </a:prstGeom>
          <a:noFill/>
          <a:ln>
            <a:noFill/>
          </a:ln>
          <a:extLst/>
        </p:spPr>
        <p:txBody>
          <a:bodyPr/>
          <a:lstStyle>
            <a:lvl1pPr marL="319088" indent="-319088" eaLnBrk="0" hangingPunct="0">
              <a:tabLst>
                <a:tab pos="633413" algn="l"/>
              </a:tabLst>
              <a:defRPr sz="2400">
                <a:solidFill>
                  <a:schemeClr val="tx1"/>
                </a:solidFill>
                <a:latin typeface="Times New Roman" pitchFamily="18" charset="0"/>
              </a:defRPr>
            </a:lvl1pPr>
            <a:lvl2pPr marL="742950" indent="-285750" eaLnBrk="0" hangingPunct="0">
              <a:tabLst>
                <a:tab pos="633413" algn="l"/>
              </a:tabLst>
              <a:defRPr sz="2400">
                <a:solidFill>
                  <a:schemeClr val="tx1"/>
                </a:solidFill>
                <a:latin typeface="Times New Roman" pitchFamily="18" charset="0"/>
              </a:defRPr>
            </a:lvl2pPr>
            <a:lvl3pPr marL="1143000" indent="-228600" eaLnBrk="0" hangingPunct="0">
              <a:tabLst>
                <a:tab pos="633413" algn="l"/>
              </a:tabLst>
              <a:defRPr sz="2400">
                <a:solidFill>
                  <a:schemeClr val="tx1"/>
                </a:solidFill>
                <a:latin typeface="Times New Roman" pitchFamily="18" charset="0"/>
              </a:defRPr>
            </a:lvl3pPr>
            <a:lvl4pPr marL="1600200" indent="-228600" eaLnBrk="0" hangingPunct="0">
              <a:tabLst>
                <a:tab pos="633413" algn="l"/>
              </a:tabLst>
              <a:defRPr sz="2400">
                <a:solidFill>
                  <a:schemeClr val="tx1"/>
                </a:solidFill>
                <a:latin typeface="Times New Roman" pitchFamily="18" charset="0"/>
              </a:defRPr>
            </a:lvl4pPr>
            <a:lvl5pPr marL="2057400" indent="-228600" eaLnBrk="0" hangingPunct="0">
              <a:tabLst>
                <a:tab pos="633413"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633413"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633413"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633413"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633413" algn="l"/>
              </a:tabLst>
              <a:defRPr sz="2400">
                <a:solidFill>
                  <a:schemeClr val="tx1"/>
                </a:solidFill>
                <a:latin typeface="Times New Roman" pitchFamily="18" charset="0"/>
              </a:defRPr>
            </a:lvl9pPr>
          </a:lstStyle>
          <a:p>
            <a:pPr eaLnBrk="1" hangingPunct="1">
              <a:spcBef>
                <a:spcPts val="1200"/>
              </a:spcBef>
              <a:buClr>
                <a:schemeClr val="accent2"/>
              </a:buClr>
              <a:buSzPct val="60000"/>
              <a:buFont typeface="Wingdings" pitchFamily="2" charset="2"/>
              <a:buChar char=""/>
              <a:defRPr/>
            </a:pPr>
            <a:r>
              <a:rPr lang="en-US" altLang="zh-CN" dirty="0" smtClean="0">
                <a:cs typeface="Times New Roman" pitchFamily="18" charset="0"/>
              </a:rPr>
              <a:t>The </a:t>
            </a:r>
            <a:r>
              <a:rPr lang="en-US" altLang="zh-CN" dirty="0">
                <a:cs typeface="Times New Roman" pitchFamily="18" charset="0"/>
              </a:rPr>
              <a:t>likelihood ratio test statistic </a:t>
            </a:r>
            <a:r>
              <a:rPr lang="en-US" altLang="zh-CN" dirty="0" smtClean="0">
                <a:cs typeface="Times New Roman" pitchFamily="18" charset="0"/>
              </a:rPr>
              <a:t>is</a:t>
            </a:r>
          </a:p>
          <a:p>
            <a:pPr eaLnBrk="1" hangingPunct="1">
              <a:spcBef>
                <a:spcPts val="1200"/>
              </a:spcBef>
              <a:buClr>
                <a:schemeClr val="accent2"/>
              </a:buClr>
              <a:buSzPct val="60000"/>
              <a:buFont typeface="Wingdings" pitchFamily="2" charset="2"/>
              <a:buChar char=""/>
              <a:defRPr/>
            </a:pPr>
            <a:endParaRPr lang="en-US" altLang="zh-CN" dirty="0">
              <a:cs typeface="Times New Roman" pitchFamily="18" charset="0"/>
            </a:endParaRPr>
          </a:p>
          <a:p>
            <a:pPr marL="0" indent="0" eaLnBrk="1" hangingPunct="1">
              <a:spcBef>
                <a:spcPts val="1200"/>
              </a:spcBef>
              <a:buClr>
                <a:schemeClr val="accent2"/>
              </a:buClr>
              <a:buSzPct val="60000"/>
              <a:defRPr/>
            </a:pPr>
            <a:endParaRPr lang="en-US" altLang="zh-CN" dirty="0" smtClean="0">
              <a:cs typeface="Times New Roman" pitchFamily="18" charset="0"/>
            </a:endParaRPr>
          </a:p>
          <a:p>
            <a:pPr marL="0" indent="0" eaLnBrk="1" hangingPunct="1">
              <a:spcBef>
                <a:spcPts val="1200"/>
              </a:spcBef>
              <a:buClr>
                <a:schemeClr val="accent2"/>
              </a:buClr>
              <a:buSzPct val="60000"/>
              <a:tabLst>
                <a:tab pos="357188" algn="l"/>
              </a:tabLst>
              <a:defRPr/>
            </a:pPr>
            <a:r>
              <a:rPr lang="en-US" altLang="zh-CN" dirty="0" smtClean="0">
                <a:cs typeface="Times New Roman" pitchFamily="18" charset="0"/>
              </a:rPr>
              <a:t>	where LL(</a:t>
            </a:r>
            <a:r>
              <a:rPr lang="el-GR" altLang="zh-CN" dirty="0" smtClean="0">
                <a:ea typeface="宋体" pitchFamily="2" charset="-122"/>
                <a:cs typeface="Times New Roman" pitchFamily="18" charset="0"/>
              </a:rPr>
              <a:t>β</a:t>
            </a:r>
            <a:r>
              <a:rPr lang="en-US" altLang="zh-CN" baseline="-25000" dirty="0" smtClean="0">
                <a:cs typeface="Times New Roman" pitchFamily="18" charset="0"/>
              </a:rPr>
              <a:t>R</a:t>
            </a:r>
            <a:r>
              <a:rPr lang="en-US" altLang="zh-CN" dirty="0">
                <a:cs typeface="Times New Roman" pitchFamily="18" charset="0"/>
              </a:rPr>
              <a:t>) is the log likelihood at convergence of </a:t>
            </a:r>
            <a:r>
              <a:rPr lang="en-US" altLang="zh-CN" dirty="0" smtClean="0">
                <a:cs typeface="Times New Roman" pitchFamily="18" charset="0"/>
              </a:rPr>
              <a:t>the 	“restricted</a:t>
            </a:r>
            <a:r>
              <a:rPr lang="en-US" altLang="zh-CN" dirty="0">
                <a:cs typeface="Times New Roman" pitchFamily="18" charset="0"/>
              </a:rPr>
              <a:t>” </a:t>
            </a:r>
            <a:r>
              <a:rPr lang="en-US" altLang="zh-CN" dirty="0" smtClean="0">
                <a:cs typeface="Times New Roman" pitchFamily="18" charset="0"/>
              </a:rPr>
              <a:t>model (sometimes </a:t>
            </a:r>
            <a:r>
              <a:rPr lang="en-US" altLang="zh-CN" dirty="0">
                <a:cs typeface="Times New Roman" pitchFamily="18" charset="0"/>
              </a:rPr>
              <a:t>considered to have </a:t>
            </a:r>
            <a:r>
              <a:rPr lang="en-US" altLang="zh-CN" dirty="0" smtClean="0">
                <a:cs typeface="Times New Roman" pitchFamily="18" charset="0"/>
              </a:rPr>
              <a:t>all 	parameters </a:t>
            </a:r>
            <a:r>
              <a:rPr lang="en-US" altLang="zh-CN" dirty="0">
                <a:cs typeface="Times New Roman" pitchFamily="18" charset="0"/>
              </a:rPr>
              <a:t>in </a:t>
            </a:r>
            <a:r>
              <a:rPr lang="el-GR" altLang="zh-CN" dirty="0">
                <a:ea typeface="宋体" pitchFamily="2" charset="-122"/>
                <a:cs typeface="Times New Roman" pitchFamily="18" charset="0"/>
              </a:rPr>
              <a:t>β </a:t>
            </a:r>
            <a:r>
              <a:rPr lang="en-US" altLang="zh-CN" dirty="0" smtClean="0">
                <a:cs typeface="Times New Roman" pitchFamily="18" charset="0"/>
              </a:rPr>
              <a:t>equal </a:t>
            </a:r>
            <a:r>
              <a:rPr lang="en-US" altLang="zh-CN" dirty="0">
                <a:cs typeface="Times New Roman" pitchFamily="18" charset="0"/>
              </a:rPr>
              <a:t>to 0, or just </a:t>
            </a:r>
            <a:r>
              <a:rPr lang="en-US" altLang="zh-CN" dirty="0" smtClean="0">
                <a:cs typeface="Times New Roman" pitchFamily="18" charset="0"/>
              </a:rPr>
              <a:t>to include </a:t>
            </a:r>
            <a:r>
              <a:rPr lang="en-US" altLang="zh-CN" dirty="0">
                <a:cs typeface="Times New Roman" pitchFamily="18" charset="0"/>
              </a:rPr>
              <a:t>the constant term, </a:t>
            </a:r>
            <a:r>
              <a:rPr lang="en-US" altLang="zh-CN" dirty="0" smtClean="0">
                <a:cs typeface="Times New Roman" pitchFamily="18" charset="0"/>
              </a:rPr>
              <a:t>	to </a:t>
            </a:r>
            <a:r>
              <a:rPr lang="en-US" altLang="zh-CN" dirty="0">
                <a:cs typeface="Times New Roman" pitchFamily="18" charset="0"/>
              </a:rPr>
              <a:t>test overall fit of the model), and </a:t>
            </a:r>
            <a:r>
              <a:rPr lang="en-US" altLang="zh-CN" dirty="0" smtClean="0">
                <a:cs typeface="Times New Roman" pitchFamily="18" charset="0"/>
              </a:rPr>
              <a:t>LL(</a:t>
            </a:r>
            <a:r>
              <a:rPr lang="el-GR" altLang="zh-CN" dirty="0" smtClean="0">
                <a:ea typeface="宋体" pitchFamily="2" charset="-122"/>
                <a:cs typeface="Times New Roman" pitchFamily="18" charset="0"/>
              </a:rPr>
              <a:t>β</a:t>
            </a:r>
            <a:r>
              <a:rPr lang="en-US" altLang="zh-CN" baseline="-25000" dirty="0">
                <a:cs typeface="Times New Roman" pitchFamily="18" charset="0"/>
              </a:rPr>
              <a:t>U</a:t>
            </a:r>
            <a:r>
              <a:rPr lang="en-US" altLang="zh-CN" dirty="0">
                <a:cs typeface="Times New Roman" pitchFamily="18" charset="0"/>
              </a:rPr>
              <a:t>) is </a:t>
            </a:r>
            <a:r>
              <a:rPr lang="en-US" altLang="zh-CN" dirty="0" smtClean="0">
                <a:cs typeface="Times New Roman" pitchFamily="18" charset="0"/>
              </a:rPr>
              <a:t>the log 	likelihood </a:t>
            </a:r>
            <a:r>
              <a:rPr lang="en-US" altLang="zh-CN" dirty="0">
                <a:cs typeface="Times New Roman" pitchFamily="18" charset="0"/>
              </a:rPr>
              <a:t>at convergence of the unrestricted model. </a:t>
            </a: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r>
              <a:rPr lang="en-US" altLang="zh-CN" dirty="0">
                <a:cs typeface="Times New Roman" pitchFamily="18" charset="0"/>
              </a:rPr>
              <a:t>The χ</a:t>
            </a:r>
            <a:r>
              <a:rPr lang="en-US" altLang="zh-CN" baseline="30000" dirty="0">
                <a:cs typeface="Times New Roman" pitchFamily="18" charset="0"/>
              </a:rPr>
              <a:t>2</a:t>
            </a:r>
            <a:r>
              <a:rPr lang="en-US" altLang="zh-CN" dirty="0">
                <a:cs typeface="Times New Roman" pitchFamily="18" charset="0"/>
              </a:rPr>
              <a:t> </a:t>
            </a:r>
            <a:r>
              <a:rPr lang="en-US" altLang="zh-CN" dirty="0" smtClean="0">
                <a:cs typeface="Times New Roman" pitchFamily="18" charset="0"/>
              </a:rPr>
              <a:t>statistic </a:t>
            </a:r>
            <a:r>
              <a:rPr lang="en-US" altLang="zh-CN" dirty="0">
                <a:cs typeface="Times New Roman" pitchFamily="18" charset="0"/>
              </a:rPr>
              <a:t>is χ</a:t>
            </a:r>
            <a:r>
              <a:rPr lang="en-US" altLang="zh-CN" baseline="30000" dirty="0">
                <a:cs typeface="Times New Roman" pitchFamily="18" charset="0"/>
              </a:rPr>
              <a:t>2</a:t>
            </a:r>
            <a:r>
              <a:rPr lang="en-US" altLang="zh-CN" dirty="0">
                <a:cs typeface="Times New Roman" pitchFamily="18" charset="0"/>
              </a:rPr>
              <a:t> distributed with the degrees of freedom equal to </a:t>
            </a:r>
            <a:r>
              <a:rPr lang="en-US" altLang="zh-CN" dirty="0" smtClean="0">
                <a:cs typeface="Times New Roman" pitchFamily="18" charset="0"/>
              </a:rPr>
              <a:t>the </a:t>
            </a:r>
            <a:r>
              <a:rPr lang="en-US" altLang="zh-CN" dirty="0">
                <a:cs typeface="Times New Roman" pitchFamily="18" charset="0"/>
              </a:rPr>
              <a:t>difference in the numbers of parameters in the restricted </a:t>
            </a:r>
            <a:r>
              <a:rPr lang="en-US" altLang="zh-CN" dirty="0" smtClean="0">
                <a:cs typeface="Times New Roman" pitchFamily="18" charset="0"/>
              </a:rPr>
              <a:t>and </a:t>
            </a:r>
            <a:r>
              <a:rPr lang="en-US" altLang="zh-CN" dirty="0">
                <a:cs typeface="Times New Roman" pitchFamily="18" charset="0"/>
              </a:rPr>
              <a:t>unrestricted model (the difference in the number of </a:t>
            </a:r>
            <a:r>
              <a:rPr lang="en-US" altLang="zh-CN" dirty="0" smtClean="0">
                <a:cs typeface="Times New Roman" pitchFamily="18" charset="0"/>
              </a:rPr>
              <a:t>parameters </a:t>
            </a:r>
            <a:r>
              <a:rPr lang="en-US" altLang="zh-CN" dirty="0">
                <a:cs typeface="Times New Roman" pitchFamily="18" charset="0"/>
              </a:rPr>
              <a:t>in the </a:t>
            </a:r>
            <a:r>
              <a:rPr lang="el-GR" altLang="zh-CN" dirty="0">
                <a:cs typeface="Times New Roman" pitchFamily="18" charset="0"/>
              </a:rPr>
              <a:t>β</a:t>
            </a:r>
            <a:r>
              <a:rPr lang="en-US" altLang="zh-CN" baseline="-25000" dirty="0">
                <a:cs typeface="Times New Roman" pitchFamily="18" charset="0"/>
              </a:rPr>
              <a:t>R</a:t>
            </a:r>
            <a:r>
              <a:rPr lang="en-US" altLang="zh-CN" dirty="0">
                <a:cs typeface="Times New Roman" pitchFamily="18" charset="0"/>
              </a:rPr>
              <a:t> and the </a:t>
            </a:r>
            <a:r>
              <a:rPr lang="el-GR" altLang="zh-CN" dirty="0">
                <a:cs typeface="Times New Roman" pitchFamily="18" charset="0"/>
              </a:rPr>
              <a:t>β</a:t>
            </a:r>
            <a:r>
              <a:rPr lang="en-US" altLang="zh-CN" baseline="-25000" dirty="0">
                <a:cs typeface="Times New Roman" pitchFamily="18" charset="0"/>
              </a:rPr>
              <a:t>U</a:t>
            </a:r>
            <a:r>
              <a:rPr lang="en-US" altLang="zh-CN" dirty="0">
                <a:cs typeface="Times New Roman" pitchFamily="18" charset="0"/>
              </a:rPr>
              <a:t> parameter vectors.</a:t>
            </a: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1200"/>
              </a:spcBef>
              <a:buClr>
                <a:schemeClr val="accent2"/>
              </a:buClr>
              <a:buSzPct val="60000"/>
              <a:defRPr/>
            </a:pPr>
            <a:endParaRPr lang="en-US" altLang="zh-CN" dirty="0" smtClean="0">
              <a:cs typeface="Times New Roman" pitchFamily="18" charset="0"/>
            </a:endParaRPr>
          </a:p>
          <a:p>
            <a:pPr eaLnBrk="1" hangingPunct="1">
              <a:spcBef>
                <a:spcPts val="1200"/>
              </a:spcBef>
              <a:buClr>
                <a:schemeClr val="accent2"/>
              </a:buClr>
              <a:buSzPct val="60000"/>
              <a:defRPr/>
            </a:pP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700"/>
              </a:spcBef>
              <a:buClr>
                <a:schemeClr val="accent2"/>
              </a:buClr>
              <a:buSzPct val="60000"/>
              <a:defRPr/>
            </a:pPr>
            <a:endParaRPr lang="en-US" altLang="zh-CN" dirty="0" smtClean="0">
              <a:cs typeface="Times New Roman" pitchFamily="18" charset="0"/>
            </a:endParaRPr>
          </a:p>
        </p:txBody>
      </p:sp>
      <p:graphicFrame>
        <p:nvGraphicFramePr>
          <p:cNvPr id="37892" name="对象 1"/>
          <p:cNvGraphicFramePr>
            <a:graphicFrameLocks noChangeAspect="1"/>
          </p:cNvGraphicFramePr>
          <p:nvPr/>
        </p:nvGraphicFramePr>
        <p:xfrm>
          <a:off x="2895600" y="2286000"/>
          <a:ext cx="3175000" cy="465138"/>
        </p:xfrm>
        <a:graphic>
          <a:graphicData uri="http://schemas.openxmlformats.org/presentationml/2006/ole">
            <mc:AlternateContent xmlns:mc="http://schemas.openxmlformats.org/markup-compatibility/2006">
              <mc:Choice xmlns:v="urn:schemas-microsoft-com:vml" Requires="v">
                <p:oleObj spid="_x0000_s1028" name="Equation" r:id="rId3" imgW="1625600" imgH="241300" progId="Equation.DSMT4">
                  <p:embed/>
                </p:oleObj>
              </mc:Choice>
              <mc:Fallback>
                <p:oleObj name="Equation" r:id="rId3" imgW="1625600" imgH="241300" progId="Equation.DSMT4">
                  <p:embed/>
                  <p:pic>
                    <p:nvPicPr>
                      <p:cNvPr id="3789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286000"/>
                        <a:ext cx="31750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125441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361950" y="400318"/>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sp>
        <p:nvSpPr>
          <p:cNvPr id="46083" name="Rectangle 2"/>
          <p:cNvSpPr txBox="1">
            <a:spLocks noChangeArrowheads="1"/>
          </p:cNvSpPr>
          <p:nvPr/>
        </p:nvSpPr>
        <p:spPr bwMode="auto">
          <a:xfrm>
            <a:off x="663575" y="1557338"/>
            <a:ext cx="8229600" cy="5300662"/>
          </a:xfrm>
          <a:prstGeom prst="rect">
            <a:avLst/>
          </a:prstGeom>
          <a:noFill/>
          <a:ln>
            <a:noFill/>
          </a:ln>
          <a:extLst/>
        </p:spPr>
        <p:txBody>
          <a:bodyPr/>
          <a:lstStyle>
            <a:lvl1pPr marL="319088" indent="-319088" eaLnBrk="0" hangingPunct="0">
              <a:tabLst>
                <a:tab pos="633413" algn="l"/>
              </a:tabLst>
              <a:defRPr sz="2400">
                <a:solidFill>
                  <a:schemeClr val="tx1"/>
                </a:solidFill>
                <a:latin typeface="Times New Roman" pitchFamily="18" charset="0"/>
              </a:defRPr>
            </a:lvl1pPr>
            <a:lvl2pPr marL="742950" indent="-285750" eaLnBrk="0" hangingPunct="0">
              <a:tabLst>
                <a:tab pos="633413" algn="l"/>
              </a:tabLst>
              <a:defRPr sz="2400">
                <a:solidFill>
                  <a:schemeClr val="tx1"/>
                </a:solidFill>
                <a:latin typeface="Times New Roman" pitchFamily="18" charset="0"/>
              </a:defRPr>
            </a:lvl2pPr>
            <a:lvl3pPr marL="1143000" indent="-228600" eaLnBrk="0" hangingPunct="0">
              <a:tabLst>
                <a:tab pos="633413" algn="l"/>
              </a:tabLst>
              <a:defRPr sz="2400">
                <a:solidFill>
                  <a:schemeClr val="tx1"/>
                </a:solidFill>
                <a:latin typeface="Times New Roman" pitchFamily="18" charset="0"/>
              </a:defRPr>
            </a:lvl3pPr>
            <a:lvl4pPr marL="1600200" indent="-228600" eaLnBrk="0" hangingPunct="0">
              <a:tabLst>
                <a:tab pos="633413" algn="l"/>
              </a:tabLst>
              <a:defRPr sz="2400">
                <a:solidFill>
                  <a:schemeClr val="tx1"/>
                </a:solidFill>
                <a:latin typeface="Times New Roman" pitchFamily="18" charset="0"/>
              </a:defRPr>
            </a:lvl4pPr>
            <a:lvl5pPr marL="2057400" indent="-228600" eaLnBrk="0" hangingPunct="0">
              <a:tabLst>
                <a:tab pos="633413"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633413"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633413"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633413"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633413" algn="l"/>
              </a:tabLst>
              <a:defRPr sz="2400">
                <a:solidFill>
                  <a:schemeClr val="tx1"/>
                </a:solidFill>
                <a:latin typeface="Times New Roman" pitchFamily="18" charset="0"/>
              </a:defRPr>
            </a:lvl9pPr>
          </a:lstStyle>
          <a:p>
            <a:pPr eaLnBrk="1" hangingPunct="1">
              <a:spcBef>
                <a:spcPts val="1200"/>
              </a:spcBef>
              <a:buClr>
                <a:schemeClr val="accent2"/>
              </a:buClr>
              <a:buSzPct val="60000"/>
              <a:buFont typeface="Wingdings" pitchFamily="2" charset="2"/>
              <a:buChar char=""/>
              <a:defRPr/>
            </a:pPr>
            <a:r>
              <a:rPr lang="en-US" altLang="zh-CN" dirty="0">
                <a:cs typeface="Times New Roman" pitchFamily="18" charset="0"/>
              </a:rPr>
              <a:t>Another measure of overall model fit is the </a:t>
            </a:r>
            <a:r>
              <a:rPr lang="el-GR" altLang="zh-CN" dirty="0" smtClean="0">
                <a:cs typeface="Times New Roman" pitchFamily="18" charset="0"/>
              </a:rPr>
              <a:t>ρ</a:t>
            </a:r>
            <a:r>
              <a:rPr lang="en-US" altLang="zh-CN" baseline="30000" dirty="0" smtClean="0">
                <a:cs typeface="Times New Roman" pitchFamily="18" charset="0"/>
              </a:rPr>
              <a:t>2</a:t>
            </a:r>
            <a:r>
              <a:rPr lang="en-US" altLang="zh-CN" dirty="0" smtClean="0">
                <a:cs typeface="Times New Roman" pitchFamily="18" charset="0"/>
              </a:rPr>
              <a:t> </a:t>
            </a:r>
            <a:r>
              <a:rPr lang="en-US" altLang="zh-CN" dirty="0">
                <a:cs typeface="Times New Roman" pitchFamily="18" charset="0"/>
              </a:rPr>
              <a:t>statistic. </a:t>
            </a:r>
            <a:r>
              <a:rPr lang="en-US" altLang="zh-CN" dirty="0" smtClean="0">
                <a:cs typeface="Times New Roman" pitchFamily="18" charset="0"/>
              </a:rPr>
              <a:t>The </a:t>
            </a:r>
            <a:r>
              <a:rPr lang="el-GR" altLang="zh-CN" dirty="0">
                <a:cs typeface="Times New Roman" pitchFamily="18" charset="0"/>
              </a:rPr>
              <a:t>ρ</a:t>
            </a:r>
            <a:r>
              <a:rPr lang="en-US" altLang="zh-CN" baseline="30000" dirty="0">
                <a:cs typeface="Times New Roman" pitchFamily="18" charset="0"/>
              </a:rPr>
              <a:t>2</a:t>
            </a:r>
            <a:r>
              <a:rPr lang="en-US" altLang="zh-CN" dirty="0" smtClean="0">
                <a:cs typeface="Times New Roman" pitchFamily="18" charset="0"/>
              </a:rPr>
              <a:t> </a:t>
            </a:r>
            <a:r>
              <a:rPr lang="en-US" altLang="zh-CN" dirty="0">
                <a:cs typeface="Times New Roman" pitchFamily="18" charset="0"/>
              </a:rPr>
              <a:t>statistic </a:t>
            </a:r>
            <a:r>
              <a:rPr lang="en-US" altLang="zh-CN" dirty="0" smtClean="0">
                <a:cs typeface="Times New Roman" pitchFamily="18" charset="0"/>
              </a:rPr>
              <a:t>is</a:t>
            </a:r>
          </a:p>
          <a:p>
            <a:pPr marL="0" indent="0" eaLnBrk="1" hangingPunct="1">
              <a:spcBef>
                <a:spcPts val="1200"/>
              </a:spcBef>
              <a:buClr>
                <a:schemeClr val="accent2"/>
              </a:buClr>
              <a:buSzPct val="60000"/>
              <a:defRPr/>
            </a:pPr>
            <a:endParaRPr lang="en-US" altLang="zh-CN" dirty="0" smtClean="0">
              <a:cs typeface="Times New Roman" pitchFamily="18" charset="0"/>
            </a:endParaRPr>
          </a:p>
          <a:p>
            <a:pPr marL="0" indent="0" eaLnBrk="1" hangingPunct="1">
              <a:spcBef>
                <a:spcPts val="1200"/>
              </a:spcBef>
              <a:buClr>
                <a:schemeClr val="accent2"/>
              </a:buClr>
              <a:buSzPct val="60000"/>
              <a:tabLst>
                <a:tab pos="357188" algn="l"/>
              </a:tabLst>
              <a:defRPr/>
            </a:pPr>
            <a:r>
              <a:rPr lang="en-US" altLang="zh-CN" dirty="0" smtClean="0">
                <a:cs typeface="Times New Roman" pitchFamily="18" charset="0"/>
              </a:rPr>
              <a:t>	where LL(</a:t>
            </a:r>
            <a:r>
              <a:rPr lang="el-GR" altLang="zh-CN" dirty="0" smtClean="0">
                <a:ea typeface="宋体" pitchFamily="2" charset="-122"/>
                <a:cs typeface="Times New Roman" pitchFamily="18" charset="0"/>
              </a:rPr>
              <a:t>β</a:t>
            </a:r>
            <a:r>
              <a:rPr lang="en-US" altLang="zh-CN" dirty="0" smtClean="0">
                <a:cs typeface="Times New Roman" pitchFamily="18" charset="0"/>
              </a:rPr>
              <a:t>) </a:t>
            </a:r>
            <a:r>
              <a:rPr lang="en-US" altLang="zh-CN" dirty="0">
                <a:cs typeface="Times New Roman" pitchFamily="18" charset="0"/>
              </a:rPr>
              <a:t>is the log likelihood at convergence with </a:t>
            </a:r>
            <a:r>
              <a:rPr lang="en-US" altLang="zh-CN" dirty="0" smtClean="0">
                <a:cs typeface="Times New Roman" pitchFamily="18" charset="0"/>
              </a:rPr>
              <a:t>	parameter </a:t>
            </a:r>
            <a:r>
              <a:rPr lang="en-US" altLang="zh-CN" dirty="0">
                <a:cs typeface="Times New Roman" pitchFamily="18" charset="0"/>
              </a:rPr>
              <a:t>vector </a:t>
            </a:r>
            <a:r>
              <a:rPr lang="el-GR" altLang="zh-CN" dirty="0" smtClean="0">
                <a:ea typeface="宋体" pitchFamily="2" charset="-122"/>
                <a:cs typeface="Times New Roman" pitchFamily="18" charset="0"/>
              </a:rPr>
              <a:t>β</a:t>
            </a:r>
            <a:r>
              <a:rPr lang="en-US" altLang="zh-CN" dirty="0" smtClean="0">
                <a:ea typeface="宋体" pitchFamily="2" charset="-122"/>
                <a:cs typeface="Times New Roman" pitchFamily="18" charset="0"/>
              </a:rPr>
              <a:t> </a:t>
            </a:r>
            <a:r>
              <a:rPr lang="en-US" altLang="zh-CN" dirty="0" smtClean="0">
                <a:cs typeface="Times New Roman" pitchFamily="18" charset="0"/>
              </a:rPr>
              <a:t>and </a:t>
            </a:r>
            <a:r>
              <a:rPr lang="en-US" altLang="zh-CN" dirty="0">
                <a:cs typeface="Times New Roman" pitchFamily="18" charset="0"/>
              </a:rPr>
              <a:t>LL(0) is the initial log likelihood (with </a:t>
            </a:r>
            <a:r>
              <a:rPr lang="en-US" altLang="zh-CN" dirty="0" smtClean="0">
                <a:cs typeface="Times New Roman" pitchFamily="18" charset="0"/>
              </a:rPr>
              <a:t>	all </a:t>
            </a:r>
            <a:r>
              <a:rPr lang="en-US" altLang="zh-CN" dirty="0">
                <a:cs typeface="Times New Roman" pitchFamily="18" charset="0"/>
              </a:rPr>
              <a:t>parameters set to zero). </a:t>
            </a:r>
            <a:endParaRPr lang="en-US" altLang="zh-CN" dirty="0" smtClean="0">
              <a:cs typeface="Times New Roman" pitchFamily="18" charset="0"/>
            </a:endParaRPr>
          </a:p>
          <a:p>
            <a:pPr eaLnBrk="1" hangingPunct="1">
              <a:spcBef>
                <a:spcPts val="600"/>
              </a:spcBef>
              <a:buClr>
                <a:schemeClr val="accent2"/>
              </a:buClr>
              <a:buSzPct val="60000"/>
              <a:buFont typeface="Wingdings" pitchFamily="2" charset="2"/>
              <a:buChar char=""/>
              <a:defRPr/>
            </a:pPr>
            <a:r>
              <a:rPr lang="en-US" altLang="zh-CN" dirty="0" smtClean="0">
                <a:cs typeface="Times New Roman" pitchFamily="18" charset="0"/>
              </a:rPr>
              <a:t>The perfect </a:t>
            </a:r>
            <a:r>
              <a:rPr lang="en-US" altLang="zh-CN" dirty="0">
                <a:cs typeface="Times New Roman" pitchFamily="18" charset="0"/>
              </a:rPr>
              <a:t>model would have a likelihood function equal to one (all </a:t>
            </a:r>
            <a:r>
              <a:rPr lang="en-US" altLang="zh-CN" dirty="0" smtClean="0">
                <a:cs typeface="Times New Roman" pitchFamily="18" charset="0"/>
              </a:rPr>
              <a:t>selected alternative </a:t>
            </a:r>
            <a:r>
              <a:rPr lang="en-US" altLang="zh-CN" dirty="0">
                <a:cs typeface="Times New Roman" pitchFamily="18" charset="0"/>
              </a:rPr>
              <a:t>outcomes would be predicted by the model with probability </a:t>
            </a:r>
            <a:r>
              <a:rPr lang="en-US" altLang="zh-CN" dirty="0" smtClean="0">
                <a:cs typeface="Times New Roman" pitchFamily="18" charset="0"/>
              </a:rPr>
              <a:t>one, and </a:t>
            </a:r>
            <a:r>
              <a:rPr lang="en-US" altLang="zh-CN" dirty="0">
                <a:cs typeface="Times New Roman" pitchFamily="18" charset="0"/>
              </a:rPr>
              <a:t>the product of these across the observations would also be one) and </a:t>
            </a:r>
            <a:r>
              <a:rPr lang="en-US" altLang="zh-CN" dirty="0" smtClean="0">
                <a:cs typeface="Times New Roman" pitchFamily="18" charset="0"/>
              </a:rPr>
              <a:t>the log </a:t>
            </a:r>
            <a:r>
              <a:rPr lang="en-US" altLang="zh-CN" dirty="0">
                <a:cs typeface="Times New Roman" pitchFamily="18" charset="0"/>
              </a:rPr>
              <a:t>likelihood would be zero, giving a </a:t>
            </a:r>
            <a:r>
              <a:rPr lang="el-GR" altLang="zh-CN" dirty="0">
                <a:cs typeface="Times New Roman" pitchFamily="18" charset="0"/>
              </a:rPr>
              <a:t>ρ</a:t>
            </a:r>
            <a:r>
              <a:rPr lang="en-US" altLang="zh-CN" baseline="30000" dirty="0">
                <a:cs typeface="Times New Roman" pitchFamily="18" charset="0"/>
              </a:rPr>
              <a:t>2</a:t>
            </a:r>
            <a:r>
              <a:rPr lang="en-US" altLang="zh-CN" dirty="0" smtClean="0">
                <a:cs typeface="Times New Roman" pitchFamily="18" charset="0"/>
              </a:rPr>
              <a:t> </a:t>
            </a:r>
            <a:r>
              <a:rPr lang="en-US" altLang="zh-CN" dirty="0">
                <a:cs typeface="Times New Roman" pitchFamily="18" charset="0"/>
              </a:rPr>
              <a:t>of </a:t>
            </a:r>
            <a:r>
              <a:rPr lang="en-US" altLang="zh-CN" dirty="0" smtClean="0">
                <a:cs typeface="Times New Roman" pitchFamily="18" charset="0"/>
              </a:rPr>
              <a:t>one. </a:t>
            </a:r>
          </a:p>
          <a:p>
            <a:pPr eaLnBrk="1" hangingPunct="1">
              <a:spcBef>
                <a:spcPts val="600"/>
              </a:spcBef>
              <a:buClr>
                <a:schemeClr val="accent2"/>
              </a:buClr>
              <a:buSzPct val="60000"/>
              <a:buFont typeface="Wingdings" pitchFamily="2" charset="2"/>
              <a:buChar char=""/>
              <a:defRPr/>
            </a:pPr>
            <a:r>
              <a:rPr lang="en-US" altLang="zh-CN" dirty="0" smtClean="0">
                <a:cs typeface="Times New Roman" pitchFamily="18" charset="0"/>
              </a:rPr>
              <a:t>Thus the </a:t>
            </a:r>
            <a:r>
              <a:rPr lang="el-GR" altLang="zh-CN" dirty="0">
                <a:cs typeface="Times New Roman" pitchFamily="18" charset="0"/>
              </a:rPr>
              <a:t>ρ</a:t>
            </a:r>
            <a:r>
              <a:rPr lang="en-US" altLang="zh-CN" baseline="30000" dirty="0">
                <a:cs typeface="Times New Roman" pitchFamily="18" charset="0"/>
              </a:rPr>
              <a:t>2 </a:t>
            </a:r>
            <a:r>
              <a:rPr lang="en-US" altLang="zh-CN" dirty="0" smtClean="0">
                <a:cs typeface="Times New Roman" pitchFamily="18" charset="0"/>
              </a:rPr>
              <a:t>statistic </a:t>
            </a:r>
            <a:r>
              <a:rPr lang="en-US" altLang="zh-CN" dirty="0">
                <a:cs typeface="Times New Roman" pitchFamily="18" charset="0"/>
              </a:rPr>
              <a:t>is between zero and one and the closer it is to one, the </a:t>
            </a:r>
            <a:r>
              <a:rPr lang="en-US" altLang="zh-CN" dirty="0" smtClean="0">
                <a:cs typeface="Times New Roman" pitchFamily="18" charset="0"/>
              </a:rPr>
              <a:t>more variance </a:t>
            </a:r>
            <a:r>
              <a:rPr lang="en-US" altLang="zh-CN" dirty="0">
                <a:cs typeface="Times New Roman" pitchFamily="18" charset="0"/>
              </a:rPr>
              <a:t>the estimated model is explaining. </a:t>
            </a: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1200"/>
              </a:spcBef>
              <a:buClr>
                <a:schemeClr val="accent2"/>
              </a:buClr>
              <a:buSzPct val="60000"/>
              <a:buFont typeface="Wingdings" pitchFamily="2" charset="2"/>
              <a:buChar char=""/>
              <a:defRPr/>
            </a:pPr>
            <a:endParaRPr lang="en-US" altLang="zh-CN" dirty="0" smtClean="0">
              <a:cs typeface="Times New Roman" pitchFamily="18" charset="0"/>
            </a:endParaRPr>
          </a:p>
          <a:p>
            <a:pPr eaLnBrk="1" hangingPunct="1">
              <a:spcBef>
                <a:spcPts val="700"/>
              </a:spcBef>
              <a:buClr>
                <a:schemeClr val="accent2"/>
              </a:buClr>
              <a:buSzPct val="60000"/>
              <a:defRPr/>
            </a:pPr>
            <a:endParaRPr lang="en-US" altLang="zh-CN" dirty="0" smtClean="0">
              <a:cs typeface="Times New Roman" pitchFamily="18" charset="0"/>
            </a:endParaRPr>
          </a:p>
        </p:txBody>
      </p:sp>
      <p:graphicFrame>
        <p:nvGraphicFramePr>
          <p:cNvPr id="38916" name="对象 1"/>
          <p:cNvGraphicFramePr>
            <a:graphicFrameLocks noChangeAspect="1"/>
          </p:cNvGraphicFramePr>
          <p:nvPr/>
        </p:nvGraphicFramePr>
        <p:xfrm>
          <a:off x="3379788" y="2163763"/>
          <a:ext cx="1806575" cy="815975"/>
        </p:xfrm>
        <a:graphic>
          <a:graphicData uri="http://schemas.openxmlformats.org/presentationml/2006/ole">
            <mc:AlternateContent xmlns:mc="http://schemas.openxmlformats.org/markup-compatibility/2006">
              <mc:Choice xmlns:v="urn:schemas-microsoft-com:vml" Requires="v">
                <p:oleObj spid="_x0000_s2052" name="Equation" r:id="rId3" imgW="927100" imgH="419100" progId="Equation.DSMT4">
                  <p:embed/>
                </p:oleObj>
              </mc:Choice>
              <mc:Fallback>
                <p:oleObj name="Equation" r:id="rId3" imgW="927100" imgH="419100" progId="Equation.DSMT4">
                  <p:embed/>
                  <p:pic>
                    <p:nvPicPr>
                      <p:cNvPr id="38916"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9788" y="2163763"/>
                        <a:ext cx="180657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274334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344487" y="5334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ROC Curve</a:t>
            </a:r>
          </a:p>
        </p:txBody>
      </p:sp>
      <p:pic>
        <p:nvPicPr>
          <p:cNvPr id="399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76400"/>
            <a:ext cx="6172200" cy="489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82735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357188" y="4572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09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600200"/>
            <a:ext cx="8429625" cy="302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95105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357188" y="4572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198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1301750"/>
            <a:ext cx="8413750" cy="555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57188" y="3657600"/>
            <a:ext cx="8329612" cy="1676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endParaRPr lang="zh-CN" altLang="en-US"/>
          </a:p>
        </p:txBody>
      </p:sp>
    </p:spTree>
    <p:extLst>
      <p:ext uri="{BB962C8B-B14F-4D97-AF65-F5344CB8AC3E}">
        <p14:creationId xmlns:p14="http://schemas.microsoft.com/office/powerpoint/2010/main" val="3201152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379412" y="5334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3011" name="Picture 1" descr="C:\Users\adm\AppData\Roaming\Tencent\Users\394197411\QQ\WinTemp\RichOle\J$@]RW)M7{U8(S{Z4AEEB0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675" y="1671638"/>
            <a:ext cx="7124700"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21059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406400" y="4572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40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3" y="1981200"/>
            <a:ext cx="9296400" cy="4033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30361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234156" y="4572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505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38" y="1524000"/>
            <a:ext cx="8831262" cy="512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46504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306387" y="45720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00200"/>
            <a:ext cx="8839200" cy="467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77155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381000" y="472440"/>
            <a:ext cx="8531225" cy="990600"/>
          </a:xfrm>
        </p:spPr>
        <p:txBody>
          <a:bodyPr/>
          <a:lstStyle/>
          <a:p>
            <a:pPr algn="ctr" eaLnBrk="1" hangingPunct="1"/>
            <a:r>
              <a:rPr lang="en-US" altLang="zh-CN" b="1" dirty="0" smtClean="0">
                <a:latin typeface="Times New Roman" panose="02020603050405020304" pitchFamily="18" charset="0"/>
                <a:cs typeface="Times New Roman" panose="02020603050405020304" pitchFamily="18" charset="0"/>
              </a:rPr>
              <a:t>Logistic Regression</a:t>
            </a:r>
          </a:p>
        </p:txBody>
      </p:sp>
      <p:pic>
        <p:nvPicPr>
          <p:cNvPr id="47107" name="Picture 1" descr="C:\Users\cheng\AppData\Roaming\Tencent\Users\394197411\QQ\WinTemp\RichOle\YBK4S121[2}X()G1OZCC98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76400"/>
            <a:ext cx="847725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33400" y="2362200"/>
            <a:ext cx="8324850" cy="381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矩形 6"/>
          <p:cNvSpPr/>
          <p:nvPr/>
        </p:nvSpPr>
        <p:spPr>
          <a:xfrm>
            <a:off x="609600" y="4648200"/>
            <a:ext cx="8324850" cy="381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8" name="矩形 7"/>
          <p:cNvSpPr/>
          <p:nvPr/>
        </p:nvSpPr>
        <p:spPr>
          <a:xfrm>
            <a:off x="590550" y="5943600"/>
            <a:ext cx="8324850" cy="381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extLst>
      <p:ext uri="{BB962C8B-B14F-4D97-AF65-F5344CB8AC3E}">
        <p14:creationId xmlns:p14="http://schemas.microsoft.com/office/powerpoint/2010/main" val="20165104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3072765" cy="226504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对数几率回归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学习目标</a:t>
            </a:r>
            <a:endParaRPr sz="2800">
              <a:latin typeface="微软雅黑"/>
              <a:cs typeface="微软雅黑"/>
            </a:endParaRPr>
          </a:p>
          <a:p>
            <a:pPr marL="269875" indent="-257175">
              <a:lnSpc>
                <a:spcPct val="100000"/>
              </a:lnSpc>
              <a:spcBef>
                <a:spcPts val="1290"/>
              </a:spcBef>
              <a:buClr>
                <a:srgbClr val="4F81BC"/>
              </a:buClr>
              <a:buSzPct val="85000"/>
              <a:buFont typeface="Segoe UI Symbol"/>
              <a:buChar char="•"/>
              <a:tabLst>
                <a:tab pos="270510" algn="l"/>
              </a:tabLst>
            </a:pPr>
            <a:r>
              <a:rPr sz="2000" dirty="0">
                <a:solidFill>
                  <a:srgbClr val="BEBEBE"/>
                </a:solidFill>
                <a:latin typeface="微软雅黑"/>
                <a:cs typeface="微软雅黑"/>
              </a:rPr>
              <a:t>二项</a:t>
            </a:r>
            <a:r>
              <a:rPr sz="2000" spc="-20" dirty="0">
                <a:solidFill>
                  <a:srgbClr val="BEBEBE"/>
                </a:solidFill>
                <a:latin typeface="微软雅黑"/>
                <a:cs typeface="微软雅黑"/>
              </a:rPr>
              <a:t> </a:t>
            </a:r>
            <a:r>
              <a:rPr sz="2000" spc="-5" dirty="0">
                <a:solidFill>
                  <a:srgbClr val="BEBEBE"/>
                </a:solidFill>
                <a:latin typeface="微软雅黑"/>
                <a:cs typeface="微软雅黑"/>
              </a:rPr>
              <a:t>Logis</a:t>
            </a:r>
            <a:r>
              <a:rPr sz="2000" dirty="0">
                <a:solidFill>
                  <a:srgbClr val="BEBEBE"/>
                </a:solidFill>
                <a:latin typeface="微软雅黑"/>
                <a:cs typeface="微软雅黑"/>
              </a:rPr>
              <a:t>t</a:t>
            </a:r>
            <a:r>
              <a:rPr sz="2000" spc="-10" dirty="0">
                <a:solidFill>
                  <a:srgbClr val="BEBEBE"/>
                </a:solidFill>
                <a:latin typeface="微软雅黑"/>
                <a:cs typeface="微软雅黑"/>
              </a:rPr>
              <a:t>i</a:t>
            </a:r>
            <a:r>
              <a:rPr sz="2000" dirty="0">
                <a:solidFill>
                  <a:srgbClr val="BEBEBE"/>
                </a:solidFill>
                <a:latin typeface="微软雅黑"/>
                <a:cs typeface="微软雅黑"/>
              </a:rPr>
              <a:t>c</a:t>
            </a:r>
            <a:r>
              <a:rPr sz="2000" spc="10" dirty="0">
                <a:solidFill>
                  <a:srgbClr val="BEBEBE"/>
                </a:solidFill>
                <a:latin typeface="微软雅黑"/>
                <a:cs typeface="微软雅黑"/>
              </a:rPr>
              <a:t> </a:t>
            </a:r>
            <a:r>
              <a:rPr sz="2000" dirty="0">
                <a:solidFill>
                  <a:srgbClr val="BEBEBE"/>
                </a:solidFill>
                <a:latin typeface="微软雅黑"/>
                <a:cs typeface="微软雅黑"/>
              </a:rPr>
              <a:t>回归</a:t>
            </a:r>
            <a:endParaRPr sz="2000">
              <a:latin typeface="微软雅黑"/>
              <a:cs typeface="微软雅黑"/>
            </a:endParaRPr>
          </a:p>
          <a:p>
            <a:pPr marL="269875" indent="-257175">
              <a:lnSpc>
                <a:spcPct val="100000"/>
              </a:lnSpc>
              <a:spcBef>
                <a:spcPts val="1680"/>
              </a:spcBef>
              <a:buClr>
                <a:srgbClr val="4F81BC"/>
              </a:buClr>
              <a:buSzPct val="85000"/>
              <a:buFont typeface="Segoe UI Symbol"/>
              <a:buChar char="•"/>
              <a:tabLst>
                <a:tab pos="270510" algn="l"/>
              </a:tabLst>
            </a:pPr>
            <a:r>
              <a:rPr sz="2000" spc="5" dirty="0">
                <a:latin typeface="微软雅黑"/>
                <a:cs typeface="微软雅黑"/>
              </a:rPr>
              <a:t>多项</a:t>
            </a:r>
            <a:r>
              <a:rPr sz="2000" spc="-20" dirty="0">
                <a:latin typeface="微软雅黑"/>
                <a:cs typeface="微软雅黑"/>
              </a:rPr>
              <a:t> </a:t>
            </a:r>
            <a:r>
              <a:rPr sz="2000" spc="-5" dirty="0">
                <a:latin typeface="微软雅黑"/>
                <a:cs typeface="微软雅黑"/>
              </a:rPr>
              <a:t>Log</a:t>
            </a:r>
            <a:r>
              <a:rPr sz="2000" spc="-10" dirty="0">
                <a:latin typeface="微软雅黑"/>
                <a:cs typeface="微软雅黑"/>
              </a:rPr>
              <a:t>i</a:t>
            </a:r>
            <a:r>
              <a:rPr sz="2000" dirty="0">
                <a:latin typeface="微软雅黑"/>
                <a:cs typeface="微软雅黑"/>
              </a:rPr>
              <a:t>s</a:t>
            </a:r>
            <a:r>
              <a:rPr sz="2000" spc="-10" dirty="0">
                <a:latin typeface="微软雅黑"/>
                <a:cs typeface="微软雅黑"/>
              </a:rPr>
              <a:t>t</a:t>
            </a:r>
            <a:r>
              <a:rPr sz="2000" spc="-5" dirty="0">
                <a:latin typeface="微软雅黑"/>
                <a:cs typeface="微软雅黑"/>
              </a:rPr>
              <a:t>i</a:t>
            </a:r>
            <a:r>
              <a:rPr sz="2000" dirty="0">
                <a:latin typeface="微软雅黑"/>
                <a:cs typeface="微软雅黑"/>
              </a:rPr>
              <a:t>c</a:t>
            </a:r>
            <a:r>
              <a:rPr sz="2000" spc="5" dirty="0">
                <a:latin typeface="微软雅黑"/>
                <a:cs typeface="微软雅黑"/>
              </a:rPr>
              <a:t> </a:t>
            </a:r>
            <a:r>
              <a:rPr sz="2000" dirty="0">
                <a:latin typeface="微软雅黑"/>
                <a:cs typeface="微软雅黑"/>
              </a:rPr>
              <a:t>回归</a:t>
            </a:r>
            <a:endParaRPr sz="2000">
              <a:latin typeface="微软雅黑"/>
              <a:cs typeface="微软雅黑"/>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8063865" cy="255454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多项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dirty="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如何从二分类转化为多分类？思路一</a:t>
            </a:r>
            <a:endParaRPr sz="2800" dirty="0">
              <a:latin typeface="微软雅黑"/>
              <a:cs typeface="微软雅黑"/>
            </a:endParaRPr>
          </a:p>
          <a:p>
            <a:pPr marL="286385">
              <a:lnSpc>
                <a:spcPct val="100000"/>
              </a:lnSpc>
              <a:spcBef>
                <a:spcPts val="1525"/>
              </a:spcBef>
            </a:pPr>
            <a:r>
              <a:rPr sz="2050" spc="-835" dirty="0">
                <a:solidFill>
                  <a:srgbClr val="4F81BC"/>
                </a:solidFill>
                <a:latin typeface="Segoe UI Symbol"/>
                <a:cs typeface="Segoe UI Symbol"/>
              </a:rPr>
              <a:t>▪</a:t>
            </a:r>
            <a:r>
              <a:rPr sz="2050" spc="-55" dirty="0">
                <a:solidFill>
                  <a:srgbClr val="4F81BC"/>
                </a:solidFill>
                <a:latin typeface="Segoe UI Symbol"/>
                <a:cs typeface="Segoe UI Symbol"/>
              </a:rPr>
              <a:t> </a:t>
            </a:r>
            <a:r>
              <a:rPr sz="2400" dirty="0">
                <a:latin typeface="微软雅黑"/>
                <a:cs typeface="微软雅黑"/>
              </a:rPr>
              <a:t>对多分类问题进行拆分，变成多个二分类问题</a:t>
            </a:r>
          </a:p>
          <a:p>
            <a:pPr marL="286385">
              <a:lnSpc>
                <a:spcPct val="100000"/>
              </a:lnSpc>
              <a:spcBef>
                <a:spcPts val="2014"/>
              </a:spcBef>
            </a:pPr>
            <a:r>
              <a:rPr sz="2050" spc="-835" dirty="0">
                <a:solidFill>
                  <a:srgbClr val="4F81BC"/>
                </a:solidFill>
                <a:latin typeface="Segoe UI Symbol"/>
                <a:cs typeface="Segoe UI Symbol"/>
              </a:rPr>
              <a:t>▪</a:t>
            </a:r>
            <a:r>
              <a:rPr sz="2050" spc="-55" dirty="0">
                <a:solidFill>
                  <a:srgbClr val="4F81BC"/>
                </a:solidFill>
                <a:latin typeface="Segoe UI Symbol"/>
                <a:cs typeface="Segoe UI Symbol"/>
              </a:rPr>
              <a:t> </a:t>
            </a:r>
            <a:r>
              <a:rPr sz="2400" dirty="0">
                <a:latin typeface="微软雅黑"/>
                <a:cs typeface="微软雅黑"/>
              </a:rPr>
              <a:t>即构建多个二项 </a:t>
            </a:r>
            <a:r>
              <a:rPr sz="2400" spc="-10" dirty="0">
                <a:latin typeface="微软雅黑"/>
                <a:cs typeface="微软雅黑"/>
              </a:rPr>
              <a:t>Logis</a:t>
            </a:r>
            <a:r>
              <a:rPr sz="2400" spc="0" dirty="0">
                <a:latin typeface="微软雅黑"/>
                <a:cs typeface="微软雅黑"/>
              </a:rPr>
              <a:t>t</a:t>
            </a:r>
            <a:r>
              <a:rPr sz="2400" spc="-5" dirty="0">
                <a:latin typeface="微软雅黑"/>
                <a:cs typeface="微软雅黑"/>
              </a:rPr>
              <a:t>i</a:t>
            </a:r>
            <a:r>
              <a:rPr sz="2400" dirty="0">
                <a:latin typeface="微软雅黑"/>
                <a:cs typeface="微软雅黑"/>
              </a:rPr>
              <a:t>c</a:t>
            </a:r>
            <a:r>
              <a:rPr sz="2400" spc="5" dirty="0">
                <a:latin typeface="微软雅黑"/>
                <a:cs typeface="微软雅黑"/>
              </a:rPr>
              <a:t> </a:t>
            </a:r>
            <a:r>
              <a:rPr sz="2400" dirty="0" err="1" smtClean="0">
                <a:latin typeface="微软雅黑"/>
                <a:cs typeface="微软雅黑"/>
              </a:rPr>
              <a:t>回归</a:t>
            </a:r>
            <a:endParaRPr sz="2400" dirty="0">
              <a:latin typeface="微软雅黑"/>
              <a:cs typeface="微软雅黑"/>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00200"/>
            <a:ext cx="8001000" cy="454889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6082665" cy="1837689"/>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多项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如何从二分类转化为多分类？思路二</a:t>
            </a:r>
            <a:endParaRPr sz="2800">
              <a:latin typeface="微软雅黑"/>
              <a:cs typeface="微软雅黑"/>
            </a:endParaRPr>
          </a:p>
          <a:p>
            <a:pPr marL="286385">
              <a:lnSpc>
                <a:spcPct val="100000"/>
              </a:lnSpc>
              <a:spcBef>
                <a:spcPts val="1525"/>
              </a:spcBef>
            </a:pPr>
            <a:r>
              <a:rPr sz="2050" spc="-835" dirty="0">
                <a:solidFill>
                  <a:srgbClr val="4F81BC"/>
                </a:solidFill>
                <a:latin typeface="Segoe UI Symbol"/>
                <a:cs typeface="Segoe UI Symbol"/>
              </a:rPr>
              <a:t>▪</a:t>
            </a:r>
            <a:r>
              <a:rPr sz="2050" spc="-55" dirty="0">
                <a:solidFill>
                  <a:srgbClr val="4F81BC"/>
                </a:solidFill>
                <a:latin typeface="Segoe UI Symbol"/>
                <a:cs typeface="Segoe UI Symbol"/>
              </a:rPr>
              <a:t> </a:t>
            </a:r>
            <a:r>
              <a:rPr sz="2400" dirty="0">
                <a:latin typeface="微软雅黑"/>
                <a:cs typeface="微软雅黑"/>
              </a:rPr>
              <a:t>用</a:t>
            </a:r>
            <a:r>
              <a:rPr sz="2400" spc="-5" dirty="0">
                <a:latin typeface="微软雅黑"/>
                <a:cs typeface="微软雅黑"/>
              </a:rPr>
              <a:t> S</a:t>
            </a:r>
            <a:r>
              <a:rPr sz="2400" spc="-55" dirty="0">
                <a:latin typeface="微软雅黑"/>
                <a:cs typeface="微软雅黑"/>
              </a:rPr>
              <a:t>o</a:t>
            </a:r>
            <a:r>
              <a:rPr sz="2400" spc="30" dirty="0">
                <a:latin typeface="微软雅黑"/>
                <a:cs typeface="微软雅黑"/>
              </a:rPr>
              <a:t>f</a:t>
            </a:r>
            <a:r>
              <a:rPr sz="2400" spc="-5" dirty="0">
                <a:latin typeface="微软雅黑"/>
                <a:cs typeface="微软雅黑"/>
              </a:rPr>
              <a:t>tmax</a:t>
            </a:r>
            <a:r>
              <a:rPr sz="2400" spc="20" dirty="0">
                <a:latin typeface="微软雅黑"/>
                <a:cs typeface="微软雅黑"/>
              </a:rPr>
              <a:t> </a:t>
            </a:r>
            <a:r>
              <a:rPr sz="2400" dirty="0">
                <a:latin typeface="微软雅黑"/>
                <a:cs typeface="微软雅黑"/>
              </a:rPr>
              <a:t>函数替换对数几率函数</a:t>
            </a:r>
            <a:endParaRPr sz="2400">
              <a:latin typeface="微软雅黑"/>
              <a:cs typeface="微软雅黑"/>
            </a:endParaRPr>
          </a:p>
        </p:txBody>
      </p:sp>
      <p:sp>
        <p:nvSpPr>
          <p:cNvPr id="3" name="object 3"/>
          <p:cNvSpPr txBox="1"/>
          <p:nvPr/>
        </p:nvSpPr>
        <p:spPr>
          <a:xfrm>
            <a:off x="1084884" y="6324287"/>
            <a:ext cx="4457700" cy="304800"/>
          </a:xfrm>
          <a:prstGeom prst="rect">
            <a:avLst/>
          </a:prstGeom>
        </p:spPr>
        <p:txBody>
          <a:bodyPr vert="horz" wrap="square" lIns="0" tIns="0" rIns="0" bIns="0" rtlCol="0">
            <a:spAutoFit/>
          </a:bodyPr>
          <a:lstStyle/>
          <a:p>
            <a:pPr marL="12700">
              <a:lnSpc>
                <a:spcPct val="100000"/>
              </a:lnSpc>
            </a:pPr>
            <a:r>
              <a:rPr sz="1950" spc="-775" dirty="0">
                <a:solidFill>
                  <a:srgbClr val="4F81BC"/>
                </a:solidFill>
                <a:latin typeface="Segoe UI Symbol"/>
                <a:cs typeface="Segoe UI Symbol"/>
              </a:rPr>
              <a:t>▪</a:t>
            </a:r>
            <a:r>
              <a:rPr sz="1950" spc="-5" dirty="0">
                <a:solidFill>
                  <a:srgbClr val="4F81BC"/>
                </a:solidFill>
                <a:latin typeface="Segoe UI Symbol"/>
                <a:cs typeface="Segoe UI Symbol"/>
              </a:rPr>
              <a:t> </a:t>
            </a:r>
            <a:r>
              <a:rPr sz="2200" spc="-10" dirty="0">
                <a:latin typeface="微软雅黑"/>
                <a:cs typeface="微软雅黑"/>
              </a:rPr>
              <a:t>S</a:t>
            </a:r>
            <a:r>
              <a:rPr sz="2200" spc="-55" dirty="0">
                <a:latin typeface="微软雅黑"/>
                <a:cs typeface="微软雅黑"/>
              </a:rPr>
              <a:t>o</a:t>
            </a:r>
            <a:r>
              <a:rPr sz="2200" spc="30" dirty="0">
                <a:latin typeface="微软雅黑"/>
                <a:cs typeface="微软雅黑"/>
              </a:rPr>
              <a:t>f</a:t>
            </a:r>
            <a:r>
              <a:rPr sz="2200" spc="-5" dirty="0">
                <a:latin typeface="微软雅黑"/>
                <a:cs typeface="微软雅黑"/>
              </a:rPr>
              <a:t>t</a:t>
            </a:r>
            <a:r>
              <a:rPr sz="2200" spc="-20" dirty="0">
                <a:latin typeface="微软雅黑"/>
                <a:cs typeface="微软雅黑"/>
              </a:rPr>
              <a:t>m</a:t>
            </a:r>
            <a:r>
              <a:rPr sz="2200" spc="-5" dirty="0">
                <a:latin typeface="微软雅黑"/>
                <a:cs typeface="微软雅黑"/>
              </a:rPr>
              <a:t>ax</a:t>
            </a:r>
            <a:r>
              <a:rPr sz="2200" spc="30" dirty="0">
                <a:latin typeface="微软雅黑"/>
                <a:cs typeface="微软雅黑"/>
              </a:rPr>
              <a:t> </a:t>
            </a:r>
            <a:r>
              <a:rPr sz="2200" spc="-10" dirty="0">
                <a:latin typeface="微软雅黑"/>
                <a:cs typeface="微软雅黑"/>
              </a:rPr>
              <a:t>函数推广了对数几率函数</a:t>
            </a:r>
            <a:endParaRPr sz="2200">
              <a:latin typeface="微软雅黑"/>
              <a:cs typeface="微软雅黑"/>
            </a:endParaRPr>
          </a:p>
        </p:txBody>
      </p:sp>
      <p:sp>
        <p:nvSpPr>
          <p:cNvPr id="6" name="object 6"/>
          <p:cNvSpPr/>
          <p:nvPr/>
        </p:nvSpPr>
        <p:spPr>
          <a:xfrm>
            <a:off x="3473196" y="2916935"/>
            <a:ext cx="2197607" cy="719327"/>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1978151" y="3890771"/>
            <a:ext cx="5187696" cy="198120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93800"/>
            <a:ext cx="5749290" cy="2835275"/>
          </a:xfrm>
          <a:prstGeom prst="rect">
            <a:avLst/>
          </a:prstGeom>
        </p:spPr>
        <p:txBody>
          <a:bodyPr vert="horz" wrap="square" lIns="0" tIns="0" rIns="0" bIns="0" rtlCol="0">
            <a:spAutoFit/>
          </a:bodyPr>
          <a:lstStyle/>
          <a:p>
            <a:pPr marL="12700">
              <a:lnSpc>
                <a:spcPct val="100000"/>
              </a:lnSpc>
            </a:pPr>
            <a:r>
              <a:rPr sz="4000" b="1" spc="-5" dirty="0">
                <a:solidFill>
                  <a:srgbClr val="1F487C"/>
                </a:solidFill>
                <a:latin typeface="微软雅黑"/>
                <a:cs typeface="微软雅黑"/>
              </a:rPr>
              <a:t>多项</a:t>
            </a:r>
            <a:r>
              <a:rPr sz="4000" b="1" spc="5" dirty="0">
                <a:solidFill>
                  <a:srgbClr val="1F487C"/>
                </a:solidFill>
                <a:latin typeface="微软雅黑"/>
                <a:cs typeface="微软雅黑"/>
              </a:rPr>
              <a:t> </a:t>
            </a:r>
            <a:r>
              <a:rPr sz="4000" b="1" spc="-5" dirty="0">
                <a:solidFill>
                  <a:srgbClr val="1F487C"/>
                </a:solidFill>
                <a:latin typeface="微软雅黑"/>
                <a:cs typeface="微软雅黑"/>
              </a:rPr>
              <a:t>Logistic</a:t>
            </a:r>
            <a:r>
              <a:rPr sz="4000" b="1" spc="10" dirty="0">
                <a:solidFill>
                  <a:srgbClr val="1F487C"/>
                </a:solidFill>
                <a:latin typeface="微软雅黑"/>
                <a:cs typeface="微软雅黑"/>
              </a:rPr>
              <a:t> </a:t>
            </a:r>
            <a:r>
              <a:rPr sz="4000" b="1" spc="-5" dirty="0">
                <a:solidFill>
                  <a:srgbClr val="1F487C"/>
                </a:solidFill>
                <a:latin typeface="微软雅黑"/>
                <a:cs typeface="微软雅黑"/>
              </a:rPr>
              <a:t>回归</a:t>
            </a:r>
            <a:endParaRPr sz="4000">
              <a:latin typeface="微软雅黑"/>
              <a:cs typeface="微软雅黑"/>
            </a:endParaRPr>
          </a:p>
          <a:p>
            <a:pPr marL="12700">
              <a:lnSpc>
                <a:spcPct val="100000"/>
              </a:lnSpc>
              <a:spcBef>
                <a:spcPts val="2495"/>
              </a:spcBef>
            </a:pPr>
            <a:r>
              <a:rPr sz="2350" spc="35" dirty="0">
                <a:solidFill>
                  <a:srgbClr val="4F81BC"/>
                </a:solidFill>
                <a:latin typeface="Segoe UI Symbol"/>
                <a:cs typeface="Segoe UI Symbol"/>
              </a:rPr>
              <a:t>❑</a:t>
            </a:r>
            <a:r>
              <a:rPr sz="2350" spc="190" dirty="0">
                <a:solidFill>
                  <a:srgbClr val="4F81BC"/>
                </a:solidFill>
                <a:latin typeface="Segoe UI Symbol"/>
                <a:cs typeface="Segoe UI Symbol"/>
              </a:rPr>
              <a:t> </a:t>
            </a:r>
            <a:r>
              <a:rPr sz="2800" spc="-5" dirty="0">
                <a:solidFill>
                  <a:srgbClr val="006FC0"/>
                </a:solidFill>
                <a:latin typeface="微软雅黑"/>
                <a:cs typeface="微软雅黑"/>
              </a:rPr>
              <a:t>多个二分类器</a:t>
            </a:r>
            <a:r>
              <a:rPr sz="2800" spc="25" dirty="0">
                <a:solidFill>
                  <a:srgbClr val="006FC0"/>
                </a:solidFill>
                <a:latin typeface="微软雅黑"/>
                <a:cs typeface="微软雅黑"/>
              </a:rPr>
              <a:t> </a:t>
            </a:r>
            <a:r>
              <a:rPr sz="2800" spc="-5" dirty="0">
                <a:solidFill>
                  <a:srgbClr val="006FC0"/>
                </a:solidFill>
                <a:latin typeface="微软雅黑"/>
                <a:cs typeface="微软雅黑"/>
              </a:rPr>
              <a:t>vs.</a:t>
            </a:r>
            <a:r>
              <a:rPr sz="2800" spc="5" dirty="0">
                <a:solidFill>
                  <a:srgbClr val="006FC0"/>
                </a:solidFill>
                <a:latin typeface="微软雅黑"/>
                <a:cs typeface="微软雅黑"/>
              </a:rPr>
              <a:t> </a:t>
            </a:r>
            <a:r>
              <a:rPr sz="2800" spc="-10" dirty="0">
                <a:solidFill>
                  <a:srgbClr val="006FC0"/>
                </a:solidFill>
                <a:latin typeface="微软雅黑"/>
                <a:cs typeface="微软雅黑"/>
              </a:rPr>
              <a:t>S</a:t>
            </a:r>
            <a:r>
              <a:rPr sz="2800" spc="-75" dirty="0">
                <a:solidFill>
                  <a:srgbClr val="006FC0"/>
                </a:solidFill>
                <a:latin typeface="微软雅黑"/>
                <a:cs typeface="微软雅黑"/>
              </a:rPr>
              <a:t>o</a:t>
            </a:r>
            <a:r>
              <a:rPr sz="2800" spc="50" dirty="0">
                <a:solidFill>
                  <a:srgbClr val="006FC0"/>
                </a:solidFill>
                <a:latin typeface="微软雅黑"/>
                <a:cs typeface="微软雅黑"/>
              </a:rPr>
              <a:t>f</a:t>
            </a:r>
            <a:r>
              <a:rPr sz="2800" spc="-5" dirty="0">
                <a:solidFill>
                  <a:srgbClr val="006FC0"/>
                </a:solidFill>
                <a:latin typeface="微软雅黑"/>
                <a:cs typeface="微软雅黑"/>
              </a:rPr>
              <a:t>tmax</a:t>
            </a:r>
            <a:r>
              <a:rPr sz="2800" spc="10" dirty="0">
                <a:solidFill>
                  <a:srgbClr val="006FC0"/>
                </a:solidFill>
                <a:latin typeface="微软雅黑"/>
                <a:cs typeface="微软雅黑"/>
              </a:rPr>
              <a:t> </a:t>
            </a:r>
            <a:r>
              <a:rPr sz="2800" spc="-5" dirty="0">
                <a:solidFill>
                  <a:srgbClr val="006FC0"/>
                </a:solidFill>
                <a:latin typeface="微软雅黑"/>
                <a:cs typeface="微软雅黑"/>
              </a:rPr>
              <a:t>分类器</a:t>
            </a:r>
            <a:endParaRPr sz="2800">
              <a:latin typeface="微软雅黑"/>
              <a:cs typeface="微软雅黑"/>
            </a:endParaRPr>
          </a:p>
          <a:p>
            <a:pPr marR="241300" algn="ctr">
              <a:lnSpc>
                <a:spcPct val="100000"/>
              </a:lnSpc>
              <a:spcBef>
                <a:spcPts val="1415"/>
              </a:spcBef>
            </a:pPr>
            <a:r>
              <a:rPr sz="1850" spc="-740" dirty="0">
                <a:solidFill>
                  <a:srgbClr val="4F81BC"/>
                </a:solidFill>
                <a:latin typeface="Segoe UI Symbol"/>
                <a:cs typeface="Segoe UI Symbol"/>
              </a:rPr>
              <a:t>▪</a:t>
            </a:r>
            <a:r>
              <a:rPr sz="1850" spc="75" dirty="0">
                <a:solidFill>
                  <a:srgbClr val="4F81BC"/>
                </a:solidFill>
                <a:latin typeface="Segoe UI Symbol"/>
                <a:cs typeface="Segoe UI Symbol"/>
              </a:rPr>
              <a:t> </a:t>
            </a:r>
            <a:r>
              <a:rPr sz="2200" spc="-5" dirty="0">
                <a:latin typeface="微软雅黑"/>
                <a:cs typeface="微软雅黑"/>
              </a:rPr>
              <a:t>取决于样本数据中各类别之间是否</a:t>
            </a:r>
            <a:r>
              <a:rPr sz="2200" dirty="0">
                <a:latin typeface="微软雅黑"/>
                <a:cs typeface="微软雅黑"/>
              </a:rPr>
              <a:t>互</a:t>
            </a:r>
            <a:r>
              <a:rPr sz="2200" spc="-5" dirty="0">
                <a:latin typeface="微软雅黑"/>
                <a:cs typeface="微软雅黑"/>
              </a:rPr>
              <a:t>斥</a:t>
            </a:r>
            <a:endParaRPr sz="2200">
              <a:latin typeface="微软雅黑"/>
              <a:cs typeface="微软雅黑"/>
            </a:endParaRPr>
          </a:p>
          <a:p>
            <a:pPr marL="561340">
              <a:lnSpc>
                <a:spcPct val="100000"/>
              </a:lnSpc>
              <a:spcBef>
                <a:spcPts val="1720"/>
              </a:spcBef>
            </a:pPr>
            <a:r>
              <a:rPr sz="1800" spc="-725" dirty="0">
                <a:solidFill>
                  <a:srgbClr val="4F81BC"/>
                </a:solidFill>
                <a:latin typeface="Segoe UI Symbol"/>
                <a:cs typeface="Segoe UI Symbol"/>
              </a:rPr>
              <a:t>▪</a:t>
            </a:r>
            <a:r>
              <a:rPr sz="1800" spc="120" dirty="0">
                <a:solidFill>
                  <a:srgbClr val="4F81BC"/>
                </a:solidFill>
                <a:latin typeface="Segoe UI Symbol"/>
                <a:cs typeface="Segoe UI Symbol"/>
              </a:rPr>
              <a:t> </a:t>
            </a:r>
            <a:r>
              <a:rPr sz="2000" dirty="0">
                <a:latin typeface="微软雅黑"/>
                <a:cs typeface="微软雅黑"/>
              </a:rPr>
              <a:t>若各类别之间明显互</a:t>
            </a:r>
            <a:r>
              <a:rPr sz="2000" spc="5" dirty="0">
                <a:latin typeface="微软雅黑"/>
                <a:cs typeface="微软雅黑"/>
              </a:rPr>
              <a:t>斥</a:t>
            </a:r>
            <a:r>
              <a:rPr sz="2000" spc="-40" dirty="0">
                <a:latin typeface="微软雅黑"/>
                <a:cs typeface="微软雅黑"/>
              </a:rPr>
              <a:t> </a:t>
            </a:r>
            <a:r>
              <a:rPr sz="2000" spc="235" dirty="0">
                <a:latin typeface="Segoe UI Symbol"/>
                <a:cs typeface="Segoe UI Symbol"/>
              </a:rPr>
              <a:t>→</a:t>
            </a:r>
            <a:r>
              <a:rPr sz="2000" spc="30" dirty="0">
                <a:latin typeface="Segoe UI Symbol"/>
                <a:cs typeface="Segoe UI Symbol"/>
              </a:rPr>
              <a:t> </a:t>
            </a:r>
            <a:r>
              <a:rPr sz="2000" spc="-5" dirty="0">
                <a:latin typeface="微软雅黑"/>
                <a:cs typeface="微软雅黑"/>
              </a:rPr>
              <a:t>S</a:t>
            </a:r>
            <a:r>
              <a:rPr sz="2000" spc="-50" dirty="0">
                <a:latin typeface="微软雅黑"/>
                <a:cs typeface="微软雅黑"/>
              </a:rPr>
              <a:t>o</a:t>
            </a:r>
            <a:r>
              <a:rPr sz="2000" spc="30" dirty="0">
                <a:latin typeface="微软雅黑"/>
                <a:cs typeface="微软雅黑"/>
              </a:rPr>
              <a:t>f</a:t>
            </a:r>
            <a:r>
              <a:rPr sz="2000" dirty="0">
                <a:latin typeface="微软雅黑"/>
                <a:cs typeface="微软雅黑"/>
              </a:rPr>
              <a:t>t</a:t>
            </a:r>
            <a:r>
              <a:rPr sz="2000" spc="-10" dirty="0">
                <a:latin typeface="微软雅黑"/>
                <a:cs typeface="微软雅黑"/>
              </a:rPr>
              <a:t>m</a:t>
            </a:r>
            <a:r>
              <a:rPr sz="2000" dirty="0">
                <a:latin typeface="微软雅黑"/>
                <a:cs typeface="微软雅黑"/>
              </a:rPr>
              <a:t>ax</a:t>
            </a:r>
            <a:r>
              <a:rPr sz="2000" spc="-15" dirty="0">
                <a:latin typeface="微软雅黑"/>
                <a:cs typeface="微软雅黑"/>
              </a:rPr>
              <a:t> </a:t>
            </a:r>
            <a:r>
              <a:rPr sz="2000" dirty="0">
                <a:latin typeface="微软雅黑"/>
                <a:cs typeface="微软雅黑"/>
              </a:rPr>
              <a:t>分类器</a:t>
            </a:r>
            <a:endParaRPr sz="2000">
              <a:latin typeface="微软雅黑"/>
              <a:cs typeface="微软雅黑"/>
            </a:endParaRPr>
          </a:p>
          <a:p>
            <a:pPr marL="561340">
              <a:lnSpc>
                <a:spcPct val="100000"/>
              </a:lnSpc>
              <a:spcBef>
                <a:spcPts val="1680"/>
              </a:spcBef>
            </a:pPr>
            <a:r>
              <a:rPr sz="1800" spc="-730" dirty="0">
                <a:solidFill>
                  <a:srgbClr val="4F81BC"/>
                </a:solidFill>
                <a:latin typeface="Segoe UI Symbol"/>
                <a:cs typeface="Segoe UI Symbol"/>
              </a:rPr>
              <a:t>▪</a:t>
            </a:r>
            <a:r>
              <a:rPr sz="1800" spc="120" dirty="0">
                <a:solidFill>
                  <a:srgbClr val="4F81BC"/>
                </a:solidFill>
                <a:latin typeface="Segoe UI Symbol"/>
                <a:cs typeface="Segoe UI Symbol"/>
              </a:rPr>
              <a:t> </a:t>
            </a:r>
            <a:r>
              <a:rPr sz="2000" dirty="0">
                <a:latin typeface="微软雅黑"/>
                <a:cs typeface="微软雅黑"/>
              </a:rPr>
              <a:t>若各类别之间有交叉</a:t>
            </a:r>
            <a:r>
              <a:rPr sz="2000" spc="-40" dirty="0">
                <a:latin typeface="微软雅黑"/>
                <a:cs typeface="微软雅黑"/>
              </a:rPr>
              <a:t> </a:t>
            </a:r>
            <a:r>
              <a:rPr sz="2000" spc="235" dirty="0">
                <a:latin typeface="Segoe UI Symbol"/>
                <a:cs typeface="Segoe UI Symbol"/>
              </a:rPr>
              <a:t>→</a:t>
            </a:r>
            <a:r>
              <a:rPr sz="2000" spc="30" dirty="0">
                <a:latin typeface="Segoe UI Symbol"/>
                <a:cs typeface="Segoe UI Symbol"/>
              </a:rPr>
              <a:t> </a:t>
            </a:r>
            <a:r>
              <a:rPr sz="2000" dirty="0">
                <a:latin typeface="微软雅黑"/>
                <a:cs typeface="微软雅黑"/>
              </a:rPr>
              <a:t>多个二分类器</a:t>
            </a:r>
            <a:endParaRPr sz="2000">
              <a:latin typeface="微软雅黑"/>
              <a:cs typeface="微软雅黑"/>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TotalTime>
  <Words>798</Words>
  <Application>Microsoft Office PowerPoint</Application>
  <PresentationFormat>全屏显示(4:3)</PresentationFormat>
  <Paragraphs>140</Paragraphs>
  <Slides>30</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39" baseType="lpstr">
      <vt:lpstr>宋体</vt:lpstr>
      <vt:lpstr>微软雅黑</vt:lpstr>
      <vt:lpstr>Calibri</vt:lpstr>
      <vt:lpstr>Cambria Math</vt:lpstr>
      <vt:lpstr>Segoe UI Symbol</vt:lpstr>
      <vt:lpstr>Times New Roman</vt:lpstr>
      <vt:lpstr>Wingdings</vt:lpstr>
      <vt:lpstr>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Logistic Regression</vt:lpstr>
      <vt:lpstr>Logistic Regression</vt:lpstr>
      <vt:lpstr>Logistic Regression</vt:lpstr>
      <vt:lpstr>PowerPoint 演示文稿</vt:lpstr>
      <vt:lpstr>PowerPoint 演示文稿</vt:lpstr>
      <vt:lpstr>Logistic Regression</vt:lpstr>
      <vt:lpstr>Logistic Regression</vt:lpstr>
      <vt:lpstr>ROC Curve</vt:lpstr>
      <vt:lpstr>Logistic Regression</vt:lpstr>
      <vt:lpstr>Logistic Regression</vt:lpstr>
      <vt:lpstr>Logistic Regression</vt:lpstr>
      <vt:lpstr>Logistic Regression</vt:lpstr>
      <vt:lpstr>Logistic Regression</vt:lpstr>
      <vt:lpstr>Logistic Regression</vt:lpstr>
      <vt:lpstr>Logistic Regression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 Huang</dc:creator>
  <cp:lastModifiedBy>徐铖铖</cp:lastModifiedBy>
  <cp:revision>5</cp:revision>
  <dcterms:created xsi:type="dcterms:W3CDTF">2023-03-27T12:43:46Z</dcterms:created>
  <dcterms:modified xsi:type="dcterms:W3CDTF">2023-03-27T15:33:53Z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2022-03-31T00:00:00Z</vt:filetime>
  </property>
  <property fmtid="{D5CDD505-2E9C-101B-9397-08002B2CF9AE}" pid="3" name="Creator">
    <vt:lpwstr>Microsoft® PowerPoint® 2019</vt:lpwstr>
  </property>
  <property fmtid="{D5CDD505-2E9C-101B-9397-08002B2CF9AE}" pid="4" name="LastSaved">
    <vt:filetime>2023-03-27T00:00:00Z</vt:filetime>
  </property>
</Properties>
</file>