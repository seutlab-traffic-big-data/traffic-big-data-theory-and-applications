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1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0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60">
                <a:moveTo>
                  <a:pt x="0" y="365760"/>
                </a:moveTo>
                <a:lnTo>
                  <a:pt x="9144000" y="365760"/>
                </a:lnTo>
                <a:lnTo>
                  <a:pt x="9144000" y="0"/>
                </a:lnTo>
                <a:lnTo>
                  <a:pt x="0" y="0"/>
                </a:lnTo>
                <a:lnTo>
                  <a:pt x="0" y="3657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439911" y="6150862"/>
            <a:ext cx="632459" cy="6278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19"/>
            <a:ext cx="8229599" cy="1097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599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jp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6.png"/><Relationship Id="rId18" Type="http://schemas.openxmlformats.org/officeDocument/2006/relationships/image" Target="../media/image22.png"/><Relationship Id="rId3" Type="http://schemas.openxmlformats.org/officeDocument/2006/relationships/image" Target="../media/image6.png"/><Relationship Id="rId21" Type="http://schemas.openxmlformats.org/officeDocument/2006/relationships/image" Target="../media/image25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1.png"/><Relationship Id="rId2" Type="http://schemas.openxmlformats.org/officeDocument/2006/relationships/image" Target="../media/image5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9.png"/><Relationship Id="rId10" Type="http://schemas.openxmlformats.org/officeDocument/2006/relationships/image" Target="../media/image13.png"/><Relationship Id="rId19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wnloads/release/python-392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python3/python3-tutorial.html%C3%A3%C2%80%C2%81" TargetMode="External"/><Relationship Id="rId2" Type="http://schemas.openxmlformats.org/officeDocument/2006/relationships/hyperlink" Target="https://www.liaoxuefeng.com/wiki/1016959663602400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.jpg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86562" y="1828038"/>
            <a:ext cx="7848600" cy="1905"/>
          </a:xfrm>
          <a:custGeom>
            <a:avLst/>
            <a:gdLst/>
            <a:ahLst/>
            <a:cxnLst/>
            <a:rect l="l" t="t" r="r" b="b"/>
            <a:pathLst>
              <a:path w="7848600" h="1905">
                <a:moveTo>
                  <a:pt x="0" y="0"/>
                </a:moveTo>
                <a:lnTo>
                  <a:pt x="7848600" y="1524"/>
                </a:lnTo>
              </a:path>
            </a:pathLst>
          </a:custGeom>
          <a:ln w="19812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66010" y="1105976"/>
            <a:ext cx="4413885" cy="236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948055">
              <a:lnSpc>
                <a:spcPct val="100000"/>
              </a:lnSpc>
            </a:pPr>
            <a:r>
              <a:rPr sz="4000" b="1" spc="-10" dirty="0">
                <a:solidFill>
                  <a:srgbClr val="1F487C"/>
                </a:solidFill>
                <a:latin typeface="微软雅黑"/>
                <a:cs typeface="微软雅黑"/>
              </a:rPr>
              <a:t>交通大数据</a:t>
            </a:r>
            <a:endParaRPr sz="4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1F487C"/>
                </a:solidFill>
                <a:latin typeface="微软雅黑"/>
                <a:cs typeface="微软雅黑"/>
              </a:rPr>
              <a:t>Pytho</a:t>
            </a:r>
            <a:r>
              <a:rPr sz="3600" b="1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3600" b="1" dirty="0">
                <a:solidFill>
                  <a:srgbClr val="1F487C"/>
                </a:solidFill>
                <a:latin typeface="微软雅黑"/>
                <a:cs typeface="微软雅黑"/>
              </a:rPr>
              <a:t>数据分析应用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7680959" cy="2783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数据分析应用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了解P</a:t>
            </a:r>
            <a:r>
              <a:rPr sz="2000" spc="-10" dirty="0">
                <a:latin typeface="微软雅黑"/>
                <a:cs typeface="微软雅黑"/>
              </a:rPr>
              <a:t>y</a:t>
            </a:r>
            <a:r>
              <a:rPr sz="2000" dirty="0">
                <a:latin typeface="微软雅黑"/>
                <a:cs typeface="微软雅黑"/>
              </a:rPr>
              <a:t>tho</a:t>
            </a:r>
            <a:r>
              <a:rPr sz="2000" spc="-5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的特点、优势及编程环境配置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spc="5" dirty="0">
                <a:latin typeface="微软雅黑"/>
                <a:cs typeface="微软雅黑"/>
              </a:rPr>
              <a:t>理</a:t>
            </a:r>
            <a:r>
              <a:rPr sz="2000" dirty="0">
                <a:latin typeface="微软雅黑"/>
                <a:cs typeface="微软雅黑"/>
              </a:rPr>
              <a:t>解P</a:t>
            </a:r>
            <a:r>
              <a:rPr sz="2000" spc="-15" dirty="0">
                <a:latin typeface="微软雅黑"/>
                <a:cs typeface="微软雅黑"/>
              </a:rPr>
              <a:t>y</a:t>
            </a:r>
            <a:r>
              <a:rPr sz="2000" dirty="0">
                <a:latin typeface="微软雅黑"/>
                <a:cs typeface="微软雅黑"/>
              </a:rPr>
              <a:t>th</a:t>
            </a:r>
            <a:r>
              <a:rPr sz="2000" spc="-10" dirty="0">
                <a:latin typeface="微软雅黑"/>
                <a:cs typeface="微软雅黑"/>
              </a:rPr>
              <a:t>o</a:t>
            </a:r>
            <a:r>
              <a:rPr sz="2000" spc="-5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的基础语法，如数据类型、基本</a:t>
            </a:r>
            <a:r>
              <a:rPr sz="2000" spc="-10" dirty="0">
                <a:latin typeface="微软雅黑"/>
                <a:cs typeface="微软雅黑"/>
              </a:rPr>
              <a:t>操</a:t>
            </a:r>
            <a:r>
              <a:rPr sz="2000" dirty="0">
                <a:latin typeface="微软雅黑"/>
                <a:cs typeface="微软雅黑"/>
              </a:rPr>
              <a:t>作、</a:t>
            </a:r>
            <a:r>
              <a:rPr sz="2000" spc="-10" dirty="0">
                <a:latin typeface="微软雅黑"/>
                <a:cs typeface="微软雅黑"/>
              </a:rPr>
              <a:t>容</a:t>
            </a:r>
            <a:r>
              <a:rPr sz="2000" dirty="0">
                <a:latin typeface="微软雅黑"/>
                <a:cs typeface="微软雅黑"/>
              </a:rPr>
              <a:t>器等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掌握P</a:t>
            </a:r>
            <a:r>
              <a:rPr sz="2000" spc="-10" dirty="0">
                <a:latin typeface="微软雅黑"/>
                <a:cs typeface="微软雅黑"/>
              </a:rPr>
              <a:t>y</a:t>
            </a:r>
            <a:r>
              <a:rPr sz="2000" dirty="0">
                <a:latin typeface="微软雅黑"/>
                <a:cs typeface="微软雅黑"/>
              </a:rPr>
              <a:t>tho</a:t>
            </a:r>
            <a:r>
              <a:rPr sz="2000" spc="-5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的流程控制，函数与类的定义与</a:t>
            </a:r>
            <a:r>
              <a:rPr sz="2000" spc="-15" dirty="0">
                <a:latin typeface="微软雅黑"/>
                <a:cs typeface="微软雅黑"/>
              </a:rPr>
              <a:t>调</a:t>
            </a:r>
            <a:r>
              <a:rPr sz="2000" dirty="0">
                <a:latin typeface="微软雅黑"/>
                <a:cs typeface="微软雅黑"/>
              </a:rPr>
              <a:t>用，</a:t>
            </a:r>
            <a:r>
              <a:rPr sz="2000" spc="-15" dirty="0">
                <a:latin typeface="微软雅黑"/>
                <a:cs typeface="微软雅黑"/>
              </a:rPr>
              <a:t>及</a:t>
            </a:r>
            <a:r>
              <a:rPr sz="2000" dirty="0">
                <a:latin typeface="微软雅黑"/>
                <a:cs typeface="微软雅黑"/>
              </a:rPr>
              <a:t>异常</a:t>
            </a:r>
            <a:r>
              <a:rPr sz="2000" spc="-15" dirty="0">
                <a:latin typeface="微软雅黑"/>
                <a:cs typeface="微软雅黑"/>
              </a:rPr>
              <a:t>处</a:t>
            </a:r>
            <a:r>
              <a:rPr sz="2000" dirty="0">
                <a:latin typeface="微软雅黑"/>
                <a:cs typeface="微软雅黑"/>
              </a:rPr>
              <a:t>理方法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7680959" cy="288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数据分析应用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050" spc="-204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400" b="1" spc="-204" dirty="0">
                <a:latin typeface="微软雅黑"/>
                <a:cs typeface="微软雅黑"/>
              </a:rPr>
              <a:t>了</a:t>
            </a:r>
            <a:r>
              <a:rPr sz="2400" b="1" spc="-5" dirty="0">
                <a:latin typeface="微软雅黑"/>
                <a:cs typeface="微软雅黑"/>
              </a:rPr>
              <a:t>解Pyth</a:t>
            </a:r>
            <a:r>
              <a:rPr sz="2400" b="1" spc="-10" dirty="0">
                <a:latin typeface="微软雅黑"/>
                <a:cs typeface="微软雅黑"/>
              </a:rPr>
              <a:t>o</a:t>
            </a:r>
            <a:r>
              <a:rPr sz="2400" b="1" spc="5" dirty="0">
                <a:latin typeface="微软雅黑"/>
                <a:cs typeface="微软雅黑"/>
              </a:rPr>
              <a:t>n</a:t>
            </a:r>
            <a:r>
              <a:rPr sz="2400" b="1" dirty="0">
                <a:latin typeface="微软雅黑"/>
                <a:cs typeface="微软雅黑"/>
              </a:rPr>
              <a:t>的特点、优势及编程环境配置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理解P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y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tho</a:t>
            </a:r>
            <a:r>
              <a:rPr sz="2000" spc="-5" dirty="0">
                <a:solidFill>
                  <a:srgbClr val="7E7E7E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的基础语法，如数据类型、基本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操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作、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容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器等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掌握P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y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tho</a:t>
            </a:r>
            <a:r>
              <a:rPr sz="2000" spc="-5" dirty="0">
                <a:solidFill>
                  <a:srgbClr val="7E7E7E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的流程控制，函数与类的定义与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调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用，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及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异常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理方法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478917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为什么使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thon？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" y="1900427"/>
            <a:ext cx="8229600" cy="3994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65797" y="3950970"/>
            <a:ext cx="1922145" cy="1167765"/>
          </a:xfrm>
          <a:custGeom>
            <a:avLst/>
            <a:gdLst/>
            <a:ahLst/>
            <a:cxnLst/>
            <a:rect l="l" t="t" r="r" b="b"/>
            <a:pathLst>
              <a:path w="1922145" h="1167764">
                <a:moveTo>
                  <a:pt x="0" y="1167383"/>
                </a:moveTo>
                <a:lnTo>
                  <a:pt x="1921763" y="1167383"/>
                </a:lnTo>
                <a:lnTo>
                  <a:pt x="1921763" y="0"/>
                </a:lnTo>
                <a:lnTo>
                  <a:pt x="0" y="0"/>
                </a:lnTo>
                <a:lnTo>
                  <a:pt x="0" y="1167383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478917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为什么使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thon？</a:t>
            </a:r>
            <a:endParaRPr sz="40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6276" y="2223516"/>
            <a:ext cx="3564635" cy="1452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85232" y="4076700"/>
            <a:ext cx="3512819" cy="1565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1580" y="3429000"/>
            <a:ext cx="2675890" cy="1396365"/>
          </a:xfrm>
          <a:custGeom>
            <a:avLst/>
            <a:gdLst/>
            <a:ahLst/>
            <a:cxnLst/>
            <a:rect l="l" t="t" r="r" b="b"/>
            <a:pathLst>
              <a:path w="2675890" h="1396364">
                <a:moveTo>
                  <a:pt x="0" y="0"/>
                </a:moveTo>
                <a:lnTo>
                  <a:pt x="2675635" y="1396111"/>
                </a:lnTo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31364" y="2732532"/>
            <a:ext cx="36195" cy="2788285"/>
          </a:xfrm>
          <a:custGeom>
            <a:avLst/>
            <a:gdLst/>
            <a:ahLst/>
            <a:cxnLst/>
            <a:rect l="l" t="t" r="r" b="b"/>
            <a:pathLst>
              <a:path w="36194" h="2788285">
                <a:moveTo>
                  <a:pt x="0" y="0"/>
                </a:moveTo>
                <a:lnTo>
                  <a:pt x="36068" y="2788030"/>
                </a:lnTo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52727" y="3429000"/>
            <a:ext cx="2595880" cy="1396365"/>
          </a:xfrm>
          <a:custGeom>
            <a:avLst/>
            <a:gdLst/>
            <a:ahLst/>
            <a:cxnLst/>
            <a:rect l="l" t="t" r="r" b="b"/>
            <a:pathLst>
              <a:path w="2595879" h="1396364">
                <a:moveTo>
                  <a:pt x="0" y="1396111"/>
                </a:moveTo>
                <a:lnTo>
                  <a:pt x="2595372" y="0"/>
                </a:lnTo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1580" y="3429000"/>
            <a:ext cx="2636520" cy="2091055"/>
          </a:xfrm>
          <a:custGeom>
            <a:avLst/>
            <a:gdLst/>
            <a:ahLst/>
            <a:cxnLst/>
            <a:rect l="l" t="t" r="r" b="b"/>
            <a:pathLst>
              <a:path w="2636520" h="2091054">
                <a:moveTo>
                  <a:pt x="2636520" y="0"/>
                </a:moveTo>
                <a:lnTo>
                  <a:pt x="1356359" y="2090927"/>
                </a:lnTo>
                <a:lnTo>
                  <a:pt x="0" y="0"/>
                </a:lnTo>
                <a:lnTo>
                  <a:pt x="2636520" y="0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52727" y="2732532"/>
            <a:ext cx="2635250" cy="2092960"/>
          </a:xfrm>
          <a:custGeom>
            <a:avLst/>
            <a:gdLst/>
            <a:ahLst/>
            <a:cxnLst/>
            <a:rect l="l" t="t" r="r" b="b"/>
            <a:pathLst>
              <a:path w="2635250" h="2092960">
                <a:moveTo>
                  <a:pt x="0" y="2092451"/>
                </a:moveTo>
                <a:lnTo>
                  <a:pt x="1279398" y="0"/>
                </a:lnTo>
                <a:lnTo>
                  <a:pt x="2634996" y="2092451"/>
                </a:lnTo>
                <a:lnTo>
                  <a:pt x="0" y="2092451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52727" y="2732532"/>
            <a:ext cx="2635250" cy="2828925"/>
          </a:xfrm>
          <a:custGeom>
            <a:avLst/>
            <a:gdLst/>
            <a:ahLst/>
            <a:cxnLst/>
            <a:rect l="l" t="t" r="r" b="b"/>
            <a:pathLst>
              <a:path w="2635250" h="2828925">
                <a:moveTo>
                  <a:pt x="1317498" y="2828543"/>
                </a:moveTo>
                <a:lnTo>
                  <a:pt x="0" y="2169794"/>
                </a:lnTo>
                <a:lnTo>
                  <a:pt x="0" y="658748"/>
                </a:lnTo>
                <a:lnTo>
                  <a:pt x="1317498" y="0"/>
                </a:lnTo>
                <a:lnTo>
                  <a:pt x="2634996" y="658748"/>
                </a:lnTo>
                <a:lnTo>
                  <a:pt x="2634996" y="2169794"/>
                </a:lnTo>
                <a:lnTo>
                  <a:pt x="1317498" y="2828543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16251" y="2203691"/>
            <a:ext cx="1062989" cy="10614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90166" y="2277617"/>
            <a:ext cx="867410" cy="866140"/>
          </a:xfrm>
          <a:custGeom>
            <a:avLst/>
            <a:gdLst/>
            <a:ahLst/>
            <a:cxnLst/>
            <a:rect l="l" t="t" r="r" b="b"/>
            <a:pathLst>
              <a:path w="867410" h="866139">
                <a:moveTo>
                  <a:pt x="433577" y="0"/>
                </a:moveTo>
                <a:lnTo>
                  <a:pt x="363233" y="5665"/>
                </a:lnTo>
                <a:lnTo>
                  <a:pt x="296509" y="22067"/>
                </a:lnTo>
                <a:lnTo>
                  <a:pt x="234295" y="48314"/>
                </a:lnTo>
                <a:lnTo>
                  <a:pt x="177485" y="83515"/>
                </a:lnTo>
                <a:lnTo>
                  <a:pt x="126968" y="126777"/>
                </a:lnTo>
                <a:lnTo>
                  <a:pt x="83637" y="177210"/>
                </a:lnTo>
                <a:lnTo>
                  <a:pt x="48383" y="233922"/>
                </a:lnTo>
                <a:lnTo>
                  <a:pt x="22098" y="296021"/>
                </a:lnTo>
                <a:lnTo>
                  <a:pt x="5673" y="362616"/>
                </a:lnTo>
                <a:lnTo>
                  <a:pt x="0" y="432816"/>
                </a:lnTo>
                <a:lnTo>
                  <a:pt x="1436" y="468310"/>
                </a:lnTo>
                <a:lnTo>
                  <a:pt x="12597" y="536818"/>
                </a:lnTo>
                <a:lnTo>
                  <a:pt x="34063" y="601277"/>
                </a:lnTo>
                <a:lnTo>
                  <a:pt x="64944" y="660794"/>
                </a:lnTo>
                <a:lnTo>
                  <a:pt x="104348" y="714478"/>
                </a:lnTo>
                <a:lnTo>
                  <a:pt x="151384" y="761437"/>
                </a:lnTo>
                <a:lnTo>
                  <a:pt x="205159" y="800780"/>
                </a:lnTo>
                <a:lnTo>
                  <a:pt x="264783" y="831615"/>
                </a:lnTo>
                <a:lnTo>
                  <a:pt x="329363" y="853051"/>
                </a:lnTo>
                <a:lnTo>
                  <a:pt x="398009" y="864197"/>
                </a:lnTo>
                <a:lnTo>
                  <a:pt x="433577" y="865632"/>
                </a:lnTo>
                <a:lnTo>
                  <a:pt x="469129" y="864197"/>
                </a:lnTo>
                <a:lnTo>
                  <a:pt x="537751" y="853051"/>
                </a:lnTo>
                <a:lnTo>
                  <a:pt x="602319" y="831615"/>
                </a:lnTo>
                <a:lnTo>
                  <a:pt x="661940" y="800780"/>
                </a:lnTo>
                <a:lnTo>
                  <a:pt x="715719" y="761437"/>
                </a:lnTo>
                <a:lnTo>
                  <a:pt x="762764" y="714478"/>
                </a:lnTo>
                <a:lnTo>
                  <a:pt x="802180" y="660794"/>
                </a:lnTo>
                <a:lnTo>
                  <a:pt x="833074" y="601277"/>
                </a:lnTo>
                <a:lnTo>
                  <a:pt x="854551" y="536818"/>
                </a:lnTo>
                <a:lnTo>
                  <a:pt x="865718" y="468310"/>
                </a:lnTo>
                <a:lnTo>
                  <a:pt x="867156" y="432816"/>
                </a:lnTo>
                <a:lnTo>
                  <a:pt x="865718" y="397321"/>
                </a:lnTo>
                <a:lnTo>
                  <a:pt x="854551" y="328813"/>
                </a:lnTo>
                <a:lnTo>
                  <a:pt x="833074" y="264354"/>
                </a:lnTo>
                <a:lnTo>
                  <a:pt x="802180" y="204837"/>
                </a:lnTo>
                <a:lnTo>
                  <a:pt x="762764" y="151153"/>
                </a:lnTo>
                <a:lnTo>
                  <a:pt x="715719" y="104194"/>
                </a:lnTo>
                <a:lnTo>
                  <a:pt x="661940" y="64851"/>
                </a:lnTo>
                <a:lnTo>
                  <a:pt x="602319" y="34016"/>
                </a:lnTo>
                <a:lnTo>
                  <a:pt x="537751" y="12580"/>
                </a:lnTo>
                <a:lnTo>
                  <a:pt x="469129" y="1434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80260" y="2267966"/>
            <a:ext cx="886967" cy="8851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40051" y="3547833"/>
            <a:ext cx="1241298" cy="12215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13966" y="3621785"/>
            <a:ext cx="1045463" cy="10256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04060" y="3612134"/>
            <a:ext cx="1065276" cy="10452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9995" y="2916897"/>
            <a:ext cx="1041615" cy="10432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4004" y="2980944"/>
            <a:ext cx="866140" cy="867410"/>
          </a:xfrm>
          <a:custGeom>
            <a:avLst/>
            <a:gdLst/>
            <a:ahLst/>
            <a:cxnLst/>
            <a:rect l="l" t="t" r="r" b="b"/>
            <a:pathLst>
              <a:path w="866139" h="867410">
                <a:moveTo>
                  <a:pt x="432815" y="0"/>
                </a:moveTo>
                <a:lnTo>
                  <a:pt x="362610" y="5673"/>
                </a:lnTo>
                <a:lnTo>
                  <a:pt x="296012" y="22097"/>
                </a:lnTo>
                <a:lnTo>
                  <a:pt x="233911" y="48383"/>
                </a:lnTo>
                <a:lnTo>
                  <a:pt x="177199" y="83637"/>
                </a:lnTo>
                <a:lnTo>
                  <a:pt x="126768" y="126968"/>
                </a:lnTo>
                <a:lnTo>
                  <a:pt x="83507" y="177485"/>
                </a:lnTo>
                <a:lnTo>
                  <a:pt x="48309" y="234295"/>
                </a:lnTo>
                <a:lnTo>
                  <a:pt x="22065" y="296509"/>
                </a:lnTo>
                <a:lnTo>
                  <a:pt x="5664" y="363233"/>
                </a:lnTo>
                <a:lnTo>
                  <a:pt x="0" y="433577"/>
                </a:lnTo>
                <a:lnTo>
                  <a:pt x="1434" y="469129"/>
                </a:lnTo>
                <a:lnTo>
                  <a:pt x="12578" y="537751"/>
                </a:lnTo>
                <a:lnTo>
                  <a:pt x="34012" y="602319"/>
                </a:lnTo>
                <a:lnTo>
                  <a:pt x="64845" y="661940"/>
                </a:lnTo>
                <a:lnTo>
                  <a:pt x="104185" y="715719"/>
                </a:lnTo>
                <a:lnTo>
                  <a:pt x="151143" y="762764"/>
                </a:lnTo>
                <a:lnTo>
                  <a:pt x="204826" y="802180"/>
                </a:lnTo>
                <a:lnTo>
                  <a:pt x="264343" y="833074"/>
                </a:lnTo>
                <a:lnTo>
                  <a:pt x="328804" y="854551"/>
                </a:lnTo>
                <a:lnTo>
                  <a:pt x="397318" y="865718"/>
                </a:lnTo>
                <a:lnTo>
                  <a:pt x="432815" y="867155"/>
                </a:lnTo>
                <a:lnTo>
                  <a:pt x="468310" y="865718"/>
                </a:lnTo>
                <a:lnTo>
                  <a:pt x="536818" y="854551"/>
                </a:lnTo>
                <a:lnTo>
                  <a:pt x="601277" y="833074"/>
                </a:lnTo>
                <a:lnTo>
                  <a:pt x="660794" y="802180"/>
                </a:lnTo>
                <a:lnTo>
                  <a:pt x="714478" y="762764"/>
                </a:lnTo>
                <a:lnTo>
                  <a:pt x="761437" y="715719"/>
                </a:lnTo>
                <a:lnTo>
                  <a:pt x="800780" y="661940"/>
                </a:lnTo>
                <a:lnTo>
                  <a:pt x="831615" y="602319"/>
                </a:lnTo>
                <a:lnTo>
                  <a:pt x="853051" y="537751"/>
                </a:lnTo>
                <a:lnTo>
                  <a:pt x="864197" y="469129"/>
                </a:lnTo>
                <a:lnTo>
                  <a:pt x="865632" y="433577"/>
                </a:lnTo>
                <a:lnTo>
                  <a:pt x="864197" y="398009"/>
                </a:lnTo>
                <a:lnTo>
                  <a:pt x="853051" y="329363"/>
                </a:lnTo>
                <a:lnTo>
                  <a:pt x="831615" y="264783"/>
                </a:lnTo>
                <a:lnTo>
                  <a:pt x="800780" y="205159"/>
                </a:lnTo>
                <a:lnTo>
                  <a:pt x="761437" y="151384"/>
                </a:lnTo>
                <a:lnTo>
                  <a:pt x="714478" y="104348"/>
                </a:lnTo>
                <a:lnTo>
                  <a:pt x="660794" y="64944"/>
                </a:lnTo>
                <a:lnTo>
                  <a:pt x="601277" y="34063"/>
                </a:lnTo>
                <a:lnTo>
                  <a:pt x="536818" y="12597"/>
                </a:lnTo>
                <a:lnTo>
                  <a:pt x="468310" y="1436"/>
                </a:lnTo>
                <a:lnTo>
                  <a:pt x="43281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2055" y="3579876"/>
            <a:ext cx="1133856" cy="11338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89376" y="2907792"/>
            <a:ext cx="1062989" cy="10629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63290" y="2981705"/>
            <a:ext cx="867410" cy="867410"/>
          </a:xfrm>
          <a:custGeom>
            <a:avLst/>
            <a:gdLst/>
            <a:ahLst/>
            <a:cxnLst/>
            <a:rect l="l" t="t" r="r" b="b"/>
            <a:pathLst>
              <a:path w="867410" h="867410">
                <a:moveTo>
                  <a:pt x="433577" y="0"/>
                </a:moveTo>
                <a:lnTo>
                  <a:pt x="363233" y="5673"/>
                </a:lnTo>
                <a:lnTo>
                  <a:pt x="296509" y="22098"/>
                </a:lnTo>
                <a:lnTo>
                  <a:pt x="234295" y="48383"/>
                </a:lnTo>
                <a:lnTo>
                  <a:pt x="177485" y="83637"/>
                </a:lnTo>
                <a:lnTo>
                  <a:pt x="126968" y="126968"/>
                </a:lnTo>
                <a:lnTo>
                  <a:pt x="83637" y="177485"/>
                </a:lnTo>
                <a:lnTo>
                  <a:pt x="48383" y="234295"/>
                </a:lnTo>
                <a:lnTo>
                  <a:pt x="22098" y="296509"/>
                </a:lnTo>
                <a:lnTo>
                  <a:pt x="5673" y="363233"/>
                </a:lnTo>
                <a:lnTo>
                  <a:pt x="0" y="433578"/>
                </a:lnTo>
                <a:lnTo>
                  <a:pt x="1436" y="469129"/>
                </a:lnTo>
                <a:lnTo>
                  <a:pt x="12597" y="537751"/>
                </a:lnTo>
                <a:lnTo>
                  <a:pt x="34063" y="602319"/>
                </a:lnTo>
                <a:lnTo>
                  <a:pt x="64944" y="661940"/>
                </a:lnTo>
                <a:lnTo>
                  <a:pt x="104348" y="715719"/>
                </a:lnTo>
                <a:lnTo>
                  <a:pt x="151384" y="762764"/>
                </a:lnTo>
                <a:lnTo>
                  <a:pt x="205159" y="802180"/>
                </a:lnTo>
                <a:lnTo>
                  <a:pt x="264783" y="833074"/>
                </a:lnTo>
                <a:lnTo>
                  <a:pt x="329363" y="854551"/>
                </a:lnTo>
                <a:lnTo>
                  <a:pt x="398009" y="865718"/>
                </a:lnTo>
                <a:lnTo>
                  <a:pt x="433577" y="867156"/>
                </a:lnTo>
                <a:lnTo>
                  <a:pt x="469129" y="865718"/>
                </a:lnTo>
                <a:lnTo>
                  <a:pt x="537751" y="854551"/>
                </a:lnTo>
                <a:lnTo>
                  <a:pt x="602319" y="833074"/>
                </a:lnTo>
                <a:lnTo>
                  <a:pt x="661940" y="802180"/>
                </a:lnTo>
                <a:lnTo>
                  <a:pt x="715719" y="762764"/>
                </a:lnTo>
                <a:lnTo>
                  <a:pt x="762764" y="715719"/>
                </a:lnTo>
                <a:lnTo>
                  <a:pt x="802180" y="661940"/>
                </a:lnTo>
                <a:lnTo>
                  <a:pt x="833074" y="602319"/>
                </a:lnTo>
                <a:lnTo>
                  <a:pt x="854551" y="537751"/>
                </a:lnTo>
                <a:lnTo>
                  <a:pt x="865718" y="469129"/>
                </a:lnTo>
                <a:lnTo>
                  <a:pt x="867156" y="433578"/>
                </a:lnTo>
                <a:lnTo>
                  <a:pt x="865718" y="398009"/>
                </a:lnTo>
                <a:lnTo>
                  <a:pt x="854551" y="329363"/>
                </a:lnTo>
                <a:lnTo>
                  <a:pt x="833074" y="264783"/>
                </a:lnTo>
                <a:lnTo>
                  <a:pt x="802180" y="205159"/>
                </a:lnTo>
                <a:lnTo>
                  <a:pt x="762764" y="151384"/>
                </a:lnTo>
                <a:lnTo>
                  <a:pt x="715719" y="104348"/>
                </a:lnTo>
                <a:lnTo>
                  <a:pt x="661940" y="64944"/>
                </a:lnTo>
                <a:lnTo>
                  <a:pt x="602319" y="34063"/>
                </a:lnTo>
                <a:lnTo>
                  <a:pt x="537751" y="12597"/>
                </a:lnTo>
                <a:lnTo>
                  <a:pt x="469129" y="1436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53384" y="2972307"/>
            <a:ext cx="886967" cy="88645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3231" y="4322051"/>
            <a:ext cx="1061478" cy="106147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87145" y="4395978"/>
            <a:ext cx="866140" cy="866140"/>
          </a:xfrm>
          <a:custGeom>
            <a:avLst/>
            <a:gdLst/>
            <a:ahLst/>
            <a:cxnLst/>
            <a:rect l="l" t="t" r="r" b="b"/>
            <a:pathLst>
              <a:path w="866139" h="866139">
                <a:moveTo>
                  <a:pt x="432816" y="0"/>
                </a:moveTo>
                <a:lnTo>
                  <a:pt x="362610" y="5665"/>
                </a:lnTo>
                <a:lnTo>
                  <a:pt x="296012" y="22067"/>
                </a:lnTo>
                <a:lnTo>
                  <a:pt x="233911" y="48314"/>
                </a:lnTo>
                <a:lnTo>
                  <a:pt x="177199" y="83515"/>
                </a:lnTo>
                <a:lnTo>
                  <a:pt x="126768" y="126777"/>
                </a:lnTo>
                <a:lnTo>
                  <a:pt x="83507" y="177210"/>
                </a:lnTo>
                <a:lnTo>
                  <a:pt x="48309" y="233922"/>
                </a:lnTo>
                <a:lnTo>
                  <a:pt x="22065" y="296021"/>
                </a:lnTo>
                <a:lnTo>
                  <a:pt x="5664" y="362616"/>
                </a:lnTo>
                <a:lnTo>
                  <a:pt x="0" y="432816"/>
                </a:lnTo>
                <a:lnTo>
                  <a:pt x="1434" y="468310"/>
                </a:lnTo>
                <a:lnTo>
                  <a:pt x="12578" y="536818"/>
                </a:lnTo>
                <a:lnTo>
                  <a:pt x="34012" y="601277"/>
                </a:lnTo>
                <a:lnTo>
                  <a:pt x="64845" y="660794"/>
                </a:lnTo>
                <a:lnTo>
                  <a:pt x="104185" y="714478"/>
                </a:lnTo>
                <a:lnTo>
                  <a:pt x="151143" y="761437"/>
                </a:lnTo>
                <a:lnTo>
                  <a:pt x="204826" y="800780"/>
                </a:lnTo>
                <a:lnTo>
                  <a:pt x="264343" y="831615"/>
                </a:lnTo>
                <a:lnTo>
                  <a:pt x="328804" y="853051"/>
                </a:lnTo>
                <a:lnTo>
                  <a:pt x="397318" y="864197"/>
                </a:lnTo>
                <a:lnTo>
                  <a:pt x="432816" y="865632"/>
                </a:lnTo>
                <a:lnTo>
                  <a:pt x="468310" y="864197"/>
                </a:lnTo>
                <a:lnTo>
                  <a:pt x="536818" y="853051"/>
                </a:lnTo>
                <a:lnTo>
                  <a:pt x="601277" y="831615"/>
                </a:lnTo>
                <a:lnTo>
                  <a:pt x="660794" y="800780"/>
                </a:lnTo>
                <a:lnTo>
                  <a:pt x="714478" y="761437"/>
                </a:lnTo>
                <a:lnTo>
                  <a:pt x="761437" y="714478"/>
                </a:lnTo>
                <a:lnTo>
                  <a:pt x="800780" y="660794"/>
                </a:lnTo>
                <a:lnTo>
                  <a:pt x="831615" y="601277"/>
                </a:lnTo>
                <a:lnTo>
                  <a:pt x="853051" y="536818"/>
                </a:lnTo>
                <a:lnTo>
                  <a:pt x="864197" y="468310"/>
                </a:lnTo>
                <a:lnTo>
                  <a:pt x="865632" y="432816"/>
                </a:lnTo>
                <a:lnTo>
                  <a:pt x="864197" y="397321"/>
                </a:lnTo>
                <a:lnTo>
                  <a:pt x="853051" y="328813"/>
                </a:lnTo>
                <a:lnTo>
                  <a:pt x="831615" y="264354"/>
                </a:lnTo>
                <a:lnTo>
                  <a:pt x="800780" y="204837"/>
                </a:lnTo>
                <a:lnTo>
                  <a:pt x="761437" y="151153"/>
                </a:lnTo>
                <a:lnTo>
                  <a:pt x="714478" y="104194"/>
                </a:lnTo>
                <a:lnTo>
                  <a:pt x="660794" y="64851"/>
                </a:lnTo>
                <a:lnTo>
                  <a:pt x="601277" y="34016"/>
                </a:lnTo>
                <a:lnTo>
                  <a:pt x="536818" y="12580"/>
                </a:lnTo>
                <a:lnTo>
                  <a:pt x="468310" y="1434"/>
                </a:lnTo>
                <a:lnTo>
                  <a:pt x="432816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7240" y="4386326"/>
            <a:ext cx="885443" cy="8851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31492" y="5021579"/>
            <a:ext cx="1062990" cy="10629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05405" y="5095494"/>
            <a:ext cx="867410" cy="867410"/>
          </a:xfrm>
          <a:custGeom>
            <a:avLst/>
            <a:gdLst/>
            <a:ahLst/>
            <a:cxnLst/>
            <a:rect l="l" t="t" r="r" b="b"/>
            <a:pathLst>
              <a:path w="867410" h="867410">
                <a:moveTo>
                  <a:pt x="433577" y="0"/>
                </a:moveTo>
                <a:lnTo>
                  <a:pt x="363233" y="5673"/>
                </a:lnTo>
                <a:lnTo>
                  <a:pt x="296509" y="22097"/>
                </a:lnTo>
                <a:lnTo>
                  <a:pt x="234295" y="48383"/>
                </a:lnTo>
                <a:lnTo>
                  <a:pt x="177485" y="83637"/>
                </a:lnTo>
                <a:lnTo>
                  <a:pt x="126968" y="126968"/>
                </a:lnTo>
                <a:lnTo>
                  <a:pt x="83637" y="177485"/>
                </a:lnTo>
                <a:lnTo>
                  <a:pt x="48383" y="234295"/>
                </a:lnTo>
                <a:lnTo>
                  <a:pt x="22098" y="296509"/>
                </a:lnTo>
                <a:lnTo>
                  <a:pt x="5673" y="363233"/>
                </a:lnTo>
                <a:lnTo>
                  <a:pt x="0" y="433577"/>
                </a:lnTo>
                <a:lnTo>
                  <a:pt x="1436" y="469138"/>
                </a:lnTo>
                <a:lnTo>
                  <a:pt x="12597" y="537771"/>
                </a:lnTo>
                <a:lnTo>
                  <a:pt x="34063" y="602346"/>
                </a:lnTo>
                <a:lnTo>
                  <a:pt x="64944" y="661968"/>
                </a:lnTo>
                <a:lnTo>
                  <a:pt x="104348" y="715745"/>
                </a:lnTo>
                <a:lnTo>
                  <a:pt x="151384" y="762786"/>
                </a:lnTo>
                <a:lnTo>
                  <a:pt x="205159" y="802196"/>
                </a:lnTo>
                <a:lnTo>
                  <a:pt x="264783" y="833083"/>
                </a:lnTo>
                <a:lnTo>
                  <a:pt x="329363" y="854555"/>
                </a:lnTo>
                <a:lnTo>
                  <a:pt x="398009" y="865718"/>
                </a:lnTo>
                <a:lnTo>
                  <a:pt x="433577" y="867155"/>
                </a:lnTo>
                <a:lnTo>
                  <a:pt x="469129" y="865718"/>
                </a:lnTo>
                <a:lnTo>
                  <a:pt x="537751" y="854555"/>
                </a:lnTo>
                <a:lnTo>
                  <a:pt x="602319" y="833083"/>
                </a:lnTo>
                <a:lnTo>
                  <a:pt x="661940" y="802196"/>
                </a:lnTo>
                <a:lnTo>
                  <a:pt x="715719" y="762786"/>
                </a:lnTo>
                <a:lnTo>
                  <a:pt x="762764" y="715745"/>
                </a:lnTo>
                <a:lnTo>
                  <a:pt x="802180" y="661968"/>
                </a:lnTo>
                <a:lnTo>
                  <a:pt x="833074" y="602346"/>
                </a:lnTo>
                <a:lnTo>
                  <a:pt x="854551" y="537771"/>
                </a:lnTo>
                <a:lnTo>
                  <a:pt x="865718" y="469138"/>
                </a:lnTo>
                <a:lnTo>
                  <a:pt x="867156" y="433577"/>
                </a:lnTo>
                <a:lnTo>
                  <a:pt x="865718" y="398009"/>
                </a:lnTo>
                <a:lnTo>
                  <a:pt x="854551" y="329363"/>
                </a:lnTo>
                <a:lnTo>
                  <a:pt x="833074" y="264783"/>
                </a:lnTo>
                <a:lnTo>
                  <a:pt x="802180" y="205159"/>
                </a:lnTo>
                <a:lnTo>
                  <a:pt x="762764" y="151384"/>
                </a:lnTo>
                <a:lnTo>
                  <a:pt x="715719" y="104348"/>
                </a:lnTo>
                <a:lnTo>
                  <a:pt x="661940" y="64944"/>
                </a:lnTo>
                <a:lnTo>
                  <a:pt x="602319" y="34063"/>
                </a:lnTo>
                <a:lnTo>
                  <a:pt x="537751" y="12597"/>
                </a:lnTo>
                <a:lnTo>
                  <a:pt x="469129" y="1436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95500" y="5086096"/>
            <a:ext cx="886968" cy="88645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21379" y="4319015"/>
            <a:ext cx="1062989" cy="10629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95294" y="4392929"/>
            <a:ext cx="867410" cy="867410"/>
          </a:xfrm>
          <a:custGeom>
            <a:avLst/>
            <a:gdLst/>
            <a:ahLst/>
            <a:cxnLst/>
            <a:rect l="l" t="t" r="r" b="b"/>
            <a:pathLst>
              <a:path w="867410" h="867410">
                <a:moveTo>
                  <a:pt x="433577" y="0"/>
                </a:moveTo>
                <a:lnTo>
                  <a:pt x="363233" y="5673"/>
                </a:lnTo>
                <a:lnTo>
                  <a:pt x="296509" y="22098"/>
                </a:lnTo>
                <a:lnTo>
                  <a:pt x="234295" y="48383"/>
                </a:lnTo>
                <a:lnTo>
                  <a:pt x="177485" y="83637"/>
                </a:lnTo>
                <a:lnTo>
                  <a:pt x="126968" y="126968"/>
                </a:lnTo>
                <a:lnTo>
                  <a:pt x="83637" y="177485"/>
                </a:lnTo>
                <a:lnTo>
                  <a:pt x="48383" y="234295"/>
                </a:lnTo>
                <a:lnTo>
                  <a:pt x="22098" y="296509"/>
                </a:lnTo>
                <a:lnTo>
                  <a:pt x="5673" y="363233"/>
                </a:lnTo>
                <a:lnTo>
                  <a:pt x="0" y="433578"/>
                </a:lnTo>
                <a:lnTo>
                  <a:pt x="1436" y="469129"/>
                </a:lnTo>
                <a:lnTo>
                  <a:pt x="12597" y="537751"/>
                </a:lnTo>
                <a:lnTo>
                  <a:pt x="34063" y="602319"/>
                </a:lnTo>
                <a:lnTo>
                  <a:pt x="64944" y="661940"/>
                </a:lnTo>
                <a:lnTo>
                  <a:pt x="104348" y="715719"/>
                </a:lnTo>
                <a:lnTo>
                  <a:pt x="151384" y="762764"/>
                </a:lnTo>
                <a:lnTo>
                  <a:pt x="205159" y="802180"/>
                </a:lnTo>
                <a:lnTo>
                  <a:pt x="264783" y="833074"/>
                </a:lnTo>
                <a:lnTo>
                  <a:pt x="329363" y="854551"/>
                </a:lnTo>
                <a:lnTo>
                  <a:pt x="398009" y="865718"/>
                </a:lnTo>
                <a:lnTo>
                  <a:pt x="433577" y="867156"/>
                </a:lnTo>
                <a:lnTo>
                  <a:pt x="469129" y="865718"/>
                </a:lnTo>
                <a:lnTo>
                  <a:pt x="537751" y="854551"/>
                </a:lnTo>
                <a:lnTo>
                  <a:pt x="602319" y="833074"/>
                </a:lnTo>
                <a:lnTo>
                  <a:pt x="661940" y="802180"/>
                </a:lnTo>
                <a:lnTo>
                  <a:pt x="715719" y="762764"/>
                </a:lnTo>
                <a:lnTo>
                  <a:pt x="762764" y="715719"/>
                </a:lnTo>
                <a:lnTo>
                  <a:pt x="802180" y="661940"/>
                </a:lnTo>
                <a:lnTo>
                  <a:pt x="833074" y="602319"/>
                </a:lnTo>
                <a:lnTo>
                  <a:pt x="854551" y="537751"/>
                </a:lnTo>
                <a:lnTo>
                  <a:pt x="865718" y="469129"/>
                </a:lnTo>
                <a:lnTo>
                  <a:pt x="867155" y="433578"/>
                </a:lnTo>
                <a:lnTo>
                  <a:pt x="865718" y="398009"/>
                </a:lnTo>
                <a:lnTo>
                  <a:pt x="854551" y="329363"/>
                </a:lnTo>
                <a:lnTo>
                  <a:pt x="833074" y="264783"/>
                </a:lnTo>
                <a:lnTo>
                  <a:pt x="802180" y="205159"/>
                </a:lnTo>
                <a:lnTo>
                  <a:pt x="762764" y="151384"/>
                </a:lnTo>
                <a:lnTo>
                  <a:pt x="715719" y="104348"/>
                </a:lnTo>
                <a:lnTo>
                  <a:pt x="661940" y="64944"/>
                </a:lnTo>
                <a:lnTo>
                  <a:pt x="602319" y="34063"/>
                </a:lnTo>
                <a:lnTo>
                  <a:pt x="537751" y="12597"/>
                </a:lnTo>
                <a:lnTo>
                  <a:pt x="469129" y="1436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85388" y="4383532"/>
            <a:ext cx="886967" cy="8864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105914" y="2593020"/>
            <a:ext cx="8375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网页开发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78529" y="3270367"/>
            <a:ext cx="836294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600" spc="-430" dirty="0">
                <a:solidFill>
                  <a:srgbClr val="FFFFFF"/>
                </a:solidFill>
                <a:latin typeface="微软雅黑"/>
                <a:cs typeface="微软雅黑"/>
              </a:rPr>
              <a:t>人  工  智    能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9040" y="3303204"/>
            <a:ext cx="836294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数据分析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04417" y="4711634"/>
            <a:ext cx="4311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教育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8933" y="5419710"/>
            <a:ext cx="668337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软件开发</a:t>
            </a:r>
            <a:endParaRPr sz="1600">
              <a:latin typeface="微软雅黑"/>
              <a:cs typeface="微软雅黑"/>
            </a:endParaRPr>
          </a:p>
          <a:p>
            <a:pPr marR="5080" algn="r">
              <a:lnSpc>
                <a:spcPct val="100000"/>
              </a:lnSpc>
              <a:spcBef>
                <a:spcPts val="850"/>
              </a:spcBef>
            </a:pPr>
            <a:r>
              <a:rPr sz="1600" spc="-5" dirty="0">
                <a:latin typeface="微软雅黑"/>
                <a:cs typeface="微软雅黑"/>
              </a:rPr>
              <a:t>语音识别、图像检测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84879" y="4708967"/>
            <a:ext cx="836294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商业应用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74205" y="3730823"/>
            <a:ext cx="184975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微软雅黑"/>
                <a:cs typeface="微软雅黑"/>
              </a:rPr>
              <a:t>给图像和帖子打标签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478917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为什么使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thon？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1580" y="3429000"/>
            <a:ext cx="2675890" cy="1396365"/>
          </a:xfrm>
          <a:custGeom>
            <a:avLst/>
            <a:gdLst/>
            <a:ahLst/>
            <a:cxnLst/>
            <a:rect l="l" t="t" r="r" b="b"/>
            <a:pathLst>
              <a:path w="2675890" h="1396364">
                <a:moveTo>
                  <a:pt x="0" y="0"/>
                </a:moveTo>
                <a:lnTo>
                  <a:pt x="2675635" y="1396111"/>
                </a:lnTo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31364" y="2732532"/>
            <a:ext cx="36195" cy="2788285"/>
          </a:xfrm>
          <a:custGeom>
            <a:avLst/>
            <a:gdLst/>
            <a:ahLst/>
            <a:cxnLst/>
            <a:rect l="l" t="t" r="r" b="b"/>
            <a:pathLst>
              <a:path w="36194" h="2788285">
                <a:moveTo>
                  <a:pt x="0" y="0"/>
                </a:moveTo>
                <a:lnTo>
                  <a:pt x="36068" y="2788030"/>
                </a:lnTo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52727" y="3429000"/>
            <a:ext cx="2595880" cy="1396365"/>
          </a:xfrm>
          <a:custGeom>
            <a:avLst/>
            <a:gdLst/>
            <a:ahLst/>
            <a:cxnLst/>
            <a:rect l="l" t="t" r="r" b="b"/>
            <a:pathLst>
              <a:path w="2595879" h="1396364">
                <a:moveTo>
                  <a:pt x="0" y="1396111"/>
                </a:moveTo>
                <a:lnTo>
                  <a:pt x="2595372" y="0"/>
                </a:lnTo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1580" y="3429000"/>
            <a:ext cx="2636520" cy="2091055"/>
          </a:xfrm>
          <a:custGeom>
            <a:avLst/>
            <a:gdLst/>
            <a:ahLst/>
            <a:cxnLst/>
            <a:rect l="l" t="t" r="r" b="b"/>
            <a:pathLst>
              <a:path w="2636520" h="2091054">
                <a:moveTo>
                  <a:pt x="2636520" y="0"/>
                </a:moveTo>
                <a:lnTo>
                  <a:pt x="1356359" y="2090927"/>
                </a:lnTo>
                <a:lnTo>
                  <a:pt x="0" y="0"/>
                </a:lnTo>
                <a:lnTo>
                  <a:pt x="2636520" y="0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52727" y="2732532"/>
            <a:ext cx="2635250" cy="2092960"/>
          </a:xfrm>
          <a:custGeom>
            <a:avLst/>
            <a:gdLst/>
            <a:ahLst/>
            <a:cxnLst/>
            <a:rect l="l" t="t" r="r" b="b"/>
            <a:pathLst>
              <a:path w="2635250" h="2092960">
                <a:moveTo>
                  <a:pt x="0" y="2092451"/>
                </a:moveTo>
                <a:lnTo>
                  <a:pt x="1279398" y="0"/>
                </a:lnTo>
                <a:lnTo>
                  <a:pt x="2634996" y="2092451"/>
                </a:lnTo>
                <a:lnTo>
                  <a:pt x="0" y="2092451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52727" y="2732532"/>
            <a:ext cx="2635250" cy="2828925"/>
          </a:xfrm>
          <a:custGeom>
            <a:avLst/>
            <a:gdLst/>
            <a:ahLst/>
            <a:cxnLst/>
            <a:rect l="l" t="t" r="r" b="b"/>
            <a:pathLst>
              <a:path w="2635250" h="2828925">
                <a:moveTo>
                  <a:pt x="1317498" y="2828543"/>
                </a:moveTo>
                <a:lnTo>
                  <a:pt x="0" y="2169794"/>
                </a:lnTo>
                <a:lnTo>
                  <a:pt x="0" y="658748"/>
                </a:lnTo>
                <a:lnTo>
                  <a:pt x="1317498" y="0"/>
                </a:lnTo>
                <a:lnTo>
                  <a:pt x="2634996" y="658748"/>
                </a:lnTo>
                <a:lnTo>
                  <a:pt x="2634996" y="2169794"/>
                </a:lnTo>
                <a:lnTo>
                  <a:pt x="1317498" y="2828543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16251" y="2203691"/>
            <a:ext cx="1062989" cy="10614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90166" y="2277617"/>
            <a:ext cx="867410" cy="866140"/>
          </a:xfrm>
          <a:custGeom>
            <a:avLst/>
            <a:gdLst/>
            <a:ahLst/>
            <a:cxnLst/>
            <a:rect l="l" t="t" r="r" b="b"/>
            <a:pathLst>
              <a:path w="867410" h="866139">
                <a:moveTo>
                  <a:pt x="433577" y="0"/>
                </a:moveTo>
                <a:lnTo>
                  <a:pt x="363233" y="5665"/>
                </a:lnTo>
                <a:lnTo>
                  <a:pt x="296509" y="22067"/>
                </a:lnTo>
                <a:lnTo>
                  <a:pt x="234295" y="48314"/>
                </a:lnTo>
                <a:lnTo>
                  <a:pt x="177485" y="83515"/>
                </a:lnTo>
                <a:lnTo>
                  <a:pt x="126968" y="126777"/>
                </a:lnTo>
                <a:lnTo>
                  <a:pt x="83637" y="177210"/>
                </a:lnTo>
                <a:lnTo>
                  <a:pt x="48383" y="233922"/>
                </a:lnTo>
                <a:lnTo>
                  <a:pt x="22098" y="296021"/>
                </a:lnTo>
                <a:lnTo>
                  <a:pt x="5673" y="362616"/>
                </a:lnTo>
                <a:lnTo>
                  <a:pt x="0" y="432816"/>
                </a:lnTo>
                <a:lnTo>
                  <a:pt x="1436" y="468310"/>
                </a:lnTo>
                <a:lnTo>
                  <a:pt x="12597" y="536818"/>
                </a:lnTo>
                <a:lnTo>
                  <a:pt x="34063" y="601277"/>
                </a:lnTo>
                <a:lnTo>
                  <a:pt x="64944" y="660794"/>
                </a:lnTo>
                <a:lnTo>
                  <a:pt x="104348" y="714478"/>
                </a:lnTo>
                <a:lnTo>
                  <a:pt x="151384" y="761437"/>
                </a:lnTo>
                <a:lnTo>
                  <a:pt x="205159" y="800780"/>
                </a:lnTo>
                <a:lnTo>
                  <a:pt x="264783" y="831615"/>
                </a:lnTo>
                <a:lnTo>
                  <a:pt x="329363" y="853051"/>
                </a:lnTo>
                <a:lnTo>
                  <a:pt x="398009" y="864197"/>
                </a:lnTo>
                <a:lnTo>
                  <a:pt x="433577" y="865632"/>
                </a:lnTo>
                <a:lnTo>
                  <a:pt x="469129" y="864197"/>
                </a:lnTo>
                <a:lnTo>
                  <a:pt x="537751" y="853051"/>
                </a:lnTo>
                <a:lnTo>
                  <a:pt x="602319" y="831615"/>
                </a:lnTo>
                <a:lnTo>
                  <a:pt x="661940" y="800780"/>
                </a:lnTo>
                <a:lnTo>
                  <a:pt x="715719" y="761437"/>
                </a:lnTo>
                <a:lnTo>
                  <a:pt x="762764" y="714478"/>
                </a:lnTo>
                <a:lnTo>
                  <a:pt x="802180" y="660794"/>
                </a:lnTo>
                <a:lnTo>
                  <a:pt x="833074" y="601277"/>
                </a:lnTo>
                <a:lnTo>
                  <a:pt x="854551" y="536818"/>
                </a:lnTo>
                <a:lnTo>
                  <a:pt x="865718" y="468310"/>
                </a:lnTo>
                <a:lnTo>
                  <a:pt x="867156" y="432816"/>
                </a:lnTo>
                <a:lnTo>
                  <a:pt x="865718" y="397321"/>
                </a:lnTo>
                <a:lnTo>
                  <a:pt x="854551" y="328813"/>
                </a:lnTo>
                <a:lnTo>
                  <a:pt x="833074" y="264354"/>
                </a:lnTo>
                <a:lnTo>
                  <a:pt x="802180" y="204837"/>
                </a:lnTo>
                <a:lnTo>
                  <a:pt x="762764" y="151153"/>
                </a:lnTo>
                <a:lnTo>
                  <a:pt x="715719" y="104194"/>
                </a:lnTo>
                <a:lnTo>
                  <a:pt x="661940" y="64851"/>
                </a:lnTo>
                <a:lnTo>
                  <a:pt x="602319" y="34016"/>
                </a:lnTo>
                <a:lnTo>
                  <a:pt x="537751" y="12580"/>
                </a:lnTo>
                <a:lnTo>
                  <a:pt x="469129" y="1434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80260" y="2267966"/>
            <a:ext cx="886967" cy="885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40051" y="3547833"/>
            <a:ext cx="1241298" cy="1221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13966" y="3621785"/>
            <a:ext cx="1045463" cy="10256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04060" y="3612134"/>
            <a:ext cx="1065276" cy="10452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9995" y="2916897"/>
            <a:ext cx="1041615" cy="10432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4004" y="2980944"/>
            <a:ext cx="866140" cy="867410"/>
          </a:xfrm>
          <a:custGeom>
            <a:avLst/>
            <a:gdLst/>
            <a:ahLst/>
            <a:cxnLst/>
            <a:rect l="l" t="t" r="r" b="b"/>
            <a:pathLst>
              <a:path w="866139" h="867410">
                <a:moveTo>
                  <a:pt x="432815" y="0"/>
                </a:moveTo>
                <a:lnTo>
                  <a:pt x="362610" y="5673"/>
                </a:lnTo>
                <a:lnTo>
                  <a:pt x="296012" y="22097"/>
                </a:lnTo>
                <a:lnTo>
                  <a:pt x="233911" y="48383"/>
                </a:lnTo>
                <a:lnTo>
                  <a:pt x="177199" y="83637"/>
                </a:lnTo>
                <a:lnTo>
                  <a:pt x="126768" y="126968"/>
                </a:lnTo>
                <a:lnTo>
                  <a:pt x="83507" y="177485"/>
                </a:lnTo>
                <a:lnTo>
                  <a:pt x="48309" y="234295"/>
                </a:lnTo>
                <a:lnTo>
                  <a:pt x="22065" y="296509"/>
                </a:lnTo>
                <a:lnTo>
                  <a:pt x="5664" y="363233"/>
                </a:lnTo>
                <a:lnTo>
                  <a:pt x="0" y="433577"/>
                </a:lnTo>
                <a:lnTo>
                  <a:pt x="1434" y="469129"/>
                </a:lnTo>
                <a:lnTo>
                  <a:pt x="12578" y="537751"/>
                </a:lnTo>
                <a:lnTo>
                  <a:pt x="34012" y="602319"/>
                </a:lnTo>
                <a:lnTo>
                  <a:pt x="64845" y="661940"/>
                </a:lnTo>
                <a:lnTo>
                  <a:pt x="104185" y="715719"/>
                </a:lnTo>
                <a:lnTo>
                  <a:pt x="151143" y="762764"/>
                </a:lnTo>
                <a:lnTo>
                  <a:pt x="204826" y="802180"/>
                </a:lnTo>
                <a:lnTo>
                  <a:pt x="264343" y="833074"/>
                </a:lnTo>
                <a:lnTo>
                  <a:pt x="328804" y="854551"/>
                </a:lnTo>
                <a:lnTo>
                  <a:pt x="397318" y="865718"/>
                </a:lnTo>
                <a:lnTo>
                  <a:pt x="432815" y="867155"/>
                </a:lnTo>
                <a:lnTo>
                  <a:pt x="468310" y="865718"/>
                </a:lnTo>
                <a:lnTo>
                  <a:pt x="536818" y="854551"/>
                </a:lnTo>
                <a:lnTo>
                  <a:pt x="601277" y="833074"/>
                </a:lnTo>
                <a:lnTo>
                  <a:pt x="660794" y="802180"/>
                </a:lnTo>
                <a:lnTo>
                  <a:pt x="714478" y="762764"/>
                </a:lnTo>
                <a:lnTo>
                  <a:pt x="761437" y="715719"/>
                </a:lnTo>
                <a:lnTo>
                  <a:pt x="800780" y="661940"/>
                </a:lnTo>
                <a:lnTo>
                  <a:pt x="831615" y="602319"/>
                </a:lnTo>
                <a:lnTo>
                  <a:pt x="853051" y="537751"/>
                </a:lnTo>
                <a:lnTo>
                  <a:pt x="864197" y="469129"/>
                </a:lnTo>
                <a:lnTo>
                  <a:pt x="865632" y="433577"/>
                </a:lnTo>
                <a:lnTo>
                  <a:pt x="864197" y="398009"/>
                </a:lnTo>
                <a:lnTo>
                  <a:pt x="853051" y="329363"/>
                </a:lnTo>
                <a:lnTo>
                  <a:pt x="831615" y="264783"/>
                </a:lnTo>
                <a:lnTo>
                  <a:pt x="800780" y="205159"/>
                </a:lnTo>
                <a:lnTo>
                  <a:pt x="761437" y="151384"/>
                </a:lnTo>
                <a:lnTo>
                  <a:pt x="714478" y="104348"/>
                </a:lnTo>
                <a:lnTo>
                  <a:pt x="660794" y="64944"/>
                </a:lnTo>
                <a:lnTo>
                  <a:pt x="601277" y="34063"/>
                </a:lnTo>
                <a:lnTo>
                  <a:pt x="536818" y="12597"/>
                </a:lnTo>
                <a:lnTo>
                  <a:pt x="468310" y="1436"/>
                </a:lnTo>
                <a:lnTo>
                  <a:pt x="43281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72055" y="3579876"/>
            <a:ext cx="1133856" cy="11338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89376" y="2907792"/>
            <a:ext cx="1062989" cy="10629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63290" y="2981705"/>
            <a:ext cx="867410" cy="867410"/>
          </a:xfrm>
          <a:custGeom>
            <a:avLst/>
            <a:gdLst/>
            <a:ahLst/>
            <a:cxnLst/>
            <a:rect l="l" t="t" r="r" b="b"/>
            <a:pathLst>
              <a:path w="867410" h="867410">
                <a:moveTo>
                  <a:pt x="433577" y="0"/>
                </a:moveTo>
                <a:lnTo>
                  <a:pt x="363233" y="5673"/>
                </a:lnTo>
                <a:lnTo>
                  <a:pt x="296509" y="22098"/>
                </a:lnTo>
                <a:lnTo>
                  <a:pt x="234295" y="48383"/>
                </a:lnTo>
                <a:lnTo>
                  <a:pt x="177485" y="83637"/>
                </a:lnTo>
                <a:lnTo>
                  <a:pt x="126968" y="126968"/>
                </a:lnTo>
                <a:lnTo>
                  <a:pt x="83637" y="177485"/>
                </a:lnTo>
                <a:lnTo>
                  <a:pt x="48383" y="234295"/>
                </a:lnTo>
                <a:lnTo>
                  <a:pt x="22098" y="296509"/>
                </a:lnTo>
                <a:lnTo>
                  <a:pt x="5673" y="363233"/>
                </a:lnTo>
                <a:lnTo>
                  <a:pt x="0" y="433578"/>
                </a:lnTo>
                <a:lnTo>
                  <a:pt x="1436" y="469129"/>
                </a:lnTo>
                <a:lnTo>
                  <a:pt x="12597" y="537751"/>
                </a:lnTo>
                <a:lnTo>
                  <a:pt x="34063" y="602319"/>
                </a:lnTo>
                <a:lnTo>
                  <a:pt x="64944" y="661940"/>
                </a:lnTo>
                <a:lnTo>
                  <a:pt x="104348" y="715719"/>
                </a:lnTo>
                <a:lnTo>
                  <a:pt x="151384" y="762764"/>
                </a:lnTo>
                <a:lnTo>
                  <a:pt x="205159" y="802180"/>
                </a:lnTo>
                <a:lnTo>
                  <a:pt x="264783" y="833074"/>
                </a:lnTo>
                <a:lnTo>
                  <a:pt x="329363" y="854551"/>
                </a:lnTo>
                <a:lnTo>
                  <a:pt x="398009" y="865718"/>
                </a:lnTo>
                <a:lnTo>
                  <a:pt x="433577" y="867156"/>
                </a:lnTo>
                <a:lnTo>
                  <a:pt x="469129" y="865718"/>
                </a:lnTo>
                <a:lnTo>
                  <a:pt x="537751" y="854551"/>
                </a:lnTo>
                <a:lnTo>
                  <a:pt x="602319" y="833074"/>
                </a:lnTo>
                <a:lnTo>
                  <a:pt x="661940" y="802180"/>
                </a:lnTo>
                <a:lnTo>
                  <a:pt x="715719" y="762764"/>
                </a:lnTo>
                <a:lnTo>
                  <a:pt x="762764" y="715719"/>
                </a:lnTo>
                <a:lnTo>
                  <a:pt x="802180" y="661940"/>
                </a:lnTo>
                <a:lnTo>
                  <a:pt x="833074" y="602319"/>
                </a:lnTo>
                <a:lnTo>
                  <a:pt x="854551" y="537751"/>
                </a:lnTo>
                <a:lnTo>
                  <a:pt x="865718" y="469129"/>
                </a:lnTo>
                <a:lnTo>
                  <a:pt x="867156" y="433578"/>
                </a:lnTo>
                <a:lnTo>
                  <a:pt x="865718" y="398009"/>
                </a:lnTo>
                <a:lnTo>
                  <a:pt x="854551" y="329363"/>
                </a:lnTo>
                <a:lnTo>
                  <a:pt x="833074" y="264783"/>
                </a:lnTo>
                <a:lnTo>
                  <a:pt x="802180" y="205159"/>
                </a:lnTo>
                <a:lnTo>
                  <a:pt x="762764" y="151384"/>
                </a:lnTo>
                <a:lnTo>
                  <a:pt x="715719" y="104348"/>
                </a:lnTo>
                <a:lnTo>
                  <a:pt x="661940" y="64944"/>
                </a:lnTo>
                <a:lnTo>
                  <a:pt x="602319" y="34063"/>
                </a:lnTo>
                <a:lnTo>
                  <a:pt x="537751" y="12597"/>
                </a:lnTo>
                <a:lnTo>
                  <a:pt x="469129" y="1436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53384" y="2972307"/>
            <a:ext cx="886967" cy="8864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3231" y="4322051"/>
            <a:ext cx="1061478" cy="106147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7145" y="4395978"/>
            <a:ext cx="866140" cy="866140"/>
          </a:xfrm>
          <a:custGeom>
            <a:avLst/>
            <a:gdLst/>
            <a:ahLst/>
            <a:cxnLst/>
            <a:rect l="l" t="t" r="r" b="b"/>
            <a:pathLst>
              <a:path w="866139" h="866139">
                <a:moveTo>
                  <a:pt x="432816" y="0"/>
                </a:moveTo>
                <a:lnTo>
                  <a:pt x="362610" y="5665"/>
                </a:lnTo>
                <a:lnTo>
                  <a:pt x="296012" y="22067"/>
                </a:lnTo>
                <a:lnTo>
                  <a:pt x="233911" y="48314"/>
                </a:lnTo>
                <a:lnTo>
                  <a:pt x="177199" y="83515"/>
                </a:lnTo>
                <a:lnTo>
                  <a:pt x="126768" y="126777"/>
                </a:lnTo>
                <a:lnTo>
                  <a:pt x="83507" y="177210"/>
                </a:lnTo>
                <a:lnTo>
                  <a:pt x="48309" y="233922"/>
                </a:lnTo>
                <a:lnTo>
                  <a:pt x="22065" y="296021"/>
                </a:lnTo>
                <a:lnTo>
                  <a:pt x="5664" y="362616"/>
                </a:lnTo>
                <a:lnTo>
                  <a:pt x="0" y="432816"/>
                </a:lnTo>
                <a:lnTo>
                  <a:pt x="1434" y="468310"/>
                </a:lnTo>
                <a:lnTo>
                  <a:pt x="12578" y="536818"/>
                </a:lnTo>
                <a:lnTo>
                  <a:pt x="34012" y="601277"/>
                </a:lnTo>
                <a:lnTo>
                  <a:pt x="64845" y="660794"/>
                </a:lnTo>
                <a:lnTo>
                  <a:pt x="104185" y="714478"/>
                </a:lnTo>
                <a:lnTo>
                  <a:pt x="151143" y="761437"/>
                </a:lnTo>
                <a:lnTo>
                  <a:pt x="204826" y="800780"/>
                </a:lnTo>
                <a:lnTo>
                  <a:pt x="264343" y="831615"/>
                </a:lnTo>
                <a:lnTo>
                  <a:pt x="328804" y="853051"/>
                </a:lnTo>
                <a:lnTo>
                  <a:pt x="397318" y="864197"/>
                </a:lnTo>
                <a:lnTo>
                  <a:pt x="432816" y="865632"/>
                </a:lnTo>
                <a:lnTo>
                  <a:pt x="468310" y="864197"/>
                </a:lnTo>
                <a:lnTo>
                  <a:pt x="536818" y="853051"/>
                </a:lnTo>
                <a:lnTo>
                  <a:pt x="601277" y="831615"/>
                </a:lnTo>
                <a:lnTo>
                  <a:pt x="660794" y="800780"/>
                </a:lnTo>
                <a:lnTo>
                  <a:pt x="714478" y="761437"/>
                </a:lnTo>
                <a:lnTo>
                  <a:pt x="761437" y="714478"/>
                </a:lnTo>
                <a:lnTo>
                  <a:pt x="800780" y="660794"/>
                </a:lnTo>
                <a:lnTo>
                  <a:pt x="831615" y="601277"/>
                </a:lnTo>
                <a:lnTo>
                  <a:pt x="853051" y="536818"/>
                </a:lnTo>
                <a:lnTo>
                  <a:pt x="864197" y="468310"/>
                </a:lnTo>
                <a:lnTo>
                  <a:pt x="865632" y="432816"/>
                </a:lnTo>
                <a:lnTo>
                  <a:pt x="864197" y="397321"/>
                </a:lnTo>
                <a:lnTo>
                  <a:pt x="853051" y="328813"/>
                </a:lnTo>
                <a:lnTo>
                  <a:pt x="831615" y="264354"/>
                </a:lnTo>
                <a:lnTo>
                  <a:pt x="800780" y="204837"/>
                </a:lnTo>
                <a:lnTo>
                  <a:pt x="761437" y="151153"/>
                </a:lnTo>
                <a:lnTo>
                  <a:pt x="714478" y="104194"/>
                </a:lnTo>
                <a:lnTo>
                  <a:pt x="660794" y="64851"/>
                </a:lnTo>
                <a:lnTo>
                  <a:pt x="601277" y="34016"/>
                </a:lnTo>
                <a:lnTo>
                  <a:pt x="536818" y="12580"/>
                </a:lnTo>
                <a:lnTo>
                  <a:pt x="468310" y="1434"/>
                </a:lnTo>
                <a:lnTo>
                  <a:pt x="432816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7240" y="4386326"/>
            <a:ext cx="885443" cy="88519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31492" y="5021579"/>
            <a:ext cx="1062990" cy="10629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05405" y="5095494"/>
            <a:ext cx="867410" cy="867410"/>
          </a:xfrm>
          <a:custGeom>
            <a:avLst/>
            <a:gdLst/>
            <a:ahLst/>
            <a:cxnLst/>
            <a:rect l="l" t="t" r="r" b="b"/>
            <a:pathLst>
              <a:path w="867410" h="867410">
                <a:moveTo>
                  <a:pt x="433577" y="0"/>
                </a:moveTo>
                <a:lnTo>
                  <a:pt x="363233" y="5673"/>
                </a:lnTo>
                <a:lnTo>
                  <a:pt x="296509" y="22097"/>
                </a:lnTo>
                <a:lnTo>
                  <a:pt x="234295" y="48383"/>
                </a:lnTo>
                <a:lnTo>
                  <a:pt x="177485" y="83637"/>
                </a:lnTo>
                <a:lnTo>
                  <a:pt x="126968" y="126968"/>
                </a:lnTo>
                <a:lnTo>
                  <a:pt x="83637" y="177485"/>
                </a:lnTo>
                <a:lnTo>
                  <a:pt x="48383" y="234295"/>
                </a:lnTo>
                <a:lnTo>
                  <a:pt x="22098" y="296509"/>
                </a:lnTo>
                <a:lnTo>
                  <a:pt x="5673" y="363233"/>
                </a:lnTo>
                <a:lnTo>
                  <a:pt x="0" y="433577"/>
                </a:lnTo>
                <a:lnTo>
                  <a:pt x="1436" y="469138"/>
                </a:lnTo>
                <a:lnTo>
                  <a:pt x="12597" y="537771"/>
                </a:lnTo>
                <a:lnTo>
                  <a:pt x="34063" y="602346"/>
                </a:lnTo>
                <a:lnTo>
                  <a:pt x="64944" y="661968"/>
                </a:lnTo>
                <a:lnTo>
                  <a:pt x="104348" y="715745"/>
                </a:lnTo>
                <a:lnTo>
                  <a:pt x="151384" y="762786"/>
                </a:lnTo>
                <a:lnTo>
                  <a:pt x="205159" y="802196"/>
                </a:lnTo>
                <a:lnTo>
                  <a:pt x="264783" y="833083"/>
                </a:lnTo>
                <a:lnTo>
                  <a:pt x="329363" y="854555"/>
                </a:lnTo>
                <a:lnTo>
                  <a:pt x="398009" y="865718"/>
                </a:lnTo>
                <a:lnTo>
                  <a:pt x="433577" y="867155"/>
                </a:lnTo>
                <a:lnTo>
                  <a:pt x="469129" y="865718"/>
                </a:lnTo>
                <a:lnTo>
                  <a:pt x="537751" y="854555"/>
                </a:lnTo>
                <a:lnTo>
                  <a:pt x="602319" y="833083"/>
                </a:lnTo>
                <a:lnTo>
                  <a:pt x="661940" y="802196"/>
                </a:lnTo>
                <a:lnTo>
                  <a:pt x="715719" y="762786"/>
                </a:lnTo>
                <a:lnTo>
                  <a:pt x="762764" y="715745"/>
                </a:lnTo>
                <a:lnTo>
                  <a:pt x="802180" y="661968"/>
                </a:lnTo>
                <a:lnTo>
                  <a:pt x="833074" y="602346"/>
                </a:lnTo>
                <a:lnTo>
                  <a:pt x="854551" y="537771"/>
                </a:lnTo>
                <a:lnTo>
                  <a:pt x="865718" y="469138"/>
                </a:lnTo>
                <a:lnTo>
                  <a:pt x="867156" y="433577"/>
                </a:lnTo>
                <a:lnTo>
                  <a:pt x="865718" y="398009"/>
                </a:lnTo>
                <a:lnTo>
                  <a:pt x="854551" y="329363"/>
                </a:lnTo>
                <a:lnTo>
                  <a:pt x="833074" y="264783"/>
                </a:lnTo>
                <a:lnTo>
                  <a:pt x="802180" y="205159"/>
                </a:lnTo>
                <a:lnTo>
                  <a:pt x="762764" y="151384"/>
                </a:lnTo>
                <a:lnTo>
                  <a:pt x="715719" y="104348"/>
                </a:lnTo>
                <a:lnTo>
                  <a:pt x="661940" y="64944"/>
                </a:lnTo>
                <a:lnTo>
                  <a:pt x="602319" y="34063"/>
                </a:lnTo>
                <a:lnTo>
                  <a:pt x="537751" y="12597"/>
                </a:lnTo>
                <a:lnTo>
                  <a:pt x="469129" y="1436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95500" y="5086096"/>
            <a:ext cx="886968" cy="88645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379" y="4319015"/>
            <a:ext cx="1062989" cy="10629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95294" y="4392929"/>
            <a:ext cx="867410" cy="867410"/>
          </a:xfrm>
          <a:custGeom>
            <a:avLst/>
            <a:gdLst/>
            <a:ahLst/>
            <a:cxnLst/>
            <a:rect l="l" t="t" r="r" b="b"/>
            <a:pathLst>
              <a:path w="867410" h="867410">
                <a:moveTo>
                  <a:pt x="433577" y="0"/>
                </a:moveTo>
                <a:lnTo>
                  <a:pt x="363233" y="5673"/>
                </a:lnTo>
                <a:lnTo>
                  <a:pt x="296509" y="22098"/>
                </a:lnTo>
                <a:lnTo>
                  <a:pt x="234295" y="48383"/>
                </a:lnTo>
                <a:lnTo>
                  <a:pt x="177485" y="83637"/>
                </a:lnTo>
                <a:lnTo>
                  <a:pt x="126968" y="126968"/>
                </a:lnTo>
                <a:lnTo>
                  <a:pt x="83637" y="177485"/>
                </a:lnTo>
                <a:lnTo>
                  <a:pt x="48383" y="234295"/>
                </a:lnTo>
                <a:lnTo>
                  <a:pt x="22098" y="296509"/>
                </a:lnTo>
                <a:lnTo>
                  <a:pt x="5673" y="363233"/>
                </a:lnTo>
                <a:lnTo>
                  <a:pt x="0" y="433578"/>
                </a:lnTo>
                <a:lnTo>
                  <a:pt x="1436" y="469129"/>
                </a:lnTo>
                <a:lnTo>
                  <a:pt x="12597" y="537751"/>
                </a:lnTo>
                <a:lnTo>
                  <a:pt x="34063" y="602319"/>
                </a:lnTo>
                <a:lnTo>
                  <a:pt x="64944" y="661940"/>
                </a:lnTo>
                <a:lnTo>
                  <a:pt x="104348" y="715719"/>
                </a:lnTo>
                <a:lnTo>
                  <a:pt x="151384" y="762764"/>
                </a:lnTo>
                <a:lnTo>
                  <a:pt x="205159" y="802180"/>
                </a:lnTo>
                <a:lnTo>
                  <a:pt x="264783" y="833074"/>
                </a:lnTo>
                <a:lnTo>
                  <a:pt x="329363" y="854551"/>
                </a:lnTo>
                <a:lnTo>
                  <a:pt x="398009" y="865718"/>
                </a:lnTo>
                <a:lnTo>
                  <a:pt x="433577" y="867156"/>
                </a:lnTo>
                <a:lnTo>
                  <a:pt x="469129" y="865718"/>
                </a:lnTo>
                <a:lnTo>
                  <a:pt x="537751" y="854551"/>
                </a:lnTo>
                <a:lnTo>
                  <a:pt x="602319" y="833074"/>
                </a:lnTo>
                <a:lnTo>
                  <a:pt x="661940" y="802180"/>
                </a:lnTo>
                <a:lnTo>
                  <a:pt x="715719" y="762764"/>
                </a:lnTo>
                <a:lnTo>
                  <a:pt x="762764" y="715719"/>
                </a:lnTo>
                <a:lnTo>
                  <a:pt x="802180" y="661940"/>
                </a:lnTo>
                <a:lnTo>
                  <a:pt x="833074" y="602319"/>
                </a:lnTo>
                <a:lnTo>
                  <a:pt x="854551" y="537751"/>
                </a:lnTo>
                <a:lnTo>
                  <a:pt x="865718" y="469129"/>
                </a:lnTo>
                <a:lnTo>
                  <a:pt x="867155" y="433578"/>
                </a:lnTo>
                <a:lnTo>
                  <a:pt x="865718" y="398009"/>
                </a:lnTo>
                <a:lnTo>
                  <a:pt x="854551" y="329363"/>
                </a:lnTo>
                <a:lnTo>
                  <a:pt x="833074" y="264783"/>
                </a:lnTo>
                <a:lnTo>
                  <a:pt x="802180" y="205159"/>
                </a:lnTo>
                <a:lnTo>
                  <a:pt x="762764" y="151384"/>
                </a:lnTo>
                <a:lnTo>
                  <a:pt x="715719" y="104348"/>
                </a:lnTo>
                <a:lnTo>
                  <a:pt x="661940" y="64944"/>
                </a:lnTo>
                <a:lnTo>
                  <a:pt x="602319" y="34063"/>
                </a:lnTo>
                <a:lnTo>
                  <a:pt x="537751" y="12597"/>
                </a:lnTo>
                <a:lnTo>
                  <a:pt x="469129" y="1436"/>
                </a:lnTo>
                <a:lnTo>
                  <a:pt x="43357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85388" y="4383532"/>
            <a:ext cx="886967" cy="8864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488435" y="3008376"/>
            <a:ext cx="814069" cy="81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30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微软雅黑"/>
                <a:cs typeface="微软雅黑"/>
              </a:rPr>
              <a:t>清晰的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33600" y="2319527"/>
            <a:ext cx="777239" cy="7787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1916" y="3040379"/>
            <a:ext cx="749808" cy="7482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15867" y="4411979"/>
            <a:ext cx="824484" cy="8244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88435" y="3008376"/>
            <a:ext cx="813815" cy="81229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22932" y="5129784"/>
            <a:ext cx="826007" cy="79705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86383" y="4418076"/>
            <a:ext cx="850391" cy="81838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07052" y="3262884"/>
            <a:ext cx="4419600" cy="17358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24780" y="2893432"/>
            <a:ext cx="35458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“用</a:t>
            </a:r>
            <a:r>
              <a:rPr sz="1800" spc="-5" dirty="0">
                <a:latin typeface="微软雅黑"/>
                <a:cs typeface="微软雅黑"/>
              </a:rPr>
              <a:t>pyt</a:t>
            </a:r>
            <a:r>
              <a:rPr sz="1800" spc="-15" dirty="0">
                <a:latin typeface="微软雅黑"/>
                <a:cs typeface="微软雅黑"/>
              </a:rPr>
              <a:t>h</a:t>
            </a:r>
            <a:r>
              <a:rPr sz="1800" dirty="0">
                <a:latin typeface="微软雅黑"/>
                <a:cs typeface="微软雅黑"/>
              </a:rPr>
              <a:t>o</a:t>
            </a:r>
            <a:r>
              <a:rPr sz="1800" spc="-10" dirty="0">
                <a:latin typeface="微软雅黑"/>
                <a:cs typeface="微软雅黑"/>
              </a:rPr>
              <a:t>n</a:t>
            </a:r>
            <a:r>
              <a:rPr sz="1800" dirty="0">
                <a:latin typeface="微软雅黑"/>
                <a:cs typeface="微软雅黑"/>
              </a:rPr>
              <a:t>开发的网站开始公测”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645152" y="2360676"/>
            <a:ext cx="1917192" cy="40690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478917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为什么使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thon？</a:t>
            </a:r>
            <a:endParaRPr sz="4000">
              <a:latin typeface="微软雅黑"/>
              <a:cs typeface="微软雅黑"/>
            </a:endParaRPr>
          </a:p>
        </p:txBody>
      </p:sp>
      <p:pic>
        <p:nvPicPr>
          <p:cNvPr id="3" name="ECCV Lift-Splat-Shoot 1 minute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3961" y="1752600"/>
            <a:ext cx="7914239" cy="445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6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5028" y="1865376"/>
            <a:ext cx="3671316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85132" y="3764279"/>
            <a:ext cx="3531108" cy="2327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793800"/>
            <a:ext cx="4789170" cy="126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为什么使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thon？</a:t>
            </a:r>
            <a:endParaRPr sz="4000">
              <a:latin typeface="微软雅黑"/>
              <a:cs typeface="微软雅黑"/>
            </a:endParaRPr>
          </a:p>
          <a:p>
            <a:pPr marL="387350" indent="-374650">
              <a:lnSpc>
                <a:spcPct val="100000"/>
              </a:lnSpc>
              <a:spcBef>
                <a:spcPts val="2895"/>
              </a:spcBef>
              <a:buClr>
                <a:srgbClr val="4F81BC"/>
              </a:buClr>
              <a:buSzPct val="97916"/>
              <a:buFont typeface="Segoe UI Symbol"/>
              <a:buChar char="❑"/>
              <a:tabLst>
                <a:tab pos="3879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P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tho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n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与交通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445786"/>
            <a:ext cx="3242310" cy="2314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75" dirty="0">
                <a:solidFill>
                  <a:srgbClr val="006FC0"/>
                </a:solidFill>
                <a:latin typeface="Segoe UI Symbol"/>
                <a:cs typeface="Segoe UI Symbol"/>
              </a:rPr>
              <a:t>⚫</a:t>
            </a:r>
            <a:r>
              <a:rPr sz="1800" spc="55" dirty="0">
                <a:solidFill>
                  <a:srgbClr val="006FC0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入门简单，提高交通分析效率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</a:pPr>
            <a:r>
              <a:rPr sz="1800" spc="-175" dirty="0">
                <a:solidFill>
                  <a:srgbClr val="006FC0"/>
                </a:solidFill>
                <a:latin typeface="Segoe UI Symbol"/>
                <a:cs typeface="Segoe UI Symbol"/>
              </a:rPr>
              <a:t>⚫</a:t>
            </a:r>
            <a:r>
              <a:rPr sz="1800" spc="55" dirty="0">
                <a:solidFill>
                  <a:srgbClr val="006FC0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兼容性强，能够和其他语言的 代码一起解决交通问题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75" dirty="0">
                <a:solidFill>
                  <a:srgbClr val="006FC0"/>
                </a:solidFill>
                <a:latin typeface="Segoe UI Symbol"/>
                <a:cs typeface="Segoe UI Symbol"/>
              </a:rPr>
              <a:t>⚫</a:t>
            </a:r>
            <a:r>
              <a:rPr sz="1800" spc="55" dirty="0">
                <a:solidFill>
                  <a:srgbClr val="006FC0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社区环境好，资源丰富，有大</a:t>
            </a:r>
            <a:endParaRPr sz="1800">
              <a:latin typeface="微软雅黑"/>
              <a:cs typeface="微软雅黑"/>
            </a:endParaRPr>
          </a:p>
          <a:p>
            <a:pPr marL="12700" marR="20955">
              <a:lnSpc>
                <a:spcPct val="150000"/>
              </a:lnSpc>
            </a:pPr>
            <a:r>
              <a:rPr sz="1800" dirty="0">
                <a:latin typeface="微软雅黑"/>
                <a:cs typeface="微软雅黑"/>
              </a:rPr>
              <a:t>量教程和完善的工具包，提供多 种交通</a:t>
            </a:r>
            <a:r>
              <a:rPr sz="1800" b="1" dirty="0">
                <a:latin typeface="微软雅黑"/>
                <a:cs typeface="微软雅黑"/>
              </a:rPr>
              <a:t>数据接口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759075" cy="126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4000">
              <a:latin typeface="微软雅黑"/>
              <a:cs typeface="微软雅黑"/>
            </a:endParaRPr>
          </a:p>
          <a:p>
            <a:pPr marL="387350" indent="-374650">
              <a:lnSpc>
                <a:spcPct val="100000"/>
              </a:lnSpc>
              <a:spcBef>
                <a:spcPts val="2895"/>
              </a:spcBef>
              <a:buClr>
                <a:srgbClr val="4F81BC"/>
              </a:buClr>
              <a:buSzPct val="97916"/>
              <a:buFont typeface="Segoe UI Symbol"/>
              <a:buChar char="❑"/>
              <a:tabLst>
                <a:tab pos="3879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P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tho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n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的起源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97423" y="2246376"/>
            <a:ext cx="2945892" cy="1964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308" y="2246376"/>
            <a:ext cx="4294632" cy="2481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77053" y="4281298"/>
            <a:ext cx="3019425" cy="1351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Gu</a:t>
            </a:r>
            <a:r>
              <a:rPr sz="1800" b="1" spc="-10" dirty="0">
                <a:latin typeface="微软雅黑"/>
                <a:cs typeface="微软雅黑"/>
              </a:rPr>
              <a:t>i</a:t>
            </a:r>
            <a:r>
              <a:rPr sz="1800" b="1" dirty="0">
                <a:latin typeface="微软雅黑"/>
                <a:cs typeface="微软雅黑"/>
              </a:rPr>
              <a:t>do</a:t>
            </a:r>
            <a:r>
              <a:rPr sz="1800" b="1" spc="5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v</a:t>
            </a:r>
            <a:r>
              <a:rPr sz="1800" b="1" dirty="0">
                <a:latin typeface="微软雅黑"/>
                <a:cs typeface="微软雅黑"/>
              </a:rPr>
              <a:t>an</a:t>
            </a:r>
            <a:r>
              <a:rPr sz="1800" b="1" spc="-25" dirty="0">
                <a:latin typeface="微软雅黑"/>
                <a:cs typeface="微软雅黑"/>
              </a:rPr>
              <a:t> </a:t>
            </a:r>
            <a:r>
              <a:rPr sz="1800" b="1" spc="-50" dirty="0">
                <a:latin typeface="微软雅黑"/>
                <a:cs typeface="微软雅黑"/>
              </a:rPr>
              <a:t>R</a:t>
            </a:r>
            <a:r>
              <a:rPr sz="1800" b="1" spc="-5" dirty="0">
                <a:latin typeface="微软雅黑"/>
                <a:cs typeface="微软雅黑"/>
              </a:rPr>
              <a:t>ossum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</a:pPr>
            <a:r>
              <a:rPr sz="1800" spc="140" dirty="0">
                <a:latin typeface="微软雅黑"/>
                <a:cs typeface="微软雅黑"/>
              </a:rPr>
              <a:t>荷兰</a:t>
            </a:r>
            <a:r>
              <a:rPr sz="1800" spc="150" dirty="0">
                <a:latin typeface="微软雅黑"/>
                <a:cs typeface="微软雅黑"/>
              </a:rPr>
              <a:t>程</a:t>
            </a:r>
            <a:r>
              <a:rPr sz="1800" spc="140" dirty="0">
                <a:latin typeface="微软雅黑"/>
                <a:cs typeface="微软雅黑"/>
              </a:rPr>
              <a:t>序</a:t>
            </a:r>
            <a:r>
              <a:rPr sz="1800" spc="160" dirty="0">
                <a:latin typeface="微软雅黑"/>
                <a:cs typeface="微软雅黑"/>
              </a:rPr>
              <a:t>员</a:t>
            </a:r>
            <a:r>
              <a:rPr sz="1800" spc="155" dirty="0">
                <a:latin typeface="微软雅黑"/>
                <a:cs typeface="微软雅黑"/>
              </a:rPr>
              <a:t>，</a:t>
            </a:r>
            <a:r>
              <a:rPr sz="1800" spc="145" dirty="0">
                <a:latin typeface="微软雅黑"/>
                <a:cs typeface="微软雅黑"/>
              </a:rPr>
              <a:t>于</a:t>
            </a:r>
            <a:r>
              <a:rPr sz="1800" dirty="0">
                <a:latin typeface="微软雅黑"/>
                <a:cs typeface="微软雅黑"/>
              </a:rPr>
              <a:t>198</a:t>
            </a:r>
            <a:r>
              <a:rPr sz="1800" spc="140" dirty="0">
                <a:latin typeface="微软雅黑"/>
                <a:cs typeface="微软雅黑"/>
              </a:rPr>
              <a:t>9年底 </a:t>
            </a:r>
            <a:r>
              <a:rPr sz="1800" spc="80" dirty="0">
                <a:latin typeface="微软雅黑"/>
                <a:cs typeface="微软雅黑"/>
              </a:rPr>
              <a:t>始创了</a:t>
            </a:r>
            <a:r>
              <a:rPr sz="1800" spc="-5" dirty="0">
                <a:latin typeface="微软雅黑"/>
                <a:cs typeface="微软雅黑"/>
              </a:rPr>
              <a:t>Pyt</a:t>
            </a:r>
            <a:r>
              <a:rPr sz="1800" spc="-15" dirty="0">
                <a:latin typeface="微软雅黑"/>
                <a:cs typeface="微软雅黑"/>
              </a:rPr>
              <a:t>h</a:t>
            </a:r>
            <a:r>
              <a:rPr sz="1800" dirty="0">
                <a:latin typeface="微软雅黑"/>
                <a:cs typeface="微软雅黑"/>
              </a:rPr>
              <a:t>o</a:t>
            </a:r>
            <a:r>
              <a:rPr sz="1800" spc="90" dirty="0">
                <a:latin typeface="微软雅黑"/>
                <a:cs typeface="微软雅黑"/>
              </a:rPr>
              <a:t>n</a:t>
            </a:r>
            <a:r>
              <a:rPr sz="1800" spc="85" dirty="0">
                <a:latin typeface="微软雅黑"/>
                <a:cs typeface="微软雅黑"/>
              </a:rPr>
              <a:t>，</a:t>
            </a:r>
            <a:r>
              <a:rPr sz="1800" spc="-5" dirty="0">
                <a:latin typeface="微软雅黑"/>
                <a:cs typeface="微软雅黑"/>
              </a:rPr>
              <a:t>1</a:t>
            </a:r>
            <a:r>
              <a:rPr sz="1800" spc="-10" dirty="0">
                <a:latin typeface="微软雅黑"/>
                <a:cs typeface="微软雅黑"/>
              </a:rPr>
              <a:t>9</a:t>
            </a:r>
            <a:r>
              <a:rPr sz="1800" spc="-15" dirty="0">
                <a:latin typeface="微软雅黑"/>
                <a:cs typeface="微软雅黑"/>
              </a:rPr>
              <a:t>9</a:t>
            </a:r>
            <a:r>
              <a:rPr sz="1800" spc="80" dirty="0">
                <a:latin typeface="微软雅黑"/>
                <a:cs typeface="微软雅黑"/>
              </a:rPr>
              <a:t>1年初</a:t>
            </a:r>
            <a:r>
              <a:rPr sz="1800" dirty="0">
                <a:latin typeface="微软雅黑"/>
                <a:cs typeface="微软雅黑"/>
              </a:rPr>
              <a:t>， </a:t>
            </a:r>
            <a:r>
              <a:rPr sz="1800" spc="-5" dirty="0">
                <a:latin typeface="微软雅黑"/>
                <a:cs typeface="微软雅黑"/>
              </a:rPr>
              <a:t>Pyth</a:t>
            </a:r>
            <a:r>
              <a:rPr sz="1800" dirty="0">
                <a:latin typeface="微软雅黑"/>
                <a:cs typeface="微软雅黑"/>
              </a:rPr>
              <a:t>o</a:t>
            </a:r>
            <a:r>
              <a:rPr sz="1800" spc="155" dirty="0">
                <a:latin typeface="微软雅黑"/>
                <a:cs typeface="微软雅黑"/>
              </a:rPr>
              <a:t>n</a:t>
            </a:r>
            <a:r>
              <a:rPr sz="1800" spc="150" dirty="0">
                <a:latin typeface="微软雅黑"/>
                <a:cs typeface="微软雅黑"/>
              </a:rPr>
              <a:t>发布</a:t>
            </a:r>
            <a:r>
              <a:rPr sz="1800" spc="165" dirty="0">
                <a:latin typeface="微软雅黑"/>
                <a:cs typeface="微软雅黑"/>
              </a:rPr>
              <a:t>了</a:t>
            </a:r>
            <a:r>
              <a:rPr sz="1800" spc="150" dirty="0">
                <a:latin typeface="微软雅黑"/>
                <a:cs typeface="微软雅黑"/>
              </a:rPr>
              <a:t>第一个公</a:t>
            </a:r>
            <a:r>
              <a:rPr sz="1800" dirty="0">
                <a:latin typeface="微软雅黑"/>
                <a:cs typeface="微软雅黑"/>
              </a:rPr>
              <a:t>开 发行版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005189"/>
            <a:ext cx="427228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由英国</a:t>
            </a:r>
            <a:r>
              <a:rPr sz="1800" spc="-5" dirty="0">
                <a:latin typeface="微软雅黑"/>
                <a:cs typeface="微软雅黑"/>
              </a:rPr>
              <a:t>BBC</a:t>
            </a:r>
            <a:r>
              <a:rPr sz="1800" dirty="0">
                <a:latin typeface="微软雅黑"/>
                <a:cs typeface="微软雅黑"/>
              </a:rPr>
              <a:t>喜剧系列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“</a:t>
            </a:r>
            <a:r>
              <a:rPr sz="1800" spc="5" dirty="0">
                <a:latin typeface="微软雅黑"/>
                <a:cs typeface="微软雅黑"/>
              </a:rPr>
              <a:t>M</a:t>
            </a:r>
            <a:r>
              <a:rPr sz="1800" dirty="0">
                <a:latin typeface="微软雅黑"/>
                <a:cs typeface="微软雅黑"/>
              </a:rPr>
              <a:t>onty</a:t>
            </a:r>
            <a:r>
              <a:rPr sz="1800" spc="2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Pytho</a:t>
            </a:r>
            <a:r>
              <a:rPr sz="1800" spc="-10" dirty="0">
                <a:latin typeface="微软雅黑"/>
                <a:cs typeface="微软雅黑"/>
              </a:rPr>
              <a:t>n</a:t>
            </a:r>
            <a:r>
              <a:rPr sz="1800" spc="-75" dirty="0">
                <a:latin typeface="微软雅黑"/>
                <a:cs typeface="微软雅黑"/>
              </a:rPr>
              <a:t>‘</a:t>
            </a:r>
            <a:r>
              <a:rPr sz="1800" dirty="0">
                <a:latin typeface="微软雅黑"/>
                <a:cs typeface="微软雅黑"/>
              </a:rPr>
              <a:t>s</a:t>
            </a:r>
            <a:r>
              <a:rPr sz="1800" spc="40" dirty="0">
                <a:latin typeface="微软雅黑"/>
                <a:cs typeface="微软雅黑"/>
              </a:rPr>
              <a:t> </a:t>
            </a:r>
            <a:r>
              <a:rPr sz="1800" spc="5" dirty="0">
                <a:latin typeface="微软雅黑"/>
                <a:cs typeface="微软雅黑"/>
              </a:rPr>
              <a:t>F</a:t>
            </a:r>
            <a:r>
              <a:rPr sz="1800" dirty="0">
                <a:latin typeface="微软雅黑"/>
                <a:cs typeface="微软雅黑"/>
              </a:rPr>
              <a:t>lying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Ci</a:t>
            </a:r>
            <a:r>
              <a:rPr sz="1800" spc="-2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cu</a:t>
            </a:r>
            <a:r>
              <a:rPr sz="1800" spc="-5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”命名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8995" y="2959607"/>
            <a:ext cx="4020312" cy="1844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51628" y="2419145"/>
            <a:ext cx="3769995" cy="235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无需编译，执行简单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独立于平台，可移植性好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文本文件，便于调试与</a:t>
            </a:r>
            <a:r>
              <a:rPr sz="2000" spc="-15" dirty="0">
                <a:latin typeface="微软雅黑"/>
                <a:cs typeface="微软雅黑"/>
              </a:rPr>
              <a:t>修</a:t>
            </a:r>
            <a:r>
              <a:rPr sz="2000" dirty="0">
                <a:latin typeface="微软雅黑"/>
                <a:cs typeface="微软雅黑"/>
              </a:rPr>
              <a:t>改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代码简洁，语法简单，</a:t>
            </a:r>
            <a:r>
              <a:rPr sz="2000" spc="-15" dirty="0">
                <a:latin typeface="微软雅黑"/>
                <a:cs typeface="微软雅黑"/>
              </a:rPr>
              <a:t>可</a:t>
            </a:r>
            <a:r>
              <a:rPr sz="2000" dirty="0">
                <a:latin typeface="微软雅黑"/>
                <a:cs typeface="微软雅黑"/>
              </a:rPr>
              <a:t>读性高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-16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700" spc="-30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拥有有庞大且成熟的第</a:t>
            </a:r>
            <a:r>
              <a:rPr sz="2000" spc="-10" dirty="0">
                <a:latin typeface="微软雅黑"/>
                <a:cs typeface="微软雅黑"/>
              </a:rPr>
              <a:t>三</a:t>
            </a:r>
            <a:r>
              <a:rPr sz="2000" dirty="0">
                <a:latin typeface="微软雅黑"/>
                <a:cs typeface="微软雅黑"/>
              </a:rPr>
              <a:t>方模块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1628" y="5010580"/>
            <a:ext cx="4277360" cy="798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开源，社群庞大，快速</a:t>
            </a:r>
            <a:r>
              <a:rPr sz="2000" spc="-15" dirty="0">
                <a:latin typeface="微软雅黑"/>
                <a:cs typeface="微软雅黑"/>
              </a:rPr>
              <a:t>解</a:t>
            </a:r>
            <a:r>
              <a:rPr sz="2000" dirty="0">
                <a:latin typeface="微软雅黑"/>
                <a:cs typeface="微软雅黑"/>
              </a:rPr>
              <a:t>决代</a:t>
            </a:r>
            <a:r>
              <a:rPr sz="2000" spc="-15" dirty="0">
                <a:latin typeface="微软雅黑"/>
                <a:cs typeface="微软雅黑"/>
              </a:rPr>
              <a:t>码</a:t>
            </a:r>
            <a:r>
              <a:rPr sz="2000" dirty="0">
                <a:latin typeface="微软雅黑"/>
                <a:cs typeface="微软雅黑"/>
              </a:rPr>
              <a:t>问题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……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3973" y="4335017"/>
            <a:ext cx="3104515" cy="0"/>
          </a:xfrm>
          <a:custGeom>
            <a:avLst/>
            <a:gdLst/>
            <a:ahLst/>
            <a:cxnLst/>
            <a:rect l="l" t="t" r="r" b="b"/>
            <a:pathLst>
              <a:path w="3104515">
                <a:moveTo>
                  <a:pt x="0" y="0"/>
                </a:moveTo>
                <a:lnTo>
                  <a:pt x="3104388" y="0"/>
                </a:lnTo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793800"/>
            <a:ext cx="2759075" cy="126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4000">
              <a:latin typeface="微软雅黑"/>
              <a:cs typeface="微软雅黑"/>
            </a:endParaRPr>
          </a:p>
          <a:p>
            <a:pPr marL="387350" indent="-374650">
              <a:lnSpc>
                <a:spcPct val="100000"/>
              </a:lnSpc>
              <a:spcBef>
                <a:spcPts val="2895"/>
              </a:spcBef>
              <a:buClr>
                <a:srgbClr val="4F81BC"/>
              </a:buClr>
              <a:buSzPct val="97916"/>
              <a:buFont typeface="Segoe UI Symbol"/>
              <a:buChar char="❑"/>
              <a:tabLst>
                <a:tab pos="3879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P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tho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n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的特点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3973" y="4691634"/>
            <a:ext cx="1050290" cy="0"/>
          </a:xfrm>
          <a:custGeom>
            <a:avLst/>
            <a:gdLst/>
            <a:ahLst/>
            <a:cxnLst/>
            <a:rect l="l" t="t" r="r" b="b"/>
            <a:pathLst>
              <a:path w="1050290">
                <a:moveTo>
                  <a:pt x="0" y="0"/>
                </a:moveTo>
                <a:lnTo>
                  <a:pt x="1049909" y="0"/>
                </a:lnTo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6412" y="4958589"/>
            <a:ext cx="29972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“优雅、明确、简单、易读”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4008754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thon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4000" spc="-65" dirty="0">
                <a:solidFill>
                  <a:srgbClr val="1F487C"/>
                </a:solidFill>
                <a:latin typeface="微软雅黑"/>
                <a:cs typeface="微软雅黑"/>
              </a:rPr>
              <a:t>V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4000" spc="1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C++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解释型语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言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微软雅黑"/>
                <a:cs typeface="微软雅黑"/>
              </a:rPr>
              <a:t>V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S</a:t>
            </a:r>
            <a:r>
              <a:rPr sz="2400" spc="1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编译型语言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805" y="2620517"/>
            <a:ext cx="1508760" cy="594360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97510" marR="162560" indent="-2286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编译型语言 源代码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805" y="3515105"/>
            <a:ext cx="1508760" cy="596265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97510" marR="162560" indent="-2286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解释型语言 源代码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91917" y="2713482"/>
            <a:ext cx="379730" cy="299085"/>
          </a:xfrm>
          <a:custGeom>
            <a:avLst/>
            <a:gdLst/>
            <a:ahLst/>
            <a:cxnLst/>
            <a:rect l="l" t="t" r="r" b="b"/>
            <a:pathLst>
              <a:path w="379730" h="299085">
                <a:moveTo>
                  <a:pt x="0" y="74675"/>
                </a:moveTo>
                <a:lnTo>
                  <a:pt x="230124" y="74675"/>
                </a:lnTo>
                <a:lnTo>
                  <a:pt x="230124" y="0"/>
                </a:lnTo>
                <a:lnTo>
                  <a:pt x="379475" y="149351"/>
                </a:lnTo>
                <a:lnTo>
                  <a:pt x="230124" y="298703"/>
                </a:lnTo>
                <a:lnTo>
                  <a:pt x="230124" y="224027"/>
                </a:lnTo>
                <a:lnTo>
                  <a:pt x="0" y="224027"/>
                </a:lnTo>
                <a:lnTo>
                  <a:pt x="0" y="74675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62833" y="2620517"/>
            <a:ext cx="1076325" cy="594360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编译器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99538" y="3652265"/>
            <a:ext cx="378460" cy="297180"/>
          </a:xfrm>
          <a:custGeom>
            <a:avLst/>
            <a:gdLst/>
            <a:ahLst/>
            <a:cxnLst/>
            <a:rect l="l" t="t" r="r" b="b"/>
            <a:pathLst>
              <a:path w="378460" h="297179">
                <a:moveTo>
                  <a:pt x="0" y="74294"/>
                </a:moveTo>
                <a:lnTo>
                  <a:pt x="229362" y="74294"/>
                </a:lnTo>
                <a:lnTo>
                  <a:pt x="229362" y="0"/>
                </a:lnTo>
                <a:lnTo>
                  <a:pt x="377951" y="148589"/>
                </a:lnTo>
                <a:lnTo>
                  <a:pt x="229362" y="297179"/>
                </a:lnTo>
                <a:lnTo>
                  <a:pt x="229362" y="222884"/>
                </a:lnTo>
                <a:lnTo>
                  <a:pt x="0" y="222884"/>
                </a:lnTo>
                <a:lnTo>
                  <a:pt x="0" y="74294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84170" y="3515105"/>
            <a:ext cx="3078480" cy="596265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解释器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59046" y="2620517"/>
            <a:ext cx="1403985" cy="594360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可执行文件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62221" y="2713482"/>
            <a:ext cx="375285" cy="299085"/>
          </a:xfrm>
          <a:custGeom>
            <a:avLst/>
            <a:gdLst/>
            <a:ahLst/>
            <a:cxnLst/>
            <a:rect l="l" t="t" r="r" b="b"/>
            <a:pathLst>
              <a:path w="375285" h="299085">
                <a:moveTo>
                  <a:pt x="0" y="74675"/>
                </a:moveTo>
                <a:lnTo>
                  <a:pt x="225551" y="74675"/>
                </a:lnTo>
                <a:lnTo>
                  <a:pt x="225551" y="0"/>
                </a:lnTo>
                <a:lnTo>
                  <a:pt x="374903" y="149351"/>
                </a:lnTo>
                <a:lnTo>
                  <a:pt x="225551" y="298703"/>
                </a:lnTo>
                <a:lnTo>
                  <a:pt x="225551" y="224027"/>
                </a:lnTo>
                <a:lnTo>
                  <a:pt x="0" y="224027"/>
                </a:lnTo>
                <a:lnTo>
                  <a:pt x="0" y="74675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84570" y="2713482"/>
            <a:ext cx="375285" cy="299085"/>
          </a:xfrm>
          <a:custGeom>
            <a:avLst/>
            <a:gdLst/>
            <a:ahLst/>
            <a:cxnLst/>
            <a:rect l="l" t="t" r="r" b="b"/>
            <a:pathLst>
              <a:path w="375285" h="299085">
                <a:moveTo>
                  <a:pt x="0" y="74675"/>
                </a:moveTo>
                <a:lnTo>
                  <a:pt x="225551" y="74675"/>
                </a:lnTo>
                <a:lnTo>
                  <a:pt x="225551" y="0"/>
                </a:lnTo>
                <a:lnTo>
                  <a:pt x="374903" y="149351"/>
                </a:lnTo>
                <a:lnTo>
                  <a:pt x="225551" y="298703"/>
                </a:lnTo>
                <a:lnTo>
                  <a:pt x="225551" y="224027"/>
                </a:lnTo>
                <a:lnTo>
                  <a:pt x="0" y="224027"/>
                </a:lnTo>
                <a:lnTo>
                  <a:pt x="0" y="74675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82918" y="2583942"/>
            <a:ext cx="551815" cy="1527175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8590" marR="140335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操 作 系 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84570" y="3624834"/>
            <a:ext cx="375285" cy="297180"/>
          </a:xfrm>
          <a:custGeom>
            <a:avLst/>
            <a:gdLst/>
            <a:ahLst/>
            <a:cxnLst/>
            <a:rect l="l" t="t" r="r" b="b"/>
            <a:pathLst>
              <a:path w="375285" h="297179">
                <a:moveTo>
                  <a:pt x="0" y="74295"/>
                </a:moveTo>
                <a:lnTo>
                  <a:pt x="226313" y="74295"/>
                </a:lnTo>
                <a:lnTo>
                  <a:pt x="226313" y="0"/>
                </a:lnTo>
                <a:lnTo>
                  <a:pt x="374903" y="148590"/>
                </a:lnTo>
                <a:lnTo>
                  <a:pt x="226313" y="297180"/>
                </a:lnTo>
                <a:lnTo>
                  <a:pt x="226313" y="222885"/>
                </a:lnTo>
                <a:lnTo>
                  <a:pt x="0" y="222885"/>
                </a:lnTo>
                <a:lnTo>
                  <a:pt x="0" y="74295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99197" y="3214877"/>
            <a:ext cx="551815" cy="300355"/>
          </a:xfrm>
          <a:custGeom>
            <a:avLst/>
            <a:gdLst/>
            <a:ahLst/>
            <a:cxnLst/>
            <a:rect l="l" t="t" r="r" b="b"/>
            <a:pathLst>
              <a:path w="551815" h="300354">
                <a:moveTo>
                  <a:pt x="0" y="150113"/>
                </a:moveTo>
                <a:lnTo>
                  <a:pt x="150113" y="0"/>
                </a:lnTo>
                <a:lnTo>
                  <a:pt x="150113" y="75057"/>
                </a:lnTo>
                <a:lnTo>
                  <a:pt x="401574" y="75057"/>
                </a:lnTo>
                <a:lnTo>
                  <a:pt x="401574" y="0"/>
                </a:lnTo>
                <a:lnTo>
                  <a:pt x="551687" y="150113"/>
                </a:lnTo>
                <a:lnTo>
                  <a:pt x="401574" y="300227"/>
                </a:lnTo>
                <a:lnTo>
                  <a:pt x="401574" y="225171"/>
                </a:lnTo>
                <a:lnTo>
                  <a:pt x="150113" y="225171"/>
                </a:lnTo>
                <a:lnTo>
                  <a:pt x="150113" y="300227"/>
                </a:lnTo>
                <a:lnTo>
                  <a:pt x="0" y="150113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994142" y="2583942"/>
            <a:ext cx="693420" cy="1527175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微软雅黑"/>
                <a:cs typeface="微软雅黑"/>
              </a:rPr>
              <a:t>CPU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823" y="4748521"/>
            <a:ext cx="3311525" cy="148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Pyt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h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作为解释型语言的优势：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75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80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无需编译，执行更简单；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75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独立于平台，可移植性更好；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75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可读性高，便于调试与修改</a:t>
            </a:r>
            <a:r>
              <a:rPr sz="1800" dirty="0">
                <a:solidFill>
                  <a:srgbClr val="1F487C"/>
                </a:solidFill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6" y="2144267"/>
            <a:ext cx="9130284" cy="2139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793800"/>
            <a:ext cx="2956560" cy="126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4000">
              <a:latin typeface="微软雅黑"/>
              <a:cs typeface="微软雅黑"/>
            </a:endParaRPr>
          </a:p>
          <a:p>
            <a:pPr marL="387350" indent="-374650">
              <a:lnSpc>
                <a:spcPct val="100000"/>
              </a:lnSpc>
              <a:spcBef>
                <a:spcPts val="2895"/>
              </a:spcBef>
              <a:buClr>
                <a:srgbClr val="4F81BC"/>
              </a:buClr>
              <a:buSzPct val="97916"/>
              <a:buFont typeface="Segoe UI Symbol"/>
              <a:buChar char="❑"/>
              <a:tabLst>
                <a:tab pos="3879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P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tho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n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的环境配置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2942" y="3044189"/>
            <a:ext cx="769620" cy="277495"/>
          </a:xfrm>
          <a:custGeom>
            <a:avLst/>
            <a:gdLst/>
            <a:ahLst/>
            <a:cxnLst/>
            <a:rect l="l" t="t" r="r" b="b"/>
            <a:pathLst>
              <a:path w="769619" h="277495">
                <a:moveTo>
                  <a:pt x="0" y="277367"/>
                </a:moveTo>
                <a:lnTo>
                  <a:pt x="769619" y="277367"/>
                </a:lnTo>
                <a:lnTo>
                  <a:pt x="769619" y="0"/>
                </a:lnTo>
                <a:lnTo>
                  <a:pt x="0" y="0"/>
                </a:lnTo>
                <a:lnTo>
                  <a:pt x="0" y="277367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6022" y="2745160"/>
            <a:ext cx="984250" cy="867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step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step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80082" y="3400805"/>
            <a:ext cx="771525" cy="276225"/>
          </a:xfrm>
          <a:custGeom>
            <a:avLst/>
            <a:gdLst/>
            <a:ahLst/>
            <a:cxnLst/>
            <a:rect l="l" t="t" r="r" b="b"/>
            <a:pathLst>
              <a:path w="771525" h="276225">
                <a:moveTo>
                  <a:pt x="0" y="275844"/>
                </a:moveTo>
                <a:lnTo>
                  <a:pt x="771144" y="275844"/>
                </a:lnTo>
                <a:lnTo>
                  <a:pt x="771144" y="0"/>
                </a:lnTo>
                <a:lnTo>
                  <a:pt x="0" y="0"/>
                </a:lnTo>
                <a:lnTo>
                  <a:pt x="0" y="27584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4429380"/>
            <a:ext cx="8554720" cy="200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917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h</a:t>
            </a:r>
            <a:r>
              <a:rPr sz="1800" dirty="0">
                <a:latin typeface="微软雅黑"/>
                <a:cs typeface="微软雅黑"/>
              </a:rPr>
              <a:t>ttp</a:t>
            </a:r>
            <a:r>
              <a:rPr sz="1800" spc="-10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:/</a:t>
            </a:r>
            <a:r>
              <a:rPr sz="1800" spc="-10" dirty="0">
                <a:latin typeface="微软雅黑"/>
                <a:cs typeface="微软雅黑"/>
              </a:rPr>
              <a:t>/</a:t>
            </a:r>
            <a:r>
              <a:rPr sz="1800" spc="-10" dirty="0">
                <a:latin typeface="微软雅黑"/>
                <a:cs typeface="微软雅黑"/>
                <a:hlinkClick r:id="rId3"/>
              </a:rPr>
              <a:t>w</a:t>
            </a:r>
            <a:r>
              <a:rPr sz="1800" dirty="0">
                <a:latin typeface="微软雅黑"/>
                <a:cs typeface="微软雅黑"/>
                <a:hlinkClick r:id="rId3"/>
              </a:rPr>
              <a:t>w</a:t>
            </a:r>
            <a:r>
              <a:rPr sz="1800" spc="-100" dirty="0">
                <a:latin typeface="微软雅黑"/>
                <a:cs typeface="微软雅黑"/>
                <a:hlinkClick r:id="rId3"/>
              </a:rPr>
              <a:t>w</a:t>
            </a:r>
            <a:r>
              <a:rPr sz="1800" dirty="0">
                <a:latin typeface="微软雅黑"/>
                <a:cs typeface="微软雅黑"/>
                <a:hlinkClick r:id="rId3"/>
              </a:rPr>
              <a:t>.</a:t>
            </a:r>
            <a:r>
              <a:rPr sz="1800" spc="5" dirty="0">
                <a:latin typeface="微软雅黑"/>
                <a:cs typeface="微软雅黑"/>
                <a:hlinkClick r:id="rId3"/>
              </a:rPr>
              <a:t>p</a:t>
            </a:r>
            <a:r>
              <a:rPr sz="1800" spc="-10" dirty="0">
                <a:latin typeface="微软雅黑"/>
                <a:cs typeface="微软雅黑"/>
                <a:hlinkClick r:id="rId3"/>
              </a:rPr>
              <a:t>y</a:t>
            </a:r>
            <a:r>
              <a:rPr sz="1800" spc="5" dirty="0">
                <a:latin typeface="微软雅黑"/>
                <a:cs typeface="微软雅黑"/>
                <a:hlinkClick r:id="rId3"/>
              </a:rPr>
              <a:t>t</a:t>
            </a:r>
            <a:r>
              <a:rPr sz="1800" spc="-5" dirty="0">
                <a:latin typeface="微软雅黑"/>
                <a:cs typeface="微软雅黑"/>
                <a:hlinkClick r:id="rId3"/>
              </a:rPr>
              <a:t>h</a:t>
            </a:r>
            <a:r>
              <a:rPr sz="1800" dirty="0">
                <a:latin typeface="微软雅黑"/>
                <a:cs typeface="微软雅黑"/>
                <a:hlinkClick r:id="rId3"/>
              </a:rPr>
              <a:t>on.o</a:t>
            </a:r>
            <a:r>
              <a:rPr sz="1800" spc="-25" dirty="0">
                <a:latin typeface="微软雅黑"/>
                <a:cs typeface="微软雅黑"/>
                <a:hlinkClick r:id="rId3"/>
              </a:rPr>
              <a:t>r</a:t>
            </a:r>
            <a:r>
              <a:rPr sz="1800" dirty="0">
                <a:latin typeface="微软雅黑"/>
                <a:cs typeface="微软雅黑"/>
                <a:hlinkClick r:id="rId3"/>
              </a:rPr>
              <a:t>g/</a:t>
            </a:r>
            <a:r>
              <a:rPr sz="1800" spc="5" dirty="0">
                <a:latin typeface="微软雅黑"/>
                <a:cs typeface="微软雅黑"/>
                <a:hlinkClick r:id="rId3"/>
              </a:rPr>
              <a:t>d</a:t>
            </a:r>
            <a:r>
              <a:rPr sz="1800" spc="-10" dirty="0">
                <a:latin typeface="微软雅黑"/>
                <a:cs typeface="微软雅黑"/>
                <a:hlinkClick r:id="rId3"/>
              </a:rPr>
              <a:t>o</a:t>
            </a:r>
            <a:r>
              <a:rPr sz="1800" dirty="0">
                <a:latin typeface="微软雅黑"/>
                <a:cs typeface="微软雅黑"/>
                <a:hlinkClick r:id="rId3"/>
              </a:rPr>
              <a:t>wnl</a:t>
            </a:r>
            <a:r>
              <a:rPr sz="1800" spc="-25" dirty="0">
                <a:latin typeface="微软雅黑"/>
                <a:cs typeface="微软雅黑"/>
                <a:hlinkClick r:id="rId3"/>
              </a:rPr>
              <a:t>o</a:t>
            </a:r>
            <a:r>
              <a:rPr sz="1800" dirty="0">
                <a:latin typeface="微软雅黑"/>
                <a:cs typeface="微软雅黑"/>
                <a:hlinkClick r:id="rId3"/>
              </a:rPr>
              <a:t>ads/</a:t>
            </a:r>
            <a:r>
              <a:rPr sz="1800" spc="-20" dirty="0">
                <a:latin typeface="微软雅黑"/>
                <a:cs typeface="微软雅黑"/>
                <a:hlinkClick r:id="rId3"/>
              </a:rPr>
              <a:t>r</a:t>
            </a:r>
            <a:r>
              <a:rPr sz="1800" spc="-5" dirty="0">
                <a:latin typeface="微软雅黑"/>
                <a:cs typeface="微软雅黑"/>
                <a:hlinkClick r:id="rId3"/>
              </a:rPr>
              <a:t>ele</a:t>
            </a:r>
            <a:r>
              <a:rPr sz="1800" spc="5" dirty="0">
                <a:latin typeface="微软雅黑"/>
                <a:cs typeface="微软雅黑"/>
                <a:hlinkClick r:id="rId3"/>
              </a:rPr>
              <a:t>a</a:t>
            </a:r>
            <a:r>
              <a:rPr sz="1800" spc="-10" dirty="0">
                <a:latin typeface="微软雅黑"/>
                <a:cs typeface="微软雅黑"/>
                <a:hlinkClick r:id="rId3"/>
              </a:rPr>
              <a:t>s</a:t>
            </a:r>
            <a:r>
              <a:rPr sz="1800" spc="5" dirty="0">
                <a:latin typeface="微软雅黑"/>
                <a:cs typeface="微软雅黑"/>
                <a:hlinkClick r:id="rId3"/>
              </a:rPr>
              <a:t>e</a:t>
            </a:r>
            <a:r>
              <a:rPr sz="1800" spc="-5" dirty="0">
                <a:latin typeface="微软雅黑"/>
                <a:cs typeface="微软雅黑"/>
                <a:hlinkClick r:id="rId3"/>
              </a:rPr>
              <a:t>/p</a:t>
            </a:r>
            <a:r>
              <a:rPr sz="1800" spc="-10" dirty="0">
                <a:latin typeface="微软雅黑"/>
                <a:cs typeface="微软雅黑"/>
                <a:hlinkClick r:id="rId3"/>
              </a:rPr>
              <a:t>y</a:t>
            </a:r>
            <a:r>
              <a:rPr sz="1800" spc="5" dirty="0">
                <a:latin typeface="微软雅黑"/>
                <a:cs typeface="微软雅黑"/>
                <a:hlinkClick r:id="rId3"/>
              </a:rPr>
              <a:t>t</a:t>
            </a:r>
            <a:r>
              <a:rPr sz="1800" dirty="0">
                <a:latin typeface="微软雅黑"/>
                <a:cs typeface="微软雅黑"/>
                <a:hlinkClick r:id="rId3"/>
              </a:rPr>
              <a:t>ho</a:t>
            </a:r>
            <a:r>
              <a:rPr sz="1800" spc="20" dirty="0">
                <a:latin typeface="微软雅黑"/>
                <a:cs typeface="微软雅黑"/>
                <a:hlinkClick r:id="rId3"/>
              </a:rPr>
              <a:t>n</a:t>
            </a:r>
            <a:r>
              <a:rPr sz="1800" dirty="0">
                <a:latin typeface="微软雅黑"/>
                <a:cs typeface="微软雅黑"/>
                <a:hlinkClick r:id="rId3"/>
              </a:rPr>
              <a:t>-</a:t>
            </a:r>
            <a:r>
              <a:rPr sz="1800" spc="-5" dirty="0">
                <a:latin typeface="微软雅黑"/>
                <a:cs typeface="微软雅黑"/>
                <a:hlinkClick r:id="rId3"/>
              </a:rPr>
              <a:t>392/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提示</a:t>
            </a:r>
            <a:endParaRPr sz="240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160"/>
              </a:spcBef>
              <a:buClr>
                <a:srgbClr val="4F81BC"/>
              </a:buClr>
              <a:buSzPct val="83333"/>
              <a:buFont typeface="Segoe UI Symbol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如果使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Mac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，已安装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Homeb</a:t>
            </a:r>
            <a:r>
              <a:rPr sz="1800" spc="-25" dirty="0">
                <a:solidFill>
                  <a:srgbClr val="1F487C"/>
                </a:solidFill>
                <a:latin typeface="微软雅黑"/>
                <a:cs typeface="微软雅黑"/>
              </a:rPr>
              <a:t>r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e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w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，使用终端命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令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b</a:t>
            </a:r>
            <a:r>
              <a:rPr sz="1800" spc="-30" dirty="0">
                <a:solidFill>
                  <a:srgbClr val="1F487C"/>
                </a:solidFill>
                <a:latin typeface="微软雅黑"/>
                <a:cs typeface="微软雅黑"/>
              </a:rPr>
              <a:t>r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w</a:t>
            </a:r>
            <a:r>
              <a:rPr sz="1800" spc="3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in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tall</a:t>
            </a:r>
            <a:r>
              <a:rPr sz="1800" spc="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pyt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h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1800" spc="5" dirty="0">
                <a:solidFill>
                  <a:srgbClr val="1F487C"/>
                </a:solidFill>
                <a:latin typeface="微软雅黑"/>
                <a:cs typeface="微软雅黑"/>
              </a:rPr>
              <a:t>3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安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装;</a:t>
            </a:r>
            <a:endParaRPr sz="180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510"/>
              </a:spcBef>
              <a:buClr>
                <a:srgbClr val="4F81BC"/>
              </a:buClr>
              <a:buSzPct val="83333"/>
              <a:buFont typeface="Segoe UI Symbol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如果使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用wind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w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，安装时需勾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选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Add</a:t>
            </a:r>
            <a:r>
              <a:rPr sz="1800" spc="3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Pyt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h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on</a:t>
            </a:r>
            <a:r>
              <a:rPr sz="1800" spc="3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3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.9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t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spc="-160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spc="-145" dirty="0">
                <a:solidFill>
                  <a:srgbClr val="1F487C"/>
                </a:solidFill>
                <a:latin typeface="微软雅黑"/>
                <a:cs typeface="微软雅黑"/>
              </a:rPr>
              <a:t>A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TH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1450">
              <a:latin typeface="Times New Roman"/>
              <a:cs typeface="Times New Roman"/>
            </a:endParaRPr>
          </a:p>
          <a:p>
            <a:pPr marR="741680" algn="r">
              <a:lnSpc>
                <a:spcPct val="100000"/>
              </a:lnSpc>
            </a:pP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详见课本</a:t>
            </a:r>
            <a:r>
              <a:rPr sz="18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2.1.</a:t>
            </a: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1节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5527675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使用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Anac</a:t>
            </a:r>
            <a:r>
              <a:rPr sz="2400" spc="-15" dirty="0">
                <a:solidFill>
                  <a:srgbClr val="006FC0"/>
                </a:solidFill>
                <a:latin typeface="微软雅黑"/>
                <a:cs typeface="微软雅黑"/>
              </a:rPr>
              <a:t>o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nd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a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进行软件包管理与部署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2025" y="5967391"/>
            <a:ext cx="39712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http</a:t>
            </a:r>
            <a:r>
              <a:rPr sz="1800" spc="-1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:/</a:t>
            </a:r>
            <a:r>
              <a:rPr sz="1800" spc="-5" dirty="0">
                <a:latin typeface="微软雅黑"/>
                <a:cs typeface="微软雅黑"/>
              </a:rPr>
              <a:t>/</a:t>
            </a:r>
            <a:r>
              <a:rPr sz="1800" spc="-35" dirty="0">
                <a:latin typeface="微软雅黑"/>
                <a:cs typeface="微软雅黑"/>
              </a:rPr>
              <a:t>r</a:t>
            </a:r>
            <a:r>
              <a:rPr sz="1800" spc="-10" dirty="0">
                <a:latin typeface="微软雅黑"/>
                <a:cs typeface="微软雅黑"/>
              </a:rPr>
              <a:t>epo.</a:t>
            </a:r>
            <a:r>
              <a:rPr sz="1800" spc="0" dirty="0">
                <a:latin typeface="微软雅黑"/>
                <a:cs typeface="微软雅黑"/>
              </a:rPr>
              <a:t>a</a:t>
            </a:r>
            <a:r>
              <a:rPr sz="1800" spc="5" dirty="0">
                <a:latin typeface="微软雅黑"/>
                <a:cs typeface="微软雅黑"/>
              </a:rPr>
              <a:t>n</a:t>
            </a:r>
            <a:r>
              <a:rPr sz="1800" dirty="0">
                <a:latin typeface="微软雅黑"/>
                <a:cs typeface="微软雅黑"/>
              </a:rPr>
              <a:t>aco</a:t>
            </a:r>
            <a:r>
              <a:rPr sz="1800" spc="-10" dirty="0">
                <a:latin typeface="微软雅黑"/>
                <a:cs typeface="微软雅黑"/>
              </a:rPr>
              <a:t>nd</a:t>
            </a:r>
            <a:r>
              <a:rPr sz="1800" dirty="0">
                <a:latin typeface="微软雅黑"/>
                <a:cs typeface="微软雅黑"/>
              </a:rPr>
              <a:t>a.</a:t>
            </a:r>
            <a:r>
              <a:rPr sz="1800" spc="5" dirty="0">
                <a:latin typeface="微软雅黑"/>
                <a:cs typeface="微软雅黑"/>
              </a:rPr>
              <a:t>c</a:t>
            </a:r>
            <a:r>
              <a:rPr sz="1800" spc="-5" dirty="0">
                <a:latin typeface="微软雅黑"/>
                <a:cs typeface="微软雅黑"/>
              </a:rPr>
              <a:t>o</a:t>
            </a:r>
            <a:r>
              <a:rPr sz="1800" spc="0" dirty="0">
                <a:latin typeface="微软雅黑"/>
                <a:cs typeface="微软雅黑"/>
              </a:rPr>
              <a:t>m</a:t>
            </a:r>
            <a:r>
              <a:rPr sz="1800" spc="-10" dirty="0">
                <a:latin typeface="微软雅黑"/>
                <a:cs typeface="微软雅黑"/>
              </a:rPr>
              <a:t>/a</a:t>
            </a:r>
            <a:r>
              <a:rPr sz="1800" spc="-35" dirty="0">
                <a:latin typeface="微软雅黑"/>
                <a:cs typeface="微软雅黑"/>
              </a:rPr>
              <a:t>r</a:t>
            </a:r>
            <a:r>
              <a:rPr sz="1800" spc="5" dirty="0">
                <a:latin typeface="微软雅黑"/>
                <a:cs typeface="微软雅黑"/>
              </a:rPr>
              <a:t>c</a:t>
            </a:r>
            <a:r>
              <a:rPr sz="1800" spc="-5" dirty="0">
                <a:latin typeface="微软雅黑"/>
                <a:cs typeface="微软雅黑"/>
              </a:rPr>
              <a:t>hi</a:t>
            </a:r>
            <a:r>
              <a:rPr sz="1800" spc="-20" dirty="0">
                <a:latin typeface="微软雅黑"/>
                <a:cs typeface="微软雅黑"/>
              </a:rPr>
              <a:t>v</a:t>
            </a:r>
            <a:r>
              <a:rPr sz="1800" spc="5" dirty="0">
                <a:latin typeface="微软雅黑"/>
                <a:cs typeface="微软雅黑"/>
              </a:rPr>
              <a:t>e</a:t>
            </a:r>
            <a:r>
              <a:rPr sz="1800" dirty="0">
                <a:latin typeface="微软雅黑"/>
                <a:cs typeface="微软雅黑"/>
              </a:rPr>
              <a:t>/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33855" y="2066544"/>
            <a:ext cx="6876288" cy="3829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4050" y="5363717"/>
            <a:ext cx="868680" cy="402590"/>
          </a:xfrm>
          <a:custGeom>
            <a:avLst/>
            <a:gdLst/>
            <a:ahLst/>
            <a:cxnLst/>
            <a:rect l="l" t="t" r="r" b="b"/>
            <a:pathLst>
              <a:path w="868680" h="402589">
                <a:moveTo>
                  <a:pt x="0" y="402335"/>
                </a:moveTo>
                <a:lnTo>
                  <a:pt x="868680" y="402335"/>
                </a:lnTo>
                <a:lnTo>
                  <a:pt x="868680" y="0"/>
                </a:lnTo>
                <a:lnTo>
                  <a:pt x="0" y="0"/>
                </a:lnTo>
                <a:lnTo>
                  <a:pt x="0" y="40233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1277" y="5765291"/>
            <a:ext cx="2341880" cy="354965"/>
          </a:xfrm>
          <a:custGeom>
            <a:avLst/>
            <a:gdLst/>
            <a:ahLst/>
            <a:cxnLst/>
            <a:rect l="l" t="t" r="r" b="b"/>
            <a:pathLst>
              <a:path w="2341879" h="354964">
                <a:moveTo>
                  <a:pt x="2265426" y="278320"/>
                </a:moveTo>
                <a:lnTo>
                  <a:pt x="2265426" y="354520"/>
                </a:lnTo>
                <a:lnTo>
                  <a:pt x="2328926" y="322770"/>
                </a:lnTo>
                <a:lnTo>
                  <a:pt x="2278126" y="322770"/>
                </a:lnTo>
                <a:lnTo>
                  <a:pt x="2278126" y="310070"/>
                </a:lnTo>
                <a:lnTo>
                  <a:pt x="2328926" y="310070"/>
                </a:lnTo>
                <a:lnTo>
                  <a:pt x="2265426" y="278320"/>
                </a:lnTo>
                <a:close/>
              </a:path>
              <a:path w="2341879" h="354964">
                <a:moveTo>
                  <a:pt x="12700" y="0"/>
                </a:moveTo>
                <a:lnTo>
                  <a:pt x="0" y="0"/>
                </a:lnTo>
                <a:lnTo>
                  <a:pt x="0" y="319925"/>
                </a:lnTo>
                <a:lnTo>
                  <a:pt x="2794" y="322770"/>
                </a:lnTo>
                <a:lnTo>
                  <a:pt x="2265426" y="322770"/>
                </a:lnTo>
                <a:lnTo>
                  <a:pt x="2265426" y="316420"/>
                </a:lnTo>
                <a:lnTo>
                  <a:pt x="12700" y="316420"/>
                </a:lnTo>
                <a:lnTo>
                  <a:pt x="6350" y="310070"/>
                </a:lnTo>
                <a:lnTo>
                  <a:pt x="12700" y="310070"/>
                </a:lnTo>
                <a:lnTo>
                  <a:pt x="12700" y="0"/>
                </a:lnTo>
                <a:close/>
              </a:path>
              <a:path w="2341879" h="354964">
                <a:moveTo>
                  <a:pt x="2328926" y="310070"/>
                </a:moveTo>
                <a:lnTo>
                  <a:pt x="2278126" y="310070"/>
                </a:lnTo>
                <a:lnTo>
                  <a:pt x="2278126" y="322770"/>
                </a:lnTo>
                <a:lnTo>
                  <a:pt x="2328926" y="322770"/>
                </a:lnTo>
                <a:lnTo>
                  <a:pt x="2341626" y="316420"/>
                </a:lnTo>
                <a:lnTo>
                  <a:pt x="2328926" y="310070"/>
                </a:lnTo>
                <a:close/>
              </a:path>
              <a:path w="2341879" h="354964">
                <a:moveTo>
                  <a:pt x="12700" y="310070"/>
                </a:moveTo>
                <a:lnTo>
                  <a:pt x="6350" y="310070"/>
                </a:lnTo>
                <a:lnTo>
                  <a:pt x="12700" y="316420"/>
                </a:lnTo>
                <a:lnTo>
                  <a:pt x="12700" y="310070"/>
                </a:lnTo>
                <a:close/>
              </a:path>
              <a:path w="2341879" h="354964">
                <a:moveTo>
                  <a:pt x="2265426" y="310070"/>
                </a:moveTo>
                <a:lnTo>
                  <a:pt x="12700" y="310070"/>
                </a:lnTo>
                <a:lnTo>
                  <a:pt x="12700" y="316420"/>
                </a:lnTo>
                <a:lnTo>
                  <a:pt x="2265426" y="316420"/>
                </a:lnTo>
                <a:lnTo>
                  <a:pt x="2265426" y="3100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759075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4000">
              <a:latin typeface="微软雅黑"/>
              <a:cs typeface="微软雅黑"/>
            </a:endParaRPr>
          </a:p>
          <a:p>
            <a:pPr marL="387350" indent="-374650">
              <a:lnSpc>
                <a:spcPct val="100000"/>
              </a:lnSpc>
              <a:spcBef>
                <a:spcPts val="2840"/>
              </a:spcBef>
              <a:buClr>
                <a:srgbClr val="4F81BC"/>
              </a:buClr>
              <a:buSzPct val="97916"/>
              <a:buFont typeface="Segoe UI Symbol"/>
              <a:buChar char="❑"/>
              <a:tabLst>
                <a:tab pos="3879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Sp</a:t>
            </a:r>
            <a:r>
              <a:rPr sz="2400" spc="-20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d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e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r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663" y="2153411"/>
            <a:ext cx="8590788" cy="3922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30111" y="2170176"/>
            <a:ext cx="265430" cy="157480"/>
          </a:xfrm>
          <a:custGeom>
            <a:avLst/>
            <a:gdLst/>
            <a:ahLst/>
            <a:cxnLst/>
            <a:rect l="l" t="t" r="r" b="b"/>
            <a:pathLst>
              <a:path w="265429" h="157480">
                <a:moveTo>
                  <a:pt x="0" y="156972"/>
                </a:moveTo>
                <a:lnTo>
                  <a:pt x="265175" y="156972"/>
                </a:lnTo>
                <a:lnTo>
                  <a:pt x="265175" y="0"/>
                </a:lnTo>
                <a:lnTo>
                  <a:pt x="0" y="0"/>
                </a:lnTo>
                <a:lnTo>
                  <a:pt x="0" y="1569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68567" y="1908048"/>
            <a:ext cx="76200" cy="352425"/>
          </a:xfrm>
          <a:custGeom>
            <a:avLst/>
            <a:gdLst/>
            <a:ahLst/>
            <a:cxnLst/>
            <a:rect l="l" t="t" r="r" b="b"/>
            <a:pathLst>
              <a:path w="76200" h="352425">
                <a:moveTo>
                  <a:pt x="44450" y="63500"/>
                </a:moveTo>
                <a:lnTo>
                  <a:pt x="31750" y="63500"/>
                </a:lnTo>
                <a:lnTo>
                  <a:pt x="31750" y="352298"/>
                </a:lnTo>
                <a:lnTo>
                  <a:pt x="44450" y="352298"/>
                </a:lnTo>
                <a:lnTo>
                  <a:pt x="44450" y="63500"/>
                </a:lnTo>
                <a:close/>
              </a:path>
              <a:path w="76200" h="35242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5242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76571" y="1511232"/>
            <a:ext cx="206184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快速切换工作路径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3127" y="2383535"/>
            <a:ext cx="283845" cy="167640"/>
          </a:xfrm>
          <a:custGeom>
            <a:avLst/>
            <a:gdLst/>
            <a:ahLst/>
            <a:cxnLst/>
            <a:rect l="l" t="t" r="r" b="b"/>
            <a:pathLst>
              <a:path w="283844" h="167639">
                <a:moveTo>
                  <a:pt x="0" y="167639"/>
                </a:moveTo>
                <a:lnTo>
                  <a:pt x="283464" y="167639"/>
                </a:lnTo>
                <a:lnTo>
                  <a:pt x="283464" y="0"/>
                </a:lnTo>
                <a:lnTo>
                  <a:pt x="0" y="0"/>
                </a:lnTo>
                <a:lnTo>
                  <a:pt x="0" y="167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63267" y="4229413"/>
            <a:ext cx="1297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FFFFFF"/>
                </a:solidFill>
                <a:latin typeface="微软雅黑"/>
                <a:cs typeface="微软雅黑"/>
              </a:rPr>
              <a:t>代码编辑区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03576" y="3429000"/>
            <a:ext cx="76200" cy="727075"/>
          </a:xfrm>
          <a:custGeom>
            <a:avLst/>
            <a:gdLst/>
            <a:ahLst/>
            <a:cxnLst/>
            <a:rect l="l" t="t" r="r" b="b"/>
            <a:pathLst>
              <a:path w="76200" h="727075">
                <a:moveTo>
                  <a:pt x="31750" y="650620"/>
                </a:moveTo>
                <a:lnTo>
                  <a:pt x="0" y="650620"/>
                </a:lnTo>
                <a:lnTo>
                  <a:pt x="38100" y="726820"/>
                </a:lnTo>
                <a:lnTo>
                  <a:pt x="69850" y="663320"/>
                </a:lnTo>
                <a:lnTo>
                  <a:pt x="31750" y="663320"/>
                </a:lnTo>
                <a:lnTo>
                  <a:pt x="31750" y="650620"/>
                </a:lnTo>
                <a:close/>
              </a:path>
              <a:path w="76200" h="727075">
                <a:moveTo>
                  <a:pt x="44450" y="0"/>
                </a:moveTo>
                <a:lnTo>
                  <a:pt x="31750" y="0"/>
                </a:lnTo>
                <a:lnTo>
                  <a:pt x="31750" y="663320"/>
                </a:lnTo>
                <a:lnTo>
                  <a:pt x="44450" y="663320"/>
                </a:lnTo>
                <a:lnTo>
                  <a:pt x="44450" y="0"/>
                </a:lnTo>
                <a:close/>
              </a:path>
              <a:path w="76200" h="727075">
                <a:moveTo>
                  <a:pt x="76200" y="650620"/>
                </a:moveTo>
                <a:lnTo>
                  <a:pt x="44450" y="650620"/>
                </a:lnTo>
                <a:lnTo>
                  <a:pt x="44450" y="663320"/>
                </a:lnTo>
                <a:lnTo>
                  <a:pt x="69850" y="663320"/>
                </a:lnTo>
                <a:lnTo>
                  <a:pt x="76200" y="650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86959" y="6146369"/>
            <a:ext cx="35020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详细使用见参考资料：</a:t>
            </a:r>
            <a:r>
              <a:rPr sz="1800" spc="-10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p</a:t>
            </a:r>
            <a:r>
              <a:rPr sz="1800" spc="-20" dirty="0">
                <a:latin typeface="微软雅黑"/>
                <a:cs typeface="微软雅黑"/>
              </a:rPr>
              <a:t>y</a:t>
            </a:r>
            <a:r>
              <a:rPr sz="1800" dirty="0">
                <a:latin typeface="微软雅黑"/>
                <a:cs typeface="微软雅黑"/>
              </a:rPr>
              <a:t>de</a:t>
            </a:r>
            <a:r>
              <a:rPr sz="1800" spc="-10" dirty="0">
                <a:latin typeface="微软雅黑"/>
                <a:cs typeface="微软雅黑"/>
              </a:rPr>
              <a:t>r</a:t>
            </a:r>
            <a:r>
              <a:rPr sz="1800" spc="-5" dirty="0">
                <a:latin typeface="微软雅黑"/>
                <a:cs typeface="微软雅黑"/>
              </a:rPr>
              <a:t>教程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7940040" cy="297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推荐学习资料</a:t>
            </a:r>
            <a:endParaRPr sz="2800">
              <a:latin typeface="微软雅黑"/>
              <a:cs typeface="微软雅黑"/>
            </a:endParaRPr>
          </a:p>
          <a:p>
            <a:pPr marL="503555" indent="-286385">
              <a:lnSpc>
                <a:spcPct val="100000"/>
              </a:lnSpc>
              <a:spcBef>
                <a:spcPts val="1490"/>
              </a:spcBef>
              <a:buFont typeface="Segoe UI Symbol"/>
              <a:buChar char="•"/>
              <a:tabLst>
                <a:tab pos="504190" algn="l"/>
              </a:tabLst>
            </a:pP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廖雪峰的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pyt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h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教程</a:t>
            </a:r>
            <a:endParaRPr sz="1800">
              <a:latin typeface="微软雅黑"/>
              <a:cs typeface="微软雅黑"/>
            </a:endParaRPr>
          </a:p>
          <a:p>
            <a:pPr marL="503555">
              <a:lnSpc>
                <a:spcPct val="100000"/>
              </a:lnSpc>
              <a:spcBef>
                <a:spcPts val="1080"/>
              </a:spcBef>
            </a:pP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http</a:t>
            </a:r>
            <a:r>
              <a:rPr sz="1800" u="heavy" spc="-1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s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://</a:t>
            </a:r>
            <a:r>
              <a:rPr sz="1800" u="heavy" spc="-1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w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w</a:t>
            </a:r>
            <a:r>
              <a:rPr sz="1800" u="heavy" spc="-110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w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.li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a</a:t>
            </a:r>
            <a:r>
              <a:rPr sz="1800" u="heavy" spc="-3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o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x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u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ef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e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ng</a:t>
            </a:r>
            <a:r>
              <a:rPr sz="1800" u="heavy" spc="-1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.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c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om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/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w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i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k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i/1016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9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5966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3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6024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0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2"/>
              </a:rPr>
              <a:t>0</a:t>
            </a:r>
            <a:endParaRPr sz="1800">
              <a:latin typeface="微软雅黑"/>
              <a:cs typeface="微软雅黑"/>
            </a:endParaRPr>
          </a:p>
          <a:p>
            <a:pPr marL="503555" indent="-286385">
              <a:lnSpc>
                <a:spcPct val="100000"/>
              </a:lnSpc>
              <a:spcBef>
                <a:spcPts val="1080"/>
              </a:spcBef>
              <a:buFont typeface="Segoe UI Symbol"/>
              <a:buChar char="•"/>
              <a:tabLst>
                <a:tab pos="504190" algn="l"/>
              </a:tabLst>
            </a:pP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阅读文档</a:t>
            </a:r>
            <a:r>
              <a:rPr sz="1800" spc="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http</a:t>
            </a:r>
            <a:r>
              <a:rPr sz="1800" u="heavy" spc="-1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s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://</a:t>
            </a:r>
            <a:r>
              <a:rPr sz="1800" u="heavy" spc="-1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w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w</a:t>
            </a:r>
            <a:r>
              <a:rPr sz="1800" u="heavy" spc="-9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w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.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r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u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noo</a:t>
            </a:r>
            <a:r>
              <a:rPr sz="1800" u="heavy" spc="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b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.c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o</a:t>
            </a:r>
            <a:r>
              <a:rPr sz="1800" u="heavy" spc="1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m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/py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t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ho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n3/p</a:t>
            </a:r>
            <a:r>
              <a:rPr sz="1800" u="heavy" spc="-1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y</a:t>
            </a:r>
            <a:r>
              <a:rPr sz="1800" u="heavy" spc="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t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ho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n</a:t>
            </a:r>
            <a:r>
              <a:rPr sz="1800" u="heavy" spc="20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3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-tut</a:t>
            </a:r>
            <a:r>
              <a:rPr sz="1800" u="heavy" spc="-1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o</a:t>
            </a:r>
            <a:r>
              <a:rPr sz="1800" u="heavy" spc="-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rial.ht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m</a:t>
            </a:r>
            <a:r>
              <a:rPr sz="1800" u="heavy" spc="5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l</a:t>
            </a:r>
            <a:r>
              <a:rPr sz="1800" u="heavy" dirty="0">
                <a:solidFill>
                  <a:srgbClr val="0000FF"/>
                </a:solidFill>
                <a:latin typeface="微软雅黑"/>
                <a:cs typeface="微软雅黑"/>
                <a:hlinkClick r:id="rId3"/>
              </a:rPr>
              <a:t>、</a:t>
            </a:r>
            <a:endParaRPr sz="1800">
              <a:latin typeface="微软雅黑"/>
              <a:cs typeface="微软雅黑"/>
            </a:endParaRPr>
          </a:p>
          <a:p>
            <a:pPr marL="21717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阅读书籍：建议选择一本快速阅读，用实践夯实基础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57215" y="3954779"/>
            <a:ext cx="1985772" cy="2570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1011" y="3950208"/>
            <a:ext cx="1985772" cy="2575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8027034" cy="288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数据分析应用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700" spc="137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了解P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y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tho</a:t>
            </a:r>
            <a:r>
              <a:rPr sz="2000" spc="-5" dirty="0">
                <a:solidFill>
                  <a:srgbClr val="7E7E7E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的特点、优势及编程环境配置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43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400" b="1" spc="1435" dirty="0">
                <a:latin typeface="微软雅黑"/>
                <a:cs typeface="微软雅黑"/>
              </a:rPr>
              <a:t>理</a:t>
            </a:r>
            <a:r>
              <a:rPr sz="2400" b="1" spc="-5" dirty="0">
                <a:latin typeface="微软雅黑"/>
                <a:cs typeface="微软雅黑"/>
              </a:rPr>
              <a:t>解Pyth</a:t>
            </a:r>
            <a:r>
              <a:rPr sz="2400" b="1" spc="-10" dirty="0">
                <a:latin typeface="微软雅黑"/>
                <a:cs typeface="微软雅黑"/>
              </a:rPr>
              <a:t>o</a:t>
            </a:r>
            <a:r>
              <a:rPr sz="2400" b="1" spc="5" dirty="0">
                <a:latin typeface="微软雅黑"/>
                <a:cs typeface="微软雅黑"/>
              </a:rPr>
              <a:t>n</a:t>
            </a:r>
            <a:r>
              <a:rPr sz="2400" b="1" dirty="0">
                <a:latin typeface="微软雅黑"/>
                <a:cs typeface="微软雅黑"/>
              </a:rPr>
              <a:t>的基础语法，如数据类型、基本操作、容器等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700" spc="137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掌握P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y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tho</a:t>
            </a:r>
            <a:r>
              <a:rPr sz="2000" spc="-5" dirty="0">
                <a:solidFill>
                  <a:srgbClr val="7E7E7E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的流程控制，函数与类的定义与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调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用，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及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异常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理方法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1219" y="2890132"/>
            <a:ext cx="7341870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1F487C"/>
                </a:solidFill>
                <a:latin typeface="微软雅黑"/>
                <a:cs typeface="微软雅黑"/>
              </a:rPr>
              <a:t>最佳学习方法：基于数据，动</a:t>
            </a:r>
            <a:r>
              <a:rPr sz="3600" b="1" dirty="0">
                <a:solidFill>
                  <a:srgbClr val="1F487C"/>
                </a:solidFill>
                <a:latin typeface="微软雅黑"/>
                <a:cs typeface="微软雅黑"/>
              </a:rPr>
              <a:t>手</a:t>
            </a:r>
            <a:r>
              <a:rPr sz="3600" b="1" spc="-5" dirty="0">
                <a:solidFill>
                  <a:srgbClr val="FF0000"/>
                </a:solidFill>
                <a:latin typeface="微软雅黑"/>
                <a:cs typeface="微软雅黑"/>
              </a:rPr>
              <a:t>实践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987040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He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l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l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400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world!</a:t>
            </a:r>
            <a:endParaRPr sz="4000">
              <a:latin typeface="微软雅黑"/>
              <a:cs typeface="微软雅黑"/>
            </a:endParaRPr>
          </a:p>
          <a:p>
            <a:pPr marL="387350" indent="-374650">
              <a:lnSpc>
                <a:spcPct val="100000"/>
              </a:lnSpc>
              <a:spcBef>
                <a:spcPts val="2840"/>
              </a:spcBef>
              <a:buClr>
                <a:srgbClr val="4F81BC"/>
              </a:buClr>
              <a:buSzPct val="97916"/>
              <a:buFont typeface="Segoe UI Symbol"/>
              <a:buChar char="❑"/>
              <a:tabLst>
                <a:tab pos="3879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Py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t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h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o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n基础语法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24171" y="4328159"/>
            <a:ext cx="76200" cy="1003300"/>
          </a:xfrm>
          <a:custGeom>
            <a:avLst/>
            <a:gdLst/>
            <a:ahLst/>
            <a:cxnLst/>
            <a:rect l="l" t="t" r="r" b="b"/>
            <a:pathLst>
              <a:path w="76200" h="1003300">
                <a:moveTo>
                  <a:pt x="31750" y="926845"/>
                </a:moveTo>
                <a:lnTo>
                  <a:pt x="0" y="926845"/>
                </a:lnTo>
                <a:lnTo>
                  <a:pt x="38100" y="1003045"/>
                </a:lnTo>
                <a:lnTo>
                  <a:pt x="69850" y="939545"/>
                </a:lnTo>
                <a:lnTo>
                  <a:pt x="31750" y="939545"/>
                </a:lnTo>
                <a:lnTo>
                  <a:pt x="31750" y="926845"/>
                </a:lnTo>
                <a:close/>
              </a:path>
              <a:path w="76200" h="1003300">
                <a:moveTo>
                  <a:pt x="44450" y="0"/>
                </a:moveTo>
                <a:lnTo>
                  <a:pt x="31750" y="0"/>
                </a:lnTo>
                <a:lnTo>
                  <a:pt x="31750" y="939545"/>
                </a:lnTo>
                <a:lnTo>
                  <a:pt x="44450" y="939545"/>
                </a:lnTo>
                <a:lnTo>
                  <a:pt x="44450" y="0"/>
                </a:lnTo>
                <a:close/>
              </a:path>
              <a:path w="76200" h="1003300">
                <a:moveTo>
                  <a:pt x="76200" y="926845"/>
                </a:moveTo>
                <a:lnTo>
                  <a:pt x="44450" y="926845"/>
                </a:lnTo>
                <a:lnTo>
                  <a:pt x="44450" y="939545"/>
                </a:lnTo>
                <a:lnTo>
                  <a:pt x="69850" y="939545"/>
                </a:lnTo>
                <a:lnTo>
                  <a:pt x="76200" y="92684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52372" y="4267200"/>
            <a:ext cx="76200" cy="1064895"/>
          </a:xfrm>
          <a:custGeom>
            <a:avLst/>
            <a:gdLst/>
            <a:ahLst/>
            <a:cxnLst/>
            <a:rect l="l" t="t" r="r" b="b"/>
            <a:pathLst>
              <a:path w="76200" h="1064895">
                <a:moveTo>
                  <a:pt x="31750" y="988441"/>
                </a:moveTo>
                <a:lnTo>
                  <a:pt x="0" y="988441"/>
                </a:lnTo>
                <a:lnTo>
                  <a:pt x="38100" y="1064641"/>
                </a:lnTo>
                <a:lnTo>
                  <a:pt x="69850" y="1001141"/>
                </a:lnTo>
                <a:lnTo>
                  <a:pt x="31750" y="1001141"/>
                </a:lnTo>
                <a:lnTo>
                  <a:pt x="31750" y="988441"/>
                </a:lnTo>
                <a:close/>
              </a:path>
              <a:path w="76200" h="1064895">
                <a:moveTo>
                  <a:pt x="44450" y="0"/>
                </a:moveTo>
                <a:lnTo>
                  <a:pt x="31750" y="0"/>
                </a:lnTo>
                <a:lnTo>
                  <a:pt x="31750" y="1001141"/>
                </a:lnTo>
                <a:lnTo>
                  <a:pt x="44450" y="1001141"/>
                </a:lnTo>
                <a:lnTo>
                  <a:pt x="44450" y="0"/>
                </a:lnTo>
                <a:close/>
              </a:path>
              <a:path w="76200" h="1064895">
                <a:moveTo>
                  <a:pt x="76200" y="988441"/>
                </a:moveTo>
                <a:lnTo>
                  <a:pt x="44450" y="988441"/>
                </a:lnTo>
                <a:lnTo>
                  <a:pt x="44450" y="1001141"/>
                </a:lnTo>
                <a:lnTo>
                  <a:pt x="69850" y="1001141"/>
                </a:lnTo>
                <a:lnTo>
                  <a:pt x="76200" y="98844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06979" y="2807207"/>
            <a:ext cx="76200" cy="352425"/>
          </a:xfrm>
          <a:custGeom>
            <a:avLst/>
            <a:gdLst/>
            <a:ahLst/>
            <a:cxnLst/>
            <a:rect l="l" t="t" r="r" b="b"/>
            <a:pathLst>
              <a:path w="76200" h="352425">
                <a:moveTo>
                  <a:pt x="44450" y="63500"/>
                </a:moveTo>
                <a:lnTo>
                  <a:pt x="31750" y="63500"/>
                </a:lnTo>
                <a:lnTo>
                  <a:pt x="31750" y="352297"/>
                </a:lnTo>
                <a:lnTo>
                  <a:pt x="44450" y="352297"/>
                </a:lnTo>
                <a:lnTo>
                  <a:pt x="44450" y="63500"/>
                </a:lnTo>
                <a:close/>
              </a:path>
              <a:path w="76200" h="35242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5242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2866" y="2942082"/>
            <a:ext cx="3842385" cy="1932939"/>
          </a:xfrm>
          <a:custGeom>
            <a:avLst/>
            <a:gdLst/>
            <a:ahLst/>
            <a:cxnLst/>
            <a:rect l="l" t="t" r="r" b="b"/>
            <a:pathLst>
              <a:path w="3842385" h="1932939">
                <a:moveTo>
                  <a:pt x="0" y="1932432"/>
                </a:moveTo>
                <a:lnTo>
                  <a:pt x="3842004" y="1932432"/>
                </a:lnTo>
                <a:lnTo>
                  <a:pt x="3842004" y="0"/>
                </a:lnTo>
                <a:lnTo>
                  <a:pt x="0" y="0"/>
                </a:lnTo>
                <a:lnTo>
                  <a:pt x="0" y="1932432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1455" y="2767583"/>
            <a:ext cx="800100" cy="338455"/>
          </a:xfrm>
          <a:custGeom>
            <a:avLst/>
            <a:gdLst/>
            <a:ahLst/>
            <a:cxnLst/>
            <a:rect l="l" t="t" r="r" b="b"/>
            <a:pathLst>
              <a:path w="800100" h="338455">
                <a:moveTo>
                  <a:pt x="0" y="338327"/>
                </a:moveTo>
                <a:lnTo>
                  <a:pt x="800100" y="338327"/>
                </a:lnTo>
                <a:lnTo>
                  <a:pt x="800100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1826" y="2435020"/>
            <a:ext cx="4700270" cy="2304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1855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无需声明预处理器指令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和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命名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空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间</a:t>
            </a:r>
            <a:endParaRPr sz="2000">
              <a:latin typeface="微软雅黑"/>
              <a:cs typeface="微软雅黑"/>
            </a:endParaRPr>
          </a:p>
          <a:p>
            <a:pPr marL="121285">
              <a:lnSpc>
                <a:spcPct val="100000"/>
              </a:lnSpc>
              <a:spcBef>
                <a:spcPts val="810"/>
              </a:spcBef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C++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2423795" algn="just">
              <a:lnSpc>
                <a:spcPct val="100000"/>
              </a:lnSpc>
            </a:pPr>
            <a:r>
              <a:rPr sz="1600" strike="sngStrike" spc="-10" dirty="0">
                <a:solidFill>
                  <a:srgbClr val="808080"/>
                </a:solidFill>
                <a:latin typeface="微软雅黑"/>
                <a:cs typeface="微软雅黑"/>
              </a:rPr>
              <a:t>#include</a:t>
            </a:r>
            <a:r>
              <a:rPr sz="1600" strike="sngStrike" spc="25" dirty="0">
                <a:solidFill>
                  <a:srgbClr val="808080"/>
                </a:solidFill>
                <a:latin typeface="微软雅黑"/>
                <a:cs typeface="微软雅黑"/>
              </a:rPr>
              <a:t> </a:t>
            </a:r>
            <a:r>
              <a:rPr sz="1600" strike="sngStrike" spc="-5" dirty="0">
                <a:solidFill>
                  <a:srgbClr val="808080"/>
                </a:solidFill>
                <a:latin typeface="微软雅黑"/>
                <a:cs typeface="微软雅黑"/>
              </a:rPr>
              <a:t>&lt;</a:t>
            </a:r>
            <a:r>
              <a:rPr sz="1600" strike="sngStrike" spc="-10" dirty="0">
                <a:solidFill>
                  <a:srgbClr val="808080"/>
                </a:solidFill>
                <a:latin typeface="微软雅黑"/>
                <a:cs typeface="微软雅黑"/>
              </a:rPr>
              <a:t>is</a:t>
            </a:r>
            <a:r>
              <a:rPr sz="1600" strike="sngStrike" spc="-5" dirty="0">
                <a:solidFill>
                  <a:srgbClr val="808080"/>
                </a:solidFill>
                <a:latin typeface="微软雅黑"/>
                <a:cs typeface="微软雅黑"/>
              </a:rPr>
              <a:t>ost</a:t>
            </a:r>
            <a:r>
              <a:rPr sz="1600" strike="sngStrike" spc="-25" dirty="0">
                <a:solidFill>
                  <a:srgbClr val="808080"/>
                </a:solidFill>
                <a:latin typeface="微软雅黑"/>
                <a:cs typeface="微软雅黑"/>
              </a:rPr>
              <a:t>r</a:t>
            </a:r>
            <a:r>
              <a:rPr sz="1600" strike="sngStrike" spc="-15" dirty="0">
                <a:solidFill>
                  <a:srgbClr val="808080"/>
                </a:solidFill>
                <a:latin typeface="微软雅黑"/>
                <a:cs typeface="微软雅黑"/>
              </a:rPr>
              <a:t>e</a:t>
            </a:r>
            <a:r>
              <a:rPr sz="1600" strike="sngStrike" spc="-5" dirty="0">
                <a:solidFill>
                  <a:srgbClr val="808080"/>
                </a:solidFill>
                <a:latin typeface="微软雅黑"/>
                <a:cs typeface="微软雅黑"/>
              </a:rPr>
              <a:t>a</a:t>
            </a:r>
            <a:r>
              <a:rPr sz="1600" strike="sngStrike" spc="0" dirty="0">
                <a:solidFill>
                  <a:srgbClr val="808080"/>
                </a:solidFill>
                <a:latin typeface="微软雅黑"/>
                <a:cs typeface="微软雅黑"/>
              </a:rPr>
              <a:t>m</a:t>
            </a:r>
            <a:r>
              <a:rPr sz="1600" strike="sngStrike" spc="-5" dirty="0">
                <a:solidFill>
                  <a:srgbClr val="808080"/>
                </a:solidFill>
                <a:latin typeface="微软雅黑"/>
                <a:cs typeface="微软雅黑"/>
              </a:rPr>
              <a:t>&gt; </a:t>
            </a:r>
            <a:r>
              <a:rPr sz="1600" strike="sngStrike" spc="-35" dirty="0">
                <a:solidFill>
                  <a:srgbClr val="808080"/>
                </a:solidFill>
                <a:latin typeface="微软雅黑"/>
                <a:cs typeface="微软雅黑"/>
              </a:rPr>
              <a:t> </a:t>
            </a:r>
            <a:r>
              <a:rPr sz="1600" strike="noStrike" spc="-35" dirty="0">
                <a:solidFill>
                  <a:srgbClr val="808080"/>
                </a:solidFill>
                <a:latin typeface="微软雅黑"/>
                <a:cs typeface="微软雅黑"/>
              </a:rPr>
              <a:t> </a:t>
            </a:r>
            <a:r>
              <a:rPr sz="1600" strike="sngStrike" spc="-10" dirty="0">
                <a:latin typeface="微软雅黑"/>
                <a:cs typeface="微软雅黑"/>
              </a:rPr>
              <a:t>u</a:t>
            </a:r>
            <a:r>
              <a:rPr sz="1600" strike="sngStrike" dirty="0">
                <a:latin typeface="微软雅黑"/>
                <a:cs typeface="微软雅黑"/>
              </a:rPr>
              <a:t>s</a:t>
            </a:r>
            <a:r>
              <a:rPr sz="1600" strike="sngStrike" spc="-10" dirty="0">
                <a:latin typeface="微软雅黑"/>
                <a:cs typeface="微软雅黑"/>
              </a:rPr>
              <a:t>ing</a:t>
            </a:r>
            <a:r>
              <a:rPr sz="1600" strike="sngStrike" spc="-5" dirty="0">
                <a:latin typeface="微软雅黑"/>
                <a:cs typeface="微软雅黑"/>
              </a:rPr>
              <a:t> </a:t>
            </a:r>
            <a:r>
              <a:rPr sz="1600" strike="sngStrike" spc="-10" dirty="0">
                <a:latin typeface="微软雅黑"/>
                <a:cs typeface="微软雅黑"/>
              </a:rPr>
              <a:t>n</a:t>
            </a:r>
            <a:r>
              <a:rPr sz="1600" strike="sngStrike" dirty="0">
                <a:latin typeface="微软雅黑"/>
                <a:cs typeface="微软雅黑"/>
              </a:rPr>
              <a:t>a</a:t>
            </a:r>
            <a:r>
              <a:rPr sz="1600" strike="sngStrike" spc="-5" dirty="0">
                <a:latin typeface="微软雅黑"/>
                <a:cs typeface="微软雅黑"/>
              </a:rPr>
              <a:t>mes</a:t>
            </a:r>
            <a:r>
              <a:rPr sz="1600" strike="sngStrike" spc="-25" dirty="0">
                <a:latin typeface="微软雅黑"/>
                <a:cs typeface="微软雅黑"/>
              </a:rPr>
              <a:t>p</a:t>
            </a:r>
            <a:r>
              <a:rPr sz="1600" strike="sngStrike" spc="-5" dirty="0">
                <a:latin typeface="微软雅黑"/>
                <a:cs typeface="微软雅黑"/>
              </a:rPr>
              <a:t>a</a:t>
            </a:r>
            <a:r>
              <a:rPr sz="1600" strike="sngStrike" spc="-10" dirty="0">
                <a:latin typeface="微软雅黑"/>
                <a:cs typeface="微软雅黑"/>
              </a:rPr>
              <a:t>ce</a:t>
            </a:r>
            <a:r>
              <a:rPr sz="1600" strike="sngStrike" spc="25" dirty="0">
                <a:latin typeface="微软雅黑"/>
                <a:cs typeface="微软雅黑"/>
              </a:rPr>
              <a:t> </a:t>
            </a:r>
            <a:r>
              <a:rPr sz="1600" strike="sngStrike" spc="-5" dirty="0">
                <a:latin typeface="微软雅黑"/>
                <a:cs typeface="微软雅黑"/>
              </a:rPr>
              <a:t>s</a:t>
            </a:r>
            <a:r>
              <a:rPr sz="1600" strike="sngStrike" spc="-25" dirty="0">
                <a:latin typeface="微软雅黑"/>
                <a:cs typeface="微软雅黑"/>
              </a:rPr>
              <a:t>t</a:t>
            </a:r>
            <a:r>
              <a:rPr sz="1600" strike="sngStrike" spc="-5" dirty="0">
                <a:latin typeface="微软雅黑"/>
                <a:cs typeface="微软雅黑"/>
              </a:rPr>
              <a:t>d; </a:t>
            </a:r>
            <a:r>
              <a:rPr sz="1600" strike="sngStrike" spc="-20" dirty="0">
                <a:latin typeface="微软雅黑"/>
                <a:cs typeface="微软雅黑"/>
              </a:rPr>
              <a:t> </a:t>
            </a:r>
            <a:r>
              <a:rPr sz="1600" strike="noStrike" spc="-20" dirty="0">
                <a:latin typeface="微软雅黑"/>
                <a:cs typeface="微软雅黑"/>
              </a:rPr>
              <a:t> </a:t>
            </a:r>
            <a:r>
              <a:rPr sz="1600" b="1" strike="sngStrike" spc="-10" dirty="0">
                <a:solidFill>
                  <a:srgbClr val="2D8A56"/>
                </a:solidFill>
                <a:latin typeface="微软雅黑"/>
                <a:cs typeface="微软雅黑"/>
              </a:rPr>
              <a:t>i</a:t>
            </a:r>
            <a:r>
              <a:rPr sz="1600" b="1" strike="sngStrike" spc="-5" dirty="0">
                <a:solidFill>
                  <a:srgbClr val="2D8A56"/>
                </a:solidFill>
                <a:latin typeface="微软雅黑"/>
                <a:cs typeface="微软雅黑"/>
              </a:rPr>
              <a:t>nt</a:t>
            </a:r>
            <a:r>
              <a:rPr sz="1600" strike="sngStrike" spc="75" dirty="0">
                <a:solidFill>
                  <a:srgbClr val="2D8A56"/>
                </a:solidFill>
                <a:latin typeface="Times New Roman"/>
                <a:cs typeface="Times New Roman"/>
              </a:rPr>
              <a:t> </a:t>
            </a:r>
            <a:r>
              <a:rPr sz="1600" strike="sngStrike" spc="-5" dirty="0">
                <a:latin typeface="微软雅黑"/>
                <a:cs typeface="微软雅黑"/>
              </a:rPr>
              <a:t>m</a:t>
            </a:r>
            <a:r>
              <a:rPr sz="1600" strike="sngStrike" dirty="0">
                <a:latin typeface="微软雅黑"/>
                <a:cs typeface="微软雅黑"/>
              </a:rPr>
              <a:t>a</a:t>
            </a:r>
            <a:r>
              <a:rPr sz="1600" strike="sngStrike" spc="-10" dirty="0">
                <a:latin typeface="微软雅黑"/>
                <a:cs typeface="微软雅黑"/>
              </a:rPr>
              <a:t>in</a:t>
            </a:r>
            <a:r>
              <a:rPr sz="1600" strike="sngStrike" spc="-15" dirty="0">
                <a:latin typeface="微软雅黑"/>
                <a:cs typeface="微软雅黑"/>
              </a:rPr>
              <a:t>()</a:t>
            </a:r>
            <a:r>
              <a:rPr sz="1600" strike="sngStrike" spc="-5" dirty="0">
                <a:latin typeface="微软雅黑"/>
                <a:cs typeface="微软雅黑"/>
              </a:rPr>
              <a:t>{  </a:t>
            </a:r>
            <a:endParaRPr sz="1600">
              <a:latin typeface="微软雅黑"/>
              <a:cs typeface="微软雅黑"/>
            </a:endParaRPr>
          </a:p>
          <a:p>
            <a:pPr marL="374015">
              <a:lnSpc>
                <a:spcPct val="100000"/>
              </a:lnSpc>
              <a:tabLst>
                <a:tab pos="3645535" algn="l"/>
              </a:tabLst>
            </a:pPr>
            <a:r>
              <a:rPr sz="1600" spc="-10" dirty="0">
                <a:latin typeface="微软雅黑"/>
                <a:cs typeface="微软雅黑"/>
              </a:rPr>
              <a:t>c</a:t>
            </a:r>
            <a:r>
              <a:rPr sz="1600" dirty="0">
                <a:latin typeface="微软雅黑"/>
                <a:cs typeface="微软雅黑"/>
              </a:rPr>
              <a:t>o</a:t>
            </a:r>
            <a:r>
              <a:rPr sz="1600" spc="-10" dirty="0">
                <a:latin typeface="微软雅黑"/>
                <a:cs typeface="微软雅黑"/>
              </a:rPr>
              <a:t>u</a:t>
            </a:r>
            <a:r>
              <a:rPr sz="1600" spc="-5" dirty="0">
                <a:latin typeface="微软雅黑"/>
                <a:cs typeface="微软雅黑"/>
              </a:rPr>
              <a:t>t</a:t>
            </a:r>
            <a:r>
              <a:rPr sz="1600" dirty="0">
                <a:latin typeface="微软雅黑"/>
                <a:cs typeface="微软雅黑"/>
              </a:rPr>
              <a:t> &lt;</a:t>
            </a:r>
            <a:r>
              <a:rPr sz="1600" spc="-5" dirty="0">
                <a:latin typeface="微软雅黑"/>
                <a:cs typeface="微软雅黑"/>
              </a:rPr>
              <a:t>&lt;</a:t>
            </a:r>
            <a:r>
              <a:rPr sz="1600" spc="5" dirty="0"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微软雅黑"/>
                <a:cs typeface="微软雅黑"/>
              </a:rPr>
              <a:t>"He</a:t>
            </a:r>
            <a:r>
              <a:rPr sz="1600" spc="-15" dirty="0">
                <a:solidFill>
                  <a:srgbClr val="0000FF"/>
                </a:solidFill>
                <a:latin typeface="微软雅黑"/>
                <a:cs typeface="微软雅黑"/>
              </a:rPr>
              <a:t>l</a:t>
            </a:r>
            <a:r>
              <a:rPr sz="1600" spc="-10" dirty="0">
                <a:solidFill>
                  <a:srgbClr val="0000FF"/>
                </a:solidFill>
                <a:latin typeface="微软雅黑"/>
                <a:cs typeface="微软雅黑"/>
              </a:rPr>
              <a:t>l</a:t>
            </a:r>
            <a:r>
              <a:rPr sz="1600" spc="-5" dirty="0">
                <a:solidFill>
                  <a:srgbClr val="0000FF"/>
                </a:solidFill>
                <a:latin typeface="微软雅黑"/>
                <a:cs typeface="微软雅黑"/>
              </a:rPr>
              <a:t>o</a:t>
            </a:r>
            <a:r>
              <a:rPr sz="1600" spc="1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1600" spc="-50" dirty="0">
                <a:solidFill>
                  <a:srgbClr val="0000FF"/>
                </a:solidFill>
                <a:latin typeface="微软雅黑"/>
                <a:cs typeface="微软雅黑"/>
              </a:rPr>
              <a:t>W</a:t>
            </a:r>
            <a:r>
              <a:rPr sz="1600" spc="-5" dirty="0">
                <a:solidFill>
                  <a:srgbClr val="0000FF"/>
                </a:solidFill>
                <a:latin typeface="微软雅黑"/>
                <a:cs typeface="微软雅黑"/>
              </a:rPr>
              <a:t>orld!"</a:t>
            </a:r>
            <a:r>
              <a:rPr sz="16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1600" dirty="0">
                <a:latin typeface="微软雅黑"/>
                <a:cs typeface="微软雅黑"/>
              </a:rPr>
              <a:t>&lt;</a:t>
            </a:r>
            <a:r>
              <a:rPr sz="1600" spc="-5" dirty="0">
                <a:latin typeface="微软雅黑"/>
                <a:cs typeface="微软雅黑"/>
              </a:rPr>
              <a:t>&lt;</a:t>
            </a:r>
            <a:r>
              <a:rPr sz="1600" spc="10" dirty="0">
                <a:latin typeface="微软雅黑"/>
                <a:cs typeface="微软雅黑"/>
              </a:rPr>
              <a:t> </a:t>
            </a:r>
            <a:r>
              <a:rPr sz="1600" spc="-15" dirty="0">
                <a:latin typeface="微软雅黑"/>
                <a:cs typeface="微软雅黑"/>
              </a:rPr>
              <a:t>e</a:t>
            </a:r>
            <a:r>
              <a:rPr sz="1600" spc="-10" dirty="0">
                <a:latin typeface="微软雅黑"/>
                <a:cs typeface="微软雅黑"/>
              </a:rPr>
              <a:t>ndl</a:t>
            </a:r>
            <a:r>
              <a:rPr sz="1600" strike="sngStrike" spc="-5" dirty="0">
                <a:latin typeface="微软雅黑"/>
                <a:cs typeface="微软雅黑"/>
              </a:rPr>
              <a:t>; </a:t>
            </a:r>
            <a:r>
              <a:rPr sz="1600" strike="sngStrike" dirty="0">
                <a:latin typeface="微软雅黑"/>
                <a:cs typeface="微软雅黑"/>
              </a:rPr>
              <a:t>	</a:t>
            </a:r>
            <a:endParaRPr sz="1600">
              <a:latin typeface="微软雅黑"/>
              <a:cs typeface="微软雅黑"/>
            </a:endParaRPr>
          </a:p>
          <a:p>
            <a:pPr marL="12700" algn="just">
              <a:lnSpc>
                <a:spcPct val="100000"/>
              </a:lnSpc>
            </a:pPr>
            <a:r>
              <a:rPr sz="1600" strike="sngStrike" spc="-5" dirty="0">
                <a:solidFill>
                  <a:srgbClr val="006699"/>
                </a:solidFill>
                <a:latin typeface="Times New Roman"/>
                <a:cs typeface="Times New Roman"/>
              </a:rPr>
              <a:t>      </a:t>
            </a:r>
            <a:r>
              <a:rPr sz="1600" strike="sngStrike" spc="4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b="1" strike="sngStrike" spc="-25" dirty="0">
                <a:solidFill>
                  <a:srgbClr val="006699"/>
                </a:solidFill>
                <a:latin typeface="微软雅黑"/>
                <a:cs typeface="微软雅黑"/>
              </a:rPr>
              <a:t>r</a:t>
            </a:r>
            <a:r>
              <a:rPr sz="1600" b="1" strike="sngStrike" spc="-10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600" b="1" strike="sngStrike" spc="-5" dirty="0">
                <a:solidFill>
                  <a:srgbClr val="006699"/>
                </a:solidFill>
                <a:latin typeface="微软雅黑"/>
                <a:cs typeface="微软雅黑"/>
              </a:rPr>
              <a:t>tu</a:t>
            </a:r>
            <a:r>
              <a:rPr sz="1600" b="1" strike="sngStrike" spc="-15" dirty="0">
                <a:solidFill>
                  <a:srgbClr val="006699"/>
                </a:solidFill>
                <a:latin typeface="微软雅黑"/>
                <a:cs typeface="微软雅黑"/>
              </a:rPr>
              <a:t>r</a:t>
            </a:r>
            <a:r>
              <a:rPr sz="1600" b="1" strike="sngStrike" spc="-5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600" strike="sngStrike" spc="10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600" strike="sngStrike" spc="-5" dirty="0">
                <a:latin typeface="微软雅黑"/>
                <a:cs typeface="微软雅黑"/>
              </a:rPr>
              <a:t>0; </a:t>
            </a:r>
            <a:r>
              <a:rPr sz="1600" strike="sngStrike" dirty="0">
                <a:latin typeface="微软雅黑"/>
                <a:cs typeface="微软雅黑"/>
              </a:rPr>
              <a:t> </a:t>
            </a:r>
            <a:r>
              <a:rPr sz="1600" strike="sngStrike" spc="-20" dirty="0">
                <a:latin typeface="微软雅黑"/>
                <a:cs typeface="微软雅黑"/>
              </a:rPr>
              <a:t> </a:t>
            </a:r>
            <a:endParaRPr sz="1600">
              <a:latin typeface="微软雅黑"/>
              <a:cs typeface="微软雅黑"/>
            </a:endParaRPr>
          </a:p>
          <a:p>
            <a:pPr marL="12700" algn="just">
              <a:lnSpc>
                <a:spcPct val="100000"/>
              </a:lnSpc>
            </a:pPr>
            <a:r>
              <a:rPr sz="1600" strike="sngStrike" spc="-5" dirty="0">
                <a:latin typeface="微软雅黑"/>
                <a:cs typeface="微软雅黑"/>
              </a:rPr>
              <a:t>}  </a:t>
            </a:r>
            <a:r>
              <a:rPr sz="1600" strike="sngStrike" spc="-25" dirty="0">
                <a:latin typeface="微软雅黑"/>
                <a:cs typeface="微软雅黑"/>
              </a:rPr>
              <a:t> 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4729" y="5405052"/>
            <a:ext cx="15525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不以分号结尾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1824" y="5405052"/>
            <a:ext cx="17938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spc="5" dirty="0">
                <a:solidFill>
                  <a:srgbClr val="006FC0"/>
                </a:solidFill>
                <a:latin typeface="微软雅黑"/>
                <a:cs typeface="微软雅黑"/>
              </a:rPr>
              <a:t>使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用prin</a:t>
            </a:r>
            <a:r>
              <a:rPr sz="2000" u="heavy" spc="-10" dirty="0">
                <a:solidFill>
                  <a:srgbClr val="006FC0"/>
                </a:solidFill>
                <a:latin typeface="微软雅黑"/>
                <a:cs typeface="微软雅黑"/>
              </a:rPr>
              <a:t>t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()输出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21173" y="3853434"/>
            <a:ext cx="574675" cy="413384"/>
          </a:xfrm>
          <a:custGeom>
            <a:avLst/>
            <a:gdLst/>
            <a:ahLst/>
            <a:cxnLst/>
            <a:rect l="l" t="t" r="r" b="b"/>
            <a:pathLst>
              <a:path w="574675" h="413385">
                <a:moveTo>
                  <a:pt x="0" y="103251"/>
                </a:moveTo>
                <a:lnTo>
                  <a:pt x="368046" y="103251"/>
                </a:lnTo>
                <a:lnTo>
                  <a:pt x="368046" y="0"/>
                </a:lnTo>
                <a:lnTo>
                  <a:pt x="574548" y="206502"/>
                </a:lnTo>
                <a:lnTo>
                  <a:pt x="368046" y="413004"/>
                </a:lnTo>
                <a:lnTo>
                  <a:pt x="368046" y="309753"/>
                </a:lnTo>
                <a:lnTo>
                  <a:pt x="0" y="309753"/>
                </a:lnTo>
                <a:lnTo>
                  <a:pt x="0" y="103251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583935" y="2756916"/>
          <a:ext cx="2799587" cy="2242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306"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545"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Py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th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n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25908">
                      <a:solidFill>
                        <a:srgbClr val="1F487C"/>
                      </a:solidFill>
                      <a:prstDash val="solid"/>
                    </a:lnR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4886">
                <a:tc gridSpan="3"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006699"/>
                          </a:solidFill>
                          <a:latin typeface="微软雅黑"/>
                          <a:cs typeface="微软雅黑"/>
                        </a:rPr>
                        <a:t>pr</a:t>
                      </a:r>
                      <a:r>
                        <a:rPr sz="1600" b="1" spc="-10" dirty="0">
                          <a:solidFill>
                            <a:srgbClr val="006699"/>
                          </a:solidFill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1600" b="1" dirty="0">
                          <a:solidFill>
                            <a:srgbClr val="006699"/>
                          </a:solidFill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1600" b="1" spc="-5" dirty="0">
                          <a:solidFill>
                            <a:srgbClr val="006699"/>
                          </a:solidFill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(</a:t>
                      </a:r>
                      <a:r>
                        <a:rPr sz="1600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"H</a:t>
                      </a:r>
                      <a:r>
                        <a:rPr sz="1600" spc="-10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1600" spc="-5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ll</a:t>
                      </a:r>
                      <a:r>
                        <a:rPr sz="1600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o,</a:t>
                      </a:r>
                      <a:r>
                        <a:rPr sz="1600" spc="55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600" spc="-45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W</a:t>
                      </a:r>
                      <a:r>
                        <a:rPr sz="1600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or</a:t>
                      </a:r>
                      <a:r>
                        <a:rPr sz="1600" spc="-5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1600" dirty="0">
                          <a:solidFill>
                            <a:srgbClr val="0000FF"/>
                          </a:solidFill>
                          <a:latin typeface="微软雅黑"/>
                          <a:cs typeface="微软雅黑"/>
                        </a:rPr>
                        <a:t>d!"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)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R w="25908">
                      <a:solidFill>
                        <a:srgbClr val="1F487C"/>
                      </a:solidFill>
                      <a:prstDash val="solid"/>
                    </a:lnR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基础语法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数据类型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742197"/>
            <a:ext cx="2748280" cy="1902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整数值 pri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(1)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浮点型 pri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(0.1)</a:t>
            </a:r>
            <a:endParaRPr sz="180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Segoe UI Symbol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字符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串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型 pri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微软雅黑"/>
                <a:cs typeface="微软雅黑"/>
              </a:rPr>
              <a:t>"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g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oo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d</a:t>
            </a:r>
            <a:r>
              <a:rPr sz="1800" spc="-5" dirty="0">
                <a:solidFill>
                  <a:srgbClr val="0000FF"/>
                </a:solidFill>
                <a:latin typeface="微软雅黑"/>
                <a:cs typeface="微软雅黑"/>
              </a:rPr>
              <a:t>"</a:t>
            </a:r>
            <a:r>
              <a:rPr sz="1800" dirty="0">
                <a:latin typeface="微软雅黑"/>
                <a:cs typeface="微软雅黑"/>
              </a:rPr>
              <a:t>)</a:t>
            </a:r>
            <a:endParaRPr sz="180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Segoe UI Symbol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布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尔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值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pri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(</a:t>
            </a:r>
            <a:r>
              <a:rPr sz="1800" spc="-170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r</a:t>
            </a:r>
            <a:r>
              <a:rPr sz="1800" spc="-10" dirty="0">
                <a:latin typeface="微软雅黑"/>
                <a:cs typeface="微软雅黑"/>
              </a:rPr>
              <a:t>u</a:t>
            </a:r>
            <a:r>
              <a:rPr sz="1800" spc="-5" dirty="0">
                <a:latin typeface="微软雅黑"/>
                <a:cs typeface="微软雅黑"/>
              </a:rPr>
              <a:t>e)</a:t>
            </a:r>
            <a:endParaRPr sz="180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Segoe UI Symbol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空值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pri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(N</a:t>
            </a:r>
            <a:r>
              <a:rPr sz="1800" spc="-10" dirty="0">
                <a:latin typeface="微软雅黑"/>
                <a:cs typeface="微软雅黑"/>
              </a:rPr>
              <a:t>o</a:t>
            </a:r>
            <a:r>
              <a:rPr sz="1800" spc="-5" dirty="0">
                <a:latin typeface="微软雅黑"/>
                <a:cs typeface="微软雅黑"/>
              </a:rPr>
              <a:t>ne)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37609" y="2634233"/>
            <a:ext cx="5131435" cy="2071370"/>
          </a:xfrm>
          <a:custGeom>
            <a:avLst/>
            <a:gdLst/>
            <a:ahLst/>
            <a:cxnLst/>
            <a:rect l="l" t="t" r="r" b="b"/>
            <a:pathLst>
              <a:path w="5131434" h="2071370">
                <a:moveTo>
                  <a:pt x="0" y="2071116"/>
                </a:moveTo>
                <a:lnTo>
                  <a:pt x="5131308" y="2071116"/>
                </a:lnTo>
                <a:lnTo>
                  <a:pt x="5131308" y="0"/>
                </a:lnTo>
                <a:lnTo>
                  <a:pt x="0" y="0"/>
                </a:lnTo>
                <a:lnTo>
                  <a:pt x="0" y="2071116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47159" y="2462783"/>
            <a:ext cx="1373505" cy="338455"/>
          </a:xfrm>
          <a:custGeom>
            <a:avLst/>
            <a:gdLst/>
            <a:ahLst/>
            <a:cxnLst/>
            <a:rect l="l" t="t" r="r" b="b"/>
            <a:pathLst>
              <a:path w="1373504" h="338455">
                <a:moveTo>
                  <a:pt x="0" y="338327"/>
                </a:moveTo>
                <a:lnTo>
                  <a:pt x="1373124" y="338327"/>
                </a:lnTo>
                <a:lnTo>
                  <a:pt x="1373124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25900" y="2529266"/>
            <a:ext cx="11823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2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5900" y="3012580"/>
            <a:ext cx="4394200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0.1+0.2=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=0.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3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的结果是</a:t>
            </a:r>
            <a:r>
              <a:rPr sz="1800" spc="-170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ru</a:t>
            </a:r>
            <a:r>
              <a:rPr sz="1800" spc="10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还是</a:t>
            </a:r>
            <a:r>
              <a:rPr sz="1800" spc="-70" dirty="0">
                <a:solidFill>
                  <a:srgbClr val="006699"/>
                </a:solidFill>
                <a:latin typeface="微软雅黑"/>
                <a:cs typeface="微软雅黑"/>
              </a:rPr>
              <a:t>F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als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？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2306320" algn="l"/>
              </a:tabLst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输入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“Fi</a:t>
            </a:r>
            <a:r>
              <a:rPr sz="1800" spc="1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t”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+0.1	是否报错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?</a:t>
            </a:r>
            <a:endParaRPr sz="180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Segoe UI Symbol"/>
              <a:buChar char="•"/>
              <a:tabLst>
                <a:tab pos="299720" algn="l"/>
              </a:tabLst>
            </a:pP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运行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pri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t(‘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I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’m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a g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oo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d</a:t>
            </a:r>
            <a:r>
              <a:rPr sz="1800" spc="1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u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de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t‘)</a:t>
            </a:r>
            <a:endParaRPr sz="1800">
              <a:latin typeface="微软雅黑"/>
              <a:cs typeface="微软雅黑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是否报错？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基础语法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数据类型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962" y="2526029"/>
            <a:ext cx="3874135" cy="2468880"/>
          </a:xfrm>
          <a:custGeom>
            <a:avLst/>
            <a:gdLst/>
            <a:ahLst/>
            <a:cxnLst/>
            <a:rect l="l" t="t" r="r" b="b"/>
            <a:pathLst>
              <a:path w="3874135" h="2468879">
                <a:moveTo>
                  <a:pt x="0" y="2468880"/>
                </a:moveTo>
                <a:lnTo>
                  <a:pt x="3874008" y="2468880"/>
                </a:lnTo>
                <a:lnTo>
                  <a:pt x="3874008" y="0"/>
                </a:lnTo>
                <a:lnTo>
                  <a:pt x="0" y="0"/>
                </a:lnTo>
                <a:lnTo>
                  <a:pt x="0" y="2468880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512" y="2354579"/>
            <a:ext cx="981710" cy="338455"/>
          </a:xfrm>
          <a:custGeom>
            <a:avLst/>
            <a:gdLst/>
            <a:ahLst/>
            <a:cxnLst/>
            <a:rect l="l" t="t" r="r" b="b"/>
            <a:pathLst>
              <a:path w="981710" h="338455">
                <a:moveTo>
                  <a:pt x="0" y="338327"/>
                </a:moveTo>
                <a:lnTo>
                  <a:pt x="981456" y="338327"/>
                </a:lnTo>
                <a:lnTo>
                  <a:pt x="98145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5947" y="2420808"/>
            <a:ext cx="3399154" cy="2577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4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1275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80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0.1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+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0.2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=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=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0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.3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的结果是</a:t>
            </a:r>
            <a:r>
              <a:rPr sz="1800" spc="-170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r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u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还是</a:t>
            </a:r>
            <a:r>
              <a:rPr sz="1800" spc="-70" dirty="0">
                <a:solidFill>
                  <a:srgbClr val="006699"/>
                </a:solidFill>
                <a:latin typeface="微软雅黑"/>
                <a:cs typeface="微软雅黑"/>
              </a:rPr>
              <a:t>F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als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？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2306320" algn="l"/>
              </a:tabLst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输入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“Fi</a:t>
            </a:r>
            <a:r>
              <a:rPr sz="1800" spc="1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t”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+0.1	是否报错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?</a:t>
            </a:r>
            <a:endParaRPr sz="1800" dirty="0">
              <a:latin typeface="微软雅黑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Segoe UI Symbol"/>
              <a:buChar char="•"/>
              <a:tabLst>
                <a:tab pos="299720" algn="l"/>
              </a:tabLst>
            </a:pP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运行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pri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t(‘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I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’m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a g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oo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d</a:t>
            </a:r>
            <a:endParaRPr sz="1800" dirty="0">
              <a:latin typeface="微软雅黑"/>
              <a:cs typeface="微软雅黑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tude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t‘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)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是否报错？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18659" y="2221992"/>
            <a:ext cx="4431792" cy="2895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基础语法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数据类型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229" y="2769870"/>
            <a:ext cx="4764405" cy="2071370"/>
          </a:xfrm>
          <a:custGeom>
            <a:avLst/>
            <a:gdLst/>
            <a:ahLst/>
            <a:cxnLst/>
            <a:rect l="l" t="t" r="r" b="b"/>
            <a:pathLst>
              <a:path w="4764405" h="2071370">
                <a:moveTo>
                  <a:pt x="0" y="2071115"/>
                </a:moveTo>
                <a:lnTo>
                  <a:pt x="4764024" y="2071115"/>
                </a:lnTo>
                <a:lnTo>
                  <a:pt x="4764024" y="0"/>
                </a:lnTo>
                <a:lnTo>
                  <a:pt x="0" y="0"/>
                </a:lnTo>
                <a:lnTo>
                  <a:pt x="0" y="2071115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5780" y="2598420"/>
            <a:ext cx="844550" cy="341630"/>
          </a:xfrm>
          <a:custGeom>
            <a:avLst/>
            <a:gdLst/>
            <a:ahLst/>
            <a:cxnLst/>
            <a:rect l="l" t="t" r="r" b="b"/>
            <a:pathLst>
              <a:path w="844550" h="341630">
                <a:moveTo>
                  <a:pt x="0" y="341375"/>
                </a:moveTo>
                <a:lnTo>
                  <a:pt x="844295" y="341375"/>
                </a:lnTo>
                <a:lnTo>
                  <a:pt x="844295" y="0"/>
                </a:lnTo>
                <a:lnTo>
                  <a:pt x="0" y="0"/>
                </a:lnTo>
                <a:lnTo>
                  <a:pt x="0" y="341375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4824" y="2664404"/>
            <a:ext cx="6337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824" y="3148216"/>
            <a:ext cx="4475810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0.1+0.2=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=0.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3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的结果是</a:t>
            </a:r>
            <a:r>
              <a:rPr sz="1800" spc="-170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ru</a:t>
            </a:r>
            <a:r>
              <a:rPr sz="1800" spc="10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还是</a:t>
            </a:r>
            <a:r>
              <a:rPr sz="1800" spc="-70" dirty="0">
                <a:solidFill>
                  <a:srgbClr val="006699"/>
                </a:solidFill>
                <a:latin typeface="微软雅黑"/>
                <a:cs typeface="微软雅黑"/>
              </a:rPr>
              <a:t>F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als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？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2306320" algn="l"/>
              </a:tabLst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输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入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“Fi</a:t>
            </a:r>
            <a:r>
              <a:rPr sz="1800" spc="1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t”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+0.1	是否报错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?</a:t>
            </a:r>
            <a:endParaRPr sz="1800" dirty="0">
              <a:latin typeface="微软雅黑"/>
              <a:cs typeface="微软雅黑"/>
            </a:endParaRPr>
          </a:p>
          <a:p>
            <a:pPr marL="299085" marR="241935" indent="-286385">
              <a:lnSpc>
                <a:spcPts val="3240"/>
              </a:lnSpc>
              <a:spcBef>
                <a:spcPts val="285"/>
              </a:spcBef>
              <a:buFont typeface="Segoe UI Symbol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运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行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pri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t(‘I’m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a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go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o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d</a:t>
            </a:r>
            <a:r>
              <a:rPr sz="1800" spc="1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tude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t‘) 是否报错？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96027" y="4351540"/>
            <a:ext cx="3836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单双引号交替使用或转义字符</a:t>
            </a:r>
            <a:r>
              <a:rPr lang="en-US" sz="1800" spc="5" dirty="0">
                <a:solidFill>
                  <a:srgbClr val="1F487C"/>
                </a:solidFill>
                <a:latin typeface="微软雅黑"/>
                <a:cs typeface="微软雅黑"/>
              </a:rPr>
              <a:t>(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\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）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6026" y="1706893"/>
            <a:ext cx="346697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使用</a:t>
            </a:r>
            <a:r>
              <a:rPr sz="1800" spc="-35" dirty="0" err="1">
                <a:solidFill>
                  <a:srgbClr val="1F487C"/>
                </a:solidFill>
                <a:latin typeface="微软雅黑"/>
                <a:cs typeface="微软雅黑"/>
              </a:rPr>
              <a:t>r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0" dirty="0" err="1">
                <a:solidFill>
                  <a:srgbClr val="1F487C"/>
                </a:solidFill>
                <a:latin typeface="微软雅黑"/>
                <a:cs typeface="微软雅黑"/>
              </a:rPr>
              <a:t>u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nd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()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进行四舍五入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6026" y="3065666"/>
            <a:ext cx="36955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使用数据类型转换函数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tr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()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99888" y="2141220"/>
            <a:ext cx="3878579" cy="667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16652" y="3456432"/>
            <a:ext cx="3877055" cy="643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13603" y="4747259"/>
            <a:ext cx="3864863" cy="1045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8486140" cy="3413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基础语法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ts val="2790"/>
              </a:lnSpc>
              <a:spcBef>
                <a:spcPts val="2455"/>
              </a:spcBef>
            </a:pPr>
            <a:r>
              <a:rPr sz="2000" spc="4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00" spc="15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基本运算</a:t>
            </a:r>
            <a:endParaRPr sz="2400">
              <a:latin typeface="微软雅黑"/>
              <a:cs typeface="微软雅黑"/>
            </a:endParaRPr>
          </a:p>
          <a:p>
            <a:pPr marL="3672204">
              <a:lnSpc>
                <a:spcPts val="1925"/>
              </a:lnSpc>
            </a:pP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命名用字母、数字和下划线组成，不能数字开头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ts val="2020"/>
              </a:lnSpc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数学运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算+,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-,*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,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/,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%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,/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/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,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**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字符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串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运算符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+,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*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,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[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],[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m: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n],in,no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t</a:t>
            </a:r>
            <a:r>
              <a:rPr sz="1800" spc="6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in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FF0000"/>
                </a:solidFill>
                <a:latin typeface="Segoe UI Symbol"/>
                <a:cs typeface="Segoe UI Symbol"/>
              </a:rPr>
              <a:t>⚫ </a:t>
            </a:r>
            <a:r>
              <a:rPr sz="1800" spc="-80" dirty="0">
                <a:solidFill>
                  <a:srgbClr val="FF0000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变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量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的定义无需说明数据类型（动态变量），常量一般大写，</a:t>
            </a:r>
            <a:r>
              <a:rPr sz="1800" spc="5" dirty="0">
                <a:solidFill>
                  <a:srgbClr val="006699"/>
                </a:solidFill>
                <a:latin typeface="微软雅黑"/>
                <a:cs typeface="微软雅黑"/>
              </a:rPr>
              <a:t>如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PI</a:t>
            </a:r>
            <a:endParaRPr sz="1800">
              <a:latin typeface="微软雅黑"/>
              <a:cs typeface="微软雅黑"/>
            </a:endParaRPr>
          </a:p>
          <a:p>
            <a:pPr marL="345440" indent="-333375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字符串常见处理函数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len(),l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o</a:t>
            </a:r>
            <a:r>
              <a:rPr sz="1800" spc="-25" dirty="0">
                <a:solidFill>
                  <a:srgbClr val="006699"/>
                </a:solidFill>
                <a:latin typeface="微软雅黑"/>
                <a:cs typeface="微软雅黑"/>
              </a:rPr>
              <a:t>w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er(),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trip(),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c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ount()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,j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o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in()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1600">
              <a:latin typeface="Times New Roman"/>
              <a:cs typeface="Times New Roman"/>
            </a:endParaRPr>
          </a:p>
          <a:p>
            <a:pPr marL="34544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790" y="4083558"/>
            <a:ext cx="3702050" cy="2364105"/>
          </a:xfrm>
          <a:custGeom>
            <a:avLst/>
            <a:gdLst/>
            <a:ahLst/>
            <a:cxnLst/>
            <a:rect l="l" t="t" r="r" b="b"/>
            <a:pathLst>
              <a:path w="3702050" h="2364104">
                <a:moveTo>
                  <a:pt x="0" y="2363724"/>
                </a:moveTo>
                <a:lnTo>
                  <a:pt x="3701796" y="2363724"/>
                </a:lnTo>
                <a:lnTo>
                  <a:pt x="3701796" y="0"/>
                </a:lnTo>
                <a:lnTo>
                  <a:pt x="0" y="0"/>
                </a:lnTo>
                <a:lnTo>
                  <a:pt x="0" y="2363724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9431" y="3912108"/>
            <a:ext cx="1388745" cy="338455"/>
          </a:xfrm>
          <a:custGeom>
            <a:avLst/>
            <a:gdLst/>
            <a:ahLst/>
            <a:cxnLst/>
            <a:rect l="l" t="t" r="r" b="b"/>
            <a:pathLst>
              <a:path w="1388745" h="338454">
                <a:moveTo>
                  <a:pt x="0" y="338327"/>
                </a:moveTo>
                <a:lnTo>
                  <a:pt x="1388364" y="338327"/>
                </a:lnTo>
                <a:lnTo>
                  <a:pt x="1388364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3768" y="4408564"/>
            <a:ext cx="3507232" cy="1949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计算2的平方用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2^2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还是2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**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2？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=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”t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a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ns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o</a:t>
            </a:r>
            <a:r>
              <a:rPr sz="1800" spc="5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1800" spc="5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BIG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1800" spc="-45" dirty="0">
                <a:solidFill>
                  <a:srgbClr val="0000FF"/>
                </a:solidFill>
                <a:latin typeface="微软雅黑"/>
                <a:cs typeface="微软雅黑"/>
              </a:rPr>
              <a:t>D</a:t>
            </a:r>
            <a:r>
              <a:rPr sz="1800" spc="-145" dirty="0">
                <a:solidFill>
                  <a:srgbClr val="0000FF"/>
                </a:solidFill>
                <a:latin typeface="微软雅黑"/>
                <a:cs typeface="微软雅黑"/>
              </a:rPr>
              <a:t>AT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A"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006699"/>
                </a:solidFill>
                <a:latin typeface="微软雅黑"/>
                <a:cs typeface="微软雅黑"/>
              </a:rPr>
              <a:t>返回</a:t>
            </a:r>
            <a:r>
              <a:rPr sz="1800" spc="-15" dirty="0" err="1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dirty="0" err="1">
                <a:solidFill>
                  <a:srgbClr val="006699"/>
                </a:solidFill>
                <a:latin typeface="微软雅黑"/>
                <a:cs typeface="微软雅黑"/>
              </a:rPr>
              <a:t>的长度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；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006699"/>
                </a:solidFill>
                <a:latin typeface="微软雅黑"/>
                <a:cs typeface="微软雅黑"/>
              </a:rPr>
              <a:t>将字符串转换为大写字母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；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spc="-5" dirty="0" err="1">
                <a:solidFill>
                  <a:srgbClr val="006699"/>
                </a:solidFill>
                <a:latin typeface="微软雅黑"/>
                <a:cs typeface="微软雅黑"/>
              </a:rPr>
              <a:t>统计字符串中a出现的次数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；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1628" y="4833240"/>
            <a:ext cx="236728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提示：阅读课本2.2.2</a:t>
            </a: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21023" y="4910328"/>
            <a:ext cx="950594" cy="76200"/>
          </a:xfrm>
          <a:custGeom>
            <a:avLst/>
            <a:gdLst/>
            <a:ahLst/>
            <a:cxnLst/>
            <a:rect l="l" t="t" r="r" b="b"/>
            <a:pathLst>
              <a:path w="950595" h="76200">
                <a:moveTo>
                  <a:pt x="874267" y="0"/>
                </a:moveTo>
                <a:lnTo>
                  <a:pt x="874267" y="76200"/>
                </a:lnTo>
                <a:lnTo>
                  <a:pt x="937767" y="44450"/>
                </a:lnTo>
                <a:lnTo>
                  <a:pt x="886967" y="44450"/>
                </a:lnTo>
                <a:lnTo>
                  <a:pt x="886967" y="31750"/>
                </a:lnTo>
                <a:lnTo>
                  <a:pt x="937767" y="31750"/>
                </a:lnTo>
                <a:lnTo>
                  <a:pt x="874267" y="0"/>
                </a:lnTo>
                <a:close/>
              </a:path>
              <a:path w="950595" h="76200">
                <a:moveTo>
                  <a:pt x="87426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74267" y="44450"/>
                </a:lnTo>
                <a:lnTo>
                  <a:pt x="874267" y="31750"/>
                </a:lnTo>
                <a:close/>
              </a:path>
              <a:path w="950595" h="76200">
                <a:moveTo>
                  <a:pt x="937767" y="31750"/>
                </a:moveTo>
                <a:lnTo>
                  <a:pt x="886967" y="31750"/>
                </a:lnTo>
                <a:lnTo>
                  <a:pt x="886967" y="44450"/>
                </a:lnTo>
                <a:lnTo>
                  <a:pt x="937767" y="44450"/>
                </a:lnTo>
                <a:lnTo>
                  <a:pt x="950467" y="38100"/>
                </a:lnTo>
                <a:lnTo>
                  <a:pt x="937767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80534" y="2351532"/>
            <a:ext cx="1027430" cy="640715"/>
          </a:xfrm>
          <a:custGeom>
            <a:avLst/>
            <a:gdLst/>
            <a:ahLst/>
            <a:cxnLst/>
            <a:rect l="l" t="t" r="r" b="b"/>
            <a:pathLst>
              <a:path w="1027429" h="640714">
                <a:moveTo>
                  <a:pt x="958960" y="34775"/>
                </a:moveTo>
                <a:lnTo>
                  <a:pt x="0" y="629792"/>
                </a:lnTo>
                <a:lnTo>
                  <a:pt x="6603" y="640588"/>
                </a:lnTo>
                <a:lnTo>
                  <a:pt x="965625" y="45532"/>
                </a:lnTo>
                <a:lnTo>
                  <a:pt x="958960" y="34775"/>
                </a:lnTo>
                <a:close/>
              </a:path>
              <a:path w="1027429" h="640714">
                <a:moveTo>
                  <a:pt x="1009746" y="28066"/>
                </a:moveTo>
                <a:lnTo>
                  <a:pt x="969771" y="28066"/>
                </a:lnTo>
                <a:lnTo>
                  <a:pt x="976376" y="38862"/>
                </a:lnTo>
                <a:lnTo>
                  <a:pt x="965625" y="45532"/>
                </a:lnTo>
                <a:lnTo>
                  <a:pt x="982344" y="72516"/>
                </a:lnTo>
                <a:lnTo>
                  <a:pt x="1009746" y="28066"/>
                </a:lnTo>
                <a:close/>
              </a:path>
              <a:path w="1027429" h="640714">
                <a:moveTo>
                  <a:pt x="969771" y="28066"/>
                </a:moveTo>
                <a:lnTo>
                  <a:pt x="958960" y="34775"/>
                </a:lnTo>
                <a:lnTo>
                  <a:pt x="965625" y="45532"/>
                </a:lnTo>
                <a:lnTo>
                  <a:pt x="976376" y="38862"/>
                </a:lnTo>
                <a:lnTo>
                  <a:pt x="969771" y="28066"/>
                </a:lnTo>
                <a:close/>
              </a:path>
              <a:path w="1027429" h="640714">
                <a:moveTo>
                  <a:pt x="1027049" y="0"/>
                </a:moveTo>
                <a:lnTo>
                  <a:pt x="942213" y="7746"/>
                </a:lnTo>
                <a:lnTo>
                  <a:pt x="958960" y="34775"/>
                </a:lnTo>
                <a:lnTo>
                  <a:pt x="969771" y="28066"/>
                </a:lnTo>
                <a:lnTo>
                  <a:pt x="1009746" y="28066"/>
                </a:lnTo>
                <a:lnTo>
                  <a:pt x="1027049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基础语法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sz="2000" spc="4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00" spc="15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基本运算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790" y="2445257"/>
            <a:ext cx="3702050" cy="2660143"/>
          </a:xfrm>
          <a:custGeom>
            <a:avLst/>
            <a:gdLst/>
            <a:ahLst/>
            <a:cxnLst/>
            <a:rect l="l" t="t" r="r" b="b"/>
            <a:pathLst>
              <a:path w="3702050" h="2365375">
                <a:moveTo>
                  <a:pt x="0" y="2365248"/>
                </a:moveTo>
                <a:lnTo>
                  <a:pt x="3701796" y="2365248"/>
                </a:lnTo>
                <a:lnTo>
                  <a:pt x="3701796" y="0"/>
                </a:lnTo>
                <a:lnTo>
                  <a:pt x="0" y="0"/>
                </a:lnTo>
                <a:lnTo>
                  <a:pt x="0" y="2365248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9431" y="2273807"/>
            <a:ext cx="955675" cy="338455"/>
          </a:xfrm>
          <a:custGeom>
            <a:avLst/>
            <a:gdLst/>
            <a:ahLst/>
            <a:cxnLst/>
            <a:rect l="l" t="t" r="r" b="b"/>
            <a:pathLst>
              <a:path w="955675" h="338455">
                <a:moveTo>
                  <a:pt x="0" y="338327"/>
                </a:moveTo>
                <a:lnTo>
                  <a:pt x="955547" y="338327"/>
                </a:lnTo>
                <a:lnTo>
                  <a:pt x="955547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3768" y="2340290"/>
            <a:ext cx="3416935" cy="2672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44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计算2的平方用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2^2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还是2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**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2？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=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”tra</a:t>
            </a:r>
            <a:r>
              <a:rPr sz="1800" spc="-10" dirty="0">
                <a:solidFill>
                  <a:srgbClr val="0000FF"/>
                </a:solidFill>
                <a:latin typeface="微软雅黑"/>
                <a:cs typeface="微软雅黑"/>
              </a:rPr>
              <a:t>ns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po</a:t>
            </a:r>
            <a:r>
              <a:rPr sz="1800" spc="5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1800" spc="5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BIG </a:t>
            </a:r>
            <a:r>
              <a:rPr sz="1800" spc="-45" dirty="0">
                <a:solidFill>
                  <a:srgbClr val="0000FF"/>
                </a:solidFill>
                <a:latin typeface="微软雅黑"/>
                <a:cs typeface="微软雅黑"/>
              </a:rPr>
              <a:t>D</a:t>
            </a:r>
            <a:r>
              <a:rPr sz="1800" spc="-140" dirty="0">
                <a:solidFill>
                  <a:srgbClr val="0000FF"/>
                </a:solidFill>
                <a:latin typeface="微软雅黑"/>
                <a:cs typeface="微软雅黑"/>
              </a:rPr>
              <a:t>A</a:t>
            </a:r>
            <a:r>
              <a:rPr sz="1800" spc="-145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A"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80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返回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的长度；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将字符串转换为大写字母；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 err="1">
                <a:solidFill>
                  <a:srgbClr val="006699"/>
                </a:solidFill>
                <a:latin typeface="微软雅黑"/>
                <a:cs typeface="微软雅黑"/>
              </a:rPr>
              <a:t>统计字符串中</a:t>
            </a:r>
            <a:r>
              <a:rPr sz="1800" spc="-5" dirty="0" err="1">
                <a:solidFill>
                  <a:srgbClr val="006699"/>
                </a:solidFill>
                <a:latin typeface="微软雅黑"/>
                <a:cs typeface="微软雅黑"/>
              </a:rPr>
              <a:t>a</a:t>
            </a:r>
            <a:r>
              <a:rPr sz="1800" dirty="0" err="1">
                <a:solidFill>
                  <a:srgbClr val="006699"/>
                </a:solidFill>
                <a:latin typeface="微软雅黑"/>
                <a:cs typeface="微软雅黑"/>
              </a:rPr>
              <a:t>出现的次数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37176" y="1892807"/>
            <a:ext cx="3584447" cy="3468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基础语法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sz="2000" spc="4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00" spc="15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缩进与注释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9694" y="2542794"/>
            <a:ext cx="3973195" cy="1606550"/>
          </a:xfrm>
          <a:custGeom>
            <a:avLst/>
            <a:gdLst/>
            <a:ahLst/>
            <a:cxnLst/>
            <a:rect l="l" t="t" r="r" b="b"/>
            <a:pathLst>
              <a:path w="3973195" h="1606550">
                <a:moveTo>
                  <a:pt x="0" y="1606296"/>
                </a:moveTo>
                <a:lnTo>
                  <a:pt x="3973067" y="1606296"/>
                </a:lnTo>
                <a:lnTo>
                  <a:pt x="3973067" y="0"/>
                </a:lnTo>
                <a:lnTo>
                  <a:pt x="0" y="0"/>
                </a:lnTo>
                <a:lnTo>
                  <a:pt x="0" y="1606296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7719" y="2371344"/>
            <a:ext cx="1394460" cy="338455"/>
          </a:xfrm>
          <a:custGeom>
            <a:avLst/>
            <a:gdLst/>
            <a:ahLst/>
            <a:cxnLst/>
            <a:rect l="l" t="t" r="r" b="b"/>
            <a:pathLst>
              <a:path w="1394460" h="338455">
                <a:moveTo>
                  <a:pt x="0" y="338327"/>
                </a:moveTo>
                <a:lnTo>
                  <a:pt x="1394460" y="338327"/>
                </a:lnTo>
                <a:lnTo>
                  <a:pt x="1394460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31130" y="2500883"/>
            <a:ext cx="3955669" cy="2159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50057" y="2371344"/>
            <a:ext cx="1483995" cy="1062990"/>
          </a:xfrm>
          <a:custGeom>
            <a:avLst/>
            <a:gdLst/>
            <a:ahLst/>
            <a:cxnLst/>
            <a:rect l="l" t="t" r="r" b="b"/>
            <a:pathLst>
              <a:path w="1483995" h="1062989">
                <a:moveTo>
                  <a:pt x="1417879" y="39155"/>
                </a:moveTo>
                <a:lnTo>
                  <a:pt x="0" y="1052448"/>
                </a:lnTo>
                <a:lnTo>
                  <a:pt x="7366" y="1062735"/>
                </a:lnTo>
                <a:lnTo>
                  <a:pt x="1425239" y="49447"/>
                </a:lnTo>
                <a:lnTo>
                  <a:pt x="1417879" y="39155"/>
                </a:lnTo>
                <a:close/>
              </a:path>
              <a:path w="1483995" h="1062989">
                <a:moveTo>
                  <a:pt x="1466802" y="31750"/>
                </a:moveTo>
                <a:lnTo>
                  <a:pt x="1428242" y="31750"/>
                </a:lnTo>
                <a:lnTo>
                  <a:pt x="1435608" y="42036"/>
                </a:lnTo>
                <a:lnTo>
                  <a:pt x="1425239" y="49447"/>
                </a:lnTo>
                <a:lnTo>
                  <a:pt x="1443735" y="75310"/>
                </a:lnTo>
                <a:lnTo>
                  <a:pt x="1466802" y="31750"/>
                </a:lnTo>
                <a:close/>
              </a:path>
              <a:path w="1483995" h="1062989">
                <a:moveTo>
                  <a:pt x="1428242" y="31750"/>
                </a:moveTo>
                <a:lnTo>
                  <a:pt x="1417879" y="39155"/>
                </a:lnTo>
                <a:lnTo>
                  <a:pt x="1425239" y="49447"/>
                </a:lnTo>
                <a:lnTo>
                  <a:pt x="1435608" y="42036"/>
                </a:lnTo>
                <a:lnTo>
                  <a:pt x="1428242" y="31750"/>
                </a:lnTo>
                <a:close/>
              </a:path>
              <a:path w="1483995" h="1062989">
                <a:moveTo>
                  <a:pt x="1483614" y="0"/>
                </a:moveTo>
                <a:lnTo>
                  <a:pt x="1399413" y="13334"/>
                </a:lnTo>
                <a:lnTo>
                  <a:pt x="1417879" y="39155"/>
                </a:lnTo>
                <a:lnTo>
                  <a:pt x="1428242" y="31750"/>
                </a:lnTo>
                <a:lnTo>
                  <a:pt x="1466802" y="31750"/>
                </a:lnTo>
                <a:lnTo>
                  <a:pt x="1483614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1796" y="1996997"/>
            <a:ext cx="8343265" cy="1953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97960">
              <a:lnSpc>
                <a:spcPct val="100000"/>
              </a:lnSpc>
            </a:pP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Sp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de</a:t>
            </a:r>
            <a:r>
              <a:rPr sz="2000" u="heavy" spc="5" dirty="0">
                <a:solidFill>
                  <a:srgbClr val="1F487C"/>
                </a:solidFill>
                <a:latin typeface="微软雅黑"/>
                <a:cs typeface="微软雅黑"/>
              </a:rPr>
              <a:t>r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中Ct</a:t>
            </a:r>
            <a:r>
              <a:rPr sz="2000" u="heavy" spc="5" dirty="0">
                <a:solidFill>
                  <a:srgbClr val="1F487C"/>
                </a:solidFill>
                <a:latin typeface="微软雅黑"/>
                <a:cs typeface="微软雅黑"/>
              </a:rPr>
              <a:t>r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l+4/</a:t>
            </a:r>
            <a:r>
              <a:rPr sz="2000" u="heavy" spc="5" dirty="0">
                <a:solidFill>
                  <a:srgbClr val="1F487C"/>
                </a:solidFill>
                <a:latin typeface="微软雅黑"/>
                <a:cs typeface="微软雅黑"/>
              </a:rPr>
              <a:t>5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: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块注释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/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撤销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块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注释</a:t>
            </a:r>
            <a:endParaRPr sz="2000">
              <a:latin typeface="微软雅黑"/>
              <a:cs typeface="微软雅黑"/>
            </a:endParaRPr>
          </a:p>
          <a:p>
            <a:pPr marL="12700" indent="124460">
              <a:lnSpc>
                <a:spcPct val="100000"/>
              </a:lnSpc>
              <a:spcBef>
                <a:spcPts val="1140"/>
              </a:spcBef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1mi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在代码编辑区，对当前代码：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使用</a:t>
            </a: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#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进行单行注释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调整缩进，查看是否报错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8931" y="5536691"/>
            <a:ext cx="4049268" cy="598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6971" y="4938196"/>
            <a:ext cx="694880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注释冗余，实际程序编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写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时，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注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释非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常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重要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，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但务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必</a:t>
            </a:r>
            <a:r>
              <a:rPr sz="2000" b="1" u="heavy" dirty="0">
                <a:solidFill>
                  <a:srgbClr val="1F487C"/>
                </a:solidFill>
                <a:latin typeface="微软雅黑"/>
                <a:cs typeface="微软雅黑"/>
              </a:rPr>
              <a:t>言之</a:t>
            </a:r>
            <a:r>
              <a:rPr sz="2000" b="1" u="heavy" spc="-15" dirty="0">
                <a:solidFill>
                  <a:srgbClr val="1F487C"/>
                </a:solidFill>
                <a:latin typeface="微软雅黑"/>
                <a:cs typeface="微软雅黑"/>
              </a:rPr>
              <a:t>有</a:t>
            </a:r>
            <a:r>
              <a:rPr sz="2000" b="1" u="heavy" dirty="0">
                <a:solidFill>
                  <a:srgbClr val="1F487C"/>
                </a:solidFill>
                <a:latin typeface="微软雅黑"/>
                <a:cs typeface="微软雅黑"/>
              </a:rPr>
              <a:t>物</a:t>
            </a:r>
            <a:r>
              <a:rPr sz="2000" u="heavy" spc="-3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1341" y="5465826"/>
            <a:ext cx="347345" cy="367665"/>
          </a:xfrm>
          <a:custGeom>
            <a:avLst/>
            <a:gdLst/>
            <a:ahLst/>
            <a:cxnLst/>
            <a:rect l="l" t="t" r="r" b="b"/>
            <a:pathLst>
              <a:path w="347344" h="367664">
                <a:moveTo>
                  <a:pt x="20193" y="0"/>
                </a:moveTo>
                <a:lnTo>
                  <a:pt x="0" y="18923"/>
                </a:lnTo>
                <a:lnTo>
                  <a:pt x="154686" y="183642"/>
                </a:lnTo>
                <a:lnTo>
                  <a:pt x="0" y="348411"/>
                </a:lnTo>
                <a:lnTo>
                  <a:pt x="20193" y="367322"/>
                </a:lnTo>
                <a:lnTo>
                  <a:pt x="173609" y="203822"/>
                </a:lnTo>
                <a:lnTo>
                  <a:pt x="211477" y="203822"/>
                </a:lnTo>
                <a:lnTo>
                  <a:pt x="192531" y="183642"/>
                </a:lnTo>
                <a:lnTo>
                  <a:pt x="211483" y="163461"/>
                </a:lnTo>
                <a:lnTo>
                  <a:pt x="173609" y="163461"/>
                </a:lnTo>
                <a:lnTo>
                  <a:pt x="20193" y="0"/>
                </a:lnTo>
                <a:close/>
              </a:path>
              <a:path w="347344" h="367664">
                <a:moveTo>
                  <a:pt x="211477" y="203822"/>
                </a:moveTo>
                <a:lnTo>
                  <a:pt x="173609" y="203822"/>
                </a:lnTo>
                <a:lnTo>
                  <a:pt x="327025" y="367322"/>
                </a:lnTo>
                <a:lnTo>
                  <a:pt x="347217" y="348411"/>
                </a:lnTo>
                <a:lnTo>
                  <a:pt x="211477" y="203822"/>
                </a:lnTo>
                <a:close/>
              </a:path>
              <a:path w="347344" h="367664">
                <a:moveTo>
                  <a:pt x="327025" y="0"/>
                </a:moveTo>
                <a:lnTo>
                  <a:pt x="173609" y="163461"/>
                </a:lnTo>
                <a:lnTo>
                  <a:pt x="211483" y="163461"/>
                </a:lnTo>
                <a:lnTo>
                  <a:pt x="347217" y="18923"/>
                </a:lnTo>
                <a:lnTo>
                  <a:pt x="3270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29511" y="5279135"/>
            <a:ext cx="76200" cy="250190"/>
          </a:xfrm>
          <a:custGeom>
            <a:avLst/>
            <a:gdLst/>
            <a:ahLst/>
            <a:cxnLst/>
            <a:rect l="l" t="t" r="r" b="b"/>
            <a:pathLst>
              <a:path w="76200" h="250189">
                <a:moveTo>
                  <a:pt x="44450" y="63500"/>
                </a:moveTo>
                <a:lnTo>
                  <a:pt x="31750" y="63500"/>
                </a:lnTo>
                <a:lnTo>
                  <a:pt x="31750" y="249935"/>
                </a:lnTo>
                <a:lnTo>
                  <a:pt x="44450" y="249935"/>
                </a:lnTo>
                <a:lnTo>
                  <a:pt x="44450" y="63500"/>
                </a:lnTo>
                <a:close/>
              </a:path>
              <a:path w="76200" h="25018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5018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74493"/>
            <a:ext cx="157670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4F81BC"/>
              </a:buClr>
              <a:buSzPct val="83333"/>
              <a:buFont typeface="Segoe UI Symbol"/>
              <a:buChar char="❑"/>
              <a:tabLst>
                <a:tab pos="332740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列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表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(list)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52194" y="2622042"/>
            <a:ext cx="3114040" cy="2368550"/>
          </a:xfrm>
          <a:custGeom>
            <a:avLst/>
            <a:gdLst/>
            <a:ahLst/>
            <a:cxnLst/>
            <a:rect l="l" t="t" r="r" b="b"/>
            <a:pathLst>
              <a:path w="3114040" h="2368550">
                <a:moveTo>
                  <a:pt x="0" y="2368295"/>
                </a:moveTo>
                <a:lnTo>
                  <a:pt x="3113532" y="2368295"/>
                </a:lnTo>
                <a:lnTo>
                  <a:pt x="3113532" y="0"/>
                </a:lnTo>
                <a:lnTo>
                  <a:pt x="0" y="0"/>
                </a:lnTo>
                <a:lnTo>
                  <a:pt x="0" y="2368295"/>
                </a:lnTo>
                <a:close/>
              </a:path>
            </a:pathLst>
          </a:custGeom>
          <a:ln w="25907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61744" y="2450592"/>
            <a:ext cx="1414780" cy="338455"/>
          </a:xfrm>
          <a:custGeom>
            <a:avLst/>
            <a:gdLst/>
            <a:ahLst/>
            <a:cxnLst/>
            <a:rect l="l" t="t" r="r" b="b"/>
            <a:pathLst>
              <a:path w="1414780" h="338455">
                <a:moveTo>
                  <a:pt x="0" y="338327"/>
                </a:moveTo>
                <a:lnTo>
                  <a:pt x="1414271" y="338327"/>
                </a:lnTo>
                <a:lnTo>
                  <a:pt x="1414271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28796" y="2552700"/>
            <a:ext cx="586105" cy="499109"/>
          </a:xfrm>
          <a:custGeom>
            <a:avLst/>
            <a:gdLst/>
            <a:ahLst/>
            <a:cxnLst/>
            <a:rect l="l" t="t" r="r" b="b"/>
            <a:pathLst>
              <a:path w="586104" h="499110">
                <a:moveTo>
                  <a:pt x="523605" y="44534"/>
                </a:moveTo>
                <a:lnTo>
                  <a:pt x="0" y="489330"/>
                </a:lnTo>
                <a:lnTo>
                  <a:pt x="8127" y="498983"/>
                </a:lnTo>
                <a:lnTo>
                  <a:pt x="531824" y="54215"/>
                </a:lnTo>
                <a:lnTo>
                  <a:pt x="523605" y="44534"/>
                </a:lnTo>
                <a:close/>
              </a:path>
              <a:path w="586104" h="499110">
                <a:moveTo>
                  <a:pt x="570241" y="36322"/>
                </a:moveTo>
                <a:lnTo>
                  <a:pt x="533273" y="36322"/>
                </a:lnTo>
                <a:lnTo>
                  <a:pt x="541527" y="45974"/>
                </a:lnTo>
                <a:lnTo>
                  <a:pt x="531824" y="54215"/>
                </a:lnTo>
                <a:lnTo>
                  <a:pt x="552323" y="78359"/>
                </a:lnTo>
                <a:lnTo>
                  <a:pt x="570241" y="36322"/>
                </a:lnTo>
                <a:close/>
              </a:path>
              <a:path w="586104" h="499110">
                <a:moveTo>
                  <a:pt x="533273" y="36322"/>
                </a:moveTo>
                <a:lnTo>
                  <a:pt x="523605" y="44534"/>
                </a:lnTo>
                <a:lnTo>
                  <a:pt x="531824" y="54215"/>
                </a:lnTo>
                <a:lnTo>
                  <a:pt x="541527" y="45974"/>
                </a:lnTo>
                <a:lnTo>
                  <a:pt x="533273" y="36322"/>
                </a:lnTo>
                <a:close/>
              </a:path>
              <a:path w="586104" h="499110">
                <a:moveTo>
                  <a:pt x="585724" y="0"/>
                </a:moveTo>
                <a:lnTo>
                  <a:pt x="503046" y="20320"/>
                </a:lnTo>
                <a:lnTo>
                  <a:pt x="523605" y="44534"/>
                </a:lnTo>
                <a:lnTo>
                  <a:pt x="533273" y="36322"/>
                </a:lnTo>
                <a:lnTo>
                  <a:pt x="570241" y="36322"/>
                </a:lnTo>
                <a:lnTo>
                  <a:pt x="585724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33472" y="4788408"/>
            <a:ext cx="76200" cy="668655"/>
          </a:xfrm>
          <a:custGeom>
            <a:avLst/>
            <a:gdLst/>
            <a:ahLst/>
            <a:cxnLst/>
            <a:rect l="l" t="t" r="r" b="b"/>
            <a:pathLst>
              <a:path w="76200" h="668654">
                <a:moveTo>
                  <a:pt x="31750" y="592074"/>
                </a:moveTo>
                <a:lnTo>
                  <a:pt x="0" y="592074"/>
                </a:lnTo>
                <a:lnTo>
                  <a:pt x="38100" y="668274"/>
                </a:lnTo>
                <a:lnTo>
                  <a:pt x="69850" y="604774"/>
                </a:lnTo>
                <a:lnTo>
                  <a:pt x="31750" y="604774"/>
                </a:lnTo>
                <a:lnTo>
                  <a:pt x="31750" y="592074"/>
                </a:lnTo>
                <a:close/>
              </a:path>
              <a:path w="76200" h="668654">
                <a:moveTo>
                  <a:pt x="44450" y="0"/>
                </a:moveTo>
                <a:lnTo>
                  <a:pt x="31750" y="0"/>
                </a:lnTo>
                <a:lnTo>
                  <a:pt x="31750" y="604774"/>
                </a:lnTo>
                <a:lnTo>
                  <a:pt x="44450" y="604774"/>
                </a:lnTo>
                <a:lnTo>
                  <a:pt x="44450" y="0"/>
                </a:lnTo>
                <a:close/>
              </a:path>
              <a:path w="76200" h="668654">
                <a:moveTo>
                  <a:pt x="76200" y="592074"/>
                </a:moveTo>
                <a:lnTo>
                  <a:pt x="44450" y="592074"/>
                </a:lnTo>
                <a:lnTo>
                  <a:pt x="44450" y="604774"/>
                </a:lnTo>
                <a:lnTo>
                  <a:pt x="69850" y="604774"/>
                </a:lnTo>
                <a:lnTo>
                  <a:pt x="76200" y="592074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87067" y="5531179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元素可删改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22420" y="4155947"/>
            <a:ext cx="1383030" cy="76200"/>
          </a:xfrm>
          <a:custGeom>
            <a:avLst/>
            <a:gdLst/>
            <a:ahLst/>
            <a:cxnLst/>
            <a:rect l="l" t="t" r="r" b="b"/>
            <a:pathLst>
              <a:path w="1383029" h="76200">
                <a:moveTo>
                  <a:pt x="1306449" y="0"/>
                </a:moveTo>
                <a:lnTo>
                  <a:pt x="1306449" y="76200"/>
                </a:lnTo>
                <a:lnTo>
                  <a:pt x="1369949" y="44450"/>
                </a:lnTo>
                <a:lnTo>
                  <a:pt x="1319149" y="44450"/>
                </a:lnTo>
                <a:lnTo>
                  <a:pt x="1319149" y="31750"/>
                </a:lnTo>
                <a:lnTo>
                  <a:pt x="1369949" y="31750"/>
                </a:lnTo>
                <a:lnTo>
                  <a:pt x="1306449" y="0"/>
                </a:lnTo>
                <a:close/>
              </a:path>
              <a:path w="1383029" h="76200">
                <a:moveTo>
                  <a:pt x="130644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306449" y="44450"/>
                </a:lnTo>
                <a:lnTo>
                  <a:pt x="1306449" y="31750"/>
                </a:lnTo>
                <a:close/>
              </a:path>
              <a:path w="1383029" h="76200">
                <a:moveTo>
                  <a:pt x="1369949" y="31750"/>
                </a:moveTo>
                <a:lnTo>
                  <a:pt x="1319149" y="31750"/>
                </a:lnTo>
                <a:lnTo>
                  <a:pt x="1319149" y="44450"/>
                </a:lnTo>
                <a:lnTo>
                  <a:pt x="1369949" y="44450"/>
                </a:lnTo>
                <a:lnTo>
                  <a:pt x="1382649" y="38100"/>
                </a:lnTo>
                <a:lnTo>
                  <a:pt x="1369949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40483" y="2226232"/>
            <a:ext cx="4569460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9060">
              <a:lnSpc>
                <a:spcPts val="238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使用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“[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]”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定义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19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6339" y="2900995"/>
            <a:ext cx="2875661" cy="189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[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'a3</a:t>
            </a:r>
            <a:r>
              <a:rPr sz="1800" dirty="0">
                <a:latin typeface="Arial"/>
                <a:cs typeface="Arial"/>
              </a:rPr>
              <a:t>',</a:t>
            </a:r>
            <a:r>
              <a:rPr sz="1800" spc="-15" dirty="0">
                <a:latin typeface="Arial"/>
                <a:cs typeface="Arial"/>
              </a:rPr>
              <a:t>'</a:t>
            </a:r>
            <a:r>
              <a:rPr sz="1800" spc="-10" dirty="0">
                <a:latin typeface="Arial"/>
                <a:cs typeface="Arial"/>
              </a:rPr>
              <a:t>a4</a:t>
            </a:r>
            <a:r>
              <a:rPr sz="1800" spc="5" dirty="0">
                <a:latin typeface="Arial"/>
                <a:cs typeface="Arial"/>
              </a:rPr>
              <a:t>'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]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切片操作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,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取出a2和a3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将a4添加到末尾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80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将a5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插入到指定位置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删除末尾元素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4316" y="4067224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有序存储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5645" y="1706294"/>
            <a:ext cx="26320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提示：阅读课本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2.3.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1节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26564" y="1780032"/>
            <a:ext cx="950594" cy="76200"/>
          </a:xfrm>
          <a:custGeom>
            <a:avLst/>
            <a:gdLst/>
            <a:ahLst/>
            <a:cxnLst/>
            <a:rect l="l" t="t" r="r" b="b"/>
            <a:pathLst>
              <a:path w="950594" h="76200">
                <a:moveTo>
                  <a:pt x="874268" y="0"/>
                </a:moveTo>
                <a:lnTo>
                  <a:pt x="874268" y="76200"/>
                </a:lnTo>
                <a:lnTo>
                  <a:pt x="937768" y="44450"/>
                </a:lnTo>
                <a:lnTo>
                  <a:pt x="886968" y="44450"/>
                </a:lnTo>
                <a:lnTo>
                  <a:pt x="886968" y="31750"/>
                </a:lnTo>
                <a:lnTo>
                  <a:pt x="937768" y="31750"/>
                </a:lnTo>
                <a:lnTo>
                  <a:pt x="874268" y="0"/>
                </a:lnTo>
                <a:close/>
              </a:path>
              <a:path w="950594" h="76200">
                <a:moveTo>
                  <a:pt x="87426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74268" y="44450"/>
                </a:lnTo>
                <a:lnTo>
                  <a:pt x="874268" y="31750"/>
                </a:lnTo>
                <a:close/>
              </a:path>
              <a:path w="950594" h="76200">
                <a:moveTo>
                  <a:pt x="937768" y="31750"/>
                </a:moveTo>
                <a:lnTo>
                  <a:pt x="886968" y="31750"/>
                </a:lnTo>
                <a:lnTo>
                  <a:pt x="886968" y="44450"/>
                </a:lnTo>
                <a:lnTo>
                  <a:pt x="937768" y="44450"/>
                </a:lnTo>
                <a:lnTo>
                  <a:pt x="950468" y="38100"/>
                </a:lnTo>
                <a:lnTo>
                  <a:pt x="937768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  <a:p>
            <a:pPr marL="332740" indent="-320040">
              <a:lnSpc>
                <a:spcPct val="100000"/>
              </a:lnSpc>
              <a:spcBef>
                <a:spcPts val="2455"/>
              </a:spcBef>
              <a:buClr>
                <a:srgbClr val="4F81BC"/>
              </a:buClr>
              <a:buSzPct val="83333"/>
              <a:buFont typeface="Segoe UI Symbol"/>
              <a:buChar char="❑"/>
              <a:tabLst>
                <a:tab pos="332740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列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表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(list)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962" y="2622042"/>
            <a:ext cx="4912360" cy="2368550"/>
          </a:xfrm>
          <a:custGeom>
            <a:avLst/>
            <a:gdLst/>
            <a:ahLst/>
            <a:cxnLst/>
            <a:rect l="l" t="t" r="r" b="b"/>
            <a:pathLst>
              <a:path w="4912360" h="2368550">
                <a:moveTo>
                  <a:pt x="0" y="2368295"/>
                </a:moveTo>
                <a:lnTo>
                  <a:pt x="4911852" y="2368295"/>
                </a:lnTo>
                <a:lnTo>
                  <a:pt x="4911852" y="0"/>
                </a:lnTo>
                <a:lnTo>
                  <a:pt x="0" y="0"/>
                </a:lnTo>
                <a:lnTo>
                  <a:pt x="0" y="2368295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512" y="2450592"/>
            <a:ext cx="896619" cy="338455"/>
          </a:xfrm>
          <a:custGeom>
            <a:avLst/>
            <a:gdLst/>
            <a:ahLst/>
            <a:cxnLst/>
            <a:rect l="l" t="t" r="r" b="b"/>
            <a:pathLst>
              <a:path w="896619" h="338455">
                <a:moveTo>
                  <a:pt x="0" y="338327"/>
                </a:moveTo>
                <a:lnTo>
                  <a:pt x="896112" y="338327"/>
                </a:lnTo>
                <a:lnTo>
                  <a:pt x="896112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4564" y="2552700"/>
            <a:ext cx="586105" cy="499109"/>
          </a:xfrm>
          <a:custGeom>
            <a:avLst/>
            <a:gdLst/>
            <a:ahLst/>
            <a:cxnLst/>
            <a:rect l="l" t="t" r="r" b="b"/>
            <a:pathLst>
              <a:path w="586104" h="499110">
                <a:moveTo>
                  <a:pt x="523605" y="44534"/>
                </a:moveTo>
                <a:lnTo>
                  <a:pt x="0" y="489330"/>
                </a:lnTo>
                <a:lnTo>
                  <a:pt x="8128" y="498983"/>
                </a:lnTo>
                <a:lnTo>
                  <a:pt x="531824" y="54215"/>
                </a:lnTo>
                <a:lnTo>
                  <a:pt x="523605" y="44534"/>
                </a:lnTo>
                <a:close/>
              </a:path>
              <a:path w="586104" h="499110">
                <a:moveTo>
                  <a:pt x="570241" y="36322"/>
                </a:moveTo>
                <a:lnTo>
                  <a:pt x="533273" y="36322"/>
                </a:lnTo>
                <a:lnTo>
                  <a:pt x="541527" y="45974"/>
                </a:lnTo>
                <a:lnTo>
                  <a:pt x="531824" y="54215"/>
                </a:lnTo>
                <a:lnTo>
                  <a:pt x="552323" y="78359"/>
                </a:lnTo>
                <a:lnTo>
                  <a:pt x="570241" y="36322"/>
                </a:lnTo>
                <a:close/>
              </a:path>
              <a:path w="586104" h="499110">
                <a:moveTo>
                  <a:pt x="533273" y="36322"/>
                </a:moveTo>
                <a:lnTo>
                  <a:pt x="523605" y="44534"/>
                </a:lnTo>
                <a:lnTo>
                  <a:pt x="531824" y="54215"/>
                </a:lnTo>
                <a:lnTo>
                  <a:pt x="541527" y="45974"/>
                </a:lnTo>
                <a:lnTo>
                  <a:pt x="533273" y="36322"/>
                </a:lnTo>
                <a:close/>
              </a:path>
              <a:path w="586104" h="499110">
                <a:moveTo>
                  <a:pt x="585724" y="0"/>
                </a:moveTo>
                <a:lnTo>
                  <a:pt x="503047" y="20320"/>
                </a:lnTo>
                <a:lnTo>
                  <a:pt x="523605" y="44534"/>
                </a:lnTo>
                <a:lnTo>
                  <a:pt x="533273" y="36322"/>
                </a:lnTo>
                <a:lnTo>
                  <a:pt x="570241" y="36322"/>
                </a:lnTo>
                <a:lnTo>
                  <a:pt x="585724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14065" y="4760340"/>
            <a:ext cx="615950" cy="851535"/>
          </a:xfrm>
          <a:custGeom>
            <a:avLst/>
            <a:gdLst/>
            <a:ahLst/>
            <a:cxnLst/>
            <a:rect l="l" t="t" r="r" b="b"/>
            <a:pathLst>
              <a:path w="615950" h="851535">
                <a:moveTo>
                  <a:pt x="566225" y="793086"/>
                </a:moveTo>
                <a:lnTo>
                  <a:pt x="540512" y="811656"/>
                </a:lnTo>
                <a:lnTo>
                  <a:pt x="615950" y="851166"/>
                </a:lnTo>
                <a:lnTo>
                  <a:pt x="608158" y="803401"/>
                </a:lnTo>
                <a:lnTo>
                  <a:pt x="573659" y="803401"/>
                </a:lnTo>
                <a:lnTo>
                  <a:pt x="566225" y="793086"/>
                </a:lnTo>
                <a:close/>
              </a:path>
              <a:path w="615950" h="851535">
                <a:moveTo>
                  <a:pt x="576542" y="785634"/>
                </a:moveTo>
                <a:lnTo>
                  <a:pt x="566225" y="793086"/>
                </a:lnTo>
                <a:lnTo>
                  <a:pt x="573659" y="803401"/>
                </a:lnTo>
                <a:lnTo>
                  <a:pt x="583946" y="795908"/>
                </a:lnTo>
                <a:lnTo>
                  <a:pt x="576542" y="785634"/>
                </a:lnTo>
                <a:close/>
              </a:path>
              <a:path w="615950" h="851535">
                <a:moveTo>
                  <a:pt x="602234" y="767079"/>
                </a:moveTo>
                <a:lnTo>
                  <a:pt x="576542" y="785634"/>
                </a:lnTo>
                <a:lnTo>
                  <a:pt x="583946" y="795908"/>
                </a:lnTo>
                <a:lnTo>
                  <a:pt x="573659" y="803401"/>
                </a:lnTo>
                <a:lnTo>
                  <a:pt x="608158" y="803401"/>
                </a:lnTo>
                <a:lnTo>
                  <a:pt x="602234" y="767079"/>
                </a:lnTo>
                <a:close/>
              </a:path>
              <a:path w="615950" h="851535">
                <a:moveTo>
                  <a:pt x="10413" y="0"/>
                </a:moveTo>
                <a:lnTo>
                  <a:pt x="0" y="7365"/>
                </a:lnTo>
                <a:lnTo>
                  <a:pt x="566225" y="793086"/>
                </a:lnTo>
                <a:lnTo>
                  <a:pt x="576542" y="785634"/>
                </a:lnTo>
                <a:lnTo>
                  <a:pt x="10413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2495" y="4355591"/>
            <a:ext cx="76200" cy="1008380"/>
          </a:xfrm>
          <a:custGeom>
            <a:avLst/>
            <a:gdLst/>
            <a:ahLst/>
            <a:cxnLst/>
            <a:rect l="l" t="t" r="r" b="b"/>
            <a:pathLst>
              <a:path w="76200" h="1008379">
                <a:moveTo>
                  <a:pt x="31750" y="931671"/>
                </a:moveTo>
                <a:lnTo>
                  <a:pt x="0" y="931671"/>
                </a:lnTo>
                <a:lnTo>
                  <a:pt x="38100" y="1007871"/>
                </a:lnTo>
                <a:lnTo>
                  <a:pt x="69850" y="944371"/>
                </a:lnTo>
                <a:lnTo>
                  <a:pt x="31750" y="944371"/>
                </a:lnTo>
                <a:lnTo>
                  <a:pt x="31750" y="931671"/>
                </a:lnTo>
                <a:close/>
              </a:path>
              <a:path w="76200" h="1008379">
                <a:moveTo>
                  <a:pt x="44450" y="0"/>
                </a:moveTo>
                <a:lnTo>
                  <a:pt x="31750" y="0"/>
                </a:lnTo>
                <a:lnTo>
                  <a:pt x="31750" y="944371"/>
                </a:lnTo>
                <a:lnTo>
                  <a:pt x="44450" y="944371"/>
                </a:lnTo>
                <a:lnTo>
                  <a:pt x="44450" y="0"/>
                </a:lnTo>
                <a:close/>
              </a:path>
              <a:path w="76200" h="1008379">
                <a:moveTo>
                  <a:pt x="76200" y="931671"/>
                </a:moveTo>
                <a:lnTo>
                  <a:pt x="44450" y="931671"/>
                </a:lnTo>
                <a:lnTo>
                  <a:pt x="44450" y="944371"/>
                </a:lnTo>
                <a:lnTo>
                  <a:pt x="69850" y="944371"/>
                </a:lnTo>
                <a:lnTo>
                  <a:pt x="76200" y="93167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1472" y="2226232"/>
            <a:ext cx="4713605" cy="2527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83205">
              <a:lnSpc>
                <a:spcPts val="238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使用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“[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]”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定义</a:t>
            </a:r>
            <a:endParaRPr sz="2000" dirty="0">
              <a:latin typeface="微软雅黑"/>
              <a:cs typeface="微软雅黑"/>
            </a:endParaRPr>
          </a:p>
          <a:p>
            <a:pPr marL="217804">
              <a:lnSpc>
                <a:spcPts val="19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[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'a3</a:t>
            </a:r>
            <a:r>
              <a:rPr sz="1800" dirty="0">
                <a:latin typeface="Arial"/>
                <a:cs typeface="Arial"/>
              </a:rPr>
              <a:t>',</a:t>
            </a:r>
            <a:r>
              <a:rPr sz="1800" spc="-15" dirty="0">
                <a:latin typeface="Arial"/>
                <a:cs typeface="Arial"/>
              </a:rPr>
              <a:t>'</a:t>
            </a:r>
            <a:r>
              <a:rPr sz="1800" spc="-10" dirty="0">
                <a:latin typeface="Arial"/>
                <a:cs typeface="Arial"/>
              </a:rPr>
              <a:t>a4</a:t>
            </a:r>
            <a:r>
              <a:rPr sz="1800" spc="5" dirty="0">
                <a:latin typeface="Arial"/>
                <a:cs typeface="Arial"/>
              </a:rPr>
              <a:t>'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]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切片操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作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，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[1:3]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将a4添加到末尾，</a:t>
            </a:r>
            <a:r>
              <a:rPr sz="1800" spc="10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.append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(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4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80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将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a5插入到指定位置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，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.i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ns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e</a:t>
            </a:r>
            <a:r>
              <a:rPr sz="1800" spc="50" dirty="0">
                <a:solidFill>
                  <a:srgbClr val="006699"/>
                </a:solidFill>
                <a:latin typeface="微软雅黑"/>
                <a:cs typeface="微软雅黑"/>
              </a:rPr>
              <a:t>r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t(1</a:t>
            </a:r>
            <a:r>
              <a:rPr sz="1800" spc="-10" dirty="0">
                <a:solidFill>
                  <a:srgbClr val="006699"/>
                </a:solidFill>
                <a:latin typeface="微软雅黑"/>
                <a:cs typeface="微软雅黑"/>
              </a:rPr>
              <a:t>,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’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006699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删除末尾元素</a:t>
            </a:r>
            <a:r>
              <a:rPr sz="1800" spc="-15" dirty="0">
                <a:solidFill>
                  <a:srgbClr val="006699"/>
                </a:solidFill>
                <a:latin typeface="微软雅黑"/>
                <a:cs typeface="微软雅黑"/>
              </a:rPr>
              <a:t>：s</a:t>
            </a:r>
            <a:r>
              <a:rPr sz="1800" spc="-5" dirty="0">
                <a:solidFill>
                  <a:srgbClr val="006699"/>
                </a:solidFill>
                <a:latin typeface="微软雅黑"/>
                <a:cs typeface="微软雅黑"/>
              </a:rPr>
              <a:t>.pop()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3966" y="5486068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元素可删改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6284" y="5437605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有序存储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60491" y="2145792"/>
            <a:ext cx="3547871" cy="3319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74493"/>
            <a:ext cx="19100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4F81BC"/>
              </a:buClr>
              <a:buSzPct val="83333"/>
              <a:buFont typeface="Segoe UI Symbol"/>
              <a:buChar char="❑"/>
              <a:tabLst>
                <a:tab pos="332740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元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组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(tuple)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9689" y="2830829"/>
            <a:ext cx="4913630" cy="1076325"/>
          </a:xfrm>
          <a:custGeom>
            <a:avLst/>
            <a:gdLst/>
            <a:ahLst/>
            <a:cxnLst/>
            <a:rect l="l" t="t" r="r" b="b"/>
            <a:pathLst>
              <a:path w="4913630" h="1076325">
                <a:moveTo>
                  <a:pt x="0" y="1075944"/>
                </a:moveTo>
                <a:lnTo>
                  <a:pt x="4913376" y="1075944"/>
                </a:lnTo>
                <a:lnTo>
                  <a:pt x="4913376" y="0"/>
                </a:lnTo>
                <a:lnTo>
                  <a:pt x="0" y="0"/>
                </a:lnTo>
                <a:lnTo>
                  <a:pt x="0" y="1075944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9239" y="2659379"/>
            <a:ext cx="1384300" cy="338455"/>
          </a:xfrm>
          <a:custGeom>
            <a:avLst/>
            <a:gdLst/>
            <a:ahLst/>
            <a:cxnLst/>
            <a:rect l="l" t="t" r="r" b="b"/>
            <a:pathLst>
              <a:path w="1384300" h="338455">
                <a:moveTo>
                  <a:pt x="0" y="338327"/>
                </a:moveTo>
                <a:lnTo>
                  <a:pt x="1383792" y="338327"/>
                </a:lnTo>
                <a:lnTo>
                  <a:pt x="1383792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18614" y="2725227"/>
            <a:ext cx="11823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1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4088" y="3110666"/>
            <a:ext cx="3783712" cy="643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'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3</a:t>
            </a:r>
            <a:r>
              <a:rPr sz="1800" dirty="0">
                <a:latin typeface="Arial"/>
                <a:cs typeface="Arial"/>
              </a:rPr>
              <a:t>'</a:t>
            </a:r>
            <a:r>
              <a:rPr sz="1800" spc="5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'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4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1270" dirty="0">
                <a:solidFill>
                  <a:srgbClr val="006699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006699"/>
                </a:solidFill>
                <a:latin typeface="微软雅黑"/>
                <a:cs typeface="微软雅黑"/>
              </a:rPr>
              <a:t>如何定义只有一个元素的元组</a:t>
            </a:r>
            <a:r>
              <a:rPr sz="1800" dirty="0">
                <a:solidFill>
                  <a:srgbClr val="006699"/>
                </a:solidFill>
                <a:latin typeface="微软雅黑"/>
                <a:cs typeface="微软雅黑"/>
              </a:rPr>
              <a:t>？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06291" y="2761488"/>
            <a:ext cx="586105" cy="499109"/>
          </a:xfrm>
          <a:custGeom>
            <a:avLst/>
            <a:gdLst/>
            <a:ahLst/>
            <a:cxnLst/>
            <a:rect l="l" t="t" r="r" b="b"/>
            <a:pathLst>
              <a:path w="586104" h="499110">
                <a:moveTo>
                  <a:pt x="523605" y="44534"/>
                </a:moveTo>
                <a:lnTo>
                  <a:pt x="0" y="489331"/>
                </a:lnTo>
                <a:lnTo>
                  <a:pt x="8128" y="498983"/>
                </a:lnTo>
                <a:lnTo>
                  <a:pt x="531824" y="54215"/>
                </a:lnTo>
                <a:lnTo>
                  <a:pt x="523605" y="44534"/>
                </a:lnTo>
                <a:close/>
              </a:path>
              <a:path w="586104" h="499110">
                <a:moveTo>
                  <a:pt x="570241" y="36322"/>
                </a:moveTo>
                <a:lnTo>
                  <a:pt x="533273" y="36322"/>
                </a:lnTo>
                <a:lnTo>
                  <a:pt x="541528" y="45974"/>
                </a:lnTo>
                <a:lnTo>
                  <a:pt x="531824" y="54215"/>
                </a:lnTo>
                <a:lnTo>
                  <a:pt x="552323" y="78359"/>
                </a:lnTo>
                <a:lnTo>
                  <a:pt x="570241" y="36322"/>
                </a:lnTo>
                <a:close/>
              </a:path>
              <a:path w="586104" h="499110">
                <a:moveTo>
                  <a:pt x="533273" y="36322"/>
                </a:moveTo>
                <a:lnTo>
                  <a:pt x="523605" y="44534"/>
                </a:lnTo>
                <a:lnTo>
                  <a:pt x="531824" y="54215"/>
                </a:lnTo>
                <a:lnTo>
                  <a:pt x="541528" y="45974"/>
                </a:lnTo>
                <a:lnTo>
                  <a:pt x="533273" y="36322"/>
                </a:lnTo>
                <a:close/>
              </a:path>
              <a:path w="586104" h="499110">
                <a:moveTo>
                  <a:pt x="585724" y="0"/>
                </a:moveTo>
                <a:lnTo>
                  <a:pt x="503047" y="20320"/>
                </a:lnTo>
                <a:lnTo>
                  <a:pt x="523605" y="44534"/>
                </a:lnTo>
                <a:lnTo>
                  <a:pt x="533273" y="36322"/>
                </a:lnTo>
                <a:lnTo>
                  <a:pt x="570241" y="36322"/>
                </a:lnTo>
                <a:lnTo>
                  <a:pt x="585724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84727" y="2883916"/>
            <a:ext cx="2522855" cy="394970"/>
          </a:xfrm>
          <a:custGeom>
            <a:avLst/>
            <a:gdLst/>
            <a:ahLst/>
            <a:cxnLst/>
            <a:rect l="l" t="t" r="r" b="b"/>
            <a:pathLst>
              <a:path w="2522854" h="394970">
                <a:moveTo>
                  <a:pt x="2446247" y="31398"/>
                </a:moveTo>
                <a:lnTo>
                  <a:pt x="0" y="382270"/>
                </a:lnTo>
                <a:lnTo>
                  <a:pt x="1777" y="394843"/>
                </a:lnTo>
                <a:lnTo>
                  <a:pt x="2448067" y="43965"/>
                </a:lnTo>
                <a:lnTo>
                  <a:pt x="2446247" y="31398"/>
                </a:lnTo>
                <a:close/>
              </a:path>
              <a:path w="2522854" h="394970">
                <a:moveTo>
                  <a:pt x="2518754" y="29591"/>
                </a:moveTo>
                <a:lnTo>
                  <a:pt x="2458847" y="29591"/>
                </a:lnTo>
                <a:lnTo>
                  <a:pt x="2460625" y="42163"/>
                </a:lnTo>
                <a:lnTo>
                  <a:pt x="2448067" y="43965"/>
                </a:lnTo>
                <a:lnTo>
                  <a:pt x="2452624" y="75437"/>
                </a:lnTo>
                <a:lnTo>
                  <a:pt x="2518754" y="29591"/>
                </a:lnTo>
                <a:close/>
              </a:path>
              <a:path w="2522854" h="394970">
                <a:moveTo>
                  <a:pt x="2458847" y="29591"/>
                </a:moveTo>
                <a:lnTo>
                  <a:pt x="2446247" y="31398"/>
                </a:lnTo>
                <a:lnTo>
                  <a:pt x="2448067" y="43965"/>
                </a:lnTo>
                <a:lnTo>
                  <a:pt x="2460625" y="42163"/>
                </a:lnTo>
                <a:lnTo>
                  <a:pt x="2458847" y="29591"/>
                </a:lnTo>
                <a:close/>
              </a:path>
              <a:path w="2522854" h="394970">
                <a:moveTo>
                  <a:pt x="2441702" y="0"/>
                </a:moveTo>
                <a:lnTo>
                  <a:pt x="2446247" y="31398"/>
                </a:lnTo>
                <a:lnTo>
                  <a:pt x="2458847" y="29591"/>
                </a:lnTo>
                <a:lnTo>
                  <a:pt x="2518754" y="29591"/>
                </a:lnTo>
                <a:lnTo>
                  <a:pt x="2522601" y="26924"/>
                </a:lnTo>
                <a:lnTo>
                  <a:pt x="244170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79845" y="2736518"/>
            <a:ext cx="155321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元素</a:t>
            </a:r>
            <a:r>
              <a:rPr sz="2000" u="heavy" dirty="0">
                <a:solidFill>
                  <a:srgbClr val="FF0000"/>
                </a:solidFill>
                <a:latin typeface="微软雅黑"/>
                <a:cs typeface="微软雅黑"/>
              </a:rPr>
              <a:t>不可删改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01313" y="3346577"/>
            <a:ext cx="2406650" cy="76200"/>
          </a:xfrm>
          <a:custGeom>
            <a:avLst/>
            <a:gdLst/>
            <a:ahLst/>
            <a:cxnLst/>
            <a:rect l="l" t="t" r="r" b="b"/>
            <a:pathLst>
              <a:path w="2406650" h="76200">
                <a:moveTo>
                  <a:pt x="2330450" y="0"/>
                </a:moveTo>
                <a:lnTo>
                  <a:pt x="2330132" y="31745"/>
                </a:lnTo>
                <a:lnTo>
                  <a:pt x="2342769" y="31876"/>
                </a:lnTo>
                <a:lnTo>
                  <a:pt x="2342641" y="44576"/>
                </a:lnTo>
                <a:lnTo>
                  <a:pt x="2330004" y="44576"/>
                </a:lnTo>
                <a:lnTo>
                  <a:pt x="2329688" y="76200"/>
                </a:lnTo>
                <a:lnTo>
                  <a:pt x="2394547" y="44576"/>
                </a:lnTo>
                <a:lnTo>
                  <a:pt x="2342641" y="44576"/>
                </a:lnTo>
                <a:lnTo>
                  <a:pt x="2330005" y="44445"/>
                </a:lnTo>
                <a:lnTo>
                  <a:pt x="2394817" y="44445"/>
                </a:lnTo>
                <a:lnTo>
                  <a:pt x="2406269" y="38862"/>
                </a:lnTo>
                <a:lnTo>
                  <a:pt x="2330450" y="0"/>
                </a:lnTo>
                <a:close/>
              </a:path>
              <a:path w="2406650" h="76200">
                <a:moveTo>
                  <a:pt x="2330132" y="31745"/>
                </a:moveTo>
                <a:lnTo>
                  <a:pt x="2330005" y="44445"/>
                </a:lnTo>
                <a:lnTo>
                  <a:pt x="2342641" y="44576"/>
                </a:lnTo>
                <a:lnTo>
                  <a:pt x="2342769" y="31876"/>
                </a:lnTo>
                <a:lnTo>
                  <a:pt x="2330132" y="31745"/>
                </a:lnTo>
                <a:close/>
              </a:path>
              <a:path w="2406650" h="76200">
                <a:moveTo>
                  <a:pt x="253" y="7493"/>
                </a:moveTo>
                <a:lnTo>
                  <a:pt x="0" y="20193"/>
                </a:lnTo>
                <a:lnTo>
                  <a:pt x="2330005" y="44445"/>
                </a:lnTo>
                <a:lnTo>
                  <a:pt x="2330132" y="31745"/>
                </a:lnTo>
                <a:lnTo>
                  <a:pt x="253" y="7493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44721" y="2435030"/>
            <a:ext cx="194310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使用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“(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)</a:t>
            </a:r>
            <a:r>
              <a:rPr sz="2000" u="heavy" spc="5" dirty="0">
                <a:solidFill>
                  <a:srgbClr val="1F487C"/>
                </a:solidFill>
                <a:latin typeface="微软雅黑"/>
                <a:cs typeface="微软雅黑"/>
              </a:rPr>
              <a:t>”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定义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0517" y="3302811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有序存储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93207" y="5294679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注意加逗号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2038" y="1678227"/>
            <a:ext cx="26320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提示：阅读课本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2.3.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2节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51176" y="1799844"/>
            <a:ext cx="721360" cy="76200"/>
          </a:xfrm>
          <a:custGeom>
            <a:avLst/>
            <a:gdLst/>
            <a:ahLst/>
            <a:cxnLst/>
            <a:rect l="l" t="t" r="r" b="b"/>
            <a:pathLst>
              <a:path w="721360" h="76200">
                <a:moveTo>
                  <a:pt x="644651" y="0"/>
                </a:moveTo>
                <a:lnTo>
                  <a:pt x="644651" y="76200"/>
                </a:lnTo>
                <a:lnTo>
                  <a:pt x="708151" y="44450"/>
                </a:lnTo>
                <a:lnTo>
                  <a:pt x="657351" y="44450"/>
                </a:lnTo>
                <a:lnTo>
                  <a:pt x="657351" y="31750"/>
                </a:lnTo>
                <a:lnTo>
                  <a:pt x="708151" y="31750"/>
                </a:lnTo>
                <a:lnTo>
                  <a:pt x="644651" y="0"/>
                </a:lnTo>
                <a:close/>
              </a:path>
              <a:path w="721360" h="76200">
                <a:moveTo>
                  <a:pt x="6446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44651" y="44450"/>
                </a:lnTo>
                <a:lnTo>
                  <a:pt x="644651" y="31750"/>
                </a:lnTo>
                <a:close/>
              </a:path>
              <a:path w="721360" h="76200">
                <a:moveTo>
                  <a:pt x="708151" y="31750"/>
                </a:moveTo>
                <a:lnTo>
                  <a:pt x="657351" y="31750"/>
                </a:lnTo>
                <a:lnTo>
                  <a:pt x="657351" y="44450"/>
                </a:lnTo>
                <a:lnTo>
                  <a:pt x="708151" y="44450"/>
                </a:lnTo>
                <a:lnTo>
                  <a:pt x="720851" y="38100"/>
                </a:lnTo>
                <a:lnTo>
                  <a:pt x="70815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06067" y="4357115"/>
            <a:ext cx="3357372" cy="1726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12364" y="5382514"/>
            <a:ext cx="2633980" cy="76200"/>
          </a:xfrm>
          <a:custGeom>
            <a:avLst/>
            <a:gdLst/>
            <a:ahLst/>
            <a:cxnLst/>
            <a:rect l="l" t="t" r="r" b="b"/>
            <a:pathLst>
              <a:path w="2633979" h="76200">
                <a:moveTo>
                  <a:pt x="2557653" y="0"/>
                </a:moveTo>
                <a:lnTo>
                  <a:pt x="2557440" y="31801"/>
                </a:lnTo>
                <a:lnTo>
                  <a:pt x="2570226" y="31877"/>
                </a:lnTo>
                <a:lnTo>
                  <a:pt x="2570099" y="44577"/>
                </a:lnTo>
                <a:lnTo>
                  <a:pt x="2557355" y="44577"/>
                </a:lnTo>
                <a:lnTo>
                  <a:pt x="2557145" y="76200"/>
                </a:lnTo>
                <a:lnTo>
                  <a:pt x="2621459" y="44577"/>
                </a:lnTo>
                <a:lnTo>
                  <a:pt x="2570099" y="44577"/>
                </a:lnTo>
                <a:lnTo>
                  <a:pt x="2621611" y="44502"/>
                </a:lnTo>
                <a:lnTo>
                  <a:pt x="2633599" y="38608"/>
                </a:lnTo>
                <a:lnTo>
                  <a:pt x="2557653" y="0"/>
                </a:lnTo>
                <a:close/>
              </a:path>
              <a:path w="2633979" h="76200">
                <a:moveTo>
                  <a:pt x="2557440" y="31801"/>
                </a:moveTo>
                <a:lnTo>
                  <a:pt x="2557356" y="44502"/>
                </a:lnTo>
                <a:lnTo>
                  <a:pt x="2570099" y="44577"/>
                </a:lnTo>
                <a:lnTo>
                  <a:pt x="2570226" y="31877"/>
                </a:lnTo>
                <a:lnTo>
                  <a:pt x="2557440" y="31801"/>
                </a:lnTo>
                <a:close/>
              </a:path>
              <a:path w="2633979" h="76200">
                <a:moveTo>
                  <a:pt x="0" y="16764"/>
                </a:moveTo>
                <a:lnTo>
                  <a:pt x="0" y="29464"/>
                </a:lnTo>
                <a:lnTo>
                  <a:pt x="2557356" y="44502"/>
                </a:lnTo>
                <a:lnTo>
                  <a:pt x="2557440" y="31801"/>
                </a:lnTo>
                <a:lnTo>
                  <a:pt x="0" y="16764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74493"/>
            <a:ext cx="17024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4F81BC"/>
              </a:buClr>
              <a:buSzPct val="83333"/>
              <a:buFont typeface="Segoe UI Symbol"/>
              <a:buChar char="❑"/>
              <a:tabLst>
                <a:tab pos="332740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字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典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(di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c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9689" y="2830829"/>
            <a:ext cx="4759960" cy="2679700"/>
          </a:xfrm>
          <a:custGeom>
            <a:avLst/>
            <a:gdLst/>
            <a:ahLst/>
            <a:cxnLst/>
            <a:rect l="l" t="t" r="r" b="b"/>
            <a:pathLst>
              <a:path w="4759960" h="2679700">
                <a:moveTo>
                  <a:pt x="0" y="2679192"/>
                </a:moveTo>
                <a:lnTo>
                  <a:pt x="4759452" y="2679192"/>
                </a:lnTo>
                <a:lnTo>
                  <a:pt x="4759452" y="0"/>
                </a:lnTo>
                <a:lnTo>
                  <a:pt x="0" y="0"/>
                </a:lnTo>
                <a:lnTo>
                  <a:pt x="0" y="2679192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9239" y="2659379"/>
            <a:ext cx="1363980" cy="338455"/>
          </a:xfrm>
          <a:custGeom>
            <a:avLst/>
            <a:gdLst/>
            <a:ahLst/>
            <a:cxnLst/>
            <a:rect l="l" t="t" r="r" b="b"/>
            <a:pathLst>
              <a:path w="1363980" h="338455">
                <a:moveTo>
                  <a:pt x="0" y="338327"/>
                </a:moveTo>
                <a:lnTo>
                  <a:pt x="1363980" y="338327"/>
                </a:lnTo>
                <a:lnTo>
                  <a:pt x="1363980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42714" y="2590800"/>
            <a:ext cx="594360" cy="537210"/>
          </a:xfrm>
          <a:custGeom>
            <a:avLst/>
            <a:gdLst/>
            <a:ahLst/>
            <a:cxnLst/>
            <a:rect l="l" t="t" r="r" b="b"/>
            <a:pathLst>
              <a:path w="594360" h="537210">
                <a:moveTo>
                  <a:pt x="533233" y="46360"/>
                </a:moveTo>
                <a:lnTo>
                  <a:pt x="0" y="527430"/>
                </a:lnTo>
                <a:lnTo>
                  <a:pt x="8509" y="536828"/>
                </a:lnTo>
                <a:lnTo>
                  <a:pt x="541721" y="55777"/>
                </a:lnTo>
                <a:lnTo>
                  <a:pt x="533233" y="46360"/>
                </a:lnTo>
                <a:close/>
              </a:path>
              <a:path w="594360" h="537210">
                <a:moveTo>
                  <a:pt x="579203" y="37846"/>
                </a:moveTo>
                <a:lnTo>
                  <a:pt x="542671" y="37846"/>
                </a:lnTo>
                <a:lnTo>
                  <a:pt x="551180" y="47244"/>
                </a:lnTo>
                <a:lnTo>
                  <a:pt x="541721" y="55777"/>
                </a:lnTo>
                <a:lnTo>
                  <a:pt x="562990" y="79375"/>
                </a:lnTo>
                <a:lnTo>
                  <a:pt x="579203" y="37846"/>
                </a:lnTo>
                <a:close/>
              </a:path>
              <a:path w="594360" h="537210">
                <a:moveTo>
                  <a:pt x="542671" y="37846"/>
                </a:moveTo>
                <a:lnTo>
                  <a:pt x="533233" y="46360"/>
                </a:lnTo>
                <a:lnTo>
                  <a:pt x="541721" y="55777"/>
                </a:lnTo>
                <a:lnTo>
                  <a:pt x="551180" y="47244"/>
                </a:lnTo>
                <a:lnTo>
                  <a:pt x="542671" y="37846"/>
                </a:lnTo>
                <a:close/>
              </a:path>
              <a:path w="594360" h="537210">
                <a:moveTo>
                  <a:pt x="593978" y="0"/>
                </a:moveTo>
                <a:lnTo>
                  <a:pt x="511937" y="22733"/>
                </a:lnTo>
                <a:lnTo>
                  <a:pt x="533233" y="46360"/>
                </a:lnTo>
                <a:lnTo>
                  <a:pt x="542671" y="37846"/>
                </a:lnTo>
                <a:lnTo>
                  <a:pt x="579203" y="37846"/>
                </a:lnTo>
                <a:lnTo>
                  <a:pt x="593978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10355" y="3980688"/>
            <a:ext cx="2697480" cy="76200"/>
          </a:xfrm>
          <a:custGeom>
            <a:avLst/>
            <a:gdLst/>
            <a:ahLst/>
            <a:cxnLst/>
            <a:rect l="l" t="t" r="r" b="b"/>
            <a:pathLst>
              <a:path w="2697479" h="76200">
                <a:moveTo>
                  <a:pt x="2621280" y="0"/>
                </a:moveTo>
                <a:lnTo>
                  <a:pt x="2621280" y="76200"/>
                </a:lnTo>
                <a:lnTo>
                  <a:pt x="2684780" y="44450"/>
                </a:lnTo>
                <a:lnTo>
                  <a:pt x="2633980" y="44450"/>
                </a:lnTo>
                <a:lnTo>
                  <a:pt x="2633980" y="31750"/>
                </a:lnTo>
                <a:lnTo>
                  <a:pt x="2684780" y="31750"/>
                </a:lnTo>
                <a:lnTo>
                  <a:pt x="2621280" y="0"/>
                </a:lnTo>
                <a:close/>
              </a:path>
              <a:path w="2697479" h="76200">
                <a:moveTo>
                  <a:pt x="26212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621280" y="44450"/>
                </a:lnTo>
                <a:lnTo>
                  <a:pt x="2621280" y="31750"/>
                </a:lnTo>
                <a:close/>
              </a:path>
              <a:path w="2697479" h="76200">
                <a:moveTo>
                  <a:pt x="2684780" y="31750"/>
                </a:moveTo>
                <a:lnTo>
                  <a:pt x="2633980" y="31750"/>
                </a:lnTo>
                <a:lnTo>
                  <a:pt x="2633980" y="44450"/>
                </a:lnTo>
                <a:lnTo>
                  <a:pt x="2684780" y="44450"/>
                </a:lnTo>
                <a:lnTo>
                  <a:pt x="2697480" y="38100"/>
                </a:lnTo>
                <a:lnTo>
                  <a:pt x="268478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3560" y="3913935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元素可删改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0" y="3223260"/>
            <a:ext cx="1736089" cy="76200"/>
          </a:xfrm>
          <a:custGeom>
            <a:avLst/>
            <a:gdLst/>
            <a:ahLst/>
            <a:cxnLst/>
            <a:rect l="l" t="t" r="r" b="b"/>
            <a:pathLst>
              <a:path w="1736089" h="76200">
                <a:moveTo>
                  <a:pt x="1659382" y="0"/>
                </a:moveTo>
                <a:lnTo>
                  <a:pt x="1659382" y="76200"/>
                </a:lnTo>
                <a:lnTo>
                  <a:pt x="1722882" y="44450"/>
                </a:lnTo>
                <a:lnTo>
                  <a:pt x="1672082" y="44450"/>
                </a:lnTo>
                <a:lnTo>
                  <a:pt x="1672082" y="31750"/>
                </a:lnTo>
                <a:lnTo>
                  <a:pt x="1722882" y="31750"/>
                </a:lnTo>
                <a:lnTo>
                  <a:pt x="1659382" y="0"/>
                </a:lnTo>
                <a:close/>
              </a:path>
              <a:path w="1736089" h="76200">
                <a:moveTo>
                  <a:pt x="165938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659382" y="44450"/>
                </a:lnTo>
                <a:lnTo>
                  <a:pt x="1659382" y="31750"/>
                </a:lnTo>
                <a:close/>
              </a:path>
              <a:path w="1736089" h="76200">
                <a:moveTo>
                  <a:pt x="1722882" y="31750"/>
                </a:moveTo>
                <a:lnTo>
                  <a:pt x="1672082" y="31750"/>
                </a:lnTo>
                <a:lnTo>
                  <a:pt x="1672082" y="44450"/>
                </a:lnTo>
                <a:lnTo>
                  <a:pt x="1722882" y="44450"/>
                </a:lnTo>
                <a:lnTo>
                  <a:pt x="1735582" y="38100"/>
                </a:lnTo>
                <a:lnTo>
                  <a:pt x="1722882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8614" y="2247568"/>
            <a:ext cx="4723765" cy="706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273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使用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“{</a:t>
            </a:r>
            <a:r>
              <a:rPr sz="2000" u="heavy" spc="-15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}”</a:t>
            </a:r>
            <a:r>
              <a:rPr sz="2000" u="heavy" spc="-20" dirty="0">
                <a:solidFill>
                  <a:srgbClr val="1F487C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定义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4088" y="3110666"/>
            <a:ext cx="3707512" cy="2316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’:</a:t>
            </a:r>
            <a:r>
              <a:rPr sz="1800" spc="-14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8</a:t>
            </a:r>
            <a:r>
              <a:rPr sz="1800" dirty="0">
                <a:latin typeface="Arial"/>
                <a:cs typeface="Arial"/>
              </a:rPr>
              <a:t>.7</a:t>
            </a:r>
            <a:r>
              <a:rPr sz="1800" spc="-10" dirty="0">
                <a:latin typeface="Arial"/>
                <a:cs typeface="Arial"/>
              </a:rPr>
              <a:t>3</a:t>
            </a:r>
            <a:r>
              <a:rPr sz="1800" dirty="0">
                <a:latin typeface="Arial"/>
                <a:cs typeface="Arial"/>
              </a:rPr>
              <a:t>3,'a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’:</a:t>
            </a:r>
            <a:r>
              <a:rPr sz="1800" spc="-14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8</a:t>
            </a:r>
            <a:r>
              <a:rPr sz="1800" dirty="0">
                <a:latin typeface="Arial"/>
                <a:cs typeface="Arial"/>
              </a:rPr>
              <a:t>.7</a:t>
            </a:r>
            <a:r>
              <a:rPr sz="1800" spc="-10" dirty="0">
                <a:latin typeface="Arial"/>
                <a:cs typeface="Arial"/>
              </a:rPr>
              <a:t>8</a:t>
            </a:r>
            <a:r>
              <a:rPr sz="1800" spc="-5" dirty="0">
                <a:latin typeface="Arial"/>
                <a:cs typeface="Arial"/>
              </a:rPr>
              <a:t>8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查询a2的值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增加a3=118.781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取出字典所有键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取出字典所有值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取出字典所有项（键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-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值对）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9690" y="3123233"/>
            <a:ext cx="26809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使用键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-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值进行</a:t>
            </a:r>
            <a:r>
              <a:rPr sz="2000" u="heavy" dirty="0">
                <a:solidFill>
                  <a:srgbClr val="FF0000"/>
                </a:solidFill>
                <a:latin typeface="微软雅黑"/>
                <a:cs typeface="微软雅黑"/>
              </a:rPr>
              <a:t>无序存储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37816" y="1787651"/>
            <a:ext cx="721360" cy="76200"/>
          </a:xfrm>
          <a:custGeom>
            <a:avLst/>
            <a:gdLst/>
            <a:ahLst/>
            <a:cxnLst/>
            <a:rect l="l" t="t" r="r" b="b"/>
            <a:pathLst>
              <a:path w="721360" h="76200">
                <a:moveTo>
                  <a:pt x="644651" y="0"/>
                </a:moveTo>
                <a:lnTo>
                  <a:pt x="644651" y="76200"/>
                </a:lnTo>
                <a:lnTo>
                  <a:pt x="708151" y="44450"/>
                </a:lnTo>
                <a:lnTo>
                  <a:pt x="657351" y="44450"/>
                </a:lnTo>
                <a:lnTo>
                  <a:pt x="657351" y="31750"/>
                </a:lnTo>
                <a:lnTo>
                  <a:pt x="708151" y="31750"/>
                </a:lnTo>
                <a:lnTo>
                  <a:pt x="644651" y="0"/>
                </a:lnTo>
                <a:close/>
              </a:path>
              <a:path w="721360" h="76200">
                <a:moveTo>
                  <a:pt x="6446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44651" y="44450"/>
                </a:lnTo>
                <a:lnTo>
                  <a:pt x="644651" y="31750"/>
                </a:lnTo>
                <a:close/>
              </a:path>
              <a:path w="721360" h="76200">
                <a:moveTo>
                  <a:pt x="708151" y="31750"/>
                </a:moveTo>
                <a:lnTo>
                  <a:pt x="657351" y="31750"/>
                </a:lnTo>
                <a:lnTo>
                  <a:pt x="657351" y="44450"/>
                </a:lnTo>
                <a:lnTo>
                  <a:pt x="708151" y="44450"/>
                </a:lnTo>
                <a:lnTo>
                  <a:pt x="720851" y="38100"/>
                </a:lnTo>
                <a:lnTo>
                  <a:pt x="70815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37407" y="1666289"/>
            <a:ext cx="26320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提示：阅读课本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2.3.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3节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  <a:p>
            <a:pPr marL="332740" indent="-320040">
              <a:lnSpc>
                <a:spcPct val="100000"/>
              </a:lnSpc>
              <a:spcBef>
                <a:spcPts val="2455"/>
              </a:spcBef>
              <a:buClr>
                <a:srgbClr val="4F81BC"/>
              </a:buClr>
              <a:buSzPct val="83333"/>
              <a:buFont typeface="Segoe UI Symbol"/>
              <a:buChar char="❑"/>
              <a:tabLst>
                <a:tab pos="332740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字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典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(di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c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709" y="2846070"/>
            <a:ext cx="3355975" cy="2679700"/>
          </a:xfrm>
          <a:custGeom>
            <a:avLst/>
            <a:gdLst/>
            <a:ahLst/>
            <a:cxnLst/>
            <a:rect l="l" t="t" r="r" b="b"/>
            <a:pathLst>
              <a:path w="3355975" h="2679700">
                <a:moveTo>
                  <a:pt x="0" y="2679191"/>
                </a:moveTo>
                <a:lnTo>
                  <a:pt x="3355848" y="2679191"/>
                </a:lnTo>
                <a:lnTo>
                  <a:pt x="3355848" y="0"/>
                </a:lnTo>
                <a:lnTo>
                  <a:pt x="0" y="0"/>
                </a:lnTo>
                <a:lnTo>
                  <a:pt x="0" y="2679191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4736" y="2674620"/>
            <a:ext cx="817244" cy="338455"/>
          </a:xfrm>
          <a:custGeom>
            <a:avLst/>
            <a:gdLst/>
            <a:ahLst/>
            <a:cxnLst/>
            <a:rect l="l" t="t" r="r" b="b"/>
            <a:pathLst>
              <a:path w="817244" h="338455">
                <a:moveTo>
                  <a:pt x="0" y="338327"/>
                </a:moveTo>
                <a:lnTo>
                  <a:pt x="816863" y="338327"/>
                </a:lnTo>
                <a:lnTo>
                  <a:pt x="816863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9915" y="2740213"/>
            <a:ext cx="3053080" cy="2703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r>
              <a:rPr sz="1800" dirty="0">
                <a:latin typeface="Arial"/>
                <a:cs typeface="Arial"/>
              </a:rPr>
              <a:t>'a</a:t>
            </a:r>
            <a:r>
              <a:rPr sz="1800" spc="-1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’:</a:t>
            </a:r>
            <a:r>
              <a:rPr sz="1800" spc="-14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8</a:t>
            </a:r>
            <a:r>
              <a:rPr sz="1800" dirty="0">
                <a:latin typeface="Arial"/>
                <a:cs typeface="Arial"/>
              </a:rPr>
              <a:t>.7</a:t>
            </a:r>
            <a:r>
              <a:rPr sz="1800" spc="-10" dirty="0">
                <a:latin typeface="Arial"/>
                <a:cs typeface="Arial"/>
              </a:rPr>
              <a:t>3</a:t>
            </a:r>
            <a:r>
              <a:rPr sz="1800" dirty="0">
                <a:latin typeface="Arial"/>
                <a:cs typeface="Arial"/>
              </a:rPr>
              <a:t>3,'a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’:</a:t>
            </a:r>
            <a:r>
              <a:rPr sz="1800" spc="-140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8</a:t>
            </a:r>
            <a:r>
              <a:rPr sz="1800" dirty="0">
                <a:latin typeface="Arial"/>
                <a:cs typeface="Arial"/>
              </a:rPr>
              <a:t>.7</a:t>
            </a:r>
            <a:r>
              <a:rPr sz="1800" spc="-10" dirty="0">
                <a:latin typeface="Arial"/>
                <a:cs typeface="Arial"/>
              </a:rPr>
              <a:t>8</a:t>
            </a:r>
            <a:r>
              <a:rPr sz="1800" spc="-5" dirty="0">
                <a:latin typeface="Arial"/>
                <a:cs typeface="Arial"/>
              </a:rPr>
              <a:t>8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查询，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.get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(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‘</a:t>
            </a:r>
            <a:r>
              <a:rPr sz="1800" spc="-10" dirty="0">
                <a:solidFill>
                  <a:srgbClr val="1F487C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2</a:t>
            </a:r>
            <a:r>
              <a:rPr sz="1800" spc="-10" dirty="0">
                <a:solidFill>
                  <a:srgbClr val="1F487C"/>
                </a:solidFill>
                <a:latin typeface="Arial"/>
                <a:cs typeface="Arial"/>
              </a:rPr>
              <a:t>’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增加a3，s[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‘</a:t>
            </a:r>
            <a:r>
              <a:rPr sz="1800" spc="-15" dirty="0">
                <a:solidFill>
                  <a:srgbClr val="1F487C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1F487C"/>
                </a:solidFill>
                <a:latin typeface="Arial"/>
                <a:cs typeface="Arial"/>
              </a:rPr>
              <a:t>3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’]=</a:t>
            </a:r>
            <a:r>
              <a:rPr sz="1800" spc="-140" dirty="0">
                <a:solidFill>
                  <a:srgbClr val="1F487C"/>
                </a:solidFill>
                <a:latin typeface="Arial"/>
                <a:cs typeface="Arial"/>
              </a:rPr>
              <a:t>1</a:t>
            </a:r>
            <a:r>
              <a:rPr sz="1800" spc="-10" dirty="0">
                <a:solidFill>
                  <a:srgbClr val="1F487C"/>
                </a:solidFill>
                <a:latin typeface="Arial"/>
                <a:cs typeface="Arial"/>
              </a:rPr>
              <a:t>18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.7</a:t>
            </a:r>
            <a:r>
              <a:rPr sz="1800" spc="-10" dirty="0">
                <a:solidFill>
                  <a:srgbClr val="1F487C"/>
                </a:solidFill>
                <a:latin typeface="Arial"/>
                <a:cs typeface="Arial"/>
              </a:rPr>
              <a:t>8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取出字典的键，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.</a:t>
            </a:r>
            <a:r>
              <a:rPr sz="1800" spc="-35" dirty="0" err="1">
                <a:solidFill>
                  <a:srgbClr val="1F487C"/>
                </a:solidFill>
                <a:latin typeface="微软雅黑"/>
                <a:cs typeface="微软雅黑"/>
              </a:rPr>
              <a:t>k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ey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()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取出字典的值，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.</a:t>
            </a:r>
            <a:r>
              <a:rPr sz="1800" spc="-40" dirty="0" err="1">
                <a:solidFill>
                  <a:srgbClr val="1F487C"/>
                </a:solidFill>
                <a:latin typeface="微软雅黑"/>
                <a:cs typeface="微软雅黑"/>
              </a:rPr>
              <a:t>v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alue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()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5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取出字典的项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，</a:t>
            </a:r>
            <a:r>
              <a:rPr sz="1800" spc="-10" dirty="0" err="1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.i</a:t>
            </a:r>
            <a:r>
              <a:rPr sz="1800" spc="-15" dirty="0" err="1">
                <a:solidFill>
                  <a:srgbClr val="1F487C"/>
                </a:solidFill>
                <a:latin typeface="微软雅黑"/>
                <a:cs typeface="微软雅黑"/>
              </a:rPr>
              <a:t>t</a:t>
            </a:r>
            <a:r>
              <a:rPr sz="1800" spc="-5" dirty="0" err="1">
                <a:solidFill>
                  <a:srgbClr val="1F487C"/>
                </a:solidFill>
                <a:latin typeface="微软雅黑"/>
                <a:cs typeface="微软雅黑"/>
              </a:rPr>
              <a:t>ems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()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30396" y="2391155"/>
            <a:ext cx="4937759" cy="3587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74493"/>
            <a:ext cx="15875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4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00" spc="15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集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合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(set)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9689" y="2830829"/>
            <a:ext cx="4759960" cy="2397760"/>
          </a:xfrm>
          <a:custGeom>
            <a:avLst/>
            <a:gdLst/>
            <a:ahLst/>
            <a:cxnLst/>
            <a:rect l="l" t="t" r="r" b="b"/>
            <a:pathLst>
              <a:path w="4759960" h="2397760">
                <a:moveTo>
                  <a:pt x="0" y="2397252"/>
                </a:moveTo>
                <a:lnTo>
                  <a:pt x="4759452" y="2397252"/>
                </a:lnTo>
                <a:lnTo>
                  <a:pt x="4759452" y="0"/>
                </a:lnTo>
                <a:lnTo>
                  <a:pt x="0" y="0"/>
                </a:lnTo>
                <a:lnTo>
                  <a:pt x="0" y="2397252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9239" y="2659379"/>
            <a:ext cx="1384300" cy="338455"/>
          </a:xfrm>
          <a:custGeom>
            <a:avLst/>
            <a:gdLst/>
            <a:ahLst/>
            <a:cxnLst/>
            <a:rect l="l" t="t" r="r" b="b"/>
            <a:pathLst>
              <a:path w="1384300" h="338455">
                <a:moveTo>
                  <a:pt x="0" y="338327"/>
                </a:moveTo>
                <a:lnTo>
                  <a:pt x="1383792" y="338327"/>
                </a:lnTo>
                <a:lnTo>
                  <a:pt x="1383792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55620" y="2593848"/>
            <a:ext cx="1064260" cy="584200"/>
          </a:xfrm>
          <a:custGeom>
            <a:avLst/>
            <a:gdLst/>
            <a:ahLst/>
            <a:cxnLst/>
            <a:rect l="l" t="t" r="r" b="b"/>
            <a:pathLst>
              <a:path w="1064260" h="584200">
                <a:moveTo>
                  <a:pt x="994179" y="30842"/>
                </a:moveTo>
                <a:lnTo>
                  <a:pt x="0" y="572642"/>
                </a:lnTo>
                <a:lnTo>
                  <a:pt x="6096" y="583818"/>
                </a:lnTo>
                <a:lnTo>
                  <a:pt x="1000268" y="42022"/>
                </a:lnTo>
                <a:lnTo>
                  <a:pt x="994179" y="30842"/>
                </a:lnTo>
                <a:close/>
              </a:path>
              <a:path w="1064260" h="584200">
                <a:moveTo>
                  <a:pt x="1046918" y="24764"/>
                </a:moveTo>
                <a:lnTo>
                  <a:pt x="1005332" y="24764"/>
                </a:lnTo>
                <a:lnTo>
                  <a:pt x="1011428" y="35940"/>
                </a:lnTo>
                <a:lnTo>
                  <a:pt x="1000268" y="42022"/>
                </a:lnTo>
                <a:lnTo>
                  <a:pt x="1015492" y="69976"/>
                </a:lnTo>
                <a:lnTo>
                  <a:pt x="1046918" y="24764"/>
                </a:lnTo>
                <a:close/>
              </a:path>
              <a:path w="1064260" h="584200">
                <a:moveTo>
                  <a:pt x="1005332" y="24764"/>
                </a:moveTo>
                <a:lnTo>
                  <a:pt x="994179" y="30842"/>
                </a:lnTo>
                <a:lnTo>
                  <a:pt x="1000268" y="42022"/>
                </a:lnTo>
                <a:lnTo>
                  <a:pt x="1011428" y="35940"/>
                </a:lnTo>
                <a:lnTo>
                  <a:pt x="1005332" y="24764"/>
                </a:lnTo>
                <a:close/>
              </a:path>
              <a:path w="1064260" h="584200">
                <a:moveTo>
                  <a:pt x="1064133" y="0"/>
                </a:moveTo>
                <a:lnTo>
                  <a:pt x="979043" y="3048"/>
                </a:lnTo>
                <a:lnTo>
                  <a:pt x="994179" y="30842"/>
                </a:lnTo>
                <a:lnTo>
                  <a:pt x="1005332" y="24764"/>
                </a:lnTo>
                <a:lnTo>
                  <a:pt x="1046918" y="24764"/>
                </a:lnTo>
                <a:lnTo>
                  <a:pt x="1064133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58667" y="3980688"/>
            <a:ext cx="3249930" cy="76200"/>
          </a:xfrm>
          <a:custGeom>
            <a:avLst/>
            <a:gdLst/>
            <a:ahLst/>
            <a:cxnLst/>
            <a:rect l="l" t="t" r="r" b="b"/>
            <a:pathLst>
              <a:path w="3249929" h="76200">
                <a:moveTo>
                  <a:pt x="3173222" y="0"/>
                </a:moveTo>
                <a:lnTo>
                  <a:pt x="3173222" y="76200"/>
                </a:lnTo>
                <a:lnTo>
                  <a:pt x="3236722" y="44450"/>
                </a:lnTo>
                <a:lnTo>
                  <a:pt x="3185922" y="44450"/>
                </a:lnTo>
                <a:lnTo>
                  <a:pt x="3185922" y="31750"/>
                </a:lnTo>
                <a:lnTo>
                  <a:pt x="3236722" y="31750"/>
                </a:lnTo>
                <a:lnTo>
                  <a:pt x="3173222" y="0"/>
                </a:lnTo>
                <a:close/>
              </a:path>
              <a:path w="3249929" h="76200">
                <a:moveTo>
                  <a:pt x="317322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73222" y="44450"/>
                </a:lnTo>
                <a:lnTo>
                  <a:pt x="3173222" y="31750"/>
                </a:lnTo>
                <a:close/>
              </a:path>
              <a:path w="3249929" h="76200">
                <a:moveTo>
                  <a:pt x="3236722" y="31750"/>
                </a:moveTo>
                <a:lnTo>
                  <a:pt x="3185922" y="31750"/>
                </a:lnTo>
                <a:lnTo>
                  <a:pt x="3185922" y="44450"/>
                </a:lnTo>
                <a:lnTo>
                  <a:pt x="3236722" y="44450"/>
                </a:lnTo>
                <a:lnTo>
                  <a:pt x="3249422" y="38100"/>
                </a:lnTo>
                <a:lnTo>
                  <a:pt x="3236722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3560" y="3913935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元素可删改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6215" y="3223260"/>
            <a:ext cx="1530985" cy="76200"/>
          </a:xfrm>
          <a:custGeom>
            <a:avLst/>
            <a:gdLst/>
            <a:ahLst/>
            <a:cxnLst/>
            <a:rect l="l" t="t" r="r" b="b"/>
            <a:pathLst>
              <a:path w="1530985" h="76200">
                <a:moveTo>
                  <a:pt x="1454785" y="0"/>
                </a:moveTo>
                <a:lnTo>
                  <a:pt x="1454785" y="76200"/>
                </a:lnTo>
                <a:lnTo>
                  <a:pt x="1518285" y="44450"/>
                </a:lnTo>
                <a:lnTo>
                  <a:pt x="1467485" y="44450"/>
                </a:lnTo>
                <a:lnTo>
                  <a:pt x="1467485" y="31750"/>
                </a:lnTo>
                <a:lnTo>
                  <a:pt x="1518285" y="31750"/>
                </a:lnTo>
                <a:lnTo>
                  <a:pt x="1454785" y="0"/>
                </a:lnTo>
                <a:close/>
              </a:path>
              <a:path w="1530985" h="76200">
                <a:moveTo>
                  <a:pt x="145478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54785" y="44450"/>
                </a:lnTo>
                <a:lnTo>
                  <a:pt x="1454785" y="31750"/>
                </a:lnTo>
                <a:close/>
              </a:path>
              <a:path w="1530985" h="76200">
                <a:moveTo>
                  <a:pt x="1518285" y="31750"/>
                </a:moveTo>
                <a:lnTo>
                  <a:pt x="1467485" y="31750"/>
                </a:lnTo>
                <a:lnTo>
                  <a:pt x="1467485" y="44450"/>
                </a:lnTo>
                <a:lnTo>
                  <a:pt x="1518285" y="44450"/>
                </a:lnTo>
                <a:lnTo>
                  <a:pt x="1530985" y="38100"/>
                </a:lnTo>
                <a:lnTo>
                  <a:pt x="1518285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8614" y="2228645"/>
            <a:ext cx="3730625" cy="72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90115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使用列表定义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4088" y="3100974"/>
            <a:ext cx="3555112" cy="189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set(</a:t>
            </a:r>
            <a:r>
              <a:rPr sz="1800" spc="5" dirty="0">
                <a:solidFill>
                  <a:srgbClr val="FF0000"/>
                </a:solidFill>
                <a:latin typeface="Arial"/>
                <a:cs typeface="Arial"/>
              </a:rPr>
              <a:t>[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,2,</a:t>
            </a:r>
            <a:r>
              <a:rPr sz="1800" spc="-5" dirty="0">
                <a:latin typeface="Arial"/>
                <a:cs typeface="Arial"/>
              </a:rPr>
              <a:t>3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])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输出为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{1,2</a:t>
            </a:r>
            <a:r>
              <a:rPr sz="1800" spc="5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3}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增加元素4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删除元素3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定义集合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由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3,4,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5组成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对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和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取交集、并集和差集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74384" y="3116883"/>
            <a:ext cx="206184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FF0000"/>
                </a:solidFill>
                <a:latin typeface="微软雅黑"/>
                <a:cs typeface="微软雅黑"/>
              </a:rPr>
              <a:t>不重复，不存储键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37816" y="1787651"/>
            <a:ext cx="721360" cy="76200"/>
          </a:xfrm>
          <a:custGeom>
            <a:avLst/>
            <a:gdLst/>
            <a:ahLst/>
            <a:cxnLst/>
            <a:rect l="l" t="t" r="r" b="b"/>
            <a:pathLst>
              <a:path w="721360" h="76200">
                <a:moveTo>
                  <a:pt x="644651" y="0"/>
                </a:moveTo>
                <a:lnTo>
                  <a:pt x="644651" y="76200"/>
                </a:lnTo>
                <a:lnTo>
                  <a:pt x="708151" y="44450"/>
                </a:lnTo>
                <a:lnTo>
                  <a:pt x="657351" y="44450"/>
                </a:lnTo>
                <a:lnTo>
                  <a:pt x="657351" y="31750"/>
                </a:lnTo>
                <a:lnTo>
                  <a:pt x="708151" y="31750"/>
                </a:lnTo>
                <a:lnTo>
                  <a:pt x="644651" y="0"/>
                </a:lnTo>
                <a:close/>
              </a:path>
              <a:path w="721360" h="76200">
                <a:moveTo>
                  <a:pt x="6446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44651" y="44450"/>
                </a:lnTo>
                <a:lnTo>
                  <a:pt x="644651" y="31750"/>
                </a:lnTo>
                <a:close/>
              </a:path>
              <a:path w="721360" h="76200">
                <a:moveTo>
                  <a:pt x="708151" y="31750"/>
                </a:moveTo>
                <a:lnTo>
                  <a:pt x="657351" y="31750"/>
                </a:lnTo>
                <a:lnTo>
                  <a:pt x="657351" y="44450"/>
                </a:lnTo>
                <a:lnTo>
                  <a:pt x="708151" y="44450"/>
                </a:lnTo>
                <a:lnTo>
                  <a:pt x="720851" y="38100"/>
                </a:lnTo>
                <a:lnTo>
                  <a:pt x="70815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37407" y="1666289"/>
            <a:ext cx="26320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提示：阅读课本</a:t>
            </a:r>
            <a:r>
              <a:rPr sz="2000" u="heavy" spc="-5" dirty="0">
                <a:solidFill>
                  <a:srgbClr val="1F487C"/>
                </a:solidFill>
                <a:latin typeface="微软雅黑"/>
                <a:cs typeface="微软雅黑"/>
              </a:rPr>
              <a:t>2.3.</a:t>
            </a:r>
            <a:r>
              <a:rPr sz="2000" u="heavy" dirty="0">
                <a:solidFill>
                  <a:srgbClr val="1F487C"/>
                </a:solidFill>
                <a:latin typeface="微软雅黑"/>
                <a:cs typeface="微软雅黑"/>
              </a:rPr>
              <a:t>4节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sz="2000" spc="4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00" spc="15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集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合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(set)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8941" y="2867405"/>
            <a:ext cx="4759960" cy="2399030"/>
          </a:xfrm>
          <a:custGeom>
            <a:avLst/>
            <a:gdLst/>
            <a:ahLst/>
            <a:cxnLst/>
            <a:rect l="l" t="t" r="r" b="b"/>
            <a:pathLst>
              <a:path w="4759960" h="2399029">
                <a:moveTo>
                  <a:pt x="0" y="2398776"/>
                </a:moveTo>
                <a:lnTo>
                  <a:pt x="4759452" y="2398776"/>
                </a:lnTo>
                <a:lnTo>
                  <a:pt x="4759452" y="0"/>
                </a:lnTo>
                <a:lnTo>
                  <a:pt x="0" y="0"/>
                </a:lnTo>
                <a:lnTo>
                  <a:pt x="0" y="2398776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8491" y="2695955"/>
            <a:ext cx="844550" cy="338455"/>
          </a:xfrm>
          <a:custGeom>
            <a:avLst/>
            <a:gdLst/>
            <a:ahLst/>
            <a:cxnLst/>
            <a:rect l="l" t="t" r="r" b="b"/>
            <a:pathLst>
              <a:path w="844550" h="338455">
                <a:moveTo>
                  <a:pt x="0" y="338327"/>
                </a:moveTo>
                <a:lnTo>
                  <a:pt x="844296" y="338327"/>
                </a:lnTo>
                <a:lnTo>
                  <a:pt x="84429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3365" y="2762438"/>
            <a:ext cx="4615535" cy="2285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Arial"/>
                <a:cs typeface="Arial"/>
              </a:rPr>
              <a:t>s 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set([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,2,3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])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增加元素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，s.ad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d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(4)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删除元素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，s.</a:t>
            </a:r>
            <a:r>
              <a:rPr sz="1800" spc="-35" dirty="0">
                <a:solidFill>
                  <a:srgbClr val="1F487C"/>
                </a:solidFill>
                <a:latin typeface="微软雅黑"/>
                <a:cs typeface="微软雅黑"/>
              </a:rPr>
              <a:t>r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e</a:t>
            </a:r>
            <a:r>
              <a:rPr sz="1800" spc="5" dirty="0">
                <a:solidFill>
                  <a:srgbClr val="1F487C"/>
                </a:solidFill>
                <a:latin typeface="微软雅黑"/>
                <a:cs typeface="微软雅黑"/>
              </a:rPr>
              <a:t>m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v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e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(3)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定义集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合p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由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3,4,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5组成</a:t>
            </a: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 </a:t>
            </a:r>
            <a:r>
              <a:rPr sz="1800" spc="-75" dirty="0">
                <a:solidFill>
                  <a:srgbClr val="1F487C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使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用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&amp;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,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｜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,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-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,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对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和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取交集、并集和差集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47944" y="2176272"/>
            <a:ext cx="2968752" cy="3794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774440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中的容器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sz="2000" spc="4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00" spc="15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小结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92410"/>
            <a:ext cx="8515476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1420" dirty="0">
                <a:latin typeface="Segoe UI Symbol"/>
                <a:cs typeface="Segoe UI Symbol"/>
              </a:rPr>
              <a:t>⚫</a:t>
            </a:r>
            <a:r>
              <a:rPr sz="2000" spc="210" dirty="0"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容器：可包含其他对象</a:t>
            </a:r>
            <a:r>
              <a:rPr sz="2000" spc="-10" dirty="0">
                <a:latin typeface="微软雅黑"/>
                <a:cs typeface="微软雅黑"/>
              </a:rPr>
              <a:t>的</a:t>
            </a:r>
            <a:r>
              <a:rPr sz="2000" dirty="0">
                <a:latin typeface="微软雅黑"/>
                <a:cs typeface="微软雅黑"/>
              </a:rPr>
              <a:t>对象</a:t>
            </a:r>
            <a:r>
              <a:rPr sz="2000" spc="-10" dirty="0">
                <a:latin typeface="微软雅黑"/>
                <a:cs typeface="微软雅黑"/>
              </a:rPr>
              <a:t>，</a:t>
            </a:r>
            <a:r>
              <a:rPr sz="2000" dirty="0">
                <a:latin typeface="微软雅黑"/>
                <a:cs typeface="微软雅黑"/>
              </a:rPr>
              <a:t>包含</a:t>
            </a:r>
            <a:r>
              <a:rPr sz="2000" spc="-10" dirty="0">
                <a:latin typeface="微软雅黑"/>
                <a:cs typeface="微软雅黑"/>
              </a:rPr>
              <a:t>序</a:t>
            </a:r>
            <a:r>
              <a:rPr sz="2000" dirty="0">
                <a:latin typeface="微软雅黑"/>
                <a:cs typeface="微软雅黑"/>
              </a:rPr>
              <a:t>列、</a:t>
            </a:r>
            <a:r>
              <a:rPr sz="2000" spc="-10" dirty="0">
                <a:latin typeface="微软雅黑"/>
                <a:cs typeface="微软雅黑"/>
              </a:rPr>
              <a:t>映</a:t>
            </a:r>
            <a:r>
              <a:rPr sz="2000" dirty="0">
                <a:latin typeface="微软雅黑"/>
                <a:cs typeface="微软雅黑"/>
              </a:rPr>
              <a:t>射和</a:t>
            </a:r>
            <a:r>
              <a:rPr sz="2000" spc="-10" dirty="0">
                <a:latin typeface="微软雅黑"/>
                <a:cs typeface="微软雅黑"/>
              </a:rPr>
              <a:t>集</a:t>
            </a:r>
            <a:r>
              <a:rPr sz="2000" dirty="0">
                <a:latin typeface="微软雅黑"/>
                <a:cs typeface="微软雅黑"/>
              </a:rPr>
              <a:t>合等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1425" dirty="0">
                <a:latin typeface="Segoe UI Symbol"/>
                <a:cs typeface="Segoe UI Symbol"/>
              </a:rPr>
              <a:t>⚫</a:t>
            </a:r>
            <a:r>
              <a:rPr sz="2000" spc="204" dirty="0">
                <a:latin typeface="Segoe UI Symbol"/>
                <a:cs typeface="Segoe UI Symbol"/>
              </a:rPr>
              <a:t> </a:t>
            </a:r>
            <a:r>
              <a:rPr sz="2000" spc="5" dirty="0">
                <a:latin typeface="微软雅黑"/>
                <a:cs typeface="微软雅黑"/>
              </a:rPr>
              <a:t>序列</a:t>
            </a:r>
            <a:r>
              <a:rPr sz="2000" spc="-5" dirty="0">
                <a:latin typeface="微软雅黑"/>
                <a:cs typeface="微软雅黑"/>
              </a:rPr>
              <a:t>：</a:t>
            </a:r>
            <a:r>
              <a:rPr sz="2000" b="1" dirty="0">
                <a:latin typeface="微软雅黑"/>
                <a:cs typeface="微软雅黑"/>
              </a:rPr>
              <a:t>列表</a:t>
            </a:r>
            <a:r>
              <a:rPr sz="2000" dirty="0">
                <a:latin typeface="微软雅黑"/>
                <a:cs typeface="微软雅黑"/>
              </a:rPr>
              <a:t>和</a:t>
            </a:r>
            <a:r>
              <a:rPr sz="2000" b="1" dirty="0">
                <a:latin typeface="微软雅黑"/>
                <a:cs typeface="微软雅黑"/>
              </a:rPr>
              <a:t>元</a:t>
            </a:r>
            <a:r>
              <a:rPr sz="2000" b="1" spc="5" dirty="0">
                <a:latin typeface="微软雅黑"/>
                <a:cs typeface="微软雅黑"/>
              </a:rPr>
              <a:t>组</a:t>
            </a:r>
            <a:r>
              <a:rPr sz="2000" dirty="0">
                <a:latin typeface="微软雅黑"/>
                <a:cs typeface="微软雅黑"/>
              </a:rPr>
              <a:t>，其</a:t>
            </a:r>
            <a:r>
              <a:rPr sz="2000" spc="-10" dirty="0">
                <a:latin typeface="微软雅黑"/>
                <a:cs typeface="微软雅黑"/>
              </a:rPr>
              <a:t>中</a:t>
            </a:r>
            <a:r>
              <a:rPr sz="2000" b="1" spc="5" dirty="0">
                <a:latin typeface="微软雅黑"/>
                <a:cs typeface="微软雅黑"/>
              </a:rPr>
              <a:t>列表</a:t>
            </a:r>
            <a:r>
              <a:rPr sz="2000" b="1" spc="-15" dirty="0">
                <a:latin typeface="微软雅黑"/>
                <a:cs typeface="微软雅黑"/>
              </a:rPr>
              <a:t>可</a:t>
            </a:r>
            <a:r>
              <a:rPr sz="2000" b="1" spc="5" dirty="0">
                <a:latin typeface="微软雅黑"/>
                <a:cs typeface="微软雅黑"/>
              </a:rPr>
              <a:t>修</a:t>
            </a:r>
            <a:r>
              <a:rPr sz="2000" b="1" dirty="0">
                <a:latin typeface="微软雅黑"/>
                <a:cs typeface="微软雅黑"/>
              </a:rPr>
              <a:t>改</a:t>
            </a:r>
            <a:r>
              <a:rPr sz="2000" spc="-10" dirty="0">
                <a:latin typeface="微软雅黑"/>
                <a:cs typeface="微软雅黑"/>
              </a:rPr>
              <a:t>，</a:t>
            </a:r>
            <a:r>
              <a:rPr sz="2000" spc="5" dirty="0">
                <a:latin typeface="微软雅黑"/>
                <a:cs typeface="微软雅黑"/>
              </a:rPr>
              <a:t>一般</a:t>
            </a:r>
            <a:r>
              <a:rPr sz="2000" spc="-15" dirty="0">
                <a:latin typeface="微软雅黑"/>
                <a:cs typeface="微软雅黑"/>
              </a:rPr>
              <a:t>能</a:t>
            </a:r>
            <a:r>
              <a:rPr sz="2000" spc="5" dirty="0">
                <a:latin typeface="微软雅黑"/>
                <a:cs typeface="微软雅黑"/>
              </a:rPr>
              <a:t>满足</a:t>
            </a:r>
            <a:r>
              <a:rPr sz="2000" spc="-15" dirty="0">
                <a:latin typeface="微软雅黑"/>
                <a:cs typeface="微软雅黑"/>
              </a:rPr>
              <a:t>对</a:t>
            </a:r>
            <a:r>
              <a:rPr sz="2000" spc="5" dirty="0">
                <a:latin typeface="微软雅黑"/>
                <a:cs typeface="微软雅黑"/>
              </a:rPr>
              <a:t>序列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spc="5" dirty="0">
                <a:latin typeface="微软雅黑"/>
                <a:cs typeface="微软雅黑"/>
              </a:rPr>
              <a:t>需求；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1420" dirty="0">
                <a:latin typeface="Segoe UI Symbol"/>
                <a:cs typeface="Segoe UI Symbol"/>
              </a:rPr>
              <a:t>⚫</a:t>
            </a:r>
            <a:r>
              <a:rPr sz="2000" spc="210" dirty="0">
                <a:latin typeface="Segoe UI Symbol"/>
                <a:cs typeface="Segoe UI Symbol"/>
              </a:rPr>
              <a:t> </a:t>
            </a:r>
            <a:r>
              <a:rPr lang="zh-CN" altLang="en-US" sz="2000" spc="5" dirty="0">
                <a:latin typeface="微软雅黑"/>
                <a:cs typeface="微软雅黑"/>
              </a:rPr>
              <a:t>字典</a:t>
            </a:r>
            <a:r>
              <a:rPr sz="2000" spc="-5" dirty="0">
                <a:latin typeface="微软雅黑"/>
                <a:cs typeface="微软雅黑"/>
              </a:rPr>
              <a:t>：</a:t>
            </a:r>
            <a:r>
              <a:rPr sz="2000" b="1" dirty="0">
                <a:latin typeface="微软雅黑"/>
                <a:cs typeface="微软雅黑"/>
              </a:rPr>
              <a:t>字典</a:t>
            </a:r>
            <a:r>
              <a:rPr sz="2000" dirty="0">
                <a:latin typeface="微软雅黑"/>
                <a:cs typeface="微软雅黑"/>
              </a:rPr>
              <a:t>是唯一内置</a:t>
            </a:r>
            <a:r>
              <a:rPr sz="2000" spc="-15" dirty="0">
                <a:latin typeface="微软雅黑"/>
                <a:cs typeface="微软雅黑"/>
              </a:rPr>
              <a:t>映</a:t>
            </a:r>
            <a:r>
              <a:rPr sz="2000" dirty="0">
                <a:latin typeface="微软雅黑"/>
                <a:cs typeface="微软雅黑"/>
              </a:rPr>
              <a:t>射类</a:t>
            </a:r>
            <a:r>
              <a:rPr sz="2000" spc="-15" dirty="0">
                <a:latin typeface="微软雅黑"/>
                <a:cs typeface="微软雅黑"/>
              </a:rPr>
              <a:t>型</a:t>
            </a:r>
            <a:r>
              <a:rPr sz="2000" dirty="0">
                <a:latin typeface="微软雅黑"/>
                <a:cs typeface="微软雅黑"/>
              </a:rPr>
              <a:t>，值</a:t>
            </a:r>
            <a:r>
              <a:rPr sz="2000" spc="-15" dirty="0">
                <a:latin typeface="微软雅黑"/>
                <a:cs typeface="微软雅黑"/>
              </a:rPr>
              <a:t>存</a:t>
            </a:r>
            <a:r>
              <a:rPr sz="2000" dirty="0">
                <a:latin typeface="微软雅黑"/>
                <a:cs typeface="微软雅黑"/>
              </a:rPr>
              <a:t>储</a:t>
            </a:r>
            <a:r>
              <a:rPr sz="2000" spc="5" dirty="0">
                <a:latin typeface="微软雅黑"/>
                <a:cs typeface="微软雅黑"/>
              </a:rPr>
              <a:t>在</a:t>
            </a:r>
            <a:r>
              <a:rPr sz="2000" b="1" spc="-15" dirty="0">
                <a:latin typeface="微软雅黑"/>
                <a:cs typeface="微软雅黑"/>
              </a:rPr>
              <a:t>键</a:t>
            </a:r>
            <a:r>
              <a:rPr sz="2000" dirty="0">
                <a:latin typeface="微软雅黑"/>
                <a:cs typeface="微软雅黑"/>
              </a:rPr>
              <a:t>下，</a:t>
            </a:r>
            <a:r>
              <a:rPr sz="2000" b="1" spc="-10" dirty="0">
                <a:latin typeface="微软雅黑"/>
                <a:cs typeface="微软雅黑"/>
              </a:rPr>
              <a:t>不</a:t>
            </a:r>
            <a:r>
              <a:rPr sz="2000" b="1" dirty="0">
                <a:latin typeface="微软雅黑"/>
                <a:cs typeface="微软雅黑"/>
              </a:rPr>
              <a:t>按照顺序排</a:t>
            </a:r>
            <a:r>
              <a:rPr sz="2000" b="1" spc="-10" dirty="0">
                <a:latin typeface="微软雅黑"/>
                <a:cs typeface="微软雅黑"/>
              </a:rPr>
              <a:t>列</a:t>
            </a:r>
            <a:r>
              <a:rPr sz="2000" b="1" dirty="0">
                <a:latin typeface="微软雅黑"/>
                <a:cs typeface="微软雅黑"/>
              </a:rPr>
              <a:t>；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1420" dirty="0">
                <a:latin typeface="Segoe UI Symbol"/>
                <a:cs typeface="Segoe UI Symbol"/>
              </a:rPr>
              <a:t>⚫</a:t>
            </a:r>
            <a:r>
              <a:rPr sz="2000" spc="210" dirty="0"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集合</a:t>
            </a:r>
            <a:r>
              <a:rPr sz="2000" spc="-5" dirty="0">
                <a:latin typeface="微软雅黑"/>
                <a:cs typeface="微软雅黑"/>
              </a:rPr>
              <a:t>：</a:t>
            </a:r>
            <a:r>
              <a:rPr sz="2000" b="1" spc="-15" dirty="0">
                <a:latin typeface="微软雅黑"/>
                <a:cs typeface="微软雅黑"/>
              </a:rPr>
              <a:t>集</a:t>
            </a:r>
            <a:r>
              <a:rPr sz="2000" b="1" dirty="0">
                <a:latin typeface="微软雅黑"/>
                <a:cs typeface="微软雅黑"/>
              </a:rPr>
              <a:t>合</a:t>
            </a:r>
            <a:r>
              <a:rPr sz="2000" spc="-15" dirty="0">
                <a:latin typeface="微软雅黑"/>
                <a:cs typeface="微软雅黑"/>
              </a:rPr>
              <a:t>可</a:t>
            </a:r>
            <a:r>
              <a:rPr sz="2000" dirty="0">
                <a:latin typeface="微软雅黑"/>
                <a:cs typeface="微软雅黑"/>
              </a:rPr>
              <a:t>变，因</a:t>
            </a:r>
            <a:r>
              <a:rPr sz="2000" spc="-15" dirty="0">
                <a:latin typeface="微软雅黑"/>
                <a:cs typeface="微软雅黑"/>
              </a:rPr>
              <a:t>此</a:t>
            </a:r>
            <a:r>
              <a:rPr sz="2000" dirty="0">
                <a:latin typeface="微软雅黑"/>
                <a:cs typeface="微软雅黑"/>
              </a:rPr>
              <a:t>不</a:t>
            </a:r>
            <a:r>
              <a:rPr sz="2000" spc="-15" dirty="0">
                <a:latin typeface="微软雅黑"/>
                <a:cs typeface="微软雅黑"/>
              </a:rPr>
              <a:t>能</a:t>
            </a:r>
            <a:r>
              <a:rPr sz="2000" dirty="0">
                <a:latin typeface="微软雅黑"/>
                <a:cs typeface="微软雅黑"/>
              </a:rPr>
              <a:t>作为键</a:t>
            </a:r>
            <a:r>
              <a:rPr sz="2000" spc="-15" dirty="0">
                <a:latin typeface="微软雅黑"/>
                <a:cs typeface="微软雅黑"/>
              </a:rPr>
              <a:t>，</a:t>
            </a:r>
            <a:r>
              <a:rPr sz="2000" dirty="0">
                <a:latin typeface="微软雅黑"/>
                <a:cs typeface="微软雅黑"/>
              </a:rPr>
              <a:t>由</a:t>
            </a:r>
            <a:r>
              <a:rPr sz="2000" spc="-15" dirty="0">
                <a:latin typeface="微软雅黑"/>
                <a:cs typeface="微软雅黑"/>
              </a:rPr>
              <a:t>内</a:t>
            </a:r>
            <a:r>
              <a:rPr sz="2000" dirty="0">
                <a:latin typeface="微软雅黑"/>
                <a:cs typeface="微软雅黑"/>
              </a:rPr>
              <a:t>置</a:t>
            </a:r>
            <a:r>
              <a:rPr sz="2000" spc="5" dirty="0">
                <a:latin typeface="微软雅黑"/>
                <a:cs typeface="微软雅黑"/>
              </a:rPr>
              <a:t>类</a:t>
            </a:r>
            <a:r>
              <a:rPr sz="2000" dirty="0">
                <a:latin typeface="微软雅黑"/>
                <a:cs typeface="微软雅黑"/>
              </a:rPr>
              <a:t>se</a:t>
            </a:r>
            <a:r>
              <a:rPr sz="2000" spc="-5" dirty="0">
                <a:latin typeface="微软雅黑"/>
                <a:cs typeface="微软雅黑"/>
              </a:rPr>
              <a:t>t</a:t>
            </a:r>
            <a:r>
              <a:rPr sz="2000" dirty="0">
                <a:latin typeface="微软雅黑"/>
                <a:cs typeface="微软雅黑"/>
              </a:rPr>
              <a:t>实</a:t>
            </a:r>
            <a:r>
              <a:rPr sz="2000" spc="-10" dirty="0">
                <a:latin typeface="微软雅黑"/>
                <a:cs typeface="微软雅黑"/>
              </a:rPr>
              <a:t>现</a:t>
            </a:r>
            <a:r>
              <a:rPr sz="2000" spc="-5" dirty="0">
                <a:latin typeface="微软雅黑"/>
                <a:cs typeface="微软雅黑"/>
              </a:rPr>
              <a:t>，</a:t>
            </a:r>
            <a:r>
              <a:rPr sz="2000" b="1" dirty="0">
                <a:latin typeface="微软雅黑"/>
                <a:cs typeface="微软雅黑"/>
              </a:rPr>
              <a:t>元素</a:t>
            </a:r>
            <a:r>
              <a:rPr sz="2000" b="1" spc="-15" dirty="0">
                <a:latin typeface="微软雅黑"/>
                <a:cs typeface="微软雅黑"/>
              </a:rPr>
              <a:t>不</a:t>
            </a:r>
            <a:r>
              <a:rPr sz="2000" b="1" dirty="0">
                <a:latin typeface="微软雅黑"/>
                <a:cs typeface="微软雅黑"/>
              </a:rPr>
              <a:t>可</a:t>
            </a:r>
            <a:r>
              <a:rPr sz="2000" b="1" spc="-15" dirty="0">
                <a:latin typeface="微软雅黑"/>
                <a:cs typeface="微软雅黑"/>
              </a:rPr>
              <a:t>重</a:t>
            </a:r>
            <a:r>
              <a:rPr sz="2000" b="1" dirty="0">
                <a:latin typeface="微软雅黑"/>
                <a:cs typeface="微软雅黑"/>
              </a:rPr>
              <a:t>复</a:t>
            </a:r>
            <a:r>
              <a:rPr sz="2000" dirty="0">
                <a:latin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8027034" cy="342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4000" spc="0" dirty="0">
                <a:solidFill>
                  <a:srgbClr val="1F487C"/>
                </a:solidFill>
                <a:latin typeface="微软雅黑"/>
                <a:cs typeface="微软雅黑"/>
              </a:rPr>
              <a:t>y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tho</a:t>
            </a:r>
            <a:r>
              <a:rPr sz="4000" spc="-10" dirty="0">
                <a:solidFill>
                  <a:srgbClr val="1F487C"/>
                </a:solidFill>
                <a:latin typeface="微软雅黑"/>
                <a:cs typeface="微软雅黑"/>
              </a:rPr>
              <a:t>n</a:t>
            </a: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数据分析应用</a:t>
            </a:r>
            <a:endParaRPr sz="4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700" spc="137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了解P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y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tho</a:t>
            </a:r>
            <a:r>
              <a:rPr sz="2000" spc="-5" dirty="0">
                <a:solidFill>
                  <a:srgbClr val="7E7E7E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的特点、优势及编程环境配置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137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spc="5" dirty="0">
                <a:solidFill>
                  <a:srgbClr val="7E7E7E"/>
                </a:solidFill>
                <a:latin typeface="微软雅黑"/>
                <a:cs typeface="微软雅黑"/>
              </a:rPr>
              <a:t>理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解P</a:t>
            </a:r>
            <a:r>
              <a:rPr sz="2000" spc="-15" dirty="0">
                <a:solidFill>
                  <a:srgbClr val="7E7E7E"/>
                </a:solidFill>
                <a:latin typeface="微软雅黑"/>
                <a:cs typeface="微软雅黑"/>
              </a:rPr>
              <a:t>y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th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o</a:t>
            </a:r>
            <a:r>
              <a:rPr sz="2000" spc="-5" dirty="0">
                <a:solidFill>
                  <a:srgbClr val="7E7E7E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的基础语法，如数据类型、基本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操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作、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容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器等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147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400" b="1" spc="1475" dirty="0" err="1">
                <a:latin typeface="微软雅黑"/>
                <a:cs typeface="微软雅黑"/>
              </a:rPr>
              <a:t>掌</a:t>
            </a:r>
            <a:r>
              <a:rPr sz="2400" b="1" spc="-5" dirty="0" err="1">
                <a:latin typeface="微软雅黑"/>
                <a:cs typeface="微软雅黑"/>
              </a:rPr>
              <a:t>握Pyth</a:t>
            </a:r>
            <a:r>
              <a:rPr sz="2400" b="1" spc="-10" dirty="0" err="1">
                <a:latin typeface="微软雅黑"/>
                <a:cs typeface="微软雅黑"/>
              </a:rPr>
              <a:t>o</a:t>
            </a:r>
            <a:r>
              <a:rPr sz="2400" b="1" spc="5" dirty="0" err="1">
                <a:latin typeface="微软雅黑"/>
                <a:cs typeface="微软雅黑"/>
              </a:rPr>
              <a:t>n</a:t>
            </a:r>
            <a:r>
              <a:rPr sz="2400" b="1" dirty="0" err="1">
                <a:latin typeface="微软雅黑"/>
                <a:cs typeface="微软雅黑"/>
              </a:rPr>
              <a:t>的流程控制，函数与类的定义与调用，及异常处理方法</a:t>
            </a:r>
            <a:endParaRPr sz="24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22807"/>
            <a:ext cx="3072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流程控制语句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67804"/>
            <a:ext cx="21761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条件判断语句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0297" y="2370582"/>
            <a:ext cx="2787650" cy="2127885"/>
          </a:xfrm>
          <a:custGeom>
            <a:avLst/>
            <a:gdLst/>
            <a:ahLst/>
            <a:cxnLst/>
            <a:rect l="l" t="t" r="r" b="b"/>
            <a:pathLst>
              <a:path w="2787650" h="2127885">
                <a:moveTo>
                  <a:pt x="0" y="2127504"/>
                </a:moveTo>
                <a:lnTo>
                  <a:pt x="2787395" y="2127504"/>
                </a:lnTo>
                <a:lnTo>
                  <a:pt x="2787395" y="0"/>
                </a:lnTo>
                <a:lnTo>
                  <a:pt x="0" y="0"/>
                </a:lnTo>
                <a:lnTo>
                  <a:pt x="0" y="2127504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5172" y="2200655"/>
            <a:ext cx="800100" cy="338455"/>
          </a:xfrm>
          <a:custGeom>
            <a:avLst/>
            <a:gdLst/>
            <a:ahLst/>
            <a:cxnLst/>
            <a:rect l="l" t="t" r="r" b="b"/>
            <a:pathLst>
              <a:path w="800100" h="338455">
                <a:moveTo>
                  <a:pt x="0" y="338327"/>
                </a:moveTo>
                <a:lnTo>
                  <a:pt x="800100" y="338327"/>
                </a:lnTo>
                <a:lnTo>
                  <a:pt x="800100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5941" y="2266005"/>
            <a:ext cx="1417320" cy="215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40715" algn="ctr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单条件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微软雅黑"/>
                <a:cs typeface="微软雅黑"/>
              </a:rPr>
              <a:t>i</a:t>
            </a:r>
            <a:r>
              <a:rPr sz="2000" dirty="0">
                <a:latin typeface="微软雅黑"/>
                <a:cs typeface="微软雅黑"/>
              </a:rPr>
              <a:t>f</a:t>
            </a:r>
            <a:r>
              <a:rPr sz="2000" spc="-10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条件</a:t>
            </a:r>
            <a:r>
              <a:rPr sz="2000" b="1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marL="23622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微软雅黑"/>
                <a:cs typeface="微软雅黑"/>
              </a:rPr>
              <a:t>执行语句1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微软雅黑"/>
                <a:cs typeface="微软雅黑"/>
              </a:rPr>
              <a:t>else</a:t>
            </a:r>
            <a:r>
              <a:rPr sz="2000" b="1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marL="28702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微软雅黑"/>
                <a:cs typeface="微软雅黑"/>
              </a:rPr>
              <a:t>执行语句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10885" y="2218944"/>
            <a:ext cx="580390" cy="697230"/>
          </a:xfrm>
          <a:custGeom>
            <a:avLst/>
            <a:gdLst/>
            <a:ahLst/>
            <a:cxnLst/>
            <a:rect l="l" t="t" r="r" b="b"/>
            <a:pathLst>
              <a:path w="580389" h="697230">
                <a:moveTo>
                  <a:pt x="526327" y="54580"/>
                </a:moveTo>
                <a:lnTo>
                  <a:pt x="0" y="688975"/>
                </a:lnTo>
                <a:lnTo>
                  <a:pt x="9651" y="697102"/>
                </a:lnTo>
                <a:lnTo>
                  <a:pt x="536106" y="62705"/>
                </a:lnTo>
                <a:lnTo>
                  <a:pt x="526327" y="54580"/>
                </a:lnTo>
                <a:close/>
              </a:path>
              <a:path w="580389" h="697230">
                <a:moveTo>
                  <a:pt x="569377" y="44830"/>
                </a:moveTo>
                <a:lnTo>
                  <a:pt x="534415" y="44830"/>
                </a:lnTo>
                <a:lnTo>
                  <a:pt x="544194" y="52958"/>
                </a:lnTo>
                <a:lnTo>
                  <a:pt x="536106" y="62705"/>
                </a:lnTo>
                <a:lnTo>
                  <a:pt x="560451" y="82930"/>
                </a:lnTo>
                <a:lnTo>
                  <a:pt x="569377" y="44830"/>
                </a:lnTo>
                <a:close/>
              </a:path>
              <a:path w="580389" h="697230">
                <a:moveTo>
                  <a:pt x="534415" y="44830"/>
                </a:moveTo>
                <a:lnTo>
                  <a:pt x="526327" y="54580"/>
                </a:lnTo>
                <a:lnTo>
                  <a:pt x="536106" y="62705"/>
                </a:lnTo>
                <a:lnTo>
                  <a:pt x="544194" y="52958"/>
                </a:lnTo>
                <a:lnTo>
                  <a:pt x="534415" y="44830"/>
                </a:lnTo>
                <a:close/>
              </a:path>
              <a:path w="580389" h="697230">
                <a:moveTo>
                  <a:pt x="579881" y="0"/>
                </a:moveTo>
                <a:lnTo>
                  <a:pt x="501903" y="34289"/>
                </a:lnTo>
                <a:lnTo>
                  <a:pt x="526327" y="54580"/>
                </a:lnTo>
                <a:lnTo>
                  <a:pt x="534415" y="44830"/>
                </a:lnTo>
                <a:lnTo>
                  <a:pt x="569377" y="44830"/>
                </a:lnTo>
                <a:lnTo>
                  <a:pt x="5798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11215" y="1794061"/>
            <a:ext cx="1043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注意冒号</a:t>
            </a:r>
            <a:endParaRPr sz="2000">
              <a:latin typeface="微软雅黑"/>
              <a:cs typeface="微软雅黑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087367" y="2200655"/>
          <a:ext cx="4378451" cy="36583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925">
                <a:tc>
                  <a:txBody>
                    <a:bodyPr/>
                    <a:lstStyle/>
                    <a:p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926">
                <a:tc>
                  <a:txBody>
                    <a:bodyPr/>
                    <a:lstStyle/>
                    <a:p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多条件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25908">
                      <a:solidFill>
                        <a:srgbClr val="1F487C"/>
                      </a:solidFill>
                      <a:prstDash val="solid"/>
                    </a:lnR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761">
                <a:tc gridSpan="3"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tabLst>
                          <a:tab pos="2403475" algn="l"/>
                        </a:tabLst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条件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：	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条件1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R="548640" algn="r">
                        <a:lnSpc>
                          <a:spcPct val="100000"/>
                        </a:lnSpc>
                        <a:spcBef>
                          <a:spcPts val="1200"/>
                        </a:spcBef>
                        <a:tabLst>
                          <a:tab pos="2124075" algn="l"/>
                        </a:tabLst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执行语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句1	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执行语句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1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503555" marR="549275" indent="-224154" algn="r">
                        <a:lnSpc>
                          <a:spcPct val="150000"/>
                        </a:lnSpc>
                        <a:tabLst>
                          <a:tab pos="2403475" algn="l"/>
                          <a:tab pos="2627630" algn="l"/>
                        </a:tabLst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条件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：	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el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000" spc="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条件2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：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执行语句2		执行语句2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279400">
                        <a:lnSpc>
                          <a:spcPct val="100000"/>
                        </a:lnSpc>
                        <a:spcBef>
                          <a:spcPts val="1200"/>
                        </a:spcBef>
                        <a:tabLst>
                          <a:tab pos="2403475" algn="l"/>
                        </a:tabLst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el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：	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el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1200"/>
                        </a:spcBef>
                        <a:tabLst>
                          <a:tab pos="2677795" algn="l"/>
                        </a:tabLst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执行语句	执行语句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R w="25908">
                      <a:solidFill>
                        <a:srgbClr val="1F487C"/>
                      </a:solidFill>
                      <a:prstDash val="solid"/>
                    </a:lnR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22807"/>
            <a:ext cx="3072765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流程控制语句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条件判断语句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0297" y="2370582"/>
            <a:ext cx="8092440" cy="3802379"/>
          </a:xfrm>
          <a:custGeom>
            <a:avLst/>
            <a:gdLst/>
            <a:ahLst/>
            <a:cxnLst/>
            <a:rect l="l" t="t" r="r" b="b"/>
            <a:pathLst>
              <a:path w="8092440" h="3802379">
                <a:moveTo>
                  <a:pt x="0" y="3802379"/>
                </a:moveTo>
                <a:lnTo>
                  <a:pt x="8092440" y="3802379"/>
                </a:lnTo>
                <a:lnTo>
                  <a:pt x="8092440" y="0"/>
                </a:lnTo>
                <a:lnTo>
                  <a:pt x="0" y="0"/>
                </a:lnTo>
                <a:lnTo>
                  <a:pt x="0" y="3802379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5172" y="2200655"/>
            <a:ext cx="1455420" cy="338455"/>
          </a:xfrm>
          <a:custGeom>
            <a:avLst/>
            <a:gdLst/>
            <a:ahLst/>
            <a:cxnLst/>
            <a:rect l="l" t="t" r="r" b="b"/>
            <a:pathLst>
              <a:path w="1455420" h="338455">
                <a:moveTo>
                  <a:pt x="0" y="338327"/>
                </a:moveTo>
                <a:lnTo>
                  <a:pt x="1455419" y="338327"/>
                </a:lnTo>
                <a:lnTo>
                  <a:pt x="1455419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8930" y="2266005"/>
            <a:ext cx="6163869" cy="2228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3mi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 dirty="0">
              <a:latin typeface="微软雅黑"/>
              <a:cs typeface="微软雅黑"/>
            </a:endParaRPr>
          </a:p>
          <a:p>
            <a:pPr marL="227329" marR="3947160" indent="-181610">
              <a:lnSpc>
                <a:spcPct val="150000"/>
              </a:lnSpc>
              <a:spcBef>
                <a:spcPts val="675"/>
              </a:spcBef>
            </a:pPr>
            <a:r>
              <a:rPr sz="1600" spc="-10" dirty="0">
                <a:latin typeface="微软雅黑"/>
                <a:cs typeface="微软雅黑"/>
              </a:rPr>
              <a:t>i</a:t>
            </a:r>
            <a:r>
              <a:rPr sz="1600" spc="-5" dirty="0">
                <a:latin typeface="微软雅黑"/>
                <a:cs typeface="微软雅黑"/>
              </a:rPr>
              <a:t>f</a:t>
            </a:r>
            <a:r>
              <a:rPr sz="160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条件1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： </a:t>
            </a:r>
            <a:r>
              <a:rPr sz="1600" spc="-5" dirty="0">
                <a:latin typeface="微软雅黑"/>
                <a:cs typeface="微软雅黑"/>
              </a:rPr>
              <a:t>执行语句1</a:t>
            </a:r>
            <a:endParaRPr sz="1600" dirty="0">
              <a:latin typeface="微软雅黑"/>
              <a:cs typeface="微软雅黑"/>
            </a:endParaRPr>
          </a:p>
          <a:p>
            <a:pPr marL="4572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微软雅黑"/>
                <a:cs typeface="微软雅黑"/>
              </a:rPr>
              <a:t>e</a:t>
            </a:r>
            <a:r>
              <a:rPr sz="1600" spc="-10" dirty="0">
                <a:latin typeface="微软雅黑"/>
                <a:cs typeface="微软雅黑"/>
              </a:rPr>
              <a:t>li</a:t>
            </a:r>
            <a:r>
              <a:rPr sz="1600" spc="-5" dirty="0">
                <a:latin typeface="微软雅黑"/>
                <a:cs typeface="微软雅黑"/>
              </a:rPr>
              <a:t>f</a:t>
            </a:r>
            <a:r>
              <a:rPr sz="1600" spc="15" dirty="0">
                <a:latin typeface="微软雅黑"/>
                <a:cs typeface="微软雅黑"/>
              </a:rPr>
              <a:t> </a:t>
            </a:r>
            <a:r>
              <a:rPr sz="1600" spc="-10" dirty="0">
                <a:latin typeface="微软雅黑"/>
                <a:cs typeface="微软雅黑"/>
              </a:rPr>
              <a:t>条件2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1600" dirty="0">
              <a:latin typeface="微软雅黑"/>
              <a:cs typeface="微软雅黑"/>
            </a:endParaRPr>
          </a:p>
          <a:p>
            <a:pPr marL="45720" marR="3947160" indent="180975">
              <a:lnSpc>
                <a:spcPct val="150000"/>
              </a:lnSpc>
            </a:pPr>
            <a:r>
              <a:rPr sz="1600" spc="-5" dirty="0">
                <a:latin typeface="微软雅黑"/>
                <a:cs typeface="微软雅黑"/>
              </a:rPr>
              <a:t>执行语句2 </a:t>
            </a:r>
            <a:r>
              <a:rPr sz="1600" spc="-15" dirty="0">
                <a:latin typeface="微软雅黑"/>
                <a:cs typeface="微软雅黑"/>
              </a:rPr>
              <a:t>e</a:t>
            </a:r>
            <a:r>
              <a:rPr sz="1600" spc="-10" dirty="0">
                <a:latin typeface="微软雅黑"/>
                <a:cs typeface="微软雅黑"/>
              </a:rPr>
              <a:t>lse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1600" dirty="0">
              <a:latin typeface="微软雅黑"/>
              <a:cs typeface="微软雅黑"/>
            </a:endParaRPr>
          </a:p>
          <a:p>
            <a:pPr marR="3652520" algn="ctr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微软雅黑"/>
                <a:cs typeface="微软雅黑"/>
              </a:rPr>
              <a:t>执行语句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1270" dirty="0">
                <a:solidFill>
                  <a:srgbClr val="1F487C"/>
                </a:solidFill>
                <a:latin typeface="Segoe UI Symbol"/>
                <a:cs typeface="Segoe UI Symbol"/>
              </a:rPr>
              <a:t>⚫</a:t>
            </a:r>
            <a:r>
              <a:rPr sz="1800" dirty="0" err="1">
                <a:solidFill>
                  <a:srgbClr val="1F487C"/>
                </a:solidFill>
                <a:latin typeface="微软雅黑"/>
                <a:cs typeface="微软雅黑"/>
              </a:rPr>
              <a:t>使用上述语句，根据速度，打印不同的提示内容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0" y="2793492"/>
            <a:ext cx="3485388" cy="1703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88275" y="5278754"/>
          <a:ext cx="7855495" cy="802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9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速度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低于60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[6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-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120]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高于120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8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22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提示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当前低于最低限速，请加速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请保持当前速度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当前高于最高限速，请减速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22807"/>
            <a:ext cx="3545204" cy="169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流程控制语句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循环语句</a:t>
            </a:r>
            <a:endParaRPr sz="2400">
              <a:latin typeface="微软雅黑"/>
              <a:cs typeface="微软雅黑"/>
            </a:endParaRPr>
          </a:p>
          <a:p>
            <a:pPr marL="2004695">
              <a:lnSpc>
                <a:spcPct val="100000"/>
              </a:lnSpc>
              <a:spcBef>
                <a:spcPts val="1714"/>
              </a:spcBef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循环判断语句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67557"/>
            <a:ext cx="16738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37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while 循环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940" y="4222418"/>
            <a:ext cx="5568315" cy="229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37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00" dirty="0">
                <a:latin typeface="微软雅黑"/>
                <a:cs typeface="微软雅黑"/>
              </a:rPr>
              <a:t>for</a:t>
            </a:r>
            <a:r>
              <a:rPr sz="2000" spc="-15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循环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1600">
              <a:latin typeface="Times New Roman"/>
              <a:cs typeface="Times New Roman"/>
            </a:endParaRPr>
          </a:p>
          <a:p>
            <a:pPr marL="2252345">
              <a:lnSpc>
                <a:spcPct val="100000"/>
              </a:lnSpc>
            </a:pPr>
            <a:r>
              <a:rPr sz="2000" dirty="0">
                <a:latin typeface="微软雅黑"/>
                <a:cs typeface="微软雅黑"/>
              </a:rPr>
              <a:t>for</a:t>
            </a:r>
            <a:r>
              <a:rPr sz="2000" spc="-20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i </a:t>
            </a:r>
            <a:r>
              <a:rPr sz="2000" spc="-5" dirty="0">
                <a:latin typeface="微软雅黑"/>
                <a:cs typeface="微软雅黑"/>
              </a:rPr>
              <a:t>i</a:t>
            </a:r>
            <a:r>
              <a:rPr sz="2000" dirty="0">
                <a:latin typeface="微软雅黑"/>
                <a:cs typeface="微软雅黑"/>
              </a:rPr>
              <a:t>n range(1,10)</a:t>
            </a:r>
            <a:r>
              <a:rPr sz="2000" spc="-50" dirty="0">
                <a:latin typeface="微软雅黑"/>
                <a:cs typeface="微软雅黑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marL="302895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微软雅黑"/>
                <a:cs typeface="微软雅黑"/>
              </a:rPr>
              <a:t>print</a:t>
            </a:r>
            <a:r>
              <a:rPr sz="2000" spc="-5" dirty="0">
                <a:latin typeface="微软雅黑"/>
                <a:cs typeface="微软雅黑"/>
              </a:rPr>
              <a:t>(</a:t>
            </a:r>
            <a:r>
              <a:rPr sz="2000" spc="-10" dirty="0">
                <a:latin typeface="微软雅黑"/>
                <a:cs typeface="微软雅黑"/>
              </a:rPr>
              <a:t>i</a:t>
            </a:r>
            <a:r>
              <a:rPr sz="2000" dirty="0">
                <a:latin typeface="微软雅黑"/>
                <a:cs typeface="微软雅黑"/>
              </a:rPr>
              <a:t>)</a:t>
            </a:r>
            <a:endParaRPr sz="2000">
              <a:latin typeface="微软雅黑"/>
              <a:cs typeface="微软雅黑"/>
            </a:endParaRPr>
          </a:p>
          <a:p>
            <a:pPr marL="1839595" indent="2697480">
              <a:lnSpc>
                <a:spcPct val="100000"/>
              </a:lnSpc>
              <a:spcBef>
                <a:spcPts val="600"/>
              </a:spcBef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左闭右开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250">
              <a:latin typeface="Times New Roman"/>
              <a:cs typeface="Times New Roman"/>
            </a:endParaRPr>
          </a:p>
          <a:p>
            <a:pPr marL="1839595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注意缩进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9253" y="3155442"/>
            <a:ext cx="4091940" cy="990600"/>
          </a:xfrm>
          <a:prstGeom prst="rect">
            <a:avLst/>
          </a:prstGeom>
          <a:ln w="25908">
            <a:solidFill>
              <a:srgbClr val="1F48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6839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b</a:t>
            </a:r>
            <a:r>
              <a:rPr sz="1600" spc="-30" dirty="0">
                <a:latin typeface="微软雅黑"/>
                <a:cs typeface="微软雅黑"/>
              </a:rPr>
              <a:t>r</a:t>
            </a:r>
            <a:r>
              <a:rPr sz="1600" spc="-15" dirty="0">
                <a:latin typeface="微软雅黑"/>
                <a:cs typeface="微软雅黑"/>
              </a:rPr>
              <a:t>e</a:t>
            </a:r>
            <a:r>
              <a:rPr sz="1600" spc="-5" dirty="0">
                <a:latin typeface="微软雅黑"/>
                <a:cs typeface="微软雅黑"/>
              </a:rPr>
              <a:t>a</a:t>
            </a:r>
            <a:r>
              <a:rPr sz="1600" spc="50" dirty="0">
                <a:latin typeface="微软雅黑"/>
                <a:cs typeface="微软雅黑"/>
              </a:rPr>
              <a:t>k</a:t>
            </a:r>
            <a:r>
              <a:rPr sz="1600" spc="-5" dirty="0">
                <a:latin typeface="微软雅黑"/>
                <a:cs typeface="微软雅黑"/>
              </a:rPr>
              <a:t>:</a:t>
            </a:r>
            <a:r>
              <a:rPr sz="1600" spc="3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提前停止循环，直接运行下一块</a:t>
            </a:r>
            <a:r>
              <a:rPr sz="1600" spc="0" dirty="0">
                <a:latin typeface="微软雅黑"/>
                <a:cs typeface="微软雅黑"/>
              </a:rPr>
              <a:t>代</a:t>
            </a:r>
            <a:r>
              <a:rPr sz="1600" spc="-5" dirty="0">
                <a:latin typeface="微软雅黑"/>
                <a:cs typeface="微软雅黑"/>
              </a:rPr>
              <a:t>码</a:t>
            </a:r>
            <a:endParaRPr sz="1600">
              <a:latin typeface="微软雅黑"/>
              <a:cs typeface="微软雅黑"/>
            </a:endParaRPr>
          </a:p>
          <a:p>
            <a:pPr marL="116839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微软雅黑"/>
                <a:cs typeface="微软雅黑"/>
              </a:rPr>
              <a:t>c</a:t>
            </a:r>
            <a:r>
              <a:rPr sz="1600" dirty="0">
                <a:latin typeface="微软雅黑"/>
                <a:cs typeface="微软雅黑"/>
              </a:rPr>
              <a:t>o</a:t>
            </a:r>
            <a:r>
              <a:rPr sz="1600" spc="-10" dirty="0">
                <a:latin typeface="微软雅黑"/>
                <a:cs typeface="微软雅黑"/>
              </a:rPr>
              <a:t>n</a:t>
            </a:r>
            <a:r>
              <a:rPr sz="1600" spc="-5" dirty="0">
                <a:latin typeface="微软雅黑"/>
                <a:cs typeface="微软雅黑"/>
              </a:rPr>
              <a:t>t</a:t>
            </a:r>
            <a:r>
              <a:rPr sz="1600" spc="-10" dirty="0">
                <a:latin typeface="微软雅黑"/>
                <a:cs typeface="微软雅黑"/>
              </a:rPr>
              <a:t>inu</a:t>
            </a:r>
            <a:r>
              <a:rPr sz="1600" spc="-15" dirty="0">
                <a:latin typeface="微软雅黑"/>
                <a:cs typeface="微软雅黑"/>
              </a:rPr>
              <a:t>e</a:t>
            </a:r>
            <a:r>
              <a:rPr sz="1600" spc="-5" dirty="0">
                <a:latin typeface="微软雅黑"/>
                <a:cs typeface="微软雅黑"/>
              </a:rPr>
              <a:t>:</a:t>
            </a:r>
            <a:r>
              <a:rPr sz="1600" spc="2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跳过当前循环，进入下一次循环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1038" y="2569464"/>
            <a:ext cx="580390" cy="697230"/>
          </a:xfrm>
          <a:custGeom>
            <a:avLst/>
            <a:gdLst/>
            <a:ahLst/>
            <a:cxnLst/>
            <a:rect l="l" t="t" r="r" b="b"/>
            <a:pathLst>
              <a:path w="580389" h="697229">
                <a:moveTo>
                  <a:pt x="526327" y="54580"/>
                </a:moveTo>
                <a:lnTo>
                  <a:pt x="0" y="688975"/>
                </a:lnTo>
                <a:lnTo>
                  <a:pt x="9651" y="697102"/>
                </a:lnTo>
                <a:lnTo>
                  <a:pt x="536106" y="62705"/>
                </a:lnTo>
                <a:lnTo>
                  <a:pt x="526327" y="54580"/>
                </a:lnTo>
                <a:close/>
              </a:path>
              <a:path w="580389" h="697229">
                <a:moveTo>
                  <a:pt x="569377" y="44831"/>
                </a:moveTo>
                <a:lnTo>
                  <a:pt x="534415" y="44831"/>
                </a:lnTo>
                <a:lnTo>
                  <a:pt x="544195" y="52959"/>
                </a:lnTo>
                <a:lnTo>
                  <a:pt x="536106" y="62705"/>
                </a:lnTo>
                <a:lnTo>
                  <a:pt x="560451" y="82931"/>
                </a:lnTo>
                <a:lnTo>
                  <a:pt x="569377" y="44831"/>
                </a:lnTo>
                <a:close/>
              </a:path>
              <a:path w="580389" h="697229">
                <a:moveTo>
                  <a:pt x="534415" y="44831"/>
                </a:moveTo>
                <a:lnTo>
                  <a:pt x="526327" y="54580"/>
                </a:lnTo>
                <a:lnTo>
                  <a:pt x="536106" y="62705"/>
                </a:lnTo>
                <a:lnTo>
                  <a:pt x="544195" y="52959"/>
                </a:lnTo>
                <a:lnTo>
                  <a:pt x="534415" y="44831"/>
                </a:lnTo>
                <a:close/>
              </a:path>
              <a:path w="580389" h="697229">
                <a:moveTo>
                  <a:pt x="579882" y="0"/>
                </a:moveTo>
                <a:lnTo>
                  <a:pt x="501903" y="34289"/>
                </a:lnTo>
                <a:lnTo>
                  <a:pt x="526327" y="54580"/>
                </a:lnTo>
                <a:lnTo>
                  <a:pt x="534415" y="44831"/>
                </a:lnTo>
                <a:lnTo>
                  <a:pt x="569377" y="44831"/>
                </a:lnTo>
                <a:lnTo>
                  <a:pt x="57988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40097" y="2144190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注意冒号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76220" y="3277792"/>
            <a:ext cx="151447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微软雅黑"/>
                <a:cs typeface="微软雅黑"/>
              </a:rPr>
              <a:t>whi</a:t>
            </a:r>
            <a:r>
              <a:rPr sz="2000" spc="-10" dirty="0">
                <a:latin typeface="微软雅黑"/>
                <a:cs typeface="微软雅黑"/>
              </a:rPr>
              <a:t>l</a:t>
            </a:r>
            <a:r>
              <a:rPr sz="2000" dirty="0">
                <a:latin typeface="微软雅黑"/>
                <a:cs typeface="微软雅黑"/>
              </a:rPr>
              <a:t>e</a:t>
            </a:r>
            <a:r>
              <a:rPr sz="2000" spc="5" dirty="0">
                <a:latin typeface="微软雅黑"/>
                <a:cs typeface="微软雅黑"/>
              </a:rPr>
              <a:t> </a:t>
            </a:r>
            <a:r>
              <a:rPr sz="2000" spc="-190" dirty="0">
                <a:latin typeface="微软雅黑"/>
                <a:cs typeface="微软雅黑"/>
              </a:rPr>
              <a:t>T</a:t>
            </a:r>
            <a:r>
              <a:rPr sz="2000" dirty="0">
                <a:latin typeface="微软雅黑"/>
                <a:cs typeface="微软雅黑"/>
              </a:rPr>
              <a:t>ru</a:t>
            </a:r>
            <a:r>
              <a:rPr sz="2000" spc="5" dirty="0">
                <a:latin typeface="微软雅黑"/>
                <a:cs typeface="微软雅黑"/>
              </a:rPr>
              <a:t>e</a:t>
            </a:r>
            <a:r>
              <a:rPr sz="2000" b="1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marL="7747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微软雅黑"/>
                <a:cs typeface="微软雅黑"/>
              </a:rPr>
              <a:t>执行语句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63111" y="2581655"/>
            <a:ext cx="76200" cy="635635"/>
          </a:xfrm>
          <a:custGeom>
            <a:avLst/>
            <a:gdLst/>
            <a:ahLst/>
            <a:cxnLst/>
            <a:rect l="l" t="t" r="r" b="b"/>
            <a:pathLst>
              <a:path w="76200" h="635635">
                <a:moveTo>
                  <a:pt x="44450" y="63500"/>
                </a:moveTo>
                <a:lnTo>
                  <a:pt x="31750" y="63500"/>
                </a:lnTo>
                <a:lnTo>
                  <a:pt x="31750" y="635635"/>
                </a:lnTo>
                <a:lnTo>
                  <a:pt x="44450" y="635635"/>
                </a:lnTo>
                <a:lnTo>
                  <a:pt x="44450" y="63500"/>
                </a:lnTo>
                <a:close/>
              </a:path>
              <a:path w="76200" h="63563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3563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41800" y="5080634"/>
            <a:ext cx="741680" cy="603250"/>
          </a:xfrm>
          <a:custGeom>
            <a:avLst/>
            <a:gdLst/>
            <a:ahLst/>
            <a:cxnLst/>
            <a:rect l="l" t="t" r="r" b="b"/>
            <a:pathLst>
              <a:path w="741679" h="603250">
                <a:moveTo>
                  <a:pt x="678360" y="560105"/>
                </a:moveTo>
                <a:lnTo>
                  <a:pt x="658367" y="584746"/>
                </a:lnTo>
                <a:lnTo>
                  <a:pt x="741552" y="603161"/>
                </a:lnTo>
                <a:lnTo>
                  <a:pt x="725653" y="568096"/>
                </a:lnTo>
                <a:lnTo>
                  <a:pt x="688213" y="568096"/>
                </a:lnTo>
                <a:lnTo>
                  <a:pt x="678360" y="560105"/>
                </a:lnTo>
                <a:close/>
              </a:path>
              <a:path w="741679" h="603250">
                <a:moveTo>
                  <a:pt x="686364" y="550239"/>
                </a:moveTo>
                <a:lnTo>
                  <a:pt x="678360" y="560105"/>
                </a:lnTo>
                <a:lnTo>
                  <a:pt x="688213" y="568096"/>
                </a:lnTo>
                <a:lnTo>
                  <a:pt x="696213" y="558228"/>
                </a:lnTo>
                <a:lnTo>
                  <a:pt x="686364" y="550239"/>
                </a:lnTo>
                <a:close/>
              </a:path>
              <a:path w="741679" h="603250">
                <a:moveTo>
                  <a:pt x="706374" y="525576"/>
                </a:moveTo>
                <a:lnTo>
                  <a:pt x="686364" y="550239"/>
                </a:lnTo>
                <a:lnTo>
                  <a:pt x="696213" y="558228"/>
                </a:lnTo>
                <a:lnTo>
                  <a:pt x="688213" y="568096"/>
                </a:lnTo>
                <a:lnTo>
                  <a:pt x="725653" y="568096"/>
                </a:lnTo>
                <a:lnTo>
                  <a:pt x="706374" y="525576"/>
                </a:lnTo>
                <a:close/>
              </a:path>
              <a:path w="741679" h="603250">
                <a:moveTo>
                  <a:pt x="8000" y="0"/>
                </a:moveTo>
                <a:lnTo>
                  <a:pt x="0" y="9906"/>
                </a:lnTo>
                <a:lnTo>
                  <a:pt x="678360" y="560105"/>
                </a:lnTo>
                <a:lnTo>
                  <a:pt x="686364" y="550239"/>
                </a:lnTo>
                <a:lnTo>
                  <a:pt x="8000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45307" y="5414771"/>
            <a:ext cx="76200" cy="661035"/>
          </a:xfrm>
          <a:custGeom>
            <a:avLst/>
            <a:gdLst/>
            <a:ahLst/>
            <a:cxnLst/>
            <a:rect l="l" t="t" r="r" b="b"/>
            <a:pathLst>
              <a:path w="76200" h="661035">
                <a:moveTo>
                  <a:pt x="31750" y="584619"/>
                </a:moveTo>
                <a:lnTo>
                  <a:pt x="0" y="584619"/>
                </a:lnTo>
                <a:lnTo>
                  <a:pt x="38100" y="660819"/>
                </a:lnTo>
                <a:lnTo>
                  <a:pt x="69850" y="597319"/>
                </a:lnTo>
                <a:lnTo>
                  <a:pt x="31750" y="597319"/>
                </a:lnTo>
                <a:lnTo>
                  <a:pt x="31750" y="584619"/>
                </a:lnTo>
                <a:close/>
              </a:path>
              <a:path w="76200" h="661035">
                <a:moveTo>
                  <a:pt x="44450" y="0"/>
                </a:moveTo>
                <a:lnTo>
                  <a:pt x="31750" y="0"/>
                </a:lnTo>
                <a:lnTo>
                  <a:pt x="31750" y="597319"/>
                </a:lnTo>
                <a:lnTo>
                  <a:pt x="44450" y="597319"/>
                </a:lnTo>
                <a:lnTo>
                  <a:pt x="44450" y="0"/>
                </a:lnTo>
                <a:close/>
              </a:path>
              <a:path w="76200" h="661035">
                <a:moveTo>
                  <a:pt x="76200" y="584619"/>
                </a:moveTo>
                <a:lnTo>
                  <a:pt x="44450" y="584619"/>
                </a:lnTo>
                <a:lnTo>
                  <a:pt x="44450" y="597319"/>
                </a:lnTo>
                <a:lnTo>
                  <a:pt x="69850" y="597319"/>
                </a:lnTo>
                <a:lnTo>
                  <a:pt x="76200" y="58461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22807"/>
            <a:ext cx="3072765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流程控制语句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循环语句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5279" y="2142742"/>
            <a:ext cx="2715768" cy="4642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01084" y="1318260"/>
            <a:ext cx="4812792" cy="1496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55876" y="1979676"/>
            <a:ext cx="1521460" cy="340360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冒泡排序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+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+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29355" y="4713732"/>
            <a:ext cx="3381755" cy="1408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06567" y="4514088"/>
            <a:ext cx="1813560" cy="33845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冒泡排序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P</a:t>
            </a:r>
            <a:r>
              <a:rPr sz="1600" spc="-15" dirty="0">
                <a:solidFill>
                  <a:srgbClr val="FFFFFF"/>
                </a:solidFill>
                <a:latin typeface="微软雅黑"/>
                <a:cs typeface="微软雅黑"/>
              </a:rPr>
              <a:t>y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thon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34028" y="3720084"/>
            <a:ext cx="3685031" cy="3063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180588" y="2779776"/>
          <a:ext cx="5856731" cy="1588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925"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01"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15mi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1600" spc="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试一试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25908">
                      <a:solidFill>
                        <a:srgbClr val="1F487C"/>
                      </a:solidFill>
                      <a:prstDash val="solid"/>
                    </a:lnR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1090">
                <a:tc gridSpan="3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使用P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y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tho</a:t>
                      </a:r>
                      <a:r>
                        <a:rPr sz="1600" spc="5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循环语句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对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8，6，7，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5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，1，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3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，4，2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进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行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冒</a:t>
                      </a:r>
                      <a:r>
                        <a:rPr sz="1600" b="1" spc="10" dirty="0">
                          <a:latin typeface="微软雅黑"/>
                          <a:cs typeface="微软雅黑"/>
                        </a:rPr>
                        <a:t>泡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排序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输出：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R w="25908">
                      <a:solidFill>
                        <a:srgbClr val="1F487C"/>
                      </a:solidFill>
                      <a:prstDash val="solid"/>
                    </a:lnR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4266" y="4507229"/>
            <a:ext cx="7876540" cy="1270000"/>
          </a:xfrm>
          <a:custGeom>
            <a:avLst/>
            <a:gdLst/>
            <a:ahLst/>
            <a:cxnLst/>
            <a:rect l="l" t="t" r="r" b="b"/>
            <a:pathLst>
              <a:path w="7876540" h="1270000">
                <a:moveTo>
                  <a:pt x="0" y="1269492"/>
                </a:moveTo>
                <a:lnTo>
                  <a:pt x="7876032" y="1269492"/>
                </a:lnTo>
                <a:lnTo>
                  <a:pt x="7876032" y="0"/>
                </a:lnTo>
                <a:lnTo>
                  <a:pt x="0" y="0"/>
                </a:lnTo>
                <a:lnTo>
                  <a:pt x="0" y="1269492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722807"/>
            <a:ext cx="3072765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流程控制语句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让程序更加抽象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43171" y="618744"/>
            <a:ext cx="4812791" cy="1496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1416" y="2791967"/>
            <a:ext cx="3381755" cy="1408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2852" y="2310941"/>
            <a:ext cx="800394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使用P</a:t>
            </a:r>
            <a:r>
              <a:rPr sz="2000" spc="-10" dirty="0">
                <a:latin typeface="微软雅黑"/>
                <a:cs typeface="微软雅黑"/>
              </a:rPr>
              <a:t>y</a:t>
            </a:r>
            <a:r>
              <a:rPr sz="2000" dirty="0">
                <a:latin typeface="微软雅黑"/>
                <a:cs typeface="微软雅黑"/>
              </a:rPr>
              <a:t>tho</a:t>
            </a:r>
            <a:r>
              <a:rPr sz="2000" spc="-5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循环语句对8，6，7，5，1，3，4，2</a:t>
            </a:r>
            <a:r>
              <a:rPr sz="2000" spc="-15" dirty="0">
                <a:latin typeface="微软雅黑"/>
                <a:cs typeface="微软雅黑"/>
              </a:rPr>
              <a:t>进</a:t>
            </a:r>
            <a:r>
              <a:rPr sz="2000" dirty="0">
                <a:latin typeface="微软雅黑"/>
                <a:cs typeface="微软雅黑"/>
              </a:rPr>
              <a:t>行冒</a:t>
            </a:r>
            <a:r>
              <a:rPr sz="2000" spc="-15" dirty="0">
                <a:latin typeface="微软雅黑"/>
                <a:cs typeface="微软雅黑"/>
              </a:rPr>
              <a:t>泡</a:t>
            </a:r>
            <a:r>
              <a:rPr sz="2000" dirty="0">
                <a:latin typeface="微软雅黑"/>
                <a:cs typeface="微软雅黑"/>
              </a:rPr>
              <a:t>排序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195" y="4733544"/>
            <a:ext cx="3380740" cy="174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1700" spc="580" dirty="0">
                <a:solidFill>
                  <a:srgbClr val="4F81BC"/>
                </a:solidFill>
                <a:latin typeface="Segoe UI Symbol"/>
                <a:cs typeface="Segoe UI Symbol"/>
              </a:rPr>
              <a:t>•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如何简单修改，使用上</a:t>
            </a:r>
            <a:r>
              <a:rPr sz="2000" spc="-10" dirty="0">
                <a:latin typeface="微软雅黑"/>
                <a:cs typeface="微软雅黑"/>
              </a:rPr>
              <a:t>述</a:t>
            </a:r>
            <a:r>
              <a:rPr sz="2000" dirty="0">
                <a:latin typeface="微软雅黑"/>
                <a:cs typeface="微软雅黑"/>
              </a:rPr>
              <a:t>循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58055" y="4733544"/>
            <a:ext cx="4006850" cy="1135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715">
              <a:lnSpc>
                <a:spcPct val="100000"/>
              </a:lnSpc>
            </a:pPr>
            <a:r>
              <a:rPr sz="2000" spc="-10" dirty="0">
                <a:latin typeface="微软雅黑"/>
                <a:cs typeface="微软雅黑"/>
              </a:rPr>
              <a:t>语</a:t>
            </a:r>
            <a:r>
              <a:rPr sz="2000" dirty="0">
                <a:latin typeface="微软雅黑"/>
                <a:cs typeface="微软雅黑"/>
              </a:rPr>
              <a:t>句对</a:t>
            </a:r>
            <a:r>
              <a:rPr sz="2000" spc="-10" dirty="0">
                <a:latin typeface="微软雅黑"/>
                <a:cs typeface="微软雅黑"/>
              </a:rPr>
              <a:t>任</a:t>
            </a:r>
            <a:r>
              <a:rPr sz="2000" dirty="0">
                <a:latin typeface="微软雅黑"/>
                <a:cs typeface="微软雅黑"/>
              </a:rPr>
              <a:t>意数</a:t>
            </a:r>
            <a:r>
              <a:rPr sz="2000" spc="-10" dirty="0">
                <a:latin typeface="微软雅黑"/>
                <a:cs typeface="微软雅黑"/>
              </a:rPr>
              <a:t>组</a:t>
            </a:r>
            <a:r>
              <a:rPr sz="2000" dirty="0">
                <a:latin typeface="微软雅黑"/>
                <a:cs typeface="微软雅黑"/>
              </a:rPr>
              <a:t>进行</a:t>
            </a:r>
            <a:r>
              <a:rPr sz="2000" spc="-10" dirty="0">
                <a:latin typeface="微软雅黑"/>
                <a:cs typeface="微软雅黑"/>
              </a:rPr>
              <a:t>冒</a:t>
            </a:r>
            <a:r>
              <a:rPr sz="2000" dirty="0">
                <a:latin typeface="微软雅黑"/>
                <a:cs typeface="微软雅黑"/>
              </a:rPr>
              <a:t>泡排</a:t>
            </a:r>
            <a:r>
              <a:rPr sz="2000" spc="-10" dirty="0">
                <a:latin typeface="微软雅黑"/>
                <a:cs typeface="微软雅黑"/>
              </a:rPr>
              <a:t>序</a:t>
            </a:r>
            <a:r>
              <a:rPr sz="2000" spc="5" dirty="0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6740" y="5004113"/>
            <a:ext cx="126301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dirty="0">
                <a:latin typeface="微软雅黑"/>
                <a:cs typeface="微软雅黑"/>
              </a:rPr>
              <a:t>环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6195" y="4733544"/>
            <a:ext cx="3380232" cy="1744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58055" y="4733544"/>
            <a:ext cx="4006596" cy="1135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32347" y="4733544"/>
            <a:ext cx="2298192" cy="3855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58055" y="5013959"/>
            <a:ext cx="1141476" cy="2118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0287" y="4337303"/>
            <a:ext cx="1522730" cy="338455"/>
          </a:xfrm>
          <a:custGeom>
            <a:avLst/>
            <a:gdLst/>
            <a:ahLst/>
            <a:cxnLst/>
            <a:rect l="l" t="t" r="r" b="b"/>
            <a:pathLst>
              <a:path w="1522730" h="338454">
                <a:moveTo>
                  <a:pt x="0" y="338328"/>
                </a:moveTo>
                <a:lnTo>
                  <a:pt x="1522476" y="338328"/>
                </a:lnTo>
                <a:lnTo>
                  <a:pt x="1522476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9942" y="4403786"/>
            <a:ext cx="11823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22807"/>
            <a:ext cx="4798060" cy="1805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内置函数</a:t>
            </a:r>
            <a:endParaRPr sz="2400" dirty="0">
              <a:latin typeface="微软雅黑"/>
              <a:cs typeface="微软雅黑"/>
            </a:endParaRPr>
          </a:p>
          <a:p>
            <a:pPr marL="467995">
              <a:lnSpc>
                <a:spcPct val="10000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标准函数，如幂运算</a:t>
            </a:r>
            <a:r>
              <a:rPr sz="2000" spc="5" dirty="0">
                <a:latin typeface="微软雅黑"/>
                <a:cs typeface="微软雅黑"/>
              </a:rPr>
              <a:t>用</a:t>
            </a:r>
            <a:r>
              <a:rPr sz="2000" spc="-10" dirty="0">
                <a:latin typeface="微软雅黑"/>
                <a:cs typeface="微软雅黑"/>
              </a:rPr>
              <a:t>p</a:t>
            </a:r>
            <a:r>
              <a:rPr sz="2000" dirty="0">
                <a:latin typeface="微软雅黑"/>
                <a:cs typeface="微软雅黑"/>
              </a:rPr>
              <a:t>o</a:t>
            </a:r>
            <a:r>
              <a:rPr sz="2000" spc="-15" dirty="0">
                <a:latin typeface="微软雅黑"/>
                <a:cs typeface="微软雅黑"/>
              </a:rPr>
              <a:t>w</a:t>
            </a:r>
            <a:r>
              <a:rPr sz="2000" dirty="0">
                <a:latin typeface="微软雅黑"/>
                <a:cs typeface="微软雅黑"/>
              </a:rPr>
              <a:t>()</a:t>
            </a:r>
          </a:p>
        </p:txBody>
      </p:sp>
      <p:sp>
        <p:nvSpPr>
          <p:cNvPr id="5" name="object 5"/>
          <p:cNvSpPr/>
          <p:nvPr/>
        </p:nvSpPr>
        <p:spPr>
          <a:xfrm>
            <a:off x="1005839" y="2630423"/>
            <a:ext cx="1677924" cy="1178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54807" y="3383279"/>
            <a:ext cx="403225" cy="76200"/>
          </a:xfrm>
          <a:custGeom>
            <a:avLst/>
            <a:gdLst/>
            <a:ahLst/>
            <a:cxnLst/>
            <a:rect l="l" t="t" r="r" b="b"/>
            <a:pathLst>
              <a:path w="403225" h="76200">
                <a:moveTo>
                  <a:pt x="326771" y="0"/>
                </a:moveTo>
                <a:lnTo>
                  <a:pt x="326771" y="76200"/>
                </a:lnTo>
                <a:lnTo>
                  <a:pt x="390271" y="44450"/>
                </a:lnTo>
                <a:lnTo>
                  <a:pt x="339471" y="44450"/>
                </a:lnTo>
                <a:lnTo>
                  <a:pt x="339471" y="31750"/>
                </a:lnTo>
                <a:lnTo>
                  <a:pt x="390271" y="31750"/>
                </a:lnTo>
                <a:lnTo>
                  <a:pt x="326771" y="0"/>
                </a:lnTo>
                <a:close/>
              </a:path>
              <a:path w="403225" h="76200">
                <a:moveTo>
                  <a:pt x="32677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6771" y="44450"/>
                </a:lnTo>
                <a:lnTo>
                  <a:pt x="326771" y="31750"/>
                </a:lnTo>
                <a:close/>
              </a:path>
              <a:path w="403225" h="76200">
                <a:moveTo>
                  <a:pt x="390271" y="31750"/>
                </a:moveTo>
                <a:lnTo>
                  <a:pt x="339471" y="31750"/>
                </a:lnTo>
                <a:lnTo>
                  <a:pt x="339471" y="44450"/>
                </a:lnTo>
                <a:lnTo>
                  <a:pt x="390271" y="44450"/>
                </a:lnTo>
                <a:lnTo>
                  <a:pt x="402971" y="38100"/>
                </a:lnTo>
                <a:lnTo>
                  <a:pt x="39027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1616" y="3289984"/>
            <a:ext cx="6646545" cy="1033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8365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调用pytho</a:t>
            </a:r>
            <a:r>
              <a:rPr sz="20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n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中标准函数，提供实参2，2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模块中的函数，如向下</a:t>
            </a:r>
            <a:r>
              <a:rPr sz="2000" spc="-15" dirty="0">
                <a:latin typeface="微软雅黑"/>
                <a:cs typeface="微软雅黑"/>
              </a:rPr>
              <a:t>取</a:t>
            </a:r>
            <a:r>
              <a:rPr sz="2000" dirty="0">
                <a:latin typeface="微软雅黑"/>
                <a:cs typeface="微软雅黑"/>
              </a:rPr>
              <a:t>整函</a:t>
            </a:r>
            <a:r>
              <a:rPr sz="2000" spc="-10" dirty="0">
                <a:latin typeface="微软雅黑"/>
                <a:cs typeface="微软雅黑"/>
              </a:rPr>
              <a:t>数</a:t>
            </a:r>
            <a:r>
              <a:rPr sz="2000" dirty="0">
                <a:latin typeface="微软雅黑"/>
                <a:cs typeface="微软雅黑"/>
              </a:rPr>
              <a:t>fl</a:t>
            </a:r>
            <a:r>
              <a:rPr sz="2000" spc="-10" dirty="0">
                <a:latin typeface="微软雅黑"/>
                <a:cs typeface="微软雅黑"/>
              </a:rPr>
              <a:t>o</a:t>
            </a:r>
            <a:r>
              <a:rPr sz="2000" dirty="0">
                <a:latin typeface="微软雅黑"/>
                <a:cs typeface="微软雅黑"/>
              </a:rPr>
              <a:t>or()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5240" y="4712208"/>
            <a:ext cx="403225" cy="76200"/>
          </a:xfrm>
          <a:custGeom>
            <a:avLst/>
            <a:gdLst/>
            <a:ahLst/>
            <a:cxnLst/>
            <a:rect l="l" t="t" r="r" b="b"/>
            <a:pathLst>
              <a:path w="403225" h="76200">
                <a:moveTo>
                  <a:pt x="326771" y="0"/>
                </a:moveTo>
                <a:lnTo>
                  <a:pt x="326771" y="76200"/>
                </a:lnTo>
                <a:lnTo>
                  <a:pt x="390271" y="44450"/>
                </a:lnTo>
                <a:lnTo>
                  <a:pt x="339471" y="44450"/>
                </a:lnTo>
                <a:lnTo>
                  <a:pt x="339471" y="31750"/>
                </a:lnTo>
                <a:lnTo>
                  <a:pt x="390271" y="31750"/>
                </a:lnTo>
                <a:lnTo>
                  <a:pt x="326771" y="0"/>
                </a:lnTo>
                <a:close/>
              </a:path>
              <a:path w="403225" h="76200">
                <a:moveTo>
                  <a:pt x="32677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6771" y="44450"/>
                </a:lnTo>
                <a:lnTo>
                  <a:pt x="326771" y="31750"/>
                </a:lnTo>
                <a:close/>
              </a:path>
              <a:path w="403225" h="76200">
                <a:moveTo>
                  <a:pt x="390271" y="31750"/>
                </a:moveTo>
                <a:lnTo>
                  <a:pt x="339471" y="31750"/>
                </a:lnTo>
                <a:lnTo>
                  <a:pt x="339471" y="44450"/>
                </a:lnTo>
                <a:lnTo>
                  <a:pt x="390271" y="44450"/>
                </a:lnTo>
                <a:lnTo>
                  <a:pt x="402971" y="38100"/>
                </a:lnTo>
                <a:lnTo>
                  <a:pt x="39027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25240" y="5114544"/>
            <a:ext cx="403225" cy="76200"/>
          </a:xfrm>
          <a:custGeom>
            <a:avLst/>
            <a:gdLst/>
            <a:ahLst/>
            <a:cxnLst/>
            <a:rect l="l" t="t" r="r" b="b"/>
            <a:pathLst>
              <a:path w="403225" h="76200">
                <a:moveTo>
                  <a:pt x="326771" y="0"/>
                </a:moveTo>
                <a:lnTo>
                  <a:pt x="326771" y="76199"/>
                </a:lnTo>
                <a:lnTo>
                  <a:pt x="390271" y="44449"/>
                </a:lnTo>
                <a:lnTo>
                  <a:pt x="339471" y="44449"/>
                </a:lnTo>
                <a:lnTo>
                  <a:pt x="339471" y="31749"/>
                </a:lnTo>
                <a:lnTo>
                  <a:pt x="390271" y="31749"/>
                </a:lnTo>
                <a:lnTo>
                  <a:pt x="326771" y="0"/>
                </a:lnTo>
                <a:close/>
              </a:path>
              <a:path w="403225" h="76200">
                <a:moveTo>
                  <a:pt x="326771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26771" y="44449"/>
                </a:lnTo>
                <a:lnTo>
                  <a:pt x="326771" y="31749"/>
                </a:lnTo>
                <a:close/>
              </a:path>
              <a:path w="403225" h="76200">
                <a:moveTo>
                  <a:pt x="390271" y="31749"/>
                </a:moveTo>
                <a:lnTo>
                  <a:pt x="339471" y="31749"/>
                </a:lnTo>
                <a:lnTo>
                  <a:pt x="339471" y="44449"/>
                </a:lnTo>
                <a:lnTo>
                  <a:pt x="390271" y="44449"/>
                </a:lnTo>
                <a:lnTo>
                  <a:pt x="402971" y="38099"/>
                </a:lnTo>
                <a:lnTo>
                  <a:pt x="390271" y="3174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09465" y="4533138"/>
            <a:ext cx="4029710" cy="797560"/>
          </a:xfrm>
          <a:prstGeom prst="rect">
            <a:avLst/>
          </a:prstGeom>
          <a:ln w="25908">
            <a:solidFill>
              <a:srgbClr val="1F48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ct val="100000"/>
              </a:lnSpc>
            </a:pP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使用命</a:t>
            </a:r>
            <a:r>
              <a:rPr sz="1800" u="heavy" spc="-10" dirty="0">
                <a:solidFill>
                  <a:srgbClr val="006FC0"/>
                </a:solidFill>
                <a:latin typeface="微软雅黑"/>
                <a:cs typeface="微软雅黑"/>
              </a:rPr>
              <a:t>令</a:t>
            </a:r>
            <a:r>
              <a:rPr sz="18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impo</a:t>
            </a:r>
            <a:r>
              <a:rPr sz="1800" u="heavy" spc="50" dirty="0">
                <a:solidFill>
                  <a:srgbClr val="006FC0"/>
                </a:solidFill>
                <a:latin typeface="微软雅黑"/>
                <a:cs typeface="微软雅黑"/>
              </a:rPr>
              <a:t>r</a:t>
            </a: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t导入模块</a:t>
            </a:r>
            <a:endParaRPr sz="1800">
              <a:latin typeface="微软雅黑"/>
              <a:cs typeface="微软雅黑"/>
            </a:endParaRPr>
          </a:p>
          <a:p>
            <a:pPr marL="193040">
              <a:lnSpc>
                <a:spcPct val="100000"/>
              </a:lnSpc>
              <a:spcBef>
                <a:spcPts val="1010"/>
              </a:spcBef>
            </a:pP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使用模块中的函数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5240" y="5617464"/>
            <a:ext cx="403225" cy="76200"/>
          </a:xfrm>
          <a:custGeom>
            <a:avLst/>
            <a:gdLst/>
            <a:ahLst/>
            <a:cxnLst/>
            <a:rect l="l" t="t" r="r" b="b"/>
            <a:pathLst>
              <a:path w="403225" h="76200">
                <a:moveTo>
                  <a:pt x="326771" y="0"/>
                </a:moveTo>
                <a:lnTo>
                  <a:pt x="326771" y="76200"/>
                </a:lnTo>
                <a:lnTo>
                  <a:pt x="390271" y="44450"/>
                </a:lnTo>
                <a:lnTo>
                  <a:pt x="339471" y="44450"/>
                </a:lnTo>
                <a:lnTo>
                  <a:pt x="339471" y="31750"/>
                </a:lnTo>
                <a:lnTo>
                  <a:pt x="390271" y="31750"/>
                </a:lnTo>
                <a:lnTo>
                  <a:pt x="326771" y="0"/>
                </a:lnTo>
                <a:close/>
              </a:path>
              <a:path w="403225" h="76200">
                <a:moveTo>
                  <a:pt x="32677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6771" y="44450"/>
                </a:lnTo>
                <a:lnTo>
                  <a:pt x="326771" y="31750"/>
                </a:lnTo>
                <a:close/>
              </a:path>
              <a:path w="403225" h="76200">
                <a:moveTo>
                  <a:pt x="390271" y="31750"/>
                </a:moveTo>
                <a:lnTo>
                  <a:pt x="339471" y="31750"/>
                </a:lnTo>
                <a:lnTo>
                  <a:pt x="339471" y="44450"/>
                </a:lnTo>
                <a:lnTo>
                  <a:pt x="390271" y="44450"/>
                </a:lnTo>
                <a:lnTo>
                  <a:pt x="402971" y="38100"/>
                </a:lnTo>
                <a:lnTo>
                  <a:pt x="39027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4467" y="6031991"/>
            <a:ext cx="471170" cy="76200"/>
          </a:xfrm>
          <a:custGeom>
            <a:avLst/>
            <a:gdLst/>
            <a:ahLst/>
            <a:cxnLst/>
            <a:rect l="l" t="t" r="r" b="b"/>
            <a:pathLst>
              <a:path w="471170" h="76200">
                <a:moveTo>
                  <a:pt x="394716" y="0"/>
                </a:moveTo>
                <a:lnTo>
                  <a:pt x="394716" y="76200"/>
                </a:lnTo>
                <a:lnTo>
                  <a:pt x="458216" y="44450"/>
                </a:lnTo>
                <a:lnTo>
                  <a:pt x="407416" y="44450"/>
                </a:lnTo>
                <a:lnTo>
                  <a:pt x="407416" y="31750"/>
                </a:lnTo>
                <a:lnTo>
                  <a:pt x="458216" y="31750"/>
                </a:lnTo>
                <a:lnTo>
                  <a:pt x="394716" y="0"/>
                </a:lnTo>
                <a:close/>
              </a:path>
              <a:path w="471170" h="76200">
                <a:moveTo>
                  <a:pt x="39471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716" y="44450"/>
                </a:lnTo>
                <a:lnTo>
                  <a:pt x="394716" y="31750"/>
                </a:lnTo>
                <a:close/>
              </a:path>
              <a:path w="471170" h="76200">
                <a:moveTo>
                  <a:pt x="458216" y="31750"/>
                </a:moveTo>
                <a:lnTo>
                  <a:pt x="407416" y="31750"/>
                </a:lnTo>
                <a:lnTo>
                  <a:pt x="407416" y="44450"/>
                </a:lnTo>
                <a:lnTo>
                  <a:pt x="458216" y="44450"/>
                </a:lnTo>
                <a:lnTo>
                  <a:pt x="470916" y="38100"/>
                </a:lnTo>
                <a:lnTo>
                  <a:pt x="458216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09465" y="5517641"/>
            <a:ext cx="4029710" cy="762000"/>
          </a:xfrm>
          <a:prstGeom prst="rect">
            <a:avLst/>
          </a:prstGeom>
          <a:ln w="25908">
            <a:solidFill>
              <a:srgbClr val="1F48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 marR="319405" indent="-8890">
              <a:lnSpc>
                <a:spcPct val="142900"/>
              </a:lnSpc>
            </a:pPr>
            <a:r>
              <a:rPr sz="1800" u="heavy" spc="-4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u="heavy" dirty="0">
                <a:solidFill>
                  <a:srgbClr val="006FC0"/>
                </a:solidFill>
                <a:latin typeface="微软雅黑"/>
                <a:cs typeface="微软雅黑"/>
              </a:rPr>
              <a:t>无同名函数</a:t>
            </a: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，可以使</a:t>
            </a:r>
            <a:r>
              <a:rPr sz="1800" u="heavy" spc="-10" dirty="0">
                <a:solidFill>
                  <a:srgbClr val="006FC0"/>
                </a:solidFill>
                <a:latin typeface="微软雅黑"/>
                <a:cs typeface="微软雅黑"/>
              </a:rPr>
              <a:t>用</a:t>
            </a:r>
            <a:r>
              <a:rPr sz="18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i</a:t>
            </a:r>
            <a:r>
              <a:rPr sz="1800" u="heavy" spc="5" dirty="0">
                <a:solidFill>
                  <a:srgbClr val="006FC0"/>
                </a:solidFill>
                <a:latin typeface="微软雅黑"/>
                <a:cs typeface="微软雅黑"/>
              </a:rPr>
              <a:t>m</a:t>
            </a:r>
            <a:r>
              <a:rPr sz="18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po</a:t>
            </a:r>
            <a:r>
              <a:rPr sz="1800" u="heavy" spc="45" dirty="0">
                <a:solidFill>
                  <a:srgbClr val="006FC0"/>
                </a:solidFill>
                <a:latin typeface="微软雅黑"/>
                <a:cs typeface="微软雅黑"/>
              </a:rPr>
              <a:t>r</a:t>
            </a:r>
            <a:r>
              <a:rPr sz="18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t</a:t>
            </a: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变种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此时无需制定模块前缀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05839" y="4547615"/>
            <a:ext cx="2941320" cy="1848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22807"/>
            <a:ext cx="4088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内置函数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2714244"/>
            <a:ext cx="5993892" cy="2528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191" y="2282376"/>
            <a:ext cx="415340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210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使用help()</a:t>
            </a:r>
            <a:r>
              <a:rPr sz="2000" spc="5" dirty="0">
                <a:latin typeface="微软雅黑"/>
                <a:cs typeface="微软雅黑"/>
              </a:rPr>
              <a:t>获取</a:t>
            </a:r>
            <a:r>
              <a:rPr sz="2000" spc="-5" dirty="0">
                <a:latin typeface="微软雅黑"/>
                <a:cs typeface="微软雅黑"/>
              </a:rPr>
              <a:t>有</a:t>
            </a:r>
            <a:r>
              <a:rPr sz="2000" spc="-10" dirty="0">
                <a:latin typeface="微软雅黑"/>
                <a:cs typeface="微软雅黑"/>
              </a:rPr>
              <a:t>关</a:t>
            </a:r>
            <a:r>
              <a:rPr sz="2000" spc="5" dirty="0">
                <a:latin typeface="微软雅黑"/>
                <a:cs typeface="微软雅黑"/>
              </a:rPr>
              <a:t>函数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spc="5" dirty="0">
                <a:latin typeface="微软雅黑"/>
                <a:cs typeface="微软雅黑"/>
              </a:rPr>
              <a:t>信息</a:t>
            </a:r>
            <a:endParaRPr sz="20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22807"/>
            <a:ext cx="4088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判断某个对象是否可以调用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8191" y="2282376"/>
            <a:ext cx="28987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buClr>
                <a:srgbClr val="4F81BC"/>
              </a:buClr>
              <a:buSzPct val="85000"/>
              <a:buFont typeface="Segoe UI Symbol"/>
              <a:buChar char="•"/>
              <a:tabLst>
                <a:tab pos="270510" algn="l"/>
              </a:tabLst>
            </a:pPr>
            <a:r>
              <a:rPr sz="2000" dirty="0">
                <a:latin typeface="微软雅黑"/>
                <a:cs typeface="微软雅黑"/>
              </a:rPr>
              <a:t>使用内置函数</a:t>
            </a:r>
            <a:r>
              <a:rPr sz="2000" spc="-5" dirty="0">
                <a:latin typeface="微软雅黑"/>
                <a:cs typeface="微软雅黑"/>
              </a:rPr>
              <a:t>ca</a:t>
            </a:r>
            <a:r>
              <a:rPr sz="2000" spc="-10" dirty="0">
                <a:latin typeface="微软雅黑"/>
                <a:cs typeface="微软雅黑"/>
              </a:rPr>
              <a:t>l</a:t>
            </a:r>
            <a:r>
              <a:rPr sz="2000" spc="-5" dirty="0">
                <a:latin typeface="微软雅黑"/>
                <a:cs typeface="微软雅黑"/>
              </a:rPr>
              <a:t>l</a:t>
            </a:r>
            <a:r>
              <a:rPr sz="2000" spc="-15" dirty="0">
                <a:latin typeface="微软雅黑"/>
                <a:cs typeface="微软雅黑"/>
              </a:rPr>
              <a:t>a</a:t>
            </a:r>
            <a:r>
              <a:rPr sz="2000" dirty="0">
                <a:latin typeface="微软雅黑"/>
                <a:cs typeface="微软雅黑"/>
              </a:rPr>
              <a:t>ble()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4711" y="2801111"/>
            <a:ext cx="2999232" cy="308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71898" y="3740834"/>
            <a:ext cx="42303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此时可以看作内置函数，能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够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被调用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1503" y="3828288"/>
            <a:ext cx="403225" cy="76200"/>
          </a:xfrm>
          <a:custGeom>
            <a:avLst/>
            <a:gdLst/>
            <a:ahLst/>
            <a:cxnLst/>
            <a:rect l="l" t="t" r="r" b="b"/>
            <a:pathLst>
              <a:path w="403225" h="76200">
                <a:moveTo>
                  <a:pt x="326771" y="0"/>
                </a:moveTo>
                <a:lnTo>
                  <a:pt x="326771" y="76200"/>
                </a:lnTo>
                <a:lnTo>
                  <a:pt x="390271" y="44450"/>
                </a:lnTo>
                <a:lnTo>
                  <a:pt x="339471" y="44450"/>
                </a:lnTo>
                <a:lnTo>
                  <a:pt x="339471" y="31750"/>
                </a:lnTo>
                <a:lnTo>
                  <a:pt x="390271" y="31750"/>
                </a:lnTo>
                <a:lnTo>
                  <a:pt x="326771" y="0"/>
                </a:lnTo>
                <a:close/>
              </a:path>
              <a:path w="403225" h="76200">
                <a:moveTo>
                  <a:pt x="32677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6771" y="44450"/>
                </a:lnTo>
                <a:lnTo>
                  <a:pt x="326771" y="31750"/>
                </a:lnTo>
                <a:close/>
              </a:path>
              <a:path w="403225" h="76200">
                <a:moveTo>
                  <a:pt x="390271" y="31750"/>
                </a:moveTo>
                <a:lnTo>
                  <a:pt x="339471" y="31750"/>
                </a:lnTo>
                <a:lnTo>
                  <a:pt x="339471" y="44450"/>
                </a:lnTo>
                <a:lnTo>
                  <a:pt x="390271" y="44450"/>
                </a:lnTo>
                <a:lnTo>
                  <a:pt x="402971" y="38100"/>
                </a:lnTo>
                <a:lnTo>
                  <a:pt x="39027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02938" y="5406820"/>
            <a:ext cx="669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调用y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25596" y="5494020"/>
            <a:ext cx="403225" cy="76200"/>
          </a:xfrm>
          <a:custGeom>
            <a:avLst/>
            <a:gdLst/>
            <a:ahLst/>
            <a:cxnLst/>
            <a:rect l="l" t="t" r="r" b="b"/>
            <a:pathLst>
              <a:path w="403225" h="76200">
                <a:moveTo>
                  <a:pt x="326770" y="0"/>
                </a:moveTo>
                <a:lnTo>
                  <a:pt x="326770" y="76199"/>
                </a:lnTo>
                <a:lnTo>
                  <a:pt x="390270" y="44449"/>
                </a:lnTo>
                <a:lnTo>
                  <a:pt x="339470" y="44449"/>
                </a:lnTo>
                <a:lnTo>
                  <a:pt x="339470" y="31749"/>
                </a:lnTo>
                <a:lnTo>
                  <a:pt x="390270" y="31749"/>
                </a:lnTo>
                <a:lnTo>
                  <a:pt x="326770" y="0"/>
                </a:lnTo>
                <a:close/>
              </a:path>
              <a:path w="403225" h="76200">
                <a:moveTo>
                  <a:pt x="32677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26770" y="44449"/>
                </a:lnTo>
                <a:lnTo>
                  <a:pt x="326770" y="31749"/>
                </a:lnTo>
                <a:close/>
              </a:path>
              <a:path w="403225" h="76200">
                <a:moveTo>
                  <a:pt x="390270" y="31749"/>
                </a:moveTo>
                <a:lnTo>
                  <a:pt x="339470" y="31749"/>
                </a:lnTo>
                <a:lnTo>
                  <a:pt x="339470" y="44449"/>
                </a:lnTo>
                <a:lnTo>
                  <a:pt x="390270" y="44449"/>
                </a:lnTo>
                <a:lnTo>
                  <a:pt x="402970" y="38099"/>
                </a:lnTo>
                <a:lnTo>
                  <a:pt x="390270" y="3174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02152" y="2924555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722807"/>
            <a:ext cx="4088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自定义函数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445" y="2754619"/>
            <a:ext cx="227266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3380" marR="5080" indent="-361315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add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_on</a:t>
            </a:r>
            <a:r>
              <a:rPr sz="2400" spc="-10" dirty="0">
                <a:solidFill>
                  <a:srgbClr val="A21515"/>
                </a:solidFill>
                <a:latin typeface="微软雅黑"/>
                <a:cs typeface="微软雅黑"/>
              </a:rPr>
              <a:t>e</a:t>
            </a:r>
            <a:r>
              <a:rPr sz="2400" spc="-5" dirty="0">
                <a:latin typeface="微软雅黑"/>
                <a:cs typeface="微软雅黑"/>
              </a:rPr>
              <a:t>(x): 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2400" spc="-15" dirty="0">
                <a:solidFill>
                  <a:srgbClr val="0000FF"/>
                </a:solidFill>
                <a:latin typeface="微软雅黑"/>
                <a:cs typeface="微软雅黑"/>
              </a:rPr>
              <a:t>e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turn </a:t>
            </a:r>
            <a:r>
              <a:rPr sz="2400" spc="-5" dirty="0">
                <a:latin typeface="微软雅黑"/>
                <a:cs typeface="微软雅黑"/>
              </a:rPr>
              <a:t>x</a:t>
            </a:r>
            <a:r>
              <a:rPr sz="2400" spc="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+</a:t>
            </a:r>
            <a:r>
              <a:rPr sz="2400" dirty="0">
                <a:latin typeface="微软雅黑"/>
                <a:cs typeface="微软雅黑"/>
              </a:rPr>
              <a:t> 1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7670" y="2784270"/>
            <a:ext cx="3103245" cy="671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54685">
              <a:lnSpc>
                <a:spcPct val="128299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函数名</a:t>
            </a:r>
            <a:r>
              <a:rPr sz="2000" u="heavy" spc="-10" dirty="0">
                <a:solidFill>
                  <a:srgbClr val="006FC0"/>
                </a:solidFill>
                <a:latin typeface="微软雅黑"/>
                <a:cs typeface="微软雅黑"/>
              </a:rPr>
              <a:t>称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(形参)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函数的返回值</a:t>
            </a:r>
            <a:r>
              <a:rPr sz="2000" u="heavy" spc="-3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赋值给变量</a:t>
            </a:r>
            <a:r>
              <a:rPr sz="2000" u="heavy" spc="-3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84677" y="3262884"/>
            <a:ext cx="753110" cy="76200"/>
          </a:xfrm>
          <a:custGeom>
            <a:avLst/>
            <a:gdLst/>
            <a:ahLst/>
            <a:cxnLst/>
            <a:rect l="l" t="t" r="r" b="b"/>
            <a:pathLst>
              <a:path w="753110" h="76200">
                <a:moveTo>
                  <a:pt x="677290" y="0"/>
                </a:moveTo>
                <a:lnTo>
                  <a:pt x="676866" y="31830"/>
                </a:lnTo>
                <a:lnTo>
                  <a:pt x="689610" y="32003"/>
                </a:lnTo>
                <a:lnTo>
                  <a:pt x="689356" y="44703"/>
                </a:lnTo>
                <a:lnTo>
                  <a:pt x="676694" y="44703"/>
                </a:lnTo>
                <a:lnTo>
                  <a:pt x="676275" y="76200"/>
                </a:lnTo>
                <a:lnTo>
                  <a:pt x="741424" y="44703"/>
                </a:lnTo>
                <a:lnTo>
                  <a:pt x="689356" y="44703"/>
                </a:lnTo>
                <a:lnTo>
                  <a:pt x="676697" y="44531"/>
                </a:lnTo>
                <a:lnTo>
                  <a:pt x="741781" y="44531"/>
                </a:lnTo>
                <a:lnTo>
                  <a:pt x="752983" y="39115"/>
                </a:lnTo>
                <a:lnTo>
                  <a:pt x="677290" y="0"/>
                </a:lnTo>
                <a:close/>
              </a:path>
              <a:path w="753110" h="76200">
                <a:moveTo>
                  <a:pt x="676866" y="31830"/>
                </a:moveTo>
                <a:lnTo>
                  <a:pt x="676697" y="44531"/>
                </a:lnTo>
                <a:lnTo>
                  <a:pt x="689356" y="44703"/>
                </a:lnTo>
                <a:lnTo>
                  <a:pt x="689610" y="32003"/>
                </a:lnTo>
                <a:lnTo>
                  <a:pt x="676866" y="31830"/>
                </a:lnTo>
                <a:close/>
              </a:path>
              <a:path w="753110" h="76200">
                <a:moveTo>
                  <a:pt x="253" y="22605"/>
                </a:moveTo>
                <a:lnTo>
                  <a:pt x="0" y="35305"/>
                </a:lnTo>
                <a:lnTo>
                  <a:pt x="676697" y="44531"/>
                </a:lnTo>
                <a:lnTo>
                  <a:pt x="676866" y="31830"/>
                </a:lnTo>
                <a:lnTo>
                  <a:pt x="253" y="2260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97834" y="2522220"/>
            <a:ext cx="394335" cy="364490"/>
          </a:xfrm>
          <a:custGeom>
            <a:avLst/>
            <a:gdLst/>
            <a:ahLst/>
            <a:cxnLst/>
            <a:rect l="l" t="t" r="r" b="b"/>
            <a:pathLst>
              <a:path w="394335" h="364489">
                <a:moveTo>
                  <a:pt x="333700" y="46955"/>
                </a:moveTo>
                <a:lnTo>
                  <a:pt x="0" y="354710"/>
                </a:lnTo>
                <a:lnTo>
                  <a:pt x="8636" y="364108"/>
                </a:lnTo>
                <a:lnTo>
                  <a:pt x="342356" y="56334"/>
                </a:lnTo>
                <a:lnTo>
                  <a:pt x="333700" y="46955"/>
                </a:lnTo>
                <a:close/>
              </a:path>
              <a:path w="394335" h="364489">
                <a:moveTo>
                  <a:pt x="379456" y="38353"/>
                </a:moveTo>
                <a:lnTo>
                  <a:pt x="343026" y="38353"/>
                </a:lnTo>
                <a:lnTo>
                  <a:pt x="351663" y="47751"/>
                </a:lnTo>
                <a:lnTo>
                  <a:pt x="342356" y="56334"/>
                </a:lnTo>
                <a:lnTo>
                  <a:pt x="363854" y="79628"/>
                </a:lnTo>
                <a:lnTo>
                  <a:pt x="379456" y="38353"/>
                </a:lnTo>
                <a:close/>
              </a:path>
              <a:path w="394335" h="364489">
                <a:moveTo>
                  <a:pt x="343026" y="38353"/>
                </a:moveTo>
                <a:lnTo>
                  <a:pt x="333700" y="46955"/>
                </a:lnTo>
                <a:lnTo>
                  <a:pt x="342356" y="56334"/>
                </a:lnTo>
                <a:lnTo>
                  <a:pt x="351663" y="47751"/>
                </a:lnTo>
                <a:lnTo>
                  <a:pt x="343026" y="38353"/>
                </a:lnTo>
                <a:close/>
              </a:path>
              <a:path w="394335" h="364489">
                <a:moveTo>
                  <a:pt x="393953" y="0"/>
                </a:moveTo>
                <a:lnTo>
                  <a:pt x="312165" y="23621"/>
                </a:lnTo>
                <a:lnTo>
                  <a:pt x="333700" y="46955"/>
                </a:lnTo>
                <a:lnTo>
                  <a:pt x="343026" y="38353"/>
                </a:lnTo>
                <a:lnTo>
                  <a:pt x="379456" y="38353"/>
                </a:lnTo>
                <a:lnTo>
                  <a:pt x="393953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43985" y="2197667"/>
            <a:ext cx="1043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注意冒号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49680" y="3875532"/>
            <a:ext cx="2467356" cy="1434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4552" y="4411979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25390" y="4272329"/>
            <a:ext cx="1723389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函数名称(实参)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8059" y="3493008"/>
            <a:ext cx="76200" cy="556895"/>
          </a:xfrm>
          <a:custGeom>
            <a:avLst/>
            <a:gdLst/>
            <a:ahLst/>
            <a:cxnLst/>
            <a:rect l="l" t="t" r="r" b="b"/>
            <a:pathLst>
              <a:path w="76200" h="556895">
                <a:moveTo>
                  <a:pt x="31750" y="480186"/>
                </a:moveTo>
                <a:lnTo>
                  <a:pt x="0" y="480186"/>
                </a:lnTo>
                <a:lnTo>
                  <a:pt x="38100" y="556386"/>
                </a:lnTo>
                <a:lnTo>
                  <a:pt x="69850" y="492886"/>
                </a:lnTo>
                <a:lnTo>
                  <a:pt x="31750" y="492886"/>
                </a:lnTo>
                <a:lnTo>
                  <a:pt x="31750" y="480186"/>
                </a:lnTo>
                <a:close/>
              </a:path>
              <a:path w="76200" h="556895">
                <a:moveTo>
                  <a:pt x="44450" y="0"/>
                </a:moveTo>
                <a:lnTo>
                  <a:pt x="31750" y="0"/>
                </a:lnTo>
                <a:lnTo>
                  <a:pt x="31750" y="492886"/>
                </a:lnTo>
                <a:lnTo>
                  <a:pt x="44450" y="492886"/>
                </a:lnTo>
                <a:lnTo>
                  <a:pt x="44450" y="0"/>
                </a:lnTo>
                <a:close/>
              </a:path>
              <a:path w="76200" h="556895">
                <a:moveTo>
                  <a:pt x="76200" y="480186"/>
                </a:moveTo>
                <a:lnTo>
                  <a:pt x="44450" y="480186"/>
                </a:lnTo>
                <a:lnTo>
                  <a:pt x="44450" y="492886"/>
                </a:lnTo>
                <a:lnTo>
                  <a:pt x="69850" y="492886"/>
                </a:lnTo>
                <a:lnTo>
                  <a:pt x="76200" y="480186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77228" y="2699004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546"/>
                </a:lnTo>
                <a:lnTo>
                  <a:pt x="44450" y="304546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76900" y="3480180"/>
            <a:ext cx="406400" cy="568325"/>
          </a:xfrm>
          <a:custGeom>
            <a:avLst/>
            <a:gdLst/>
            <a:ahLst/>
            <a:cxnLst/>
            <a:rect l="l" t="t" r="r" b="b"/>
            <a:pathLst>
              <a:path w="406400" h="568325">
                <a:moveTo>
                  <a:pt x="13080" y="483743"/>
                </a:moveTo>
                <a:lnTo>
                  <a:pt x="0" y="567944"/>
                </a:lnTo>
                <a:lnTo>
                  <a:pt x="75184" y="527939"/>
                </a:lnTo>
                <a:lnTo>
                  <a:pt x="63941" y="519938"/>
                </a:lnTo>
                <a:lnTo>
                  <a:pt x="41910" y="519938"/>
                </a:lnTo>
                <a:lnTo>
                  <a:pt x="31623" y="512572"/>
                </a:lnTo>
                <a:lnTo>
                  <a:pt x="39001" y="502189"/>
                </a:lnTo>
                <a:lnTo>
                  <a:pt x="13080" y="483743"/>
                </a:lnTo>
                <a:close/>
              </a:path>
              <a:path w="406400" h="568325">
                <a:moveTo>
                  <a:pt x="39001" y="502189"/>
                </a:moveTo>
                <a:lnTo>
                  <a:pt x="31623" y="512572"/>
                </a:lnTo>
                <a:lnTo>
                  <a:pt x="41910" y="519938"/>
                </a:lnTo>
                <a:lnTo>
                  <a:pt x="49309" y="509525"/>
                </a:lnTo>
                <a:lnTo>
                  <a:pt x="39001" y="502189"/>
                </a:lnTo>
                <a:close/>
              </a:path>
              <a:path w="406400" h="568325">
                <a:moveTo>
                  <a:pt x="49309" y="509525"/>
                </a:moveTo>
                <a:lnTo>
                  <a:pt x="41910" y="519938"/>
                </a:lnTo>
                <a:lnTo>
                  <a:pt x="63941" y="519938"/>
                </a:lnTo>
                <a:lnTo>
                  <a:pt x="49309" y="509525"/>
                </a:lnTo>
                <a:close/>
              </a:path>
              <a:path w="406400" h="568325">
                <a:moveTo>
                  <a:pt x="395859" y="0"/>
                </a:moveTo>
                <a:lnTo>
                  <a:pt x="39001" y="502189"/>
                </a:lnTo>
                <a:lnTo>
                  <a:pt x="49309" y="509525"/>
                </a:lnTo>
                <a:lnTo>
                  <a:pt x="406146" y="7366"/>
                </a:lnTo>
                <a:lnTo>
                  <a:pt x="395859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95750" y="3190494"/>
            <a:ext cx="1109980" cy="76200"/>
          </a:xfrm>
          <a:custGeom>
            <a:avLst/>
            <a:gdLst/>
            <a:ahLst/>
            <a:cxnLst/>
            <a:rect l="l" t="t" r="r" b="b"/>
            <a:pathLst>
              <a:path w="11099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5"/>
                </a:lnTo>
                <a:lnTo>
                  <a:pt x="63500" y="48005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1109979" h="76200">
                <a:moveTo>
                  <a:pt x="1033399" y="0"/>
                </a:moveTo>
                <a:lnTo>
                  <a:pt x="1033399" y="76200"/>
                </a:lnTo>
                <a:lnTo>
                  <a:pt x="1089787" y="48005"/>
                </a:lnTo>
                <a:lnTo>
                  <a:pt x="1046099" y="48005"/>
                </a:lnTo>
                <a:lnTo>
                  <a:pt x="1046099" y="28193"/>
                </a:lnTo>
                <a:lnTo>
                  <a:pt x="1089786" y="28193"/>
                </a:lnTo>
                <a:lnTo>
                  <a:pt x="1033399" y="0"/>
                </a:lnTo>
                <a:close/>
              </a:path>
              <a:path w="1109979" h="76200">
                <a:moveTo>
                  <a:pt x="76200" y="28193"/>
                </a:moveTo>
                <a:lnTo>
                  <a:pt x="63500" y="28193"/>
                </a:lnTo>
                <a:lnTo>
                  <a:pt x="63500" y="48005"/>
                </a:lnTo>
                <a:lnTo>
                  <a:pt x="76200" y="48005"/>
                </a:lnTo>
                <a:lnTo>
                  <a:pt x="76200" y="28193"/>
                </a:lnTo>
                <a:close/>
              </a:path>
              <a:path w="1109979" h="76200">
                <a:moveTo>
                  <a:pt x="1033399" y="28193"/>
                </a:moveTo>
                <a:lnTo>
                  <a:pt x="76200" y="28193"/>
                </a:lnTo>
                <a:lnTo>
                  <a:pt x="76200" y="48005"/>
                </a:lnTo>
                <a:lnTo>
                  <a:pt x="1033399" y="48005"/>
                </a:lnTo>
                <a:lnTo>
                  <a:pt x="1033399" y="28193"/>
                </a:lnTo>
                <a:close/>
              </a:path>
              <a:path w="1109979" h="76200">
                <a:moveTo>
                  <a:pt x="1089786" y="28193"/>
                </a:moveTo>
                <a:lnTo>
                  <a:pt x="1046099" y="28193"/>
                </a:lnTo>
                <a:lnTo>
                  <a:pt x="1046099" y="48005"/>
                </a:lnTo>
                <a:lnTo>
                  <a:pt x="1089787" y="48005"/>
                </a:lnTo>
                <a:lnTo>
                  <a:pt x="1109599" y="38100"/>
                </a:lnTo>
                <a:lnTo>
                  <a:pt x="1089786" y="28193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722807"/>
            <a:ext cx="6757034" cy="192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自定义函数</a:t>
            </a:r>
            <a:endParaRPr sz="2400">
              <a:latin typeface="微软雅黑"/>
              <a:cs typeface="微软雅黑"/>
            </a:endParaRPr>
          </a:p>
          <a:p>
            <a:pPr marL="467995">
              <a:lnSpc>
                <a:spcPts val="209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匿名函数</a:t>
            </a:r>
            <a:endParaRPr sz="2000">
              <a:latin typeface="微软雅黑"/>
              <a:cs typeface="微软雅黑"/>
            </a:endParaRPr>
          </a:p>
          <a:p>
            <a:pPr marR="5080" algn="r">
              <a:lnSpc>
                <a:spcPts val="209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函数参数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125" y="2898646"/>
            <a:ext cx="227330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add_on</a:t>
            </a:r>
            <a:r>
              <a:rPr sz="2400" spc="-15" dirty="0">
                <a:solidFill>
                  <a:srgbClr val="A21515"/>
                </a:solidFill>
                <a:latin typeface="微软雅黑"/>
                <a:cs typeface="微软雅黑"/>
              </a:rPr>
              <a:t>e</a:t>
            </a:r>
            <a:r>
              <a:rPr sz="2400" dirty="0">
                <a:latin typeface="微软雅黑"/>
                <a:cs typeface="微软雅黑"/>
              </a:rPr>
              <a:t>(x):</a:t>
            </a:r>
            <a:endParaRPr sz="2400">
              <a:latin typeface="微软雅黑"/>
              <a:cs typeface="微软雅黑"/>
            </a:endParaRPr>
          </a:p>
          <a:p>
            <a:pPr marL="374015">
              <a:lnSpc>
                <a:spcPct val="100000"/>
              </a:lnSpc>
            </a:pPr>
            <a:r>
              <a:rPr sz="2400" spc="-5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etur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n </a:t>
            </a:r>
            <a:r>
              <a:rPr sz="2400" spc="-5" dirty="0">
                <a:latin typeface="微软雅黑"/>
                <a:cs typeface="微软雅黑"/>
              </a:rPr>
              <a:t>x</a:t>
            </a:r>
            <a:r>
              <a:rPr sz="240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+</a:t>
            </a:r>
            <a:r>
              <a:rPr sz="2400" dirty="0">
                <a:latin typeface="微软雅黑"/>
                <a:cs typeface="微软雅黑"/>
              </a:rPr>
              <a:t> 1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4175" y="4122723"/>
            <a:ext cx="180721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函数定义关键字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0397" y="4122723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函数返回值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6852" y="3081527"/>
            <a:ext cx="226631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lambd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a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x: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x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+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1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74363" y="5189490"/>
            <a:ext cx="2659380" cy="58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没有函数名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只能在同一位置调用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2875" y="5141976"/>
            <a:ext cx="3009900" cy="697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22807"/>
            <a:ext cx="5483860" cy="1805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函数的参数能否修改</a:t>
            </a:r>
            <a:endParaRPr sz="2400" dirty="0">
              <a:latin typeface="微软雅黑"/>
              <a:cs typeface="微软雅黑"/>
            </a:endParaRPr>
          </a:p>
          <a:p>
            <a:pPr marL="467995">
              <a:lnSpc>
                <a:spcPct val="10000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参数不可变，如数、元</a:t>
            </a:r>
            <a:r>
              <a:rPr sz="2000" spc="-15" dirty="0">
                <a:latin typeface="微软雅黑"/>
                <a:cs typeface="微软雅黑"/>
              </a:rPr>
              <a:t>组</a:t>
            </a:r>
            <a:r>
              <a:rPr sz="2000" dirty="0">
                <a:latin typeface="微软雅黑"/>
                <a:cs typeface="微软雅黑"/>
              </a:rPr>
              <a:t>、字</a:t>
            </a:r>
            <a:r>
              <a:rPr sz="2000" spc="-15" dirty="0">
                <a:latin typeface="微软雅黑"/>
                <a:cs typeface="微软雅黑"/>
              </a:rPr>
              <a:t>符</a:t>
            </a:r>
            <a:r>
              <a:rPr sz="2000" dirty="0">
                <a:latin typeface="微软雅黑"/>
                <a:cs typeface="微软雅黑"/>
              </a:rPr>
              <a:t>串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445" y="2754619"/>
            <a:ext cx="306070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3380" marR="5080" indent="-361315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try_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to_chang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e</a:t>
            </a:r>
            <a:r>
              <a:rPr sz="2400" spc="-5" dirty="0">
                <a:latin typeface="微软雅黑"/>
                <a:cs typeface="微软雅黑"/>
              </a:rPr>
              <a:t>(x): 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x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=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 1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953" y="3792406"/>
            <a:ext cx="231648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函数外部给参数赋值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2953" y="4910631"/>
            <a:ext cx="3332479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函数内部赋值对外部没</a:t>
            </a: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有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影响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5952" y="3235451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96154" y="3094658"/>
            <a:ext cx="231648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函数内部给参数赋值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6403" y="3768852"/>
            <a:ext cx="3915155" cy="1627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29255" y="4145279"/>
            <a:ext cx="232867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6403" y="4328159"/>
            <a:ext cx="1068323" cy="1844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87140" y="3902964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02379" y="4998720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199"/>
                </a:lnTo>
                <a:lnTo>
                  <a:pt x="1176020" y="44449"/>
                </a:lnTo>
                <a:lnTo>
                  <a:pt x="1125220" y="44449"/>
                </a:lnTo>
                <a:lnTo>
                  <a:pt x="1125220" y="31749"/>
                </a:lnTo>
                <a:lnTo>
                  <a:pt x="1176020" y="31749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112520" y="44449"/>
                </a:lnTo>
                <a:lnTo>
                  <a:pt x="1112520" y="31749"/>
                </a:lnTo>
                <a:close/>
              </a:path>
              <a:path w="1188720" h="76200">
                <a:moveTo>
                  <a:pt x="1176020" y="31749"/>
                </a:moveTo>
                <a:lnTo>
                  <a:pt x="1125220" y="31749"/>
                </a:lnTo>
                <a:lnTo>
                  <a:pt x="1125220" y="44449"/>
                </a:lnTo>
                <a:lnTo>
                  <a:pt x="1176020" y="44449"/>
                </a:lnTo>
                <a:lnTo>
                  <a:pt x="1188720" y="38099"/>
                </a:lnTo>
                <a:lnTo>
                  <a:pt x="1176020" y="3174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22807"/>
            <a:ext cx="4088129" cy="170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函数的参数能否修改</a:t>
            </a:r>
            <a:endParaRPr sz="2400">
              <a:latin typeface="微软雅黑"/>
              <a:cs typeface="微软雅黑"/>
            </a:endParaRPr>
          </a:p>
          <a:p>
            <a:pPr marL="467995">
              <a:lnSpc>
                <a:spcPct val="10000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参数可变，如列表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445" y="2754619"/>
            <a:ext cx="306070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3380" marR="5080" indent="-361315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try_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to_chang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e</a:t>
            </a:r>
            <a:r>
              <a:rPr sz="2400" spc="-5" dirty="0">
                <a:latin typeface="微软雅黑"/>
                <a:cs typeface="微软雅黑"/>
              </a:rPr>
              <a:t>(x): 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x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 [0]=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1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5952" y="3235451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96154" y="3094658"/>
            <a:ext cx="231648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函数内部给参数赋值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1247" y="3688079"/>
            <a:ext cx="4094988" cy="1857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93284" y="3770933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外部赋值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93284" y="5109894"/>
            <a:ext cx="307848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函数内部赋值对外部有</a:t>
            </a: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影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响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24300" y="3895344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199"/>
                </a:lnTo>
                <a:lnTo>
                  <a:pt x="1176020" y="44449"/>
                </a:lnTo>
                <a:lnTo>
                  <a:pt x="1125220" y="44449"/>
                </a:lnTo>
                <a:lnTo>
                  <a:pt x="1125220" y="31749"/>
                </a:lnTo>
                <a:lnTo>
                  <a:pt x="1176020" y="31749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112520" y="44449"/>
                </a:lnTo>
                <a:lnTo>
                  <a:pt x="1112520" y="31749"/>
                </a:lnTo>
                <a:close/>
              </a:path>
              <a:path w="1188720" h="76200">
                <a:moveTo>
                  <a:pt x="1176020" y="31749"/>
                </a:moveTo>
                <a:lnTo>
                  <a:pt x="1125220" y="31749"/>
                </a:lnTo>
                <a:lnTo>
                  <a:pt x="1125220" y="44449"/>
                </a:lnTo>
                <a:lnTo>
                  <a:pt x="1176020" y="44449"/>
                </a:lnTo>
                <a:lnTo>
                  <a:pt x="1188720" y="38099"/>
                </a:lnTo>
                <a:lnTo>
                  <a:pt x="1176020" y="3174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7640" y="5234940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9923" y="4130040"/>
            <a:ext cx="2471928" cy="286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1247" y="4416552"/>
            <a:ext cx="1868424" cy="268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22807"/>
            <a:ext cx="6077585" cy="396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函数的参数能否修改</a:t>
            </a:r>
            <a:endParaRPr sz="2400">
              <a:latin typeface="微软雅黑"/>
              <a:cs typeface="微软雅黑"/>
            </a:endParaRPr>
          </a:p>
          <a:p>
            <a:pPr marL="467995">
              <a:lnSpc>
                <a:spcPct val="10000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变量关联的列表已被修改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396875">
              <a:lnSpc>
                <a:spcPct val="100000"/>
              </a:lnSpc>
            </a:pPr>
            <a:r>
              <a:rPr sz="18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1800" spc="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A21515"/>
                </a:solidFill>
                <a:latin typeface="微软雅黑"/>
                <a:cs typeface="微软雅黑"/>
              </a:rPr>
              <a:t>tr</a:t>
            </a:r>
            <a:r>
              <a:rPr sz="1800" spc="-15" dirty="0">
                <a:solidFill>
                  <a:srgbClr val="A21515"/>
                </a:solidFill>
                <a:latin typeface="微软雅黑"/>
                <a:cs typeface="微软雅黑"/>
              </a:rPr>
              <a:t>y</a:t>
            </a:r>
            <a:r>
              <a:rPr sz="1800" spc="-10" dirty="0">
                <a:solidFill>
                  <a:srgbClr val="A21515"/>
                </a:solidFill>
                <a:latin typeface="微软雅黑"/>
                <a:cs typeface="微软雅黑"/>
              </a:rPr>
              <a:t>_t</a:t>
            </a:r>
            <a:r>
              <a:rPr sz="1800" spc="-15" dirty="0">
                <a:solidFill>
                  <a:srgbClr val="A21515"/>
                </a:solidFill>
                <a:latin typeface="微软雅黑"/>
                <a:cs typeface="微软雅黑"/>
              </a:rPr>
              <a:t>o</a:t>
            </a:r>
            <a:r>
              <a:rPr sz="1800" spc="-5" dirty="0">
                <a:solidFill>
                  <a:srgbClr val="A21515"/>
                </a:solidFill>
                <a:latin typeface="微软雅黑"/>
                <a:cs typeface="微软雅黑"/>
              </a:rPr>
              <a:t>_c</a:t>
            </a:r>
            <a:r>
              <a:rPr sz="1800" spc="-10" dirty="0">
                <a:solidFill>
                  <a:srgbClr val="A21515"/>
                </a:solidFill>
                <a:latin typeface="微软雅黑"/>
                <a:cs typeface="微软雅黑"/>
              </a:rPr>
              <a:t>h</a:t>
            </a:r>
            <a:r>
              <a:rPr sz="1800" dirty="0">
                <a:solidFill>
                  <a:srgbClr val="A21515"/>
                </a:solidFill>
                <a:latin typeface="微软雅黑"/>
                <a:cs typeface="微软雅黑"/>
              </a:rPr>
              <a:t>ang</a:t>
            </a:r>
            <a:r>
              <a:rPr sz="1800" spc="-5" dirty="0">
                <a:solidFill>
                  <a:srgbClr val="A21515"/>
                </a:solidFill>
                <a:latin typeface="微软雅黑"/>
                <a:cs typeface="微软雅黑"/>
              </a:rPr>
              <a:t>e</a:t>
            </a:r>
            <a:r>
              <a:rPr sz="1800" spc="-5" dirty="0">
                <a:latin typeface="微软雅黑"/>
                <a:cs typeface="微软雅黑"/>
              </a:rPr>
              <a:t>(x</a:t>
            </a:r>
            <a:r>
              <a:rPr sz="1800" dirty="0">
                <a:latin typeface="微软雅黑"/>
                <a:cs typeface="微软雅黑"/>
              </a:rPr>
              <a:t>)</a:t>
            </a:r>
            <a:r>
              <a:rPr sz="1800" spc="-5" dirty="0">
                <a:latin typeface="微软雅黑"/>
                <a:cs typeface="微软雅黑"/>
              </a:rPr>
              <a:t>:</a:t>
            </a:r>
            <a:r>
              <a:rPr sz="1800" spc="150" dirty="0">
                <a:latin typeface="微软雅黑"/>
                <a:cs typeface="微软雅黑"/>
              </a:rPr>
              <a:t> </a:t>
            </a:r>
            <a:r>
              <a:rPr sz="2700" baseline="23148" dirty="0">
                <a:latin typeface="微软雅黑"/>
                <a:cs typeface="微软雅黑"/>
              </a:rPr>
              <a:t>不使用函数调用</a:t>
            </a:r>
            <a:endParaRPr sz="2700" baseline="23148">
              <a:latin typeface="微软雅黑"/>
              <a:cs typeface="微软雅黑"/>
            </a:endParaRPr>
          </a:p>
          <a:p>
            <a:pPr marL="669925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微软雅黑"/>
                <a:cs typeface="微软雅黑"/>
              </a:rPr>
              <a:t>x [0]= 1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67995">
              <a:lnSpc>
                <a:spcPct val="100000"/>
              </a:lnSpc>
              <a:spcBef>
                <a:spcPts val="1470"/>
              </a:spcBef>
            </a:pPr>
            <a:r>
              <a:rPr sz="1700" spc="1210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避免两个变量指向同一</a:t>
            </a:r>
            <a:r>
              <a:rPr sz="2000" spc="-10" dirty="0">
                <a:latin typeface="微软雅黑"/>
                <a:cs typeface="微软雅黑"/>
              </a:rPr>
              <a:t>列</a:t>
            </a:r>
            <a:r>
              <a:rPr sz="2000" dirty="0">
                <a:latin typeface="微软雅黑"/>
                <a:cs typeface="微软雅黑"/>
              </a:rPr>
              <a:t>表，</a:t>
            </a:r>
            <a:r>
              <a:rPr sz="2000" spc="-10" dirty="0">
                <a:latin typeface="微软雅黑"/>
                <a:cs typeface="微软雅黑"/>
              </a:rPr>
              <a:t>需</a:t>
            </a:r>
            <a:r>
              <a:rPr sz="2000" dirty="0">
                <a:latin typeface="微软雅黑"/>
                <a:cs typeface="微软雅黑"/>
              </a:rPr>
              <a:t>创建</a:t>
            </a:r>
            <a:r>
              <a:rPr sz="2000" spc="-10" dirty="0">
                <a:latin typeface="微软雅黑"/>
                <a:cs typeface="微软雅黑"/>
              </a:rPr>
              <a:t>列</a:t>
            </a:r>
            <a:r>
              <a:rPr sz="2000" dirty="0">
                <a:latin typeface="微软雅黑"/>
                <a:cs typeface="微软雅黑"/>
              </a:rPr>
              <a:t>表的</a:t>
            </a:r>
            <a:r>
              <a:rPr sz="2000" spc="-10" dirty="0">
                <a:latin typeface="微软雅黑"/>
                <a:cs typeface="微软雅黑"/>
              </a:rPr>
              <a:t>副</a:t>
            </a:r>
            <a:r>
              <a:rPr sz="2000" spc="5" dirty="0">
                <a:latin typeface="微软雅黑"/>
                <a:cs typeface="微软雅黑"/>
              </a:rPr>
              <a:t>本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创建整个列表的切片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4135" y="3017520"/>
            <a:ext cx="1454785" cy="76200"/>
          </a:xfrm>
          <a:custGeom>
            <a:avLst/>
            <a:gdLst/>
            <a:ahLst/>
            <a:cxnLst/>
            <a:rect l="l" t="t" r="r" b="b"/>
            <a:pathLst>
              <a:path w="1454785" h="76200">
                <a:moveTo>
                  <a:pt x="1378458" y="0"/>
                </a:moveTo>
                <a:lnTo>
                  <a:pt x="1378458" y="76200"/>
                </a:lnTo>
                <a:lnTo>
                  <a:pt x="1441958" y="44450"/>
                </a:lnTo>
                <a:lnTo>
                  <a:pt x="1391158" y="44450"/>
                </a:lnTo>
                <a:lnTo>
                  <a:pt x="1391158" y="31750"/>
                </a:lnTo>
                <a:lnTo>
                  <a:pt x="1441958" y="31750"/>
                </a:lnTo>
                <a:lnTo>
                  <a:pt x="1378458" y="0"/>
                </a:lnTo>
                <a:close/>
              </a:path>
              <a:path w="1454785" h="76200">
                <a:moveTo>
                  <a:pt x="137845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378458" y="44450"/>
                </a:lnTo>
                <a:lnTo>
                  <a:pt x="1378458" y="31750"/>
                </a:lnTo>
                <a:close/>
              </a:path>
              <a:path w="1454785" h="76200">
                <a:moveTo>
                  <a:pt x="1441958" y="31750"/>
                </a:moveTo>
                <a:lnTo>
                  <a:pt x="1391158" y="31750"/>
                </a:lnTo>
                <a:lnTo>
                  <a:pt x="1391158" y="44450"/>
                </a:lnTo>
                <a:lnTo>
                  <a:pt x="1441958" y="44450"/>
                </a:lnTo>
                <a:lnTo>
                  <a:pt x="1454658" y="38100"/>
                </a:lnTo>
                <a:lnTo>
                  <a:pt x="1441958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38344" y="1972055"/>
            <a:ext cx="2182368" cy="1677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73879" y="4084320"/>
            <a:ext cx="1947672" cy="2453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58667" y="4520184"/>
            <a:ext cx="1233170" cy="76200"/>
          </a:xfrm>
          <a:custGeom>
            <a:avLst/>
            <a:gdLst/>
            <a:ahLst/>
            <a:cxnLst/>
            <a:rect l="l" t="t" r="r" b="b"/>
            <a:pathLst>
              <a:path w="12331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23317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233170" h="76200">
                <a:moveTo>
                  <a:pt x="123278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232789" y="44450"/>
                </a:lnTo>
                <a:lnTo>
                  <a:pt x="1232789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6100" y="5933452"/>
            <a:ext cx="1183005" cy="309245"/>
          </a:xfrm>
          <a:custGeom>
            <a:avLst/>
            <a:gdLst/>
            <a:ahLst/>
            <a:cxnLst/>
            <a:rect l="l" t="t" r="r" b="b"/>
            <a:pathLst>
              <a:path w="1183004" h="309245">
                <a:moveTo>
                  <a:pt x="75577" y="30870"/>
                </a:moveTo>
                <a:lnTo>
                  <a:pt x="72634" y="43222"/>
                </a:lnTo>
                <a:lnTo>
                  <a:pt x="1179829" y="308635"/>
                </a:lnTo>
                <a:lnTo>
                  <a:pt x="1182751" y="296278"/>
                </a:lnTo>
                <a:lnTo>
                  <a:pt x="75577" y="30870"/>
                </a:lnTo>
                <a:close/>
              </a:path>
              <a:path w="1183004" h="309245">
                <a:moveTo>
                  <a:pt x="82931" y="0"/>
                </a:moveTo>
                <a:lnTo>
                  <a:pt x="0" y="19291"/>
                </a:lnTo>
                <a:lnTo>
                  <a:pt x="65277" y="74104"/>
                </a:lnTo>
                <a:lnTo>
                  <a:pt x="72634" y="43222"/>
                </a:lnTo>
                <a:lnTo>
                  <a:pt x="60325" y="40271"/>
                </a:lnTo>
                <a:lnTo>
                  <a:pt x="63245" y="27914"/>
                </a:lnTo>
                <a:lnTo>
                  <a:pt x="76281" y="27914"/>
                </a:lnTo>
                <a:lnTo>
                  <a:pt x="82931" y="0"/>
                </a:lnTo>
                <a:close/>
              </a:path>
              <a:path w="1183004" h="309245">
                <a:moveTo>
                  <a:pt x="63245" y="27914"/>
                </a:moveTo>
                <a:lnTo>
                  <a:pt x="60325" y="40271"/>
                </a:lnTo>
                <a:lnTo>
                  <a:pt x="72634" y="43222"/>
                </a:lnTo>
                <a:lnTo>
                  <a:pt x="75577" y="30870"/>
                </a:lnTo>
                <a:lnTo>
                  <a:pt x="63245" y="27914"/>
                </a:lnTo>
                <a:close/>
              </a:path>
              <a:path w="1183004" h="309245">
                <a:moveTo>
                  <a:pt x="76281" y="27914"/>
                </a:moveTo>
                <a:lnTo>
                  <a:pt x="63245" y="27914"/>
                </a:lnTo>
                <a:lnTo>
                  <a:pt x="75577" y="30870"/>
                </a:lnTo>
                <a:lnTo>
                  <a:pt x="76281" y="27914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0413" y="5839071"/>
            <a:ext cx="27686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dirty="0">
                <a:solidFill>
                  <a:srgbClr val="006FC0"/>
                </a:solidFill>
                <a:latin typeface="微软雅黑"/>
                <a:cs typeface="微软雅黑"/>
              </a:rPr>
              <a:t>修改副本对原始列表无影响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5419" y="3697223"/>
            <a:ext cx="3624072" cy="2699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93591" y="4194047"/>
            <a:ext cx="1344930" cy="76200"/>
          </a:xfrm>
          <a:custGeom>
            <a:avLst/>
            <a:gdLst/>
            <a:ahLst/>
            <a:cxnLst/>
            <a:rect l="l" t="t" r="r" b="b"/>
            <a:pathLst>
              <a:path w="1344929" h="76200">
                <a:moveTo>
                  <a:pt x="1268222" y="0"/>
                </a:moveTo>
                <a:lnTo>
                  <a:pt x="1268222" y="76200"/>
                </a:lnTo>
                <a:lnTo>
                  <a:pt x="1331722" y="44450"/>
                </a:lnTo>
                <a:lnTo>
                  <a:pt x="1280922" y="44450"/>
                </a:lnTo>
                <a:lnTo>
                  <a:pt x="1280922" y="31750"/>
                </a:lnTo>
                <a:lnTo>
                  <a:pt x="1331722" y="31750"/>
                </a:lnTo>
                <a:lnTo>
                  <a:pt x="1268222" y="0"/>
                </a:lnTo>
                <a:close/>
              </a:path>
              <a:path w="1344929" h="76200">
                <a:moveTo>
                  <a:pt x="126822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68222" y="44450"/>
                </a:lnTo>
                <a:lnTo>
                  <a:pt x="1268222" y="31750"/>
                </a:lnTo>
                <a:close/>
              </a:path>
              <a:path w="1344929" h="76200">
                <a:moveTo>
                  <a:pt x="1331722" y="31750"/>
                </a:moveTo>
                <a:lnTo>
                  <a:pt x="1280922" y="31750"/>
                </a:lnTo>
                <a:lnTo>
                  <a:pt x="1280922" y="44450"/>
                </a:lnTo>
                <a:lnTo>
                  <a:pt x="1331722" y="44450"/>
                </a:lnTo>
                <a:lnTo>
                  <a:pt x="1344422" y="38100"/>
                </a:lnTo>
                <a:lnTo>
                  <a:pt x="1331722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722807"/>
            <a:ext cx="6955790" cy="410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函数的参数</a:t>
            </a:r>
            <a:endParaRPr sz="2400">
              <a:latin typeface="微软雅黑"/>
              <a:cs typeface="微软雅黑"/>
            </a:endParaRPr>
          </a:p>
          <a:p>
            <a:pPr marL="467995">
              <a:lnSpc>
                <a:spcPct val="10000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多个参数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2000">
              <a:latin typeface="Times New Roman"/>
              <a:cs typeface="Times New Roman"/>
            </a:endParaRPr>
          </a:p>
          <a:p>
            <a:pPr marL="1066165" marR="3959860" indent="-361315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ad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d</a:t>
            </a:r>
            <a:r>
              <a:rPr sz="2400" spc="-5" dirty="0">
                <a:latin typeface="微软雅黑"/>
                <a:cs typeface="微软雅黑"/>
              </a:rPr>
              <a:t>(x,</a:t>
            </a:r>
            <a:r>
              <a:rPr sz="2400" spc="-2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y=1): 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r</a:t>
            </a:r>
            <a:r>
              <a:rPr sz="2400" spc="-15" dirty="0">
                <a:solidFill>
                  <a:srgbClr val="0000FF"/>
                </a:solidFill>
                <a:latin typeface="微软雅黑"/>
                <a:cs typeface="微软雅黑"/>
              </a:rPr>
              <a:t>e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turn </a:t>
            </a:r>
            <a:r>
              <a:rPr sz="2400" spc="-5" dirty="0">
                <a:latin typeface="微软雅黑"/>
                <a:cs typeface="微软雅黑"/>
              </a:rPr>
              <a:t>x</a:t>
            </a:r>
            <a:r>
              <a:rPr sz="2400" spc="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+</a:t>
            </a:r>
            <a:r>
              <a:rPr sz="2400" dirty="0">
                <a:latin typeface="微软雅黑"/>
                <a:cs typeface="微软雅黑"/>
              </a:rPr>
              <a:t> 1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3100">
              <a:latin typeface="Times New Roman"/>
              <a:cs typeface="Times New Roman"/>
            </a:endParaRPr>
          </a:p>
          <a:p>
            <a:pPr marL="4775835" marR="5080" algn="r">
              <a:lnSpc>
                <a:spcPct val="151500"/>
              </a:lnSpc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= </a:t>
            </a: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a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dd(</a:t>
            </a:r>
            <a:r>
              <a:rPr sz="2000" spc="5" dirty="0">
                <a:solidFill>
                  <a:srgbClr val="006FC0"/>
                </a:solidFill>
                <a:latin typeface="微软雅黑"/>
                <a:cs typeface="微软雅黑"/>
              </a:rPr>
              <a:t>x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=</a:t>
            </a: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x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,</a:t>
            </a:r>
            <a:r>
              <a:rPr sz="2000" spc="-3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微软雅黑"/>
                <a:cs typeface="微软雅黑"/>
              </a:rPr>
              <a:t>y=1) 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= </a:t>
            </a: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a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dd(</a:t>
            </a:r>
            <a:r>
              <a:rPr sz="2000" spc="5" dirty="0">
                <a:solidFill>
                  <a:srgbClr val="006FC0"/>
                </a:solidFill>
                <a:latin typeface="微软雅黑"/>
                <a:cs typeface="微软雅黑"/>
              </a:rPr>
              <a:t>x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=y,</a:t>
            </a:r>
            <a:r>
              <a:rPr sz="2000" spc="-4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微软雅黑"/>
                <a:cs typeface="微软雅黑"/>
              </a:rPr>
              <a:t>y=4)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33800" y="4640579"/>
            <a:ext cx="1204595" cy="76200"/>
          </a:xfrm>
          <a:custGeom>
            <a:avLst/>
            <a:gdLst/>
            <a:ahLst/>
            <a:cxnLst/>
            <a:rect l="l" t="t" r="r" b="b"/>
            <a:pathLst>
              <a:path w="1204595" h="76200">
                <a:moveTo>
                  <a:pt x="1128395" y="0"/>
                </a:moveTo>
                <a:lnTo>
                  <a:pt x="1128395" y="76200"/>
                </a:lnTo>
                <a:lnTo>
                  <a:pt x="1191895" y="44450"/>
                </a:lnTo>
                <a:lnTo>
                  <a:pt x="1141095" y="44450"/>
                </a:lnTo>
                <a:lnTo>
                  <a:pt x="1141095" y="31750"/>
                </a:lnTo>
                <a:lnTo>
                  <a:pt x="1191895" y="31750"/>
                </a:lnTo>
                <a:lnTo>
                  <a:pt x="1128395" y="0"/>
                </a:lnTo>
                <a:close/>
              </a:path>
              <a:path w="1204595" h="76200">
                <a:moveTo>
                  <a:pt x="112839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28395" y="44450"/>
                </a:lnTo>
                <a:lnTo>
                  <a:pt x="1128395" y="31750"/>
                </a:lnTo>
                <a:close/>
              </a:path>
              <a:path w="1204595" h="76200">
                <a:moveTo>
                  <a:pt x="1191895" y="31750"/>
                </a:moveTo>
                <a:lnTo>
                  <a:pt x="1141095" y="31750"/>
                </a:lnTo>
                <a:lnTo>
                  <a:pt x="1141095" y="44450"/>
                </a:lnTo>
                <a:lnTo>
                  <a:pt x="1191895" y="44450"/>
                </a:lnTo>
                <a:lnTo>
                  <a:pt x="1204595" y="38100"/>
                </a:lnTo>
                <a:lnTo>
                  <a:pt x="1191895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06140" y="6036411"/>
            <a:ext cx="375285" cy="392430"/>
          </a:xfrm>
          <a:custGeom>
            <a:avLst/>
            <a:gdLst/>
            <a:ahLst/>
            <a:cxnLst/>
            <a:rect l="l" t="t" r="r" b="b"/>
            <a:pathLst>
              <a:path w="375285" h="392429">
                <a:moveTo>
                  <a:pt x="21717" y="0"/>
                </a:moveTo>
                <a:lnTo>
                  <a:pt x="0" y="20548"/>
                </a:lnTo>
                <a:lnTo>
                  <a:pt x="166877" y="195986"/>
                </a:lnTo>
                <a:lnTo>
                  <a:pt x="0" y="371424"/>
                </a:lnTo>
                <a:lnTo>
                  <a:pt x="21717" y="391972"/>
                </a:lnTo>
                <a:lnTo>
                  <a:pt x="187451" y="217627"/>
                </a:lnTo>
                <a:lnTo>
                  <a:pt x="228610" y="217627"/>
                </a:lnTo>
                <a:lnTo>
                  <a:pt x="208025" y="195986"/>
                </a:lnTo>
                <a:lnTo>
                  <a:pt x="228610" y="174345"/>
                </a:lnTo>
                <a:lnTo>
                  <a:pt x="187451" y="174345"/>
                </a:lnTo>
                <a:lnTo>
                  <a:pt x="21717" y="0"/>
                </a:lnTo>
                <a:close/>
              </a:path>
              <a:path w="375285" h="392429">
                <a:moveTo>
                  <a:pt x="228610" y="217627"/>
                </a:moveTo>
                <a:lnTo>
                  <a:pt x="187451" y="217627"/>
                </a:lnTo>
                <a:lnTo>
                  <a:pt x="353187" y="391972"/>
                </a:lnTo>
                <a:lnTo>
                  <a:pt x="374904" y="371424"/>
                </a:lnTo>
                <a:lnTo>
                  <a:pt x="228610" y="217627"/>
                </a:lnTo>
                <a:close/>
              </a:path>
              <a:path w="375285" h="392429">
                <a:moveTo>
                  <a:pt x="353187" y="0"/>
                </a:moveTo>
                <a:lnTo>
                  <a:pt x="187451" y="174345"/>
                </a:lnTo>
                <a:lnTo>
                  <a:pt x="228610" y="174345"/>
                </a:lnTo>
                <a:lnTo>
                  <a:pt x="374904" y="20548"/>
                </a:lnTo>
                <a:lnTo>
                  <a:pt x="3531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9600"/>
            <a:ext cx="8619309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22807"/>
            <a:ext cx="4971415" cy="4751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函数的参数</a:t>
            </a:r>
            <a:endParaRPr sz="2400">
              <a:latin typeface="微软雅黑"/>
              <a:cs typeface="微软雅黑"/>
            </a:endParaRPr>
          </a:p>
          <a:p>
            <a:pPr marL="467995">
              <a:lnSpc>
                <a:spcPct val="100000"/>
              </a:lnSpc>
              <a:spcBef>
                <a:spcPts val="175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不定参数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tabLst>
                <a:tab pos="629920" algn="l"/>
              </a:tabLst>
            </a:pPr>
            <a:r>
              <a:rPr sz="1700" spc="-5" dirty="0">
                <a:solidFill>
                  <a:srgbClr val="4F81BC"/>
                </a:solidFill>
                <a:latin typeface="微软雅黑"/>
                <a:cs typeface="微软雅黑"/>
              </a:rPr>
              <a:t>1</a:t>
            </a:r>
            <a:r>
              <a:rPr sz="1700" dirty="0">
                <a:solidFill>
                  <a:srgbClr val="4F81BC"/>
                </a:solidFill>
                <a:latin typeface="微软雅黑"/>
                <a:cs typeface="微软雅黑"/>
              </a:rPr>
              <a:t>.	</a:t>
            </a:r>
            <a:r>
              <a:rPr sz="2000" spc="-5" dirty="0">
                <a:latin typeface="微软雅黑"/>
                <a:cs typeface="微软雅黑"/>
              </a:rPr>
              <a:t>将</a:t>
            </a:r>
            <a:r>
              <a:rPr sz="2000" dirty="0">
                <a:latin typeface="微软雅黑"/>
                <a:cs typeface="微软雅黑"/>
              </a:rPr>
              <a:t>a</a:t>
            </a:r>
            <a:r>
              <a:rPr sz="2000" spc="-30" dirty="0">
                <a:latin typeface="微软雅黑"/>
                <a:cs typeface="微软雅黑"/>
              </a:rPr>
              <a:t>r</a:t>
            </a:r>
            <a:r>
              <a:rPr sz="2000" dirty="0">
                <a:latin typeface="微软雅黑"/>
                <a:cs typeface="微软雅黑"/>
              </a:rPr>
              <a:t>g</a:t>
            </a:r>
            <a:r>
              <a:rPr sz="2000" spc="-5" dirty="0">
                <a:latin typeface="微软雅黑"/>
                <a:cs typeface="微软雅黑"/>
              </a:rPr>
              <a:t>s</a:t>
            </a:r>
            <a:r>
              <a:rPr sz="2000" dirty="0">
                <a:latin typeface="微软雅黑"/>
                <a:cs typeface="微软雅黑"/>
              </a:rPr>
              <a:t>中的变量</a:t>
            </a:r>
            <a:r>
              <a:rPr sz="2000" spc="-15" dirty="0">
                <a:latin typeface="微软雅黑"/>
                <a:cs typeface="微软雅黑"/>
              </a:rPr>
              <a:t>打</a:t>
            </a:r>
            <a:r>
              <a:rPr sz="2000" dirty="0">
                <a:latin typeface="微软雅黑"/>
                <a:cs typeface="微软雅黑"/>
              </a:rPr>
              <a:t>包为</a:t>
            </a:r>
            <a:r>
              <a:rPr sz="2000" spc="-15" dirty="0">
                <a:latin typeface="微软雅黑"/>
                <a:cs typeface="微软雅黑"/>
              </a:rPr>
              <a:t>一</a:t>
            </a:r>
            <a:r>
              <a:rPr sz="2000" dirty="0">
                <a:latin typeface="微软雅黑"/>
                <a:cs typeface="微软雅黑"/>
              </a:rPr>
              <a:t>个元</a:t>
            </a:r>
            <a:r>
              <a:rPr sz="2000" spc="-15" dirty="0">
                <a:latin typeface="微软雅黑"/>
                <a:cs typeface="微软雅黑"/>
              </a:rPr>
              <a:t>组</a:t>
            </a:r>
            <a:r>
              <a:rPr sz="2000" dirty="0">
                <a:latin typeface="微软雅黑"/>
                <a:cs typeface="微软雅黑"/>
              </a:rPr>
              <a:t>来输出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sz="1900">
              <a:latin typeface="Times New Roman"/>
              <a:cs typeface="Times New Roman"/>
            </a:endParaRPr>
          </a:p>
          <a:p>
            <a:pPr marL="899160" marR="1897380" indent="-299085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000" spc="-2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j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us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_p</a:t>
            </a:r>
            <a:r>
              <a:rPr sz="2000" spc="5" dirty="0">
                <a:solidFill>
                  <a:srgbClr val="A21515"/>
                </a:solidFill>
                <a:latin typeface="微软雅黑"/>
                <a:cs typeface="微软雅黑"/>
              </a:rPr>
              <a:t>r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int</a:t>
            </a:r>
            <a:r>
              <a:rPr sz="2000" dirty="0">
                <a:latin typeface="微软雅黑"/>
                <a:cs typeface="微软雅黑"/>
              </a:rPr>
              <a:t>(*arg</a:t>
            </a:r>
            <a:r>
              <a:rPr sz="2000" spc="-5" dirty="0">
                <a:latin typeface="微软雅黑"/>
                <a:cs typeface="微软雅黑"/>
              </a:rPr>
              <a:t>s</a:t>
            </a:r>
            <a:r>
              <a:rPr sz="2000" dirty="0">
                <a:latin typeface="微软雅黑"/>
                <a:cs typeface="微软雅黑"/>
              </a:rPr>
              <a:t>): 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prin</a:t>
            </a:r>
            <a:r>
              <a:rPr sz="2000" spc="-5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2000" dirty="0">
                <a:latin typeface="微软雅黑"/>
                <a:cs typeface="微软雅黑"/>
              </a:rPr>
              <a:t>(arg</a:t>
            </a:r>
            <a:r>
              <a:rPr sz="2000" spc="-5" dirty="0">
                <a:latin typeface="微软雅黑"/>
                <a:cs typeface="微软雅黑"/>
              </a:rPr>
              <a:t>s</a:t>
            </a:r>
            <a:r>
              <a:rPr sz="2000" dirty="0">
                <a:latin typeface="微软雅黑"/>
                <a:cs typeface="微软雅黑"/>
              </a:rPr>
              <a:t>)</a:t>
            </a:r>
            <a:endParaRPr sz="2000">
              <a:latin typeface="微软雅黑"/>
              <a:cs typeface="微软雅黑"/>
            </a:endParaRPr>
          </a:p>
          <a:p>
            <a:pPr marL="600075" marR="402590" indent="-427990">
              <a:lnSpc>
                <a:spcPct val="178100"/>
              </a:lnSpc>
              <a:spcBef>
                <a:spcPts val="969"/>
              </a:spcBef>
              <a:tabLst>
                <a:tab pos="629920" algn="l"/>
              </a:tabLst>
            </a:pPr>
            <a:r>
              <a:rPr sz="1700" spc="-5" dirty="0">
                <a:solidFill>
                  <a:srgbClr val="4F81BC"/>
                </a:solidFill>
                <a:latin typeface="微软雅黑"/>
                <a:cs typeface="微软雅黑"/>
              </a:rPr>
              <a:t>2</a:t>
            </a:r>
            <a:r>
              <a:rPr sz="1700" dirty="0">
                <a:solidFill>
                  <a:srgbClr val="4F81BC"/>
                </a:solidFill>
                <a:latin typeface="微软雅黑"/>
                <a:cs typeface="微软雅黑"/>
              </a:rPr>
              <a:t>.		</a:t>
            </a:r>
            <a:r>
              <a:rPr sz="2000" spc="-5" dirty="0">
                <a:latin typeface="微软雅黑"/>
                <a:cs typeface="微软雅黑"/>
              </a:rPr>
              <a:t>*</a:t>
            </a:r>
            <a:r>
              <a:rPr sz="2000" dirty="0">
                <a:latin typeface="微软雅黑"/>
                <a:cs typeface="微软雅黑"/>
              </a:rPr>
              <a:t>可以将元组中的变量再</a:t>
            </a:r>
            <a:r>
              <a:rPr sz="2000" spc="-15" dirty="0">
                <a:latin typeface="微软雅黑"/>
                <a:cs typeface="微软雅黑"/>
              </a:rPr>
              <a:t>次</a:t>
            </a:r>
            <a:r>
              <a:rPr sz="2000" dirty="0">
                <a:latin typeface="微软雅黑"/>
                <a:cs typeface="微软雅黑"/>
              </a:rPr>
              <a:t>拆解</a:t>
            </a:r>
            <a:r>
              <a:rPr sz="2000" spc="-15" dirty="0">
                <a:latin typeface="微软雅黑"/>
                <a:cs typeface="微软雅黑"/>
              </a:rPr>
              <a:t>出</a:t>
            </a:r>
            <a:r>
              <a:rPr sz="2000" dirty="0">
                <a:latin typeface="微软雅黑"/>
                <a:cs typeface="微软雅黑"/>
              </a:rPr>
              <a:t>来 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000" spc="-2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j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us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_p</a:t>
            </a:r>
            <a:r>
              <a:rPr sz="2000" spc="5" dirty="0">
                <a:solidFill>
                  <a:srgbClr val="A21515"/>
                </a:solidFill>
                <a:latin typeface="微软雅黑"/>
                <a:cs typeface="微软雅黑"/>
              </a:rPr>
              <a:t>r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in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000" spc="5" dirty="0">
                <a:solidFill>
                  <a:srgbClr val="A21515"/>
                </a:solidFill>
                <a:latin typeface="微软雅黑"/>
                <a:cs typeface="微软雅黑"/>
              </a:rPr>
              <a:t>2</a:t>
            </a:r>
            <a:r>
              <a:rPr sz="2000" dirty="0">
                <a:latin typeface="微软雅黑"/>
                <a:cs typeface="微软雅黑"/>
              </a:rPr>
              <a:t>(*arg</a:t>
            </a:r>
            <a:r>
              <a:rPr sz="2000" spc="-5" dirty="0">
                <a:latin typeface="微软雅黑"/>
                <a:cs typeface="微软雅黑"/>
              </a:rPr>
              <a:t>s</a:t>
            </a:r>
            <a:r>
              <a:rPr sz="2000" dirty="0">
                <a:latin typeface="微软雅黑"/>
                <a:cs typeface="微软雅黑"/>
              </a:rPr>
              <a:t>):</a:t>
            </a:r>
            <a:endParaRPr sz="2000">
              <a:latin typeface="微软雅黑"/>
              <a:cs typeface="微软雅黑"/>
            </a:endParaRPr>
          </a:p>
          <a:p>
            <a:pPr marL="89916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prin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2000" dirty="0">
                <a:latin typeface="微软雅黑"/>
                <a:cs typeface="微软雅黑"/>
              </a:rPr>
              <a:t>(</a:t>
            </a:r>
            <a:r>
              <a:rPr sz="2000" spc="-5" dirty="0">
                <a:latin typeface="微软雅黑"/>
                <a:cs typeface="微软雅黑"/>
              </a:rPr>
              <a:t>*</a:t>
            </a:r>
            <a:r>
              <a:rPr sz="2000" dirty="0">
                <a:latin typeface="微软雅黑"/>
                <a:cs typeface="微软雅黑"/>
              </a:rPr>
              <a:t>arg</a:t>
            </a:r>
            <a:r>
              <a:rPr sz="2000" spc="-10" dirty="0">
                <a:latin typeface="微软雅黑"/>
                <a:cs typeface="微软雅黑"/>
              </a:rPr>
              <a:t>s</a:t>
            </a:r>
            <a:r>
              <a:rPr sz="2000" dirty="0">
                <a:latin typeface="微软雅黑"/>
                <a:cs typeface="微软雅黑"/>
              </a:rPr>
              <a:t>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5752" y="3505200"/>
            <a:ext cx="2891028" cy="1254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7730" y="2405633"/>
            <a:ext cx="7370445" cy="690880"/>
          </a:xfrm>
          <a:custGeom>
            <a:avLst/>
            <a:gdLst/>
            <a:ahLst/>
            <a:cxnLst/>
            <a:rect l="l" t="t" r="r" b="b"/>
            <a:pathLst>
              <a:path w="7370445" h="690880">
                <a:moveTo>
                  <a:pt x="0" y="690372"/>
                </a:moveTo>
                <a:lnTo>
                  <a:pt x="7370064" y="690372"/>
                </a:lnTo>
                <a:lnTo>
                  <a:pt x="7370064" y="0"/>
                </a:lnTo>
                <a:lnTo>
                  <a:pt x="0" y="0"/>
                </a:lnTo>
                <a:lnTo>
                  <a:pt x="0" y="690372"/>
                </a:lnTo>
                <a:close/>
              </a:path>
            </a:pathLst>
          </a:custGeom>
          <a:ln w="25908">
            <a:solidFill>
              <a:srgbClr val="1F487C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32332" y="2235707"/>
            <a:ext cx="1522730" cy="338455"/>
          </a:xfrm>
          <a:custGeom>
            <a:avLst/>
            <a:gdLst/>
            <a:ahLst/>
            <a:cxnLst/>
            <a:rect l="l" t="t" r="r" b="b"/>
            <a:pathLst>
              <a:path w="1522730" h="338455">
                <a:moveTo>
                  <a:pt x="0" y="338327"/>
                </a:moveTo>
                <a:lnTo>
                  <a:pt x="1522476" y="338327"/>
                </a:lnTo>
                <a:lnTo>
                  <a:pt x="152247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722807"/>
            <a:ext cx="4088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动手实践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381" y="2301555"/>
            <a:ext cx="697420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15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sz="1600" spc="1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试一试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使用</a:t>
            </a:r>
            <a:r>
              <a:rPr sz="1800" dirty="0">
                <a:latin typeface="微软雅黑"/>
                <a:cs typeface="微软雅黑"/>
              </a:rPr>
              <a:t>Pyth</a:t>
            </a:r>
            <a:r>
              <a:rPr sz="1800" spc="5" dirty="0">
                <a:latin typeface="微软雅黑"/>
                <a:cs typeface="微软雅黑"/>
              </a:rPr>
              <a:t>o</a:t>
            </a:r>
            <a:r>
              <a:rPr sz="1800" spc="-10" dirty="0">
                <a:latin typeface="微软雅黑"/>
                <a:cs typeface="微软雅黑"/>
              </a:rPr>
              <a:t>n</a:t>
            </a:r>
            <a:r>
              <a:rPr sz="1800" spc="5" dirty="0">
                <a:latin typeface="微软雅黑"/>
                <a:cs typeface="微软雅黑"/>
              </a:rPr>
              <a:t>实</a:t>
            </a:r>
            <a:r>
              <a:rPr sz="1800" dirty="0">
                <a:latin typeface="微软雅黑"/>
                <a:cs typeface="微软雅黑"/>
              </a:rPr>
              <a:t>现二</a:t>
            </a:r>
            <a:r>
              <a:rPr sz="1800" spc="-10" dirty="0">
                <a:latin typeface="微软雅黑"/>
                <a:cs typeface="微软雅黑"/>
              </a:rPr>
              <a:t>分</a:t>
            </a:r>
            <a:r>
              <a:rPr sz="1800" dirty="0">
                <a:latin typeface="微软雅黑"/>
                <a:cs typeface="微软雅黑"/>
              </a:rPr>
              <a:t>查找</a:t>
            </a:r>
            <a:r>
              <a:rPr sz="1800" spc="-10" dirty="0">
                <a:latin typeface="微软雅黑"/>
                <a:cs typeface="微软雅黑"/>
              </a:rPr>
              <a:t>算</a:t>
            </a:r>
            <a:r>
              <a:rPr sz="1800" dirty="0">
                <a:latin typeface="微软雅黑"/>
                <a:cs typeface="微软雅黑"/>
              </a:rPr>
              <a:t>法，</a:t>
            </a:r>
            <a:r>
              <a:rPr sz="1800" spc="-10" dirty="0">
                <a:latin typeface="微软雅黑"/>
                <a:cs typeface="微软雅黑"/>
              </a:rPr>
              <a:t>并</a:t>
            </a:r>
            <a:r>
              <a:rPr sz="1800" dirty="0">
                <a:latin typeface="微软雅黑"/>
                <a:cs typeface="微软雅黑"/>
              </a:rPr>
              <a:t>输出</a:t>
            </a:r>
            <a:r>
              <a:rPr sz="1800" spc="-10" dirty="0">
                <a:latin typeface="微软雅黑"/>
                <a:cs typeface="微软雅黑"/>
              </a:rPr>
              <a:t>列</a:t>
            </a:r>
            <a:r>
              <a:rPr sz="1800" dirty="0">
                <a:latin typeface="微软雅黑"/>
                <a:cs typeface="微软雅黑"/>
              </a:rPr>
              <a:t>表中</a:t>
            </a:r>
            <a:r>
              <a:rPr sz="1800" spc="-10" dirty="0">
                <a:latin typeface="微软雅黑"/>
                <a:cs typeface="微软雅黑"/>
              </a:rPr>
              <a:t>所</a:t>
            </a:r>
            <a:r>
              <a:rPr sz="1800" dirty="0">
                <a:latin typeface="微软雅黑"/>
                <a:cs typeface="微软雅黑"/>
              </a:rPr>
              <a:t>查找</a:t>
            </a:r>
            <a:r>
              <a:rPr sz="1800" spc="-10" dirty="0">
                <a:latin typeface="微软雅黑"/>
                <a:cs typeface="微软雅黑"/>
              </a:rPr>
              <a:t>的</a:t>
            </a:r>
            <a:r>
              <a:rPr sz="1800" dirty="0">
                <a:latin typeface="微软雅黑"/>
                <a:cs typeface="微软雅黑"/>
              </a:rPr>
              <a:t>元素</a:t>
            </a:r>
            <a:r>
              <a:rPr sz="1800" spc="-10" dirty="0">
                <a:latin typeface="微软雅黑"/>
                <a:cs typeface="微软雅黑"/>
              </a:rPr>
              <a:t>的</a:t>
            </a:r>
            <a:r>
              <a:rPr sz="1800" dirty="0">
                <a:latin typeface="微软雅黑"/>
                <a:cs typeface="微软雅黑"/>
              </a:rPr>
              <a:t>位置。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74775" y="3383279"/>
          <a:ext cx="7370063" cy="2931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9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926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01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提示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25908">
                      <a:solidFill>
                        <a:srgbClr val="1F487C"/>
                      </a:solidFill>
                      <a:prstDash val="solid"/>
                    </a:lnR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4694">
                <a:tc gridSpan="3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⚫ </a:t>
                      </a:r>
                      <a:r>
                        <a:rPr sz="1800" spc="-7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二分查找：明确数字所处</a:t>
                      </a:r>
                      <a:r>
                        <a:rPr sz="1800" b="1" dirty="0">
                          <a:latin typeface="微软雅黑"/>
                          <a:cs typeface="微软雅黑"/>
                        </a:rPr>
                        <a:t>位置的上下界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，每次查找都将区间分为两半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⚫ </a:t>
                      </a:r>
                      <a:r>
                        <a:rPr sz="1800" spc="-7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首先需要使用</a:t>
                      </a:r>
                      <a:r>
                        <a:rPr sz="1800" spc="-10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800" spc="5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t(</a:t>
                      </a:r>
                      <a:r>
                        <a:rPr sz="1800" spc="-5" dirty="0">
                          <a:latin typeface="微软雅黑"/>
                          <a:cs typeface="微软雅黑"/>
                        </a:rPr>
                        <a:t>)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对列表元素进行</a:t>
                      </a:r>
                      <a:r>
                        <a:rPr sz="1800" b="1" dirty="0">
                          <a:latin typeface="微软雅黑"/>
                          <a:cs typeface="微软雅黑"/>
                        </a:rPr>
                        <a:t>排序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  <a:p>
                      <a:pPr marL="363220" marR="114935" indent="-287020" algn="just">
                        <a:lnSpc>
                          <a:spcPct val="150000"/>
                        </a:lnSpc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⚫ </a:t>
                      </a:r>
                      <a:r>
                        <a:rPr sz="1800" spc="-7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如果上下界位置一致，说明都指向数字所处位置，就将数字返回；否 则，找出区间的</a:t>
                      </a:r>
                      <a:r>
                        <a:rPr sz="1800" b="1" dirty="0">
                          <a:latin typeface="微软雅黑"/>
                          <a:cs typeface="微软雅黑"/>
                        </a:rPr>
                        <a:t>中间元素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（上界和下界的平均值），再确定数字在左 半部分还是右半部分，然后继续在数据所处部分进行查找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R w="25908">
                      <a:solidFill>
                        <a:srgbClr val="1F487C"/>
                      </a:solidFill>
                      <a:prstDash val="solid"/>
                    </a:lnR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967" y="3017520"/>
            <a:ext cx="7152131" cy="3307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722807"/>
            <a:ext cx="4088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函数的定义与调用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动手实践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85359" y="3912108"/>
            <a:ext cx="321310" cy="76200"/>
          </a:xfrm>
          <a:custGeom>
            <a:avLst/>
            <a:gdLst/>
            <a:ahLst/>
            <a:cxnLst/>
            <a:rect l="l" t="t" r="r" b="b"/>
            <a:pathLst>
              <a:path w="321310" h="76200">
                <a:moveTo>
                  <a:pt x="244601" y="0"/>
                </a:moveTo>
                <a:lnTo>
                  <a:pt x="244601" y="76200"/>
                </a:lnTo>
                <a:lnTo>
                  <a:pt x="308101" y="44450"/>
                </a:lnTo>
                <a:lnTo>
                  <a:pt x="257301" y="44450"/>
                </a:lnTo>
                <a:lnTo>
                  <a:pt x="257301" y="31750"/>
                </a:lnTo>
                <a:lnTo>
                  <a:pt x="308101" y="31750"/>
                </a:lnTo>
                <a:lnTo>
                  <a:pt x="244601" y="0"/>
                </a:lnTo>
                <a:close/>
              </a:path>
              <a:path w="321310" h="76200">
                <a:moveTo>
                  <a:pt x="24460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44601" y="44450"/>
                </a:lnTo>
                <a:lnTo>
                  <a:pt x="244601" y="31750"/>
                </a:lnTo>
                <a:close/>
              </a:path>
              <a:path w="321310" h="76200">
                <a:moveTo>
                  <a:pt x="308101" y="31750"/>
                </a:moveTo>
                <a:lnTo>
                  <a:pt x="257301" y="31750"/>
                </a:lnTo>
                <a:lnTo>
                  <a:pt x="257301" y="44450"/>
                </a:lnTo>
                <a:lnTo>
                  <a:pt x="308101" y="44450"/>
                </a:lnTo>
                <a:lnTo>
                  <a:pt x="320801" y="38100"/>
                </a:lnTo>
                <a:lnTo>
                  <a:pt x="308101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3676" y="3445764"/>
            <a:ext cx="1603375" cy="76200"/>
          </a:xfrm>
          <a:custGeom>
            <a:avLst/>
            <a:gdLst/>
            <a:ahLst/>
            <a:cxnLst/>
            <a:rect l="l" t="t" r="r" b="b"/>
            <a:pathLst>
              <a:path w="1603375" h="76200">
                <a:moveTo>
                  <a:pt x="1526921" y="0"/>
                </a:moveTo>
                <a:lnTo>
                  <a:pt x="1526921" y="76200"/>
                </a:lnTo>
                <a:lnTo>
                  <a:pt x="1590421" y="44450"/>
                </a:lnTo>
                <a:lnTo>
                  <a:pt x="1539621" y="44450"/>
                </a:lnTo>
                <a:lnTo>
                  <a:pt x="1539621" y="31750"/>
                </a:lnTo>
                <a:lnTo>
                  <a:pt x="1590421" y="31750"/>
                </a:lnTo>
                <a:lnTo>
                  <a:pt x="1526921" y="0"/>
                </a:lnTo>
                <a:close/>
              </a:path>
              <a:path w="1603375" h="76200">
                <a:moveTo>
                  <a:pt x="15269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526921" y="44450"/>
                </a:lnTo>
                <a:lnTo>
                  <a:pt x="1526921" y="31750"/>
                </a:lnTo>
                <a:close/>
              </a:path>
              <a:path w="1603375" h="76200">
                <a:moveTo>
                  <a:pt x="1590421" y="31750"/>
                </a:moveTo>
                <a:lnTo>
                  <a:pt x="1539621" y="31750"/>
                </a:lnTo>
                <a:lnTo>
                  <a:pt x="1539621" y="44450"/>
                </a:lnTo>
                <a:lnTo>
                  <a:pt x="1590421" y="44450"/>
                </a:lnTo>
                <a:lnTo>
                  <a:pt x="1603121" y="38100"/>
                </a:lnTo>
                <a:lnTo>
                  <a:pt x="1590421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81217" y="4430776"/>
            <a:ext cx="233045" cy="271780"/>
          </a:xfrm>
          <a:custGeom>
            <a:avLst/>
            <a:gdLst/>
            <a:ahLst/>
            <a:cxnLst/>
            <a:rect l="l" t="t" r="r" b="b"/>
            <a:pathLst>
              <a:path w="233045" h="271779">
                <a:moveTo>
                  <a:pt x="178348" y="217678"/>
                </a:moveTo>
                <a:lnTo>
                  <a:pt x="154178" y="238251"/>
                </a:lnTo>
                <a:lnTo>
                  <a:pt x="232664" y="271653"/>
                </a:lnTo>
                <a:lnTo>
                  <a:pt x="221719" y="227330"/>
                </a:lnTo>
                <a:lnTo>
                  <a:pt x="186562" y="227330"/>
                </a:lnTo>
                <a:lnTo>
                  <a:pt x="178348" y="217678"/>
                </a:lnTo>
                <a:close/>
              </a:path>
              <a:path w="233045" h="271779">
                <a:moveTo>
                  <a:pt x="188027" y="209439"/>
                </a:moveTo>
                <a:lnTo>
                  <a:pt x="178348" y="217678"/>
                </a:lnTo>
                <a:lnTo>
                  <a:pt x="186562" y="227330"/>
                </a:lnTo>
                <a:lnTo>
                  <a:pt x="196342" y="219201"/>
                </a:lnTo>
                <a:lnTo>
                  <a:pt x="188027" y="209439"/>
                </a:lnTo>
                <a:close/>
              </a:path>
              <a:path w="233045" h="271779">
                <a:moveTo>
                  <a:pt x="212217" y="188849"/>
                </a:moveTo>
                <a:lnTo>
                  <a:pt x="188027" y="209439"/>
                </a:lnTo>
                <a:lnTo>
                  <a:pt x="196342" y="219201"/>
                </a:lnTo>
                <a:lnTo>
                  <a:pt x="186562" y="227330"/>
                </a:lnTo>
                <a:lnTo>
                  <a:pt x="221719" y="227330"/>
                </a:lnTo>
                <a:lnTo>
                  <a:pt x="212217" y="188849"/>
                </a:lnTo>
                <a:close/>
              </a:path>
              <a:path w="233045" h="271779">
                <a:moveTo>
                  <a:pt x="9652" y="0"/>
                </a:moveTo>
                <a:lnTo>
                  <a:pt x="0" y="8128"/>
                </a:lnTo>
                <a:lnTo>
                  <a:pt x="178348" y="217678"/>
                </a:lnTo>
                <a:lnTo>
                  <a:pt x="188027" y="209439"/>
                </a:lnTo>
                <a:lnTo>
                  <a:pt x="96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81911" y="4396740"/>
            <a:ext cx="204470" cy="76200"/>
          </a:xfrm>
          <a:custGeom>
            <a:avLst/>
            <a:gdLst/>
            <a:ahLst/>
            <a:cxnLst/>
            <a:rect l="l" t="t" r="r" b="b"/>
            <a:pathLst>
              <a:path w="20446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0446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04469" h="76200">
                <a:moveTo>
                  <a:pt x="20446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04469" y="44450"/>
                </a:lnTo>
                <a:lnTo>
                  <a:pt x="204469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7089" y="3380547"/>
            <a:ext cx="6939915" cy="161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50995" marR="145415">
              <a:lnSpc>
                <a:spcPts val="3670"/>
              </a:lnSpc>
            </a:pPr>
            <a:r>
              <a:rPr sz="1600" u="sng" spc="-5" dirty="0">
                <a:solidFill>
                  <a:srgbClr val="FFFFFF"/>
                </a:solidFill>
                <a:latin typeface="微软雅黑"/>
                <a:cs typeface="微软雅黑"/>
              </a:rPr>
              <a:t>进行列表元素的排序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600" u="sng" spc="-5" dirty="0">
                <a:solidFill>
                  <a:srgbClr val="FFFFFF"/>
                </a:solidFill>
                <a:latin typeface="微软雅黑"/>
                <a:cs typeface="微软雅黑"/>
              </a:rPr>
              <a:t>上下限设为列表的首、末位置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u="sng" spc="-5" dirty="0">
                <a:solidFill>
                  <a:srgbClr val="FFFFFF"/>
                </a:solidFill>
                <a:latin typeface="微软雅黑"/>
                <a:cs typeface="微软雅黑"/>
              </a:rPr>
              <a:t>断言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300">
              <a:latin typeface="Times New Roman"/>
              <a:cs typeface="Times New Roman"/>
            </a:endParaRPr>
          </a:p>
          <a:p>
            <a:pPr marL="4291965">
              <a:lnSpc>
                <a:spcPct val="100000"/>
              </a:lnSpc>
            </a:pPr>
            <a:r>
              <a:rPr sz="1600" u="sng" spc="-5" dirty="0">
                <a:solidFill>
                  <a:srgbClr val="FFFFFF"/>
                </a:solidFill>
                <a:latin typeface="微软雅黑"/>
                <a:cs typeface="微软雅黑"/>
              </a:rPr>
              <a:t>判断数字与上下界元素的关系</a:t>
            </a:r>
            <a:endParaRPr sz="16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74775" y="2057400"/>
          <a:ext cx="7124699" cy="94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9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925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01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试一试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1F487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25908">
                      <a:solidFill>
                        <a:srgbClr val="1F487C"/>
                      </a:solidFill>
                      <a:prstDash val="solid"/>
                    </a:lnR>
                    <a:lnT w="25908">
                      <a:solidFill>
                        <a:srgbClr val="1F487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0">
                <a:tc gridSpan="3"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使用Pyt</a:t>
                      </a:r>
                      <a:r>
                        <a:rPr sz="1800" spc="-10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800" spc="-15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实现二分查找算法，并输出列表中所查找的元素的位置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5908">
                      <a:solidFill>
                        <a:srgbClr val="1F487C"/>
                      </a:solidFill>
                      <a:prstDash val="solid"/>
                    </a:lnL>
                    <a:lnR w="25908">
                      <a:solidFill>
                        <a:srgbClr val="1F487C"/>
                      </a:solidFill>
                      <a:prstDash val="solid"/>
                    </a:lnR>
                    <a:lnB w="25908">
                      <a:solidFill>
                        <a:srgbClr val="1F48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780" y="2539297"/>
            <a:ext cx="3021965" cy="890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00FF"/>
                </a:solidFill>
                <a:latin typeface="微软雅黑"/>
                <a:cs typeface="微软雅黑"/>
              </a:rPr>
              <a:t>cl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a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ss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000" spc="-195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ra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i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():</a:t>
            </a:r>
            <a:endParaRPr sz="2000">
              <a:latin typeface="微软雅黑"/>
              <a:cs typeface="微软雅黑"/>
            </a:endParaRPr>
          </a:p>
          <a:p>
            <a:pPr marL="610235" marR="5080" indent="-299085">
              <a:lnSpc>
                <a:spcPct val="100000"/>
              </a:lnSpc>
              <a:tabLst>
                <a:tab pos="1007744" algn="l"/>
                <a:tab pos="1621790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000" spc="-2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00FF"/>
                </a:solidFill>
                <a:latin typeface="微软雅黑"/>
                <a:cs typeface="微软雅黑"/>
              </a:rPr>
              <a:t> 	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in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i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000" u="heavy" dirty="0">
                <a:latin typeface="微软雅黑"/>
                <a:cs typeface="微软雅黑"/>
              </a:rPr>
              <a:t> 	</a:t>
            </a:r>
            <a:r>
              <a:rPr sz="2000" dirty="0">
                <a:latin typeface="微软雅黑"/>
                <a:cs typeface="微软雅黑"/>
              </a:rPr>
              <a:t>(se</a:t>
            </a:r>
            <a:r>
              <a:rPr sz="2000" spc="-5" dirty="0">
                <a:latin typeface="微软雅黑"/>
                <a:cs typeface="微软雅黑"/>
              </a:rPr>
              <a:t>l</a:t>
            </a:r>
            <a:r>
              <a:rPr sz="2000" spc="-135" dirty="0">
                <a:latin typeface="微软雅黑"/>
                <a:cs typeface="微软雅黑"/>
              </a:rPr>
              <a:t>f</a:t>
            </a:r>
            <a:r>
              <a:rPr sz="2000" dirty="0">
                <a:latin typeface="微软雅黑"/>
                <a:cs typeface="微软雅黑"/>
              </a:rPr>
              <a:t>,</a:t>
            </a:r>
            <a:r>
              <a:rPr sz="2000" spc="15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colo</a:t>
            </a:r>
            <a:r>
              <a:rPr sz="2000" dirty="0">
                <a:latin typeface="微软雅黑"/>
                <a:cs typeface="微软雅黑"/>
              </a:rPr>
              <a:t>r): se</a:t>
            </a:r>
            <a:r>
              <a:rPr sz="2000" spc="-5" dirty="0">
                <a:latin typeface="微软雅黑"/>
                <a:cs typeface="微软雅黑"/>
              </a:rPr>
              <a:t>l</a:t>
            </a:r>
            <a:r>
              <a:rPr sz="2000" spc="-140" dirty="0">
                <a:latin typeface="微软雅黑"/>
                <a:cs typeface="微软雅黑"/>
              </a:rPr>
              <a:t>f</a:t>
            </a:r>
            <a:r>
              <a:rPr sz="2000" dirty="0">
                <a:latin typeface="微软雅黑"/>
                <a:cs typeface="微软雅黑"/>
              </a:rPr>
              <a:t>.co</a:t>
            </a:r>
            <a:r>
              <a:rPr sz="2000" spc="-10" dirty="0">
                <a:latin typeface="微软雅黑"/>
                <a:cs typeface="微软雅黑"/>
              </a:rPr>
              <a:t>l</a:t>
            </a:r>
            <a:r>
              <a:rPr sz="2000" dirty="0">
                <a:latin typeface="微软雅黑"/>
                <a:cs typeface="微软雅黑"/>
              </a:rPr>
              <a:t>or</a:t>
            </a:r>
            <a:r>
              <a:rPr sz="2000" spc="-5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= </a:t>
            </a:r>
            <a:r>
              <a:rPr sz="2000" spc="-5" dirty="0">
                <a:latin typeface="微软雅黑"/>
                <a:cs typeface="微软雅黑"/>
              </a:rPr>
              <a:t>co</a:t>
            </a:r>
            <a:r>
              <a:rPr sz="2000" spc="-10" dirty="0">
                <a:latin typeface="微软雅黑"/>
                <a:cs typeface="微软雅黑"/>
              </a:rPr>
              <a:t>l</a:t>
            </a:r>
            <a:r>
              <a:rPr sz="2000" dirty="0">
                <a:latin typeface="微软雅黑"/>
                <a:cs typeface="微软雅黑"/>
              </a:rPr>
              <a:t>or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56485" y="3758877"/>
            <a:ext cx="4234180" cy="585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000" spc="-2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run</a:t>
            </a:r>
            <a:r>
              <a:rPr sz="2000" dirty="0">
                <a:latin typeface="微软雅黑"/>
                <a:cs typeface="微软雅黑"/>
              </a:rPr>
              <a:t>(se</a:t>
            </a:r>
            <a:r>
              <a:rPr sz="2000" spc="-10" dirty="0">
                <a:latin typeface="微软雅黑"/>
                <a:cs typeface="微软雅黑"/>
              </a:rPr>
              <a:t>l</a:t>
            </a:r>
            <a:r>
              <a:rPr sz="2000" spc="140" dirty="0">
                <a:latin typeface="微软雅黑"/>
                <a:cs typeface="微软雅黑"/>
              </a:rPr>
              <a:t>f</a:t>
            </a:r>
            <a:r>
              <a:rPr sz="2000" dirty="0">
                <a:latin typeface="微软雅黑"/>
                <a:cs typeface="微软雅黑"/>
              </a:rPr>
              <a:t>):</a:t>
            </a:r>
            <a:endParaRPr sz="2000">
              <a:latin typeface="微软雅黑"/>
              <a:cs typeface="微软雅黑"/>
            </a:endParaRPr>
          </a:p>
          <a:p>
            <a:pPr marL="311150">
              <a:lnSpc>
                <a:spcPct val="100000"/>
              </a:lnSpc>
            </a:pPr>
            <a:r>
              <a:rPr sz="2000" dirty="0">
                <a:latin typeface="微软雅黑"/>
                <a:cs typeface="微软雅黑"/>
              </a:rPr>
              <a:t>print</a:t>
            </a:r>
            <a:r>
              <a:rPr sz="2000" spc="-5" dirty="0">
                <a:latin typeface="微软雅黑"/>
                <a:cs typeface="微软雅黑"/>
              </a:rPr>
              <a:t>(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'Wuwuw</a:t>
            </a:r>
            <a:r>
              <a:rPr sz="2000" spc="5" dirty="0">
                <a:solidFill>
                  <a:srgbClr val="A21515"/>
                </a:solidFill>
                <a:latin typeface="微软雅黑"/>
                <a:cs typeface="微软雅黑"/>
              </a:rPr>
              <a:t>u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~</a:t>
            </a:r>
            <a:r>
              <a:rPr sz="2000" spc="-40" dirty="0">
                <a:solidFill>
                  <a:srgbClr val="A21515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I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am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running!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'</a:t>
            </a:r>
            <a:r>
              <a:rPr sz="2000" dirty="0">
                <a:latin typeface="微软雅黑"/>
                <a:cs typeface="微软雅黑"/>
              </a:rPr>
              <a:t>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6485" y="4673776"/>
            <a:ext cx="2322195" cy="890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0" marR="5080" indent="-299085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000" spc="-2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A21515"/>
                </a:solidFill>
                <a:latin typeface="微软雅黑"/>
                <a:cs typeface="微软雅黑"/>
              </a:rPr>
              <a:t>run_tw</a:t>
            </a:r>
            <a:r>
              <a:rPr sz="2000" spc="-10" dirty="0">
                <a:solidFill>
                  <a:srgbClr val="A21515"/>
                </a:solidFill>
                <a:latin typeface="微软雅黑"/>
                <a:cs typeface="微软雅黑"/>
              </a:rPr>
              <a:t>i</a:t>
            </a:r>
            <a:r>
              <a:rPr sz="2000" spc="-5" dirty="0">
                <a:solidFill>
                  <a:srgbClr val="A21515"/>
                </a:solidFill>
                <a:latin typeface="微软雅黑"/>
                <a:cs typeface="微软雅黑"/>
              </a:rPr>
              <a:t>c</a:t>
            </a:r>
            <a:r>
              <a:rPr sz="2000" spc="5" dirty="0">
                <a:solidFill>
                  <a:srgbClr val="A21515"/>
                </a:solidFill>
                <a:latin typeface="微软雅黑"/>
                <a:cs typeface="微软雅黑"/>
              </a:rPr>
              <a:t>e</a:t>
            </a:r>
            <a:r>
              <a:rPr sz="2000" dirty="0">
                <a:latin typeface="微软雅黑"/>
                <a:cs typeface="微软雅黑"/>
              </a:rPr>
              <a:t>(sel</a:t>
            </a:r>
            <a:r>
              <a:rPr sz="2000" spc="140" dirty="0">
                <a:latin typeface="微软雅黑"/>
                <a:cs typeface="微软雅黑"/>
              </a:rPr>
              <a:t>f</a:t>
            </a:r>
            <a:r>
              <a:rPr sz="2000" dirty="0">
                <a:latin typeface="微软雅黑"/>
                <a:cs typeface="微软雅黑"/>
              </a:rPr>
              <a:t>): se</a:t>
            </a:r>
            <a:r>
              <a:rPr sz="2000" spc="-10" dirty="0">
                <a:latin typeface="微软雅黑"/>
                <a:cs typeface="微软雅黑"/>
              </a:rPr>
              <a:t>l</a:t>
            </a:r>
            <a:r>
              <a:rPr sz="2000" spc="-135" dirty="0">
                <a:latin typeface="微软雅黑"/>
                <a:cs typeface="微软雅黑"/>
              </a:rPr>
              <a:t>f</a:t>
            </a:r>
            <a:r>
              <a:rPr sz="2000" dirty="0">
                <a:latin typeface="微软雅黑"/>
                <a:cs typeface="微软雅黑"/>
              </a:rPr>
              <a:t>.ru</a:t>
            </a:r>
            <a:r>
              <a:rPr sz="2000" spc="-5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() se</a:t>
            </a:r>
            <a:r>
              <a:rPr sz="2000" spc="-5" dirty="0">
                <a:latin typeface="微软雅黑"/>
                <a:cs typeface="微软雅黑"/>
              </a:rPr>
              <a:t>l</a:t>
            </a:r>
            <a:r>
              <a:rPr sz="2000" spc="-140" dirty="0">
                <a:latin typeface="微软雅黑"/>
                <a:cs typeface="微软雅黑"/>
              </a:rPr>
              <a:t>f</a:t>
            </a:r>
            <a:r>
              <a:rPr sz="2000" dirty="0">
                <a:latin typeface="微软雅黑"/>
                <a:cs typeface="微软雅黑"/>
              </a:rPr>
              <a:t>.run()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202" y="2453562"/>
            <a:ext cx="78930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类定义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关键字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28871" y="3852671"/>
            <a:ext cx="3180715" cy="76200"/>
          </a:xfrm>
          <a:custGeom>
            <a:avLst/>
            <a:gdLst/>
            <a:ahLst/>
            <a:cxnLst/>
            <a:rect l="l" t="t" r="r" b="b"/>
            <a:pathLst>
              <a:path w="3180715" h="76200">
                <a:moveTo>
                  <a:pt x="3104514" y="0"/>
                </a:moveTo>
                <a:lnTo>
                  <a:pt x="3104514" y="76200"/>
                </a:lnTo>
                <a:lnTo>
                  <a:pt x="3168014" y="44450"/>
                </a:lnTo>
                <a:lnTo>
                  <a:pt x="3117214" y="44450"/>
                </a:lnTo>
                <a:lnTo>
                  <a:pt x="3117214" y="31750"/>
                </a:lnTo>
                <a:lnTo>
                  <a:pt x="3168014" y="31750"/>
                </a:lnTo>
                <a:lnTo>
                  <a:pt x="3104514" y="0"/>
                </a:lnTo>
                <a:close/>
              </a:path>
              <a:path w="3180715" h="76200">
                <a:moveTo>
                  <a:pt x="31045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04514" y="44450"/>
                </a:lnTo>
                <a:lnTo>
                  <a:pt x="3104514" y="31750"/>
                </a:lnTo>
                <a:close/>
              </a:path>
              <a:path w="3180715" h="76200">
                <a:moveTo>
                  <a:pt x="3168014" y="31750"/>
                </a:moveTo>
                <a:lnTo>
                  <a:pt x="3117214" y="31750"/>
                </a:lnTo>
                <a:lnTo>
                  <a:pt x="3117214" y="44450"/>
                </a:lnTo>
                <a:lnTo>
                  <a:pt x="3168014" y="44450"/>
                </a:lnTo>
                <a:lnTo>
                  <a:pt x="3180714" y="38100"/>
                </a:lnTo>
                <a:lnTo>
                  <a:pt x="3168014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07122" y="3764583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成员函数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51203" y="2695955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72707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727075" h="76200">
                <a:moveTo>
                  <a:pt x="726947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726947" y="44450"/>
                </a:lnTo>
                <a:lnTo>
                  <a:pt x="726947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76220" y="1863530"/>
            <a:ext cx="78930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类名称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12007" y="2177795"/>
            <a:ext cx="76200" cy="352425"/>
          </a:xfrm>
          <a:custGeom>
            <a:avLst/>
            <a:gdLst/>
            <a:ahLst/>
            <a:cxnLst/>
            <a:rect l="l" t="t" r="r" b="b"/>
            <a:pathLst>
              <a:path w="76200" h="352425">
                <a:moveTo>
                  <a:pt x="44450" y="63500"/>
                </a:moveTo>
                <a:lnTo>
                  <a:pt x="31750" y="63500"/>
                </a:lnTo>
                <a:lnTo>
                  <a:pt x="31750" y="352298"/>
                </a:lnTo>
                <a:lnTo>
                  <a:pt x="44450" y="352298"/>
                </a:lnTo>
                <a:lnTo>
                  <a:pt x="44450" y="63500"/>
                </a:lnTo>
                <a:close/>
              </a:path>
              <a:path w="76200" h="35242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5242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07783" y="2889426"/>
            <a:ext cx="129984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初始化函数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70932" y="2977895"/>
            <a:ext cx="1657985" cy="76200"/>
          </a:xfrm>
          <a:custGeom>
            <a:avLst/>
            <a:gdLst/>
            <a:ahLst/>
            <a:cxnLst/>
            <a:rect l="l" t="t" r="r" b="b"/>
            <a:pathLst>
              <a:path w="1657984" h="76200">
                <a:moveTo>
                  <a:pt x="1581531" y="0"/>
                </a:moveTo>
                <a:lnTo>
                  <a:pt x="1581531" y="76200"/>
                </a:lnTo>
                <a:lnTo>
                  <a:pt x="1645031" y="44450"/>
                </a:lnTo>
                <a:lnTo>
                  <a:pt x="1594231" y="44450"/>
                </a:lnTo>
                <a:lnTo>
                  <a:pt x="1594231" y="31750"/>
                </a:lnTo>
                <a:lnTo>
                  <a:pt x="1645031" y="31750"/>
                </a:lnTo>
                <a:lnTo>
                  <a:pt x="1581531" y="0"/>
                </a:lnTo>
                <a:close/>
              </a:path>
              <a:path w="1657984" h="76200">
                <a:moveTo>
                  <a:pt x="15815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581531" y="44450"/>
                </a:lnTo>
                <a:lnTo>
                  <a:pt x="1581531" y="31750"/>
                </a:lnTo>
                <a:close/>
              </a:path>
              <a:path w="1657984" h="76200">
                <a:moveTo>
                  <a:pt x="1645031" y="31750"/>
                </a:moveTo>
                <a:lnTo>
                  <a:pt x="1594231" y="31750"/>
                </a:lnTo>
                <a:lnTo>
                  <a:pt x="1594231" y="44450"/>
                </a:lnTo>
                <a:lnTo>
                  <a:pt x="1645031" y="44450"/>
                </a:lnTo>
                <a:lnTo>
                  <a:pt x="1657731" y="38100"/>
                </a:lnTo>
                <a:lnTo>
                  <a:pt x="1645031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8688" y="3950765"/>
            <a:ext cx="189420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成员变量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使用se</a:t>
            </a:r>
            <a:r>
              <a:rPr sz="2000" u="heavy" spc="-10" dirty="0">
                <a:solidFill>
                  <a:srgbClr val="006FC0"/>
                </a:solidFill>
                <a:latin typeface="微软雅黑"/>
                <a:cs typeface="微软雅黑"/>
              </a:rPr>
              <a:t>l</a:t>
            </a:r>
            <a:r>
              <a:rPr sz="2000" u="heavy" spc="-135" dirty="0">
                <a:solidFill>
                  <a:srgbClr val="006FC0"/>
                </a:solidFill>
                <a:latin typeface="微软雅黑"/>
                <a:cs typeface="微软雅黑"/>
              </a:rPr>
              <a:t>f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.xxx调用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86839" y="3423284"/>
            <a:ext cx="1178560" cy="571500"/>
          </a:xfrm>
          <a:custGeom>
            <a:avLst/>
            <a:gdLst/>
            <a:ahLst/>
            <a:cxnLst/>
            <a:rect l="l" t="t" r="r" b="b"/>
            <a:pathLst>
              <a:path w="1178560" h="571500">
                <a:moveTo>
                  <a:pt x="52196" y="502284"/>
                </a:moveTo>
                <a:lnTo>
                  <a:pt x="0" y="569594"/>
                </a:lnTo>
                <a:lnTo>
                  <a:pt x="85216" y="570991"/>
                </a:lnTo>
                <a:lnTo>
                  <a:pt x="74108" y="547877"/>
                </a:lnTo>
                <a:lnTo>
                  <a:pt x="59943" y="547877"/>
                </a:lnTo>
                <a:lnTo>
                  <a:pt x="54482" y="536447"/>
                </a:lnTo>
                <a:lnTo>
                  <a:pt x="65968" y="530939"/>
                </a:lnTo>
                <a:lnTo>
                  <a:pt x="52196" y="502284"/>
                </a:lnTo>
                <a:close/>
              </a:path>
              <a:path w="1178560" h="571500">
                <a:moveTo>
                  <a:pt x="65968" y="530939"/>
                </a:moveTo>
                <a:lnTo>
                  <a:pt x="54482" y="536447"/>
                </a:lnTo>
                <a:lnTo>
                  <a:pt x="59943" y="547877"/>
                </a:lnTo>
                <a:lnTo>
                  <a:pt x="71455" y="542356"/>
                </a:lnTo>
                <a:lnTo>
                  <a:pt x="65968" y="530939"/>
                </a:lnTo>
                <a:close/>
              </a:path>
              <a:path w="1178560" h="571500">
                <a:moveTo>
                  <a:pt x="71455" y="542356"/>
                </a:moveTo>
                <a:lnTo>
                  <a:pt x="59943" y="547877"/>
                </a:lnTo>
                <a:lnTo>
                  <a:pt x="74108" y="547877"/>
                </a:lnTo>
                <a:lnTo>
                  <a:pt x="71455" y="542356"/>
                </a:lnTo>
                <a:close/>
              </a:path>
              <a:path w="1178560" h="571500">
                <a:moveTo>
                  <a:pt x="1172972" y="0"/>
                </a:moveTo>
                <a:lnTo>
                  <a:pt x="65968" y="530939"/>
                </a:lnTo>
                <a:lnTo>
                  <a:pt x="71455" y="542356"/>
                </a:lnTo>
                <a:lnTo>
                  <a:pt x="1178433" y="11429"/>
                </a:lnTo>
                <a:lnTo>
                  <a:pt x="117297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41503" y="5840246"/>
            <a:ext cx="307975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使用se</a:t>
            </a:r>
            <a:r>
              <a:rPr sz="20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l</a:t>
            </a:r>
            <a:r>
              <a:rPr sz="2000" u="heavy" spc="-140" dirty="0">
                <a:solidFill>
                  <a:srgbClr val="006FC0"/>
                </a:solidFill>
                <a:latin typeface="微软雅黑"/>
                <a:cs typeface="微软雅黑"/>
              </a:rPr>
              <a:t>f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.xx</a:t>
            </a:r>
            <a:r>
              <a:rPr sz="2000" u="heavy" spc="5" dirty="0">
                <a:solidFill>
                  <a:srgbClr val="006FC0"/>
                </a:solidFill>
                <a:latin typeface="微软雅黑"/>
                <a:cs typeface="微软雅黑"/>
              </a:rPr>
              <a:t>x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(</a:t>
            </a:r>
            <a:r>
              <a:rPr sz="2000" u="heavy" spc="-10" dirty="0">
                <a:solidFill>
                  <a:srgbClr val="006FC0"/>
                </a:solidFill>
                <a:latin typeface="微软雅黑"/>
                <a:cs typeface="微软雅黑"/>
              </a:rPr>
              <a:t>)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调用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成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员函数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6839" y="5185028"/>
            <a:ext cx="1235075" cy="599440"/>
          </a:xfrm>
          <a:custGeom>
            <a:avLst/>
            <a:gdLst/>
            <a:ahLst/>
            <a:cxnLst/>
            <a:rect l="l" t="t" r="r" b="b"/>
            <a:pathLst>
              <a:path w="1235075" h="599439">
                <a:moveTo>
                  <a:pt x="52196" y="530606"/>
                </a:moveTo>
                <a:lnTo>
                  <a:pt x="0" y="597954"/>
                </a:lnTo>
                <a:lnTo>
                  <a:pt x="85216" y="599287"/>
                </a:lnTo>
                <a:lnTo>
                  <a:pt x="74104" y="576173"/>
                </a:lnTo>
                <a:lnTo>
                  <a:pt x="59943" y="576173"/>
                </a:lnTo>
                <a:lnTo>
                  <a:pt x="54482" y="564718"/>
                </a:lnTo>
                <a:lnTo>
                  <a:pt x="65947" y="559208"/>
                </a:lnTo>
                <a:lnTo>
                  <a:pt x="52196" y="530606"/>
                </a:lnTo>
                <a:close/>
              </a:path>
              <a:path w="1235075" h="599439">
                <a:moveTo>
                  <a:pt x="65947" y="559208"/>
                </a:moveTo>
                <a:lnTo>
                  <a:pt x="54482" y="564718"/>
                </a:lnTo>
                <a:lnTo>
                  <a:pt x="59943" y="576173"/>
                </a:lnTo>
                <a:lnTo>
                  <a:pt x="71446" y="570645"/>
                </a:lnTo>
                <a:lnTo>
                  <a:pt x="65947" y="559208"/>
                </a:lnTo>
                <a:close/>
              </a:path>
              <a:path w="1235075" h="599439">
                <a:moveTo>
                  <a:pt x="71446" y="570645"/>
                </a:moveTo>
                <a:lnTo>
                  <a:pt x="59943" y="576173"/>
                </a:lnTo>
                <a:lnTo>
                  <a:pt x="74104" y="576173"/>
                </a:lnTo>
                <a:lnTo>
                  <a:pt x="71446" y="570645"/>
                </a:lnTo>
                <a:close/>
              </a:path>
              <a:path w="1235075" h="599439">
                <a:moveTo>
                  <a:pt x="1229486" y="0"/>
                </a:moveTo>
                <a:lnTo>
                  <a:pt x="65947" y="559208"/>
                </a:lnTo>
                <a:lnTo>
                  <a:pt x="71446" y="570645"/>
                </a:lnTo>
                <a:lnTo>
                  <a:pt x="1235074" y="11430"/>
                </a:lnTo>
                <a:lnTo>
                  <a:pt x="1229486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97628" y="4967985"/>
            <a:ext cx="2072005" cy="254635"/>
          </a:xfrm>
          <a:custGeom>
            <a:avLst/>
            <a:gdLst/>
            <a:ahLst/>
            <a:cxnLst/>
            <a:rect l="l" t="t" r="r" b="b"/>
            <a:pathLst>
              <a:path w="2072004" h="254635">
                <a:moveTo>
                  <a:pt x="2000123" y="178307"/>
                </a:moveTo>
                <a:lnTo>
                  <a:pt x="1996791" y="209875"/>
                </a:lnTo>
                <a:lnTo>
                  <a:pt x="2009394" y="211200"/>
                </a:lnTo>
                <a:lnTo>
                  <a:pt x="2008124" y="223774"/>
                </a:lnTo>
                <a:lnTo>
                  <a:pt x="1995325" y="223774"/>
                </a:lnTo>
                <a:lnTo>
                  <a:pt x="1992122" y="254126"/>
                </a:lnTo>
                <a:lnTo>
                  <a:pt x="2071878" y="224155"/>
                </a:lnTo>
                <a:lnTo>
                  <a:pt x="2071281" y="223774"/>
                </a:lnTo>
                <a:lnTo>
                  <a:pt x="2008124" y="223774"/>
                </a:lnTo>
                <a:lnTo>
                  <a:pt x="1995465" y="222443"/>
                </a:lnTo>
                <a:lnTo>
                  <a:pt x="2069199" y="222443"/>
                </a:lnTo>
                <a:lnTo>
                  <a:pt x="2000123" y="178307"/>
                </a:lnTo>
                <a:close/>
              </a:path>
              <a:path w="2072004" h="254635">
                <a:moveTo>
                  <a:pt x="1996791" y="209875"/>
                </a:moveTo>
                <a:lnTo>
                  <a:pt x="1995465" y="222443"/>
                </a:lnTo>
                <a:lnTo>
                  <a:pt x="2008124" y="223774"/>
                </a:lnTo>
                <a:lnTo>
                  <a:pt x="2009394" y="211200"/>
                </a:lnTo>
                <a:lnTo>
                  <a:pt x="1996791" y="209875"/>
                </a:lnTo>
                <a:close/>
              </a:path>
              <a:path w="2072004" h="254635">
                <a:moveTo>
                  <a:pt x="1270" y="0"/>
                </a:moveTo>
                <a:lnTo>
                  <a:pt x="0" y="12700"/>
                </a:lnTo>
                <a:lnTo>
                  <a:pt x="1995465" y="222443"/>
                </a:lnTo>
                <a:lnTo>
                  <a:pt x="1996791" y="209875"/>
                </a:lnTo>
                <a:lnTo>
                  <a:pt x="1270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5940" y="722807"/>
            <a:ext cx="3580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类的定义与调用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类的定义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04761" y="5023661"/>
            <a:ext cx="1297940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成员函数的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必要参数，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指向类自己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4376928"/>
            <a:ext cx="1188720" cy="76200"/>
          </a:xfrm>
          <a:custGeom>
            <a:avLst/>
            <a:gdLst/>
            <a:ahLst/>
            <a:cxnLst/>
            <a:rect l="l" t="t" r="r" b="b"/>
            <a:pathLst>
              <a:path w="1188720" h="76200">
                <a:moveTo>
                  <a:pt x="1112520" y="0"/>
                </a:moveTo>
                <a:lnTo>
                  <a:pt x="1112520" y="76200"/>
                </a:lnTo>
                <a:lnTo>
                  <a:pt x="1176020" y="44450"/>
                </a:lnTo>
                <a:lnTo>
                  <a:pt x="1125220" y="44450"/>
                </a:lnTo>
                <a:lnTo>
                  <a:pt x="1125220" y="31750"/>
                </a:lnTo>
                <a:lnTo>
                  <a:pt x="1176020" y="31750"/>
                </a:lnTo>
                <a:lnTo>
                  <a:pt x="1112520" y="0"/>
                </a:lnTo>
                <a:close/>
              </a:path>
              <a:path w="1188720" h="76200">
                <a:moveTo>
                  <a:pt x="1112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12520" y="44450"/>
                </a:lnTo>
                <a:lnTo>
                  <a:pt x="1112520" y="31750"/>
                </a:lnTo>
                <a:close/>
              </a:path>
              <a:path w="1188720" h="76200">
                <a:moveTo>
                  <a:pt x="1176020" y="31750"/>
                </a:moveTo>
                <a:lnTo>
                  <a:pt x="1125220" y="31750"/>
                </a:lnTo>
                <a:lnTo>
                  <a:pt x="1125220" y="44450"/>
                </a:lnTo>
                <a:lnTo>
                  <a:pt x="1176020" y="44450"/>
                </a:lnTo>
                <a:lnTo>
                  <a:pt x="1188720" y="38100"/>
                </a:lnTo>
                <a:lnTo>
                  <a:pt x="11760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56432" y="3425952"/>
            <a:ext cx="307340" cy="567690"/>
          </a:xfrm>
          <a:custGeom>
            <a:avLst/>
            <a:gdLst/>
            <a:ahLst/>
            <a:cxnLst/>
            <a:rect l="l" t="t" r="r" b="b"/>
            <a:pathLst>
              <a:path w="307339" h="567689">
                <a:moveTo>
                  <a:pt x="2285" y="482092"/>
                </a:moveTo>
                <a:lnTo>
                  <a:pt x="0" y="567182"/>
                </a:lnTo>
                <a:lnTo>
                  <a:pt x="69468" y="517906"/>
                </a:lnTo>
                <a:lnTo>
                  <a:pt x="62560" y="514223"/>
                </a:lnTo>
                <a:lnTo>
                  <a:pt x="35559" y="514223"/>
                </a:lnTo>
                <a:lnTo>
                  <a:pt x="24256" y="508254"/>
                </a:lnTo>
                <a:lnTo>
                  <a:pt x="30263" y="497006"/>
                </a:lnTo>
                <a:lnTo>
                  <a:pt x="2285" y="482092"/>
                </a:lnTo>
                <a:close/>
              </a:path>
              <a:path w="307339" h="567689">
                <a:moveTo>
                  <a:pt x="30263" y="497006"/>
                </a:moveTo>
                <a:lnTo>
                  <a:pt x="24256" y="508254"/>
                </a:lnTo>
                <a:lnTo>
                  <a:pt x="35559" y="514223"/>
                </a:lnTo>
                <a:lnTo>
                  <a:pt x="41541" y="503018"/>
                </a:lnTo>
                <a:lnTo>
                  <a:pt x="30263" y="497006"/>
                </a:lnTo>
                <a:close/>
              </a:path>
              <a:path w="307339" h="567689">
                <a:moveTo>
                  <a:pt x="41541" y="503018"/>
                </a:moveTo>
                <a:lnTo>
                  <a:pt x="35559" y="514223"/>
                </a:lnTo>
                <a:lnTo>
                  <a:pt x="62560" y="514223"/>
                </a:lnTo>
                <a:lnTo>
                  <a:pt x="41541" y="503018"/>
                </a:lnTo>
                <a:close/>
              </a:path>
              <a:path w="307339" h="567689">
                <a:moveTo>
                  <a:pt x="295655" y="0"/>
                </a:moveTo>
                <a:lnTo>
                  <a:pt x="30263" y="497006"/>
                </a:lnTo>
                <a:lnTo>
                  <a:pt x="41541" y="503018"/>
                </a:lnTo>
                <a:lnTo>
                  <a:pt x="306831" y="6096"/>
                </a:lnTo>
                <a:lnTo>
                  <a:pt x="295655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58667" y="4697857"/>
            <a:ext cx="2702560" cy="76200"/>
          </a:xfrm>
          <a:custGeom>
            <a:avLst/>
            <a:gdLst/>
            <a:ahLst/>
            <a:cxnLst/>
            <a:rect l="l" t="t" r="r" b="b"/>
            <a:pathLst>
              <a:path w="2702560" h="76200">
                <a:moveTo>
                  <a:pt x="2626339" y="44394"/>
                </a:moveTo>
                <a:lnTo>
                  <a:pt x="2626233" y="76200"/>
                </a:lnTo>
                <a:lnTo>
                  <a:pt x="2690265" y="44450"/>
                </a:lnTo>
                <a:lnTo>
                  <a:pt x="2639060" y="44450"/>
                </a:lnTo>
                <a:lnTo>
                  <a:pt x="2626339" y="44394"/>
                </a:lnTo>
                <a:close/>
              </a:path>
              <a:path w="2702560" h="76200">
                <a:moveTo>
                  <a:pt x="2626381" y="31694"/>
                </a:moveTo>
                <a:lnTo>
                  <a:pt x="2626339" y="44394"/>
                </a:lnTo>
                <a:lnTo>
                  <a:pt x="2639060" y="44450"/>
                </a:lnTo>
                <a:lnTo>
                  <a:pt x="2639060" y="31750"/>
                </a:lnTo>
                <a:lnTo>
                  <a:pt x="2626381" y="31694"/>
                </a:lnTo>
                <a:close/>
              </a:path>
              <a:path w="2702560" h="76200">
                <a:moveTo>
                  <a:pt x="2626486" y="0"/>
                </a:moveTo>
                <a:lnTo>
                  <a:pt x="2626381" y="31694"/>
                </a:lnTo>
                <a:lnTo>
                  <a:pt x="2639060" y="31750"/>
                </a:lnTo>
                <a:lnTo>
                  <a:pt x="2639060" y="44450"/>
                </a:lnTo>
                <a:lnTo>
                  <a:pt x="2690265" y="44450"/>
                </a:lnTo>
                <a:lnTo>
                  <a:pt x="2702560" y="38354"/>
                </a:lnTo>
                <a:lnTo>
                  <a:pt x="2626486" y="0"/>
                </a:lnTo>
                <a:close/>
              </a:path>
              <a:path w="2702560" h="76200">
                <a:moveTo>
                  <a:pt x="0" y="20193"/>
                </a:moveTo>
                <a:lnTo>
                  <a:pt x="0" y="32893"/>
                </a:lnTo>
                <a:lnTo>
                  <a:pt x="2626339" y="44394"/>
                </a:lnTo>
                <a:lnTo>
                  <a:pt x="2626381" y="31694"/>
                </a:lnTo>
                <a:lnTo>
                  <a:pt x="0" y="20193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05784" y="5247132"/>
            <a:ext cx="2154555" cy="76200"/>
          </a:xfrm>
          <a:custGeom>
            <a:avLst/>
            <a:gdLst/>
            <a:ahLst/>
            <a:cxnLst/>
            <a:rect l="l" t="t" r="r" b="b"/>
            <a:pathLst>
              <a:path w="2154554" h="76200">
                <a:moveTo>
                  <a:pt x="2078227" y="0"/>
                </a:moveTo>
                <a:lnTo>
                  <a:pt x="2078227" y="76200"/>
                </a:lnTo>
                <a:lnTo>
                  <a:pt x="2141728" y="44450"/>
                </a:lnTo>
                <a:lnTo>
                  <a:pt x="2090927" y="44450"/>
                </a:lnTo>
                <a:lnTo>
                  <a:pt x="2090927" y="31750"/>
                </a:lnTo>
                <a:lnTo>
                  <a:pt x="2141728" y="31750"/>
                </a:lnTo>
                <a:lnTo>
                  <a:pt x="2078227" y="0"/>
                </a:lnTo>
                <a:close/>
              </a:path>
              <a:path w="2154554" h="76200">
                <a:moveTo>
                  <a:pt x="207822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078227" y="44450"/>
                </a:lnTo>
                <a:lnTo>
                  <a:pt x="2078227" y="31750"/>
                </a:lnTo>
                <a:close/>
              </a:path>
              <a:path w="2154554" h="76200">
                <a:moveTo>
                  <a:pt x="2141728" y="31750"/>
                </a:moveTo>
                <a:lnTo>
                  <a:pt x="2090927" y="31750"/>
                </a:lnTo>
                <a:lnTo>
                  <a:pt x="2090927" y="44450"/>
                </a:lnTo>
                <a:lnTo>
                  <a:pt x="2141728" y="44450"/>
                </a:lnTo>
                <a:lnTo>
                  <a:pt x="2154428" y="38100"/>
                </a:lnTo>
                <a:lnTo>
                  <a:pt x="2141728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722807"/>
            <a:ext cx="3974465" cy="261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类的定义与调用</a:t>
            </a:r>
            <a:endParaRPr sz="4000">
              <a:latin typeface="微软雅黑"/>
              <a:cs typeface="微软雅黑"/>
            </a:endParaRPr>
          </a:p>
          <a:p>
            <a:pPr marL="367665" indent="-3556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类的调用方法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24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clas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s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spc="-225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rai</a:t>
            </a:r>
            <a:r>
              <a:rPr sz="2400" spc="-10" dirty="0">
                <a:solidFill>
                  <a:srgbClr val="A21515"/>
                </a:solidFill>
                <a:latin typeface="微软雅黑"/>
                <a:cs typeface="微软雅黑"/>
              </a:rPr>
              <a:t>n</a:t>
            </a:r>
            <a:r>
              <a:rPr sz="2400" spc="-5" dirty="0">
                <a:latin typeface="微软雅黑"/>
                <a:cs typeface="微软雅黑"/>
              </a:rPr>
              <a:t>():</a:t>
            </a:r>
            <a:endParaRPr sz="2400">
              <a:latin typeface="微软雅黑"/>
              <a:cs typeface="微软雅黑"/>
            </a:endParaRPr>
          </a:p>
          <a:p>
            <a:pPr marL="728345">
              <a:lnSpc>
                <a:spcPct val="100000"/>
              </a:lnSpc>
              <a:tabLst>
                <a:tab pos="1568450" algn="l"/>
                <a:tab pos="2306320" algn="l"/>
              </a:tabLst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u="heavy" spc="-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u="heavy" dirty="0">
                <a:solidFill>
                  <a:srgbClr val="0000FF"/>
                </a:solidFill>
                <a:latin typeface="微软雅黑"/>
                <a:cs typeface="微软雅黑"/>
              </a:rPr>
              <a:t>	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ini</a:t>
            </a:r>
            <a:r>
              <a:rPr sz="2400" spc="5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400" u="heavy" spc="-5" dirty="0">
                <a:latin typeface="微软雅黑"/>
                <a:cs typeface="微软雅黑"/>
              </a:rPr>
              <a:t> </a:t>
            </a:r>
            <a:r>
              <a:rPr sz="2400" u="heavy" dirty="0">
                <a:latin typeface="微软雅黑"/>
                <a:cs typeface="微软雅黑"/>
              </a:rPr>
              <a:t>	</a:t>
            </a:r>
            <a:r>
              <a:rPr sz="2400" spc="-5" dirty="0">
                <a:latin typeface="微软雅黑"/>
                <a:cs typeface="微软雅黑"/>
              </a:rPr>
              <a:t>(</a:t>
            </a:r>
            <a:r>
              <a:rPr sz="2400" dirty="0">
                <a:latin typeface="微软雅黑"/>
                <a:cs typeface="微软雅黑"/>
              </a:rPr>
              <a:t>s</a:t>
            </a:r>
            <a:r>
              <a:rPr sz="2400" spc="-5" dirty="0">
                <a:latin typeface="微软雅黑"/>
                <a:cs typeface="微软雅黑"/>
              </a:rPr>
              <a:t>el</a:t>
            </a:r>
            <a:r>
              <a:rPr sz="2400" spc="-185" dirty="0">
                <a:latin typeface="微软雅黑"/>
                <a:cs typeface="微软雅黑"/>
              </a:rPr>
              <a:t>f</a:t>
            </a:r>
            <a:r>
              <a:rPr sz="2400" spc="-5" dirty="0">
                <a:latin typeface="微软雅黑"/>
                <a:cs typeface="微软雅黑"/>
              </a:rPr>
              <a:t>,</a:t>
            </a:r>
            <a:r>
              <a:rPr sz="240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c</a:t>
            </a:r>
            <a:r>
              <a:rPr sz="2400" spc="-10" dirty="0">
                <a:latin typeface="微软雅黑"/>
                <a:cs typeface="微软雅黑"/>
              </a:rPr>
              <a:t>olo</a:t>
            </a:r>
            <a:r>
              <a:rPr sz="2400" spc="-15" dirty="0">
                <a:latin typeface="微软雅黑"/>
                <a:cs typeface="微软雅黑"/>
              </a:rPr>
              <a:t>r</a:t>
            </a:r>
            <a:r>
              <a:rPr sz="2400" spc="-5" dirty="0">
                <a:latin typeface="微软雅黑"/>
                <a:cs typeface="微软雅黑"/>
              </a:rPr>
              <a:t>):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219" y="3369181"/>
            <a:ext cx="46482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......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2060" y="4247945"/>
            <a:ext cx="2080260" cy="119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7780">
              <a:lnSpc>
                <a:spcPct val="1167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创建类的一个对象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调用类的成员函数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调用类的成员变量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2411" y="3564050"/>
            <a:ext cx="307848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参数将直接传入初始化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函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4215384"/>
            <a:ext cx="3840479" cy="1423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80203" y="3261359"/>
            <a:ext cx="2164080" cy="76200"/>
          </a:xfrm>
          <a:custGeom>
            <a:avLst/>
            <a:gdLst/>
            <a:ahLst/>
            <a:cxnLst/>
            <a:rect l="l" t="t" r="r" b="b"/>
            <a:pathLst>
              <a:path w="2164079" h="76200">
                <a:moveTo>
                  <a:pt x="2087499" y="0"/>
                </a:moveTo>
                <a:lnTo>
                  <a:pt x="2087499" y="76200"/>
                </a:lnTo>
                <a:lnTo>
                  <a:pt x="2150999" y="44450"/>
                </a:lnTo>
                <a:lnTo>
                  <a:pt x="2100199" y="44450"/>
                </a:lnTo>
                <a:lnTo>
                  <a:pt x="2100199" y="31750"/>
                </a:lnTo>
                <a:lnTo>
                  <a:pt x="2150999" y="31750"/>
                </a:lnTo>
                <a:lnTo>
                  <a:pt x="2087499" y="0"/>
                </a:lnTo>
                <a:close/>
              </a:path>
              <a:path w="2164079" h="76200">
                <a:moveTo>
                  <a:pt x="208749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087499" y="44450"/>
                </a:lnTo>
                <a:lnTo>
                  <a:pt x="2087499" y="31750"/>
                </a:lnTo>
                <a:close/>
              </a:path>
              <a:path w="2164079" h="76200">
                <a:moveTo>
                  <a:pt x="2150999" y="31750"/>
                </a:moveTo>
                <a:lnTo>
                  <a:pt x="2100199" y="31750"/>
                </a:lnTo>
                <a:lnTo>
                  <a:pt x="2100199" y="44450"/>
                </a:lnTo>
                <a:lnTo>
                  <a:pt x="2150999" y="44450"/>
                </a:lnTo>
                <a:lnTo>
                  <a:pt x="2163699" y="38100"/>
                </a:lnTo>
                <a:lnTo>
                  <a:pt x="2150999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45023" y="3617976"/>
            <a:ext cx="1699260" cy="76200"/>
          </a:xfrm>
          <a:custGeom>
            <a:avLst/>
            <a:gdLst/>
            <a:ahLst/>
            <a:cxnLst/>
            <a:rect l="l" t="t" r="r" b="b"/>
            <a:pathLst>
              <a:path w="1699259" h="76200">
                <a:moveTo>
                  <a:pt x="1623059" y="0"/>
                </a:moveTo>
                <a:lnTo>
                  <a:pt x="1623059" y="76200"/>
                </a:lnTo>
                <a:lnTo>
                  <a:pt x="1686559" y="44450"/>
                </a:lnTo>
                <a:lnTo>
                  <a:pt x="1635759" y="44450"/>
                </a:lnTo>
                <a:lnTo>
                  <a:pt x="1635759" y="31750"/>
                </a:lnTo>
                <a:lnTo>
                  <a:pt x="1686559" y="31750"/>
                </a:lnTo>
                <a:lnTo>
                  <a:pt x="1623059" y="0"/>
                </a:lnTo>
                <a:close/>
              </a:path>
              <a:path w="1699259" h="76200">
                <a:moveTo>
                  <a:pt x="162305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623059" y="44450"/>
                </a:lnTo>
                <a:lnTo>
                  <a:pt x="1623059" y="31750"/>
                </a:lnTo>
                <a:close/>
              </a:path>
              <a:path w="1699259" h="76200">
                <a:moveTo>
                  <a:pt x="1686559" y="31750"/>
                </a:moveTo>
                <a:lnTo>
                  <a:pt x="1635759" y="31750"/>
                </a:lnTo>
                <a:lnTo>
                  <a:pt x="1635759" y="44450"/>
                </a:lnTo>
                <a:lnTo>
                  <a:pt x="1686559" y="44450"/>
                </a:lnTo>
                <a:lnTo>
                  <a:pt x="1699259" y="38100"/>
                </a:lnTo>
                <a:lnTo>
                  <a:pt x="1686559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3848" y="3864864"/>
            <a:ext cx="76200" cy="244475"/>
          </a:xfrm>
          <a:custGeom>
            <a:avLst/>
            <a:gdLst/>
            <a:ahLst/>
            <a:cxnLst/>
            <a:rect l="l" t="t" r="r" b="b"/>
            <a:pathLst>
              <a:path w="76200" h="244475">
                <a:moveTo>
                  <a:pt x="31750" y="168148"/>
                </a:moveTo>
                <a:lnTo>
                  <a:pt x="0" y="168148"/>
                </a:lnTo>
                <a:lnTo>
                  <a:pt x="38100" y="244348"/>
                </a:lnTo>
                <a:lnTo>
                  <a:pt x="69850" y="180848"/>
                </a:lnTo>
                <a:lnTo>
                  <a:pt x="31750" y="180848"/>
                </a:lnTo>
                <a:lnTo>
                  <a:pt x="31750" y="168148"/>
                </a:lnTo>
                <a:close/>
              </a:path>
              <a:path w="76200" h="244475">
                <a:moveTo>
                  <a:pt x="44450" y="0"/>
                </a:moveTo>
                <a:lnTo>
                  <a:pt x="31750" y="0"/>
                </a:lnTo>
                <a:lnTo>
                  <a:pt x="31750" y="180848"/>
                </a:lnTo>
                <a:lnTo>
                  <a:pt x="44450" y="180848"/>
                </a:lnTo>
                <a:lnTo>
                  <a:pt x="44450" y="0"/>
                </a:lnTo>
                <a:close/>
              </a:path>
              <a:path w="76200" h="244475">
                <a:moveTo>
                  <a:pt x="76200" y="168148"/>
                </a:moveTo>
                <a:lnTo>
                  <a:pt x="44450" y="168148"/>
                </a:lnTo>
                <a:lnTo>
                  <a:pt x="44450" y="180848"/>
                </a:lnTo>
                <a:lnTo>
                  <a:pt x="69850" y="180848"/>
                </a:lnTo>
                <a:lnTo>
                  <a:pt x="76200" y="168148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722807"/>
            <a:ext cx="3580129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类的定义与调用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类的成员变量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4554" y="2439786"/>
            <a:ext cx="4684395" cy="1428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clas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s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spc="-225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rai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n</a:t>
            </a:r>
            <a:r>
              <a:rPr sz="2400" spc="-5" dirty="0">
                <a:latin typeface="微软雅黑"/>
                <a:cs typeface="微软雅黑"/>
              </a:rPr>
              <a:t>():</a:t>
            </a:r>
            <a:endParaRPr sz="2400">
              <a:latin typeface="微软雅黑"/>
              <a:cs typeface="微软雅黑"/>
            </a:endParaRPr>
          </a:p>
          <a:p>
            <a:pPr marL="735965" marR="5080" indent="-363220">
              <a:lnSpc>
                <a:spcPct val="100000"/>
              </a:lnSpc>
              <a:tabLst>
                <a:tab pos="1213485" algn="l"/>
                <a:tab pos="1951355" algn="l"/>
              </a:tabLst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def</a:t>
            </a:r>
            <a:r>
              <a:rPr sz="2400" spc="10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u="heavy" spc="-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400" u="heavy" dirty="0">
                <a:solidFill>
                  <a:srgbClr val="0000FF"/>
                </a:solidFill>
                <a:latin typeface="微软雅黑"/>
                <a:cs typeface="微软雅黑"/>
              </a:rPr>
              <a:t>	</a:t>
            </a:r>
            <a:r>
              <a:rPr sz="2400" spc="-5" dirty="0">
                <a:solidFill>
                  <a:srgbClr val="A21515"/>
                </a:solidFill>
                <a:latin typeface="微软雅黑"/>
                <a:cs typeface="微软雅黑"/>
              </a:rPr>
              <a:t>ini</a:t>
            </a:r>
            <a:r>
              <a:rPr sz="2400" dirty="0">
                <a:solidFill>
                  <a:srgbClr val="A21515"/>
                </a:solidFill>
                <a:latin typeface="微软雅黑"/>
                <a:cs typeface="微软雅黑"/>
              </a:rPr>
              <a:t>t</a:t>
            </a:r>
            <a:r>
              <a:rPr sz="2400" u="heavy" spc="-5" dirty="0">
                <a:latin typeface="微软雅黑"/>
                <a:cs typeface="微软雅黑"/>
              </a:rPr>
              <a:t> </a:t>
            </a:r>
            <a:r>
              <a:rPr sz="2400" u="heavy" dirty="0">
                <a:latin typeface="微软雅黑"/>
                <a:cs typeface="微软雅黑"/>
              </a:rPr>
              <a:t>	</a:t>
            </a:r>
            <a:r>
              <a:rPr sz="2400" spc="-5" dirty="0">
                <a:latin typeface="微软雅黑"/>
                <a:cs typeface="微软雅黑"/>
              </a:rPr>
              <a:t>(</a:t>
            </a:r>
            <a:r>
              <a:rPr sz="2400" dirty="0">
                <a:latin typeface="微软雅黑"/>
                <a:cs typeface="微软雅黑"/>
              </a:rPr>
              <a:t>s</a:t>
            </a:r>
            <a:r>
              <a:rPr sz="2400" spc="-5" dirty="0">
                <a:latin typeface="微软雅黑"/>
                <a:cs typeface="微软雅黑"/>
              </a:rPr>
              <a:t>el</a:t>
            </a:r>
            <a:r>
              <a:rPr sz="2400" spc="-185" dirty="0">
                <a:latin typeface="微软雅黑"/>
                <a:cs typeface="微软雅黑"/>
              </a:rPr>
              <a:t>f</a:t>
            </a:r>
            <a:r>
              <a:rPr sz="2400" spc="-5" dirty="0">
                <a:latin typeface="微软雅黑"/>
                <a:cs typeface="微软雅黑"/>
              </a:rPr>
              <a:t>,</a:t>
            </a:r>
            <a:r>
              <a:rPr sz="240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c</a:t>
            </a:r>
            <a:r>
              <a:rPr sz="2400" spc="-10" dirty="0">
                <a:latin typeface="微软雅黑"/>
                <a:cs typeface="微软雅黑"/>
              </a:rPr>
              <a:t>ol</a:t>
            </a:r>
            <a:r>
              <a:rPr sz="2400" spc="-5" dirty="0">
                <a:latin typeface="微软雅黑"/>
                <a:cs typeface="微软雅黑"/>
              </a:rPr>
              <a:t>o</a:t>
            </a:r>
            <a:r>
              <a:rPr sz="2400" spc="-220" dirty="0">
                <a:latin typeface="微软雅黑"/>
                <a:cs typeface="微软雅黑"/>
              </a:rPr>
              <a:t>r</a:t>
            </a:r>
            <a:r>
              <a:rPr sz="2400" spc="-5" dirty="0">
                <a:latin typeface="微软雅黑"/>
                <a:cs typeface="微软雅黑"/>
              </a:rPr>
              <a:t>,</a:t>
            </a:r>
            <a:r>
              <a:rPr sz="2400" spc="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mod</a:t>
            </a:r>
            <a:r>
              <a:rPr sz="2400" spc="-15" dirty="0">
                <a:latin typeface="微软雅黑"/>
                <a:cs typeface="微软雅黑"/>
              </a:rPr>
              <a:t>e</a:t>
            </a:r>
            <a:r>
              <a:rPr sz="2400" spc="-10" dirty="0">
                <a:latin typeface="微软雅黑"/>
                <a:cs typeface="微软雅黑"/>
              </a:rPr>
              <a:t>l): </a:t>
            </a:r>
            <a:r>
              <a:rPr sz="2400" dirty="0">
                <a:latin typeface="微软雅黑"/>
                <a:cs typeface="微软雅黑"/>
              </a:rPr>
              <a:t>sel</a:t>
            </a:r>
            <a:r>
              <a:rPr sz="2400" spc="-10" dirty="0">
                <a:latin typeface="微软雅黑"/>
                <a:cs typeface="微软雅黑"/>
              </a:rPr>
              <a:t>f</a:t>
            </a:r>
            <a:r>
              <a:rPr sz="2400" dirty="0">
                <a:latin typeface="微软雅黑"/>
                <a:cs typeface="微软雅黑"/>
              </a:rPr>
              <a:t>.c</a:t>
            </a:r>
            <a:r>
              <a:rPr sz="2400" spc="-10" dirty="0">
                <a:latin typeface="微软雅黑"/>
                <a:cs typeface="微软雅黑"/>
              </a:rPr>
              <a:t>olo</a:t>
            </a:r>
            <a:r>
              <a:rPr sz="2400" spc="-5" dirty="0">
                <a:latin typeface="微软雅黑"/>
                <a:cs typeface="微软雅黑"/>
              </a:rPr>
              <a:t>r</a:t>
            </a:r>
            <a:r>
              <a:rPr sz="2400" spc="1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=</a:t>
            </a:r>
            <a:r>
              <a:rPr sz="2400" dirty="0">
                <a:latin typeface="微软雅黑"/>
                <a:cs typeface="微软雅黑"/>
              </a:rPr>
              <a:t> </a:t>
            </a:r>
            <a:r>
              <a:rPr sz="2400" spc="-15" dirty="0">
                <a:latin typeface="微软雅黑"/>
                <a:cs typeface="微软雅黑"/>
              </a:rPr>
              <a:t>c</a:t>
            </a:r>
            <a:r>
              <a:rPr sz="2400" spc="-5" dirty="0">
                <a:latin typeface="微软雅黑"/>
                <a:cs typeface="微软雅黑"/>
              </a:rPr>
              <a:t>olor</a:t>
            </a:r>
            <a:endParaRPr sz="2400">
              <a:latin typeface="微软雅黑"/>
              <a:cs typeface="微软雅黑"/>
            </a:endParaRPr>
          </a:p>
          <a:p>
            <a:pPr marL="735965">
              <a:lnSpc>
                <a:spcPct val="100000"/>
              </a:lnSpc>
              <a:tabLst>
                <a:tab pos="1583055" algn="l"/>
              </a:tabLst>
            </a:pPr>
            <a:r>
              <a:rPr sz="2400" dirty="0">
                <a:latin typeface="微软雅黑"/>
                <a:cs typeface="微软雅黑"/>
              </a:rPr>
              <a:t>sel</a:t>
            </a:r>
            <a:r>
              <a:rPr sz="2400" spc="-15" dirty="0">
                <a:latin typeface="微软雅黑"/>
                <a:cs typeface="微软雅黑"/>
              </a:rPr>
              <a:t>f</a:t>
            </a:r>
            <a:r>
              <a:rPr sz="2400" dirty="0">
                <a:latin typeface="微软雅黑"/>
                <a:cs typeface="微软雅黑"/>
              </a:rPr>
              <a:t>.</a:t>
            </a:r>
            <a:r>
              <a:rPr sz="2400" u="heavy" dirty="0">
                <a:latin typeface="微软雅黑"/>
                <a:cs typeface="微软雅黑"/>
              </a:rPr>
              <a:t> 	</a:t>
            </a:r>
            <a:r>
              <a:rPr sz="2400" dirty="0">
                <a:latin typeface="微软雅黑"/>
                <a:cs typeface="微软雅黑"/>
              </a:rPr>
              <a:t>mo</a:t>
            </a:r>
            <a:r>
              <a:rPr sz="2400" spc="-10" dirty="0">
                <a:latin typeface="微软雅黑"/>
                <a:cs typeface="微软雅黑"/>
              </a:rPr>
              <a:t>d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dirty="0">
                <a:latin typeface="微软雅黑"/>
                <a:cs typeface="微软雅黑"/>
              </a:rPr>
              <a:t>l</a:t>
            </a:r>
            <a:r>
              <a:rPr sz="2400" spc="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=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m</a:t>
            </a:r>
            <a:r>
              <a:rPr sz="2400" spc="-15" dirty="0">
                <a:latin typeface="微软雅黑"/>
                <a:cs typeface="微软雅黑"/>
              </a:rPr>
              <a:t>o</a:t>
            </a:r>
            <a:r>
              <a:rPr sz="2400" dirty="0">
                <a:latin typeface="微软雅黑"/>
                <a:cs typeface="微软雅黑"/>
              </a:rPr>
              <a:t>d</a:t>
            </a:r>
            <a:r>
              <a:rPr sz="2400" spc="-10" dirty="0">
                <a:latin typeface="微软雅黑"/>
                <a:cs typeface="微软雅黑"/>
              </a:rPr>
              <a:t>e</a:t>
            </a:r>
            <a:r>
              <a:rPr sz="2400" dirty="0">
                <a:latin typeface="微软雅黑"/>
                <a:cs typeface="微软雅黑"/>
              </a:rPr>
              <a:t>l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2714" y="3158285"/>
            <a:ext cx="1043940" cy="63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7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公开变量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私有变量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0232" y="4182413"/>
            <a:ext cx="1043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双下划线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8635" y="6035927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无法访问！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04900" y="4576571"/>
            <a:ext cx="5217922" cy="13045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57702" y="5642533"/>
            <a:ext cx="347980" cy="367665"/>
          </a:xfrm>
          <a:custGeom>
            <a:avLst/>
            <a:gdLst/>
            <a:ahLst/>
            <a:cxnLst/>
            <a:rect l="l" t="t" r="r" b="b"/>
            <a:pathLst>
              <a:path w="347979" h="367664">
                <a:moveTo>
                  <a:pt x="20193" y="0"/>
                </a:moveTo>
                <a:lnTo>
                  <a:pt x="0" y="18973"/>
                </a:lnTo>
                <a:lnTo>
                  <a:pt x="154939" y="183718"/>
                </a:lnTo>
                <a:lnTo>
                  <a:pt x="0" y="348462"/>
                </a:lnTo>
                <a:lnTo>
                  <a:pt x="20193" y="367436"/>
                </a:lnTo>
                <a:lnTo>
                  <a:pt x="173989" y="203923"/>
                </a:lnTo>
                <a:lnTo>
                  <a:pt x="212043" y="203923"/>
                </a:lnTo>
                <a:lnTo>
                  <a:pt x="193039" y="183718"/>
                </a:lnTo>
                <a:lnTo>
                  <a:pt x="212043" y="163512"/>
                </a:lnTo>
                <a:lnTo>
                  <a:pt x="173989" y="163512"/>
                </a:lnTo>
                <a:lnTo>
                  <a:pt x="20193" y="0"/>
                </a:lnTo>
                <a:close/>
              </a:path>
              <a:path w="347979" h="367664">
                <a:moveTo>
                  <a:pt x="212043" y="203923"/>
                </a:moveTo>
                <a:lnTo>
                  <a:pt x="173989" y="203923"/>
                </a:lnTo>
                <a:lnTo>
                  <a:pt x="327787" y="367436"/>
                </a:lnTo>
                <a:lnTo>
                  <a:pt x="347980" y="348462"/>
                </a:lnTo>
                <a:lnTo>
                  <a:pt x="212043" y="203923"/>
                </a:lnTo>
                <a:close/>
              </a:path>
              <a:path w="347979" h="367664">
                <a:moveTo>
                  <a:pt x="327787" y="0"/>
                </a:moveTo>
                <a:lnTo>
                  <a:pt x="173989" y="163512"/>
                </a:lnTo>
                <a:lnTo>
                  <a:pt x="212043" y="163512"/>
                </a:lnTo>
                <a:lnTo>
                  <a:pt x="347980" y="18973"/>
                </a:lnTo>
                <a:lnTo>
                  <a:pt x="3277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66445" y="722807"/>
            <a:ext cx="3602990" cy="117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异常处理</a:t>
            </a:r>
            <a:endParaRPr sz="4000">
              <a:latin typeface="微软雅黑"/>
              <a:cs typeface="微软雅黑"/>
            </a:endParaRPr>
          </a:p>
          <a:p>
            <a:pPr marL="332740" indent="-320040">
              <a:lnSpc>
                <a:spcPct val="100000"/>
              </a:lnSpc>
              <a:spcBef>
                <a:spcPts val="2170"/>
              </a:spcBef>
              <a:buClr>
                <a:srgbClr val="4F81BC"/>
              </a:buClr>
              <a:buSzPct val="85416"/>
              <a:buFont typeface="Segoe UI Symbol"/>
              <a:buChar char="❑"/>
              <a:tabLst>
                <a:tab pos="33337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t</a:t>
            </a:r>
            <a:r>
              <a:rPr sz="2400" spc="100" dirty="0">
                <a:solidFill>
                  <a:srgbClr val="006FC0"/>
                </a:solidFill>
                <a:latin typeface="微软雅黑"/>
                <a:cs typeface="微软雅黑"/>
              </a:rPr>
              <a:t>r</a:t>
            </a:r>
            <a:r>
              <a:rPr sz="2400" spc="-155" dirty="0">
                <a:solidFill>
                  <a:srgbClr val="006FC0"/>
                </a:solidFill>
                <a:latin typeface="微软雅黑"/>
                <a:cs typeface="微软雅黑"/>
              </a:rPr>
              <a:t>y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..</a:t>
            </a:r>
            <a:r>
              <a:rPr sz="2400" spc="-15" dirty="0">
                <a:solidFill>
                  <a:srgbClr val="006FC0"/>
                </a:solidFill>
                <a:latin typeface="微软雅黑"/>
                <a:cs typeface="微软雅黑"/>
              </a:rPr>
              <a:t>.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e</a:t>
            </a:r>
            <a:r>
              <a:rPr sz="2400" spc="-35" dirty="0">
                <a:solidFill>
                  <a:srgbClr val="006FC0"/>
                </a:solidFill>
                <a:latin typeface="微软雅黑"/>
                <a:cs typeface="微软雅黑"/>
              </a:rPr>
              <a:t>x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cept...f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inall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y语句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2589276"/>
            <a:ext cx="3552444" cy="1431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36135" y="3076955"/>
            <a:ext cx="664210" cy="76200"/>
          </a:xfrm>
          <a:custGeom>
            <a:avLst/>
            <a:gdLst/>
            <a:ahLst/>
            <a:cxnLst/>
            <a:rect l="l" t="t" r="r" b="b"/>
            <a:pathLst>
              <a:path w="664210" h="76200">
                <a:moveTo>
                  <a:pt x="587755" y="0"/>
                </a:moveTo>
                <a:lnTo>
                  <a:pt x="587755" y="76200"/>
                </a:lnTo>
                <a:lnTo>
                  <a:pt x="651255" y="44450"/>
                </a:lnTo>
                <a:lnTo>
                  <a:pt x="600455" y="44450"/>
                </a:lnTo>
                <a:lnTo>
                  <a:pt x="600455" y="31750"/>
                </a:lnTo>
                <a:lnTo>
                  <a:pt x="651255" y="31750"/>
                </a:lnTo>
                <a:lnTo>
                  <a:pt x="587755" y="0"/>
                </a:lnTo>
                <a:close/>
              </a:path>
              <a:path w="664210" h="76200">
                <a:moveTo>
                  <a:pt x="58775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87755" y="44450"/>
                </a:lnTo>
                <a:lnTo>
                  <a:pt x="587755" y="31750"/>
                </a:lnTo>
                <a:close/>
              </a:path>
              <a:path w="664210" h="76200">
                <a:moveTo>
                  <a:pt x="651255" y="31750"/>
                </a:moveTo>
                <a:lnTo>
                  <a:pt x="600455" y="31750"/>
                </a:lnTo>
                <a:lnTo>
                  <a:pt x="600455" y="44450"/>
                </a:lnTo>
                <a:lnTo>
                  <a:pt x="651255" y="44450"/>
                </a:lnTo>
                <a:lnTo>
                  <a:pt x="663955" y="38100"/>
                </a:lnTo>
                <a:lnTo>
                  <a:pt x="651255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87848" y="2988486"/>
            <a:ext cx="38131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此处e为</a:t>
            </a:r>
            <a:r>
              <a:rPr sz="2000" u="heavy" spc="-5" dirty="0">
                <a:solidFill>
                  <a:srgbClr val="006FC0"/>
                </a:solidFill>
                <a:latin typeface="微软雅黑"/>
                <a:cs typeface="微软雅黑"/>
              </a:rPr>
              <a:t>Z</a:t>
            </a:r>
            <a:r>
              <a:rPr sz="2000" u="heavy" spc="5" dirty="0">
                <a:solidFill>
                  <a:srgbClr val="006FC0"/>
                </a:solidFill>
                <a:latin typeface="微软雅黑"/>
                <a:cs typeface="微软雅黑"/>
              </a:rPr>
              <a:t>e</a:t>
            </a:r>
            <a:r>
              <a:rPr sz="2000" u="heavy" spc="-25" dirty="0">
                <a:solidFill>
                  <a:srgbClr val="006FC0"/>
                </a:solidFill>
                <a:latin typeface="微软雅黑"/>
                <a:cs typeface="微软雅黑"/>
              </a:rPr>
              <a:t>r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oD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i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vis</a:t>
            </a:r>
            <a:r>
              <a:rPr sz="2000" u="heavy" spc="-15" dirty="0">
                <a:solidFill>
                  <a:srgbClr val="006FC0"/>
                </a:solidFill>
                <a:latin typeface="微软雅黑"/>
                <a:cs typeface="微软雅黑"/>
              </a:rPr>
              <a:t>i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onEr</a:t>
            </a:r>
            <a:r>
              <a:rPr sz="2000" u="heavy" spc="-20" dirty="0">
                <a:solidFill>
                  <a:srgbClr val="006FC0"/>
                </a:solidFill>
                <a:latin typeface="微软雅黑"/>
                <a:cs typeface="微软雅黑"/>
              </a:rPr>
              <a:t>r</a:t>
            </a:r>
            <a:r>
              <a:rPr sz="2000" u="heavy" dirty="0">
                <a:solidFill>
                  <a:srgbClr val="006FC0"/>
                </a:solidFill>
                <a:latin typeface="微软雅黑"/>
                <a:cs typeface="微软雅黑"/>
              </a:rPr>
              <a:t>or的别名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130" y="4982717"/>
            <a:ext cx="1711960" cy="594360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t</a:t>
            </a:r>
            <a:r>
              <a:rPr sz="1600" spc="70" dirty="0">
                <a:solidFill>
                  <a:srgbClr val="FFFFFF"/>
                </a:solidFill>
                <a:latin typeface="微软雅黑"/>
                <a:cs typeface="微软雅黑"/>
              </a:rPr>
              <a:t>r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y语句执行代码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7073" y="4802885"/>
            <a:ext cx="792480" cy="297180"/>
          </a:xfrm>
          <a:custGeom>
            <a:avLst/>
            <a:gdLst/>
            <a:ahLst/>
            <a:cxnLst/>
            <a:rect l="l" t="t" r="r" b="b"/>
            <a:pathLst>
              <a:path w="792479" h="297179">
                <a:moveTo>
                  <a:pt x="0" y="74294"/>
                </a:moveTo>
                <a:lnTo>
                  <a:pt x="643889" y="74294"/>
                </a:lnTo>
                <a:lnTo>
                  <a:pt x="643889" y="0"/>
                </a:lnTo>
                <a:lnTo>
                  <a:pt x="792479" y="148589"/>
                </a:lnTo>
                <a:lnTo>
                  <a:pt x="643889" y="297180"/>
                </a:lnTo>
                <a:lnTo>
                  <a:pt x="643889" y="222884"/>
                </a:lnTo>
                <a:lnTo>
                  <a:pt x="0" y="222884"/>
                </a:lnTo>
                <a:lnTo>
                  <a:pt x="0" y="74294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17570" y="4530090"/>
            <a:ext cx="1272540" cy="788035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执行</a:t>
            </a:r>
            <a:r>
              <a:rPr sz="1600" spc="-15" dirty="0">
                <a:solidFill>
                  <a:srgbClr val="FFFFFF"/>
                </a:solidFill>
                <a:latin typeface="微软雅黑"/>
                <a:cs typeface="微软雅黑"/>
              </a:rPr>
              <a:t>e</a:t>
            </a:r>
            <a:r>
              <a:rPr sz="1600" spc="-25" dirty="0">
                <a:solidFill>
                  <a:srgbClr val="FFFFFF"/>
                </a:solidFill>
                <a:latin typeface="微软雅黑"/>
                <a:cs typeface="微软雅黑"/>
              </a:rPr>
              <a:t>x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cept</a:t>
            </a:r>
            <a:endParaRPr sz="16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语句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39461" y="4789170"/>
            <a:ext cx="379730" cy="299085"/>
          </a:xfrm>
          <a:custGeom>
            <a:avLst/>
            <a:gdLst/>
            <a:ahLst/>
            <a:cxnLst/>
            <a:rect l="l" t="t" r="r" b="b"/>
            <a:pathLst>
              <a:path w="379729" h="299085">
                <a:moveTo>
                  <a:pt x="0" y="74675"/>
                </a:moveTo>
                <a:lnTo>
                  <a:pt x="230124" y="74675"/>
                </a:lnTo>
                <a:lnTo>
                  <a:pt x="230124" y="0"/>
                </a:lnTo>
                <a:lnTo>
                  <a:pt x="379475" y="149351"/>
                </a:lnTo>
                <a:lnTo>
                  <a:pt x="230124" y="298703"/>
                </a:lnTo>
                <a:lnTo>
                  <a:pt x="230124" y="224027"/>
                </a:lnTo>
                <a:lnTo>
                  <a:pt x="0" y="224027"/>
                </a:lnTo>
                <a:lnTo>
                  <a:pt x="0" y="74675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45429" y="4641341"/>
            <a:ext cx="917575" cy="1102360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 marR="149860" indent="-2540" algn="ctr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执行 f</a:t>
            </a:r>
            <a:r>
              <a:rPr sz="1600" spc="-15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600" spc="-10" dirty="0">
                <a:solidFill>
                  <a:srgbClr val="FFFFFF"/>
                </a:solidFill>
                <a:latin typeface="微软雅黑"/>
                <a:cs typeface="微软雅黑"/>
              </a:rPr>
              <a:t>nal</a:t>
            </a:r>
            <a:r>
              <a:rPr sz="1600" spc="-15" dirty="0">
                <a:solidFill>
                  <a:srgbClr val="FFFFFF"/>
                </a:solidFill>
                <a:latin typeface="微软雅黑"/>
                <a:cs typeface="微软雅黑"/>
              </a:rPr>
              <a:t>l</a:t>
            </a: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y 语句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5150" y="4802885"/>
            <a:ext cx="1554480" cy="594360"/>
          </a:xfrm>
          <a:prstGeom prst="rect">
            <a:avLst/>
          </a:prstGeom>
          <a:solidFill>
            <a:srgbClr val="1F487C"/>
          </a:solidFill>
          <a:ln w="25908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微软雅黑"/>
                <a:cs typeface="微软雅黑"/>
              </a:rPr>
              <a:t>程序正常运行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90894" y="5004053"/>
            <a:ext cx="379730" cy="299085"/>
          </a:xfrm>
          <a:custGeom>
            <a:avLst/>
            <a:gdLst/>
            <a:ahLst/>
            <a:cxnLst/>
            <a:rect l="l" t="t" r="r" b="b"/>
            <a:pathLst>
              <a:path w="379729" h="299085">
                <a:moveTo>
                  <a:pt x="0" y="74676"/>
                </a:moveTo>
                <a:lnTo>
                  <a:pt x="230124" y="74676"/>
                </a:lnTo>
                <a:lnTo>
                  <a:pt x="230124" y="0"/>
                </a:lnTo>
                <a:lnTo>
                  <a:pt x="379475" y="149352"/>
                </a:lnTo>
                <a:lnTo>
                  <a:pt x="230124" y="298704"/>
                </a:lnTo>
                <a:lnTo>
                  <a:pt x="230124" y="224028"/>
                </a:lnTo>
                <a:lnTo>
                  <a:pt x="0" y="224028"/>
                </a:lnTo>
                <a:lnTo>
                  <a:pt x="0" y="74676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77185" y="4485504"/>
            <a:ext cx="9398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发生异常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97073" y="5444490"/>
            <a:ext cx="2722245" cy="299085"/>
          </a:xfrm>
          <a:custGeom>
            <a:avLst/>
            <a:gdLst/>
            <a:ahLst/>
            <a:cxnLst/>
            <a:rect l="l" t="t" r="r" b="b"/>
            <a:pathLst>
              <a:path w="2722245" h="299085">
                <a:moveTo>
                  <a:pt x="0" y="74676"/>
                </a:moveTo>
                <a:lnTo>
                  <a:pt x="2572512" y="74676"/>
                </a:lnTo>
                <a:lnTo>
                  <a:pt x="2572512" y="0"/>
                </a:lnTo>
                <a:lnTo>
                  <a:pt x="2721864" y="149352"/>
                </a:lnTo>
                <a:lnTo>
                  <a:pt x="2572512" y="298704"/>
                </a:lnTo>
                <a:lnTo>
                  <a:pt x="2572512" y="224028"/>
                </a:lnTo>
                <a:lnTo>
                  <a:pt x="0" y="224028"/>
                </a:lnTo>
                <a:lnTo>
                  <a:pt x="0" y="74676"/>
                </a:lnTo>
                <a:close/>
              </a:path>
            </a:pathLst>
          </a:custGeom>
          <a:ln w="25908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09035" y="5809200"/>
            <a:ext cx="11684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未发生异常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1762</Words>
  <Application>Microsoft Office PowerPoint</Application>
  <PresentationFormat>全屏显示(4:3)</PresentationFormat>
  <Paragraphs>456</Paragraphs>
  <Slides>55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2" baseType="lpstr">
      <vt:lpstr>宋体</vt:lpstr>
      <vt:lpstr>微软雅黑</vt:lpstr>
      <vt:lpstr>Arial</vt:lpstr>
      <vt:lpstr>Calibri</vt:lpstr>
      <vt:lpstr>Segoe UI Symbol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明 余</cp:lastModifiedBy>
  <cp:revision>4</cp:revision>
  <dcterms:created xsi:type="dcterms:W3CDTF">2023-02-26T19:54:11Z</dcterms:created>
  <dcterms:modified xsi:type="dcterms:W3CDTF">2024-02-21T14:32:47Z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2023-02-26T00:00:00Z</vt:filetime>
  </property>
</Properties>
</file>