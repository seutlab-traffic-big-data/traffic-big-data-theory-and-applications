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png" ContentType="image/png"/>
  <Default Extension="rels" ContentType="application/vnd.openxmlformats-package.relationships+xml"/>
  <Default Extension="svg" ContentType="image/svg+xml"/>
  <Default Extension="vml" ContentType="application/vnd.openxmlformats-officedocument.vmlDrawing"/>
  <Default Extension="vsdx" ContentType="application/vnd.ms-visio.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87"/>
  </p:notesMasterIdLst>
  <p:sldIdLst>
    <p:sldId id="310" r:id="rId2"/>
    <p:sldId id="508" r:id="rId3"/>
    <p:sldId id="509" r:id="rId4"/>
    <p:sldId id="510" r:id="rId5"/>
    <p:sldId id="313" r:id="rId6"/>
    <p:sldId id="476" r:id="rId7"/>
    <p:sldId id="314" r:id="rId8"/>
    <p:sldId id="436" r:id="rId9"/>
    <p:sldId id="481" r:id="rId10"/>
    <p:sldId id="439" r:id="rId11"/>
    <p:sldId id="477" r:id="rId12"/>
    <p:sldId id="440" r:id="rId13"/>
    <p:sldId id="441" r:id="rId14"/>
    <p:sldId id="516" r:id="rId15"/>
    <p:sldId id="479" r:id="rId16"/>
    <p:sldId id="480" r:id="rId17"/>
    <p:sldId id="444" r:id="rId18"/>
    <p:sldId id="445" r:id="rId19"/>
    <p:sldId id="443" r:id="rId20"/>
    <p:sldId id="446" r:id="rId21"/>
    <p:sldId id="447" r:id="rId22"/>
    <p:sldId id="448" r:id="rId23"/>
    <p:sldId id="517" r:id="rId24"/>
    <p:sldId id="450" r:id="rId25"/>
    <p:sldId id="482" r:id="rId26"/>
    <p:sldId id="518" r:id="rId27"/>
    <p:sldId id="483" r:id="rId28"/>
    <p:sldId id="484" r:id="rId29"/>
    <p:sldId id="519" r:id="rId30"/>
    <p:sldId id="452" r:id="rId31"/>
    <p:sldId id="453" r:id="rId32"/>
    <p:sldId id="454" r:id="rId33"/>
    <p:sldId id="531" r:id="rId34"/>
    <p:sldId id="485" r:id="rId35"/>
    <p:sldId id="457" r:id="rId36"/>
    <p:sldId id="458" r:id="rId37"/>
    <p:sldId id="459" r:id="rId38"/>
    <p:sldId id="461" r:id="rId39"/>
    <p:sldId id="486" r:id="rId40"/>
    <p:sldId id="460" r:id="rId41"/>
    <p:sldId id="488" r:id="rId42"/>
    <p:sldId id="487" r:id="rId43"/>
    <p:sldId id="489" r:id="rId44"/>
    <p:sldId id="539" r:id="rId45"/>
    <p:sldId id="538" r:id="rId46"/>
    <p:sldId id="490" r:id="rId47"/>
    <p:sldId id="540" r:id="rId48"/>
    <p:sldId id="534" r:id="rId49"/>
    <p:sldId id="535" r:id="rId50"/>
    <p:sldId id="536" r:id="rId51"/>
    <p:sldId id="537" r:id="rId52"/>
    <p:sldId id="491" r:id="rId53"/>
    <p:sldId id="513" r:id="rId54"/>
    <p:sldId id="514" r:id="rId55"/>
    <p:sldId id="520" r:id="rId56"/>
    <p:sldId id="492" r:id="rId57"/>
    <p:sldId id="521" r:id="rId58"/>
    <p:sldId id="529" r:id="rId59"/>
    <p:sldId id="463" r:id="rId60"/>
    <p:sldId id="464" r:id="rId61"/>
    <p:sldId id="493" r:id="rId62"/>
    <p:sldId id="465" r:id="rId63"/>
    <p:sldId id="495" r:id="rId64"/>
    <p:sldId id="496" r:id="rId65"/>
    <p:sldId id="466" r:id="rId66"/>
    <p:sldId id="528" r:id="rId67"/>
    <p:sldId id="468" r:id="rId68"/>
    <p:sldId id="522" r:id="rId69"/>
    <p:sldId id="497" r:id="rId70"/>
    <p:sldId id="523" r:id="rId71"/>
    <p:sldId id="469" r:id="rId72"/>
    <p:sldId id="511" r:id="rId73"/>
    <p:sldId id="498" r:id="rId74"/>
    <p:sldId id="470" r:id="rId75"/>
    <p:sldId id="471" r:id="rId76"/>
    <p:sldId id="472" r:id="rId77"/>
    <p:sldId id="502" r:id="rId78"/>
    <p:sldId id="506" r:id="rId79"/>
    <p:sldId id="524" r:id="rId80"/>
    <p:sldId id="525" r:id="rId81"/>
    <p:sldId id="526" r:id="rId82"/>
    <p:sldId id="527" r:id="rId83"/>
    <p:sldId id="474" r:id="rId84"/>
    <p:sldId id="475" r:id="rId85"/>
    <p:sldId id="530" r:id="rId8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D0D1FD5A-1257-45D8-B1DD-ADF55590425D}">
          <p14:sldIdLst>
            <p14:sldId id="310"/>
            <p14:sldId id="508"/>
            <p14:sldId id="509"/>
            <p14:sldId id="510"/>
            <p14:sldId id="313"/>
            <p14:sldId id="476"/>
            <p14:sldId id="314"/>
            <p14:sldId id="436"/>
            <p14:sldId id="481"/>
            <p14:sldId id="439"/>
            <p14:sldId id="477"/>
            <p14:sldId id="440"/>
            <p14:sldId id="441"/>
            <p14:sldId id="516"/>
            <p14:sldId id="479"/>
            <p14:sldId id="480"/>
            <p14:sldId id="444"/>
            <p14:sldId id="445"/>
            <p14:sldId id="443"/>
            <p14:sldId id="446"/>
            <p14:sldId id="447"/>
            <p14:sldId id="448"/>
            <p14:sldId id="517"/>
            <p14:sldId id="450"/>
            <p14:sldId id="482"/>
            <p14:sldId id="518"/>
            <p14:sldId id="483"/>
            <p14:sldId id="484"/>
            <p14:sldId id="519"/>
            <p14:sldId id="452"/>
            <p14:sldId id="453"/>
            <p14:sldId id="454"/>
            <p14:sldId id="531"/>
            <p14:sldId id="485"/>
            <p14:sldId id="457"/>
            <p14:sldId id="458"/>
            <p14:sldId id="459"/>
            <p14:sldId id="461"/>
            <p14:sldId id="486"/>
            <p14:sldId id="460"/>
            <p14:sldId id="488"/>
            <p14:sldId id="487"/>
            <p14:sldId id="489"/>
            <p14:sldId id="539"/>
            <p14:sldId id="538"/>
            <p14:sldId id="490"/>
            <p14:sldId id="540"/>
            <p14:sldId id="534"/>
            <p14:sldId id="535"/>
            <p14:sldId id="536"/>
            <p14:sldId id="537"/>
            <p14:sldId id="491"/>
            <p14:sldId id="513"/>
            <p14:sldId id="514"/>
            <p14:sldId id="520"/>
            <p14:sldId id="492"/>
            <p14:sldId id="521"/>
            <p14:sldId id="529"/>
            <p14:sldId id="463"/>
            <p14:sldId id="464"/>
            <p14:sldId id="493"/>
            <p14:sldId id="465"/>
            <p14:sldId id="495"/>
            <p14:sldId id="496"/>
            <p14:sldId id="466"/>
            <p14:sldId id="528"/>
            <p14:sldId id="468"/>
            <p14:sldId id="522"/>
            <p14:sldId id="497"/>
            <p14:sldId id="523"/>
            <p14:sldId id="469"/>
          </p14:sldIdLst>
        </p14:section>
        <p14:section name="P66" id="{ACE01BB8-E385-4006-8510-62A5BB69838E}">
          <p14:sldIdLst>
            <p14:sldId id="511"/>
            <p14:sldId id="498"/>
            <p14:sldId id="470"/>
            <p14:sldId id="471"/>
            <p14:sldId id="472"/>
            <p14:sldId id="502"/>
            <p14:sldId id="506"/>
            <p14:sldId id="524"/>
            <p14:sldId id="525"/>
            <p14:sldId id="526"/>
            <p14:sldId id="527"/>
            <p14:sldId id="474"/>
            <p14:sldId id="475"/>
            <p14:sldId id="530"/>
          </p14:sldIdLst>
        </p14:section>
      </p14:sectionLst>
    </p:ext>
    <p:ext uri="{EFAFB233-063F-42B5-8137-9DF3F51BA10A}">
      <p15:sldGuideLst xmlns:p15="http://schemas.microsoft.com/office/powerpoint/2012/main">
        <p15:guide id="1" orient="horz" pos="2183"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锦彪 霍" initials="锦彪" lastIdx="3" clrIdx="0">
    <p:extLst>
      <p:ext uri="{19B8F6BF-5375-455C-9EA6-DF929625EA0E}">
        <p15:presenceInfo xmlns:p15="http://schemas.microsoft.com/office/powerpoint/2012/main" userId="747d344fe7e6b04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45E3E"/>
    <a:srgbClr val="F4F5ED"/>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344D84-9AFB-497E-A393-DC336BA19D2E}" styleName="中度样式 3 - 强调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76" autoAdjust="0"/>
    <p:restoredTop sz="78362" autoAdjust="0"/>
  </p:normalViewPr>
  <p:slideViewPr>
    <p:cSldViewPr snapToGrid="0" showGuides="1">
      <p:cViewPr varScale="1">
        <p:scale>
          <a:sx n="71" d="100"/>
          <a:sy n="71" d="100"/>
        </p:scale>
        <p:origin x="1701" y="36"/>
      </p:cViewPr>
      <p:guideLst>
        <p:guide orient="horz" pos="2183"/>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commentAuthors" Target="commentAuthors.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 Id="rId4" Type="http://schemas.openxmlformats.org/officeDocument/2006/relationships/image" Target="../media/image1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2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9.e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51.emf"/><Relationship Id="rId1" Type="http://schemas.openxmlformats.org/officeDocument/2006/relationships/image" Target="../media/image50.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53.wmf"/><Relationship Id="rId1" Type="http://schemas.openxmlformats.org/officeDocument/2006/relationships/image" Target="../media/image52.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5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26BBA7-2751-4186-92D7-BAFE14A83317}" type="datetimeFigureOut">
              <a:rPr lang="zh-CN" altLang="en-US" smtClean="0"/>
              <a:pPr/>
              <a:t>2025/4/25</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A12F08-2C51-4761-8379-7BF5B777E402}" type="slidenum">
              <a:rPr lang="zh-CN" altLang="en-US" smtClean="0"/>
              <a:pPr/>
              <a:t>‹#›</a:t>
            </a:fld>
            <a:endParaRPr lang="zh-CN" altLang="en-US"/>
          </a:p>
        </p:txBody>
      </p:sp>
    </p:spTree>
    <p:extLst>
      <p:ext uri="{BB962C8B-B14F-4D97-AF65-F5344CB8AC3E}">
        <p14:creationId xmlns:p14="http://schemas.microsoft.com/office/powerpoint/2010/main" val="1614525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8998663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5547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177280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0A12F08-2C51-4761-8379-7BF5B777E402}" type="slidenum">
              <a:rPr lang="zh-CN" altLang="en-US" smtClean="0"/>
              <a:pPr/>
              <a:t>5</a:t>
            </a:fld>
            <a:endParaRPr lang="zh-CN" altLang="en-US"/>
          </a:p>
        </p:txBody>
      </p:sp>
    </p:spTree>
    <p:extLst>
      <p:ext uri="{BB962C8B-B14F-4D97-AF65-F5344CB8AC3E}">
        <p14:creationId xmlns:p14="http://schemas.microsoft.com/office/powerpoint/2010/main" val="32425870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5498297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D0A12F08-2C51-4761-8379-7BF5B777E402}" type="slidenum">
              <a:rPr lang="zh-CN" altLang="en-US" smtClean="0"/>
              <a:pPr/>
              <a:t>8</a:t>
            </a:fld>
            <a:endParaRPr lang="zh-CN" altLang="en-US"/>
          </a:p>
        </p:txBody>
      </p:sp>
    </p:spTree>
    <p:extLst>
      <p:ext uri="{BB962C8B-B14F-4D97-AF65-F5344CB8AC3E}">
        <p14:creationId xmlns:p14="http://schemas.microsoft.com/office/powerpoint/2010/main" val="21397703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4399910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2171249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首先思考下，什么样的聚类结果是最好的？</a:t>
            </a:r>
            <a:endParaRPr lang="en-US" altLang="zh-CN" dirty="0"/>
          </a:p>
          <a:p>
            <a:r>
              <a:rPr lang="zh-CN" altLang="en-US" dirty="0"/>
              <a:t>答案：</a:t>
            </a:r>
            <a:r>
              <a:rPr kumimoji="0" lang="zh-CN" altLang="en-US" sz="1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簇内间距小，簇间间距大</a:t>
            </a:r>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2964945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2104575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一共有</a:t>
            </a:r>
            <a:r>
              <a:rPr lang="en-US" altLang="zh-CN" dirty="0"/>
              <a:t>k</a:t>
            </a:r>
            <a:r>
              <a:rPr lang="zh-CN" altLang="en-US" dirty="0"/>
              <a:t>个簇。好的聚类结果，应该是每个簇都离得比较远，而且各个簇都比较密集（半径小），所以就需要</a:t>
            </a:r>
            <a:r>
              <a:rPr lang="en-US" altLang="zh-CN" dirty="0"/>
              <a:t>DBI</a:t>
            </a:r>
            <a:r>
              <a:rPr lang="zh-CN" altLang="en-US" dirty="0"/>
              <a:t>的分母大、分子小。</a:t>
            </a:r>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9570041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Dunn</a:t>
            </a:r>
            <a:r>
              <a:rPr lang="zh-CN" altLang="en-US" dirty="0"/>
              <a:t>是在找短板。我们是希望簇间距离越远越好（所以最小值是短板），簇内的点距离越近越好（即簇的半径要小，所以最大值是短板）。</a:t>
            </a:r>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4203819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7624155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值越大，表明</a:t>
            </a:r>
            <a:r>
              <a:rPr lang="en-US" altLang="zh-CN" dirty="0"/>
              <a:t>b</a:t>
            </a:r>
            <a:r>
              <a:rPr lang="zh-CN" altLang="en-US" dirty="0"/>
              <a:t>比</a:t>
            </a:r>
            <a:r>
              <a:rPr lang="en-US" altLang="zh-CN" dirty="0"/>
              <a:t>a</a:t>
            </a:r>
            <a:r>
              <a:rPr lang="zh-CN" altLang="en-US" dirty="0"/>
              <a:t>大的越多（极端情况是</a:t>
            </a:r>
            <a:r>
              <a:rPr lang="en-US" altLang="zh-CN" dirty="0"/>
              <a:t>1</a:t>
            </a:r>
            <a:r>
              <a:rPr lang="zh-CN" altLang="en-US" dirty="0"/>
              <a:t>）</a:t>
            </a:r>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0067166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5980792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121212"/>
                </a:solidFill>
                <a:effectLst/>
                <a:latin typeface="-apple-system"/>
              </a:rPr>
              <a:t>绿色的斜线表示欧几里得距离，在现实中是不可能的。其他三条折线表示了曼哈顿距离，这三条折线的长度是相等的。</a:t>
            </a:r>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5722429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 欧式距离的缺点在于</a:t>
            </a:r>
            <a:r>
              <a:rPr lang="zh-CN" altLang="en-US" dirty="0">
                <a:solidFill>
                  <a:srgbClr val="FF0000"/>
                </a:solidFill>
              </a:rPr>
              <a:t>不同维度上的距离差别被同等看待</a:t>
            </a:r>
            <a:r>
              <a:rPr lang="zh-CN" altLang="en-US" dirty="0"/>
              <a:t>，容易造成数据度量不准。改进方式可以考虑进行数据标准化，或者在不同维度上添加权重；</a:t>
            </a:r>
            <a:endParaRPr lang="en-US" altLang="zh-CN" dirty="0"/>
          </a:p>
          <a:p>
            <a:r>
              <a:rPr lang="zh-CN" altLang="en-US" dirty="0"/>
              <a:t>曼哈顿也存在类似欧式距离的问题（即各个维度的偏差被同等看待），除此以外，很多实验表明将曼哈顿距离用于处理高维数据上，表现不佳；</a:t>
            </a:r>
            <a:endParaRPr lang="en-US" altLang="zh-CN" dirty="0"/>
          </a:p>
          <a:p>
            <a:r>
              <a:rPr lang="zh-CN" altLang="en-US" dirty="0"/>
              <a:t>闵可夫斯基距离实际上是更加一般化的距离度量，当</a:t>
            </a:r>
            <a:r>
              <a:rPr lang="en-US" altLang="zh-CN" dirty="0"/>
              <a:t>p</a:t>
            </a:r>
            <a:r>
              <a:rPr lang="zh-CN" altLang="en-US" dirty="0"/>
              <a:t>取</a:t>
            </a:r>
            <a:r>
              <a:rPr lang="en-US" altLang="zh-CN" dirty="0"/>
              <a:t>1</a:t>
            </a:r>
            <a:r>
              <a:rPr lang="zh-CN" altLang="en-US" dirty="0"/>
              <a:t>时，得到曼哈顿距离，</a:t>
            </a:r>
            <a:r>
              <a:rPr lang="en-US" altLang="zh-CN" dirty="0"/>
              <a:t>p</a:t>
            </a:r>
            <a:r>
              <a:rPr lang="zh-CN" altLang="en-US" dirty="0"/>
              <a:t>取</a:t>
            </a:r>
            <a:r>
              <a:rPr lang="en-US" altLang="zh-CN" dirty="0"/>
              <a:t>2</a:t>
            </a:r>
            <a:r>
              <a:rPr lang="zh-CN" altLang="en-US" dirty="0"/>
              <a:t>，得到欧式距离。所以</a:t>
            </a:r>
            <a:r>
              <a:rPr lang="en-US" altLang="zh-CN" dirty="0"/>
              <a:t>p</a:t>
            </a:r>
            <a:r>
              <a:rPr lang="zh-CN" altLang="en-US" dirty="0"/>
              <a:t>的取值不同，闵可夫斯基距离具有不同的优缺点。</a:t>
            </a:r>
            <a:endParaRPr lang="en-US" altLang="zh-CN" dirty="0"/>
          </a:p>
          <a:p>
            <a:r>
              <a:rPr lang="en-US" altLang="zh-CN" dirty="0"/>
              <a:t>2. </a:t>
            </a:r>
            <a:r>
              <a:rPr lang="zh-CN" altLang="en-US" dirty="0"/>
              <a:t>衡量处于交通网络上的交通小区的相似度，可以考虑采用曼哈顿距离，因为曼哈顿距离又叫街区距离，衡量了两点在标准坐标系下的绝对轴距之和，可以近似看作通过交通路网由一点到达另一点的距离</a:t>
            </a:r>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0587496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8627916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2008870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上图例子：添加离群点后，聚类结果发生变化</a:t>
            </a:r>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7937700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Medoid</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表示中心点的意思。</a:t>
            </a:r>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6207233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0791488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8216026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8238829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7980835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5980788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805404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1863874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772371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这里的数据集</a:t>
            </a:r>
            <a:r>
              <a:rPr lang="en-US" altLang="zh-CN" dirty="0"/>
              <a:t>D</a:t>
            </a:r>
            <a:r>
              <a:rPr lang="zh-CN" altLang="en-US" dirty="0"/>
              <a:t>中的每个数据符合</a:t>
            </a:r>
            <a:r>
              <a:rPr lang="en-US" altLang="zh-CN" dirty="0"/>
              <a:t>IID</a:t>
            </a:r>
            <a:r>
              <a:rPr lang="zh-CN" altLang="en-US" dirty="0"/>
              <a:t>，可以理解成在一种由若干高斯分布叠加而成的分布（即高斯混合分布）上独立采样得到数据点，聚类的目标就是判断他们更接近其中哪一个高斯分布。</a:t>
            </a:r>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18787242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1605191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7296886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838028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1272346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0984551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1714824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1384810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80720625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27937783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66855875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8630934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39353705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5008669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7962663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34949381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7021763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94261729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04279192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91338835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47350004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77844975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0507171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44243131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单击显示注解</a:t>
            </a:r>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7789300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23655799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93999126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93484208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9330082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80118008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53068513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84420137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85941514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81595966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08525635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80858730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DBSCAN</a:t>
            </a:r>
            <a:r>
              <a:rPr lang="zh-CN" altLang="en-US" dirty="0"/>
              <a:t>的优势</a:t>
            </a:r>
          </a:p>
        </p:txBody>
      </p:sp>
      <p:sp>
        <p:nvSpPr>
          <p:cNvPr id="4" name="灯片编号占位符 3"/>
          <p:cNvSpPr>
            <a:spLocks noGrp="1"/>
          </p:cNvSpPr>
          <p:nvPr>
            <p:ph type="sldNum" sz="quarter" idx="5"/>
          </p:nvPr>
        </p:nvSpPr>
        <p:spPr/>
        <p:txBody>
          <a:bodyPr/>
          <a:lstStyle/>
          <a:p>
            <a:fld id="{D0A12F08-2C51-4761-8379-7BF5B777E402}" type="slidenum">
              <a:rPr lang="zh-CN" altLang="en-US" smtClean="0"/>
              <a:pPr/>
              <a:t>71</a:t>
            </a:fld>
            <a:endParaRPr lang="zh-CN" altLang="en-US"/>
          </a:p>
        </p:txBody>
      </p:sp>
    </p:spTree>
    <p:extLst>
      <p:ext uri="{BB962C8B-B14F-4D97-AF65-F5344CB8AC3E}">
        <p14:creationId xmlns:p14="http://schemas.microsoft.com/office/powerpoint/2010/main" val="99326294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71544119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66543011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17544414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41628403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71185415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29690930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94824088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00272730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01687161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3832772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72146433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23240485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2362277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0055949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ln/>
        </p:spPr>
        <p:txBody>
          <a:bodyPr/>
          <a:lstStyle>
            <a:lvl1pPr>
              <a:defRPr/>
            </a:lvl1pPr>
          </a:lstStyle>
          <a:p>
            <a:pPr>
              <a:defRPr/>
            </a:pPr>
            <a:fld id="{32ABD749-4B3D-4BF3-B12A-B61FA89A7D20}" type="datetime1">
              <a:rPr lang="en-US" altLang="zh-CN" smtClean="0"/>
              <a:t>4/25/2025</a:t>
            </a:fld>
            <a:endParaRPr lang="en-US" altLang="zh-CN" dirty="0"/>
          </a:p>
        </p:txBody>
      </p:sp>
      <p:sp>
        <p:nvSpPr>
          <p:cNvPr id="6" name="Slide Number Placeholder 5"/>
          <p:cNvSpPr>
            <a:spLocks noGrp="1"/>
          </p:cNvSpPr>
          <p:nvPr>
            <p:ph type="sldNum" sz="quarter" idx="12"/>
          </p:nvPr>
        </p:nvSpPr>
        <p:spPr>
          <a:ln/>
        </p:spPr>
        <p:txBody>
          <a:bodyPr/>
          <a:lstStyle>
            <a:lvl1pPr>
              <a:defRPr/>
            </a:lvl1pPr>
          </a:lstStyle>
          <a:p>
            <a:pPr>
              <a:defRPr/>
            </a:pPr>
            <a:fld id="{A8A04E82-56C5-473E-AB74-E41CD95FB2B4}" type="slidenum">
              <a:rPr lang="zh-CN" altLang="en-US"/>
              <a:pPr>
                <a:defRPr/>
              </a:pPr>
              <a:t>‹#›</a:t>
            </a:fld>
            <a:endParaRPr lang="en-US" altLang="zh-CN" dirty="0"/>
          </a:p>
        </p:txBody>
      </p:sp>
      <p:sp>
        <p:nvSpPr>
          <p:cNvPr id="8" name="Footer Placeholder 4">
            <a:extLst>
              <a:ext uri="{FF2B5EF4-FFF2-40B4-BE49-F238E27FC236}">
                <a16:creationId xmlns:a16="http://schemas.microsoft.com/office/drawing/2014/main" id="{52D18F24-9FC4-496B-8BC6-7809B5E580A1}"/>
              </a:ext>
            </a:extLst>
          </p:cNvPr>
          <p:cNvSpPr>
            <a:spLocks noGrp="1"/>
          </p:cNvSpPr>
          <p:nvPr>
            <p:ph type="ftr" sz="quarter" idx="11"/>
          </p:nvPr>
        </p:nvSpPr>
        <p:spPr>
          <a:xfrm>
            <a:off x="5454826" y="10038"/>
            <a:ext cx="4831731" cy="328613"/>
          </a:xfrm>
          <a:ln/>
        </p:spPr>
        <p:txBody>
          <a:bodyPr/>
          <a:lstStyle>
            <a:lvl1pPr>
              <a:defRPr/>
            </a:lvl1pPr>
          </a:lstStyle>
          <a:p>
            <a:pPr>
              <a:defRPr/>
            </a:pPr>
            <a:r>
              <a:rPr lang="zh-CN" altLang="en-US" dirty="0"/>
              <a:t>交通大数据</a:t>
            </a:r>
            <a:r>
              <a:rPr lang="en-US" altLang="zh-CN" dirty="0"/>
              <a:t> ·</a:t>
            </a:r>
            <a:r>
              <a:rPr lang="zh-CN" altLang="en-US" dirty="0"/>
              <a:t>刘志远 教授</a:t>
            </a:r>
            <a:endParaRPr lang="en-US" altLang="zh-CN" dirty="0"/>
          </a:p>
        </p:txBody>
      </p:sp>
      <p:pic>
        <p:nvPicPr>
          <p:cNvPr id="9" name="图片 8">
            <a:extLst>
              <a:ext uri="{FF2B5EF4-FFF2-40B4-BE49-F238E27FC236}">
                <a16:creationId xmlns:a16="http://schemas.microsoft.com/office/drawing/2014/main" id="{95AC9484-63E0-439F-8F12-8E609683F5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439863" y="6150864"/>
            <a:ext cx="632774" cy="627888"/>
          </a:xfrm>
          <a:prstGeom prst="rect">
            <a:avLst/>
          </a:prstGeom>
        </p:spPr>
      </p:pic>
    </p:spTree>
    <p:extLst>
      <p:ext uri="{BB962C8B-B14F-4D97-AF65-F5344CB8AC3E}">
        <p14:creationId xmlns:p14="http://schemas.microsoft.com/office/powerpoint/2010/main" val="30533996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Date Placeholder 3"/>
          <p:cNvSpPr>
            <a:spLocks noGrp="1"/>
          </p:cNvSpPr>
          <p:nvPr>
            <p:ph type="dt" sz="half" idx="10"/>
          </p:nvPr>
        </p:nvSpPr>
        <p:spPr>
          <a:ln/>
        </p:spPr>
        <p:txBody>
          <a:bodyPr/>
          <a:lstStyle>
            <a:lvl1pPr>
              <a:defRPr/>
            </a:lvl1pPr>
          </a:lstStyle>
          <a:p>
            <a:pPr>
              <a:defRPr/>
            </a:pPr>
            <a:fld id="{A10E55C9-70B6-49A9-B285-7B6B9329A27F}" type="datetime1">
              <a:rPr lang="en-US" altLang="zh-CN" smtClean="0"/>
              <a:t>4/25/2025</a:t>
            </a:fld>
            <a:endParaRPr lang="en-US" altLang="zh-CN"/>
          </a:p>
        </p:txBody>
      </p:sp>
      <p:sp>
        <p:nvSpPr>
          <p:cNvPr id="5" name="Footer Placeholder 4"/>
          <p:cNvSpPr>
            <a:spLocks noGrp="1"/>
          </p:cNvSpPr>
          <p:nvPr>
            <p:ph type="ftr" sz="quarter" idx="11"/>
          </p:nvPr>
        </p:nvSpPr>
        <p:spPr>
          <a:ln/>
        </p:spPr>
        <p:txBody>
          <a:bodyPr/>
          <a:lstStyle>
            <a:lvl1pPr>
              <a:defRPr/>
            </a:lvl1pPr>
          </a:lstStyle>
          <a:p>
            <a:pPr>
              <a:defRPr/>
            </a:pPr>
            <a:r>
              <a:rPr lang="en-US" altLang="zh-CN"/>
              <a:t>Modelling Transportation Systems · Southeast University · Zhiyuan Liu</a:t>
            </a:r>
          </a:p>
        </p:txBody>
      </p:sp>
      <p:sp>
        <p:nvSpPr>
          <p:cNvPr id="6" name="Slide Number Placeholder 5"/>
          <p:cNvSpPr>
            <a:spLocks noGrp="1"/>
          </p:cNvSpPr>
          <p:nvPr>
            <p:ph type="sldNum" sz="quarter" idx="12"/>
          </p:nvPr>
        </p:nvSpPr>
        <p:spPr>
          <a:ln/>
        </p:spPr>
        <p:txBody>
          <a:bodyPr/>
          <a:lstStyle>
            <a:lvl1pPr>
              <a:defRPr/>
            </a:lvl1pPr>
          </a:lstStyle>
          <a:p>
            <a:pPr>
              <a:defRPr/>
            </a:pPr>
            <a:fld id="{5BF5E73D-1069-4824-94AF-7FF34A7BE33D}" type="slidenum">
              <a:rPr lang="zh-CN" altLang="en-US"/>
              <a:pPr>
                <a:defRPr/>
              </a:pPr>
              <a:t>‹#›</a:t>
            </a:fld>
            <a:endParaRPr lang="en-US" altLang="zh-CN"/>
          </a:p>
        </p:txBody>
      </p:sp>
    </p:spTree>
    <p:extLst>
      <p:ext uri="{BB962C8B-B14F-4D97-AF65-F5344CB8AC3E}">
        <p14:creationId xmlns:p14="http://schemas.microsoft.com/office/powerpoint/2010/main" val="54087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Date Placeholder 3"/>
          <p:cNvSpPr>
            <a:spLocks noGrp="1"/>
          </p:cNvSpPr>
          <p:nvPr>
            <p:ph type="dt" sz="half" idx="10"/>
          </p:nvPr>
        </p:nvSpPr>
        <p:spPr>
          <a:ln/>
        </p:spPr>
        <p:txBody>
          <a:bodyPr/>
          <a:lstStyle>
            <a:lvl1pPr>
              <a:defRPr/>
            </a:lvl1pPr>
          </a:lstStyle>
          <a:p>
            <a:pPr>
              <a:defRPr/>
            </a:pPr>
            <a:fld id="{0D7C70DC-E5E3-476E-B719-7C406A24E276}" type="datetime1">
              <a:rPr lang="en-US" altLang="zh-CN" smtClean="0"/>
              <a:t>4/25/2025</a:t>
            </a:fld>
            <a:endParaRPr lang="en-US" altLang="zh-CN"/>
          </a:p>
        </p:txBody>
      </p:sp>
      <p:sp>
        <p:nvSpPr>
          <p:cNvPr id="6" name="Footer Placeholder 4"/>
          <p:cNvSpPr>
            <a:spLocks noGrp="1"/>
          </p:cNvSpPr>
          <p:nvPr>
            <p:ph type="ftr" sz="quarter" idx="11"/>
          </p:nvPr>
        </p:nvSpPr>
        <p:spPr>
          <a:ln/>
        </p:spPr>
        <p:txBody>
          <a:bodyPr/>
          <a:lstStyle>
            <a:lvl1pPr>
              <a:defRPr/>
            </a:lvl1pPr>
          </a:lstStyle>
          <a:p>
            <a:pPr>
              <a:defRPr/>
            </a:pPr>
            <a:r>
              <a:rPr lang="en-US" altLang="zh-CN"/>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a:defRPr/>
            </a:pPr>
            <a:fld id="{11810F76-1A24-4AF4-8A91-362659113F1F}" type="slidenum">
              <a:rPr lang="zh-CN" altLang="en-US"/>
              <a:pPr>
                <a:defRPr/>
              </a:pPr>
              <a:t>‹#›</a:t>
            </a:fld>
            <a:endParaRPr lang="en-US" altLang="zh-CN"/>
          </a:p>
        </p:txBody>
      </p:sp>
    </p:spTree>
    <p:extLst>
      <p:ext uri="{BB962C8B-B14F-4D97-AF65-F5344CB8AC3E}">
        <p14:creationId xmlns:p14="http://schemas.microsoft.com/office/powerpoint/2010/main" val="1680367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4" name="内容占位符 3"/>
          <p:cNvSpPr>
            <a:spLocks noGrp="1"/>
          </p:cNvSpPr>
          <p:nvPr>
            <p:ph sz="half" idx="2"/>
          </p:nvPr>
        </p:nvSpPr>
        <p:spPr>
          <a:xfrm>
            <a:off x="629841" y="2505075"/>
            <a:ext cx="3868340"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Date Placeholder 3"/>
          <p:cNvSpPr>
            <a:spLocks noGrp="1"/>
          </p:cNvSpPr>
          <p:nvPr>
            <p:ph type="dt" sz="half" idx="10"/>
          </p:nvPr>
        </p:nvSpPr>
        <p:spPr>
          <a:ln/>
        </p:spPr>
        <p:txBody>
          <a:bodyPr/>
          <a:lstStyle>
            <a:lvl1pPr>
              <a:defRPr/>
            </a:lvl1pPr>
          </a:lstStyle>
          <a:p>
            <a:pPr>
              <a:defRPr/>
            </a:pPr>
            <a:fld id="{EAE8E72B-6C0E-4F25-B3EF-88ADA2D92673}" type="datetime1">
              <a:rPr lang="en-US" altLang="zh-CN" smtClean="0"/>
              <a:t>4/25/2025</a:t>
            </a:fld>
            <a:endParaRPr lang="en-US" altLang="zh-CN"/>
          </a:p>
        </p:txBody>
      </p:sp>
      <p:sp>
        <p:nvSpPr>
          <p:cNvPr id="8" name="Footer Placeholder 4"/>
          <p:cNvSpPr>
            <a:spLocks noGrp="1"/>
          </p:cNvSpPr>
          <p:nvPr>
            <p:ph type="ftr" sz="quarter" idx="11"/>
          </p:nvPr>
        </p:nvSpPr>
        <p:spPr>
          <a:ln/>
        </p:spPr>
        <p:txBody>
          <a:bodyPr/>
          <a:lstStyle>
            <a:lvl1pPr>
              <a:defRPr/>
            </a:lvl1pPr>
          </a:lstStyle>
          <a:p>
            <a:pPr>
              <a:defRPr/>
            </a:pPr>
            <a:r>
              <a:rPr lang="en-US" altLang="zh-CN"/>
              <a:t>Modelling Transportation Systems · Southeast University · Zhiyuan Liu</a:t>
            </a:r>
          </a:p>
        </p:txBody>
      </p:sp>
      <p:sp>
        <p:nvSpPr>
          <p:cNvPr id="9" name="Slide Number Placeholder 5"/>
          <p:cNvSpPr>
            <a:spLocks noGrp="1"/>
          </p:cNvSpPr>
          <p:nvPr>
            <p:ph type="sldNum" sz="quarter" idx="12"/>
          </p:nvPr>
        </p:nvSpPr>
        <p:spPr>
          <a:ln/>
        </p:spPr>
        <p:txBody>
          <a:bodyPr/>
          <a:lstStyle>
            <a:lvl1pPr>
              <a:defRPr/>
            </a:lvl1pPr>
          </a:lstStyle>
          <a:p>
            <a:pPr>
              <a:defRPr/>
            </a:pPr>
            <a:fld id="{3B8051D9-6CDB-4A19-9498-B1F31800CB75}" type="slidenum">
              <a:rPr lang="zh-CN" altLang="en-US"/>
              <a:pPr>
                <a:defRPr/>
              </a:pPr>
              <a:t>‹#›</a:t>
            </a:fld>
            <a:endParaRPr lang="en-US" altLang="zh-CN"/>
          </a:p>
        </p:txBody>
      </p:sp>
    </p:spTree>
    <p:extLst>
      <p:ext uri="{BB962C8B-B14F-4D97-AF65-F5344CB8AC3E}">
        <p14:creationId xmlns:p14="http://schemas.microsoft.com/office/powerpoint/2010/main" val="1528281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Date Placeholder 3"/>
          <p:cNvSpPr>
            <a:spLocks noGrp="1"/>
          </p:cNvSpPr>
          <p:nvPr>
            <p:ph type="dt" sz="half" idx="10"/>
          </p:nvPr>
        </p:nvSpPr>
        <p:spPr>
          <a:ln/>
        </p:spPr>
        <p:txBody>
          <a:bodyPr/>
          <a:lstStyle>
            <a:lvl1pPr>
              <a:defRPr/>
            </a:lvl1pPr>
          </a:lstStyle>
          <a:p>
            <a:pPr>
              <a:defRPr/>
            </a:pPr>
            <a:fld id="{4B0FD39B-8021-4531-8CE2-8D21302A74ED}" type="datetime1">
              <a:rPr lang="en-US" altLang="zh-CN" smtClean="0"/>
              <a:t>4/25/2025</a:t>
            </a:fld>
            <a:endParaRPr lang="en-US" altLang="zh-CN"/>
          </a:p>
        </p:txBody>
      </p:sp>
      <p:sp>
        <p:nvSpPr>
          <p:cNvPr id="4" name="Footer Placeholder 4"/>
          <p:cNvSpPr>
            <a:spLocks noGrp="1"/>
          </p:cNvSpPr>
          <p:nvPr>
            <p:ph type="ftr" sz="quarter" idx="11"/>
          </p:nvPr>
        </p:nvSpPr>
        <p:spPr>
          <a:ln/>
        </p:spPr>
        <p:txBody>
          <a:bodyPr/>
          <a:lstStyle>
            <a:lvl1pPr>
              <a:defRPr/>
            </a:lvl1pPr>
          </a:lstStyle>
          <a:p>
            <a:pPr>
              <a:defRPr/>
            </a:pPr>
            <a:r>
              <a:rPr lang="en-US" altLang="zh-CN"/>
              <a:t>Modelling Transportation Systems · Southeast University · Zhiyuan Liu</a:t>
            </a:r>
          </a:p>
        </p:txBody>
      </p:sp>
      <p:sp>
        <p:nvSpPr>
          <p:cNvPr id="5" name="Slide Number Placeholder 5"/>
          <p:cNvSpPr>
            <a:spLocks noGrp="1"/>
          </p:cNvSpPr>
          <p:nvPr>
            <p:ph type="sldNum" sz="quarter" idx="12"/>
          </p:nvPr>
        </p:nvSpPr>
        <p:spPr>
          <a:ln/>
        </p:spPr>
        <p:txBody>
          <a:bodyPr/>
          <a:lstStyle>
            <a:lvl1pPr>
              <a:defRPr/>
            </a:lvl1pPr>
          </a:lstStyle>
          <a:p>
            <a:pPr>
              <a:defRPr/>
            </a:pPr>
            <a:fld id="{65F2B37D-33B6-4C69-9BD0-32187E706945}" type="slidenum">
              <a:rPr lang="zh-CN" altLang="en-US"/>
              <a:pPr>
                <a:defRPr/>
              </a:pPr>
              <a:t>‹#›</a:t>
            </a:fld>
            <a:endParaRPr lang="en-US" altLang="zh-CN"/>
          </a:p>
        </p:txBody>
      </p:sp>
    </p:spTree>
    <p:extLst>
      <p:ext uri="{BB962C8B-B14F-4D97-AF65-F5344CB8AC3E}">
        <p14:creationId xmlns:p14="http://schemas.microsoft.com/office/powerpoint/2010/main" val="1499192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a:ln/>
        </p:spPr>
        <p:txBody>
          <a:bodyPr/>
          <a:lstStyle>
            <a:lvl1pPr>
              <a:defRPr/>
            </a:lvl1pPr>
          </a:lstStyle>
          <a:p>
            <a:pPr>
              <a:defRPr/>
            </a:pPr>
            <a:fld id="{ACF5701F-746E-469B-BDDA-F93B22D4DB72}" type="datetime1">
              <a:rPr lang="en-US" altLang="zh-CN" smtClean="0"/>
              <a:t>4/25/2025</a:t>
            </a:fld>
            <a:endParaRPr lang="en-US" altLang="zh-CN"/>
          </a:p>
        </p:txBody>
      </p:sp>
      <p:sp>
        <p:nvSpPr>
          <p:cNvPr id="3" name="Footer Placeholder 4"/>
          <p:cNvSpPr>
            <a:spLocks noGrp="1"/>
          </p:cNvSpPr>
          <p:nvPr>
            <p:ph type="ftr" sz="quarter" idx="11"/>
          </p:nvPr>
        </p:nvSpPr>
        <p:spPr>
          <a:ln/>
        </p:spPr>
        <p:txBody>
          <a:bodyPr/>
          <a:lstStyle>
            <a:lvl1pPr>
              <a:defRPr/>
            </a:lvl1pPr>
          </a:lstStyle>
          <a:p>
            <a:pPr>
              <a:defRPr/>
            </a:pPr>
            <a:r>
              <a:rPr lang="en-US" altLang="zh-CN"/>
              <a:t>Modelling Transportation Systems · Southeast University · Zhiyuan Liu</a:t>
            </a:r>
          </a:p>
        </p:txBody>
      </p:sp>
      <p:sp>
        <p:nvSpPr>
          <p:cNvPr id="4" name="Slide Number Placeholder 5"/>
          <p:cNvSpPr>
            <a:spLocks noGrp="1"/>
          </p:cNvSpPr>
          <p:nvPr>
            <p:ph type="sldNum" sz="quarter" idx="12"/>
          </p:nvPr>
        </p:nvSpPr>
        <p:spPr>
          <a:ln/>
        </p:spPr>
        <p:txBody>
          <a:bodyPr/>
          <a:lstStyle>
            <a:lvl1pPr>
              <a:defRPr/>
            </a:lvl1pPr>
          </a:lstStyle>
          <a:p>
            <a:pPr>
              <a:defRPr/>
            </a:pPr>
            <a:fld id="{D1009943-BA82-4F6A-BD7C-764069224CD2}" type="slidenum">
              <a:rPr lang="zh-CN" altLang="en-US"/>
              <a:pPr>
                <a:defRPr/>
              </a:pPr>
              <a:t>‹#›</a:t>
            </a:fld>
            <a:endParaRPr lang="en-US" altLang="zh-CN"/>
          </a:p>
        </p:txBody>
      </p:sp>
    </p:spTree>
    <p:extLst>
      <p:ext uri="{BB962C8B-B14F-4D97-AF65-F5344CB8AC3E}">
        <p14:creationId xmlns:p14="http://schemas.microsoft.com/office/powerpoint/2010/main" val="3290656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a:defRPr/>
            </a:pPr>
            <a:fld id="{707B1553-8BA7-4889-BEC6-891C13E10B98}" type="datetime1">
              <a:rPr lang="en-US" altLang="zh-CN" smtClean="0"/>
              <a:t>4/25/2025</a:t>
            </a:fld>
            <a:endParaRPr lang="en-US" altLang="zh-CN"/>
          </a:p>
        </p:txBody>
      </p:sp>
      <p:sp>
        <p:nvSpPr>
          <p:cNvPr id="6" name="Footer Placeholder 4"/>
          <p:cNvSpPr>
            <a:spLocks noGrp="1"/>
          </p:cNvSpPr>
          <p:nvPr>
            <p:ph type="ftr" sz="quarter" idx="11"/>
          </p:nvPr>
        </p:nvSpPr>
        <p:spPr>
          <a:ln/>
        </p:spPr>
        <p:txBody>
          <a:bodyPr/>
          <a:lstStyle>
            <a:lvl1pPr>
              <a:defRPr/>
            </a:lvl1pPr>
          </a:lstStyle>
          <a:p>
            <a:pPr>
              <a:defRPr/>
            </a:pPr>
            <a:r>
              <a:rPr lang="en-US" altLang="zh-CN"/>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a:defRPr/>
            </a:pPr>
            <a:fld id="{E8CF26E5-2ED2-4F85-94A6-41EA43600B3E}" type="slidenum">
              <a:rPr lang="zh-CN" altLang="en-US"/>
              <a:pPr>
                <a:defRPr/>
              </a:pPr>
              <a:t>‹#›</a:t>
            </a:fld>
            <a:endParaRPr lang="en-US" altLang="zh-CN"/>
          </a:p>
        </p:txBody>
      </p:sp>
    </p:spTree>
    <p:extLst>
      <p:ext uri="{BB962C8B-B14F-4D97-AF65-F5344CB8AC3E}">
        <p14:creationId xmlns:p14="http://schemas.microsoft.com/office/powerpoint/2010/main" val="49183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1">
              <a:sym typeface="Arial" panose="020B0604020202020204" pitchFamily="34" charset="0"/>
            </a:endParaRP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a:defRPr/>
            </a:pPr>
            <a:fld id="{7A62BEB2-F18B-4C21-9638-A76426A31BD0}" type="datetime1">
              <a:rPr lang="en-US" altLang="zh-CN" smtClean="0"/>
              <a:t>4/25/2025</a:t>
            </a:fld>
            <a:endParaRPr lang="en-US" altLang="zh-CN"/>
          </a:p>
        </p:txBody>
      </p:sp>
      <p:sp>
        <p:nvSpPr>
          <p:cNvPr id="6" name="Footer Placeholder 4"/>
          <p:cNvSpPr>
            <a:spLocks noGrp="1"/>
          </p:cNvSpPr>
          <p:nvPr>
            <p:ph type="ftr" sz="quarter" idx="11"/>
          </p:nvPr>
        </p:nvSpPr>
        <p:spPr>
          <a:ln/>
        </p:spPr>
        <p:txBody>
          <a:bodyPr/>
          <a:lstStyle>
            <a:lvl1pPr>
              <a:defRPr/>
            </a:lvl1pPr>
          </a:lstStyle>
          <a:p>
            <a:pPr>
              <a:defRPr/>
            </a:pPr>
            <a:r>
              <a:rPr lang="en-US" altLang="zh-CN"/>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a:defRPr/>
            </a:pPr>
            <a:fld id="{9F8C9128-8DD9-4172-A865-72B9B18E9A1F}" type="slidenum">
              <a:rPr lang="zh-CN" altLang="en-US"/>
              <a:pPr>
                <a:defRPr/>
              </a:pPr>
              <a:t>‹#›</a:t>
            </a:fld>
            <a:endParaRPr lang="en-US" altLang="zh-CN"/>
          </a:p>
        </p:txBody>
      </p:sp>
    </p:spTree>
    <p:extLst>
      <p:ext uri="{BB962C8B-B14F-4D97-AF65-F5344CB8AC3E}">
        <p14:creationId xmlns:p14="http://schemas.microsoft.com/office/powerpoint/2010/main" val="1973188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ln/>
        </p:spPr>
        <p:txBody>
          <a:bodyPr/>
          <a:lstStyle>
            <a:lvl1pPr>
              <a:defRPr/>
            </a:lvl1pPr>
          </a:lstStyle>
          <a:p>
            <a:pPr>
              <a:defRPr/>
            </a:pPr>
            <a:fld id="{7CF3C754-25BE-4F5C-AB68-D771A03BCC90}" type="datetime1">
              <a:rPr lang="en-US" altLang="zh-CN" smtClean="0"/>
              <a:t>4/25/2025</a:t>
            </a:fld>
            <a:endParaRPr lang="en-US" altLang="zh-CN"/>
          </a:p>
        </p:txBody>
      </p:sp>
      <p:sp>
        <p:nvSpPr>
          <p:cNvPr id="5" name="Footer Placeholder 4"/>
          <p:cNvSpPr>
            <a:spLocks noGrp="1"/>
          </p:cNvSpPr>
          <p:nvPr>
            <p:ph type="ftr" sz="quarter" idx="11"/>
          </p:nvPr>
        </p:nvSpPr>
        <p:spPr>
          <a:ln/>
        </p:spPr>
        <p:txBody>
          <a:bodyPr/>
          <a:lstStyle>
            <a:lvl1pPr>
              <a:defRPr/>
            </a:lvl1pPr>
          </a:lstStyle>
          <a:p>
            <a:pPr>
              <a:defRPr/>
            </a:pPr>
            <a:r>
              <a:rPr lang="en-US" altLang="zh-CN"/>
              <a:t>Modelling Transportation Systems · Southeast University · Zhiyuan Liu</a:t>
            </a:r>
          </a:p>
        </p:txBody>
      </p:sp>
      <p:sp>
        <p:nvSpPr>
          <p:cNvPr id="6" name="Slide Number Placeholder 5"/>
          <p:cNvSpPr>
            <a:spLocks noGrp="1"/>
          </p:cNvSpPr>
          <p:nvPr>
            <p:ph type="sldNum" sz="quarter" idx="12"/>
          </p:nvPr>
        </p:nvSpPr>
        <p:spPr>
          <a:ln/>
        </p:spPr>
        <p:txBody>
          <a:bodyPr/>
          <a:lstStyle>
            <a:lvl1pPr>
              <a:defRPr/>
            </a:lvl1pPr>
          </a:lstStyle>
          <a:p>
            <a:pPr>
              <a:defRPr/>
            </a:pPr>
            <a:fld id="{D815748A-C05D-4102-BCCF-66D346F70087}" type="slidenum">
              <a:rPr lang="zh-CN" altLang="en-US"/>
              <a:pPr>
                <a:defRPr/>
              </a:pPr>
              <a:t>‹#›</a:t>
            </a:fld>
            <a:endParaRPr lang="en-US" altLang="zh-CN"/>
          </a:p>
        </p:txBody>
      </p:sp>
    </p:spTree>
    <p:extLst>
      <p:ext uri="{BB962C8B-B14F-4D97-AF65-F5344CB8AC3E}">
        <p14:creationId xmlns:p14="http://schemas.microsoft.com/office/powerpoint/2010/main" val="6859524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33400"/>
            <a:ext cx="2057400" cy="59436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533400"/>
            <a:ext cx="6052930" cy="59436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xfrm>
            <a:off x="162560" y="19050"/>
            <a:ext cx="929393" cy="328613"/>
          </a:xfrm>
          <a:ln/>
        </p:spPr>
        <p:txBody>
          <a:bodyPr/>
          <a:lstStyle>
            <a:lvl1pPr>
              <a:defRPr/>
            </a:lvl1pPr>
          </a:lstStyle>
          <a:p>
            <a:pPr>
              <a:defRPr/>
            </a:pPr>
            <a:fld id="{2343D20E-ACC7-4DDD-AC28-33869E6ABE9A}" type="datetime1">
              <a:rPr lang="en-US" altLang="zh-CN" smtClean="0"/>
              <a:t>4/25/2025</a:t>
            </a:fld>
            <a:endParaRPr lang="en-US" altLang="zh-CN" dirty="0"/>
          </a:p>
        </p:txBody>
      </p:sp>
      <p:sp>
        <p:nvSpPr>
          <p:cNvPr id="5" name="Footer Placeholder 4"/>
          <p:cNvSpPr>
            <a:spLocks noGrp="1"/>
          </p:cNvSpPr>
          <p:nvPr>
            <p:ph type="ftr" sz="quarter" idx="11"/>
          </p:nvPr>
        </p:nvSpPr>
        <p:spPr>
          <a:ln/>
        </p:spPr>
        <p:txBody>
          <a:bodyPr/>
          <a:lstStyle>
            <a:lvl1pPr>
              <a:defRPr/>
            </a:lvl1pPr>
          </a:lstStyle>
          <a:p>
            <a:pPr algn="r">
              <a:defRPr/>
            </a:pPr>
            <a:r>
              <a:rPr lang="en-US" altLang="zh-CN" dirty="0"/>
              <a:t>Modelling Transportation Systems · Southeast University · </a:t>
            </a:r>
            <a:r>
              <a:rPr lang="en-US" altLang="zh-CN" dirty="0" err="1"/>
              <a:t>Zhiyuan</a:t>
            </a:r>
            <a:r>
              <a:rPr lang="en-US" altLang="zh-CN" dirty="0"/>
              <a:t> Liu</a:t>
            </a:r>
          </a:p>
        </p:txBody>
      </p:sp>
      <p:sp>
        <p:nvSpPr>
          <p:cNvPr id="6" name="Slide Number Placeholder 5"/>
          <p:cNvSpPr>
            <a:spLocks noGrp="1"/>
          </p:cNvSpPr>
          <p:nvPr>
            <p:ph type="sldNum" sz="quarter" idx="12"/>
          </p:nvPr>
        </p:nvSpPr>
        <p:spPr>
          <a:xfrm>
            <a:off x="8720738" y="19050"/>
            <a:ext cx="416560" cy="328613"/>
          </a:xfrm>
          <a:ln/>
        </p:spPr>
        <p:txBody>
          <a:bodyPr/>
          <a:lstStyle>
            <a:lvl1pPr>
              <a:defRPr/>
            </a:lvl1pPr>
          </a:lstStyle>
          <a:p>
            <a:pPr>
              <a:defRPr/>
            </a:pPr>
            <a:fld id="{93D8EEBC-8FFF-48D5-BA20-8C9570EB2408}" type="slidenum">
              <a:rPr lang="zh-CN" altLang="en-US"/>
              <a:pPr>
                <a:defRPr/>
              </a:pPr>
              <a:t>‹#›</a:t>
            </a:fld>
            <a:endParaRPr lang="en-US" altLang="zh-CN" dirty="0"/>
          </a:p>
        </p:txBody>
      </p:sp>
    </p:spTree>
    <p:extLst>
      <p:ext uri="{BB962C8B-B14F-4D97-AF65-F5344CB8AC3E}">
        <p14:creationId xmlns:p14="http://schemas.microsoft.com/office/powerpoint/2010/main" val="1321025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9"/>
          <p:cNvSpPr>
            <a:spLocks noChangeArrowheads="1"/>
          </p:cNvSpPr>
          <p:nvPr/>
        </p:nvSpPr>
        <p:spPr bwMode="auto">
          <a:xfrm>
            <a:off x="0" y="220663"/>
            <a:ext cx="9144000" cy="228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a:solidFill>
                <a:srgbClr val="FFFFFF"/>
              </a:solidFill>
              <a:sym typeface="Arial" panose="020B0604020202020204" pitchFamily="34" charset="0"/>
            </a:endParaRPr>
          </a:p>
        </p:txBody>
      </p:sp>
      <p:sp>
        <p:nvSpPr>
          <p:cNvPr id="1027" name="Title Placeholder 1"/>
          <p:cNvSpPr>
            <a:spLocks noGrp="1" noChangeArrowheads="1"/>
          </p:cNvSpPr>
          <p:nvPr>
            <p:ph type="title" idx="4294967295"/>
          </p:nvPr>
        </p:nvSpPr>
        <p:spPr bwMode="auto">
          <a:xfrm>
            <a:off x="457200" y="533400"/>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a:sym typeface="Arial" panose="020B0604020202020204" pitchFamily="34" charset="0"/>
              </a:rPr>
              <a:t>Click to edit Master title style</a:t>
            </a:r>
          </a:p>
        </p:txBody>
      </p:sp>
      <p:sp>
        <p:nvSpPr>
          <p:cNvPr id="1028" name="Text Placeholder 2"/>
          <p:cNvSpPr>
            <a:spLocks noGrp="1" noChangeArrowheads="1"/>
          </p:cNvSpPr>
          <p:nvPr>
            <p:ph type="body" idx="4294967295"/>
          </p:nvPr>
        </p:nvSpPr>
        <p:spPr bwMode="auto">
          <a:xfrm>
            <a:off x="457200" y="1600200"/>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sym typeface="Arial" panose="020B0604020202020204" pitchFamily="34" charset="0"/>
              </a:rPr>
              <a:t>Click to edit Master text styles</a:t>
            </a:r>
          </a:p>
          <a:p>
            <a:pPr lvl="1"/>
            <a:r>
              <a:rPr lang="en-US" altLang="zh-CN">
                <a:sym typeface="Arial" panose="020B0604020202020204" pitchFamily="34" charset="0"/>
              </a:rPr>
              <a:t>Second level</a:t>
            </a:r>
          </a:p>
          <a:p>
            <a:pPr lvl="2"/>
            <a:r>
              <a:rPr lang="en-US" altLang="zh-CN">
                <a:sym typeface="Arial" panose="020B0604020202020204" pitchFamily="34" charset="0"/>
              </a:rPr>
              <a:t>Third level</a:t>
            </a:r>
          </a:p>
          <a:p>
            <a:pPr lvl="3"/>
            <a:r>
              <a:rPr lang="en-US" altLang="zh-CN">
                <a:sym typeface="Arial" panose="020B0604020202020204" pitchFamily="34" charset="0"/>
              </a:rPr>
              <a:t>Fourth level</a:t>
            </a:r>
          </a:p>
          <a:p>
            <a:pPr lvl="4"/>
            <a:r>
              <a:rPr lang="en-US" altLang="zh-CN">
                <a:sym typeface="Arial" panose="020B0604020202020204" pitchFamily="34" charset="0"/>
              </a:rPr>
              <a:t>Fifth level</a:t>
            </a:r>
          </a:p>
        </p:txBody>
      </p:sp>
      <p:sp>
        <p:nvSpPr>
          <p:cNvPr id="1029" name="Rectangle 6"/>
          <p:cNvSpPr>
            <a:spLocks noChangeArrowheads="1"/>
          </p:cNvSpPr>
          <p:nvPr/>
        </p:nvSpPr>
        <p:spPr bwMode="auto">
          <a:xfrm>
            <a:off x="0" y="0"/>
            <a:ext cx="9144000" cy="3651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a:solidFill>
                <a:srgbClr val="FFFFFF"/>
              </a:solidFill>
              <a:sym typeface="Arial" panose="020B0604020202020204" pitchFamily="34" charset="0"/>
            </a:endParaRPr>
          </a:p>
        </p:txBody>
      </p:sp>
      <p:sp>
        <p:nvSpPr>
          <p:cNvPr id="6" name="Date Placeholder 3"/>
          <p:cNvSpPr>
            <a:spLocks noGrp="1"/>
          </p:cNvSpPr>
          <p:nvPr>
            <p:ph type="dt" sz="half" idx="2"/>
          </p:nvPr>
        </p:nvSpPr>
        <p:spPr>
          <a:xfrm>
            <a:off x="162560" y="19050"/>
            <a:ext cx="289560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a:defRPr/>
            </a:pPr>
            <a:fld id="{6E2D4AB0-441C-42B1-813F-D0D36EDB80B8}" type="datetime1">
              <a:rPr lang="en-US" altLang="zh-CN" smtClean="0"/>
              <a:t>4/25/2025</a:t>
            </a:fld>
            <a:endParaRPr lang="en-US" altLang="zh-CN" dirty="0"/>
          </a:p>
        </p:txBody>
      </p:sp>
      <p:sp>
        <p:nvSpPr>
          <p:cNvPr id="7" name="Footer Placeholder 4"/>
          <p:cNvSpPr>
            <a:spLocks noGrp="1"/>
          </p:cNvSpPr>
          <p:nvPr>
            <p:ph type="ftr" sz="quarter" idx="3"/>
          </p:nvPr>
        </p:nvSpPr>
        <p:spPr>
          <a:xfrm>
            <a:off x="3946407" y="19050"/>
            <a:ext cx="4831731"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algn="ctr" eaLnBrk="1" hangingPunct="1">
              <a:buFont typeface="Arial" panose="020B0604020202020204" pitchFamily="34" charset="0"/>
              <a:buNone/>
              <a:defRPr sz="1000" b="1">
                <a:solidFill>
                  <a:srgbClr val="FFFFFF"/>
                </a:solidFill>
              </a:defRPr>
            </a:lvl1pPr>
          </a:lstStyle>
          <a:p>
            <a:pPr algn="r">
              <a:defRPr/>
            </a:pPr>
            <a:r>
              <a:rPr lang="en-US" altLang="zh-CN" dirty="0"/>
              <a:t>Modelling Transportation Systems · Southeast University · </a:t>
            </a:r>
            <a:r>
              <a:rPr lang="en-US" altLang="zh-CN" dirty="0" err="1"/>
              <a:t>Zhiyuan</a:t>
            </a:r>
            <a:r>
              <a:rPr lang="en-US" altLang="zh-CN" dirty="0"/>
              <a:t> Liu</a:t>
            </a:r>
          </a:p>
        </p:txBody>
      </p:sp>
      <p:sp>
        <p:nvSpPr>
          <p:cNvPr id="8" name="Slide Number Placeholder 5"/>
          <p:cNvSpPr>
            <a:spLocks noGrp="1"/>
          </p:cNvSpPr>
          <p:nvPr>
            <p:ph type="sldNum" sz="quarter" idx="4"/>
          </p:nvPr>
        </p:nvSpPr>
        <p:spPr>
          <a:xfrm>
            <a:off x="8756250" y="19050"/>
            <a:ext cx="38775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a:defRPr/>
            </a:pPr>
            <a:fld id="{B637DA7A-EB76-4203-8E69-29EB9F37D3B8}" type="slidenum">
              <a:rPr lang="zh-CN" altLang="en-US" smtClean="0"/>
              <a:pPr>
                <a:defRPr/>
              </a:pPr>
              <a:t>‹#›</a:t>
            </a:fld>
            <a:endParaRPr lang="en-US" altLang="zh-CN" dirty="0"/>
          </a:p>
        </p:txBody>
      </p:sp>
    </p:spTree>
    <p:extLst>
      <p:ext uri="{BB962C8B-B14F-4D97-AF65-F5344CB8AC3E}">
        <p14:creationId xmlns:p14="http://schemas.microsoft.com/office/powerpoint/2010/main" val="4047073764"/>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Lst>
  <p:hf hdr="0"/>
  <p:txStyles>
    <p:titleStyle>
      <a:lvl1pPr marL="914400" indent="-914400" algn="l" rtl="0" eaLnBrk="0" fontAlgn="base" hangingPunct="0">
        <a:spcBef>
          <a:spcPct val="0"/>
        </a:spcBef>
        <a:spcAft>
          <a:spcPct val="0"/>
        </a:spcAft>
        <a:buFont typeface="Arial" panose="020B0604020202020204" pitchFamily="34" charset="0"/>
        <a:defRPr sz="4000" kern="1200">
          <a:solidFill>
            <a:schemeClr val="tx2"/>
          </a:solidFill>
          <a:latin typeface="+mj-lt"/>
          <a:ea typeface="+mj-ea"/>
          <a:cs typeface="+mj-cs"/>
          <a:sym typeface="Arial" panose="020B0604020202020204" pitchFamily="34" charset="0"/>
        </a:defRPr>
      </a:lvl1pPr>
      <a:lvl2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2pPr>
      <a:lvl3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3pPr>
      <a:lvl4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4pPr>
      <a:lvl5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13716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18288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22860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27432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9pPr>
    </p:titleStyle>
    <p:body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p:bodyStyle>
    <p:otherStyle>
      <a:lvl1pPr marL="0" lvl="0"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notesSlide" Target="../notesSlides/notesSlide10.xml"/><Relationship Id="rId7" Type="http://schemas.openxmlformats.org/officeDocument/2006/relationships/oleObject" Target="../embeddings/oleObject2.bin"/><Relationship Id="rId12" Type="http://schemas.openxmlformats.org/officeDocument/2006/relationships/image" Target="../media/image11.wmf"/><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8.wmf"/><Relationship Id="rId11" Type="http://schemas.openxmlformats.org/officeDocument/2006/relationships/oleObject" Target="../embeddings/oleObject4.bin"/><Relationship Id="rId5" Type="http://schemas.openxmlformats.org/officeDocument/2006/relationships/oleObject" Target="../embeddings/oleObject1.bin"/><Relationship Id="rId10" Type="http://schemas.openxmlformats.org/officeDocument/2006/relationships/image" Target="../media/image10.wmf"/><Relationship Id="rId4" Type="http://schemas.openxmlformats.org/officeDocument/2006/relationships/image" Target="../media/image12.png"/><Relationship Id="rId9" Type="http://schemas.openxmlformats.org/officeDocument/2006/relationships/oleObject" Target="../embeddings/oleObject3.bin"/></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12.wmf"/><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oleObject" Target="../embeddings/oleObject5.bin"/><Relationship Id="rId5" Type="http://schemas.openxmlformats.org/officeDocument/2006/relationships/image" Target="../media/image15.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vmlDrawing" Target="../drawings/vmlDrawing3.vml"/><Relationship Id="rId6" Type="http://schemas.openxmlformats.org/officeDocument/2006/relationships/image" Target="../media/image13.png"/><Relationship Id="rId5" Type="http://schemas.openxmlformats.org/officeDocument/2006/relationships/image" Target="../media/image14.wmf"/><Relationship Id="rId4" Type="http://schemas.openxmlformats.org/officeDocument/2006/relationships/oleObject" Target="../embeddings/oleObject6.bin"/></Relationships>
</file>

<file path=ppt/slides/_rels/slide15.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notesSlide" Target="../notesSlides/notesSlide13.xml"/><Relationship Id="rId7" Type="http://schemas.openxmlformats.org/officeDocument/2006/relationships/oleObject" Target="../embeddings/oleObject8.bin"/><Relationship Id="rId2" Type="http://schemas.openxmlformats.org/officeDocument/2006/relationships/slideLayout" Target="../slideLayouts/slideLayout1.xml"/><Relationship Id="rId1" Type="http://schemas.openxmlformats.org/officeDocument/2006/relationships/vmlDrawing" Target="../drawings/vmlDrawing4.vml"/><Relationship Id="rId6" Type="http://schemas.openxmlformats.org/officeDocument/2006/relationships/image" Target="../media/image15.wmf"/><Relationship Id="rId5" Type="http://schemas.openxmlformats.org/officeDocument/2006/relationships/oleObject" Target="../embeddings/oleObject7.bin"/><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notesSlide" Target="../notesSlides/notesSlide14.xml"/><Relationship Id="rId7" Type="http://schemas.openxmlformats.org/officeDocument/2006/relationships/oleObject" Target="../embeddings/oleObject10.bin"/><Relationship Id="rId2" Type="http://schemas.openxmlformats.org/officeDocument/2006/relationships/slideLayout" Target="../slideLayouts/slideLayout1.xml"/><Relationship Id="rId1" Type="http://schemas.openxmlformats.org/officeDocument/2006/relationships/vmlDrawing" Target="../drawings/vmlDrawing5.vml"/><Relationship Id="rId6" Type="http://schemas.openxmlformats.org/officeDocument/2006/relationships/image" Target="../media/image17.wmf"/><Relationship Id="rId5" Type="http://schemas.openxmlformats.org/officeDocument/2006/relationships/oleObject" Target="../embeddings/oleObject9.bin"/><Relationship Id="rId4" Type="http://schemas.openxmlformats.org/officeDocument/2006/relationships/image" Target="../media/image170.png"/></Relationships>
</file>

<file path=ppt/slides/_rels/slide17.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notesSlide" Target="../notesSlides/notesSlide15.xml"/><Relationship Id="rId7" Type="http://schemas.openxmlformats.org/officeDocument/2006/relationships/oleObject" Target="../embeddings/oleObject12.bin"/><Relationship Id="rId2" Type="http://schemas.openxmlformats.org/officeDocument/2006/relationships/slideLayout" Target="../slideLayouts/slideLayout1.xml"/><Relationship Id="rId1" Type="http://schemas.openxmlformats.org/officeDocument/2006/relationships/vmlDrawing" Target="../drawings/vmlDrawing6.vml"/><Relationship Id="rId6" Type="http://schemas.openxmlformats.org/officeDocument/2006/relationships/image" Target="../media/image19.wmf"/><Relationship Id="rId5" Type="http://schemas.openxmlformats.org/officeDocument/2006/relationships/oleObject" Target="../embeddings/oleObject11.bin"/><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notesSlide" Target="../notesSlides/notesSlide16.xml"/><Relationship Id="rId7" Type="http://schemas.openxmlformats.org/officeDocument/2006/relationships/image" Target="../media/image22.wmf"/><Relationship Id="rId2" Type="http://schemas.openxmlformats.org/officeDocument/2006/relationships/slideLayout" Target="../slideLayouts/slideLayout1.xml"/><Relationship Id="rId1" Type="http://schemas.openxmlformats.org/officeDocument/2006/relationships/vmlDrawing" Target="../drawings/vmlDrawing7.vml"/><Relationship Id="rId6" Type="http://schemas.openxmlformats.org/officeDocument/2006/relationships/oleObject" Target="../embeddings/oleObject14.bin"/><Relationship Id="rId5" Type="http://schemas.openxmlformats.org/officeDocument/2006/relationships/image" Target="../media/image21.wmf"/><Relationship Id="rId4" Type="http://schemas.openxmlformats.org/officeDocument/2006/relationships/oleObject" Target="../embeddings/oleObject13.bin"/></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vmlDrawing" Target="../drawings/vmlDrawing8.vml"/><Relationship Id="rId6" Type="http://schemas.openxmlformats.org/officeDocument/2006/relationships/image" Target="../media/image24.wmf"/><Relationship Id="rId5" Type="http://schemas.openxmlformats.org/officeDocument/2006/relationships/oleObject" Target="../embeddings/oleObject15.bin"/><Relationship Id="rId4" Type="http://schemas.openxmlformats.org/officeDocument/2006/relationships/image" Target="../media/image240.png"/></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28.sv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NULL"/></Relationships>
</file>

<file path=ppt/slides/_rels/slide26.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5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50.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311.png"/></Relationships>
</file>

<file path=ppt/slides/_rels/slide4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610.png"/></Relationships>
</file>

<file path=ppt/slides/_rels/slide48.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42.png"/><Relationship Id="rId7" Type="http://schemas.openxmlformats.org/officeDocument/2006/relationships/image" Target="../media/image60.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43.png"/><Relationship Id="rId11" Type="http://schemas.openxmlformats.org/officeDocument/2006/relationships/image" Target="../media/image10.png"/><Relationship Id="rId5" Type="http://schemas.openxmlformats.org/officeDocument/2006/relationships/image" Target="../media/image50.png"/><Relationship Id="rId10" Type="http://schemas.openxmlformats.org/officeDocument/2006/relationships/image" Target="../media/image9.png"/><Relationship Id="rId4" Type="http://schemas.openxmlformats.org/officeDocument/2006/relationships/image" Target="../media/image41.png"/><Relationship Id="rId9" Type="http://schemas.openxmlformats.org/officeDocument/2006/relationships/image" Target="../media/image8.png"/></Relationships>
</file>

<file path=ppt/slides/_rels/slide4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70.png"/></Relationships>
</file>

<file path=ppt/slides/_rels/slide50.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400.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54.xml.rels><?xml version="1.0" encoding="UTF-8" standalone="yes"?>
<Relationships xmlns="http://schemas.openxmlformats.org/package/2006/relationships"><Relationship Id="rId3" Type="http://schemas.openxmlformats.org/officeDocument/2006/relationships/image" Target="../media/image430.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image" Target="../media/image45.gif"/></Relationships>
</file>

<file path=ppt/slides/_rels/slide58.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47.emf"/></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xml"/><Relationship Id="rId1" Type="http://schemas.openxmlformats.org/officeDocument/2006/relationships/vmlDrawing" Target="../drawings/vmlDrawing9.vml"/><Relationship Id="rId6" Type="http://schemas.openxmlformats.org/officeDocument/2006/relationships/image" Target="../media/image49.emf"/><Relationship Id="rId5" Type="http://schemas.openxmlformats.org/officeDocument/2006/relationships/package" Target="../embeddings/Microsoft_Visio_Drawing.vsdx"/><Relationship Id="rId4" Type="http://schemas.openxmlformats.org/officeDocument/2006/relationships/image" Target="../media/image550.png"/></Relationships>
</file>

<file path=ppt/slides/_rels/slide63.xml.rels><?xml version="1.0" encoding="UTF-8" standalone="yes"?>
<Relationships xmlns="http://schemas.openxmlformats.org/package/2006/relationships"><Relationship Id="rId8" Type="http://schemas.openxmlformats.org/officeDocument/2006/relationships/image" Target="../media/image51.emf"/><Relationship Id="rId3" Type="http://schemas.openxmlformats.org/officeDocument/2006/relationships/notesSlide" Target="../notesSlides/notesSlide58.xml"/><Relationship Id="rId7" Type="http://schemas.openxmlformats.org/officeDocument/2006/relationships/package" Target="../embeddings/Microsoft_Visio_Drawing2.vsdx"/><Relationship Id="rId2" Type="http://schemas.openxmlformats.org/officeDocument/2006/relationships/slideLayout" Target="../slideLayouts/slideLayout1.xml"/><Relationship Id="rId1" Type="http://schemas.openxmlformats.org/officeDocument/2006/relationships/vmlDrawing" Target="../drawings/vmlDrawing10.vml"/><Relationship Id="rId6" Type="http://schemas.openxmlformats.org/officeDocument/2006/relationships/image" Target="../media/image50.emf"/><Relationship Id="rId5" Type="http://schemas.openxmlformats.org/officeDocument/2006/relationships/package" Target="../embeddings/Microsoft_Visio_Drawing1.vsdx"/><Relationship Id="rId4" Type="http://schemas.openxmlformats.org/officeDocument/2006/relationships/image" Target="../media/image440.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59.xml"/><Relationship Id="rId7" Type="http://schemas.openxmlformats.org/officeDocument/2006/relationships/image" Target="../media/image53.wmf"/><Relationship Id="rId2" Type="http://schemas.openxmlformats.org/officeDocument/2006/relationships/slideLayout" Target="../slideLayouts/slideLayout1.xml"/><Relationship Id="rId1" Type="http://schemas.openxmlformats.org/officeDocument/2006/relationships/vmlDrawing" Target="../drawings/vmlDrawing11.vml"/><Relationship Id="rId6" Type="http://schemas.openxmlformats.org/officeDocument/2006/relationships/oleObject" Target="../embeddings/oleObject17.bin"/><Relationship Id="rId5" Type="http://schemas.openxmlformats.org/officeDocument/2006/relationships/image" Target="../media/image52.wmf"/><Relationship Id="rId4" Type="http://schemas.openxmlformats.org/officeDocument/2006/relationships/oleObject" Target="../embeddings/oleObject16.bin"/></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xml"/><Relationship Id="rId1" Type="http://schemas.openxmlformats.org/officeDocument/2006/relationships/vmlDrawing" Target="../drawings/vmlDrawing12.vml"/><Relationship Id="rId5" Type="http://schemas.openxmlformats.org/officeDocument/2006/relationships/image" Target="../media/image54.wmf"/><Relationship Id="rId4" Type="http://schemas.openxmlformats.org/officeDocument/2006/relationships/oleObject" Target="../embeddings/oleObject18.bin"/></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1.xml"/><Relationship Id="rId1" Type="http://schemas.openxmlformats.org/officeDocument/2006/relationships/vmlDrawing" Target="../drawings/vmlDrawing13.vml"/><Relationship Id="rId6" Type="http://schemas.openxmlformats.org/officeDocument/2006/relationships/image" Target="../media/image55.wmf"/><Relationship Id="rId5" Type="http://schemas.openxmlformats.org/officeDocument/2006/relationships/oleObject" Target="../embeddings/oleObject19.bin"/><Relationship Id="rId4" Type="http://schemas.openxmlformats.org/officeDocument/2006/relationships/image" Target="../media/image590.png"/></Relationships>
</file>

<file path=ppt/slides/_rels/slide67.xml.rels><?xml version="1.0" encoding="UTF-8" standalone="yes"?>
<Relationships xmlns="http://schemas.openxmlformats.org/package/2006/relationships"><Relationship Id="rId3" Type="http://schemas.openxmlformats.org/officeDocument/2006/relationships/image" Target="../media/image520.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hyperlink" Target="https://scikit-learn.org/stable/modules/generated/sklearn.cluster.AgglomerativeClustering.html" TargetMode="External"/><Relationship Id="rId2" Type="http://schemas.openxmlformats.org/officeDocument/2006/relationships/notesSlide" Target="../notesSlides/notesSlide64.xml"/><Relationship Id="rId1" Type="http://schemas.openxmlformats.org/officeDocument/2006/relationships/slideLayout" Target="../slideLayouts/slideLayout1.xml"/><Relationship Id="rId4" Type="http://schemas.openxmlformats.org/officeDocument/2006/relationships/image" Target="../media/image56.png"/></Relationships>
</file>

<file path=ppt/slides/_rels/slide7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8.xml"/><Relationship Id="rId1" Type="http://schemas.openxmlformats.org/officeDocument/2006/relationships/slideLayout" Target="../slideLayouts/slideLayout1.xml"/><Relationship Id="rId4" Type="http://schemas.openxmlformats.org/officeDocument/2006/relationships/image" Target="../media/image59.png"/></Relationships>
</file>

<file path=ppt/slides/_rels/slide7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69.xml"/><Relationship Id="rId1" Type="http://schemas.openxmlformats.org/officeDocument/2006/relationships/slideLayout" Target="../slideLayouts/slideLayout1.xml"/><Relationship Id="rId5" Type="http://schemas.openxmlformats.org/officeDocument/2006/relationships/image" Target="../media/image560.png"/><Relationship Id="rId4" Type="http://schemas.openxmlformats.org/officeDocument/2006/relationships/image" Target="../media/image61.png"/></Relationships>
</file>

<file path=ppt/slides/_rels/slide75.xml.rels><?xml version="1.0" encoding="UTF-8" standalone="yes"?>
<Relationships xmlns="http://schemas.openxmlformats.org/package/2006/relationships"><Relationship Id="rId3" Type="http://schemas.openxmlformats.org/officeDocument/2006/relationships/image" Target="../media/image670.png"/><Relationship Id="rId2" Type="http://schemas.openxmlformats.org/officeDocument/2006/relationships/notesSlide" Target="../notesSlides/notesSlide70.xml"/><Relationship Id="rId1" Type="http://schemas.openxmlformats.org/officeDocument/2006/relationships/slideLayout" Target="../slideLayouts/slideLayout1.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7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72.xml"/><Relationship Id="rId1" Type="http://schemas.openxmlformats.org/officeDocument/2006/relationships/slideLayout" Target="../slideLayouts/slideLayout1.xml"/><Relationship Id="rId4" Type="http://schemas.openxmlformats.org/officeDocument/2006/relationships/image" Target="../media/image67.png"/></Relationships>
</file>

<file path=ppt/slides/_rels/slide7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73.xml"/><Relationship Id="rId1" Type="http://schemas.openxmlformats.org/officeDocument/2006/relationships/slideLayout" Target="../slideLayouts/slideLayout1.xml"/><Relationship Id="rId4" Type="http://schemas.openxmlformats.org/officeDocument/2006/relationships/image" Target="../media/image69.png"/></Relationships>
</file>

<file path=ppt/slides/_rels/slide7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80.xml"/><Relationship Id="rId1" Type="http://schemas.openxmlformats.org/officeDocument/2006/relationships/slideLayout" Target="../slideLayouts/slideLayout1.xml"/><Relationship Id="rId4" Type="http://schemas.openxmlformats.org/officeDocument/2006/relationships/image" Target="../media/image7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traight Connector 7">
            <a:extLst>
              <a:ext uri="{FF2B5EF4-FFF2-40B4-BE49-F238E27FC236}">
                <a16:creationId xmlns:a16="http://schemas.microsoft.com/office/drawing/2014/main" id="{C17F6176-C213-491E-8CC1-D44957BF5CB4}"/>
              </a:ext>
            </a:extLst>
          </p:cNvPr>
          <p:cNvSpPr>
            <a:spLocks noChangeShapeType="1"/>
          </p:cNvSpPr>
          <p:nvPr/>
        </p:nvSpPr>
        <p:spPr bwMode="auto">
          <a:xfrm>
            <a:off x="685800" y="1827213"/>
            <a:ext cx="7848600" cy="1587"/>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8" name="TextBox 8">
            <a:extLst>
              <a:ext uri="{FF2B5EF4-FFF2-40B4-BE49-F238E27FC236}">
                <a16:creationId xmlns:a16="http://schemas.microsoft.com/office/drawing/2014/main" id="{C3EFEED2-EE03-4B30-B2BC-D665F99E95E8}"/>
              </a:ext>
            </a:extLst>
          </p:cNvPr>
          <p:cNvSpPr>
            <a:spLocks noChangeArrowheads="1"/>
          </p:cNvSpPr>
          <p:nvPr/>
        </p:nvSpPr>
        <p:spPr bwMode="auto">
          <a:xfrm>
            <a:off x="838200" y="990600"/>
            <a:ext cx="7543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4000" b="1" i="0" u="none" strike="noStrike" kern="0" cap="none" spc="0" normalizeH="0" baseline="0" noProof="0">
                <a:ln>
                  <a:noFill/>
                </a:ln>
                <a:solidFill>
                  <a:schemeClr val="tx2"/>
                </a:solidFill>
                <a:effectLst/>
                <a:uLnTx/>
                <a:uFillTx/>
                <a:latin typeface="Arial (Headings)" charset="0"/>
                <a:ea typeface="宋体" panose="02010600030101010101" pitchFamily="2" charset="-122"/>
                <a:sym typeface="Arial (Headings)" charset="0"/>
              </a:rPr>
              <a:t> </a:t>
            </a:r>
          </a:p>
        </p:txBody>
      </p:sp>
      <p:sp>
        <p:nvSpPr>
          <p:cNvPr id="9" name="Subtitle 2">
            <a:extLst>
              <a:ext uri="{FF2B5EF4-FFF2-40B4-BE49-F238E27FC236}">
                <a16:creationId xmlns:a16="http://schemas.microsoft.com/office/drawing/2014/main" id="{B8586538-A238-44BD-9D3A-BB30FC3069BF}"/>
              </a:ext>
            </a:extLst>
          </p:cNvPr>
          <p:cNvSpPr txBox="1">
            <a:spLocks noChangeArrowheads="1"/>
          </p:cNvSpPr>
          <p:nvPr/>
        </p:nvSpPr>
        <p:spPr bwMode="auto">
          <a:xfrm>
            <a:off x="1524000" y="4572000"/>
            <a:ext cx="64008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eaLnBrk="1" hangingPunct="1"/>
            <a:r>
              <a:rPr lang="zh-CN" altLang="en-US" dirty="0">
                <a:latin typeface="+mj-ea"/>
                <a:ea typeface="+mj-ea"/>
                <a:sym typeface="Times New Roman" panose="02020603050405020304" pitchFamily="18" charset="0"/>
              </a:rPr>
              <a:t>刘志远教授</a:t>
            </a:r>
          </a:p>
          <a:p>
            <a:pPr defTabSz="914400" eaLnBrk="1" hangingPunct="1"/>
            <a:r>
              <a:rPr lang="zh-CN" altLang="en-US" dirty="0">
                <a:latin typeface="Times New Roman" panose="02020603050405020304" pitchFamily="18" charset="0"/>
                <a:ea typeface="方正舒体" panose="02010601030101010101" pitchFamily="2" charset="-122"/>
                <a:sym typeface="Times New Roman" panose="02020603050405020304" pitchFamily="18" charset="0"/>
              </a:rPr>
              <a:t>Email: </a:t>
            </a:r>
            <a:r>
              <a:rPr lang="en-US" altLang="zh-CN" dirty="0">
                <a:latin typeface="Times New Roman" panose="02020603050405020304" pitchFamily="18" charset="0"/>
                <a:ea typeface="方正舒体" panose="02010601030101010101" pitchFamily="2" charset="-122"/>
                <a:sym typeface="Times New Roman" panose="02020603050405020304" pitchFamily="18" charset="0"/>
              </a:rPr>
              <a:t>zhiyuanl@seu.edu.cn</a:t>
            </a:r>
            <a:endParaRPr lang="zh-CN" altLang="en-US" dirty="0">
              <a:latin typeface="Times New Roman" panose="02020603050405020304" pitchFamily="18" charset="0"/>
              <a:ea typeface="方正舒体" panose="02010601030101010101" pitchFamily="2" charset="-122"/>
              <a:sym typeface="Times New Roman" panose="02020603050405020304" pitchFamily="18" charset="0"/>
            </a:endParaRPr>
          </a:p>
        </p:txBody>
      </p:sp>
      <p:sp>
        <p:nvSpPr>
          <p:cNvPr id="10" name="TextBox 3">
            <a:extLst>
              <a:ext uri="{FF2B5EF4-FFF2-40B4-BE49-F238E27FC236}">
                <a16:creationId xmlns:a16="http://schemas.microsoft.com/office/drawing/2014/main" id="{95B0603D-0726-4BB0-9614-E22A880D7948}"/>
              </a:ext>
            </a:extLst>
          </p:cNvPr>
          <p:cNvSpPr>
            <a:spLocks noChangeArrowheads="1"/>
          </p:cNvSpPr>
          <p:nvPr/>
        </p:nvSpPr>
        <p:spPr bwMode="auto">
          <a:xfrm>
            <a:off x="279400" y="990600"/>
            <a:ext cx="863092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4000" b="1" dirty="0">
                <a:solidFill>
                  <a:schemeClr val="tx2"/>
                </a:solidFill>
                <a:latin typeface="微软雅黑" panose="020B0503020204020204" pitchFamily="34" charset="-122"/>
                <a:ea typeface="微软雅黑" panose="020B0503020204020204" pitchFamily="34" charset="-122"/>
                <a:sym typeface="Arial (Headings)" charset="0"/>
              </a:rPr>
              <a:t>交通大数据</a:t>
            </a:r>
          </a:p>
        </p:txBody>
      </p:sp>
      <p:sp>
        <p:nvSpPr>
          <p:cNvPr id="11" name="文本框 1">
            <a:extLst>
              <a:ext uri="{FF2B5EF4-FFF2-40B4-BE49-F238E27FC236}">
                <a16:creationId xmlns:a16="http://schemas.microsoft.com/office/drawing/2014/main" id="{CE45150C-E3DA-480A-99C3-BCD0007952A8}"/>
              </a:ext>
            </a:extLst>
          </p:cNvPr>
          <p:cNvSpPr txBox="1">
            <a:spLocks noChangeArrowheads="1"/>
          </p:cNvSpPr>
          <p:nvPr/>
        </p:nvSpPr>
        <p:spPr bwMode="auto">
          <a:xfrm>
            <a:off x="1905000" y="2877344"/>
            <a:ext cx="533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lgn="ctr" defTabSz="914400">
              <a:defRPr/>
            </a:pPr>
            <a:r>
              <a:rPr lang="zh-CN" altLang="en-US" sz="3600" b="1" kern="0" dirty="0">
                <a:solidFill>
                  <a:schemeClr val="tx2"/>
                </a:solidFill>
                <a:latin typeface="微软雅黑" panose="020B0503020204020204" pitchFamily="34" charset="-122"/>
                <a:ea typeface="微软雅黑" panose="020B0503020204020204" pitchFamily="34" charset="-122"/>
                <a:cs typeface="Times New Roman" panose="02020603050405020304" pitchFamily="18" charset="0"/>
              </a:rPr>
              <a:t>聚类分析</a:t>
            </a:r>
            <a:endParaRPr kumimoji="0" lang="zh-CN" altLang="en-US" sz="3600" b="1" i="0" u="none" strike="noStrike" kern="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4/25/2025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1</a:t>
            </a:fld>
            <a:endParaRPr lang="en-US" altLang="zh-CN" dirty="0"/>
          </a:p>
        </p:txBody>
      </p:sp>
      <p:sp>
        <p:nvSpPr>
          <p:cNvPr id="16" name="页脚占位符 2">
            <a:extLst>
              <a:ext uri="{FF2B5EF4-FFF2-40B4-BE49-F238E27FC236}">
                <a16:creationId xmlns:a16="http://schemas.microsoft.com/office/drawing/2014/main" id="{AE591DA7-150B-413B-9E1F-411E6BE92429}"/>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Tree>
    <p:extLst>
      <p:ext uri="{BB962C8B-B14F-4D97-AF65-F5344CB8AC3E}">
        <p14:creationId xmlns:p14="http://schemas.microsoft.com/office/powerpoint/2010/main" val="6486348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7" name="文本框 6"/>
          <p:cNvSpPr txBox="1"/>
          <p:nvPr/>
        </p:nvSpPr>
        <p:spPr>
          <a:xfrm>
            <a:off x="160890" y="717061"/>
            <a:ext cx="8595360" cy="4654608"/>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我们在之前的学习中，学习了线性回归模型，决策树，支持向量机等经典的机器学习算法，这些方法有一个共同的特点：</a:t>
            </a:r>
            <a:r>
              <a:rPr kumimoji="0"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训练数据有标签</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。每一条训练数据的特征都对应了事先给定的标签，然而</a:t>
            </a:r>
            <a:r>
              <a:rPr kumimoji="0"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在实际应用场景中，有标签的训练数据通常是难以获取的</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例如： 新闻网站每天从互联网上搜索爬取海量新闻，这些数据本身不包含具体的分类标签（例如 军事，社会，娱乐），那么</a:t>
            </a:r>
            <a:r>
              <a:rPr kumimoji="0"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这些网站如何对新闻进行合理的分类</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pic>
        <p:nvPicPr>
          <p:cNvPr id="11" name="图片 10">
            <a:extLst>
              <a:ext uri="{FF2B5EF4-FFF2-40B4-BE49-F238E27FC236}">
                <a16:creationId xmlns:a16="http://schemas.microsoft.com/office/drawing/2014/main" id="{42E3EBD6-EC8C-295C-4640-223102E798E3}"/>
              </a:ext>
            </a:extLst>
          </p:cNvPr>
          <p:cNvPicPr>
            <a:picLocks noChangeAspect="1"/>
          </p:cNvPicPr>
          <p:nvPr/>
        </p:nvPicPr>
        <p:blipFill>
          <a:blip r:embed="rId3"/>
          <a:stretch>
            <a:fillRect/>
          </a:stretch>
        </p:blipFill>
        <p:spPr>
          <a:xfrm>
            <a:off x="226193" y="4575536"/>
            <a:ext cx="8345103" cy="1296099"/>
          </a:xfrm>
          <a:prstGeom prst="rect">
            <a:avLst/>
          </a:prstGeom>
        </p:spPr>
      </p:pic>
    </p:spTree>
    <p:extLst>
      <p:ext uri="{BB962C8B-B14F-4D97-AF65-F5344CB8AC3E}">
        <p14:creationId xmlns:p14="http://schemas.microsoft.com/office/powerpoint/2010/main" val="3783606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3</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7" name="文本框 6"/>
          <p:cNvSpPr txBox="1"/>
          <p:nvPr/>
        </p:nvSpPr>
        <p:spPr>
          <a:xfrm>
            <a:off x="160890" y="717061"/>
            <a:ext cx="8595360" cy="1422954"/>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大家打开淘宝等购物软件时，会发现每个人的推荐商品都差别很大。实际上，</a:t>
            </a:r>
            <a:r>
              <a:rPr kumimoji="0"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面对海量的历史购物数据，购物网站难以通过人工给每一条数据，每一个用户打标签</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。那么，购物网站是如何根据用户特点进行定制化的商品推送呢？</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pic>
        <p:nvPicPr>
          <p:cNvPr id="4" name="图片 3">
            <a:extLst>
              <a:ext uri="{FF2B5EF4-FFF2-40B4-BE49-F238E27FC236}">
                <a16:creationId xmlns:a16="http://schemas.microsoft.com/office/drawing/2014/main" id="{23531138-3C08-852B-A924-BCD5C0046A6B}"/>
              </a:ext>
            </a:extLst>
          </p:cNvPr>
          <p:cNvPicPr>
            <a:picLocks noChangeAspect="1"/>
          </p:cNvPicPr>
          <p:nvPr/>
        </p:nvPicPr>
        <p:blipFill>
          <a:blip r:embed="rId3"/>
          <a:stretch>
            <a:fillRect/>
          </a:stretch>
        </p:blipFill>
        <p:spPr>
          <a:xfrm>
            <a:off x="433137" y="2638752"/>
            <a:ext cx="3929814" cy="2619876"/>
          </a:xfrm>
          <a:prstGeom prst="rect">
            <a:avLst/>
          </a:prstGeom>
        </p:spPr>
      </p:pic>
      <p:pic>
        <p:nvPicPr>
          <p:cNvPr id="5" name="图片 4">
            <a:extLst>
              <a:ext uri="{FF2B5EF4-FFF2-40B4-BE49-F238E27FC236}">
                <a16:creationId xmlns:a16="http://schemas.microsoft.com/office/drawing/2014/main" id="{7BD3DA9C-A56A-877C-42E3-E24F822B70FE}"/>
              </a:ext>
            </a:extLst>
          </p:cNvPr>
          <p:cNvPicPr>
            <a:picLocks noChangeAspect="1"/>
          </p:cNvPicPr>
          <p:nvPr/>
        </p:nvPicPr>
        <p:blipFill>
          <a:blip r:embed="rId4"/>
          <a:stretch>
            <a:fillRect/>
          </a:stretch>
        </p:blipFill>
        <p:spPr>
          <a:xfrm>
            <a:off x="4520835" y="2759897"/>
            <a:ext cx="4545365" cy="2369392"/>
          </a:xfrm>
          <a:prstGeom prst="rect">
            <a:avLst/>
          </a:prstGeom>
        </p:spPr>
      </p:pic>
    </p:spTree>
    <p:extLst>
      <p:ext uri="{BB962C8B-B14F-4D97-AF65-F5344CB8AC3E}">
        <p14:creationId xmlns:p14="http://schemas.microsoft.com/office/powerpoint/2010/main" val="35983495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7" name="文本框 6"/>
          <p:cNvSpPr txBox="1"/>
          <p:nvPr/>
        </p:nvSpPr>
        <p:spPr>
          <a:xfrm>
            <a:off x="160890" y="717061"/>
            <a:ext cx="8595360" cy="3731278"/>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在很多实际应用场景中，我们需要对无标签的数据进行处理，在这种情况下，我们通常进行无监督学习。不同于监督学习，无监督学习的目标，</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是通过对无标记训练样本的学习来揭示数据的内在性质及规律，为进一步数据分析提供基础</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。而此类学习任务中研究最多、应用最广的算法，就是“聚类”（</a:t>
            </a: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clustering</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本节课我们将具体学习聚类分析算法</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599313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4/25/2025</a:t>
            </a:fld>
            <a:endParaRPr lang="en-US" altLang="zh-CN" dirty="0"/>
          </a:p>
        </p:txBody>
      </p:sp>
      <p:sp>
        <p:nvSpPr>
          <p:cNvPr id="3" name="页脚占位符 2">
            <a:extLst>
              <a:ext uri="{FF2B5EF4-FFF2-40B4-BE49-F238E27FC236}">
                <a16:creationId xmlns:a16="http://schemas.microsoft.com/office/drawing/2014/main" id="{B9999C75-02FB-471A-9339-C2726F8C03A3}"/>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5</a:t>
            </a:fld>
            <a:endParaRPr lang="en-US" altLang="zh-CN"/>
          </a:p>
        </p:txBody>
      </p:sp>
      <p:sp>
        <p:nvSpPr>
          <p:cNvPr id="13" name="标题 1">
            <a:extLst>
              <a:ext uri="{FF2B5EF4-FFF2-40B4-BE49-F238E27FC236}">
                <a16:creationId xmlns:a16="http://schemas.microsoft.com/office/drawing/2014/main" id="{5607F18F-699A-4F7F-A2ED-BD80B7B267C8}"/>
              </a:ext>
            </a:extLst>
          </p:cNvPr>
          <p:cNvSpPr>
            <a:spLocks noGrp="1"/>
          </p:cNvSpPr>
          <p:nvPr>
            <p:ph type="title"/>
          </p:nvPr>
        </p:nvSpPr>
        <p:spPr>
          <a:xfrm>
            <a:off x="457200" y="462280"/>
            <a:ext cx="8229600" cy="990600"/>
          </a:xfrm>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聚类分析</a:t>
            </a:r>
          </a:p>
        </p:txBody>
      </p:sp>
      <p:sp>
        <p:nvSpPr>
          <p:cNvPr id="14" name="内容占位符 2">
            <a:extLst>
              <a:ext uri="{FF2B5EF4-FFF2-40B4-BE49-F238E27FC236}">
                <a16:creationId xmlns:a16="http://schemas.microsoft.com/office/drawing/2014/main" id="{D53E8302-9586-421A-84F3-019752B5E77E}"/>
              </a:ext>
            </a:extLst>
          </p:cNvPr>
          <p:cNvSpPr>
            <a:spLocks noGrp="1"/>
          </p:cNvSpPr>
          <p:nvPr>
            <p:ph idx="1"/>
          </p:nvPr>
        </p:nvSpPr>
        <p:spPr>
          <a:xfrm>
            <a:off x="457200" y="1367883"/>
            <a:ext cx="8577470" cy="5334000"/>
          </a:xfrm>
        </p:spPr>
        <p:txBody>
          <a:bodyPr/>
          <a:lstStyle/>
          <a:p>
            <a:r>
              <a:rPr lang="en-US" altLang="zh-CN" sz="28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学习目标</a:t>
            </a: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了解聚类算法的适用场景</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掌握聚类分析的一般建模流程与常用相似程度计算方式</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掌握</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K-</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均值聚类、高斯混合聚类、层次聚类、</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DBSCAN</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等经典聚类算法</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42733865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6</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13"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聚类分析</a:t>
            </a:r>
          </a:p>
        </p:txBody>
      </p:sp>
      <p:sp>
        <p:nvSpPr>
          <p:cNvPr id="7" name="文本框 6"/>
          <p:cNvSpPr txBox="1"/>
          <p:nvPr/>
        </p:nvSpPr>
        <p:spPr>
          <a:xfrm>
            <a:off x="160890" y="1246450"/>
            <a:ext cx="8595360" cy="961289"/>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我们在浏览电商网站时通常会收到一些商品推送，但是我们之前可能并没有关注过推送的商品，那么电商网站是如何决定给每个人推销商品的呢？</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pic>
        <p:nvPicPr>
          <p:cNvPr id="4" name="图片 3">
            <a:extLst>
              <a:ext uri="{FF2B5EF4-FFF2-40B4-BE49-F238E27FC236}">
                <a16:creationId xmlns:a16="http://schemas.microsoft.com/office/drawing/2014/main" id="{1497470F-C8F9-83FF-3531-8E09DFCDF82F}"/>
              </a:ext>
            </a:extLst>
          </p:cNvPr>
          <p:cNvPicPr>
            <a:picLocks noChangeAspect="1"/>
          </p:cNvPicPr>
          <p:nvPr/>
        </p:nvPicPr>
        <p:blipFill rotWithShape="1">
          <a:blip r:embed="rId3"/>
          <a:srcRect t="32543" b="43101"/>
          <a:stretch/>
        </p:blipFill>
        <p:spPr>
          <a:xfrm>
            <a:off x="348358" y="2386281"/>
            <a:ext cx="3951805" cy="2085437"/>
          </a:xfrm>
          <a:prstGeom prst="rect">
            <a:avLst/>
          </a:prstGeom>
        </p:spPr>
      </p:pic>
      <p:pic>
        <p:nvPicPr>
          <p:cNvPr id="6" name="图片 5">
            <a:extLst>
              <a:ext uri="{FF2B5EF4-FFF2-40B4-BE49-F238E27FC236}">
                <a16:creationId xmlns:a16="http://schemas.microsoft.com/office/drawing/2014/main" id="{63007CBA-3AB2-CAA1-825F-59C75351311C}"/>
              </a:ext>
            </a:extLst>
          </p:cNvPr>
          <p:cNvPicPr>
            <a:picLocks noChangeAspect="1"/>
          </p:cNvPicPr>
          <p:nvPr/>
        </p:nvPicPr>
        <p:blipFill rotWithShape="1">
          <a:blip r:embed="rId4"/>
          <a:srcRect t="33245" b="42763"/>
          <a:stretch/>
        </p:blipFill>
        <p:spPr>
          <a:xfrm>
            <a:off x="4744329" y="2386281"/>
            <a:ext cx="4011921" cy="2085437"/>
          </a:xfrm>
          <a:prstGeom prst="rect">
            <a:avLst/>
          </a:prstGeom>
        </p:spPr>
      </p:pic>
      <p:sp>
        <p:nvSpPr>
          <p:cNvPr id="9" name="矩形: 圆角 8">
            <a:extLst>
              <a:ext uri="{FF2B5EF4-FFF2-40B4-BE49-F238E27FC236}">
                <a16:creationId xmlns:a16="http://schemas.microsoft.com/office/drawing/2014/main" id="{4065973F-F006-3A32-3B4E-55A0A3AB515F}"/>
              </a:ext>
            </a:extLst>
          </p:cNvPr>
          <p:cNvSpPr/>
          <p:nvPr/>
        </p:nvSpPr>
        <p:spPr>
          <a:xfrm>
            <a:off x="160890" y="2237050"/>
            <a:ext cx="8822220" cy="2935761"/>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B4069342-8566-474C-31CE-E7FE9EAA6D88}"/>
              </a:ext>
            </a:extLst>
          </p:cNvPr>
          <p:cNvSpPr txBox="1"/>
          <p:nvPr/>
        </p:nvSpPr>
        <p:spPr>
          <a:xfrm>
            <a:off x="2585895" y="4622936"/>
            <a:ext cx="4108817" cy="400110"/>
          </a:xfrm>
          <a:prstGeom prst="rect">
            <a:avLst/>
          </a:prstGeom>
          <a:noFill/>
        </p:spPr>
        <p:txBody>
          <a:bodyPr wrap="none" rtlCol="0">
            <a:spAutoFit/>
          </a:bodyPr>
          <a:lstStyle/>
          <a:p>
            <a:r>
              <a:rPr lang="zh-CN" altLang="en-US"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分类：</a:t>
            </a:r>
            <a:r>
              <a:rPr lang="en-US" altLang="zh-CN"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学生</a:t>
            </a:r>
            <a:r>
              <a:rPr lang="en-US" altLang="zh-CN"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“运动”“休闲”</a:t>
            </a:r>
          </a:p>
        </p:txBody>
      </p:sp>
      <p:sp>
        <p:nvSpPr>
          <p:cNvPr id="14" name="文本框 13">
            <a:extLst>
              <a:ext uri="{FF2B5EF4-FFF2-40B4-BE49-F238E27FC236}">
                <a16:creationId xmlns:a16="http://schemas.microsoft.com/office/drawing/2014/main" id="{B157F778-3392-8BB0-A569-EB4135D181B4}"/>
              </a:ext>
            </a:extLst>
          </p:cNvPr>
          <p:cNvSpPr txBox="1"/>
          <p:nvPr/>
        </p:nvSpPr>
        <p:spPr>
          <a:xfrm>
            <a:off x="113742" y="5263048"/>
            <a:ext cx="8595360" cy="1422954"/>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电商可以根据用户的年龄、性别、居住地、购买记录等信息将用户划分为“白领”，“大学生”，“高收入者”等等类别，并据此推送商品。这是</a:t>
            </a:r>
            <a:r>
              <a:rPr kumimoji="0"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聚类分析算法</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的一个典型应用。</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3263089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4/25/2025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7</a:t>
            </a:fld>
            <a:endParaRPr lang="en-US" altLang="zh-CN"/>
          </a:p>
        </p:txBody>
      </p:sp>
      <p:sp>
        <p:nvSpPr>
          <p:cNvPr id="13" name="标题 1">
            <a:extLst>
              <a:ext uri="{FF2B5EF4-FFF2-40B4-BE49-F238E27FC236}">
                <a16:creationId xmlns:a16="http://schemas.microsoft.com/office/drawing/2014/main" id="{5607F18F-699A-4F7F-A2ED-BD80B7B267C8}"/>
              </a:ext>
            </a:extLst>
          </p:cNvPr>
          <p:cNvSpPr>
            <a:spLocks noGrp="1"/>
          </p:cNvSpPr>
          <p:nvPr>
            <p:ph type="title"/>
          </p:nvPr>
        </p:nvSpPr>
        <p:spPr>
          <a:xfrm>
            <a:off x="457200" y="462280"/>
            <a:ext cx="8229600" cy="990600"/>
          </a:xfrm>
        </p:spPr>
        <p:txBody>
          <a:bodyPr/>
          <a:lstStyle/>
          <a:p>
            <a:r>
              <a:rPr lang="en-US" altLang="zh-CN" dirty="0">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聚类分析的一般建模流程</a:t>
            </a:r>
          </a:p>
        </p:txBody>
      </p:sp>
      <p:sp>
        <p:nvSpPr>
          <p:cNvPr id="14" name="内容占位符 2">
            <a:extLst>
              <a:ext uri="{FF2B5EF4-FFF2-40B4-BE49-F238E27FC236}">
                <a16:creationId xmlns:a16="http://schemas.microsoft.com/office/drawing/2014/main" id="{D53E8302-9586-421A-84F3-019752B5E77E}"/>
              </a:ext>
            </a:extLst>
          </p:cNvPr>
          <p:cNvSpPr>
            <a:spLocks noGrp="1"/>
          </p:cNvSpPr>
          <p:nvPr>
            <p:ph idx="1"/>
          </p:nvPr>
        </p:nvSpPr>
        <p:spPr>
          <a:xfrm>
            <a:off x="457200" y="1626137"/>
            <a:ext cx="8299050" cy="4942842"/>
          </a:xfrm>
        </p:spPr>
        <p:txBody>
          <a:bodyPr/>
          <a:lstStyle/>
          <a:p>
            <a:r>
              <a:rPr lang="zh-CN" altLang="en-US"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聚类分析的建模原理</a:t>
            </a: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a:buNone/>
            </a:pP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r>
              <a:rPr lang="zh-CN" altLang="en-US"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聚类分析算法的性能度量</a:t>
            </a: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a:buNone/>
            </a:pP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r>
              <a:rPr lang="zh-CN" altLang="en-US"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相似程度计算</a:t>
            </a: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页脚占位符 2">
            <a:extLst>
              <a:ext uri="{FF2B5EF4-FFF2-40B4-BE49-F238E27FC236}">
                <a16:creationId xmlns:a16="http://schemas.microsoft.com/office/drawing/2014/main" id="{D587D2AD-241A-41DE-BAC5-9CF913617622}"/>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Tree>
    <p:extLst>
      <p:ext uri="{BB962C8B-B14F-4D97-AF65-F5344CB8AC3E}">
        <p14:creationId xmlns:p14="http://schemas.microsoft.com/office/powerpoint/2010/main" val="27973442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4/25/2025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8</a:t>
            </a:fld>
            <a:endParaRPr lang="en-US" altLang="zh-CN"/>
          </a:p>
        </p:txBody>
      </p:sp>
      <p:sp>
        <p:nvSpPr>
          <p:cNvPr id="13"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聚类分析的建模原理</a:t>
            </a:r>
          </a:p>
        </p:txBody>
      </p:sp>
      <p:sp>
        <p:nvSpPr>
          <p:cNvPr id="7" name="文本框 6"/>
          <p:cNvSpPr txBox="1"/>
          <p:nvPr/>
        </p:nvSpPr>
        <p:spPr>
          <a:xfrm>
            <a:off x="164842" y="1481065"/>
            <a:ext cx="8595360" cy="1289905"/>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聚类模型是</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建立在无类别标记数据上，通过学习数据内部的相似关系，进而获取数据分类的一种无监督学习算法</a:t>
            </a:r>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。聚类算法会基于某个特定的规则，将数据集划分成 多个不相交的簇（</a:t>
            </a:r>
            <a:r>
              <a:rPr lang="en-US" altLang="zh-CN"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cluster</a:t>
            </a:r>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pic>
        <p:nvPicPr>
          <p:cNvPr id="3" name="图片 2">
            <a:extLst>
              <a:ext uri="{FF2B5EF4-FFF2-40B4-BE49-F238E27FC236}">
                <a16:creationId xmlns:a16="http://schemas.microsoft.com/office/drawing/2014/main" id="{F03B7588-E3E9-6F08-2416-3383C11C1829}"/>
              </a:ext>
            </a:extLst>
          </p:cNvPr>
          <p:cNvPicPr>
            <a:picLocks noChangeAspect="1"/>
          </p:cNvPicPr>
          <p:nvPr/>
        </p:nvPicPr>
        <p:blipFill>
          <a:blip r:embed="rId3"/>
          <a:stretch>
            <a:fillRect/>
          </a:stretch>
        </p:blipFill>
        <p:spPr>
          <a:xfrm>
            <a:off x="625642" y="3417477"/>
            <a:ext cx="7673761" cy="2955414"/>
          </a:xfrm>
          <a:prstGeom prst="rect">
            <a:avLst/>
          </a:prstGeom>
        </p:spPr>
      </p:pic>
    </p:spTree>
    <p:extLst>
      <p:ext uri="{BB962C8B-B14F-4D97-AF65-F5344CB8AC3E}">
        <p14:creationId xmlns:p14="http://schemas.microsoft.com/office/powerpoint/2010/main" val="4312590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9</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13"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聚类分析的建模原理</a:t>
            </a:r>
          </a:p>
        </p:txBody>
      </p:sp>
      <p:sp>
        <p:nvSpPr>
          <p:cNvPr id="7" name="文本框 6"/>
          <p:cNvSpPr txBox="1"/>
          <p:nvPr/>
        </p:nvSpPr>
        <p:spPr>
          <a:xfrm>
            <a:off x="160890" y="1390864"/>
            <a:ext cx="8595360" cy="1705403"/>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聚类算法有很多不同的类型，常用的聚类方法包括</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K-</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均值（</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K-means</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）聚类算法、高斯混合（</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Gaussian mixture model</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）聚类算法、层次聚类算法（</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H</a:t>
            </a:r>
            <a:r>
              <a:rPr kumimoji="0" lang="en-US" altLang="zh-CN" sz="18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ierarchical</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clustering</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）、基于密度的</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DBSCAN</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聚类算法等。我们将在后续的学习中依次介绍各类聚类算法</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graphicFrame>
        <p:nvGraphicFramePr>
          <p:cNvPr id="14" name="表格 14">
            <a:extLst>
              <a:ext uri="{FF2B5EF4-FFF2-40B4-BE49-F238E27FC236}">
                <a16:creationId xmlns:a16="http://schemas.microsoft.com/office/drawing/2014/main" id="{E20AD67E-5BE1-5E85-C9E5-B59A17014947}"/>
              </a:ext>
            </a:extLst>
          </p:cNvPr>
          <p:cNvGraphicFramePr>
            <a:graphicFrameLocks noGrp="1"/>
          </p:cNvGraphicFramePr>
          <p:nvPr>
            <p:extLst>
              <p:ext uri="{D42A27DB-BD31-4B8C-83A1-F6EECF244321}">
                <p14:modId xmlns:p14="http://schemas.microsoft.com/office/powerpoint/2010/main" val="998206290"/>
              </p:ext>
            </p:extLst>
          </p:nvPr>
        </p:nvGraphicFramePr>
        <p:xfrm>
          <a:off x="76372" y="3178181"/>
          <a:ext cx="8991255" cy="3351828"/>
        </p:xfrm>
        <a:graphic>
          <a:graphicData uri="http://schemas.openxmlformats.org/drawingml/2006/table">
            <a:tbl>
              <a:tblPr firstRow="1" bandRow="1">
                <a:tableStyleId>{5C22544A-7EE6-4342-B048-85BDC9FD1C3A}</a:tableStyleId>
              </a:tblPr>
              <a:tblGrid>
                <a:gridCol w="1306995">
                  <a:extLst>
                    <a:ext uri="{9D8B030D-6E8A-4147-A177-3AD203B41FA5}">
                      <a16:colId xmlns:a16="http://schemas.microsoft.com/office/drawing/2014/main" val="397167481"/>
                    </a:ext>
                  </a:extLst>
                </a:gridCol>
                <a:gridCol w="1679713">
                  <a:extLst>
                    <a:ext uri="{9D8B030D-6E8A-4147-A177-3AD203B41FA5}">
                      <a16:colId xmlns:a16="http://schemas.microsoft.com/office/drawing/2014/main" val="4164407808"/>
                    </a:ext>
                  </a:extLst>
                </a:gridCol>
                <a:gridCol w="6004547">
                  <a:extLst>
                    <a:ext uri="{9D8B030D-6E8A-4147-A177-3AD203B41FA5}">
                      <a16:colId xmlns:a16="http://schemas.microsoft.com/office/drawing/2014/main" val="1488777173"/>
                    </a:ext>
                  </a:extLst>
                </a:gridCol>
              </a:tblGrid>
              <a:tr h="411233">
                <a:tc>
                  <a:txBody>
                    <a:bodyPr/>
                    <a:lstStyle/>
                    <a:p>
                      <a:r>
                        <a:rPr lang="zh-CN" altLang="en-US" dirty="0">
                          <a:latin typeface="微软雅黑" panose="020B0503020204020204" pitchFamily="34" charset="-122"/>
                          <a:ea typeface="微软雅黑" panose="020B0503020204020204" pitchFamily="34" charset="-122"/>
                        </a:rPr>
                        <a:t>算法分类</a:t>
                      </a:r>
                    </a:p>
                  </a:txBody>
                  <a:tcPr anchor="ctr"/>
                </a:tc>
                <a:tc>
                  <a:txBody>
                    <a:bodyPr/>
                    <a:lstStyle/>
                    <a:p>
                      <a:r>
                        <a:rPr lang="zh-CN" altLang="en-US" dirty="0">
                          <a:latin typeface="微软雅黑" panose="020B0503020204020204" pitchFamily="34" charset="-122"/>
                          <a:ea typeface="微软雅黑" panose="020B0503020204020204" pitchFamily="34" charset="-122"/>
                        </a:rPr>
                        <a:t>算法名称</a:t>
                      </a:r>
                    </a:p>
                  </a:txBody>
                  <a:tcPr anchor="ctr"/>
                </a:tc>
                <a:tc>
                  <a:txBody>
                    <a:bodyPr/>
                    <a:lstStyle/>
                    <a:p>
                      <a:r>
                        <a:rPr lang="zh-CN" altLang="en-US" dirty="0">
                          <a:latin typeface="微软雅黑" panose="020B0503020204020204" pitchFamily="34" charset="-122"/>
                          <a:ea typeface="微软雅黑" panose="020B0503020204020204" pitchFamily="34" charset="-122"/>
                        </a:rPr>
                        <a:t>算法特点</a:t>
                      </a:r>
                    </a:p>
                  </a:txBody>
                  <a:tcPr anchor="ctr"/>
                </a:tc>
                <a:extLst>
                  <a:ext uri="{0D108BD9-81ED-4DB2-BD59-A6C34878D82A}">
                    <a16:rowId xmlns:a16="http://schemas.microsoft.com/office/drawing/2014/main" val="4061514696"/>
                  </a:ext>
                </a:extLst>
              </a:tr>
              <a:tr h="1013998">
                <a:tc rowSpan="2">
                  <a:txBody>
                    <a:bodyPr/>
                    <a:lstStyle/>
                    <a:p>
                      <a:r>
                        <a:rPr lang="zh-CN" altLang="en-US" dirty="0">
                          <a:latin typeface="微软雅黑" panose="020B0503020204020204" pitchFamily="34" charset="-122"/>
                          <a:ea typeface="微软雅黑" panose="020B0503020204020204" pitchFamily="34" charset="-122"/>
                        </a:rPr>
                        <a:t>原型聚类</a:t>
                      </a:r>
                    </a:p>
                  </a:txBody>
                  <a:tcPr anchor="ctr"/>
                </a:tc>
                <a:tc>
                  <a:txBody>
                    <a:bodyPr/>
                    <a:lstStyle/>
                    <a:p>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均值聚类</a:t>
                      </a:r>
                    </a:p>
                  </a:txBody>
                  <a:tcPr anchor="ctr"/>
                </a:tc>
                <a:tc>
                  <a:txBody>
                    <a:bodyPr/>
                    <a:lstStyle/>
                    <a:p>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均值聚类也称为快速聚类法，在最小化误差函数的基础上将</a:t>
                      </a:r>
                      <a:r>
                        <a:rPr lang="zh-CN" altLang="en-US" b="1" dirty="0">
                          <a:solidFill>
                            <a:srgbClr val="C00000"/>
                          </a:solidFill>
                          <a:latin typeface="微软雅黑" panose="020B0503020204020204" pitchFamily="34" charset="-122"/>
                          <a:ea typeface="微软雅黑" panose="020B0503020204020204" pitchFamily="34" charset="-122"/>
                        </a:rPr>
                        <a:t>数据划分为预定的类数 </a:t>
                      </a:r>
                      <a:r>
                        <a:rPr lang="en-US" altLang="zh-CN" b="1" dirty="0">
                          <a:solidFill>
                            <a:srgbClr val="C00000"/>
                          </a:solidFill>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。该算法原理简单并便于处理大规模数据。</a:t>
                      </a:r>
                      <a:endParaRPr lang="zh-CN" altLang="en-US" i="1"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906694691"/>
                  </a:ext>
                </a:extLst>
              </a:tr>
              <a:tr h="1926597">
                <a:tc vMerge="1">
                  <a:txBody>
                    <a:bodyPr/>
                    <a:lstStyle/>
                    <a:p>
                      <a:endParaRPr lang="zh-CN" altLang="en-US" dirty="0"/>
                    </a:p>
                  </a:txBody>
                  <a:tcPr/>
                </a:tc>
                <a:tc>
                  <a:txBody>
                    <a:bodyPr/>
                    <a:lstStyle/>
                    <a:p>
                      <a:r>
                        <a:rPr lang="zh-CN" altLang="en-US" dirty="0">
                          <a:latin typeface="微软雅黑" panose="020B0503020204020204" pitchFamily="34" charset="-122"/>
                          <a:ea typeface="微软雅黑" panose="020B0503020204020204" pitchFamily="34" charset="-122"/>
                        </a:rPr>
                        <a:t>高斯混合聚类</a:t>
                      </a:r>
                    </a:p>
                  </a:txBody>
                  <a:tcPr anchor="ctr"/>
                </a:tc>
                <a:tc>
                  <a:txBody>
                    <a:bodyPr/>
                    <a:lstStyle/>
                    <a:p>
                      <a:r>
                        <a:rPr lang="zh-CN" altLang="en-US" dirty="0">
                          <a:latin typeface="微软雅黑" panose="020B0503020204020204" pitchFamily="34" charset="-122"/>
                          <a:ea typeface="微软雅黑" panose="020B0503020204020204" pitchFamily="34" charset="-122"/>
                        </a:rPr>
                        <a:t>与</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均值用原型向量刻画聚类结构不同，高斯混合聚类</a:t>
                      </a:r>
                      <a:r>
                        <a:rPr lang="zh-CN" altLang="en-US" b="1" dirty="0">
                          <a:solidFill>
                            <a:srgbClr val="C00000"/>
                          </a:solidFill>
                          <a:latin typeface="微软雅黑" panose="020B0503020204020204" pitchFamily="34" charset="-122"/>
                          <a:ea typeface="微软雅黑" panose="020B0503020204020204" pitchFamily="34" charset="-122"/>
                        </a:rPr>
                        <a:t>采用概率模型表达聚类原型</a:t>
                      </a:r>
                      <a:r>
                        <a:rPr lang="zh-CN" altLang="en-US" dirty="0">
                          <a:latin typeface="微软雅黑" panose="020B0503020204020204" pitchFamily="34" charset="-122"/>
                          <a:ea typeface="微软雅黑" panose="020B0503020204020204" pitchFamily="34" charset="-122"/>
                        </a:rPr>
                        <a:t>。假设所有样本服从一个整体分布，由 个独立高斯分布混合组成。每个高斯分布均代表一个簇，每个观测样本均有一定概率由不同的高斯分布产生，相对于每个观测样本完全由同一个簇产生的</a:t>
                      </a:r>
                      <a:r>
                        <a:rPr lang="zh-CN" altLang="en-US" b="1" dirty="0">
                          <a:solidFill>
                            <a:srgbClr val="C00000"/>
                          </a:solidFill>
                          <a:latin typeface="微软雅黑" panose="020B0503020204020204" pitchFamily="34" charset="-122"/>
                          <a:ea typeface="微软雅黑" panose="020B0503020204020204" pitchFamily="34" charset="-122"/>
                        </a:rPr>
                        <a:t>硬聚类</a:t>
                      </a:r>
                      <a:r>
                        <a:rPr lang="zh-CN" altLang="en-US" dirty="0">
                          <a:latin typeface="微软雅黑" panose="020B0503020204020204" pitchFamily="34" charset="-122"/>
                          <a:ea typeface="微软雅黑" panose="020B0503020204020204" pitchFamily="34" charset="-122"/>
                        </a:rPr>
                        <a:t>，该方法属于</a:t>
                      </a:r>
                      <a:r>
                        <a:rPr lang="zh-CN" altLang="en-US" b="1" dirty="0">
                          <a:solidFill>
                            <a:srgbClr val="C00000"/>
                          </a:solidFill>
                          <a:latin typeface="微软雅黑" panose="020B0503020204020204" pitchFamily="34" charset="-122"/>
                          <a:ea typeface="微软雅黑" panose="020B0503020204020204" pitchFamily="34" charset="-122"/>
                        </a:rPr>
                        <a:t>软聚类</a:t>
                      </a:r>
                      <a:r>
                        <a:rPr lang="zh-CN" altLang="en-US" dirty="0">
                          <a:latin typeface="微软雅黑" panose="020B0503020204020204" pitchFamily="34" charset="-122"/>
                          <a:ea typeface="微软雅黑" panose="020B0503020204020204" pitchFamily="34" charset="-122"/>
                        </a:rPr>
                        <a:t>。</a:t>
                      </a:r>
                    </a:p>
                  </a:txBody>
                  <a:tcPr anchor="ctr"/>
                </a:tc>
                <a:extLst>
                  <a:ext uri="{0D108BD9-81ED-4DB2-BD59-A6C34878D82A}">
                    <a16:rowId xmlns:a16="http://schemas.microsoft.com/office/drawing/2014/main" val="3403861590"/>
                  </a:ext>
                </a:extLst>
              </a:tr>
            </a:tbl>
          </a:graphicData>
        </a:graphic>
      </p:graphicFrame>
    </p:spTree>
    <p:extLst>
      <p:ext uri="{BB962C8B-B14F-4D97-AF65-F5344CB8AC3E}">
        <p14:creationId xmlns:p14="http://schemas.microsoft.com/office/powerpoint/2010/main" val="27030131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10</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13"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聚类分析的建模原理</a:t>
            </a: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graphicFrame>
        <p:nvGraphicFramePr>
          <p:cNvPr id="14" name="表格 14">
            <a:extLst>
              <a:ext uri="{FF2B5EF4-FFF2-40B4-BE49-F238E27FC236}">
                <a16:creationId xmlns:a16="http://schemas.microsoft.com/office/drawing/2014/main" id="{E20AD67E-5BE1-5E85-C9E5-B59A17014947}"/>
              </a:ext>
            </a:extLst>
          </p:cNvPr>
          <p:cNvGraphicFramePr>
            <a:graphicFrameLocks noGrp="1"/>
          </p:cNvGraphicFramePr>
          <p:nvPr>
            <p:extLst>
              <p:ext uri="{D42A27DB-BD31-4B8C-83A1-F6EECF244321}">
                <p14:modId xmlns:p14="http://schemas.microsoft.com/office/powerpoint/2010/main" val="2796413505"/>
              </p:ext>
            </p:extLst>
          </p:nvPr>
        </p:nvGraphicFramePr>
        <p:xfrm>
          <a:off x="162560" y="1643380"/>
          <a:ext cx="8890000" cy="3571240"/>
        </p:xfrm>
        <a:graphic>
          <a:graphicData uri="http://schemas.openxmlformats.org/drawingml/2006/table">
            <a:tbl>
              <a:tblPr firstRow="1" bandRow="1">
                <a:tableStyleId>{5C22544A-7EE6-4342-B048-85BDC9FD1C3A}</a:tableStyleId>
              </a:tblPr>
              <a:tblGrid>
                <a:gridCol w="1657350">
                  <a:extLst>
                    <a:ext uri="{9D8B030D-6E8A-4147-A177-3AD203B41FA5}">
                      <a16:colId xmlns:a16="http://schemas.microsoft.com/office/drawing/2014/main" val="397167481"/>
                    </a:ext>
                  </a:extLst>
                </a:gridCol>
                <a:gridCol w="1803400">
                  <a:extLst>
                    <a:ext uri="{9D8B030D-6E8A-4147-A177-3AD203B41FA5}">
                      <a16:colId xmlns:a16="http://schemas.microsoft.com/office/drawing/2014/main" val="4164407808"/>
                    </a:ext>
                  </a:extLst>
                </a:gridCol>
                <a:gridCol w="5429250">
                  <a:extLst>
                    <a:ext uri="{9D8B030D-6E8A-4147-A177-3AD203B41FA5}">
                      <a16:colId xmlns:a16="http://schemas.microsoft.com/office/drawing/2014/main" val="1488777173"/>
                    </a:ext>
                  </a:extLst>
                </a:gridCol>
              </a:tblGrid>
              <a:tr h="370840">
                <a:tc>
                  <a:txBody>
                    <a:bodyPr/>
                    <a:lstStyle/>
                    <a:p>
                      <a:r>
                        <a:rPr lang="zh-CN" altLang="en-US" dirty="0">
                          <a:latin typeface="微软雅黑" panose="020B0503020204020204" pitchFamily="34" charset="-122"/>
                          <a:ea typeface="微软雅黑" panose="020B0503020204020204" pitchFamily="34" charset="-122"/>
                        </a:rPr>
                        <a:t>算法分类</a:t>
                      </a:r>
                    </a:p>
                  </a:txBody>
                  <a:tcPr anchor="ctr"/>
                </a:tc>
                <a:tc>
                  <a:txBody>
                    <a:bodyPr/>
                    <a:lstStyle/>
                    <a:p>
                      <a:r>
                        <a:rPr lang="zh-CN" altLang="en-US" dirty="0">
                          <a:latin typeface="微软雅黑" panose="020B0503020204020204" pitchFamily="34" charset="-122"/>
                          <a:ea typeface="微软雅黑" panose="020B0503020204020204" pitchFamily="34" charset="-122"/>
                        </a:rPr>
                        <a:t>算法名称</a:t>
                      </a:r>
                    </a:p>
                  </a:txBody>
                  <a:tcPr anchor="ctr"/>
                </a:tc>
                <a:tc>
                  <a:txBody>
                    <a:bodyPr/>
                    <a:lstStyle/>
                    <a:p>
                      <a:r>
                        <a:rPr lang="zh-CN" altLang="en-US" dirty="0">
                          <a:latin typeface="微软雅黑" panose="020B0503020204020204" pitchFamily="34" charset="-122"/>
                          <a:ea typeface="微软雅黑" panose="020B0503020204020204" pitchFamily="34" charset="-122"/>
                        </a:rPr>
                        <a:t>算法特点</a:t>
                      </a:r>
                    </a:p>
                  </a:txBody>
                  <a:tcPr anchor="ctr"/>
                </a:tc>
                <a:extLst>
                  <a:ext uri="{0D108BD9-81ED-4DB2-BD59-A6C34878D82A}">
                    <a16:rowId xmlns:a16="http://schemas.microsoft.com/office/drawing/2014/main" val="4061514696"/>
                  </a:ext>
                </a:extLst>
              </a:tr>
              <a:tr h="370840">
                <a:tc>
                  <a:txBody>
                    <a:bodyPr/>
                    <a:lstStyle/>
                    <a:p>
                      <a:r>
                        <a:rPr lang="zh-CN" altLang="en-US" dirty="0">
                          <a:latin typeface="微软雅黑" panose="020B0503020204020204" pitchFamily="34" charset="-122"/>
                          <a:ea typeface="微软雅黑" panose="020B0503020204020204" pitchFamily="34" charset="-122"/>
                        </a:rPr>
                        <a:t>层次聚类</a:t>
                      </a:r>
                    </a:p>
                  </a:txBody>
                  <a:tcPr anchor="ctr"/>
                </a:tc>
                <a:tc>
                  <a:txBody>
                    <a:bodyPr/>
                    <a:lstStyle/>
                    <a:p>
                      <a:r>
                        <a:rPr lang="en-US" altLang="zh-CN" dirty="0">
                          <a:latin typeface="微软雅黑" panose="020B0503020204020204" pitchFamily="34" charset="-122"/>
                          <a:ea typeface="微软雅黑" panose="020B0503020204020204" pitchFamily="34" charset="-122"/>
                        </a:rPr>
                        <a:t>AGNES</a:t>
                      </a:r>
                      <a:endParaRPr lang="zh-CN" altLang="en-US" dirty="0">
                        <a:latin typeface="微软雅黑" panose="020B0503020204020204" pitchFamily="34" charset="-122"/>
                        <a:ea typeface="微软雅黑" panose="020B0503020204020204" pitchFamily="34" charset="-122"/>
                      </a:endParaRPr>
                    </a:p>
                  </a:txBody>
                  <a:tcPr anchor="ctr"/>
                </a:tc>
                <a:tc>
                  <a:txBody>
                    <a:bodyPr/>
                    <a:lstStyle/>
                    <a:p>
                      <a:r>
                        <a:rPr lang="zh-CN" altLang="en-US" dirty="0">
                          <a:latin typeface="微软雅黑" panose="020B0503020204020204" pitchFamily="34" charset="-122"/>
                          <a:ea typeface="微软雅黑" panose="020B0503020204020204" pitchFamily="34" charset="-122"/>
                        </a:rPr>
                        <a:t>层次聚类也称为系统聚类，试图</a:t>
                      </a:r>
                      <a:r>
                        <a:rPr lang="zh-CN" altLang="en-US" b="1" dirty="0">
                          <a:solidFill>
                            <a:srgbClr val="C00000"/>
                          </a:solidFill>
                          <a:latin typeface="微软雅黑" panose="020B0503020204020204" pitchFamily="34" charset="-122"/>
                          <a:ea typeface="微软雅黑" panose="020B0503020204020204" pitchFamily="34" charset="-122"/>
                        </a:rPr>
                        <a:t>在不同层次对数据集进行划分，从而形成树形的聚类结构</a:t>
                      </a:r>
                      <a:r>
                        <a:rPr lang="zh-CN" altLang="en-US" dirty="0">
                          <a:latin typeface="微软雅黑" panose="020B0503020204020204" pitchFamily="34" charset="-122"/>
                          <a:ea typeface="微软雅黑" panose="020B0503020204020204" pitchFamily="34" charset="-122"/>
                        </a:rPr>
                        <a:t>。数据集的划分可采用“自底向上”的聚合策略，也可采用“自顶向下”的分拆策略。</a:t>
                      </a:r>
                      <a:r>
                        <a:rPr lang="en-US" altLang="zh-CN" dirty="0">
                          <a:latin typeface="微软雅黑" panose="020B0503020204020204" pitchFamily="34" charset="-122"/>
                          <a:ea typeface="微软雅黑" panose="020B0503020204020204" pitchFamily="34" charset="-122"/>
                        </a:rPr>
                        <a:t>AGNES</a:t>
                      </a:r>
                      <a:r>
                        <a:rPr lang="zh-CN" altLang="en-US" dirty="0">
                          <a:latin typeface="微软雅黑" panose="020B0503020204020204" pitchFamily="34" charset="-122"/>
                          <a:ea typeface="微软雅黑" panose="020B0503020204020204" pitchFamily="34" charset="-122"/>
                        </a:rPr>
                        <a:t>的策略为前者。树状结构所处的位置越低，其所包含的对象就越少，共同特征越多。该聚类算法只适合少量数据时使用，数据量过大时聚类速度较慢。</a:t>
                      </a:r>
                      <a:endParaRPr lang="zh-CN" altLang="en-US" b="1" dirty="0">
                        <a:solidFill>
                          <a:srgbClr val="C00000"/>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409020554"/>
                  </a:ext>
                </a:extLst>
              </a:tr>
              <a:tr h="370840">
                <a:tc>
                  <a:txBody>
                    <a:bodyPr/>
                    <a:lstStyle/>
                    <a:p>
                      <a:r>
                        <a:rPr lang="zh-CN" altLang="en-US" dirty="0">
                          <a:latin typeface="微软雅黑" panose="020B0503020204020204" pitchFamily="34" charset="-122"/>
                          <a:ea typeface="微软雅黑" panose="020B0503020204020204" pitchFamily="34" charset="-122"/>
                        </a:rPr>
                        <a:t>密度聚类</a:t>
                      </a:r>
                    </a:p>
                  </a:txBody>
                  <a:tcPr anchor="ctr"/>
                </a:tc>
                <a:tc>
                  <a:txBody>
                    <a:bodyPr/>
                    <a:lstStyle/>
                    <a:p>
                      <a:r>
                        <a:rPr lang="en-US" altLang="zh-CN" dirty="0">
                          <a:latin typeface="微软雅黑" panose="020B0503020204020204" pitchFamily="34" charset="-122"/>
                          <a:ea typeface="微软雅黑" panose="020B0503020204020204" pitchFamily="34" charset="-122"/>
                        </a:rPr>
                        <a:t>DBSCAN</a:t>
                      </a:r>
                      <a:endParaRPr lang="zh-CN" altLang="en-US" dirty="0">
                        <a:latin typeface="微软雅黑" panose="020B0503020204020204" pitchFamily="34" charset="-122"/>
                        <a:ea typeface="微软雅黑" panose="020B0503020204020204" pitchFamily="34" charset="-122"/>
                      </a:endParaRPr>
                    </a:p>
                  </a:txBody>
                  <a:tcPr anchor="ctr"/>
                </a:tc>
                <a:tc>
                  <a:txBody>
                    <a:bodyPr/>
                    <a:lstStyle/>
                    <a:p>
                      <a:r>
                        <a:rPr lang="en-US" altLang="zh-CN" dirty="0">
                          <a:latin typeface="微软雅黑" panose="020B0503020204020204" pitchFamily="34" charset="-122"/>
                          <a:ea typeface="微软雅黑" panose="020B0503020204020204" pitchFamily="34" charset="-122"/>
                        </a:rPr>
                        <a:t>DBSCAN</a:t>
                      </a:r>
                      <a:r>
                        <a:rPr lang="zh-CN" altLang="en-US" dirty="0">
                          <a:latin typeface="微软雅黑" panose="020B0503020204020204" pitchFamily="34" charset="-122"/>
                          <a:ea typeface="微软雅黑" panose="020B0503020204020204" pitchFamily="34" charset="-122"/>
                        </a:rPr>
                        <a:t>是应用最广泛的密度聚类算法，它</a:t>
                      </a:r>
                      <a:r>
                        <a:rPr lang="zh-CN" altLang="en-US" b="1" dirty="0">
                          <a:solidFill>
                            <a:srgbClr val="C00000"/>
                          </a:solidFill>
                          <a:latin typeface="微软雅黑" panose="020B0503020204020204" pitchFamily="34" charset="-122"/>
                          <a:ea typeface="微软雅黑" panose="020B0503020204020204" pitchFamily="34" charset="-122"/>
                        </a:rPr>
                        <a:t>基于一组“邻域”参数来刻画样本分布的紧密程度</a:t>
                      </a:r>
                      <a:r>
                        <a:rPr lang="zh-CN" altLang="en-US" dirty="0">
                          <a:latin typeface="微软雅黑" panose="020B0503020204020204" pitchFamily="34" charset="-122"/>
                          <a:ea typeface="微软雅黑" panose="020B0503020204020204" pitchFamily="34" charset="-122"/>
                        </a:rPr>
                        <a:t>。从样本密度的角度来考察样本之间的可连接性，并基于可连接样本不断扩展聚类簇以获得最终的聚类结果。</a:t>
                      </a:r>
                    </a:p>
                  </a:txBody>
                  <a:tcPr anchor="ctr"/>
                </a:tc>
                <a:extLst>
                  <a:ext uri="{0D108BD9-81ED-4DB2-BD59-A6C34878D82A}">
                    <a16:rowId xmlns:a16="http://schemas.microsoft.com/office/drawing/2014/main" val="1032058119"/>
                  </a:ext>
                </a:extLst>
              </a:tr>
            </a:tbl>
          </a:graphicData>
        </a:graphic>
      </p:graphicFrame>
    </p:spTree>
    <p:extLst>
      <p:ext uri="{BB962C8B-B14F-4D97-AF65-F5344CB8AC3E}">
        <p14:creationId xmlns:p14="http://schemas.microsoft.com/office/powerpoint/2010/main" val="1725716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11</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13"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聚类分析算法的</a:t>
            </a:r>
            <a:r>
              <a:rPr lang="zh-CN" altLang="en-US" sz="32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性能度量</a:t>
            </a: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3" name="文本框 2">
            <a:extLst>
              <a:ext uri="{FF2B5EF4-FFF2-40B4-BE49-F238E27FC236}">
                <a16:creationId xmlns:a16="http://schemas.microsoft.com/office/drawing/2014/main" id="{EAC797B1-A535-1197-2B5E-8A40F9DBC091}"/>
              </a:ext>
            </a:extLst>
          </p:cNvPr>
          <p:cNvSpPr txBox="1"/>
          <p:nvPr/>
        </p:nvSpPr>
        <p:spPr>
          <a:xfrm>
            <a:off x="160890" y="1390864"/>
            <a:ext cx="8595360" cy="4654608"/>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lang="zh-CN" altLang="en-US"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思考</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：在处理无类别标记的数据时，</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如何科学度量聚类分析结果的优劣</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聚类算法的度量方法大致有两类。</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342900" marR="0" lvl="0" indent="-342900" algn="just" defTabSz="457200" rtl="0" eaLnBrk="1" fontAlgn="auto" latinLnBrk="0" hangingPunct="1">
              <a:lnSpc>
                <a:spcPct val="150000"/>
              </a:lnSpc>
              <a:spcBef>
                <a:spcPts val="0"/>
              </a:spcBef>
              <a:spcAft>
                <a:spcPts val="0"/>
              </a:spcAft>
              <a:buClrTx/>
              <a:buSzTx/>
              <a:buFont typeface="+mj-lt"/>
              <a:buAutoNum type="arabicPeriod"/>
              <a:tabLst/>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是将聚类结果与某个“参考模型”（</a:t>
            </a: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reference model</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）进行比较（例如将领域专家给出的划分结果作为参考模型），这种度量称为“</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外部指标</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external index</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342900" marR="0" lvl="0" indent="-342900" algn="just" defTabSz="457200" rtl="0" eaLnBrk="1" fontAlgn="auto" latinLnBrk="0" hangingPunct="1">
              <a:lnSpc>
                <a:spcPct val="150000"/>
              </a:lnSpc>
              <a:spcBef>
                <a:spcPts val="0"/>
              </a:spcBef>
              <a:spcAft>
                <a:spcPts val="0"/>
              </a:spcAft>
              <a:buClrTx/>
              <a:buSzTx/>
              <a:buFont typeface="+mj-lt"/>
              <a:buAutoNum type="arabicPeriod"/>
              <a:tabLst/>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是直接考察聚类结果而不利用任何参考模型，常称之为“</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内部指标</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internal index</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R="0" lvl="0" algn="just" defTabSz="457200" rtl="0" eaLnBrk="1" fontAlgn="auto" latinLnBrk="0" hangingPunct="1">
              <a:lnSpc>
                <a:spcPct val="150000"/>
              </a:lnSpc>
              <a:spcBef>
                <a:spcPts val="0"/>
              </a:spcBef>
              <a:spcAft>
                <a:spcPts val="0"/>
              </a:spcAft>
              <a:buClrTx/>
              <a:buSzTx/>
              <a:tabLst/>
              <a:defRPr/>
            </a:pP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algn="just">
              <a:lnSpc>
                <a:spcPct val="150000"/>
              </a:lnSpc>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一般来说，聚类任务很难找到可靠的参考模型，因此，</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本课程着重介绍常用的内部指标</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31090195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12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13"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聚类分析算法的性能度量</a:t>
            </a: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EAC797B1-A535-1197-2B5E-8A40F9DBC091}"/>
                  </a:ext>
                </a:extLst>
              </p:cNvPr>
              <p:cNvSpPr txBox="1"/>
              <p:nvPr/>
            </p:nvSpPr>
            <p:spPr>
              <a:xfrm>
                <a:off x="160890" y="1249713"/>
                <a:ext cx="8538610" cy="8075929"/>
              </a:xfrm>
              <a:prstGeom prst="rect">
                <a:avLst/>
              </a:prstGeom>
              <a:noFill/>
            </p:spPr>
            <p:txBody>
              <a:bodyPr wrap="square" rtlCol="0">
                <a:spAutoFit/>
              </a:bodyPr>
              <a:lstStyle/>
              <a:p>
                <a:pPr lvl="0" algn="just">
                  <a:lnSpc>
                    <a:spcPct val="150000"/>
                  </a:lnSpc>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用 </a:t>
                </a:r>
                <a14:m>
                  <m:oMath xmlns:m="http://schemas.openxmlformats.org/officeDocument/2006/math">
                    <m:r>
                      <a:rPr lang="en-US" altLang="zh-CN" sz="20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𝑑𝑖𝑠𝑡</m:t>
                    </m:r>
                    <m:d>
                      <m:dPr>
                        <m:ctrlPr>
                          <a:rPr lang="en-US" altLang="zh-CN" sz="20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sz="2000"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e>
                    </m:d>
                    <m:r>
                      <a:rPr lang="en-US" altLang="zh-CN" sz="2000" b="0" i="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 </m:t>
                    </m:r>
                  </m:oMath>
                </a14:m>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表示两个样本点之间的距离（相似程度）。</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将</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聚类结果的簇划分记为</a:t>
                </a:r>
                <a14:m>
                  <m:oMath xmlns:m="http://schemas.openxmlformats.org/officeDocument/2006/math">
                    <m:d>
                      <m:dPr>
                        <m:begChr m:val="{"/>
                        <m:endChr m:val="}"/>
                        <m:ctrlP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𝐸</m:t>
                            </m:r>
                          </m:e>
                          <m:sub>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𝑙</m:t>
                            </m:r>
                          </m:sub>
                        </m:sSub>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𝑙</m:t>
                        </m:r>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𝐾</m:t>
                        </m:r>
                      </m:e>
                    </m:d>
                    <m:r>
                      <a:rPr lang="zh-CN" altLang="en-US"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oMath>
                </a14:m>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定义以下指标：</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簇</a:t>
                </a:r>
                <a14:m>
                  <m:oMath xmlns:m="http://schemas.openxmlformats.org/officeDocument/2006/math">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𝑙</m:t>
                    </m:r>
                  </m:oMath>
                </a14:m>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内两个不同样本之间距离的</a:t>
                </a:r>
                <a:r>
                  <a:rPr kumimoji="0"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均值</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pPr>
                <a:endPar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pP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2</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）簇</a:t>
                </a:r>
                <a14:m>
                  <m:oMath xmlns:m="http://schemas.openxmlformats.org/officeDocument/2006/math">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𝑙</m:t>
                    </m:r>
                  </m:oMath>
                </a14:m>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内两不同样本间的</a:t>
                </a:r>
                <a:r>
                  <a:rPr kumimoji="0"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最远</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距离</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pP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3</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两不同簇</a:t>
                </a:r>
                <a14:m>
                  <m:oMath xmlns:m="http://schemas.openxmlformats.org/officeDocument/2006/math">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𝑙</m:t>
                    </m:r>
                  </m:oMath>
                </a14:m>
                <a:r>
                  <a:rPr kumimoji="0"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和</a:t>
                </a:r>
                <a14:m>
                  <m:oMath xmlns:m="http://schemas.openxmlformats.org/officeDocument/2006/math">
                    <m:r>
                      <a:rPr lang="en-US" altLang="zh-CN" sz="20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𝑝</m:t>
                    </m:r>
                  </m:oMath>
                </a14:m>
                <a:r>
                  <a:rPr kumimoji="0"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之间最近</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的样本距离</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pPr>
                <a:endPar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pPr>
                <a:endParaRPr lang="en-US" altLang="zh-CN" sz="12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4</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两不同簇</a:t>
                </a:r>
                <a14:m>
                  <m:oMath xmlns:m="http://schemas.openxmlformats.org/officeDocument/2006/math">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𝑙</m:t>
                    </m:r>
                  </m:oMath>
                </a14:m>
                <a:r>
                  <a:rPr kumimoji="0"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和</a:t>
                </a:r>
                <a14:m>
                  <m:oMath xmlns:m="http://schemas.openxmlformats.org/officeDocument/2006/math">
                    <m:r>
                      <a:rPr lang="en-US" altLang="zh-CN" sz="20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𝑝</m:t>
                    </m:r>
                  </m:oMath>
                </a14:m>
                <a:r>
                  <a:rPr kumimoji="0"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中心点</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的距离</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其中，</a:t>
                </a:r>
                <a:r>
                  <a:rPr kumimoji="0" lang="en-US" altLang="zh-CN" sz="1800" b="0" i="0" u="none" strike="noStrike" kern="1200" cap="none" spc="0" normalizeH="0" baseline="0" noProof="0" dirty="0">
                    <a:ln>
                      <a:noFill/>
                    </a:ln>
                    <a:solidFill>
                      <a:srgbClr val="000000"/>
                    </a:solidFill>
                    <a:effectLst/>
                    <a:uLnTx/>
                    <a:uFillTx/>
                    <a:latin typeface="Arial"/>
                    <a:ea typeface="微软雅黑" panose="020B0503020204020204" pitchFamily="34" charset="-122"/>
                    <a:cs typeface="Times New Roman" panose="02020603050405020304" pitchFamily="18" charset="0"/>
                    <a:sym typeface="Arial" panose="020B0604020202020204" pitchFamily="34" charset="0"/>
                  </a:rPr>
                  <a:t> </a:t>
                </a: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zh-CN" altLang="en-US"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𝝁</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𝑙</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为簇</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𝐸</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𝑙</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的聚类中心，由该簇所有样本点取平均计算得到</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3" name="文本框 2">
                <a:extLst>
                  <a:ext uri="{FF2B5EF4-FFF2-40B4-BE49-F238E27FC236}">
                    <a16:creationId xmlns:a16="http://schemas.microsoft.com/office/drawing/2014/main" id="{EAC797B1-A535-1197-2B5E-8A40F9DBC091}"/>
                  </a:ext>
                </a:extLst>
              </p:cNvPr>
              <p:cNvSpPr txBox="1">
                <a:spLocks noRot="1" noChangeAspect="1" noMove="1" noResize="1" noEditPoints="1" noAdjustHandles="1" noChangeArrowheads="1" noChangeShapeType="1" noTextEdit="1"/>
              </p:cNvSpPr>
              <p:nvPr/>
            </p:nvSpPr>
            <p:spPr>
              <a:xfrm>
                <a:off x="160890" y="1249713"/>
                <a:ext cx="8538610" cy="8075929"/>
              </a:xfrm>
              <a:prstGeom prst="rect">
                <a:avLst/>
              </a:prstGeom>
              <a:blipFill>
                <a:blip r:embed="rId4"/>
                <a:stretch>
                  <a:fillRect l="-714" r="-785" b="-226"/>
                </a:stretch>
              </a:blipFill>
            </p:spPr>
            <p:txBody>
              <a:bodyPr/>
              <a:lstStyle/>
              <a:p>
                <a:r>
                  <a:rPr lang="zh-CN" altLang="en-US">
                    <a:noFill/>
                  </a:rPr>
                  <a:t> </a:t>
                </a:r>
              </a:p>
            </p:txBody>
          </p:sp>
        </mc:Fallback>
      </mc:AlternateContent>
      <p:graphicFrame>
        <p:nvGraphicFramePr>
          <p:cNvPr id="9" name="对象 8">
            <a:extLst>
              <a:ext uri="{FF2B5EF4-FFF2-40B4-BE49-F238E27FC236}">
                <a16:creationId xmlns:a16="http://schemas.microsoft.com/office/drawing/2014/main" id="{31758E21-8491-1096-5F15-B0555CFBEF71}"/>
              </a:ext>
            </a:extLst>
          </p:cNvPr>
          <p:cNvGraphicFramePr>
            <a:graphicFrameLocks noChangeAspect="1"/>
          </p:cNvGraphicFramePr>
          <p:nvPr>
            <p:extLst>
              <p:ext uri="{D42A27DB-BD31-4B8C-83A1-F6EECF244321}">
                <p14:modId xmlns:p14="http://schemas.microsoft.com/office/powerpoint/2010/main" val="2616213188"/>
              </p:ext>
            </p:extLst>
          </p:nvPr>
        </p:nvGraphicFramePr>
        <p:xfrm>
          <a:off x="2214813" y="2643688"/>
          <a:ext cx="4583521" cy="750590"/>
        </p:xfrm>
        <a:graphic>
          <a:graphicData uri="http://schemas.openxmlformats.org/presentationml/2006/ole">
            <mc:AlternateContent xmlns:mc="http://schemas.openxmlformats.org/markup-compatibility/2006">
              <mc:Choice xmlns:v="urn:schemas-microsoft-com:vml" Requires="v">
                <p:oleObj spid="_x0000_s1126" name="Equation" r:id="rId5" imgW="2374900" imgH="381000" progId="Equation.DSMT4">
                  <p:embed/>
                </p:oleObj>
              </mc:Choice>
              <mc:Fallback>
                <p:oleObj name="Equation" r:id="rId5" imgW="2374900" imgH="3810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14813" y="2643688"/>
                        <a:ext cx="4583521" cy="750590"/>
                      </a:xfrm>
                      <a:prstGeom prst="rect">
                        <a:avLst/>
                      </a:prstGeom>
                      <a:noFill/>
                    </p:spPr>
                  </p:pic>
                </p:oleObj>
              </mc:Fallback>
            </mc:AlternateContent>
          </a:graphicData>
        </a:graphic>
      </p:graphicFrame>
      <p:graphicFrame>
        <p:nvGraphicFramePr>
          <p:cNvPr id="10" name="对象 9">
            <a:extLst>
              <a:ext uri="{FF2B5EF4-FFF2-40B4-BE49-F238E27FC236}">
                <a16:creationId xmlns:a16="http://schemas.microsoft.com/office/drawing/2014/main" id="{EFADC900-CB53-2989-5E4A-C16EAFC0193A}"/>
              </a:ext>
            </a:extLst>
          </p:cNvPr>
          <p:cNvGraphicFramePr>
            <a:graphicFrameLocks noChangeAspect="1"/>
          </p:cNvGraphicFramePr>
          <p:nvPr>
            <p:extLst>
              <p:ext uri="{D42A27DB-BD31-4B8C-83A1-F6EECF244321}">
                <p14:modId xmlns:p14="http://schemas.microsoft.com/office/powerpoint/2010/main" val="4065549892"/>
              </p:ext>
            </p:extLst>
          </p:nvPr>
        </p:nvGraphicFramePr>
        <p:xfrm>
          <a:off x="2687120" y="3954395"/>
          <a:ext cx="3486150" cy="410867"/>
        </p:xfrm>
        <a:graphic>
          <a:graphicData uri="http://schemas.openxmlformats.org/presentationml/2006/ole">
            <mc:AlternateContent xmlns:mc="http://schemas.openxmlformats.org/markup-compatibility/2006">
              <mc:Choice xmlns:v="urn:schemas-microsoft-com:vml" Requires="v">
                <p:oleObj spid="_x0000_s1127" name="Equation" r:id="rId7" imgW="1777229" imgH="203112" progId="Equation.DSMT4">
                  <p:embed/>
                </p:oleObj>
              </mc:Choice>
              <mc:Fallback>
                <p:oleObj name="Equation" r:id="rId7" imgW="1777229" imgH="203112"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87120" y="3954395"/>
                        <a:ext cx="3486150" cy="410867"/>
                      </a:xfrm>
                      <a:prstGeom prst="rect">
                        <a:avLst/>
                      </a:prstGeom>
                      <a:noFill/>
                    </p:spPr>
                  </p:pic>
                </p:oleObj>
              </mc:Fallback>
            </mc:AlternateContent>
          </a:graphicData>
        </a:graphic>
      </p:graphicFrame>
      <p:graphicFrame>
        <p:nvGraphicFramePr>
          <p:cNvPr id="11" name="对象 10">
            <a:extLst>
              <a:ext uri="{FF2B5EF4-FFF2-40B4-BE49-F238E27FC236}">
                <a16:creationId xmlns:a16="http://schemas.microsoft.com/office/drawing/2014/main" id="{673E1634-B694-9236-C973-9D6B45CA4BB2}"/>
              </a:ext>
            </a:extLst>
          </p:cNvPr>
          <p:cNvGraphicFramePr>
            <a:graphicFrameLocks noChangeAspect="1"/>
          </p:cNvGraphicFramePr>
          <p:nvPr>
            <p:extLst>
              <p:ext uri="{D42A27DB-BD31-4B8C-83A1-F6EECF244321}">
                <p14:modId xmlns:p14="http://schemas.microsoft.com/office/powerpoint/2010/main" val="1689310595"/>
              </p:ext>
            </p:extLst>
          </p:nvPr>
        </p:nvGraphicFramePr>
        <p:xfrm>
          <a:off x="2466267" y="4967480"/>
          <a:ext cx="4211465" cy="434987"/>
        </p:xfrm>
        <a:graphic>
          <a:graphicData uri="http://schemas.openxmlformats.org/presentationml/2006/ole">
            <mc:AlternateContent xmlns:mc="http://schemas.openxmlformats.org/markup-compatibility/2006">
              <mc:Choice xmlns:v="urn:schemas-microsoft-com:vml" Requires="v">
                <p:oleObj spid="_x0000_s1128" name="Equation" r:id="rId9" imgW="2019300" imgH="215900" progId="Equation.DSMT4">
                  <p:embed/>
                </p:oleObj>
              </mc:Choice>
              <mc:Fallback>
                <p:oleObj name="Equation" r:id="rId9" imgW="2019300" imgH="2159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66267" y="4967480"/>
                        <a:ext cx="4211465" cy="434987"/>
                      </a:xfrm>
                      <a:prstGeom prst="rect">
                        <a:avLst/>
                      </a:prstGeom>
                      <a:noFill/>
                    </p:spPr>
                  </p:pic>
                </p:oleObj>
              </mc:Fallback>
            </mc:AlternateContent>
          </a:graphicData>
        </a:graphic>
      </p:graphicFrame>
      <p:graphicFrame>
        <p:nvGraphicFramePr>
          <p:cNvPr id="14" name="对象 13">
            <a:extLst>
              <a:ext uri="{FF2B5EF4-FFF2-40B4-BE49-F238E27FC236}">
                <a16:creationId xmlns:a16="http://schemas.microsoft.com/office/drawing/2014/main" id="{BF0B938E-4E19-ABEB-2C61-C04B127E8FF2}"/>
              </a:ext>
            </a:extLst>
          </p:cNvPr>
          <p:cNvGraphicFramePr>
            <a:graphicFrameLocks noChangeAspect="1"/>
          </p:cNvGraphicFramePr>
          <p:nvPr>
            <p:extLst>
              <p:ext uri="{D42A27DB-BD31-4B8C-83A1-F6EECF244321}">
                <p14:modId xmlns:p14="http://schemas.microsoft.com/office/powerpoint/2010/main" val="701579528"/>
              </p:ext>
            </p:extLst>
          </p:nvPr>
        </p:nvGraphicFramePr>
        <p:xfrm>
          <a:off x="3250602" y="5982843"/>
          <a:ext cx="2642794" cy="403760"/>
        </p:xfrm>
        <a:graphic>
          <a:graphicData uri="http://schemas.openxmlformats.org/presentationml/2006/ole">
            <mc:AlternateContent xmlns:mc="http://schemas.openxmlformats.org/markup-compatibility/2006">
              <mc:Choice xmlns:v="urn:schemas-microsoft-com:vml" Requires="v">
                <p:oleObj spid="_x0000_s1129" name="Equation" r:id="rId11" imgW="1346200" imgH="203200" progId="Equation.DSMT4">
                  <p:embed/>
                </p:oleObj>
              </mc:Choice>
              <mc:Fallback>
                <p:oleObj name="Equation" r:id="rId11" imgW="1346200" imgH="203200" progId="Equation.DSMT4">
                  <p:embed/>
                  <p:pic>
                    <p:nvPicPr>
                      <p:cNvPr id="0"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50602" y="5982843"/>
                        <a:ext cx="2642794" cy="403760"/>
                      </a:xfrm>
                      <a:prstGeom prst="rect">
                        <a:avLst/>
                      </a:prstGeom>
                      <a:noFill/>
                    </p:spPr>
                  </p:pic>
                </p:oleObj>
              </mc:Fallback>
            </mc:AlternateContent>
          </a:graphicData>
        </a:graphic>
      </p:graphicFrame>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3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 name="矩形 3">
            <a:extLst>
              <a:ext uri="{FF2B5EF4-FFF2-40B4-BE49-F238E27FC236}">
                <a16:creationId xmlns:a16="http://schemas.microsoft.com/office/drawing/2014/main" id="{C0362D2E-13BE-6960-ACAF-9B0F91AB0AEE}"/>
              </a:ext>
            </a:extLst>
          </p:cNvPr>
          <p:cNvSpPr/>
          <p:nvPr/>
        </p:nvSpPr>
        <p:spPr>
          <a:xfrm>
            <a:off x="5440680" y="5982843"/>
            <a:ext cx="284480" cy="403760"/>
          </a:xfrm>
          <a:prstGeom prst="rect">
            <a:avLst/>
          </a:prstGeom>
          <a:solidFill>
            <a:schemeClr val="accent6">
              <a:lumMod val="20000"/>
              <a:lumOff val="80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A1AD9C97-791F-0774-3BA1-B246585FEB60}"/>
              </a:ext>
            </a:extLst>
          </p:cNvPr>
          <p:cNvSpPr txBox="1"/>
          <p:nvPr/>
        </p:nvSpPr>
        <p:spPr>
          <a:xfrm>
            <a:off x="6325773" y="5988895"/>
            <a:ext cx="1486304" cy="369332"/>
          </a:xfrm>
          <a:prstGeom prst="rect">
            <a:avLst/>
          </a:prstGeom>
          <a:noFill/>
        </p:spPr>
        <p:txBody>
          <a:bodyPr wrap="none" rtlCol="0">
            <a:spAutoFit/>
          </a:bodyPr>
          <a:lstStyle/>
          <a:p>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簇</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p</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的中心点</a:t>
            </a:r>
          </a:p>
        </p:txBody>
      </p:sp>
      <p:sp>
        <p:nvSpPr>
          <p:cNvPr id="6" name="箭头: 右 5">
            <a:extLst>
              <a:ext uri="{FF2B5EF4-FFF2-40B4-BE49-F238E27FC236}">
                <a16:creationId xmlns:a16="http://schemas.microsoft.com/office/drawing/2014/main" id="{52E4D5DE-6B45-C22A-C7CE-1B08FC6F9F00}"/>
              </a:ext>
            </a:extLst>
          </p:cNvPr>
          <p:cNvSpPr/>
          <p:nvPr/>
        </p:nvSpPr>
        <p:spPr>
          <a:xfrm>
            <a:off x="5960533" y="6108700"/>
            <a:ext cx="298103" cy="14816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568642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CF6395A0-13DF-4EE8-9659-D7140929BEF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97572" y="4976799"/>
            <a:ext cx="2490806" cy="1881201"/>
          </a:xfrm>
          <a:prstGeom prst="rect">
            <a:avLst/>
          </a:prstGeom>
        </p:spPr>
      </p:pic>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13</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13"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聚类分析算法的性能度量</a:t>
            </a: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194C7B8E-BB6A-754C-CBBE-52BFCCF8D64B}"/>
                  </a:ext>
                </a:extLst>
              </p:cNvPr>
              <p:cNvSpPr txBox="1"/>
              <p:nvPr/>
            </p:nvSpPr>
            <p:spPr>
              <a:xfrm>
                <a:off x="160890" y="1390864"/>
                <a:ext cx="8538610" cy="4654608"/>
              </a:xfrm>
              <a:prstGeom prst="rect">
                <a:avLst/>
              </a:prstGeom>
              <a:noFill/>
            </p:spPr>
            <p:txBody>
              <a:bodyPr wrap="square" rtlCol="0">
                <a:spAutoFit/>
              </a:bodyPr>
              <a:lstStyle/>
              <a:p>
                <a:pPr lvl="0" algn="just">
                  <a:lnSpc>
                    <a:spcPct val="150000"/>
                  </a:lnSpc>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基于以上定义，常用的</a:t>
                </a:r>
                <a:r>
                  <a:rPr kumimoji="0" lang="zh-CN" altLang="en-US" sz="20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聚类性能度量内部指标</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可以总结如下</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pPr>
                <a:r>
                  <a:rPr lang="zh-CN" altLang="en-US"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a:t>
                </a:r>
                <a:r>
                  <a:rPr lang="zh-CN" altLang="en-US"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DB</a:t>
                </a:r>
                <a:r>
                  <a:rPr lang="zh-CN" altLang="en-US"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指数（</a:t>
                </a:r>
                <a:r>
                  <a:rPr lang="en-US" altLang="zh-CN"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Davies-Bouldin Index, DBI</a:t>
                </a:r>
                <a:r>
                  <a:rPr lang="zh-CN" altLang="en-US"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lang="en-US" altLang="zh-CN"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pP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DB</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指数的构建思想是：在聚类结果中，对于任意一个簇</a:t>
                </a:r>
                <a14:m>
                  <m:oMath xmlns:m="http://schemas.openxmlformats.org/officeDocument/2006/math">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𝑙</m:t>
                    </m:r>
                  </m:oMath>
                </a14:m>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，找到</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与其</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最相似的簇</a:t>
                </a:r>
                <a14:m>
                  <m:oMath xmlns:m="http://schemas.openxmlformats.org/officeDocument/2006/math">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𝑝</m:t>
                    </m:r>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 </m:t>
                    </m:r>
                    <m:r>
                      <a:rPr lang="zh-CN" altLang="en-US" sz="200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oMath>
                </a14:m>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如下</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公式所示，计算二者的</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相似度</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（二者的簇内平均距离的和，与簇间中心点距离的比值），并对所有相似度取平均。若均值越高，说明聚类结果中不同簇的相似度偏高、聚类结果差。</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pP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pP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pP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因此，</a:t>
                </a: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DB</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指数值越小聚类效果越好。</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4" name="文本框 3">
                <a:extLst>
                  <a:ext uri="{FF2B5EF4-FFF2-40B4-BE49-F238E27FC236}">
                    <a16:creationId xmlns:a16="http://schemas.microsoft.com/office/drawing/2014/main" id="{194C7B8E-BB6A-754C-CBBE-52BFCCF8D64B}"/>
                  </a:ext>
                </a:extLst>
              </p:cNvPr>
              <p:cNvSpPr txBox="1">
                <a:spLocks noRot="1" noChangeAspect="1" noMove="1" noResize="1" noEditPoints="1" noAdjustHandles="1" noChangeArrowheads="1" noChangeShapeType="1" noTextEdit="1"/>
              </p:cNvSpPr>
              <p:nvPr/>
            </p:nvSpPr>
            <p:spPr>
              <a:xfrm>
                <a:off x="160890" y="1390864"/>
                <a:ext cx="8538610" cy="4654608"/>
              </a:xfrm>
              <a:prstGeom prst="rect">
                <a:avLst/>
              </a:prstGeom>
              <a:blipFill>
                <a:blip r:embed="rId5"/>
                <a:stretch>
                  <a:fillRect l="-714" r="-785" b="-1309"/>
                </a:stretch>
              </a:blipFill>
            </p:spPr>
            <p:txBody>
              <a:bodyPr/>
              <a:lstStyle/>
              <a:p>
                <a:r>
                  <a:rPr lang="zh-CN" altLang="en-US">
                    <a:noFill/>
                  </a:rPr>
                  <a:t> </a:t>
                </a:r>
              </a:p>
            </p:txBody>
          </p:sp>
        </mc:Fallback>
      </mc:AlternateContent>
      <p:graphicFrame>
        <p:nvGraphicFramePr>
          <p:cNvPr id="6" name="对象 5">
            <a:extLst>
              <a:ext uri="{FF2B5EF4-FFF2-40B4-BE49-F238E27FC236}">
                <a16:creationId xmlns:a16="http://schemas.microsoft.com/office/drawing/2014/main" id="{806D759E-297A-DD17-1E01-7D822CAD6268}"/>
              </a:ext>
            </a:extLst>
          </p:cNvPr>
          <p:cNvGraphicFramePr>
            <a:graphicFrameLocks noChangeAspect="1"/>
          </p:cNvGraphicFramePr>
          <p:nvPr>
            <p:extLst>
              <p:ext uri="{D42A27DB-BD31-4B8C-83A1-F6EECF244321}">
                <p14:modId xmlns:p14="http://schemas.microsoft.com/office/powerpoint/2010/main" val="1257697410"/>
              </p:ext>
            </p:extLst>
          </p:nvPr>
        </p:nvGraphicFramePr>
        <p:xfrm>
          <a:off x="2148562" y="4297475"/>
          <a:ext cx="4076208" cy="922545"/>
        </p:xfrm>
        <a:graphic>
          <a:graphicData uri="http://schemas.openxmlformats.org/presentationml/2006/ole">
            <mc:AlternateContent xmlns:mc="http://schemas.openxmlformats.org/markup-compatibility/2006">
              <mc:Choice xmlns:v="urn:schemas-microsoft-com:vml" Requires="v">
                <p:oleObj spid="_x0000_s2075" name="Equation" r:id="rId6" imgW="1981080" imgH="444240" progId="Equation.DSMT4">
                  <p:embed/>
                </p:oleObj>
              </mc:Choice>
              <mc:Fallback>
                <p:oleObj name="Equation" r:id="rId6" imgW="1981080" imgH="444240" progId="Equation.DSMT4">
                  <p:embed/>
                  <p:pic>
                    <p:nvPicPr>
                      <p:cNvPr id="0" name="Object 1"/>
                      <p:cNvPicPr>
                        <a:picLocks noChangeAspect="1" noChangeArrowheads="1"/>
                      </p:cNvPicPr>
                      <p:nvPr/>
                    </p:nvPicPr>
                    <p:blipFill>
                      <a:blip r:embed="rId7"/>
                      <a:srcRect/>
                      <a:stretch>
                        <a:fillRect/>
                      </a:stretch>
                    </p:blipFill>
                    <p:spPr bwMode="auto">
                      <a:xfrm>
                        <a:off x="2148562" y="4297475"/>
                        <a:ext cx="4076208" cy="922545"/>
                      </a:xfrm>
                      <a:prstGeom prst="rect">
                        <a:avLst/>
                      </a:prstGeom>
                      <a:noFill/>
                    </p:spPr>
                  </p:pic>
                </p:oleObj>
              </mc:Fallback>
            </mc:AlternateContent>
          </a:graphicData>
        </a:graphic>
      </p:graphicFrame>
    </p:spTree>
    <p:extLst>
      <p:ext uri="{BB962C8B-B14F-4D97-AF65-F5344CB8AC3E}">
        <p14:creationId xmlns:p14="http://schemas.microsoft.com/office/powerpoint/2010/main" val="29216314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14</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13"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聚类分析算法的性能度量</a:t>
            </a: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4" name="文本框 3">
            <a:extLst>
              <a:ext uri="{FF2B5EF4-FFF2-40B4-BE49-F238E27FC236}">
                <a16:creationId xmlns:a16="http://schemas.microsoft.com/office/drawing/2014/main" id="{194C7B8E-BB6A-754C-CBBE-52BFCCF8D64B}"/>
              </a:ext>
            </a:extLst>
          </p:cNvPr>
          <p:cNvSpPr txBox="1"/>
          <p:nvPr/>
        </p:nvSpPr>
        <p:spPr>
          <a:xfrm>
            <a:off x="160890" y="1390864"/>
            <a:ext cx="8538610" cy="3269613"/>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2</a:t>
            </a: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Dunn</a:t>
            </a: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指数（</a:t>
            </a:r>
            <a:r>
              <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Dunn Index, DI</a:t>
            </a: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DI</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的构建思路是：用</a:t>
            </a:r>
            <a:r>
              <a:rPr kumimoji="0"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任意两个簇</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之间最近的距离的最小值，除以</a:t>
            </a:r>
            <a:r>
              <a:rPr kumimoji="0"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任意一个簇</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内距离最远的两个点的距离的最大值</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该指数值越大聚类效果越好。</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graphicFrame>
        <p:nvGraphicFramePr>
          <p:cNvPr id="17" name="对象 16">
            <a:extLst>
              <a:ext uri="{FF2B5EF4-FFF2-40B4-BE49-F238E27FC236}">
                <a16:creationId xmlns:a16="http://schemas.microsoft.com/office/drawing/2014/main" id="{2C10DE5A-250D-9172-2DE2-08B075F12C7D}"/>
              </a:ext>
            </a:extLst>
          </p:cNvPr>
          <p:cNvGraphicFramePr>
            <a:graphicFrameLocks noChangeAspect="1"/>
          </p:cNvGraphicFramePr>
          <p:nvPr/>
        </p:nvGraphicFramePr>
        <p:xfrm>
          <a:off x="3170238" y="3043238"/>
          <a:ext cx="2698750" cy="909637"/>
        </p:xfrm>
        <a:graphic>
          <a:graphicData uri="http://schemas.openxmlformats.org/presentationml/2006/ole">
            <mc:AlternateContent xmlns:mc="http://schemas.openxmlformats.org/markup-compatibility/2006">
              <mc:Choice xmlns:v="urn:schemas-microsoft-com:vml" Requires="v">
                <p:oleObj spid="_x0000_s3099" name="Equation" r:id="rId4" imgW="1371600" imgH="444240" progId="Equation.DSMT4">
                  <p:embed/>
                </p:oleObj>
              </mc:Choice>
              <mc:Fallback>
                <p:oleObj name="Equation" r:id="rId4" imgW="1371600" imgH="444240" progId="Equation.DSMT4">
                  <p:embed/>
                  <p:pic>
                    <p:nvPicPr>
                      <p:cNvPr id="17" name="对象 16">
                        <a:extLst>
                          <a:ext uri="{FF2B5EF4-FFF2-40B4-BE49-F238E27FC236}">
                            <a16:creationId xmlns:a16="http://schemas.microsoft.com/office/drawing/2014/main" id="{2C10DE5A-250D-9172-2DE2-08B075F12C7D}"/>
                          </a:ext>
                        </a:extLst>
                      </p:cNvPr>
                      <p:cNvPicPr>
                        <a:picLocks noChangeAspect="1" noChangeArrowheads="1"/>
                      </p:cNvPicPr>
                      <p:nvPr/>
                    </p:nvPicPr>
                    <p:blipFill>
                      <a:blip r:embed="rId5"/>
                      <a:srcRect/>
                      <a:stretch>
                        <a:fillRect/>
                      </a:stretch>
                    </p:blipFill>
                    <p:spPr bwMode="auto">
                      <a:xfrm>
                        <a:off x="3170238" y="3043238"/>
                        <a:ext cx="2698750" cy="909637"/>
                      </a:xfrm>
                      <a:prstGeom prst="rect">
                        <a:avLst/>
                      </a:prstGeom>
                      <a:noFill/>
                    </p:spPr>
                  </p:pic>
                </p:oleObj>
              </mc:Fallback>
            </mc:AlternateContent>
          </a:graphicData>
        </a:graphic>
      </p:graphicFrame>
      <p:pic>
        <p:nvPicPr>
          <p:cNvPr id="10" name="图片 9">
            <a:extLst>
              <a:ext uri="{FF2B5EF4-FFF2-40B4-BE49-F238E27FC236}">
                <a16:creationId xmlns:a16="http://schemas.microsoft.com/office/drawing/2014/main" id="{9A828FD7-F6C0-4563-B366-984A3990AB7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97572" y="4976799"/>
            <a:ext cx="2490806" cy="1881201"/>
          </a:xfrm>
          <a:prstGeom prst="rect">
            <a:avLst/>
          </a:prstGeom>
        </p:spPr>
      </p:pic>
    </p:spTree>
    <p:extLst>
      <p:ext uri="{BB962C8B-B14F-4D97-AF65-F5344CB8AC3E}">
        <p14:creationId xmlns:p14="http://schemas.microsoft.com/office/powerpoint/2010/main" val="40002764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15</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13"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聚类分析算法的性能度量</a:t>
            </a: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194C7B8E-BB6A-754C-CBBE-52BFCCF8D64B}"/>
                  </a:ext>
                </a:extLst>
              </p:cNvPr>
              <p:cNvSpPr txBox="1"/>
              <p:nvPr/>
            </p:nvSpPr>
            <p:spPr>
              <a:xfrm>
                <a:off x="162560" y="1387845"/>
                <a:ext cx="8538610" cy="5061514"/>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3</a:t>
                </a: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）轮廓系数（</a:t>
                </a:r>
                <a:r>
                  <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Silhouette Coefficient, SC</a:t>
                </a: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假设样本点</a:t>
                </a:r>
                <a14:m>
                  <m:oMath xmlns:m="http://schemas.openxmlformats.org/officeDocument/2006/math">
                    <m:r>
                      <a:rPr kumimoji="0" lang="en-US" altLang="zh-CN" sz="1800" b="0" i="0"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 </m:t>
                    </m:r>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oMath>
                </a14:m>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属于簇 </a:t>
                </a: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𝐸</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𝑙</m:t>
                        </m:r>
                      </m:sub>
                    </m:sSub>
                  </m:oMath>
                </a14:m>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定义：</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样本点</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到簇</a:t>
                </a: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𝐸</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𝑙</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内其他点的平均距离：</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样本点</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到</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其他簇</a:t>
                </a: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𝐸</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𝑞</m:t>
                        </m:r>
                      </m:sub>
                    </m:sSub>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内所有样本点的</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平均距离最小值</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即，度量出了离点</a:t>
                </a: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oMath>
                </a14:m>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平均距离最近的簇。</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4" name="文本框 3">
                <a:extLst>
                  <a:ext uri="{FF2B5EF4-FFF2-40B4-BE49-F238E27FC236}">
                    <a16:creationId xmlns:a16="http://schemas.microsoft.com/office/drawing/2014/main" id="{194C7B8E-BB6A-754C-CBBE-52BFCCF8D64B}"/>
                  </a:ext>
                </a:extLst>
              </p:cNvPr>
              <p:cNvSpPr txBox="1">
                <a:spLocks noRot="1" noChangeAspect="1" noMove="1" noResize="1" noEditPoints="1" noAdjustHandles="1" noChangeArrowheads="1" noChangeShapeType="1" noTextEdit="1"/>
              </p:cNvSpPr>
              <p:nvPr/>
            </p:nvSpPr>
            <p:spPr>
              <a:xfrm>
                <a:off x="162560" y="1387845"/>
                <a:ext cx="8538610" cy="5061514"/>
              </a:xfrm>
              <a:prstGeom prst="rect">
                <a:avLst/>
              </a:prstGeom>
              <a:blipFill>
                <a:blip r:embed="rId4"/>
                <a:stretch>
                  <a:fillRect l="-643" b="-964"/>
                </a:stretch>
              </a:blipFill>
            </p:spPr>
            <p:txBody>
              <a:bodyPr/>
              <a:lstStyle/>
              <a:p>
                <a:r>
                  <a:rPr lang="zh-CN" altLang="en-US">
                    <a:noFill/>
                  </a:rPr>
                  <a:t> </a:t>
                </a:r>
              </a:p>
            </p:txBody>
          </p:sp>
        </mc:Fallback>
      </mc:AlternateContent>
      <p:graphicFrame>
        <p:nvGraphicFramePr>
          <p:cNvPr id="7" name="对象 6">
            <a:extLst>
              <a:ext uri="{FF2B5EF4-FFF2-40B4-BE49-F238E27FC236}">
                <a16:creationId xmlns:a16="http://schemas.microsoft.com/office/drawing/2014/main" id="{834EB4F1-9F9F-4258-0434-A51AD97F9299}"/>
              </a:ext>
            </a:extLst>
          </p:cNvPr>
          <p:cNvGraphicFramePr>
            <a:graphicFrameLocks noChangeAspect="1"/>
          </p:cNvGraphicFramePr>
          <p:nvPr>
            <p:extLst>
              <p:ext uri="{D42A27DB-BD31-4B8C-83A1-F6EECF244321}">
                <p14:modId xmlns:p14="http://schemas.microsoft.com/office/powerpoint/2010/main" val="1879272110"/>
              </p:ext>
            </p:extLst>
          </p:nvPr>
        </p:nvGraphicFramePr>
        <p:xfrm>
          <a:off x="2823327" y="3187013"/>
          <a:ext cx="3401443" cy="738160"/>
        </p:xfrm>
        <a:graphic>
          <a:graphicData uri="http://schemas.openxmlformats.org/presentationml/2006/ole">
            <mc:AlternateContent xmlns:mc="http://schemas.openxmlformats.org/markup-compatibility/2006">
              <mc:Choice xmlns:v="urn:schemas-microsoft-com:vml" Requires="v">
                <p:oleObj spid="_x0000_s4148" name="Equation" r:id="rId5" imgW="1828800" imgH="393700" progId="Equation.DSMT4">
                  <p:embed/>
                </p:oleObj>
              </mc:Choice>
              <mc:Fallback>
                <p:oleObj name="Equation" r:id="rId5" imgW="1828800" imgH="393700" progId="Equation.DSMT4">
                  <p:embed/>
                  <p:pic>
                    <p:nvPicPr>
                      <p:cNvPr id="7" name="对象 6">
                        <a:extLst>
                          <a:ext uri="{FF2B5EF4-FFF2-40B4-BE49-F238E27FC236}">
                            <a16:creationId xmlns:a16="http://schemas.microsoft.com/office/drawing/2014/main" id="{834EB4F1-9F9F-4258-0434-A51AD97F929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23327" y="3187013"/>
                        <a:ext cx="3401443" cy="738160"/>
                      </a:xfrm>
                      <a:prstGeom prst="rect">
                        <a:avLst/>
                      </a:prstGeom>
                      <a:noFill/>
                    </p:spPr>
                  </p:pic>
                </p:oleObj>
              </mc:Fallback>
            </mc:AlternateContent>
          </a:graphicData>
        </a:graphic>
      </p:graphicFrame>
      <p:graphicFrame>
        <p:nvGraphicFramePr>
          <p:cNvPr id="10" name="对象 9">
            <a:extLst>
              <a:ext uri="{FF2B5EF4-FFF2-40B4-BE49-F238E27FC236}">
                <a16:creationId xmlns:a16="http://schemas.microsoft.com/office/drawing/2014/main" id="{1314C966-036F-B782-2321-2C856BD9E7AE}"/>
              </a:ext>
            </a:extLst>
          </p:cNvPr>
          <p:cNvGraphicFramePr>
            <a:graphicFrameLocks noChangeAspect="1"/>
          </p:cNvGraphicFramePr>
          <p:nvPr>
            <p:extLst>
              <p:ext uri="{D42A27DB-BD31-4B8C-83A1-F6EECF244321}">
                <p14:modId xmlns:p14="http://schemas.microsoft.com/office/powerpoint/2010/main" val="2228529012"/>
              </p:ext>
            </p:extLst>
          </p:nvPr>
        </p:nvGraphicFramePr>
        <p:xfrm>
          <a:off x="2836803" y="4967166"/>
          <a:ext cx="3190123" cy="804984"/>
        </p:xfrm>
        <a:graphic>
          <a:graphicData uri="http://schemas.openxmlformats.org/presentationml/2006/ole">
            <mc:AlternateContent xmlns:mc="http://schemas.openxmlformats.org/markup-compatibility/2006">
              <mc:Choice xmlns:v="urn:schemas-microsoft-com:vml" Requires="v">
                <p:oleObj spid="_x0000_s4149" name="Equation" r:id="rId7" imgW="1701800" imgH="419100" progId="Equation.DSMT4">
                  <p:embed/>
                </p:oleObj>
              </mc:Choice>
              <mc:Fallback>
                <p:oleObj name="Equation" r:id="rId7" imgW="1701800" imgH="419100" progId="Equation.DSMT4">
                  <p:embed/>
                  <p:pic>
                    <p:nvPicPr>
                      <p:cNvPr id="10" name="对象 9">
                        <a:extLst>
                          <a:ext uri="{FF2B5EF4-FFF2-40B4-BE49-F238E27FC236}">
                            <a16:creationId xmlns:a16="http://schemas.microsoft.com/office/drawing/2014/main" id="{1314C966-036F-B782-2321-2C856BD9E7A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36803" y="4967166"/>
                        <a:ext cx="3190123" cy="804984"/>
                      </a:xfrm>
                      <a:prstGeom prst="rect">
                        <a:avLst/>
                      </a:prstGeom>
                      <a:noFill/>
                    </p:spPr>
                  </p:pic>
                </p:oleObj>
              </mc:Fallback>
            </mc:AlternateContent>
          </a:graphicData>
        </a:graphic>
      </p:graphicFrame>
    </p:spTree>
    <p:extLst>
      <p:ext uri="{BB962C8B-B14F-4D97-AF65-F5344CB8AC3E}">
        <p14:creationId xmlns:p14="http://schemas.microsoft.com/office/powerpoint/2010/main" val="30261023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16</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13"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聚类分析算法的性能度量</a:t>
            </a: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194C7B8E-BB6A-754C-CBBE-52BFCCF8D64B}"/>
                  </a:ext>
                </a:extLst>
              </p:cNvPr>
              <p:cNvSpPr txBox="1"/>
              <p:nvPr/>
            </p:nvSpPr>
            <p:spPr>
              <a:xfrm>
                <a:off x="162560" y="1387845"/>
                <a:ext cx="8538610" cy="4613892"/>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3</a:t>
                </a: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）轮廓系数（</a:t>
                </a:r>
                <a:r>
                  <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Silhouette Coefficient, SC</a:t>
                </a: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样本点</a:t>
                </a:r>
                <a14:m>
                  <m:oMath xmlns:m="http://schemas.openxmlformats.org/officeDocument/2006/math">
                    <m:r>
                      <a:rPr kumimoji="0" lang="en-US" altLang="zh-CN" sz="1800" b="0" i="0"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 </m:t>
                    </m:r>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的轮廓系数定义</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为：</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可以看出，样本点轮廓系数介于</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和</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之间，值越大表明聚类效果越好（</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簇内间距小，簇间间距大</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整个样本集的轮廓系数</a:t>
                </a:r>
                <a:r>
                  <a:rPr lang="en-US" altLang="zh-CN" b="1" i="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SC</a:t>
                </a:r>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是所有样本点轮廓系数的均值：</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4" name="文本框 3">
                <a:extLst>
                  <a:ext uri="{FF2B5EF4-FFF2-40B4-BE49-F238E27FC236}">
                    <a16:creationId xmlns:a16="http://schemas.microsoft.com/office/drawing/2014/main" id="{194C7B8E-BB6A-754C-CBBE-52BFCCF8D64B}"/>
                  </a:ext>
                </a:extLst>
              </p:cNvPr>
              <p:cNvSpPr txBox="1">
                <a:spLocks noRot="1" noChangeAspect="1" noMove="1" noResize="1" noEditPoints="1" noAdjustHandles="1" noChangeArrowheads="1" noChangeShapeType="1" noTextEdit="1"/>
              </p:cNvSpPr>
              <p:nvPr/>
            </p:nvSpPr>
            <p:spPr>
              <a:xfrm>
                <a:off x="162560" y="1387845"/>
                <a:ext cx="8538610" cy="4613892"/>
              </a:xfrm>
              <a:prstGeom prst="rect">
                <a:avLst/>
              </a:prstGeom>
              <a:blipFill>
                <a:blip r:embed="rId4"/>
                <a:stretch>
                  <a:fillRect l="-643" r="-643"/>
                </a:stretch>
              </a:blipFill>
            </p:spPr>
            <p:txBody>
              <a:bodyPr/>
              <a:lstStyle/>
              <a:p>
                <a:r>
                  <a:rPr lang="zh-CN" altLang="en-US">
                    <a:noFill/>
                  </a:rPr>
                  <a:t> </a:t>
                </a:r>
              </a:p>
            </p:txBody>
          </p:sp>
        </mc:Fallback>
      </mc:AlternateContent>
      <p:graphicFrame>
        <p:nvGraphicFramePr>
          <p:cNvPr id="14" name="对象 13">
            <a:extLst>
              <a:ext uri="{FF2B5EF4-FFF2-40B4-BE49-F238E27FC236}">
                <a16:creationId xmlns:a16="http://schemas.microsoft.com/office/drawing/2014/main" id="{2626266C-BECF-A982-23D8-772BBA46525B}"/>
              </a:ext>
            </a:extLst>
          </p:cNvPr>
          <p:cNvGraphicFramePr>
            <a:graphicFrameLocks noChangeAspect="1"/>
          </p:cNvGraphicFramePr>
          <p:nvPr>
            <p:extLst>
              <p:ext uri="{D42A27DB-BD31-4B8C-83A1-F6EECF244321}">
                <p14:modId xmlns:p14="http://schemas.microsoft.com/office/powerpoint/2010/main" val="760357518"/>
              </p:ext>
            </p:extLst>
          </p:nvPr>
        </p:nvGraphicFramePr>
        <p:xfrm>
          <a:off x="963804" y="2424698"/>
          <a:ext cx="6458075" cy="1262982"/>
        </p:xfrm>
        <a:graphic>
          <a:graphicData uri="http://schemas.openxmlformats.org/presentationml/2006/ole">
            <mc:AlternateContent xmlns:mc="http://schemas.openxmlformats.org/markup-compatibility/2006">
              <mc:Choice xmlns:v="urn:schemas-microsoft-com:vml" Requires="v">
                <p:oleObj spid="_x0000_s5172" name="Equation" r:id="rId5" imgW="3073320" imgH="596880" progId="Equation.DSMT4">
                  <p:embed/>
                </p:oleObj>
              </mc:Choice>
              <mc:Fallback>
                <p:oleObj name="Equation" r:id="rId5" imgW="3073320" imgH="596880" progId="Equation.DSMT4">
                  <p:embed/>
                  <p:pic>
                    <p:nvPicPr>
                      <p:cNvPr id="14" name="对象 13">
                        <a:extLst>
                          <a:ext uri="{FF2B5EF4-FFF2-40B4-BE49-F238E27FC236}">
                            <a16:creationId xmlns:a16="http://schemas.microsoft.com/office/drawing/2014/main" id="{2626266C-BECF-A982-23D8-772BBA46525B}"/>
                          </a:ext>
                        </a:extLst>
                      </p:cNvPr>
                      <p:cNvPicPr>
                        <a:picLocks noChangeAspect="1" noChangeArrowheads="1"/>
                      </p:cNvPicPr>
                      <p:nvPr/>
                    </p:nvPicPr>
                    <p:blipFill>
                      <a:blip r:embed="rId6"/>
                      <a:srcRect/>
                      <a:stretch>
                        <a:fillRect/>
                      </a:stretch>
                    </p:blipFill>
                    <p:spPr bwMode="auto">
                      <a:xfrm>
                        <a:off x="963804" y="2424698"/>
                        <a:ext cx="6458075" cy="1262982"/>
                      </a:xfrm>
                      <a:prstGeom prst="rect">
                        <a:avLst/>
                      </a:prstGeom>
                      <a:noFill/>
                    </p:spPr>
                  </p:pic>
                </p:oleObj>
              </mc:Fallback>
            </mc:AlternateContent>
          </a:graphicData>
        </a:graphic>
      </p:graphicFrame>
      <p:graphicFrame>
        <p:nvGraphicFramePr>
          <p:cNvPr id="3" name="对象 2">
            <a:extLst>
              <a:ext uri="{FF2B5EF4-FFF2-40B4-BE49-F238E27FC236}">
                <a16:creationId xmlns:a16="http://schemas.microsoft.com/office/drawing/2014/main" id="{43CBAF4C-CB88-F09A-75F4-EE656CBFED56}"/>
              </a:ext>
            </a:extLst>
          </p:cNvPr>
          <p:cNvGraphicFramePr>
            <a:graphicFrameLocks noChangeAspect="1"/>
          </p:cNvGraphicFramePr>
          <p:nvPr>
            <p:extLst>
              <p:ext uri="{D42A27DB-BD31-4B8C-83A1-F6EECF244321}">
                <p14:modId xmlns:p14="http://schemas.microsoft.com/office/powerpoint/2010/main" val="1956428745"/>
              </p:ext>
            </p:extLst>
          </p:nvPr>
        </p:nvGraphicFramePr>
        <p:xfrm>
          <a:off x="3786188" y="5655739"/>
          <a:ext cx="1836586" cy="837113"/>
        </p:xfrm>
        <a:graphic>
          <a:graphicData uri="http://schemas.openxmlformats.org/presentationml/2006/ole">
            <mc:AlternateContent xmlns:mc="http://schemas.openxmlformats.org/markup-compatibility/2006">
              <mc:Choice xmlns:v="urn:schemas-microsoft-com:vml" Requires="v">
                <p:oleObj spid="_x0000_s5173" name="Equation" r:id="rId7" imgW="812520" imgH="368280" progId="Equation.DSMT4">
                  <p:embed/>
                </p:oleObj>
              </mc:Choice>
              <mc:Fallback>
                <p:oleObj name="Equation" r:id="rId7" imgW="812520" imgH="368280" progId="Equation.DSMT4">
                  <p:embed/>
                  <p:pic>
                    <p:nvPicPr>
                      <p:cNvPr id="14" name="对象 13">
                        <a:extLst>
                          <a:ext uri="{FF2B5EF4-FFF2-40B4-BE49-F238E27FC236}">
                            <a16:creationId xmlns:a16="http://schemas.microsoft.com/office/drawing/2014/main" id="{2626266C-BECF-A982-23D8-772BBA46525B}"/>
                          </a:ext>
                        </a:extLst>
                      </p:cNvPr>
                      <p:cNvPicPr>
                        <a:picLocks noChangeAspect="1" noChangeArrowheads="1"/>
                      </p:cNvPicPr>
                      <p:nvPr/>
                    </p:nvPicPr>
                    <p:blipFill>
                      <a:blip r:embed="rId8"/>
                      <a:srcRect/>
                      <a:stretch>
                        <a:fillRect/>
                      </a:stretch>
                    </p:blipFill>
                    <p:spPr bwMode="auto">
                      <a:xfrm>
                        <a:off x="3786188" y="5655739"/>
                        <a:ext cx="1836586" cy="837113"/>
                      </a:xfrm>
                      <a:prstGeom prst="rect">
                        <a:avLst/>
                      </a:prstGeom>
                      <a:noFill/>
                    </p:spPr>
                  </p:pic>
                </p:oleObj>
              </mc:Fallback>
            </mc:AlternateContent>
          </a:graphicData>
        </a:graphic>
      </p:graphicFrame>
    </p:spTree>
    <p:extLst>
      <p:ext uri="{BB962C8B-B14F-4D97-AF65-F5344CB8AC3E}">
        <p14:creationId xmlns:p14="http://schemas.microsoft.com/office/powerpoint/2010/main" val="41666140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17</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13"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聚类分析算法的性能度量</a:t>
            </a: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194C7B8E-BB6A-754C-CBBE-52BFCCF8D64B}"/>
                  </a:ext>
                </a:extLst>
              </p:cNvPr>
              <p:cNvSpPr txBox="1"/>
              <p:nvPr/>
            </p:nvSpPr>
            <p:spPr>
              <a:xfrm>
                <a:off x="160890" y="1390864"/>
                <a:ext cx="8760860" cy="4613892"/>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以上距离度量指标都是基于</a:t>
                </a:r>
                <a:r>
                  <a:rPr kumimoji="0" lang="zh-CN" altLang="en-US"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样本点间的距离</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（相似程度）</a:t>
                </a:r>
                <a14:m>
                  <m:oMath xmlns:m="http://schemas.openxmlformats.org/officeDocument/2006/math">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𝑑𝑖𝑠𝑡</m:t>
                    </m:r>
                    <m:d>
                      <m:dPr>
                        <m:ctrlP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e>
                    </m:d>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进行计算的，在聚类算法中，样本点间</a:t>
                </a:r>
                <a:r>
                  <a:rPr kumimoji="0" lang="zh-CN" altLang="en-US"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相似度</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的度量方式往往是多样化的。</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度量样本之间的相似性最常用的是欧几里得距离、曼哈顿距离和闵可夫斯基距离。假设每个样本包含</a:t>
                </a:r>
                <a14:m>
                  <m:oMath xmlns:m="http://schemas.openxmlformats.org/officeDocument/2006/math">
                    <m:r>
                      <a:rPr lang="en-US" altLang="zh-CN" i="1" dirty="0" smtClean="0">
                        <a:solidFill>
                          <a:srgbClr val="C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𝑑</m:t>
                    </m:r>
                  </m:oMath>
                </a14:m>
                <a:r>
                  <a:rPr kumimoji="0" lang="zh-CN" altLang="en-US"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个维度</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，那么包含</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𝑚</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个样本点的数据集</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𝐷</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可以用如下矩阵表示：</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a:t>
                </a: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）欧几里得距离（</a:t>
                </a:r>
                <a:r>
                  <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Euclidean distance</a:t>
                </a: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4" name="文本框 3">
                <a:extLst>
                  <a:ext uri="{FF2B5EF4-FFF2-40B4-BE49-F238E27FC236}">
                    <a16:creationId xmlns:a16="http://schemas.microsoft.com/office/drawing/2014/main" id="{194C7B8E-BB6A-754C-CBBE-52BFCCF8D64B}"/>
                  </a:ext>
                </a:extLst>
              </p:cNvPr>
              <p:cNvSpPr txBox="1">
                <a:spLocks noRot="1" noChangeAspect="1" noMove="1" noResize="1" noEditPoints="1" noAdjustHandles="1" noChangeArrowheads="1" noChangeShapeType="1" noTextEdit="1"/>
              </p:cNvSpPr>
              <p:nvPr/>
            </p:nvSpPr>
            <p:spPr>
              <a:xfrm>
                <a:off x="160890" y="1390864"/>
                <a:ext cx="8760860" cy="4613892"/>
              </a:xfrm>
              <a:prstGeom prst="rect">
                <a:avLst/>
              </a:prstGeom>
              <a:blipFill>
                <a:blip r:embed="rId4"/>
                <a:stretch>
                  <a:fillRect l="-556" r="-556"/>
                </a:stretch>
              </a:blipFill>
            </p:spPr>
            <p:txBody>
              <a:bodyPr/>
              <a:lstStyle/>
              <a:p>
                <a:r>
                  <a:rPr lang="zh-CN" altLang="en-US">
                    <a:noFill/>
                  </a:rPr>
                  <a:t> </a:t>
                </a:r>
              </a:p>
            </p:txBody>
          </p:sp>
        </mc:Fallback>
      </mc:AlternateContent>
      <p:graphicFrame>
        <p:nvGraphicFramePr>
          <p:cNvPr id="5" name="对象 4">
            <a:extLst>
              <a:ext uri="{FF2B5EF4-FFF2-40B4-BE49-F238E27FC236}">
                <a16:creationId xmlns:a16="http://schemas.microsoft.com/office/drawing/2014/main" id="{6EB9AF4F-DF03-047C-37EA-690EBEF261FA}"/>
              </a:ext>
            </a:extLst>
          </p:cNvPr>
          <p:cNvGraphicFramePr>
            <a:graphicFrameLocks noChangeAspect="1"/>
          </p:cNvGraphicFramePr>
          <p:nvPr>
            <p:extLst>
              <p:ext uri="{D42A27DB-BD31-4B8C-83A1-F6EECF244321}">
                <p14:modId xmlns:p14="http://schemas.microsoft.com/office/powerpoint/2010/main" val="2467452832"/>
              </p:ext>
            </p:extLst>
          </p:nvPr>
        </p:nvGraphicFramePr>
        <p:xfrm>
          <a:off x="3345589" y="3609477"/>
          <a:ext cx="2146826" cy="1523331"/>
        </p:xfrm>
        <a:graphic>
          <a:graphicData uri="http://schemas.openxmlformats.org/presentationml/2006/ole">
            <mc:AlternateContent xmlns:mc="http://schemas.openxmlformats.org/markup-compatibility/2006">
              <mc:Choice xmlns:v="urn:schemas-microsoft-com:vml" Requires="v">
                <p:oleObj spid="_x0000_s6196" name="Equation" r:id="rId5" imgW="850680" imgH="596880" progId="Equation.DSMT4">
                  <p:embed/>
                </p:oleObj>
              </mc:Choice>
              <mc:Fallback>
                <p:oleObj name="Equation" r:id="rId5" imgW="850680" imgH="596880" progId="Equation.DSMT4">
                  <p:embed/>
                  <p:pic>
                    <p:nvPicPr>
                      <p:cNvPr id="0" name="Object 1"/>
                      <p:cNvPicPr>
                        <a:picLocks noChangeAspect="1" noChangeArrowheads="1"/>
                      </p:cNvPicPr>
                      <p:nvPr/>
                    </p:nvPicPr>
                    <p:blipFill>
                      <a:blip r:embed="rId6"/>
                      <a:srcRect/>
                      <a:stretch>
                        <a:fillRect/>
                      </a:stretch>
                    </p:blipFill>
                    <p:spPr bwMode="auto">
                      <a:xfrm>
                        <a:off x="3345589" y="3609477"/>
                        <a:ext cx="2146826" cy="1523331"/>
                      </a:xfrm>
                      <a:prstGeom prst="rect">
                        <a:avLst/>
                      </a:prstGeom>
                      <a:noFill/>
                    </p:spPr>
                  </p:pic>
                </p:oleObj>
              </mc:Fallback>
            </mc:AlternateContent>
          </a:graphicData>
        </a:graphic>
      </p:graphicFrame>
      <p:graphicFrame>
        <p:nvGraphicFramePr>
          <p:cNvPr id="7" name="对象 6">
            <a:extLst>
              <a:ext uri="{FF2B5EF4-FFF2-40B4-BE49-F238E27FC236}">
                <a16:creationId xmlns:a16="http://schemas.microsoft.com/office/drawing/2014/main" id="{26A52963-5027-4897-88B7-76A7030BC198}"/>
              </a:ext>
            </a:extLst>
          </p:cNvPr>
          <p:cNvGraphicFramePr>
            <a:graphicFrameLocks noChangeAspect="1"/>
          </p:cNvGraphicFramePr>
          <p:nvPr>
            <p:extLst>
              <p:ext uri="{D42A27DB-BD31-4B8C-83A1-F6EECF244321}">
                <p14:modId xmlns:p14="http://schemas.microsoft.com/office/powerpoint/2010/main" val="266271236"/>
              </p:ext>
            </p:extLst>
          </p:nvPr>
        </p:nvGraphicFramePr>
        <p:xfrm>
          <a:off x="2826418" y="5652844"/>
          <a:ext cx="3035671" cy="871948"/>
        </p:xfrm>
        <a:graphic>
          <a:graphicData uri="http://schemas.openxmlformats.org/presentationml/2006/ole">
            <mc:AlternateContent xmlns:mc="http://schemas.openxmlformats.org/markup-compatibility/2006">
              <mc:Choice xmlns:v="urn:schemas-microsoft-com:vml" Requires="v">
                <p:oleObj spid="_x0000_s6197" name="Equation" r:id="rId7" imgW="1498600" imgH="419100" progId="Equation.DSMT4">
                  <p:embed/>
                </p:oleObj>
              </mc:Choice>
              <mc:Fallback>
                <p:oleObj name="Equation" r:id="rId7" imgW="1498600" imgH="419100" progId="Equation.DSMT4">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26418" y="5652844"/>
                        <a:ext cx="3035671" cy="871948"/>
                      </a:xfrm>
                      <a:prstGeom prst="rect">
                        <a:avLst/>
                      </a:prstGeom>
                      <a:noFill/>
                    </p:spPr>
                  </p:pic>
                </p:oleObj>
              </mc:Fallback>
            </mc:AlternateContent>
          </a:graphicData>
        </a:graphic>
      </p:graphicFrame>
    </p:spTree>
    <p:extLst>
      <p:ext uri="{BB962C8B-B14F-4D97-AF65-F5344CB8AC3E}">
        <p14:creationId xmlns:p14="http://schemas.microsoft.com/office/powerpoint/2010/main" val="27117815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18</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13"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聚类分析算法的性能度量</a:t>
            </a: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4" name="文本框 3">
            <a:extLst>
              <a:ext uri="{FF2B5EF4-FFF2-40B4-BE49-F238E27FC236}">
                <a16:creationId xmlns:a16="http://schemas.microsoft.com/office/drawing/2014/main" id="{194C7B8E-BB6A-754C-CBBE-52BFCCF8D64B}"/>
              </a:ext>
            </a:extLst>
          </p:cNvPr>
          <p:cNvSpPr txBox="1"/>
          <p:nvPr/>
        </p:nvSpPr>
        <p:spPr>
          <a:xfrm>
            <a:off x="160890" y="1390864"/>
            <a:ext cx="8760860" cy="4613892"/>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2</a:t>
            </a: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）曼哈顿距离（</a:t>
            </a:r>
            <a:r>
              <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Manhattan distance</a:t>
            </a: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右图</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中</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白色表示高楼大厦，灰色表示街道。哪个是欧几里得距离，哪个是曼哈顿距离？</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r>
              <a:rPr lang="zh-CN" altLang="en-US"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3</a:t>
            </a:r>
            <a:r>
              <a:rPr lang="zh-CN" altLang="en-US"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）闵可夫斯基距离（</a:t>
            </a:r>
            <a:r>
              <a:rPr lang="en-US" altLang="zh-CN" b="1"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Minkowski</a:t>
            </a:r>
            <a:r>
              <a:rPr lang="en-US" altLang="zh-CN"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distance</a:t>
            </a:r>
            <a:r>
              <a:rPr lang="zh-CN" altLang="en-US"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r>
              <a:rPr lang="zh-CN" altLang="en-US" b="0" i="0" dirty="0">
                <a:solidFill>
                  <a:srgbClr val="121212"/>
                </a:solidFill>
                <a:effectLst/>
                <a:latin typeface="微软雅黑" panose="020B0503020204020204" pitchFamily="34" charset="-122"/>
                <a:ea typeface="微软雅黑" panose="020B0503020204020204" pitchFamily="34" charset="-122"/>
              </a:rPr>
              <a:t>式中，</a:t>
            </a:r>
            <a:r>
              <a:rPr lang="en-US" altLang="zh-CN" b="0" i="0" dirty="0">
                <a:solidFill>
                  <a:srgbClr val="121212"/>
                </a:solidFill>
                <a:effectLst/>
                <a:latin typeface="微软雅黑" panose="020B0503020204020204" pitchFamily="34" charset="-122"/>
                <a:ea typeface="微软雅黑" panose="020B0503020204020204" pitchFamily="34" charset="-122"/>
              </a:rPr>
              <a:t>p</a:t>
            </a:r>
            <a:r>
              <a:rPr lang="zh-CN" altLang="en-US" b="0" i="0" dirty="0">
                <a:solidFill>
                  <a:srgbClr val="121212"/>
                </a:solidFill>
                <a:effectLst/>
                <a:latin typeface="微软雅黑" panose="020B0503020204020204" pitchFamily="34" charset="-122"/>
                <a:ea typeface="微软雅黑" panose="020B0503020204020204" pitchFamily="34" charset="-122"/>
              </a:rPr>
              <a:t>最常用的取值是 </a:t>
            </a:r>
            <a:r>
              <a:rPr lang="en-US" altLang="zh-CN" b="0" i="0" dirty="0">
                <a:solidFill>
                  <a:srgbClr val="121212"/>
                </a:solidFill>
                <a:effectLst/>
                <a:latin typeface="微软雅黑" panose="020B0503020204020204" pitchFamily="34" charset="-122"/>
                <a:ea typeface="微软雅黑" panose="020B0503020204020204" pitchFamily="34" charset="-122"/>
              </a:rPr>
              <a:t>2 </a:t>
            </a:r>
            <a:r>
              <a:rPr lang="zh-CN" altLang="en-US" b="0" i="0" dirty="0">
                <a:solidFill>
                  <a:srgbClr val="121212"/>
                </a:solidFill>
                <a:effectLst/>
                <a:latin typeface="微软雅黑" panose="020B0503020204020204" pitchFamily="34" charset="-122"/>
                <a:ea typeface="微软雅黑" panose="020B0503020204020204" pitchFamily="34" charset="-122"/>
              </a:rPr>
              <a:t>和 </a:t>
            </a:r>
            <a:r>
              <a:rPr lang="en-US" altLang="zh-CN" b="0" i="0" dirty="0">
                <a:solidFill>
                  <a:srgbClr val="121212"/>
                </a:solidFill>
                <a:effectLst/>
                <a:latin typeface="微软雅黑" panose="020B0503020204020204" pitchFamily="34" charset="-122"/>
                <a:ea typeface="微软雅黑" panose="020B0503020204020204" pitchFamily="34" charset="-122"/>
              </a:rPr>
              <a:t>1, </a:t>
            </a:r>
            <a:r>
              <a:rPr lang="zh-CN" altLang="en-US" b="0" i="0" dirty="0">
                <a:solidFill>
                  <a:srgbClr val="121212"/>
                </a:solidFill>
                <a:effectLst/>
                <a:latin typeface="微软雅黑" panose="020B0503020204020204" pitchFamily="34" charset="-122"/>
                <a:ea typeface="微软雅黑" panose="020B0503020204020204" pitchFamily="34" charset="-122"/>
              </a:rPr>
              <a:t>前者是欧几里得距离，后者是曼哈顿距离。</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graphicFrame>
        <p:nvGraphicFramePr>
          <p:cNvPr id="6" name="对象 5">
            <a:extLst>
              <a:ext uri="{FF2B5EF4-FFF2-40B4-BE49-F238E27FC236}">
                <a16:creationId xmlns:a16="http://schemas.microsoft.com/office/drawing/2014/main" id="{AEACFEE2-0548-2548-48A3-A7D082929538}"/>
              </a:ext>
            </a:extLst>
          </p:cNvPr>
          <p:cNvGraphicFramePr>
            <a:graphicFrameLocks noChangeAspect="1"/>
          </p:cNvGraphicFramePr>
          <p:nvPr>
            <p:extLst>
              <p:ext uri="{D42A27DB-BD31-4B8C-83A1-F6EECF244321}">
                <p14:modId xmlns:p14="http://schemas.microsoft.com/office/powerpoint/2010/main" val="2569553194"/>
              </p:ext>
            </p:extLst>
          </p:nvPr>
        </p:nvGraphicFramePr>
        <p:xfrm>
          <a:off x="2108124" y="2115188"/>
          <a:ext cx="2767558" cy="800100"/>
        </p:xfrm>
        <a:graphic>
          <a:graphicData uri="http://schemas.openxmlformats.org/presentationml/2006/ole">
            <mc:AlternateContent xmlns:mc="http://schemas.openxmlformats.org/markup-compatibility/2006">
              <mc:Choice xmlns:v="urn:schemas-microsoft-com:vml" Requires="v">
                <p:oleObj spid="_x0000_s7220" name="Equation" r:id="rId4" imgW="1358310" imgH="380835" progId="Equation.DSMT4">
                  <p:embed/>
                </p:oleObj>
              </mc:Choice>
              <mc:Fallback>
                <p:oleObj name="Equation" r:id="rId4" imgW="1358310" imgH="380835" progId="Equation.DSMT4">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08124" y="2115188"/>
                        <a:ext cx="2767558" cy="800100"/>
                      </a:xfrm>
                      <a:prstGeom prst="rect">
                        <a:avLst/>
                      </a:prstGeom>
                      <a:noFill/>
                    </p:spPr>
                  </p:pic>
                </p:oleObj>
              </mc:Fallback>
            </mc:AlternateContent>
          </a:graphicData>
        </a:graphic>
      </p:graphicFrame>
      <p:graphicFrame>
        <p:nvGraphicFramePr>
          <p:cNvPr id="10" name="对象 9">
            <a:extLst>
              <a:ext uri="{FF2B5EF4-FFF2-40B4-BE49-F238E27FC236}">
                <a16:creationId xmlns:a16="http://schemas.microsoft.com/office/drawing/2014/main" id="{2E07E897-4BE5-8FFC-564C-1C7F90C614BC}"/>
              </a:ext>
            </a:extLst>
          </p:cNvPr>
          <p:cNvGraphicFramePr>
            <a:graphicFrameLocks noChangeAspect="1"/>
          </p:cNvGraphicFramePr>
          <p:nvPr>
            <p:extLst>
              <p:ext uri="{D42A27DB-BD31-4B8C-83A1-F6EECF244321}">
                <p14:modId xmlns:p14="http://schemas.microsoft.com/office/powerpoint/2010/main" val="3090764546"/>
              </p:ext>
            </p:extLst>
          </p:nvPr>
        </p:nvGraphicFramePr>
        <p:xfrm>
          <a:off x="3004343" y="4342762"/>
          <a:ext cx="3135313" cy="919163"/>
        </p:xfrm>
        <a:graphic>
          <a:graphicData uri="http://schemas.openxmlformats.org/presentationml/2006/ole">
            <mc:AlternateContent xmlns:mc="http://schemas.openxmlformats.org/markup-compatibility/2006">
              <mc:Choice xmlns:v="urn:schemas-microsoft-com:vml" Requires="v">
                <p:oleObj spid="_x0000_s7221" name="Equation" r:id="rId6" imgW="1460160" imgH="419040" progId="Equation.DSMT4">
                  <p:embed/>
                </p:oleObj>
              </mc:Choice>
              <mc:Fallback>
                <p:oleObj name="Equation" r:id="rId6" imgW="1460160" imgH="419040" progId="Equation.DSMT4">
                  <p:embed/>
                  <p:pic>
                    <p:nvPicPr>
                      <p:cNvPr id="0" name="Object 3"/>
                      <p:cNvPicPr>
                        <a:picLocks noChangeAspect="1" noChangeArrowheads="1"/>
                      </p:cNvPicPr>
                      <p:nvPr/>
                    </p:nvPicPr>
                    <p:blipFill>
                      <a:blip r:embed="rId7"/>
                      <a:srcRect/>
                      <a:stretch>
                        <a:fillRect/>
                      </a:stretch>
                    </p:blipFill>
                    <p:spPr bwMode="auto">
                      <a:xfrm>
                        <a:off x="3004343" y="4342762"/>
                        <a:ext cx="3135313" cy="919163"/>
                      </a:xfrm>
                      <a:prstGeom prst="rect">
                        <a:avLst/>
                      </a:prstGeom>
                      <a:noFill/>
                    </p:spPr>
                  </p:pic>
                </p:oleObj>
              </mc:Fallback>
            </mc:AlternateContent>
          </a:graphicData>
        </a:graphic>
      </p:graphicFrame>
      <p:pic>
        <p:nvPicPr>
          <p:cNvPr id="5" name="图片 4">
            <a:extLst>
              <a:ext uri="{FF2B5EF4-FFF2-40B4-BE49-F238E27FC236}">
                <a16:creationId xmlns:a16="http://schemas.microsoft.com/office/drawing/2014/main" id="{DC4A9D90-C42F-0282-8205-DA1169D45D6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199345" y="425415"/>
            <a:ext cx="2723593" cy="2470629"/>
          </a:xfrm>
          <a:prstGeom prst="rect">
            <a:avLst/>
          </a:prstGeom>
        </p:spPr>
      </p:pic>
    </p:spTree>
    <p:extLst>
      <p:ext uri="{BB962C8B-B14F-4D97-AF65-F5344CB8AC3E}">
        <p14:creationId xmlns:p14="http://schemas.microsoft.com/office/powerpoint/2010/main" val="20250770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19</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13"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聚类分析算法的性能度量</a:t>
            </a: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4" name="文本框 3">
            <a:extLst>
              <a:ext uri="{FF2B5EF4-FFF2-40B4-BE49-F238E27FC236}">
                <a16:creationId xmlns:a16="http://schemas.microsoft.com/office/drawing/2014/main" id="{194C7B8E-BB6A-754C-CBBE-52BFCCF8D64B}"/>
              </a:ext>
            </a:extLst>
          </p:cNvPr>
          <p:cNvSpPr txBox="1"/>
          <p:nvPr/>
        </p:nvSpPr>
        <p:spPr>
          <a:xfrm>
            <a:off x="160890" y="1390864"/>
            <a:ext cx="8760860" cy="1884618"/>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请思考，</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）上述三个距离</a:t>
            </a:r>
            <a:r>
              <a:rPr kumimoji="0" lang="zh-CN" altLang="en-US" sz="20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度量指标</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有什么缺陷，如何进行改进？</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2</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）在交通问题的实际应用中，计算两个交通小区在空间位置上的相似程度，什么距离度量方式最为合理呢？</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pic>
        <p:nvPicPr>
          <p:cNvPr id="3" name="图片 2">
            <a:extLst>
              <a:ext uri="{FF2B5EF4-FFF2-40B4-BE49-F238E27FC236}">
                <a16:creationId xmlns:a16="http://schemas.microsoft.com/office/drawing/2014/main" id="{F27154C1-C758-3628-961D-F63727168D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2010" y="3674137"/>
            <a:ext cx="2858326" cy="2592848"/>
          </a:xfrm>
          <a:prstGeom prst="rect">
            <a:avLst/>
          </a:prstGeom>
        </p:spPr>
      </p:pic>
    </p:spTree>
    <p:extLst>
      <p:ext uri="{BB962C8B-B14F-4D97-AF65-F5344CB8AC3E}">
        <p14:creationId xmlns:p14="http://schemas.microsoft.com/office/powerpoint/2010/main" val="34738981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20</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13" name="标题 1">
            <a:extLst>
              <a:ext uri="{FF2B5EF4-FFF2-40B4-BE49-F238E27FC236}">
                <a16:creationId xmlns:a16="http://schemas.microsoft.com/office/drawing/2014/main" id="{5607F18F-699A-4F7F-A2ED-BD80B7B267C8}"/>
              </a:ext>
            </a:extLst>
          </p:cNvPr>
          <p:cNvSpPr>
            <a:spLocks noGrp="1"/>
          </p:cNvSpPr>
          <p:nvPr>
            <p:ph type="title"/>
          </p:nvPr>
        </p:nvSpPr>
        <p:spPr>
          <a:xfrm>
            <a:off x="457200" y="462280"/>
            <a:ext cx="8229600" cy="990600"/>
          </a:xfrm>
        </p:spPr>
        <p:txBody>
          <a:bodyPr/>
          <a:lstStyle/>
          <a:p>
            <a:r>
              <a:rPr lang="en-US" altLang="zh-CN" sz="3200" dirty="0">
                <a:latin typeface="微软雅黑" panose="020B0503020204020204" pitchFamily="34" charset="-122"/>
                <a:ea typeface="微软雅黑" panose="020B0503020204020204" pitchFamily="34" charset="-122"/>
                <a:cs typeface="Times New Roman" panose="02020603050405020304" pitchFamily="18" charset="0"/>
              </a:rPr>
              <a:t>2 K-</a:t>
            </a:r>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均值聚类（</a:t>
            </a:r>
            <a:r>
              <a:rPr lang="en-US" altLang="zh-CN" sz="3200" dirty="0">
                <a:latin typeface="微软雅黑" panose="020B0503020204020204" pitchFamily="34" charset="-122"/>
                <a:ea typeface="微软雅黑" panose="020B0503020204020204" pitchFamily="34" charset="-122"/>
                <a:cs typeface="Times New Roman" panose="02020603050405020304" pitchFamily="18" charset="0"/>
              </a:rPr>
              <a:t>K-means clustering</a:t>
            </a:r>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a:t>
            </a:r>
          </a:p>
        </p:txBody>
      </p:sp>
      <p:sp>
        <p:nvSpPr>
          <p:cNvPr id="14" name="内容占位符 2">
            <a:extLst>
              <a:ext uri="{FF2B5EF4-FFF2-40B4-BE49-F238E27FC236}">
                <a16:creationId xmlns:a16="http://schemas.microsoft.com/office/drawing/2014/main" id="{D53E8302-9586-421A-84F3-019752B5E77E}"/>
              </a:ext>
            </a:extLst>
          </p:cNvPr>
          <p:cNvSpPr>
            <a:spLocks noGrp="1"/>
          </p:cNvSpPr>
          <p:nvPr>
            <p:ph idx="1"/>
          </p:nvPr>
        </p:nvSpPr>
        <p:spPr>
          <a:xfrm>
            <a:off x="457200" y="1816371"/>
            <a:ext cx="8299050" cy="4942842"/>
          </a:xfrm>
        </p:spPr>
        <p:txBody>
          <a:bodyPr/>
          <a:lstStyle/>
          <a:p>
            <a:r>
              <a:rPr lang="zh-CN" altLang="en-US"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目标函数与算法流程</a:t>
            </a: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a:buNone/>
            </a:pP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r>
              <a:rPr lang="zh-CN" altLang="en-US"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算法变体：</a:t>
            </a:r>
            <a:r>
              <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K-Medoids</a:t>
            </a:r>
          </a:p>
          <a:p>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r>
              <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K-</a:t>
            </a:r>
            <a:r>
              <a:rPr lang="zh-CN" altLang="en-US"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均值算法实例应用</a:t>
            </a: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页脚占位符 2">
            <a:extLst>
              <a:ext uri="{FF2B5EF4-FFF2-40B4-BE49-F238E27FC236}">
                <a16:creationId xmlns:a16="http://schemas.microsoft.com/office/drawing/2014/main" id="{D587D2AD-241A-41DE-BAC5-9CF913617622}"/>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9601057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21</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13"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目标函数与算法流程</a:t>
            </a: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194C7B8E-BB6A-754C-CBBE-52BFCCF8D64B}"/>
                  </a:ext>
                </a:extLst>
              </p:cNvPr>
              <p:cNvSpPr txBox="1"/>
              <p:nvPr/>
            </p:nvSpPr>
            <p:spPr>
              <a:xfrm>
                <a:off x="160890" y="1379504"/>
                <a:ext cx="8760860" cy="4654608"/>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K-</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均值聚类算法</a:t>
                </a:r>
                <a:r>
                  <a:rPr kumimoji="0"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在最小化误差函数的基础上，将数据划分为预定的簇数</a:t>
                </a:r>
                <a14:m>
                  <m:oMath xmlns:m="http://schemas.openxmlformats.org/officeDocument/2006/math">
                    <m:r>
                      <a:rPr kumimoji="0" lang="en-US" altLang="zh-CN" sz="2000" b="1" i="1" u="none" strike="noStrike" kern="1200" cap="none" spc="0" normalizeH="0" baseline="0" noProof="0" dirty="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𝒌</m:t>
                    </m:r>
                  </m:oMath>
                </a14:m>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K-</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均值聚类算法采用距离作为相似程度的判断指标，认为</a:t>
                </a:r>
                <a:r>
                  <a:rPr kumimoji="0" lang="zh-CN" altLang="en-US" sz="20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两个对象的距离越近，其相似度越大</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K-</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均值聚类算法的核心思想是对于给定数据集</a:t>
                </a:r>
                <a14:m>
                  <m:oMath xmlns:m="http://schemas.openxmlformats.org/officeDocument/2006/math">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𝐷</m:t>
                    </m:r>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d>
                      <m:dPr>
                        <m:begChr m:val="{"/>
                        <m:endChr m:val="}"/>
                        <m:ctrlP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20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20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𝑛</m:t>
                            </m:r>
                          </m:sub>
                        </m:sSub>
                      </m:e>
                    </m:d>
                  </m:oMath>
                </a14:m>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，针对聚类所得簇划分</a:t>
                </a:r>
                <a14:m>
                  <m:oMath xmlns:m="http://schemas.openxmlformats.org/officeDocument/2006/math">
                    <m:d>
                      <m:dPr>
                        <m:begChr m:val="{"/>
                        <m:endChr m:val="}"/>
                        <m:ctrlP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𝐸</m:t>
                            </m:r>
                          </m:e>
                          <m:sub>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𝑙</m:t>
                            </m:r>
                          </m:sub>
                        </m:sSub>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𝑙</m:t>
                        </m:r>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r>
                          <a:rPr lang="en-US" altLang="zh-CN" sz="20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𝐾</m:t>
                        </m:r>
                      </m:e>
                    </m:d>
                  </m:oMath>
                </a14:m>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最小化误差的平方和（</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SSE</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zh-CN" altLang="en-US" sz="2000" noProof="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计算方式如下：</a:t>
                </a:r>
                <a:endParaRPr lang="en-US" altLang="zh-CN" sz="2000" noProof="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endParaRPr lang="en-US" altLang="zh-CN" sz="2000" noProof="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endParaRPr lang="en-US" altLang="zh-CN" sz="2000" noProof="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r>
                  <a:rPr lang="zh-CN" altLang="en-US" sz="2000" noProof="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其中，</a:t>
                </a:r>
                <a14:m>
                  <m:oMath xmlns:m="http://schemas.openxmlformats.org/officeDocument/2006/math">
                    <m:r>
                      <a:rPr lang="en-US" altLang="zh-CN" sz="2000" b="0" i="1" noProof="0"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𝐾</m:t>
                    </m:r>
                  </m:oMath>
                </a14:m>
                <a:r>
                  <a:rPr lang="zh-CN" altLang="en-US" sz="2000" noProof="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为聚类簇的个数</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0000"/>
                    </a:solidFill>
                    <a:ea typeface="微软雅黑" panose="020B0503020204020204" pitchFamily="34" charset="-122"/>
                    <a:cs typeface="Times New Roman" panose="02020603050405020304" pitchFamily="18" charset="0"/>
                    <a:sym typeface="Arial" panose="020B0604020202020204" pitchFamily="34" charset="0"/>
                  </a:rPr>
                  <a:t> </a:t>
                </a:r>
                <a14:m>
                  <m:oMath xmlns:m="http://schemas.openxmlformats.org/officeDocument/2006/math">
                    <m:sSub>
                      <m:sSubPr>
                        <m:ctrlP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𝐸</m:t>
                        </m:r>
                      </m:e>
                      <m:sub>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𝑙</m:t>
                        </m:r>
                      </m:sub>
                    </m:sSub>
                  </m:oMath>
                </a14:m>
                <a:r>
                  <a:rPr lang="en-US" altLang="zh-CN" sz="2000" noProof="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a:t>
                </a:r>
                <a:r>
                  <a:rPr lang="zh-CN" altLang="en-US" sz="2000" noProof="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为第</a:t>
                </a:r>
                <a14:m>
                  <m:oMath xmlns:m="http://schemas.openxmlformats.org/officeDocument/2006/math">
                    <m:r>
                      <a:rPr lang="en-US" altLang="zh-CN" sz="2000" i="1" noProof="0"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𝑙</m:t>
                    </m:r>
                  </m:oMath>
                </a14:m>
                <a:r>
                  <a:rPr lang="zh-CN" altLang="en-US" sz="2000" noProof="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个簇，</a:t>
                </a:r>
                <a14:m>
                  <m:oMath xmlns:m="http://schemas.openxmlformats.org/officeDocument/2006/math">
                    <m:sSub>
                      <m:sSubPr>
                        <m:ctrlPr>
                          <a:rPr lang="en-US" altLang="zh-CN" sz="2000" i="1" noProof="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sz="2000" b="1" i="1" noProof="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𝝁</m:t>
                        </m:r>
                      </m:e>
                      <m:sub>
                        <m:r>
                          <a:rPr lang="en-US" altLang="zh-CN" sz="2000" b="0" i="1" noProof="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𝑙</m:t>
                        </m:r>
                      </m:sub>
                    </m:sSub>
                  </m:oMath>
                </a14:m>
                <a:r>
                  <a:rPr lang="zh-CN" altLang="en-US" sz="2000" noProof="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为簇</a:t>
                </a:r>
                <a14:m>
                  <m:oMath xmlns:m="http://schemas.openxmlformats.org/officeDocument/2006/math">
                    <m:sSub>
                      <m:sSubPr>
                        <m:ctrlP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𝐸</m:t>
                        </m:r>
                      </m:e>
                      <m:sub>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𝑙</m:t>
                        </m:r>
                      </m:sub>
                    </m:sSub>
                  </m:oMath>
                </a14:m>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的聚类中心</a:t>
                </a:r>
                <a:endParaRPr lang="en-US" altLang="zh-CN" sz="2000" noProof="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4" name="文本框 3">
                <a:extLst>
                  <a:ext uri="{FF2B5EF4-FFF2-40B4-BE49-F238E27FC236}">
                    <a16:creationId xmlns:a16="http://schemas.microsoft.com/office/drawing/2014/main" id="{194C7B8E-BB6A-754C-CBBE-52BFCCF8D64B}"/>
                  </a:ext>
                </a:extLst>
              </p:cNvPr>
              <p:cNvSpPr txBox="1">
                <a:spLocks noRot="1" noChangeAspect="1" noMove="1" noResize="1" noEditPoints="1" noAdjustHandles="1" noChangeArrowheads="1" noChangeShapeType="1" noTextEdit="1"/>
              </p:cNvSpPr>
              <p:nvPr/>
            </p:nvSpPr>
            <p:spPr>
              <a:xfrm>
                <a:off x="160890" y="1379504"/>
                <a:ext cx="8760860" cy="4654608"/>
              </a:xfrm>
              <a:prstGeom prst="rect">
                <a:avLst/>
              </a:prstGeom>
              <a:blipFill>
                <a:blip r:embed="rId4"/>
                <a:stretch>
                  <a:fillRect l="-695" r="-3547"/>
                </a:stretch>
              </a:blipFill>
            </p:spPr>
            <p:txBody>
              <a:bodyPr/>
              <a:lstStyle/>
              <a:p>
                <a:r>
                  <a:rPr lang="zh-CN" altLang="en-US">
                    <a:noFill/>
                  </a:rPr>
                  <a:t> </a:t>
                </a:r>
              </a:p>
            </p:txBody>
          </p:sp>
        </mc:Fallback>
      </mc:AlternateContent>
      <p:graphicFrame>
        <p:nvGraphicFramePr>
          <p:cNvPr id="5" name="对象 4">
            <a:extLst>
              <a:ext uri="{FF2B5EF4-FFF2-40B4-BE49-F238E27FC236}">
                <a16:creationId xmlns:a16="http://schemas.microsoft.com/office/drawing/2014/main" id="{FAEEA81B-8A85-8F69-9C54-7BAA1F004DE7}"/>
              </a:ext>
            </a:extLst>
          </p:cNvPr>
          <p:cNvGraphicFramePr>
            <a:graphicFrameLocks noChangeAspect="1"/>
          </p:cNvGraphicFramePr>
          <p:nvPr>
            <p:extLst>
              <p:ext uri="{D42A27DB-BD31-4B8C-83A1-F6EECF244321}">
                <p14:modId xmlns:p14="http://schemas.microsoft.com/office/powerpoint/2010/main" val="1339407105"/>
              </p:ext>
            </p:extLst>
          </p:nvPr>
        </p:nvGraphicFramePr>
        <p:xfrm>
          <a:off x="3157538" y="4222750"/>
          <a:ext cx="2827337" cy="858838"/>
        </p:xfrm>
        <a:graphic>
          <a:graphicData uri="http://schemas.openxmlformats.org/presentationml/2006/ole">
            <mc:AlternateContent xmlns:mc="http://schemas.openxmlformats.org/markup-compatibility/2006">
              <mc:Choice xmlns:v="urn:schemas-microsoft-com:vml" Requires="v">
                <p:oleObj spid="_x0000_s8219" name="Equation" r:id="rId5" imgW="1307880" imgH="393480" progId="Equation.DSMT4">
                  <p:embed/>
                </p:oleObj>
              </mc:Choice>
              <mc:Fallback>
                <p:oleObj name="Equation" r:id="rId5" imgW="1307880" imgH="393480" progId="Equation.DSMT4">
                  <p:embed/>
                  <p:pic>
                    <p:nvPicPr>
                      <p:cNvPr id="0" name="Object 1"/>
                      <p:cNvPicPr>
                        <a:picLocks noChangeAspect="1" noChangeArrowheads="1"/>
                      </p:cNvPicPr>
                      <p:nvPr/>
                    </p:nvPicPr>
                    <p:blipFill>
                      <a:blip r:embed="rId6"/>
                      <a:srcRect/>
                      <a:stretch>
                        <a:fillRect/>
                      </a:stretch>
                    </p:blipFill>
                    <p:spPr bwMode="auto">
                      <a:xfrm>
                        <a:off x="3157538" y="4222750"/>
                        <a:ext cx="2827337" cy="858838"/>
                      </a:xfrm>
                      <a:prstGeom prst="rect">
                        <a:avLst/>
                      </a:prstGeom>
                      <a:noFill/>
                    </p:spPr>
                  </p:pic>
                </p:oleObj>
              </mc:Fallback>
            </mc:AlternateContent>
          </a:graphicData>
        </a:graphic>
      </p:graphicFrame>
    </p:spTree>
    <p:extLst>
      <p:ext uri="{BB962C8B-B14F-4D97-AF65-F5344CB8AC3E}">
        <p14:creationId xmlns:p14="http://schemas.microsoft.com/office/powerpoint/2010/main" val="36812614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13"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目标函数与算法流程</a:t>
            </a: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6" name="文本框 5">
            <a:extLst>
              <a:ext uri="{FF2B5EF4-FFF2-40B4-BE49-F238E27FC236}">
                <a16:creationId xmlns:a16="http://schemas.microsoft.com/office/drawing/2014/main" id="{EDDF7C69-04EF-CCC0-D69F-966BC68461F2}"/>
              </a:ext>
            </a:extLst>
          </p:cNvPr>
          <p:cNvSpPr txBox="1"/>
          <p:nvPr/>
        </p:nvSpPr>
        <p:spPr>
          <a:xfrm>
            <a:off x="298450" y="1233856"/>
            <a:ext cx="8682990" cy="961289"/>
          </a:xfrm>
          <a:prstGeom prst="rect">
            <a:avLst/>
          </a:prstGeom>
          <a:noFill/>
        </p:spPr>
        <p:txBody>
          <a:bodyPr wrap="square">
            <a:spAutoFit/>
          </a:bodyPr>
          <a:lstStyle/>
          <a:p>
            <a:pPr>
              <a:lnSpc>
                <a:spcPct val="150000"/>
              </a:lnSpc>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K-</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均值聚类算法的主要过程如下：</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mc:AlternateContent xmlns:mc="http://schemas.openxmlformats.org/markup-compatibility/2006">
        <mc:Choice xmlns:a14="http://schemas.microsoft.com/office/drawing/2010/main" Requires="a14">
          <p:graphicFrame>
            <p:nvGraphicFramePr>
              <p:cNvPr id="7" name="表格 8">
                <a:extLst>
                  <a:ext uri="{FF2B5EF4-FFF2-40B4-BE49-F238E27FC236}">
                    <a16:creationId xmlns:a16="http://schemas.microsoft.com/office/drawing/2014/main" id="{ABD008A9-3D2F-050E-C051-F6A0665EF56D}"/>
                  </a:ext>
                </a:extLst>
              </p:cNvPr>
              <p:cNvGraphicFramePr>
                <a:graphicFrameLocks noGrp="1"/>
              </p:cNvGraphicFramePr>
              <p:nvPr>
                <p:extLst>
                  <p:ext uri="{D42A27DB-BD31-4B8C-83A1-F6EECF244321}">
                    <p14:modId xmlns:p14="http://schemas.microsoft.com/office/powerpoint/2010/main" val="3507377149"/>
                  </p:ext>
                </p:extLst>
              </p:nvPr>
            </p:nvGraphicFramePr>
            <p:xfrm>
              <a:off x="394101" y="1992446"/>
              <a:ext cx="8159750" cy="3920490"/>
            </p:xfrm>
            <a:graphic>
              <a:graphicData uri="http://schemas.openxmlformats.org/drawingml/2006/table">
                <a:tbl>
                  <a:tblPr firstRow="1">
                    <a:tableStyleId>{9D7B26C5-4107-4FEC-AEDC-1716B250A1EF}</a:tableStyleId>
                  </a:tblPr>
                  <a:tblGrid>
                    <a:gridCol w="1454150">
                      <a:extLst>
                        <a:ext uri="{9D8B030D-6E8A-4147-A177-3AD203B41FA5}">
                          <a16:colId xmlns:a16="http://schemas.microsoft.com/office/drawing/2014/main" val="3710864334"/>
                        </a:ext>
                      </a:extLst>
                    </a:gridCol>
                    <a:gridCol w="6705600">
                      <a:extLst>
                        <a:ext uri="{9D8B030D-6E8A-4147-A177-3AD203B41FA5}">
                          <a16:colId xmlns:a16="http://schemas.microsoft.com/office/drawing/2014/main" val="1358374503"/>
                        </a:ext>
                      </a:extLst>
                    </a:gridCol>
                  </a:tblGrid>
                  <a:tr h="605790">
                    <a:tc gridSpan="2">
                      <a:txBody>
                        <a:bodyPr/>
                        <a:lstStyle/>
                        <a:p>
                          <a:r>
                            <a:rPr lang="en-US" altLang="zh-CN" sz="2000" dirty="0">
                              <a:latin typeface="微软雅黑" panose="020B0503020204020204" pitchFamily="34" charset="-122"/>
                              <a:ea typeface="微软雅黑" panose="020B0503020204020204" pitchFamily="34" charset="-122"/>
                            </a:rPr>
                            <a:t>K</a:t>
                          </a:r>
                          <a:r>
                            <a:rPr lang="zh-CN" altLang="en-US" sz="2000" dirty="0">
                              <a:latin typeface="微软雅黑" panose="020B0503020204020204" pitchFamily="34" charset="-122"/>
                              <a:ea typeface="微软雅黑" panose="020B0503020204020204" pitchFamily="34" charset="-122"/>
                            </a:rPr>
                            <a:t>均值聚类算法流程</a:t>
                          </a:r>
                        </a:p>
                      </a:txBody>
                      <a:tcPr anchor="ctr"/>
                    </a:tc>
                    <a:tc hMerge="1">
                      <a:txBody>
                        <a:bodyPr/>
                        <a:lstStyle/>
                        <a:p>
                          <a:endParaRPr lang="zh-CN" altLang="en-US" dirty="0"/>
                        </a:p>
                      </a:txBody>
                      <a:tcPr anchor="ctr"/>
                    </a:tc>
                    <a:extLst>
                      <a:ext uri="{0D108BD9-81ED-4DB2-BD59-A6C34878D82A}">
                        <a16:rowId xmlns:a16="http://schemas.microsoft.com/office/drawing/2014/main" val="1145325910"/>
                      </a:ext>
                    </a:extLst>
                  </a:tr>
                  <a:tr h="605790">
                    <a:tc>
                      <a:txBody>
                        <a:bodyPr/>
                        <a:lstStyle/>
                        <a:p>
                          <a:r>
                            <a:rPr lang="zh-CN" altLang="en-US" sz="2000" b="1" dirty="0">
                              <a:latin typeface="微软雅黑" panose="020B0503020204020204" pitchFamily="34" charset="-122"/>
                              <a:ea typeface="微软雅黑" panose="020B0503020204020204" pitchFamily="34" charset="-122"/>
                            </a:rPr>
                            <a:t>步骤一</a:t>
                          </a:r>
                        </a:p>
                      </a:txBody>
                      <a:tcPr anchor="ctr"/>
                    </a:tc>
                    <a:tc>
                      <a:txBody>
                        <a:bodyPr/>
                        <a:lstStyle/>
                        <a:p>
                          <a:pPr marL="0" marR="0" lvl="0" indent="0" algn="l" defTabSz="914400" eaLnBrk="1" fontAlgn="base" latinLnBrk="0" hangingPunct="1">
                            <a:lnSpc>
                              <a:spcPct val="100000"/>
                            </a:lnSpc>
                            <a:spcBef>
                              <a:spcPct val="0"/>
                            </a:spcBef>
                            <a:spcAft>
                              <a:spcPct val="0"/>
                            </a:spcAft>
                            <a:buClrTx/>
                            <a:buSzTx/>
                            <a:buFont typeface="Arial" pitchFamily="34" charset="0"/>
                            <a:buNone/>
                            <a:tabLst/>
                            <a:defRPr/>
                          </a:pPr>
                          <a:r>
                            <a:rPr lang="zh-CN" altLang="en-US" sz="2000" dirty="0">
                              <a:latin typeface="微软雅黑" panose="020B0503020204020204" pitchFamily="34" charset="-122"/>
                              <a:ea typeface="微软雅黑" panose="020B0503020204020204" pitchFamily="34" charset="-122"/>
                            </a:rPr>
                            <a:t>从</a:t>
                          </a:r>
                          <a14:m>
                            <m:oMath xmlns:m="http://schemas.openxmlformats.org/officeDocument/2006/math">
                              <m:r>
                                <a:rPr lang="en-US" altLang="zh-CN" sz="2000" dirty="0" smtClean="0">
                                  <a:latin typeface="Cambria Math" panose="02040503050406030204" pitchFamily="18" charset="0"/>
                                </a:rPr>
                                <m:t>𝑛</m:t>
                              </m:r>
                            </m:oMath>
                          </a14:m>
                          <a:r>
                            <a:rPr lang="zh-CN" altLang="en-US" sz="2000" dirty="0">
                              <a:latin typeface="微软雅黑" panose="020B0503020204020204" pitchFamily="34" charset="-122"/>
                              <a:ea typeface="微软雅黑" panose="020B0503020204020204" pitchFamily="34" charset="-122"/>
                            </a:rPr>
                            <a:t>个样本数据中</a:t>
                          </a:r>
                          <a:r>
                            <a:rPr lang="zh-CN" altLang="en-US" sz="2000" dirty="0">
                              <a:solidFill>
                                <a:srgbClr val="C00000"/>
                              </a:solidFill>
                              <a:latin typeface="微软雅黑" panose="020B0503020204020204" pitchFamily="34" charset="-122"/>
                              <a:ea typeface="微软雅黑" panose="020B0503020204020204" pitchFamily="34" charset="-122"/>
                            </a:rPr>
                            <a:t>随机选取</a:t>
                          </a:r>
                          <a14:m>
                            <m:oMath xmlns:m="http://schemas.openxmlformats.org/officeDocument/2006/math">
                              <m:r>
                                <a:rPr lang="en-US" altLang="zh-CN" sz="2000" b="0" i="1" smtClean="0">
                                  <a:solidFill>
                                    <a:srgbClr val="C00000"/>
                                  </a:solidFill>
                                  <a:latin typeface="Cambria Math" panose="02040503050406030204" pitchFamily="18" charset="0"/>
                                  <a:ea typeface="微软雅黑" panose="020B0503020204020204" pitchFamily="34" charset="-122"/>
                                </a:rPr>
                                <m:t>𝑘</m:t>
                              </m:r>
                            </m:oMath>
                          </a14:m>
                          <a:r>
                            <a:rPr lang="zh-CN" altLang="en-US" sz="2000" dirty="0">
                              <a:latin typeface="微软雅黑" panose="020B0503020204020204" pitchFamily="34" charset="-122"/>
                              <a:ea typeface="微软雅黑" panose="020B0503020204020204" pitchFamily="34" charset="-122"/>
                            </a:rPr>
                            <a:t>个对象作为初始的聚类中心</a:t>
                          </a:r>
                        </a:p>
                        <a:p>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999161553"/>
                      </a:ext>
                    </a:extLst>
                  </a:tr>
                  <a:tr h="605790">
                    <a:tc>
                      <a:txBody>
                        <a:bodyPr/>
                        <a:lstStyle/>
                        <a:p>
                          <a:r>
                            <a:rPr lang="zh-CN" altLang="en-US" sz="2000" b="1" dirty="0">
                              <a:latin typeface="微软雅黑" panose="020B0503020204020204" pitchFamily="34" charset="-122"/>
                              <a:ea typeface="微软雅黑" panose="020B0503020204020204" pitchFamily="34" charset="-122"/>
                            </a:rPr>
                            <a:t>步骤二</a:t>
                          </a:r>
                        </a:p>
                      </a:txBody>
                      <a:tcPr anchor="ctr"/>
                    </a:tc>
                    <a:tc>
                      <a:txBody>
                        <a:bodyPr/>
                        <a:lstStyle/>
                        <a:p>
                          <a:r>
                            <a:rPr lang="zh-CN" altLang="en-US" sz="2000" dirty="0">
                              <a:latin typeface="微软雅黑" panose="020B0503020204020204" pitchFamily="34" charset="-122"/>
                              <a:ea typeface="微软雅黑" panose="020B0503020204020204" pitchFamily="34" charset="-122"/>
                            </a:rPr>
                            <a:t>分别计算每个样本到各个聚类中心的距离，将对象分配到距离最近的簇中；</a:t>
                          </a:r>
                        </a:p>
                      </a:txBody>
                      <a:tcPr anchor="ctr"/>
                    </a:tc>
                    <a:extLst>
                      <a:ext uri="{0D108BD9-81ED-4DB2-BD59-A6C34878D82A}">
                        <a16:rowId xmlns:a16="http://schemas.microsoft.com/office/drawing/2014/main" val="1263208478"/>
                      </a:ext>
                    </a:extLst>
                  </a:tr>
                  <a:tr h="605790">
                    <a:tc>
                      <a:txBody>
                        <a:bodyPr/>
                        <a:lstStyle/>
                        <a:p>
                          <a:r>
                            <a:rPr lang="zh-CN" altLang="en-US" sz="2000" b="1" dirty="0">
                              <a:latin typeface="微软雅黑" panose="020B0503020204020204" pitchFamily="34" charset="-122"/>
                              <a:ea typeface="微软雅黑" panose="020B0503020204020204" pitchFamily="34" charset="-122"/>
                            </a:rPr>
                            <a:t>步骤三</a:t>
                          </a:r>
                        </a:p>
                      </a:txBody>
                      <a:tcPr anchor="ctr"/>
                    </a:tc>
                    <a:tc>
                      <a:txBody>
                        <a:bodyPr/>
                        <a:lstStyle/>
                        <a:p>
                          <a:r>
                            <a:rPr lang="zh-CN" altLang="en-US" sz="2000" dirty="0">
                              <a:latin typeface="微软雅黑" panose="020B0503020204020204" pitchFamily="34" charset="-122"/>
                              <a:ea typeface="微软雅黑" panose="020B0503020204020204" pitchFamily="34" charset="-122"/>
                            </a:rPr>
                            <a:t>所有对象分配完成后，重新计算</a:t>
                          </a:r>
                          <a14:m>
                            <m:oMath xmlns:m="http://schemas.openxmlformats.org/officeDocument/2006/math">
                              <m:r>
                                <a:rPr lang="en-US" altLang="zh-CN" sz="2000" dirty="0" smtClean="0">
                                  <a:latin typeface="Cambria Math" panose="02040503050406030204" pitchFamily="18" charset="0"/>
                                </a:rPr>
                                <m:t>𝑘</m:t>
                              </m:r>
                            </m:oMath>
                          </a14:m>
                          <a:r>
                            <a:rPr lang="zh-CN" altLang="en-US" sz="2000" dirty="0">
                              <a:latin typeface="微软雅黑" panose="020B0503020204020204" pitchFamily="34" charset="-122"/>
                              <a:ea typeface="微软雅黑" panose="020B0503020204020204" pitchFamily="34" charset="-122"/>
                            </a:rPr>
                            <a:t>个簇的中心；</a:t>
                          </a:r>
                        </a:p>
                      </a:txBody>
                      <a:tcPr anchor="ctr"/>
                    </a:tc>
                    <a:extLst>
                      <a:ext uri="{0D108BD9-81ED-4DB2-BD59-A6C34878D82A}">
                        <a16:rowId xmlns:a16="http://schemas.microsoft.com/office/drawing/2014/main" val="940137260"/>
                      </a:ext>
                    </a:extLst>
                  </a:tr>
                  <a:tr h="605790">
                    <a:tc>
                      <a:txBody>
                        <a:bodyPr/>
                        <a:lstStyle/>
                        <a:p>
                          <a:r>
                            <a:rPr lang="zh-CN" altLang="en-US" sz="2000" b="1" dirty="0">
                              <a:latin typeface="微软雅黑" panose="020B0503020204020204" pitchFamily="34" charset="-122"/>
                              <a:ea typeface="微软雅黑" panose="020B0503020204020204" pitchFamily="34" charset="-122"/>
                            </a:rPr>
                            <a:t>步骤四</a:t>
                          </a:r>
                        </a:p>
                      </a:txBody>
                      <a:tcPr anchor="ctr"/>
                    </a:tc>
                    <a:tc>
                      <a:txBody>
                        <a:bodyPr/>
                        <a:lstStyle/>
                        <a:p>
                          <a:r>
                            <a:rPr lang="zh-CN" altLang="en-US" sz="2000" dirty="0">
                              <a:latin typeface="微软雅黑" panose="020B0503020204020204" pitchFamily="34" charset="-122"/>
                              <a:ea typeface="微软雅黑" panose="020B0503020204020204" pitchFamily="34" charset="-122"/>
                            </a:rPr>
                            <a:t>与前一次计算得到的</a:t>
                          </a:r>
                          <a14:m>
                            <m:oMath xmlns:m="http://schemas.openxmlformats.org/officeDocument/2006/math">
                              <m:r>
                                <a:rPr lang="en-US" altLang="zh-CN" sz="2000" dirty="0" smtClean="0">
                                  <a:latin typeface="Cambria Math" panose="02040503050406030204" pitchFamily="18" charset="0"/>
                                </a:rPr>
                                <m:t>𝑘</m:t>
                              </m:r>
                            </m:oMath>
                          </a14:m>
                          <a:r>
                            <a:rPr lang="zh-CN" altLang="en-US" sz="2000" dirty="0">
                              <a:latin typeface="微软雅黑" panose="020B0503020204020204" pitchFamily="34" charset="-122"/>
                              <a:ea typeface="微软雅黑" panose="020B0503020204020204" pitchFamily="34" charset="-122"/>
                            </a:rPr>
                            <a:t>个簇的中心比较，如果任何一个簇的聚类中心发生变化，转至</a:t>
                          </a:r>
                          <a:r>
                            <a:rPr lang="zh-CN" altLang="en-US" sz="2000" b="1" dirty="0">
                              <a:latin typeface="微软雅黑" panose="020B0503020204020204" pitchFamily="34" charset="-122"/>
                              <a:ea typeface="微软雅黑" panose="020B0503020204020204" pitchFamily="34" charset="-122"/>
                            </a:rPr>
                            <a:t>步骤二</a:t>
                          </a:r>
                          <a:r>
                            <a:rPr lang="zh-CN" altLang="en-US" sz="2000" dirty="0">
                              <a:latin typeface="微软雅黑" panose="020B0503020204020204" pitchFamily="34" charset="-122"/>
                              <a:ea typeface="微软雅黑" panose="020B0503020204020204" pitchFamily="34" charset="-122"/>
                            </a:rPr>
                            <a:t>，否则转至</a:t>
                          </a:r>
                          <a:r>
                            <a:rPr lang="zh-CN" altLang="en-US" sz="2000" b="1" dirty="0">
                              <a:latin typeface="微软雅黑" panose="020B0503020204020204" pitchFamily="34" charset="-122"/>
                              <a:ea typeface="微软雅黑" panose="020B0503020204020204" pitchFamily="34" charset="-122"/>
                            </a:rPr>
                            <a:t>步骤五</a:t>
                          </a:r>
                        </a:p>
                      </a:txBody>
                      <a:tcPr anchor="ctr"/>
                    </a:tc>
                    <a:extLst>
                      <a:ext uri="{0D108BD9-81ED-4DB2-BD59-A6C34878D82A}">
                        <a16:rowId xmlns:a16="http://schemas.microsoft.com/office/drawing/2014/main" val="4076822986"/>
                      </a:ext>
                    </a:extLst>
                  </a:tr>
                  <a:tr h="605790">
                    <a:tc>
                      <a:txBody>
                        <a:bodyPr/>
                        <a:lstStyle/>
                        <a:p>
                          <a:r>
                            <a:rPr lang="zh-CN" altLang="en-US" sz="2000" b="1" dirty="0">
                              <a:latin typeface="微软雅黑" panose="020B0503020204020204" pitchFamily="34" charset="-122"/>
                              <a:ea typeface="微软雅黑" panose="020B0503020204020204" pitchFamily="34" charset="-122"/>
                            </a:rPr>
                            <a:t>步骤五</a:t>
                          </a:r>
                        </a:p>
                      </a:txBody>
                      <a:tcPr anchor="ctr"/>
                    </a:tc>
                    <a:tc>
                      <a:txBody>
                        <a:bodyPr/>
                        <a:lstStyle/>
                        <a:p>
                          <a:r>
                            <a:rPr lang="zh-CN" altLang="en-US" sz="2000" dirty="0">
                              <a:latin typeface="微软雅黑" panose="020B0503020204020204" pitchFamily="34" charset="-122"/>
                              <a:ea typeface="微软雅黑" panose="020B0503020204020204" pitchFamily="34" charset="-122"/>
                            </a:rPr>
                            <a:t>算法终止并输出聚类结果。</a:t>
                          </a:r>
                        </a:p>
                      </a:txBody>
                      <a:tcPr anchor="ctr"/>
                    </a:tc>
                    <a:extLst>
                      <a:ext uri="{0D108BD9-81ED-4DB2-BD59-A6C34878D82A}">
                        <a16:rowId xmlns:a16="http://schemas.microsoft.com/office/drawing/2014/main" val="817326073"/>
                      </a:ext>
                    </a:extLst>
                  </a:tr>
                </a:tbl>
              </a:graphicData>
            </a:graphic>
          </p:graphicFrame>
        </mc:Choice>
        <mc:Fallback>
          <p:graphicFrame>
            <p:nvGraphicFramePr>
              <p:cNvPr id="7" name="表格 8">
                <a:extLst>
                  <a:ext uri="{FF2B5EF4-FFF2-40B4-BE49-F238E27FC236}">
                    <a16:creationId xmlns:a16="http://schemas.microsoft.com/office/drawing/2014/main" id="{ABD008A9-3D2F-050E-C051-F6A0665EF56D}"/>
                  </a:ext>
                </a:extLst>
              </p:cNvPr>
              <p:cNvGraphicFramePr>
                <a:graphicFrameLocks noGrp="1"/>
              </p:cNvGraphicFramePr>
              <p:nvPr>
                <p:extLst>
                  <p:ext uri="{D42A27DB-BD31-4B8C-83A1-F6EECF244321}">
                    <p14:modId xmlns:p14="http://schemas.microsoft.com/office/powerpoint/2010/main" val="3507377149"/>
                  </p:ext>
                </p:extLst>
              </p:nvPr>
            </p:nvGraphicFramePr>
            <p:xfrm>
              <a:off x="394101" y="1992446"/>
              <a:ext cx="8159750" cy="3920490"/>
            </p:xfrm>
            <a:graphic>
              <a:graphicData uri="http://schemas.openxmlformats.org/drawingml/2006/table">
                <a:tbl>
                  <a:tblPr firstRow="1">
                    <a:tableStyleId>{9D7B26C5-4107-4FEC-AEDC-1716B250A1EF}</a:tableStyleId>
                  </a:tblPr>
                  <a:tblGrid>
                    <a:gridCol w="1454150">
                      <a:extLst>
                        <a:ext uri="{9D8B030D-6E8A-4147-A177-3AD203B41FA5}">
                          <a16:colId xmlns:a16="http://schemas.microsoft.com/office/drawing/2014/main" val="3710864334"/>
                        </a:ext>
                      </a:extLst>
                    </a:gridCol>
                    <a:gridCol w="6705600">
                      <a:extLst>
                        <a:ext uri="{9D8B030D-6E8A-4147-A177-3AD203B41FA5}">
                          <a16:colId xmlns:a16="http://schemas.microsoft.com/office/drawing/2014/main" val="1358374503"/>
                        </a:ext>
                      </a:extLst>
                    </a:gridCol>
                  </a:tblGrid>
                  <a:tr h="605790">
                    <a:tc gridSpan="2">
                      <a:txBody>
                        <a:bodyPr/>
                        <a:lstStyle/>
                        <a:p>
                          <a:r>
                            <a:rPr lang="en-US" altLang="zh-CN" sz="2000" dirty="0">
                              <a:latin typeface="微软雅黑" panose="020B0503020204020204" pitchFamily="34" charset="-122"/>
                              <a:ea typeface="微软雅黑" panose="020B0503020204020204" pitchFamily="34" charset="-122"/>
                            </a:rPr>
                            <a:t>K</a:t>
                          </a:r>
                          <a:r>
                            <a:rPr lang="zh-CN" altLang="en-US" sz="2000" dirty="0">
                              <a:latin typeface="微软雅黑" panose="020B0503020204020204" pitchFamily="34" charset="-122"/>
                              <a:ea typeface="微软雅黑" panose="020B0503020204020204" pitchFamily="34" charset="-122"/>
                            </a:rPr>
                            <a:t>均值聚类算法流程</a:t>
                          </a:r>
                        </a:p>
                      </a:txBody>
                      <a:tcPr anchor="ctr"/>
                    </a:tc>
                    <a:tc hMerge="1">
                      <a:txBody>
                        <a:bodyPr/>
                        <a:lstStyle/>
                        <a:p>
                          <a:endParaRPr lang="zh-CN" altLang="en-US" dirty="0"/>
                        </a:p>
                      </a:txBody>
                      <a:tcPr anchor="ctr"/>
                    </a:tc>
                    <a:extLst>
                      <a:ext uri="{0D108BD9-81ED-4DB2-BD59-A6C34878D82A}">
                        <a16:rowId xmlns:a16="http://schemas.microsoft.com/office/drawing/2014/main" val="1145325910"/>
                      </a:ext>
                    </a:extLst>
                  </a:tr>
                  <a:tr h="701040">
                    <a:tc>
                      <a:txBody>
                        <a:bodyPr/>
                        <a:lstStyle/>
                        <a:p>
                          <a:r>
                            <a:rPr lang="zh-CN" altLang="en-US" sz="2000" b="1" dirty="0">
                              <a:latin typeface="微软雅黑" panose="020B0503020204020204" pitchFamily="34" charset="-122"/>
                              <a:ea typeface="微软雅黑" panose="020B0503020204020204" pitchFamily="34" charset="-122"/>
                            </a:rPr>
                            <a:t>步骤一</a:t>
                          </a:r>
                        </a:p>
                      </a:txBody>
                      <a:tcPr anchor="ctr"/>
                    </a:tc>
                    <a:tc>
                      <a:txBody>
                        <a:bodyPr/>
                        <a:lstStyle/>
                        <a:p>
                          <a:endParaRPr lang="zh-CN"/>
                        </a:p>
                      </a:txBody>
                      <a:tcPr anchor="ctr">
                        <a:blipFill>
                          <a:blip r:embed="rId3"/>
                          <a:stretch>
                            <a:fillRect l="-21708" t="-87826" r="-91" b="-374783"/>
                          </a:stretch>
                        </a:blipFill>
                      </a:tcPr>
                    </a:tc>
                    <a:extLst>
                      <a:ext uri="{0D108BD9-81ED-4DB2-BD59-A6C34878D82A}">
                        <a16:rowId xmlns:a16="http://schemas.microsoft.com/office/drawing/2014/main" val="1999161553"/>
                      </a:ext>
                    </a:extLst>
                  </a:tr>
                  <a:tr h="701040">
                    <a:tc>
                      <a:txBody>
                        <a:bodyPr/>
                        <a:lstStyle/>
                        <a:p>
                          <a:r>
                            <a:rPr lang="zh-CN" altLang="en-US" sz="2000" b="1" dirty="0">
                              <a:latin typeface="微软雅黑" panose="020B0503020204020204" pitchFamily="34" charset="-122"/>
                              <a:ea typeface="微软雅黑" panose="020B0503020204020204" pitchFamily="34" charset="-122"/>
                            </a:rPr>
                            <a:t>步骤二</a:t>
                          </a:r>
                        </a:p>
                      </a:txBody>
                      <a:tcPr anchor="ctr"/>
                    </a:tc>
                    <a:tc>
                      <a:txBody>
                        <a:bodyPr/>
                        <a:lstStyle/>
                        <a:p>
                          <a:r>
                            <a:rPr lang="zh-CN" altLang="en-US" sz="2000" dirty="0">
                              <a:latin typeface="微软雅黑" panose="020B0503020204020204" pitchFamily="34" charset="-122"/>
                              <a:ea typeface="微软雅黑" panose="020B0503020204020204" pitchFamily="34" charset="-122"/>
                            </a:rPr>
                            <a:t>分别计算每个样本到各个聚类中心的距离，将对象分配到距离最近的簇中；</a:t>
                          </a:r>
                        </a:p>
                      </a:txBody>
                      <a:tcPr anchor="ctr"/>
                    </a:tc>
                    <a:extLst>
                      <a:ext uri="{0D108BD9-81ED-4DB2-BD59-A6C34878D82A}">
                        <a16:rowId xmlns:a16="http://schemas.microsoft.com/office/drawing/2014/main" val="1263208478"/>
                      </a:ext>
                    </a:extLst>
                  </a:tr>
                  <a:tr h="605790">
                    <a:tc>
                      <a:txBody>
                        <a:bodyPr/>
                        <a:lstStyle/>
                        <a:p>
                          <a:r>
                            <a:rPr lang="zh-CN" altLang="en-US" sz="2000" b="1" dirty="0">
                              <a:latin typeface="微软雅黑" panose="020B0503020204020204" pitchFamily="34" charset="-122"/>
                              <a:ea typeface="微软雅黑" panose="020B0503020204020204" pitchFamily="34" charset="-122"/>
                            </a:rPr>
                            <a:t>步骤三</a:t>
                          </a:r>
                        </a:p>
                      </a:txBody>
                      <a:tcPr anchor="ctr"/>
                    </a:tc>
                    <a:tc>
                      <a:txBody>
                        <a:bodyPr/>
                        <a:lstStyle/>
                        <a:p>
                          <a:endParaRPr lang="zh-CN"/>
                        </a:p>
                      </a:txBody>
                      <a:tcPr anchor="ctr">
                        <a:blipFill>
                          <a:blip r:embed="rId3"/>
                          <a:stretch>
                            <a:fillRect l="-21708" t="-334343" r="-91" b="-219192"/>
                          </a:stretch>
                        </a:blipFill>
                      </a:tcPr>
                    </a:tc>
                    <a:extLst>
                      <a:ext uri="{0D108BD9-81ED-4DB2-BD59-A6C34878D82A}">
                        <a16:rowId xmlns:a16="http://schemas.microsoft.com/office/drawing/2014/main" val="940137260"/>
                      </a:ext>
                    </a:extLst>
                  </a:tr>
                  <a:tr h="701040">
                    <a:tc>
                      <a:txBody>
                        <a:bodyPr/>
                        <a:lstStyle/>
                        <a:p>
                          <a:r>
                            <a:rPr lang="zh-CN" altLang="en-US" sz="2000" b="1" dirty="0">
                              <a:latin typeface="微软雅黑" panose="020B0503020204020204" pitchFamily="34" charset="-122"/>
                              <a:ea typeface="微软雅黑" panose="020B0503020204020204" pitchFamily="34" charset="-122"/>
                            </a:rPr>
                            <a:t>步骤四</a:t>
                          </a:r>
                        </a:p>
                      </a:txBody>
                      <a:tcPr anchor="ctr"/>
                    </a:tc>
                    <a:tc>
                      <a:txBody>
                        <a:bodyPr/>
                        <a:lstStyle/>
                        <a:p>
                          <a:endParaRPr lang="zh-CN"/>
                        </a:p>
                      </a:txBody>
                      <a:tcPr anchor="ctr">
                        <a:blipFill>
                          <a:blip r:embed="rId3"/>
                          <a:stretch>
                            <a:fillRect l="-21708" t="-373913" r="-91" b="-88696"/>
                          </a:stretch>
                        </a:blipFill>
                      </a:tcPr>
                    </a:tc>
                    <a:extLst>
                      <a:ext uri="{0D108BD9-81ED-4DB2-BD59-A6C34878D82A}">
                        <a16:rowId xmlns:a16="http://schemas.microsoft.com/office/drawing/2014/main" val="4076822986"/>
                      </a:ext>
                    </a:extLst>
                  </a:tr>
                  <a:tr h="605790">
                    <a:tc>
                      <a:txBody>
                        <a:bodyPr/>
                        <a:lstStyle/>
                        <a:p>
                          <a:r>
                            <a:rPr lang="zh-CN" altLang="en-US" sz="2000" b="1" dirty="0">
                              <a:latin typeface="微软雅黑" panose="020B0503020204020204" pitchFamily="34" charset="-122"/>
                              <a:ea typeface="微软雅黑" panose="020B0503020204020204" pitchFamily="34" charset="-122"/>
                            </a:rPr>
                            <a:t>步骤五</a:t>
                          </a:r>
                        </a:p>
                      </a:txBody>
                      <a:tcPr anchor="ctr"/>
                    </a:tc>
                    <a:tc>
                      <a:txBody>
                        <a:bodyPr/>
                        <a:lstStyle/>
                        <a:p>
                          <a:r>
                            <a:rPr lang="zh-CN" altLang="en-US" sz="2000" dirty="0">
                              <a:latin typeface="微软雅黑" panose="020B0503020204020204" pitchFamily="34" charset="-122"/>
                              <a:ea typeface="微软雅黑" panose="020B0503020204020204" pitchFamily="34" charset="-122"/>
                            </a:rPr>
                            <a:t>算法终止并输出聚类结果。</a:t>
                          </a:r>
                        </a:p>
                      </a:txBody>
                      <a:tcPr anchor="ctr"/>
                    </a:tc>
                    <a:extLst>
                      <a:ext uri="{0D108BD9-81ED-4DB2-BD59-A6C34878D82A}">
                        <a16:rowId xmlns:a16="http://schemas.microsoft.com/office/drawing/2014/main" val="817326073"/>
                      </a:ext>
                    </a:extLst>
                  </a:tr>
                </a:tbl>
              </a:graphicData>
            </a:graphic>
          </p:graphicFrame>
        </mc:Fallback>
      </mc:AlternateContent>
      <p:sp>
        <p:nvSpPr>
          <p:cNvPr id="4" name="文本框 3">
            <a:extLst>
              <a:ext uri="{FF2B5EF4-FFF2-40B4-BE49-F238E27FC236}">
                <a16:creationId xmlns:a16="http://schemas.microsoft.com/office/drawing/2014/main" id="{DD3A0818-8848-9435-C631-C3E293125085}"/>
              </a:ext>
            </a:extLst>
          </p:cNvPr>
          <p:cNvSpPr txBox="1"/>
          <p:nvPr/>
        </p:nvSpPr>
        <p:spPr>
          <a:xfrm>
            <a:off x="321912" y="6081879"/>
            <a:ext cx="7612914" cy="499624"/>
          </a:xfrm>
          <a:prstGeom prst="rect">
            <a:avLst/>
          </a:prstGeom>
          <a:noFill/>
        </p:spPr>
        <p:txBody>
          <a:bodyPr wrap="square">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请思考：根据上述算法流程，</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K</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均值聚类算法的主要缺陷是什么？</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39925930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23</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4" name="文本框 3">
            <a:extLst>
              <a:ext uri="{FF2B5EF4-FFF2-40B4-BE49-F238E27FC236}">
                <a16:creationId xmlns:a16="http://schemas.microsoft.com/office/drawing/2014/main" id="{194C7B8E-BB6A-754C-CBBE-52BFCCF8D64B}"/>
              </a:ext>
            </a:extLst>
          </p:cNvPr>
          <p:cNvSpPr txBox="1"/>
          <p:nvPr/>
        </p:nvSpPr>
        <p:spPr>
          <a:xfrm>
            <a:off x="160890" y="1390864"/>
            <a:ext cx="8760860" cy="1884618"/>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请思考：根据上述算法流程，</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K</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均值聚类算法的主要缺陷是什么？</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285750" marR="0" lvl="0" indent="-285750" algn="just"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聚类结果容易受到初始聚类中心的影响</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285750" marR="0" lvl="0" indent="-285750" algn="just"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K</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值需要人为确定，然而在实际应用中很难给出合适的取值</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285750" marR="0" lvl="0" indent="-285750" algn="just"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对数据中的离群点敏感，离群点会扭曲数据分布和聚类结果</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目标函数与算法流程</a:t>
            </a:r>
          </a:p>
        </p:txBody>
      </p:sp>
      <p:pic>
        <p:nvPicPr>
          <p:cNvPr id="13" name="图片 12">
            <a:extLst>
              <a:ext uri="{FF2B5EF4-FFF2-40B4-BE49-F238E27FC236}">
                <a16:creationId xmlns:a16="http://schemas.microsoft.com/office/drawing/2014/main" id="{72A6C00D-B453-F6C6-CFAB-D51A1D26E208}"/>
              </a:ext>
            </a:extLst>
          </p:cNvPr>
          <p:cNvPicPr>
            <a:picLocks noChangeAspect="1"/>
          </p:cNvPicPr>
          <p:nvPr/>
        </p:nvPicPr>
        <p:blipFill>
          <a:blip r:embed="rId3"/>
          <a:stretch>
            <a:fillRect/>
          </a:stretch>
        </p:blipFill>
        <p:spPr>
          <a:xfrm>
            <a:off x="160889" y="3966108"/>
            <a:ext cx="4255517" cy="1679108"/>
          </a:xfrm>
          <a:prstGeom prst="rect">
            <a:avLst/>
          </a:prstGeom>
        </p:spPr>
      </p:pic>
      <p:pic>
        <p:nvPicPr>
          <p:cNvPr id="14" name="图片 13">
            <a:extLst>
              <a:ext uri="{FF2B5EF4-FFF2-40B4-BE49-F238E27FC236}">
                <a16:creationId xmlns:a16="http://schemas.microsoft.com/office/drawing/2014/main" id="{745C01A6-F0FA-DDBF-CC9C-3211DF5FC4D3}"/>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814221" y="3966108"/>
            <a:ext cx="4252501" cy="1679106"/>
          </a:xfrm>
          <a:prstGeom prst="rect">
            <a:avLst/>
          </a:prstGeom>
        </p:spPr>
      </p:pic>
      <p:sp>
        <p:nvSpPr>
          <p:cNvPr id="16" name="箭头: 右 15">
            <a:extLst>
              <a:ext uri="{FF2B5EF4-FFF2-40B4-BE49-F238E27FC236}">
                <a16:creationId xmlns:a16="http://schemas.microsoft.com/office/drawing/2014/main" id="{5D57FD2F-7956-5EEC-3C3A-2753214BA186}"/>
              </a:ext>
            </a:extLst>
          </p:cNvPr>
          <p:cNvSpPr/>
          <p:nvPr/>
        </p:nvSpPr>
        <p:spPr>
          <a:xfrm>
            <a:off x="4501345" y="4499811"/>
            <a:ext cx="279133" cy="60639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椭圆 16">
            <a:extLst>
              <a:ext uri="{FF2B5EF4-FFF2-40B4-BE49-F238E27FC236}">
                <a16:creationId xmlns:a16="http://schemas.microsoft.com/office/drawing/2014/main" id="{2CFCC9C0-03A6-634A-99A6-0D01B6309FF2}"/>
              </a:ext>
            </a:extLst>
          </p:cNvPr>
          <p:cNvSpPr/>
          <p:nvPr/>
        </p:nvSpPr>
        <p:spPr>
          <a:xfrm>
            <a:off x="7361738" y="4557562"/>
            <a:ext cx="497290" cy="54864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箭头: 下 19">
            <a:extLst>
              <a:ext uri="{FF2B5EF4-FFF2-40B4-BE49-F238E27FC236}">
                <a16:creationId xmlns:a16="http://schemas.microsoft.com/office/drawing/2014/main" id="{46B273BB-7F23-791F-797C-8AA6AECCB1AA}"/>
              </a:ext>
            </a:extLst>
          </p:cNvPr>
          <p:cNvSpPr/>
          <p:nvPr/>
        </p:nvSpPr>
        <p:spPr>
          <a:xfrm rot="1919146">
            <a:off x="5479998" y="4699783"/>
            <a:ext cx="139566" cy="21175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D3386843-310B-1570-A6F9-EEA7D2D7A764}"/>
              </a:ext>
            </a:extLst>
          </p:cNvPr>
          <p:cNvSpPr txBox="1"/>
          <p:nvPr/>
        </p:nvSpPr>
        <p:spPr>
          <a:xfrm>
            <a:off x="5162353" y="4311622"/>
            <a:ext cx="1005403" cy="338554"/>
          </a:xfrm>
          <a:prstGeom prst="rect">
            <a:avLst/>
          </a:prstGeom>
          <a:noFill/>
        </p:spPr>
        <p:txBody>
          <a:bodyPr wrap="none" rtlCol="0">
            <a:spAutoFit/>
          </a:bodyPr>
          <a:lstStyle/>
          <a:p>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离群数据</a:t>
            </a:r>
          </a:p>
        </p:txBody>
      </p:sp>
      <p:sp>
        <p:nvSpPr>
          <p:cNvPr id="22" name="椭圆 21">
            <a:extLst>
              <a:ext uri="{FF2B5EF4-FFF2-40B4-BE49-F238E27FC236}">
                <a16:creationId xmlns:a16="http://schemas.microsoft.com/office/drawing/2014/main" id="{47A6A54F-9C3F-5B7C-B44C-DEFD236228D4}"/>
              </a:ext>
            </a:extLst>
          </p:cNvPr>
          <p:cNvSpPr/>
          <p:nvPr/>
        </p:nvSpPr>
        <p:spPr>
          <a:xfrm rot="2184802">
            <a:off x="4938239" y="5009704"/>
            <a:ext cx="867923" cy="548640"/>
          </a:xfrm>
          <a:prstGeom prst="ellipse">
            <a:avLst/>
          </a:prstGeom>
          <a:no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CC2CB9BA-E09A-B633-B16B-5367BBDAE55E}"/>
              </a:ext>
            </a:extLst>
          </p:cNvPr>
          <p:cNvSpPr txBox="1"/>
          <p:nvPr/>
        </p:nvSpPr>
        <p:spPr>
          <a:xfrm>
            <a:off x="977781" y="5730055"/>
            <a:ext cx="2535440" cy="369332"/>
          </a:xfrm>
          <a:prstGeom prst="rect">
            <a:avLst/>
          </a:prstGeom>
          <a:noFill/>
        </p:spPr>
        <p:txBody>
          <a:bodyPr wrap="square">
            <a:spAutoFit/>
          </a:bodyPr>
          <a:lstStyle/>
          <a:p>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图</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 </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原始数据聚类结果</a:t>
            </a:r>
            <a:endParaRPr lang="zh-CN" altLang="en-US" dirty="0"/>
          </a:p>
        </p:txBody>
      </p:sp>
      <p:sp>
        <p:nvSpPr>
          <p:cNvPr id="25" name="文本框 24">
            <a:extLst>
              <a:ext uri="{FF2B5EF4-FFF2-40B4-BE49-F238E27FC236}">
                <a16:creationId xmlns:a16="http://schemas.microsoft.com/office/drawing/2014/main" id="{4E6EC1EB-6831-B03F-CC70-66791ABDBE3C}"/>
              </a:ext>
            </a:extLst>
          </p:cNvPr>
          <p:cNvSpPr txBox="1"/>
          <p:nvPr/>
        </p:nvSpPr>
        <p:spPr>
          <a:xfrm>
            <a:off x="5372200" y="5697656"/>
            <a:ext cx="3222859" cy="369332"/>
          </a:xfrm>
          <a:prstGeom prst="rect">
            <a:avLst/>
          </a:prstGeom>
          <a:noFill/>
        </p:spPr>
        <p:txBody>
          <a:bodyPr wrap="square">
            <a:spAutoFit/>
          </a:bodyPr>
          <a:lstStyle/>
          <a:p>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图</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b </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添加离群数据后聚类结果</a:t>
            </a:r>
            <a:endParaRPr lang="zh-CN" altLang="en-US" dirty="0"/>
          </a:p>
        </p:txBody>
      </p:sp>
    </p:spTree>
    <p:extLst>
      <p:ext uri="{BB962C8B-B14F-4D97-AF65-F5344CB8AC3E}">
        <p14:creationId xmlns:p14="http://schemas.microsoft.com/office/powerpoint/2010/main" val="24273630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24</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4" name="文本框 3">
            <a:extLst>
              <a:ext uri="{FF2B5EF4-FFF2-40B4-BE49-F238E27FC236}">
                <a16:creationId xmlns:a16="http://schemas.microsoft.com/office/drawing/2014/main" id="{194C7B8E-BB6A-754C-CBBE-52BFCCF8D64B}"/>
              </a:ext>
            </a:extLst>
          </p:cNvPr>
          <p:cNvSpPr txBox="1"/>
          <p:nvPr/>
        </p:nvSpPr>
        <p:spPr>
          <a:xfrm>
            <a:off x="160890" y="1390864"/>
            <a:ext cx="8760860" cy="4008277"/>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K-Medoids</a:t>
            </a:r>
            <a:r>
              <a:rPr kumimoji="0"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算法是为了减弱</a:t>
            </a:r>
            <a:r>
              <a:rPr kumimoji="0" lang="en-US" altLang="zh-CN"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K-</a:t>
            </a:r>
            <a:r>
              <a:rPr kumimoji="0"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均值算法对离群点的敏感性提出的</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，其与</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K-</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均值聚类算法类似，但主要区别在于中心点的选取方法：</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457200" marR="0" lvl="0" indent="-457200" algn="just" defTabSz="457200" rtl="0" eaLnBrk="1" fontAlgn="auto" latinLnBrk="0" hangingPunct="1">
              <a:lnSpc>
                <a:spcPct val="150000"/>
              </a:lnSpc>
              <a:spcBef>
                <a:spcPts val="0"/>
              </a:spcBef>
              <a:spcAft>
                <a:spcPts val="0"/>
              </a:spcAft>
              <a:buClrTx/>
              <a:buSzTx/>
              <a:buFont typeface="+mj-lt"/>
              <a:buAutoNum type="arabicPeriod"/>
              <a:tabLst/>
              <a:defRPr/>
            </a:pP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K-</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均值算法将中心点选取为簇内</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所有样本点的均值</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（相当于寻找质心）</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457200" marR="0" lvl="0" indent="-457200" algn="just" defTabSz="457200" rtl="0" eaLnBrk="1" fontAlgn="auto" latinLnBrk="0" hangingPunct="1">
              <a:lnSpc>
                <a:spcPct val="150000"/>
              </a:lnSpc>
              <a:spcBef>
                <a:spcPts val="0"/>
              </a:spcBef>
              <a:spcAft>
                <a:spcPts val="0"/>
              </a:spcAft>
              <a:buClrTx/>
              <a:buSzTx/>
              <a:buFont typeface="+mj-lt"/>
              <a:buAutoNum type="arabicPeriod"/>
              <a:tabLst/>
              <a:defRPr/>
            </a:pP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K-Medoids</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算法将中心点选取为簇内一个样本点，</a:t>
            </a:r>
            <a:r>
              <a:rPr kumimoji="0"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该样本点距离该簇内所有样本点的距离平方和最小</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R="0" lvl="0" algn="just" defTabSz="457200" rtl="0" eaLnBrk="1" fontAlgn="auto" latinLnBrk="0" hangingPunct="1">
              <a:lnSpc>
                <a:spcPct val="150000"/>
              </a:lnSpc>
              <a:spcBef>
                <a:spcPts val="0"/>
              </a:spcBef>
              <a:spcAft>
                <a:spcPts val="0"/>
              </a:spcAft>
              <a:buClrTx/>
              <a:buSzTx/>
              <a:tabLst/>
              <a:defRPr/>
            </a:pPr>
            <a:endParaRPr lang="en-US" altLang="zh-CN" sz="10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R="0" lvl="0" algn="just" defTabSz="457200" rtl="0" eaLnBrk="1" fontAlgn="auto" latinLnBrk="0" hangingPunct="1">
              <a:lnSpc>
                <a:spcPct val="150000"/>
              </a:lnSpc>
              <a:spcBef>
                <a:spcPts val="0"/>
              </a:spcBef>
              <a:spcAft>
                <a:spcPts val="0"/>
              </a:spcAft>
              <a:buClrTx/>
              <a:buSzTx/>
              <a:tabLst/>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当含有离群点时，</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K-Medoids</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算法的鲁棒性更好。</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算法变体：</a:t>
            </a:r>
            <a:r>
              <a:rPr lang="en-US" altLang="zh-CN" sz="3200" dirty="0">
                <a:latin typeface="微软雅黑" panose="020B0503020204020204" pitchFamily="34" charset="-122"/>
                <a:ea typeface="微软雅黑" panose="020B0503020204020204" pitchFamily="34" charset="-122"/>
                <a:cs typeface="Times New Roman" panose="02020603050405020304" pitchFamily="18" charset="0"/>
              </a:rPr>
              <a:t>K-Medoids</a:t>
            </a:r>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3200" dirty="0">
                <a:latin typeface="微软雅黑" panose="020B0503020204020204" pitchFamily="34" charset="-122"/>
                <a:ea typeface="微软雅黑" panose="020B0503020204020204" pitchFamily="34" charset="-122"/>
                <a:cs typeface="Times New Roman" panose="02020603050405020304" pitchFamily="18" charset="0"/>
              </a:rPr>
              <a:t>K-</a:t>
            </a:r>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中心点）</a:t>
            </a:r>
          </a:p>
        </p:txBody>
      </p:sp>
    </p:spTree>
    <p:extLst>
      <p:ext uri="{BB962C8B-B14F-4D97-AF65-F5344CB8AC3E}">
        <p14:creationId xmlns:p14="http://schemas.microsoft.com/office/powerpoint/2010/main" val="39027988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25</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194C7B8E-BB6A-754C-CBBE-52BFCCF8D64B}"/>
                  </a:ext>
                </a:extLst>
              </p:cNvPr>
              <p:cNvSpPr txBox="1"/>
              <p:nvPr/>
            </p:nvSpPr>
            <p:spPr>
              <a:xfrm>
                <a:off x="160890" y="1390864"/>
                <a:ext cx="8760860" cy="874407"/>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对于簇</a:t>
                </a: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𝐸</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𝑙</m:t>
                        </m:r>
                      </m:sub>
                    </m:sSub>
                  </m:oMath>
                </a14:m>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与样本点</a:t>
                </a: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𝑛</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oMath>
                </a14:m>
                <a:r>
                  <a:rPr kumimoji="0" lang="en-US" altLang="zh-CN" sz="1800" b="0" i="0" u="none" strike="noStrike" kern="1200" cap="none" spc="0" normalizeH="0" baseline="0" noProof="0" dirty="0">
                    <a:ln>
                      <a:noFill/>
                    </a:ln>
                    <a:solidFill>
                      <a:srgbClr val="000000"/>
                    </a:solidFill>
                    <a:effectLst/>
                    <a:uLnTx/>
                    <a:uFillTx/>
                    <a:latin typeface="Arial"/>
                    <a:ea typeface="微软雅黑" panose="020B0503020204020204" pitchFamily="34" charset="-122"/>
                    <a:cs typeface="Times New Roman" panose="02020603050405020304" pitchFamily="18" charset="0"/>
                    <a:sym typeface="Arial" panose="020B0604020202020204" pitchFamily="34" charset="0"/>
                  </a:rPr>
                  <a:t> </a:t>
                </a:r>
                <a14:m>
                  <m:oMath xmlns:m="http://schemas.openxmlformats.org/officeDocument/2006/math">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𝐸</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𝑙</m:t>
                        </m:r>
                      </m:sub>
                    </m:sSub>
                  </m:oMath>
                </a14:m>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K-</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均值聚类算法与</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K-Medoids</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算法的中心点</a:t>
                </a: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zh-CN" altLang="en-US"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𝝁</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𝑙</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选取方式可见下表</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4" name="文本框 3">
                <a:extLst>
                  <a:ext uri="{FF2B5EF4-FFF2-40B4-BE49-F238E27FC236}">
                    <a16:creationId xmlns:a16="http://schemas.microsoft.com/office/drawing/2014/main" id="{194C7B8E-BB6A-754C-CBBE-52BFCCF8D64B}"/>
                  </a:ext>
                </a:extLst>
              </p:cNvPr>
              <p:cNvSpPr txBox="1">
                <a:spLocks noRot="1" noChangeAspect="1" noMove="1" noResize="1" noEditPoints="1" noAdjustHandles="1" noChangeArrowheads="1" noChangeShapeType="1" noTextEdit="1"/>
              </p:cNvSpPr>
              <p:nvPr/>
            </p:nvSpPr>
            <p:spPr>
              <a:xfrm>
                <a:off x="160890" y="1390864"/>
                <a:ext cx="8760860" cy="874407"/>
              </a:xfrm>
              <a:prstGeom prst="rect">
                <a:avLst/>
              </a:prstGeom>
              <a:blipFill>
                <a:blip r:embed="rId3"/>
                <a:stretch>
                  <a:fillRect l="-556" r="-556" b="-9722"/>
                </a:stretch>
              </a:blipFill>
            </p:spPr>
            <p:txBody>
              <a:bodyPr/>
              <a:lstStyle/>
              <a:p>
                <a:r>
                  <a:rPr lang="zh-CN" altLang="en-US">
                    <a:noFill/>
                  </a:rPr>
                  <a:t> </a:t>
                </a:r>
              </a:p>
            </p:txBody>
          </p:sp>
        </mc:Fallback>
      </mc:AlternateContent>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算法变体：</a:t>
            </a:r>
            <a:r>
              <a:rPr lang="en-US" altLang="zh-CN" sz="3200" dirty="0">
                <a:latin typeface="微软雅黑" panose="020B0503020204020204" pitchFamily="34" charset="-122"/>
                <a:ea typeface="微软雅黑" panose="020B0503020204020204" pitchFamily="34" charset="-122"/>
                <a:cs typeface="Times New Roman" panose="02020603050405020304" pitchFamily="18" charset="0"/>
              </a:rPr>
              <a:t>K-Medoids</a:t>
            </a:r>
            <a:endParaRPr lang="zh-CN" altLang="en-US" sz="3200" dirty="0">
              <a:latin typeface="微软雅黑" panose="020B0503020204020204" pitchFamily="34" charset="-122"/>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3" name="表格 5">
                <a:extLst>
                  <a:ext uri="{FF2B5EF4-FFF2-40B4-BE49-F238E27FC236}">
                    <a16:creationId xmlns:a16="http://schemas.microsoft.com/office/drawing/2014/main" id="{E02B6856-C47C-A9C0-723A-0903486245CF}"/>
                  </a:ext>
                </a:extLst>
              </p:cNvPr>
              <p:cNvGraphicFramePr>
                <a:graphicFrameLocks noGrp="1"/>
              </p:cNvGraphicFramePr>
              <p:nvPr/>
            </p:nvGraphicFramePr>
            <p:xfrm>
              <a:off x="632135" y="2988313"/>
              <a:ext cx="7879730" cy="2218056"/>
            </p:xfrm>
            <a:graphic>
              <a:graphicData uri="http://schemas.openxmlformats.org/drawingml/2006/table">
                <a:tbl>
                  <a:tblPr firstRow="1">
                    <a:tableStyleId>{9D7B26C5-4107-4FEC-AEDC-1716B250A1EF}</a:tableStyleId>
                  </a:tblPr>
                  <a:tblGrid>
                    <a:gridCol w="3939865">
                      <a:extLst>
                        <a:ext uri="{9D8B030D-6E8A-4147-A177-3AD203B41FA5}">
                          <a16:colId xmlns:a16="http://schemas.microsoft.com/office/drawing/2014/main" val="2283189395"/>
                        </a:ext>
                      </a:extLst>
                    </a:gridCol>
                    <a:gridCol w="3939865">
                      <a:extLst>
                        <a:ext uri="{9D8B030D-6E8A-4147-A177-3AD203B41FA5}">
                          <a16:colId xmlns:a16="http://schemas.microsoft.com/office/drawing/2014/main" val="4216978611"/>
                        </a:ext>
                      </a:extLst>
                    </a:gridCol>
                  </a:tblGrid>
                  <a:tr h="370840">
                    <a:tc>
                      <a:txBody>
                        <a:bodyPr/>
                        <a:lstStyle/>
                        <a:p>
                          <a:r>
                            <a:rPr lang="zh-CN" altLang="en-US" dirty="0">
                              <a:latin typeface="微软雅黑" panose="020B0503020204020204" pitchFamily="34" charset="-122"/>
                              <a:ea typeface="微软雅黑" panose="020B0503020204020204" pitchFamily="34" charset="-122"/>
                            </a:rPr>
                            <a:t>聚类算法</a:t>
                          </a:r>
                        </a:p>
                      </a:txBody>
                      <a:tcPr/>
                    </a:tc>
                    <a:tc>
                      <a:txBody>
                        <a:bodyPr/>
                        <a:lstStyle/>
                        <a:p>
                          <a:pPr algn="ctr"/>
                          <a:r>
                            <a:rPr lang="zh-CN" altLang="en-US" dirty="0">
                              <a:latin typeface="微软雅黑" panose="020B0503020204020204" pitchFamily="34" charset="-122"/>
                              <a:ea typeface="微软雅黑" panose="020B0503020204020204" pitchFamily="34" charset="-122"/>
                            </a:rPr>
                            <a:t>中心点选取方式</a:t>
                          </a:r>
                        </a:p>
                      </a:txBody>
                      <a:tcPr/>
                    </a:tc>
                    <a:extLst>
                      <a:ext uri="{0D108BD9-81ED-4DB2-BD59-A6C34878D82A}">
                        <a16:rowId xmlns:a16="http://schemas.microsoft.com/office/drawing/2014/main" val="2828956526"/>
                      </a:ext>
                    </a:extLst>
                  </a:tr>
                  <a:tr h="370840">
                    <a:tc>
                      <a:txBody>
                        <a:bodyPr/>
                        <a:lstStyle/>
                        <a:p>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均值聚类算法</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2000" i="1" smtClean="0">
                                        <a:solidFill>
                                          <a:srgbClr val="000000"/>
                                        </a:solidFill>
                                        <a:latin typeface="Cambria Math" panose="02040503050406030204" pitchFamily="18" charset="0"/>
                                        <a:sym typeface="Arial" panose="020B0604020202020204" pitchFamily="34" charset="0"/>
                                      </a:rPr>
                                    </m:ctrlPr>
                                  </m:sSubPr>
                                  <m:e>
                                    <m:r>
                                      <a:rPr lang="zh-CN" altLang="en-US" sz="2000" b="1" smtClean="0">
                                        <a:solidFill>
                                          <a:srgbClr val="000000"/>
                                        </a:solidFill>
                                        <a:latin typeface="Cambria Math" panose="02040503050406030204" pitchFamily="18" charset="0"/>
                                        <a:sym typeface="Arial" panose="020B0604020202020204" pitchFamily="34" charset="0"/>
                                      </a:rPr>
                                      <m:t>𝝁</m:t>
                                    </m:r>
                                  </m:e>
                                  <m:sub>
                                    <m:r>
                                      <a:rPr lang="en-US" altLang="zh-CN" sz="2000" b="0" smtClean="0">
                                        <a:solidFill>
                                          <a:srgbClr val="000000"/>
                                        </a:solidFill>
                                        <a:latin typeface="Cambria Math" panose="02040503050406030204" pitchFamily="18" charset="0"/>
                                        <a:sym typeface="Arial" panose="020B0604020202020204" pitchFamily="34" charset="0"/>
                                      </a:rPr>
                                      <m:t>𝑙</m:t>
                                    </m:r>
                                  </m:sub>
                                </m:sSub>
                                <m:r>
                                  <a:rPr lang="en-US" altLang="zh-CN" sz="2000" b="0" smtClean="0">
                                    <a:solidFill>
                                      <a:srgbClr val="000000"/>
                                    </a:solidFill>
                                    <a:latin typeface="Cambria Math" panose="02040503050406030204" pitchFamily="18" charset="0"/>
                                    <a:sym typeface="Arial" panose="020B0604020202020204" pitchFamily="34" charset="0"/>
                                  </a:rPr>
                                  <m:t>=</m:t>
                                </m:r>
                                <m:f>
                                  <m:fPr>
                                    <m:type m:val="lin"/>
                                    <m:ctrlPr>
                                      <a:rPr lang="en-US" altLang="zh-CN" sz="2000" b="0" i="1" smtClean="0">
                                        <a:solidFill>
                                          <a:srgbClr val="000000"/>
                                        </a:solidFill>
                                        <a:latin typeface="Cambria Math" panose="02040503050406030204" pitchFamily="18" charset="0"/>
                                        <a:sym typeface="Arial" panose="020B0604020202020204" pitchFamily="34" charset="0"/>
                                      </a:rPr>
                                    </m:ctrlPr>
                                  </m:fPr>
                                  <m:num>
                                    <m:nary>
                                      <m:naryPr>
                                        <m:chr m:val="∑"/>
                                        <m:ctrlPr>
                                          <a:rPr lang="en-US" altLang="zh-CN" sz="2000" b="0" i="1" smtClean="0">
                                            <a:solidFill>
                                              <a:srgbClr val="000000"/>
                                            </a:solidFill>
                                            <a:latin typeface="Cambria Math" panose="02040503050406030204" pitchFamily="18" charset="0"/>
                                            <a:sym typeface="Arial" panose="020B0604020202020204" pitchFamily="34" charset="0"/>
                                          </a:rPr>
                                        </m:ctrlPr>
                                      </m:naryPr>
                                      <m:sub>
                                        <m:r>
                                          <m:rPr>
                                            <m:brk m:alnAt="23"/>
                                          </m:rPr>
                                          <a:rPr lang="en-US" altLang="zh-CN" sz="2000" b="0" i="1" smtClean="0">
                                            <a:solidFill>
                                              <a:srgbClr val="000000"/>
                                            </a:solidFill>
                                            <a:latin typeface="Cambria Math" panose="02040503050406030204" pitchFamily="18" charset="0"/>
                                            <a:sym typeface="Arial" panose="020B0604020202020204" pitchFamily="34" charset="0"/>
                                          </a:rPr>
                                          <m:t>𝑖</m:t>
                                        </m:r>
                                        <m:r>
                                          <a:rPr lang="en-US" altLang="zh-CN" sz="2000" b="0" i="1" smtClean="0">
                                            <a:solidFill>
                                              <a:srgbClr val="000000"/>
                                            </a:solidFill>
                                            <a:latin typeface="Cambria Math" panose="02040503050406030204" pitchFamily="18" charset="0"/>
                                            <a:sym typeface="Arial" panose="020B0604020202020204" pitchFamily="34" charset="0"/>
                                          </a:rPr>
                                          <m:t>=1</m:t>
                                        </m:r>
                                      </m:sub>
                                      <m:sup>
                                        <m:r>
                                          <a:rPr lang="en-US" altLang="zh-CN" sz="2000" b="0" i="1" smtClean="0">
                                            <a:solidFill>
                                              <a:srgbClr val="000000"/>
                                            </a:solidFill>
                                            <a:latin typeface="Cambria Math" panose="02040503050406030204" pitchFamily="18" charset="0"/>
                                            <a:sym typeface="Arial" panose="020B0604020202020204" pitchFamily="34" charset="0"/>
                                          </a:rPr>
                                          <m:t>𝑛</m:t>
                                        </m:r>
                                      </m:sup>
                                      <m:e>
                                        <m:sSub>
                                          <m:sSubPr>
                                            <m:ctrlP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20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e>
                                    </m:nary>
                                  </m:num>
                                  <m:den>
                                    <m:r>
                                      <a:rPr lang="en-US" altLang="zh-CN" sz="2000" b="0" i="1" smtClean="0">
                                        <a:solidFill>
                                          <a:srgbClr val="000000"/>
                                        </a:solidFill>
                                        <a:latin typeface="Cambria Math" panose="02040503050406030204" pitchFamily="18" charset="0"/>
                                        <a:sym typeface="Arial" panose="020B0604020202020204" pitchFamily="34" charset="0"/>
                                      </a:rPr>
                                      <m:t>𝑛</m:t>
                                    </m:r>
                                  </m:den>
                                </m:f>
                              </m:oMath>
                            </m:oMathPara>
                          </a14:m>
                          <a:endParaRPr lang="zh-CN" altLang="en-US" sz="20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824951205"/>
                      </a:ext>
                    </a:extLst>
                  </a:tr>
                  <a:tr h="241971">
                    <a:tc>
                      <a:txBody>
                        <a:bodyPr/>
                        <a:lstStyle/>
                        <a:p>
                          <a:r>
                            <a:rPr lang="en-US" altLang="zh-CN" dirty="0">
                              <a:latin typeface="微软雅黑" panose="020B0503020204020204" pitchFamily="34" charset="-122"/>
                              <a:ea typeface="微软雅黑" panose="020B0503020204020204" pitchFamily="34" charset="-122"/>
                            </a:rPr>
                            <a:t>K-Medoids</a:t>
                          </a:r>
                          <a:r>
                            <a:rPr lang="zh-CN" altLang="en-US" dirty="0">
                              <a:latin typeface="微软雅黑" panose="020B0503020204020204" pitchFamily="34" charset="-122"/>
                              <a:ea typeface="微软雅黑" panose="020B0503020204020204" pitchFamily="34" charset="-122"/>
                            </a:rPr>
                            <a:t>聚类算法</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2000" i="1" smtClean="0">
                                        <a:solidFill>
                                          <a:srgbClr val="000000"/>
                                        </a:solidFill>
                                        <a:latin typeface="Cambria Math" panose="02040503050406030204" pitchFamily="18" charset="0"/>
                                        <a:sym typeface="Arial" panose="020B0604020202020204" pitchFamily="34" charset="0"/>
                                      </a:rPr>
                                    </m:ctrlPr>
                                  </m:sSubPr>
                                  <m:e>
                                    <m:r>
                                      <a:rPr lang="zh-CN" altLang="en-US" sz="2000" b="1" smtClean="0">
                                        <a:solidFill>
                                          <a:srgbClr val="000000"/>
                                        </a:solidFill>
                                        <a:latin typeface="Cambria Math" panose="02040503050406030204" pitchFamily="18" charset="0"/>
                                        <a:sym typeface="Arial" panose="020B0604020202020204" pitchFamily="34" charset="0"/>
                                      </a:rPr>
                                      <m:t>𝝁</m:t>
                                    </m:r>
                                  </m:e>
                                  <m:sub>
                                    <m:r>
                                      <a:rPr lang="en-US" altLang="zh-CN" sz="2000" b="0" smtClean="0">
                                        <a:solidFill>
                                          <a:srgbClr val="000000"/>
                                        </a:solidFill>
                                        <a:latin typeface="Cambria Math" panose="02040503050406030204" pitchFamily="18" charset="0"/>
                                        <a:sym typeface="Arial" panose="020B0604020202020204" pitchFamily="34" charset="0"/>
                                      </a:rPr>
                                      <m:t>𝑙</m:t>
                                    </m:r>
                                  </m:sub>
                                </m:sSub>
                                <m:r>
                                  <a:rPr lang="en-US" altLang="zh-CN" sz="2000" b="0" smtClean="0">
                                    <a:solidFill>
                                      <a:srgbClr val="000000"/>
                                    </a:solidFill>
                                    <a:latin typeface="Cambria Math" panose="02040503050406030204" pitchFamily="18" charset="0"/>
                                    <a:sym typeface="Arial" panose="020B0604020202020204" pitchFamily="34" charset="0"/>
                                  </a:rPr>
                                  <m:t>=</m:t>
                                </m:r>
                                <m:func>
                                  <m:funcPr>
                                    <m:ctrlPr>
                                      <a:rPr lang="en-US" altLang="zh-CN" sz="2000" b="0" i="1" smtClean="0">
                                        <a:solidFill>
                                          <a:srgbClr val="000000"/>
                                        </a:solidFill>
                                        <a:latin typeface="Cambria Math" panose="02040503050406030204" pitchFamily="18" charset="0"/>
                                        <a:sym typeface="Arial" panose="020B0604020202020204" pitchFamily="34" charset="0"/>
                                      </a:rPr>
                                    </m:ctrlPr>
                                  </m:funcPr>
                                  <m:fName>
                                    <m:limLow>
                                      <m:limLowPr>
                                        <m:ctrlPr>
                                          <a:rPr lang="en-US" altLang="zh-CN" sz="2000" b="0" i="1" smtClean="0">
                                            <a:solidFill>
                                              <a:srgbClr val="000000"/>
                                            </a:solidFill>
                                            <a:latin typeface="Cambria Math" panose="02040503050406030204" pitchFamily="18" charset="0"/>
                                            <a:sym typeface="Arial" panose="020B0604020202020204" pitchFamily="34" charset="0"/>
                                          </a:rPr>
                                        </m:ctrlPr>
                                      </m:limLowPr>
                                      <m:e>
                                        <m:r>
                                          <m:rPr>
                                            <m:sty m:val="p"/>
                                          </m:rPr>
                                          <a:rPr lang="en-US" altLang="zh-CN" sz="2000" b="0" smtClean="0">
                                            <a:solidFill>
                                              <a:srgbClr val="000000"/>
                                            </a:solidFill>
                                            <a:latin typeface="Cambria Math" panose="02040503050406030204" pitchFamily="18" charset="0"/>
                                            <a:sym typeface="Arial" panose="020B0604020202020204" pitchFamily="34" charset="0"/>
                                          </a:rPr>
                                          <m:t>argmin</m:t>
                                        </m:r>
                                      </m:e>
                                      <m:lim>
                                        <m:sSub>
                                          <m:sSubPr>
                                            <m:ctrlPr>
                                              <a:rPr lang="en-US" altLang="zh-CN" sz="2000" b="0" i="1" smtClean="0">
                                                <a:solidFill>
                                                  <a:srgbClr val="000000"/>
                                                </a:solidFill>
                                                <a:latin typeface="Cambria Math" panose="02040503050406030204" pitchFamily="18" charset="0"/>
                                                <a:sym typeface="Arial" panose="020B0604020202020204" pitchFamily="34" charset="0"/>
                                              </a:rPr>
                                            </m:ctrlPr>
                                          </m:sSubPr>
                                          <m:e>
                                            <m:r>
                                              <a:rPr lang="en-US" altLang="zh-CN" sz="2000" b="1" i="1" smtClean="0">
                                                <a:solidFill>
                                                  <a:srgbClr val="000000"/>
                                                </a:solidFill>
                                                <a:latin typeface="Cambria Math" panose="02040503050406030204" pitchFamily="18" charset="0"/>
                                                <a:sym typeface="Arial" panose="020B0604020202020204" pitchFamily="34" charset="0"/>
                                              </a:rPr>
                                              <m:t>𝒙</m:t>
                                            </m:r>
                                          </m:e>
                                          <m:sub>
                                            <m:r>
                                              <a:rPr lang="en-US" altLang="zh-CN" sz="2000" b="0" smtClean="0">
                                                <a:solidFill>
                                                  <a:srgbClr val="000000"/>
                                                </a:solidFill>
                                                <a:latin typeface="Cambria Math" panose="02040503050406030204" pitchFamily="18" charset="0"/>
                                                <a:sym typeface="Arial" panose="020B0604020202020204" pitchFamily="34" charset="0"/>
                                              </a:rPr>
                                              <m:t>𝑠</m:t>
                                            </m:r>
                                          </m:sub>
                                        </m:sSub>
                                      </m:lim>
                                    </m:limLow>
                                  </m:fName>
                                  <m:e>
                                    <m:nary>
                                      <m:naryPr>
                                        <m:chr m:val="∑"/>
                                        <m:ctrlPr>
                                          <a:rPr lang="en-US" altLang="zh-CN" sz="2000" b="0" i="1" smtClean="0">
                                            <a:solidFill>
                                              <a:srgbClr val="000000"/>
                                            </a:solidFill>
                                            <a:latin typeface="Cambria Math" panose="02040503050406030204" pitchFamily="18" charset="0"/>
                                            <a:sym typeface="Arial" panose="020B0604020202020204" pitchFamily="34" charset="0"/>
                                          </a:rPr>
                                        </m:ctrlPr>
                                      </m:naryPr>
                                      <m:sub>
                                        <m:r>
                                          <m:rPr>
                                            <m:brk m:alnAt="23"/>
                                          </m:rPr>
                                          <a:rPr lang="en-US" altLang="zh-CN" sz="2000" b="0" i="1" smtClean="0">
                                            <a:solidFill>
                                              <a:srgbClr val="000000"/>
                                            </a:solidFill>
                                            <a:latin typeface="Cambria Math" panose="02040503050406030204" pitchFamily="18" charset="0"/>
                                            <a:sym typeface="Arial" panose="020B0604020202020204" pitchFamily="34" charset="0"/>
                                          </a:rPr>
                                          <m:t>𝑖</m:t>
                                        </m:r>
                                        <m:r>
                                          <a:rPr lang="en-US" altLang="zh-CN" sz="2000" b="0" i="1" smtClean="0">
                                            <a:solidFill>
                                              <a:srgbClr val="000000"/>
                                            </a:solidFill>
                                            <a:latin typeface="Cambria Math" panose="02040503050406030204" pitchFamily="18" charset="0"/>
                                            <a:sym typeface="Arial" panose="020B0604020202020204" pitchFamily="34" charset="0"/>
                                          </a:rPr>
                                          <m:t>=1</m:t>
                                        </m:r>
                                      </m:sub>
                                      <m:sup>
                                        <m:r>
                                          <a:rPr lang="en-US" altLang="zh-CN" sz="2000" b="0" i="1" smtClean="0">
                                            <a:solidFill>
                                              <a:srgbClr val="000000"/>
                                            </a:solidFill>
                                            <a:latin typeface="Cambria Math" panose="02040503050406030204" pitchFamily="18" charset="0"/>
                                            <a:sym typeface="Arial" panose="020B0604020202020204" pitchFamily="34" charset="0"/>
                                          </a:rPr>
                                          <m:t>𝑛</m:t>
                                        </m:r>
                                      </m:sup>
                                      <m:e>
                                        <m:sSup>
                                          <m:sSupPr>
                                            <m:ctrlPr>
                                              <a:rPr lang="en-US" altLang="zh-CN" sz="2000" b="0" i="1" smtClean="0">
                                                <a:solidFill>
                                                  <a:srgbClr val="000000"/>
                                                </a:solidFill>
                                                <a:latin typeface="Cambria Math" panose="02040503050406030204" pitchFamily="18" charset="0"/>
                                                <a:sym typeface="Arial" panose="020B0604020202020204" pitchFamily="34" charset="0"/>
                                              </a:rPr>
                                            </m:ctrlPr>
                                          </m:sSupPr>
                                          <m:e>
                                            <m:r>
                                              <a:rPr lang="en-US" altLang="zh-CN" sz="2000" b="0" smtClean="0">
                                                <a:solidFill>
                                                  <a:srgbClr val="000000"/>
                                                </a:solidFill>
                                                <a:latin typeface="Cambria Math" panose="02040503050406030204" pitchFamily="18" charset="0"/>
                                                <a:sym typeface="Arial" panose="020B0604020202020204" pitchFamily="34" charset="0"/>
                                              </a:rPr>
                                              <m:t>𝑑𝑖𝑠𝑡</m:t>
                                            </m:r>
                                            <m:d>
                                              <m:dPr>
                                                <m:ctrlPr>
                                                  <a:rPr lang="en-US" altLang="zh-CN" sz="2000" b="0" i="1" smtClean="0">
                                                    <a:solidFill>
                                                      <a:srgbClr val="000000"/>
                                                    </a:solidFill>
                                                    <a:latin typeface="Cambria Math" panose="02040503050406030204" pitchFamily="18" charset="0"/>
                                                    <a:sym typeface="Arial" panose="020B0604020202020204" pitchFamily="34" charset="0"/>
                                                  </a:rPr>
                                                </m:ctrlPr>
                                              </m:dPr>
                                              <m:e>
                                                <m:sSub>
                                                  <m:sSubPr>
                                                    <m:ctrlPr>
                                                      <a:rPr lang="en-US" altLang="zh-CN" sz="2000" b="0" i="1" smtClean="0">
                                                        <a:solidFill>
                                                          <a:srgbClr val="000000"/>
                                                        </a:solidFill>
                                                        <a:latin typeface="Cambria Math" panose="02040503050406030204" pitchFamily="18" charset="0"/>
                                                        <a:sym typeface="Arial" panose="020B0604020202020204" pitchFamily="34" charset="0"/>
                                                      </a:rPr>
                                                    </m:ctrlPr>
                                                  </m:sSubPr>
                                                  <m:e>
                                                    <m:r>
                                                      <a:rPr lang="en-US" altLang="zh-CN" sz="2000" b="1" i="1" smtClean="0">
                                                        <a:solidFill>
                                                          <a:srgbClr val="000000"/>
                                                        </a:solidFill>
                                                        <a:latin typeface="Cambria Math" panose="02040503050406030204" pitchFamily="18" charset="0"/>
                                                        <a:sym typeface="Arial" panose="020B0604020202020204" pitchFamily="34" charset="0"/>
                                                      </a:rPr>
                                                      <m:t>𝒙</m:t>
                                                    </m:r>
                                                  </m:e>
                                                  <m:sub>
                                                    <m:r>
                                                      <a:rPr lang="en-US" altLang="zh-CN" sz="2000" b="0" smtClean="0">
                                                        <a:solidFill>
                                                          <a:srgbClr val="000000"/>
                                                        </a:solidFill>
                                                        <a:latin typeface="Cambria Math" panose="02040503050406030204" pitchFamily="18" charset="0"/>
                                                        <a:sym typeface="Arial" panose="020B0604020202020204" pitchFamily="34" charset="0"/>
                                                      </a:rPr>
                                                      <m:t>𝑖</m:t>
                                                    </m:r>
                                                  </m:sub>
                                                </m:sSub>
                                                <m:r>
                                                  <a:rPr lang="en-US" altLang="zh-CN" sz="2000" b="0" smtClean="0">
                                                    <a:solidFill>
                                                      <a:srgbClr val="000000"/>
                                                    </a:solidFill>
                                                    <a:latin typeface="Cambria Math" panose="02040503050406030204" pitchFamily="18" charset="0"/>
                                                    <a:sym typeface="Arial" panose="020B0604020202020204" pitchFamily="34" charset="0"/>
                                                  </a:rPr>
                                                  <m:t>,</m:t>
                                                </m:r>
                                                <m:sSub>
                                                  <m:sSubPr>
                                                    <m:ctrlPr>
                                                      <a:rPr lang="en-US" altLang="zh-CN" sz="2000" b="0" i="1" smtClean="0">
                                                        <a:solidFill>
                                                          <a:srgbClr val="000000"/>
                                                        </a:solidFill>
                                                        <a:latin typeface="Cambria Math" panose="02040503050406030204" pitchFamily="18" charset="0"/>
                                                        <a:sym typeface="Arial" panose="020B0604020202020204" pitchFamily="34" charset="0"/>
                                                      </a:rPr>
                                                    </m:ctrlPr>
                                                  </m:sSubPr>
                                                  <m:e>
                                                    <m:r>
                                                      <a:rPr lang="en-US" altLang="zh-CN" sz="2000" b="1" i="1" smtClean="0">
                                                        <a:solidFill>
                                                          <a:srgbClr val="000000"/>
                                                        </a:solidFill>
                                                        <a:latin typeface="Cambria Math" panose="02040503050406030204" pitchFamily="18" charset="0"/>
                                                        <a:sym typeface="Arial" panose="020B0604020202020204" pitchFamily="34" charset="0"/>
                                                      </a:rPr>
                                                      <m:t>𝒙</m:t>
                                                    </m:r>
                                                  </m:e>
                                                  <m:sub>
                                                    <m:r>
                                                      <a:rPr lang="en-US" altLang="zh-CN" sz="2000" b="0" smtClean="0">
                                                        <a:solidFill>
                                                          <a:srgbClr val="000000"/>
                                                        </a:solidFill>
                                                        <a:latin typeface="Cambria Math" panose="02040503050406030204" pitchFamily="18" charset="0"/>
                                                        <a:sym typeface="Arial" panose="020B0604020202020204" pitchFamily="34" charset="0"/>
                                                      </a:rPr>
                                                      <m:t>𝑠</m:t>
                                                    </m:r>
                                                  </m:sub>
                                                </m:sSub>
                                              </m:e>
                                            </m:d>
                                          </m:e>
                                          <m:sup>
                                            <m:r>
                                              <a:rPr lang="en-US" altLang="zh-CN" sz="2000" b="0" smtClean="0">
                                                <a:solidFill>
                                                  <a:srgbClr val="000000"/>
                                                </a:solidFill>
                                                <a:latin typeface="Cambria Math" panose="02040503050406030204" pitchFamily="18" charset="0"/>
                                                <a:sym typeface="Arial" panose="020B0604020202020204" pitchFamily="34" charset="0"/>
                                              </a:rPr>
                                              <m:t>2</m:t>
                                            </m:r>
                                          </m:sup>
                                        </m:sSup>
                                      </m:e>
                                    </m:nary>
                                  </m:e>
                                </m:func>
                              </m:oMath>
                            </m:oMathPara>
                          </a14:m>
                          <a:endParaRPr lang="zh-CN" altLang="en-US" sz="20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3756679995"/>
                      </a:ext>
                    </a:extLst>
                  </a:tr>
                </a:tbl>
              </a:graphicData>
            </a:graphic>
          </p:graphicFrame>
        </mc:Choice>
        <mc:Fallback xmlns="">
          <p:graphicFrame>
            <p:nvGraphicFramePr>
              <p:cNvPr id="3" name="表格 5">
                <a:extLst>
                  <a:ext uri="{FF2B5EF4-FFF2-40B4-BE49-F238E27FC236}">
                    <a16:creationId xmlns:a16="http://schemas.microsoft.com/office/drawing/2014/main" id="{E02B6856-C47C-A9C0-723A-0903486245CF}"/>
                  </a:ext>
                </a:extLst>
              </p:cNvPr>
              <p:cNvGraphicFramePr>
                <a:graphicFrameLocks noGrp="1"/>
              </p:cNvGraphicFramePr>
              <p:nvPr>
                <p:extLst>
                  <p:ext uri="{D42A27DB-BD31-4B8C-83A1-F6EECF244321}">
                    <p14:modId xmlns:p14="http://schemas.microsoft.com/office/powerpoint/2010/main" val="3919887801"/>
                  </p:ext>
                </p:extLst>
              </p:nvPr>
            </p:nvGraphicFramePr>
            <p:xfrm>
              <a:off x="632135" y="2988313"/>
              <a:ext cx="7879730" cy="2218056"/>
            </p:xfrm>
            <a:graphic>
              <a:graphicData uri="http://schemas.openxmlformats.org/drawingml/2006/table">
                <a:tbl>
                  <a:tblPr firstRow="1">
                    <a:tableStyleId>{9D7B26C5-4107-4FEC-AEDC-1716B250A1EF}</a:tableStyleId>
                  </a:tblPr>
                  <a:tblGrid>
                    <a:gridCol w="3939865">
                      <a:extLst>
                        <a:ext uri="{9D8B030D-6E8A-4147-A177-3AD203B41FA5}">
                          <a16:colId xmlns:a16="http://schemas.microsoft.com/office/drawing/2014/main" val="2283189395"/>
                        </a:ext>
                      </a:extLst>
                    </a:gridCol>
                    <a:gridCol w="3939865">
                      <a:extLst>
                        <a:ext uri="{9D8B030D-6E8A-4147-A177-3AD203B41FA5}">
                          <a16:colId xmlns:a16="http://schemas.microsoft.com/office/drawing/2014/main" val="4216978611"/>
                        </a:ext>
                      </a:extLst>
                    </a:gridCol>
                  </a:tblGrid>
                  <a:tr h="370840">
                    <a:tc>
                      <a:txBody>
                        <a:bodyPr/>
                        <a:lstStyle/>
                        <a:p>
                          <a:r>
                            <a:rPr lang="zh-CN" altLang="en-US" dirty="0">
                              <a:latin typeface="微软雅黑" panose="020B0503020204020204" pitchFamily="34" charset="-122"/>
                              <a:ea typeface="微软雅黑" panose="020B0503020204020204" pitchFamily="34" charset="-122"/>
                            </a:rPr>
                            <a:t>聚类算法</a:t>
                          </a:r>
                        </a:p>
                      </a:txBody>
                      <a:tcPr/>
                    </a:tc>
                    <a:tc>
                      <a:txBody>
                        <a:bodyPr/>
                        <a:lstStyle/>
                        <a:p>
                          <a:pPr algn="ctr"/>
                          <a:r>
                            <a:rPr lang="zh-CN" altLang="en-US" dirty="0">
                              <a:latin typeface="微软雅黑" panose="020B0503020204020204" pitchFamily="34" charset="-122"/>
                              <a:ea typeface="微软雅黑" panose="020B0503020204020204" pitchFamily="34" charset="-122"/>
                            </a:rPr>
                            <a:t>中心点选取方式</a:t>
                          </a:r>
                        </a:p>
                      </a:txBody>
                      <a:tcPr/>
                    </a:tc>
                    <a:extLst>
                      <a:ext uri="{0D108BD9-81ED-4DB2-BD59-A6C34878D82A}">
                        <a16:rowId xmlns:a16="http://schemas.microsoft.com/office/drawing/2014/main" val="2828956526"/>
                      </a:ext>
                    </a:extLst>
                  </a:tr>
                  <a:tr h="923608">
                    <a:tc>
                      <a:txBody>
                        <a:bodyPr/>
                        <a:lstStyle/>
                        <a:p>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均值聚类算法</a:t>
                          </a:r>
                        </a:p>
                      </a:txBody>
                      <a:tcPr/>
                    </a:tc>
                    <a:tc>
                      <a:txBody>
                        <a:bodyPr/>
                        <a:lstStyle/>
                        <a:p>
                          <a:endParaRPr lang="zh-CN"/>
                        </a:p>
                      </a:txBody>
                      <a:tcPr>
                        <a:blipFill>
                          <a:blip r:embed="rId4"/>
                          <a:stretch>
                            <a:fillRect l="-100000" t="-43421" r="-155" b="-100658"/>
                          </a:stretch>
                        </a:blipFill>
                      </a:tcPr>
                    </a:tc>
                    <a:extLst>
                      <a:ext uri="{0D108BD9-81ED-4DB2-BD59-A6C34878D82A}">
                        <a16:rowId xmlns:a16="http://schemas.microsoft.com/office/drawing/2014/main" val="1824951205"/>
                      </a:ext>
                    </a:extLst>
                  </a:tr>
                  <a:tr h="923608">
                    <a:tc>
                      <a:txBody>
                        <a:bodyPr/>
                        <a:lstStyle/>
                        <a:p>
                          <a:r>
                            <a:rPr lang="en-US" altLang="zh-CN" dirty="0">
                              <a:latin typeface="微软雅黑" panose="020B0503020204020204" pitchFamily="34" charset="-122"/>
                              <a:ea typeface="微软雅黑" panose="020B0503020204020204" pitchFamily="34" charset="-122"/>
                            </a:rPr>
                            <a:t>K-Medoids</a:t>
                          </a:r>
                          <a:r>
                            <a:rPr lang="zh-CN" altLang="en-US" dirty="0">
                              <a:latin typeface="微软雅黑" panose="020B0503020204020204" pitchFamily="34" charset="-122"/>
                              <a:ea typeface="微软雅黑" panose="020B0503020204020204" pitchFamily="34" charset="-122"/>
                            </a:rPr>
                            <a:t>聚类算法</a:t>
                          </a:r>
                        </a:p>
                      </a:txBody>
                      <a:tcPr/>
                    </a:tc>
                    <a:tc>
                      <a:txBody>
                        <a:bodyPr/>
                        <a:lstStyle/>
                        <a:p>
                          <a:endParaRPr lang="zh-CN"/>
                        </a:p>
                      </a:txBody>
                      <a:tcPr>
                        <a:blipFill>
                          <a:blip r:embed="rId4"/>
                          <a:stretch>
                            <a:fillRect l="-100000" t="-143421" r="-155" b="-658"/>
                          </a:stretch>
                        </a:blipFill>
                      </a:tcPr>
                    </a:tc>
                    <a:extLst>
                      <a:ext uri="{0D108BD9-81ED-4DB2-BD59-A6C34878D82A}">
                        <a16:rowId xmlns:a16="http://schemas.microsoft.com/office/drawing/2014/main" val="3756679995"/>
                      </a:ext>
                    </a:extLst>
                  </a:tr>
                </a:tbl>
              </a:graphicData>
            </a:graphic>
          </p:graphicFrame>
        </mc:Fallback>
      </mc:AlternateContent>
    </p:spTree>
    <p:extLst>
      <p:ext uri="{BB962C8B-B14F-4D97-AF65-F5344CB8AC3E}">
        <p14:creationId xmlns:p14="http://schemas.microsoft.com/office/powerpoint/2010/main" val="6390342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26</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4" name="文本框 3">
            <a:extLst>
              <a:ext uri="{FF2B5EF4-FFF2-40B4-BE49-F238E27FC236}">
                <a16:creationId xmlns:a16="http://schemas.microsoft.com/office/drawing/2014/main" id="{194C7B8E-BB6A-754C-CBBE-52BFCCF8D64B}"/>
              </a:ext>
            </a:extLst>
          </p:cNvPr>
          <p:cNvSpPr txBox="1"/>
          <p:nvPr/>
        </p:nvSpPr>
        <p:spPr>
          <a:xfrm>
            <a:off x="160890" y="1390864"/>
            <a:ext cx="8760860" cy="2536400"/>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利用</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K-</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均值算法，对无真实标签下的网格拥堵状态进行判别。选取“平均速度”和“平均停车次数”作为聚类特征，在</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50</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个样本的小数据集上进行聚类分析，</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来判断网格的拥堵状态并进行可视化</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p:pic>
        <p:nvPicPr>
          <p:cNvPr id="7" name="图片 6">
            <a:extLst>
              <a:ext uri="{FF2B5EF4-FFF2-40B4-BE49-F238E27FC236}">
                <a16:creationId xmlns:a16="http://schemas.microsoft.com/office/drawing/2014/main" id="{E5DC5ABF-BE45-B2E3-DFBA-72F7577FFFE0}"/>
              </a:ext>
            </a:extLst>
          </p:cNvPr>
          <p:cNvPicPr>
            <a:picLocks noChangeAspect="1"/>
          </p:cNvPicPr>
          <p:nvPr/>
        </p:nvPicPr>
        <p:blipFill>
          <a:blip r:embed="rId3"/>
          <a:stretch>
            <a:fillRect/>
          </a:stretch>
        </p:blipFill>
        <p:spPr>
          <a:xfrm>
            <a:off x="655453" y="3499339"/>
            <a:ext cx="7938344" cy="2305867"/>
          </a:xfrm>
          <a:prstGeom prst="rect">
            <a:avLst/>
          </a:prstGeom>
        </p:spPr>
      </p:pic>
      <p:sp>
        <p:nvSpPr>
          <p:cNvPr id="14" name="文本框 13">
            <a:extLst>
              <a:ext uri="{FF2B5EF4-FFF2-40B4-BE49-F238E27FC236}">
                <a16:creationId xmlns:a16="http://schemas.microsoft.com/office/drawing/2014/main" id="{A453E821-BE96-E6A0-11CC-698F7EF99376}"/>
              </a:ext>
            </a:extLst>
          </p:cNvPr>
          <p:cNvSpPr txBox="1"/>
          <p:nvPr/>
        </p:nvSpPr>
        <p:spPr>
          <a:xfrm>
            <a:off x="3997569" y="3022385"/>
            <a:ext cx="1695157" cy="369332"/>
          </a:xfrm>
          <a:prstGeom prst="rect">
            <a:avLst/>
          </a:prstGeom>
          <a:noFill/>
        </p:spPr>
        <p:txBody>
          <a:bodyPr wrap="square">
            <a:spAutoFit/>
          </a:bodyPr>
          <a:lstStyle/>
          <a:p>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表 数据示例</a:t>
            </a:r>
            <a:endParaRPr lang="zh-CN" altLang="en-US" dirty="0"/>
          </a:p>
        </p:txBody>
      </p:sp>
    </p:spTree>
    <p:extLst>
      <p:ext uri="{BB962C8B-B14F-4D97-AF65-F5344CB8AC3E}">
        <p14:creationId xmlns:p14="http://schemas.microsoft.com/office/powerpoint/2010/main" val="5493618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27</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4" name="文本框 3">
            <a:extLst>
              <a:ext uri="{FF2B5EF4-FFF2-40B4-BE49-F238E27FC236}">
                <a16:creationId xmlns:a16="http://schemas.microsoft.com/office/drawing/2014/main" id="{194C7B8E-BB6A-754C-CBBE-52BFCCF8D64B}"/>
              </a:ext>
            </a:extLst>
          </p:cNvPr>
          <p:cNvSpPr txBox="1"/>
          <p:nvPr/>
        </p:nvSpPr>
        <p:spPr>
          <a:xfrm>
            <a:off x="25331" y="1358039"/>
            <a:ext cx="8760860" cy="4036811"/>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引入</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package</a:t>
            </a:r>
          </a:p>
          <a:p>
            <a:pPr marL="0" marR="0" lvl="0" indent="0" algn="just" defTabSz="457200" rtl="0" eaLnBrk="1" fontAlgn="auto" latinLnBrk="0" hangingPunct="1">
              <a:lnSpc>
                <a:spcPct val="150000"/>
              </a:lnSpc>
              <a:spcBef>
                <a:spcPts val="0"/>
              </a:spcBef>
              <a:spcAft>
                <a:spcPts val="0"/>
              </a:spcAft>
              <a:buClrTx/>
              <a:buSzTx/>
              <a:buFontTx/>
              <a:buNone/>
              <a:tabLst/>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lang="en-US" altLang="zh-CN" sz="1100" noProof="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en-US" altLang="zh-CN" sz="1800" b="0" i="0" u="none" strike="noStrike" kern="1200" cap="none" spc="0" normalizeH="0" baseline="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2</a:t>
            </a:r>
            <a:r>
              <a:rPr kumimoji="0" lang="zh-CN" altLang="en-US" sz="1800" b="0" i="0" u="none" strike="noStrike" kern="1200" cap="none" spc="0" normalizeH="0" baseline="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）数据读取与标准化</a:t>
            </a:r>
            <a:endParaRPr kumimoji="0" lang="en-US" altLang="zh-CN" sz="1800" b="0" i="0" u="none" strike="noStrike" kern="1200" cap="none" spc="0" normalizeH="0" baseline="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p:pic>
        <p:nvPicPr>
          <p:cNvPr id="6" name="图片 5">
            <a:extLst>
              <a:ext uri="{FF2B5EF4-FFF2-40B4-BE49-F238E27FC236}">
                <a16:creationId xmlns:a16="http://schemas.microsoft.com/office/drawing/2014/main" id="{588B29DB-F3F3-5E35-37A1-707E758C2D71}"/>
              </a:ext>
            </a:extLst>
          </p:cNvPr>
          <p:cNvPicPr>
            <a:picLocks noChangeAspect="1"/>
          </p:cNvPicPr>
          <p:nvPr/>
        </p:nvPicPr>
        <p:blipFill>
          <a:blip r:embed="rId3"/>
          <a:stretch>
            <a:fillRect/>
          </a:stretch>
        </p:blipFill>
        <p:spPr>
          <a:xfrm>
            <a:off x="299223" y="1971936"/>
            <a:ext cx="7956274" cy="1588829"/>
          </a:xfrm>
          <a:prstGeom prst="rect">
            <a:avLst/>
          </a:prstGeom>
        </p:spPr>
      </p:pic>
      <p:pic>
        <p:nvPicPr>
          <p:cNvPr id="9" name="图片 8">
            <a:extLst>
              <a:ext uri="{FF2B5EF4-FFF2-40B4-BE49-F238E27FC236}">
                <a16:creationId xmlns:a16="http://schemas.microsoft.com/office/drawing/2014/main" id="{777DB37F-53D6-BBC0-37DB-A9D71CEAA6C9}"/>
              </a:ext>
            </a:extLst>
          </p:cNvPr>
          <p:cNvPicPr>
            <a:picLocks noChangeAspect="1"/>
          </p:cNvPicPr>
          <p:nvPr/>
        </p:nvPicPr>
        <p:blipFill>
          <a:blip r:embed="rId4"/>
          <a:stretch>
            <a:fillRect/>
          </a:stretch>
        </p:blipFill>
        <p:spPr>
          <a:xfrm>
            <a:off x="426184" y="4693647"/>
            <a:ext cx="6765441" cy="1958224"/>
          </a:xfrm>
          <a:prstGeom prst="rect">
            <a:avLst/>
          </a:prstGeom>
        </p:spPr>
      </p:pic>
    </p:spTree>
    <p:extLst>
      <p:ext uri="{BB962C8B-B14F-4D97-AF65-F5344CB8AC3E}">
        <p14:creationId xmlns:p14="http://schemas.microsoft.com/office/powerpoint/2010/main" val="21983742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28</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4" name="文本框 3">
            <a:extLst>
              <a:ext uri="{FF2B5EF4-FFF2-40B4-BE49-F238E27FC236}">
                <a16:creationId xmlns:a16="http://schemas.microsoft.com/office/drawing/2014/main" id="{194C7B8E-BB6A-754C-CBBE-52BFCCF8D64B}"/>
              </a:ext>
            </a:extLst>
          </p:cNvPr>
          <p:cNvSpPr txBox="1"/>
          <p:nvPr/>
        </p:nvSpPr>
        <p:spPr>
          <a:xfrm>
            <a:off x="76408" y="1202845"/>
            <a:ext cx="8760860" cy="4036811"/>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3</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模型训练与结果输出</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4</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）结果可视化</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p:pic>
        <p:nvPicPr>
          <p:cNvPr id="7" name="图片 6">
            <a:extLst>
              <a:ext uri="{FF2B5EF4-FFF2-40B4-BE49-F238E27FC236}">
                <a16:creationId xmlns:a16="http://schemas.microsoft.com/office/drawing/2014/main" id="{DCB578C7-456C-D270-94FB-6F4204C3C71E}"/>
              </a:ext>
            </a:extLst>
          </p:cNvPr>
          <p:cNvPicPr>
            <a:picLocks noChangeAspect="1"/>
          </p:cNvPicPr>
          <p:nvPr/>
        </p:nvPicPr>
        <p:blipFill>
          <a:blip r:embed="rId3"/>
          <a:stretch>
            <a:fillRect/>
          </a:stretch>
        </p:blipFill>
        <p:spPr>
          <a:xfrm>
            <a:off x="228760" y="1714501"/>
            <a:ext cx="8007833" cy="1827555"/>
          </a:xfrm>
          <a:prstGeom prst="rect">
            <a:avLst/>
          </a:prstGeom>
        </p:spPr>
      </p:pic>
      <p:pic>
        <p:nvPicPr>
          <p:cNvPr id="11" name="图片 10">
            <a:extLst>
              <a:ext uri="{FF2B5EF4-FFF2-40B4-BE49-F238E27FC236}">
                <a16:creationId xmlns:a16="http://schemas.microsoft.com/office/drawing/2014/main" id="{204847E3-3017-9998-0C88-424375675885}"/>
              </a:ext>
            </a:extLst>
          </p:cNvPr>
          <p:cNvPicPr>
            <a:picLocks noChangeAspect="1"/>
          </p:cNvPicPr>
          <p:nvPr/>
        </p:nvPicPr>
        <p:blipFill>
          <a:blip r:embed="rId4"/>
          <a:stretch>
            <a:fillRect/>
          </a:stretch>
        </p:blipFill>
        <p:spPr>
          <a:xfrm>
            <a:off x="262049" y="4010360"/>
            <a:ext cx="4686464" cy="2483076"/>
          </a:xfrm>
          <a:prstGeom prst="rect">
            <a:avLst/>
          </a:prstGeom>
        </p:spPr>
      </p:pic>
      <p:sp>
        <p:nvSpPr>
          <p:cNvPr id="16" name="文本框 15">
            <a:extLst>
              <a:ext uri="{FF2B5EF4-FFF2-40B4-BE49-F238E27FC236}">
                <a16:creationId xmlns:a16="http://schemas.microsoft.com/office/drawing/2014/main" id="{2111E866-1EDF-E230-73A1-9F2109994A00}"/>
              </a:ext>
            </a:extLst>
          </p:cNvPr>
          <p:cNvSpPr txBox="1"/>
          <p:nvPr/>
        </p:nvSpPr>
        <p:spPr>
          <a:xfrm>
            <a:off x="5092312" y="4673650"/>
            <a:ext cx="3975279" cy="1015663"/>
          </a:xfrm>
          <a:prstGeom prst="rect">
            <a:avLst/>
          </a:prstGeom>
          <a:noFill/>
        </p:spPr>
        <p:txBody>
          <a:bodyPr wrap="square" rtlCol="0">
            <a:spAutoFit/>
          </a:bodyPr>
          <a:lstStyle/>
          <a:p>
            <a:pPr algn="just"/>
            <a:r>
              <a:rPr lang="zh-CN" altLang="en-US" sz="2000" dirty="0">
                <a:latin typeface="微软雅黑" panose="020B0503020204020204" pitchFamily="34" charset="-122"/>
                <a:ea typeface="微软雅黑" panose="020B0503020204020204" pitchFamily="34" charset="-122"/>
              </a:rPr>
              <a:t>尝试改变</a:t>
            </a:r>
            <a:r>
              <a:rPr lang="en-US" altLang="zh-CN" sz="2000" dirty="0">
                <a:latin typeface="微软雅黑" panose="020B0503020204020204" pitchFamily="34" charset="-122"/>
                <a:ea typeface="微软雅黑" panose="020B0503020204020204" pitchFamily="34" charset="-122"/>
              </a:rPr>
              <a:t>K</a:t>
            </a:r>
            <a:r>
              <a:rPr lang="zh-CN" altLang="en-US" sz="2000" dirty="0">
                <a:latin typeface="微软雅黑" panose="020B0503020204020204" pitchFamily="34" charset="-122"/>
                <a:ea typeface="微软雅黑" panose="020B0503020204020204" pitchFamily="34" charset="-122"/>
              </a:rPr>
              <a:t>值，观察聚类结果变化情况（提示：可视化部分代码需要对应调整）</a:t>
            </a:r>
          </a:p>
        </p:txBody>
      </p:sp>
    </p:spTree>
    <p:extLst>
      <p:ext uri="{BB962C8B-B14F-4D97-AF65-F5344CB8AC3E}">
        <p14:creationId xmlns:p14="http://schemas.microsoft.com/office/powerpoint/2010/main" val="24051837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29</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4" name="文本框 3">
            <a:extLst>
              <a:ext uri="{FF2B5EF4-FFF2-40B4-BE49-F238E27FC236}">
                <a16:creationId xmlns:a16="http://schemas.microsoft.com/office/drawing/2014/main" id="{194C7B8E-BB6A-754C-CBBE-52BFCCF8D64B}"/>
              </a:ext>
            </a:extLst>
          </p:cNvPr>
          <p:cNvSpPr txBox="1"/>
          <p:nvPr/>
        </p:nvSpPr>
        <p:spPr>
          <a:xfrm>
            <a:off x="76408" y="1202845"/>
            <a:ext cx="8760860" cy="1289905"/>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结果可视化：</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p:pic>
        <p:nvPicPr>
          <p:cNvPr id="3" name="图片 2">
            <a:extLst>
              <a:ext uri="{FF2B5EF4-FFF2-40B4-BE49-F238E27FC236}">
                <a16:creationId xmlns:a16="http://schemas.microsoft.com/office/drawing/2014/main" id="{80D4188C-1CF4-F8B6-C86B-8BC71F38B14A}"/>
              </a:ext>
            </a:extLst>
          </p:cNvPr>
          <p:cNvPicPr>
            <a:picLocks noChangeAspect="1"/>
          </p:cNvPicPr>
          <p:nvPr/>
        </p:nvPicPr>
        <p:blipFill>
          <a:blip r:embed="rId3"/>
          <a:stretch>
            <a:fillRect/>
          </a:stretch>
        </p:blipFill>
        <p:spPr>
          <a:xfrm>
            <a:off x="1054710" y="1714501"/>
            <a:ext cx="6776306" cy="5046185"/>
          </a:xfrm>
          <a:prstGeom prst="rect">
            <a:avLst/>
          </a:prstGeom>
        </p:spPr>
      </p:pic>
    </p:spTree>
    <p:extLst>
      <p:ext uri="{BB962C8B-B14F-4D97-AF65-F5344CB8AC3E}">
        <p14:creationId xmlns:p14="http://schemas.microsoft.com/office/powerpoint/2010/main" val="15824718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30</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13" name="标题 1">
            <a:extLst>
              <a:ext uri="{FF2B5EF4-FFF2-40B4-BE49-F238E27FC236}">
                <a16:creationId xmlns:a16="http://schemas.microsoft.com/office/drawing/2014/main" id="{5607F18F-699A-4F7F-A2ED-BD80B7B267C8}"/>
              </a:ext>
            </a:extLst>
          </p:cNvPr>
          <p:cNvSpPr>
            <a:spLocks noGrp="1"/>
          </p:cNvSpPr>
          <p:nvPr>
            <p:ph type="title"/>
          </p:nvPr>
        </p:nvSpPr>
        <p:spPr>
          <a:xfrm>
            <a:off x="457200" y="462280"/>
            <a:ext cx="8229600" cy="990600"/>
          </a:xfrm>
        </p:spPr>
        <p:txBody>
          <a:bodyPr/>
          <a:lstStyle/>
          <a:p>
            <a:r>
              <a:rPr lang="en-US" altLang="zh-CN" dirty="0">
                <a:latin typeface="微软雅黑" panose="020B0503020204020204" pitchFamily="34" charset="-122"/>
                <a:ea typeface="微软雅黑" panose="020B0503020204020204" pitchFamily="34" charset="-122"/>
                <a:cs typeface="Times New Roman" panose="02020603050405020304" pitchFamily="18" charset="0"/>
              </a:rPr>
              <a:t>3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高斯混合聚类</a:t>
            </a:r>
          </a:p>
        </p:txBody>
      </p:sp>
      <p:sp>
        <p:nvSpPr>
          <p:cNvPr id="14" name="内容占位符 2">
            <a:extLst>
              <a:ext uri="{FF2B5EF4-FFF2-40B4-BE49-F238E27FC236}">
                <a16:creationId xmlns:a16="http://schemas.microsoft.com/office/drawing/2014/main" id="{D53E8302-9586-421A-84F3-019752B5E77E}"/>
              </a:ext>
            </a:extLst>
          </p:cNvPr>
          <p:cNvSpPr>
            <a:spLocks noGrp="1"/>
          </p:cNvSpPr>
          <p:nvPr>
            <p:ph idx="1"/>
          </p:nvPr>
        </p:nvSpPr>
        <p:spPr>
          <a:xfrm>
            <a:off x="457200" y="1452878"/>
            <a:ext cx="8299050" cy="4942842"/>
          </a:xfrm>
        </p:spPr>
        <p:txBody>
          <a:bodyPr/>
          <a:lstStyle/>
          <a:p>
            <a:r>
              <a:rPr lang="zh-CN" altLang="en-US"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基本概念</a:t>
            </a: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a:buNone/>
            </a:pP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r>
              <a:rPr lang="zh-CN" altLang="en-US"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关键参数推导</a:t>
            </a: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a:buNone/>
            </a:pP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r>
              <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EM</a:t>
            </a:r>
            <a:r>
              <a:rPr lang="zh-CN" altLang="en-US"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算法</a:t>
            </a: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页脚占位符 2">
            <a:extLst>
              <a:ext uri="{FF2B5EF4-FFF2-40B4-BE49-F238E27FC236}">
                <a16:creationId xmlns:a16="http://schemas.microsoft.com/office/drawing/2014/main" id="{D587D2AD-241A-41DE-BAC5-9CF913617622}"/>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3951323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31</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基本概念</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7309DEF8-8FDF-3ABA-4111-32AE53186205}"/>
                  </a:ext>
                </a:extLst>
              </p:cNvPr>
              <p:cNvSpPr txBox="1"/>
              <p:nvPr/>
            </p:nvSpPr>
            <p:spPr>
              <a:xfrm>
                <a:off x="201486" y="1524467"/>
                <a:ext cx="8675814" cy="4300921"/>
              </a:xfrm>
              <a:prstGeom prst="rect">
                <a:avLst/>
              </a:prstGeom>
              <a:noFill/>
            </p:spPr>
            <p:txBody>
              <a:bodyPr wrap="square">
                <a:spAutoFit/>
              </a:bodyPr>
              <a:lstStyle/>
              <a:p>
                <a:pPr>
                  <a:lnSpc>
                    <a:spcPct val="150000"/>
                  </a:lnSpc>
                </a:pP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高斯混合聚类</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采用概率模型来表达聚类原型。</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假设所有样本服从一个整体分布，该分布由</a:t>
                </a:r>
                <a14:m>
                  <m:oMath xmlns:m="http://schemas.openxmlformats.org/officeDocument/2006/math">
                    <m:r>
                      <a:rPr lang="en-US" altLang="zh-CN" b="1" i="1" dirty="0" smtClean="0">
                        <a:solidFill>
                          <a:srgbClr val="C00000"/>
                        </a:solidFill>
                        <a:latin typeface="Cambria Math" panose="02040503050406030204" pitchFamily="18" charset="0"/>
                        <a:ea typeface="微软雅黑" panose="020B0503020204020204" pitchFamily="34" charset="-122"/>
                        <a:cs typeface="Times New Roman" panose="02020603050405020304" pitchFamily="18" charset="0"/>
                      </a:rPr>
                      <m:t>𝒌</m:t>
                    </m:r>
                  </m:oMath>
                </a14:m>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个混合成分组成</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，每个混合成分对应一个高斯分布，也就是说，每个样本均有一定概率由不同高斯分布产生。这里的每个“成分”即对应聚类的一个“簇”。</a:t>
                </a:r>
                <a:endPar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假设</a:t>
                </a:r>
                <a14:m>
                  <m:oMath xmlns:m="http://schemas.openxmlformats.org/officeDocument/2006/math">
                    <m:r>
                      <a:rPr lang="en-US" altLang="zh-CN" i="1" dirty="0" smtClean="0">
                        <a:latin typeface="Cambria Math" panose="02040503050406030204" pitchFamily="18" charset="0"/>
                        <a:ea typeface="微软雅黑" panose="020B0503020204020204" pitchFamily="34" charset="-122"/>
                        <a:cs typeface="Times New Roman" panose="02020603050405020304" pitchFamily="18" charset="0"/>
                      </a:rPr>
                      <m:t>𝑑</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维随机变量</a:t>
                </a:r>
                <a14:m>
                  <m:oMath xmlns:m="http://schemas.openxmlformats.org/officeDocument/2006/math">
                    <m:r>
                      <a:rPr lang="en-US" altLang="zh-CN" b="1" i="1" dirty="0" smtClean="0">
                        <a:latin typeface="Cambria Math" panose="02040503050406030204" pitchFamily="18" charset="0"/>
                        <a:ea typeface="微软雅黑" panose="020B0503020204020204" pitchFamily="34" charset="-122"/>
                        <a:cs typeface="Times New Roman" panose="02020603050405020304" pitchFamily="18" charset="0"/>
                      </a:rPr>
                      <m:t>𝒚</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服从高斯分布</a:t>
                </a:r>
                <a14:m>
                  <m:oMath xmlns:m="http://schemas.openxmlformats.org/officeDocument/2006/math">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𝑁</m:t>
                    </m:r>
                    <m:d>
                      <m:dPr>
                        <m:ctrlP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ctrlPr>
                      </m:dPr>
                      <m:e>
                        <m:r>
                          <a:rPr lang="zh-CN" altLang="en-US" b="1" i="1" smtClean="0">
                            <a:latin typeface="Cambria Math" panose="02040503050406030204" pitchFamily="18" charset="0"/>
                            <a:ea typeface="微软雅黑" panose="020B0503020204020204" pitchFamily="34" charset="-122"/>
                            <a:cs typeface="Times New Roman" panose="02020603050405020304" pitchFamily="18" charset="0"/>
                          </a:rPr>
                          <m:t>𝝁</m:t>
                        </m:r>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m:t>
                        </m:r>
                        <m:r>
                          <a:rPr lang="el-GR" altLang="zh-CN" b="1" i="1" smtClean="0">
                            <a:latin typeface="Cambria Math" panose="02040503050406030204" pitchFamily="18" charset="0"/>
                            <a:ea typeface="Cambria Math" panose="02040503050406030204" pitchFamily="18" charset="0"/>
                            <a:cs typeface="Times New Roman" panose="02020603050405020304" pitchFamily="18" charset="0"/>
                          </a:rPr>
                          <m:t>𝜮</m:t>
                        </m:r>
                      </m:e>
                    </m:d>
                  </m:oMath>
                </a14:m>
                <a:r>
                  <a:rPr lang="en-US" altLang="zh-CN"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其概率密度函数记为：</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𝑓</m:t>
                      </m:r>
                      <m:d>
                        <m:dPr>
                          <m:ctrlP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b="1" i="1" dirty="0">
                              <a:latin typeface="Cambria Math" panose="02040503050406030204" pitchFamily="18" charset="0"/>
                              <a:ea typeface="微软雅黑" panose="020B0503020204020204" pitchFamily="34" charset="-122"/>
                              <a:cs typeface="Times New Roman" panose="02020603050405020304" pitchFamily="18" charset="0"/>
                            </a:rPr>
                            <m:t>𝒚</m:t>
                          </m:r>
                          <m:r>
                            <a:rPr lang="en-US" altLang="zh-CN" b="0" i="1" dirty="0" smtClean="0">
                              <a:latin typeface="Cambria Math" panose="02040503050406030204" pitchFamily="18" charset="0"/>
                              <a:ea typeface="微软雅黑" panose="020B0503020204020204" pitchFamily="34" charset="-122"/>
                              <a:cs typeface="Times New Roman" panose="02020603050405020304" pitchFamily="18" charset="0"/>
                            </a:rPr>
                            <m:t>|</m:t>
                          </m:r>
                          <m:r>
                            <a:rPr lang="zh-CN" altLang="en-US" b="1" i="1">
                              <a:latin typeface="Cambria Math" panose="02040503050406030204" pitchFamily="18" charset="0"/>
                              <a:ea typeface="微软雅黑" panose="020B0503020204020204" pitchFamily="34" charset="-122"/>
                              <a:cs typeface="Times New Roman" panose="02020603050405020304" pitchFamily="18" charset="0"/>
                            </a:rPr>
                            <m:t>𝝁</m:t>
                          </m:r>
                          <m:r>
                            <a:rPr lang="en-US" altLang="zh-CN" i="1">
                              <a:latin typeface="Cambria Math" panose="02040503050406030204" pitchFamily="18" charset="0"/>
                              <a:ea typeface="微软雅黑" panose="020B0503020204020204" pitchFamily="34" charset="-122"/>
                              <a:cs typeface="Times New Roman" panose="02020603050405020304" pitchFamily="18" charset="0"/>
                            </a:rPr>
                            <m:t>,</m:t>
                          </m:r>
                          <m:r>
                            <a:rPr lang="el-GR" altLang="zh-CN" b="1" i="1">
                              <a:latin typeface="Cambria Math" panose="02040503050406030204" pitchFamily="18" charset="0"/>
                              <a:ea typeface="Cambria Math" panose="02040503050406030204" pitchFamily="18" charset="0"/>
                              <a:cs typeface="Times New Roman" panose="02020603050405020304" pitchFamily="18" charset="0"/>
                            </a:rPr>
                            <m:t>𝜮</m:t>
                          </m:r>
                        </m:e>
                      </m:d>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m:t>
                      </m:r>
                      <m:f>
                        <m:fPr>
                          <m:ctrlP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1</m:t>
                          </m:r>
                        </m:num>
                        <m:den>
                          <m:sSup>
                            <m:sSupPr>
                              <m:ctrlP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ctrlPr>
                            </m:sSupPr>
                            <m:e>
                              <m:d>
                                <m:dPr>
                                  <m:ctrlP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2</m:t>
                                  </m:r>
                                  <m:r>
                                    <a:rPr lang="zh-CN" altLang="en-US" b="0" i="1" smtClean="0">
                                      <a:latin typeface="Cambria Math" panose="02040503050406030204" pitchFamily="18" charset="0"/>
                                      <a:ea typeface="微软雅黑" panose="020B0503020204020204" pitchFamily="34" charset="-122"/>
                                      <a:cs typeface="Times New Roman" panose="02020603050405020304" pitchFamily="18" charset="0"/>
                                    </a:rPr>
                                    <m:t>𝜋</m:t>
                                  </m:r>
                                </m:e>
                              </m:d>
                            </m:e>
                            <m:sup>
                              <m:f>
                                <m:fPr>
                                  <m:type m:val="lin"/>
                                  <m:ctrlP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𝑑</m:t>
                                  </m:r>
                                </m:num>
                                <m:den>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2</m:t>
                                  </m:r>
                                </m:den>
                              </m:f>
                            </m:sup>
                          </m:sSup>
                          <m:sSup>
                            <m:sSupPr>
                              <m:ctrlP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ctrlPr>
                            </m:sSupPr>
                            <m:e>
                              <m:d>
                                <m:dPr>
                                  <m:begChr m:val="|"/>
                                  <m:endChr m:val="|"/>
                                  <m:ctrlP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ctrlPr>
                                </m:dPr>
                                <m:e>
                                  <m:r>
                                    <a:rPr lang="el-GR" altLang="zh-CN" b="1" i="1">
                                      <a:latin typeface="Cambria Math" panose="02040503050406030204" pitchFamily="18" charset="0"/>
                                      <a:ea typeface="Cambria Math" panose="02040503050406030204" pitchFamily="18" charset="0"/>
                                      <a:cs typeface="Times New Roman" panose="02020603050405020304" pitchFamily="18" charset="0"/>
                                    </a:rPr>
                                    <m:t>𝜮</m:t>
                                  </m:r>
                                </m:e>
                              </m:d>
                            </m:e>
                            <m:sup>
                              <m:f>
                                <m:fPr>
                                  <m:type m:val="lin"/>
                                  <m:ctrlP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1</m:t>
                                  </m:r>
                                </m:num>
                                <m:den>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2</m:t>
                                  </m:r>
                                </m:den>
                              </m:f>
                            </m:sup>
                          </m:sSup>
                        </m:den>
                      </m:f>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𝑒𝑥𝑝</m:t>
                      </m:r>
                      <m:d>
                        <m:dPr>
                          <m:ctrlP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m:t>
                          </m:r>
                          <m:f>
                            <m:fPr>
                              <m:ctrlP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1</m:t>
                              </m:r>
                            </m:num>
                            <m:den>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2</m:t>
                              </m:r>
                            </m:den>
                          </m:f>
                          <m:sSup>
                            <m:sSupPr>
                              <m:ctrlP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ctrlPr>
                            </m:sSupPr>
                            <m:e>
                              <m:d>
                                <m:dPr>
                                  <m:ctrlPr>
                                    <a:rPr lang="en-US" altLang="zh-CN" i="1">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b="1" i="1" dirty="0">
                                      <a:latin typeface="Cambria Math" panose="02040503050406030204" pitchFamily="18" charset="0"/>
                                      <a:ea typeface="微软雅黑" panose="020B0503020204020204" pitchFamily="34" charset="-122"/>
                                      <a:cs typeface="Times New Roman" panose="02020603050405020304" pitchFamily="18" charset="0"/>
                                    </a:rPr>
                                    <m:t>𝒚</m:t>
                                  </m:r>
                                  <m:r>
                                    <a:rPr lang="en-US" altLang="zh-CN" i="1" dirty="0">
                                      <a:latin typeface="Cambria Math" panose="02040503050406030204" pitchFamily="18" charset="0"/>
                                      <a:ea typeface="微软雅黑" panose="020B0503020204020204" pitchFamily="34" charset="-122"/>
                                      <a:cs typeface="Times New Roman" panose="02020603050405020304" pitchFamily="18" charset="0"/>
                                    </a:rPr>
                                    <m:t>−</m:t>
                                  </m:r>
                                  <m:r>
                                    <a:rPr lang="zh-CN" altLang="en-US" b="1" i="1">
                                      <a:latin typeface="Cambria Math" panose="02040503050406030204" pitchFamily="18" charset="0"/>
                                      <a:ea typeface="微软雅黑" panose="020B0503020204020204" pitchFamily="34" charset="-122"/>
                                      <a:cs typeface="Times New Roman" panose="02020603050405020304" pitchFamily="18" charset="0"/>
                                    </a:rPr>
                                    <m:t>𝝁</m:t>
                                  </m:r>
                                </m:e>
                              </m:d>
                            </m:e>
                            <m:sup>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𝑇</m:t>
                              </m:r>
                            </m:sup>
                          </m:sSup>
                          <m:sSup>
                            <m:sSupPr>
                              <m:ctrlP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ctrlPr>
                            </m:sSupPr>
                            <m:e>
                              <m:r>
                                <a:rPr lang="el-GR" altLang="zh-CN" b="1" i="1">
                                  <a:latin typeface="Cambria Math" panose="02040503050406030204" pitchFamily="18" charset="0"/>
                                  <a:ea typeface="Cambria Math" panose="02040503050406030204" pitchFamily="18" charset="0"/>
                                  <a:cs typeface="Times New Roman" panose="02020603050405020304" pitchFamily="18" charset="0"/>
                                </a:rPr>
                                <m:t>𝜮</m:t>
                              </m:r>
                            </m:e>
                            <m:sup>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−1</m:t>
                              </m:r>
                            </m:sup>
                          </m:sSup>
                          <m:d>
                            <m:dPr>
                              <m:ctrlP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b="1" i="1" dirty="0">
                                  <a:latin typeface="Cambria Math" panose="02040503050406030204" pitchFamily="18" charset="0"/>
                                  <a:ea typeface="微软雅黑" panose="020B0503020204020204" pitchFamily="34" charset="-122"/>
                                  <a:cs typeface="Times New Roman" panose="02020603050405020304" pitchFamily="18" charset="0"/>
                                </a:rPr>
                                <m:t>𝒚</m:t>
                              </m:r>
                              <m:r>
                                <a:rPr lang="en-US" altLang="zh-CN" b="0" i="1" dirty="0" smtClean="0">
                                  <a:latin typeface="Cambria Math" panose="02040503050406030204" pitchFamily="18" charset="0"/>
                                  <a:ea typeface="微软雅黑" panose="020B0503020204020204" pitchFamily="34" charset="-122"/>
                                  <a:cs typeface="Times New Roman" panose="02020603050405020304" pitchFamily="18" charset="0"/>
                                </a:rPr>
                                <m:t>−</m:t>
                              </m:r>
                              <m:r>
                                <a:rPr lang="zh-CN" altLang="en-US" b="1" i="1">
                                  <a:latin typeface="Cambria Math" panose="02040503050406030204" pitchFamily="18" charset="0"/>
                                  <a:ea typeface="微软雅黑" panose="020B0503020204020204" pitchFamily="34" charset="-122"/>
                                  <a:cs typeface="Times New Roman" panose="02020603050405020304" pitchFamily="18" charset="0"/>
                                </a:rPr>
                                <m:t>𝝁</m:t>
                              </m:r>
                            </m:e>
                          </m:d>
                        </m:e>
                      </m:d>
                    </m:oMath>
                  </m:oMathPara>
                </a14:m>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根据上式可以看出，</a:t>
                </a:r>
                <a14:m>
                  <m:oMath xmlns:m="http://schemas.openxmlformats.org/officeDocument/2006/math">
                    <m:r>
                      <a:rPr lang="zh-CN" altLang="en-US" b="1" i="1" smtClean="0">
                        <a:solidFill>
                          <a:srgbClr val="C00000"/>
                        </a:solidFill>
                        <a:latin typeface="Cambria Math" panose="02040503050406030204" pitchFamily="18" charset="0"/>
                        <a:ea typeface="微软雅黑" panose="020B0503020204020204" pitchFamily="34" charset="-122"/>
                        <a:cs typeface="Times New Roman" panose="02020603050405020304" pitchFamily="18" charset="0"/>
                      </a:rPr>
                      <m:t>𝝁</m:t>
                    </m:r>
                  </m:oMath>
                </a14:m>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 与 </a:t>
                </a:r>
                <a14:m>
                  <m:oMath xmlns:m="http://schemas.openxmlformats.org/officeDocument/2006/math">
                    <m:r>
                      <a:rPr lang="el-GR" altLang="zh-CN" b="1"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𝜮</m:t>
                    </m:r>
                  </m:oMath>
                </a14:m>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 唯一决定了高斯分布的概率密度函数。</a:t>
                </a:r>
                <a:endParaRPr lang="en-US" altLang="zh-CN" b="1" dirty="0">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7309DEF8-8FDF-3ABA-4111-32AE53186205}"/>
                  </a:ext>
                </a:extLst>
              </p:cNvPr>
              <p:cNvSpPr txBox="1">
                <a:spLocks noRot="1" noChangeAspect="1" noMove="1" noResize="1" noEditPoints="1" noAdjustHandles="1" noChangeArrowheads="1" noChangeShapeType="1" noTextEdit="1"/>
              </p:cNvSpPr>
              <p:nvPr/>
            </p:nvSpPr>
            <p:spPr>
              <a:xfrm>
                <a:off x="201486" y="1524467"/>
                <a:ext cx="8675814" cy="4300921"/>
              </a:xfrm>
              <a:prstGeom prst="rect">
                <a:avLst/>
              </a:prstGeom>
              <a:blipFill>
                <a:blip r:embed="rId3"/>
                <a:stretch>
                  <a:fillRect l="-562" r="-492" b="-127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40111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32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基本概念</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7309DEF8-8FDF-3ABA-4111-32AE53186205}"/>
                  </a:ext>
                </a:extLst>
              </p:cNvPr>
              <p:cNvSpPr txBox="1"/>
              <p:nvPr/>
            </p:nvSpPr>
            <p:spPr>
              <a:xfrm>
                <a:off x="201486" y="1524467"/>
                <a:ext cx="8675814" cy="3746667"/>
              </a:xfrm>
              <a:prstGeom prst="rect">
                <a:avLst/>
              </a:prstGeom>
              <a:noFill/>
            </p:spPr>
            <p:txBody>
              <a:bodyPr wrap="square">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假设</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𝑑</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维样本空间中的随机变量</a:t>
                </a:r>
                <a14:m>
                  <m:oMath xmlns:m="http://schemas.openxmlformats.org/officeDocument/2006/math">
                    <m:r>
                      <a:rPr kumimoji="0" lang="en-US" altLang="zh-CN" sz="1800" b="1"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𝒙</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服从高斯混合分布，其概率密度函数定义为：</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nSpc>
                    <a:spcPct val="150000"/>
                  </a:lnSpc>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𝑓</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𝑀</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b="1"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𝒙</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nary>
                        <m:naryPr>
                          <m: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3"/>
                            </m:r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=1</m:t>
                          </m:r>
                        </m:sub>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𝑘</m:t>
                          </m:r>
                        </m:sup>
                        <m:e>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𝛼</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e>
                      </m:nary>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𝑓</m:t>
                      </m:r>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b="1"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𝒙</m:t>
                          </m:r>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b="1" i="1">
                                  <a:latin typeface="Cambria Math" panose="02040503050406030204" pitchFamily="18" charset="0"/>
                                  <a:ea typeface="微软雅黑" panose="020B0503020204020204" pitchFamily="34" charset="-122"/>
                                  <a:cs typeface="Times New Roman" panose="02020603050405020304" pitchFamily="18" charset="0"/>
                                </a:rPr>
                                <m:t>𝝁</m:t>
                              </m:r>
                            </m:e>
                            <m:sub>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l-GR" altLang="zh-CN" b="1" i="1">
                                  <a:latin typeface="Cambria Math" panose="02040503050406030204" pitchFamily="18" charset="0"/>
                                  <a:ea typeface="Cambria Math" panose="02040503050406030204" pitchFamily="18" charset="0"/>
                                  <a:cs typeface="Times New Roman" panose="02020603050405020304" pitchFamily="18" charset="0"/>
                                </a:rPr>
                                <m:t>𝜮</m:t>
                              </m:r>
                            </m:e>
                            <m:sub>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e>
                      </m:d>
                    </m:oMath>
                  </m:oMathPara>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lvl="0">
                  <a:lnSpc>
                    <a:spcPct val="150000"/>
                  </a:lnSpc>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nSpc>
                    <a:spcPct val="150000"/>
                  </a:lnSpc>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该分布由</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𝑘</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个混合成分组成，每个混合成分对应一个高斯分布。其中 </a:t>
                </a:r>
                <a14:m>
                  <m:oMath xmlns:m="http://schemas.openxmlformats.org/officeDocument/2006/math">
                    <m:sSub>
                      <m:sSubPr>
                        <m:ctrlP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b="1" i="1">
                            <a:latin typeface="Cambria Math" panose="02040503050406030204" pitchFamily="18" charset="0"/>
                            <a:ea typeface="微软雅黑" panose="020B0503020204020204" pitchFamily="34" charset="-122"/>
                            <a:cs typeface="Times New Roman" panose="02020603050405020304" pitchFamily="18" charset="0"/>
                          </a:rPr>
                          <m:t>𝝁</m:t>
                        </m:r>
                      </m:e>
                      <m:sub>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和 </a:t>
                </a:r>
                <a14:m>
                  <m:oMath xmlns:m="http://schemas.openxmlformats.org/officeDocument/2006/math">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l-GR" altLang="zh-CN" b="1" i="1">
                            <a:latin typeface="Cambria Math" panose="02040503050406030204" pitchFamily="18" charset="0"/>
                            <a:ea typeface="Cambria Math" panose="02040503050406030204" pitchFamily="18" charset="0"/>
                            <a:cs typeface="Times New Roman" panose="02020603050405020304" pitchFamily="18" charset="0"/>
                          </a:rPr>
                          <m:t>𝜮</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是第</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个高斯混合成分的参数，而</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为相应的“混合系数”（</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mixture coefficient</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有</a:t>
                </a:r>
                <a14:m>
                  <m:oMath xmlns:m="http://schemas.openxmlformats.org/officeDocument/2006/math">
                    <m:nary>
                      <m:naryPr>
                        <m:chr m:val="∑"/>
                        <m:ctrlPr>
                          <a:rPr kumimoji="0" lang="zh-CN"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3"/>
                          </m:r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=1</m:t>
                        </m:r>
                      </m:sub>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𝑘</m:t>
                        </m:r>
                      </m:sup>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e>
                    </m:nary>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=1</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lvl="0">
                  <a:lnSpc>
                    <a:spcPct val="150000"/>
                  </a:lnSpc>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7309DEF8-8FDF-3ABA-4111-32AE53186205}"/>
                  </a:ext>
                </a:extLst>
              </p:cNvPr>
              <p:cNvSpPr txBox="1">
                <a:spLocks noRot="1" noChangeAspect="1" noMove="1" noResize="1" noEditPoints="1" noAdjustHandles="1" noChangeArrowheads="1" noChangeShapeType="1" noTextEdit="1"/>
              </p:cNvSpPr>
              <p:nvPr/>
            </p:nvSpPr>
            <p:spPr>
              <a:xfrm>
                <a:off x="201486" y="1524467"/>
                <a:ext cx="8675814" cy="3746667"/>
              </a:xfrm>
              <a:prstGeom prst="rect">
                <a:avLst/>
              </a:prstGeom>
              <a:blipFill>
                <a:blip r:embed="rId3"/>
                <a:stretch>
                  <a:fillRect l="-3865" r="-492" b="-6341"/>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44334C3D-27ED-6D0A-B32F-8051F8BCCAB8}"/>
              </a:ext>
            </a:extLst>
          </p:cNvPr>
          <p:cNvSpPr txBox="1"/>
          <p:nvPr/>
        </p:nvSpPr>
        <p:spPr>
          <a:xfrm>
            <a:off x="477107" y="5271134"/>
            <a:ext cx="8189786" cy="646331"/>
          </a:xfrm>
          <a:prstGeom prst="rect">
            <a:avLst/>
          </a:prstGeom>
          <a:noFill/>
        </p:spPr>
        <p:txBody>
          <a:bodyPr wrap="square">
            <a:spAutoFit/>
          </a:bodyPr>
          <a:lstStyle/>
          <a:p>
            <a:pPr algn="ct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高斯混合聚类假设所有样本都源于高斯混合分布</a:t>
            </a:r>
            <a:r>
              <a:rPr kumimoji="0" lang="zh-CN" altLang="en-US" sz="18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的采样，并通过</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判断样本点“最有可能”由哪个高斯分布生成进行聚类</a:t>
            </a:r>
            <a:endParaRPr lang="zh-CN" altLang="en-US" dirty="0"/>
          </a:p>
        </p:txBody>
      </p:sp>
    </p:spTree>
    <p:extLst>
      <p:ext uri="{BB962C8B-B14F-4D97-AF65-F5344CB8AC3E}">
        <p14:creationId xmlns:p14="http://schemas.microsoft.com/office/powerpoint/2010/main" val="29985825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33</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基本概念</a:t>
            </a:r>
          </a:p>
        </p:txBody>
      </p:sp>
      <p:cxnSp>
        <p:nvCxnSpPr>
          <p:cNvPr id="4" name="直接箭头连接符 3">
            <a:extLst>
              <a:ext uri="{FF2B5EF4-FFF2-40B4-BE49-F238E27FC236}">
                <a16:creationId xmlns:a16="http://schemas.microsoft.com/office/drawing/2014/main" id="{2C2C8BD6-B427-F921-67C5-39D8EFB40215}"/>
              </a:ext>
            </a:extLst>
          </p:cNvPr>
          <p:cNvCxnSpPr>
            <a:cxnSpLocks/>
          </p:cNvCxnSpPr>
          <p:nvPr/>
        </p:nvCxnSpPr>
        <p:spPr>
          <a:xfrm flipV="1">
            <a:off x="1341521" y="1654343"/>
            <a:ext cx="0" cy="481263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6" name="直接箭头连接符 5">
            <a:extLst>
              <a:ext uri="{FF2B5EF4-FFF2-40B4-BE49-F238E27FC236}">
                <a16:creationId xmlns:a16="http://schemas.microsoft.com/office/drawing/2014/main" id="{87D91079-B507-1AEE-0861-46A8A461065B}"/>
              </a:ext>
            </a:extLst>
          </p:cNvPr>
          <p:cNvCxnSpPr>
            <a:cxnSpLocks/>
          </p:cNvCxnSpPr>
          <p:nvPr/>
        </p:nvCxnSpPr>
        <p:spPr>
          <a:xfrm flipV="1">
            <a:off x="1157036" y="6063916"/>
            <a:ext cx="7710238" cy="6818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7" name="任意多边形: 形状 16">
            <a:extLst>
              <a:ext uri="{FF2B5EF4-FFF2-40B4-BE49-F238E27FC236}">
                <a16:creationId xmlns:a16="http://schemas.microsoft.com/office/drawing/2014/main" id="{F3768A39-B8FF-588C-B77E-E3065AA25273}"/>
              </a:ext>
            </a:extLst>
          </p:cNvPr>
          <p:cNvSpPr/>
          <p:nvPr/>
        </p:nvSpPr>
        <p:spPr>
          <a:xfrm>
            <a:off x="2147377" y="2744771"/>
            <a:ext cx="3473450" cy="2183933"/>
          </a:xfrm>
          <a:custGeom>
            <a:avLst/>
            <a:gdLst>
              <a:gd name="connsiteX0" fmla="*/ 0 w 3473450"/>
              <a:gd name="connsiteY0" fmla="*/ 2695812 h 2696015"/>
              <a:gd name="connsiteX1" fmla="*/ 314325 w 3473450"/>
              <a:gd name="connsiteY1" fmla="*/ 2683112 h 2696015"/>
              <a:gd name="connsiteX2" fmla="*/ 555625 w 3473450"/>
              <a:gd name="connsiteY2" fmla="*/ 2613262 h 2696015"/>
              <a:gd name="connsiteX3" fmla="*/ 682625 w 3473450"/>
              <a:gd name="connsiteY3" fmla="*/ 2524362 h 2696015"/>
              <a:gd name="connsiteX4" fmla="*/ 796925 w 3473450"/>
              <a:gd name="connsiteY4" fmla="*/ 2400537 h 2696015"/>
              <a:gd name="connsiteX5" fmla="*/ 927100 w 3473450"/>
              <a:gd name="connsiteY5" fmla="*/ 2121137 h 2696015"/>
              <a:gd name="connsiteX6" fmla="*/ 1066800 w 3473450"/>
              <a:gd name="connsiteY6" fmla="*/ 1743312 h 2696015"/>
              <a:gd name="connsiteX7" fmla="*/ 1301750 w 3473450"/>
              <a:gd name="connsiteY7" fmla="*/ 914637 h 2696015"/>
              <a:gd name="connsiteX8" fmla="*/ 1508125 w 3473450"/>
              <a:gd name="connsiteY8" fmla="*/ 190737 h 2696015"/>
              <a:gd name="connsiteX9" fmla="*/ 1657350 w 3473450"/>
              <a:gd name="connsiteY9" fmla="*/ 9762 h 2696015"/>
              <a:gd name="connsiteX10" fmla="*/ 1739900 w 3473450"/>
              <a:gd name="connsiteY10" fmla="*/ 28812 h 2696015"/>
              <a:gd name="connsiteX11" fmla="*/ 1800225 w 3473450"/>
              <a:gd name="connsiteY11" fmla="*/ 66912 h 2696015"/>
              <a:gd name="connsiteX12" fmla="*/ 1889125 w 3473450"/>
              <a:gd name="connsiteY12" fmla="*/ 266937 h 2696015"/>
              <a:gd name="connsiteX13" fmla="*/ 2305050 w 3473450"/>
              <a:gd name="connsiteY13" fmla="*/ 1762362 h 2696015"/>
              <a:gd name="connsiteX14" fmla="*/ 2473325 w 3473450"/>
              <a:gd name="connsiteY14" fmla="*/ 2184637 h 2696015"/>
              <a:gd name="connsiteX15" fmla="*/ 2562225 w 3473450"/>
              <a:gd name="connsiteY15" fmla="*/ 2368787 h 2696015"/>
              <a:gd name="connsiteX16" fmla="*/ 2654300 w 3473450"/>
              <a:gd name="connsiteY16" fmla="*/ 2483087 h 2696015"/>
              <a:gd name="connsiteX17" fmla="*/ 2784475 w 3473450"/>
              <a:gd name="connsiteY17" fmla="*/ 2591037 h 2696015"/>
              <a:gd name="connsiteX18" fmla="*/ 2927350 w 3473450"/>
              <a:gd name="connsiteY18" fmla="*/ 2664062 h 2696015"/>
              <a:gd name="connsiteX19" fmla="*/ 3473450 w 3473450"/>
              <a:gd name="connsiteY19" fmla="*/ 2654537 h 269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473450" h="2696015">
                <a:moveTo>
                  <a:pt x="0" y="2695812"/>
                </a:moveTo>
                <a:cubicBezTo>
                  <a:pt x="110860" y="2696341"/>
                  <a:pt x="221721" y="2696870"/>
                  <a:pt x="314325" y="2683112"/>
                </a:cubicBezTo>
                <a:cubicBezTo>
                  <a:pt x="406929" y="2669354"/>
                  <a:pt x="494242" y="2639720"/>
                  <a:pt x="555625" y="2613262"/>
                </a:cubicBezTo>
                <a:cubicBezTo>
                  <a:pt x="617008" y="2586804"/>
                  <a:pt x="642409" y="2559816"/>
                  <a:pt x="682625" y="2524362"/>
                </a:cubicBezTo>
                <a:cubicBezTo>
                  <a:pt x="722841" y="2488908"/>
                  <a:pt x="756179" y="2467741"/>
                  <a:pt x="796925" y="2400537"/>
                </a:cubicBezTo>
                <a:cubicBezTo>
                  <a:pt x="837671" y="2333333"/>
                  <a:pt x="882121" y="2230674"/>
                  <a:pt x="927100" y="2121137"/>
                </a:cubicBezTo>
                <a:cubicBezTo>
                  <a:pt x="972079" y="2011600"/>
                  <a:pt x="1004358" y="1944395"/>
                  <a:pt x="1066800" y="1743312"/>
                </a:cubicBezTo>
                <a:cubicBezTo>
                  <a:pt x="1129242" y="1542229"/>
                  <a:pt x="1228196" y="1173399"/>
                  <a:pt x="1301750" y="914637"/>
                </a:cubicBezTo>
                <a:cubicBezTo>
                  <a:pt x="1375304" y="655874"/>
                  <a:pt x="1448858" y="341549"/>
                  <a:pt x="1508125" y="190737"/>
                </a:cubicBezTo>
                <a:cubicBezTo>
                  <a:pt x="1567392" y="39925"/>
                  <a:pt x="1618721" y="36749"/>
                  <a:pt x="1657350" y="9762"/>
                </a:cubicBezTo>
                <a:cubicBezTo>
                  <a:pt x="1695979" y="-17225"/>
                  <a:pt x="1716088" y="19287"/>
                  <a:pt x="1739900" y="28812"/>
                </a:cubicBezTo>
                <a:cubicBezTo>
                  <a:pt x="1763713" y="38337"/>
                  <a:pt x="1775354" y="27225"/>
                  <a:pt x="1800225" y="66912"/>
                </a:cubicBezTo>
                <a:cubicBezTo>
                  <a:pt x="1825096" y="106599"/>
                  <a:pt x="1804988" y="-15638"/>
                  <a:pt x="1889125" y="266937"/>
                </a:cubicBezTo>
                <a:cubicBezTo>
                  <a:pt x="1973263" y="549512"/>
                  <a:pt x="2207683" y="1442745"/>
                  <a:pt x="2305050" y="1762362"/>
                </a:cubicBezTo>
                <a:cubicBezTo>
                  <a:pt x="2402417" y="2081979"/>
                  <a:pt x="2430462" y="2083566"/>
                  <a:pt x="2473325" y="2184637"/>
                </a:cubicBezTo>
                <a:cubicBezTo>
                  <a:pt x="2516188" y="2285708"/>
                  <a:pt x="2532063" y="2319045"/>
                  <a:pt x="2562225" y="2368787"/>
                </a:cubicBezTo>
                <a:cubicBezTo>
                  <a:pt x="2592388" y="2418529"/>
                  <a:pt x="2617258" y="2446045"/>
                  <a:pt x="2654300" y="2483087"/>
                </a:cubicBezTo>
                <a:cubicBezTo>
                  <a:pt x="2691342" y="2520129"/>
                  <a:pt x="2738967" y="2560875"/>
                  <a:pt x="2784475" y="2591037"/>
                </a:cubicBezTo>
                <a:cubicBezTo>
                  <a:pt x="2829983" y="2621199"/>
                  <a:pt x="2812521" y="2653479"/>
                  <a:pt x="2927350" y="2664062"/>
                </a:cubicBezTo>
                <a:cubicBezTo>
                  <a:pt x="3042179" y="2674645"/>
                  <a:pt x="3257814" y="2664591"/>
                  <a:pt x="3473450" y="2654537"/>
                </a:cubicBezTo>
              </a:path>
            </a:pathLst>
          </a:cu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任意多边形: 形状 18">
            <a:extLst>
              <a:ext uri="{FF2B5EF4-FFF2-40B4-BE49-F238E27FC236}">
                <a16:creationId xmlns:a16="http://schemas.microsoft.com/office/drawing/2014/main" id="{AE3B2B6A-D541-09ED-6E2C-39ED3428861D}"/>
              </a:ext>
            </a:extLst>
          </p:cNvPr>
          <p:cNvSpPr/>
          <p:nvPr/>
        </p:nvSpPr>
        <p:spPr>
          <a:xfrm>
            <a:off x="3749749" y="1721231"/>
            <a:ext cx="4603248" cy="3571224"/>
          </a:xfrm>
          <a:custGeom>
            <a:avLst/>
            <a:gdLst>
              <a:gd name="connsiteX0" fmla="*/ 0 w 3473450"/>
              <a:gd name="connsiteY0" fmla="*/ 2695812 h 2696015"/>
              <a:gd name="connsiteX1" fmla="*/ 314325 w 3473450"/>
              <a:gd name="connsiteY1" fmla="*/ 2683112 h 2696015"/>
              <a:gd name="connsiteX2" fmla="*/ 555625 w 3473450"/>
              <a:gd name="connsiteY2" fmla="*/ 2613262 h 2696015"/>
              <a:gd name="connsiteX3" fmla="*/ 682625 w 3473450"/>
              <a:gd name="connsiteY3" fmla="*/ 2524362 h 2696015"/>
              <a:gd name="connsiteX4" fmla="*/ 796925 w 3473450"/>
              <a:gd name="connsiteY4" fmla="*/ 2400537 h 2696015"/>
              <a:gd name="connsiteX5" fmla="*/ 927100 w 3473450"/>
              <a:gd name="connsiteY5" fmla="*/ 2121137 h 2696015"/>
              <a:gd name="connsiteX6" fmla="*/ 1066800 w 3473450"/>
              <a:gd name="connsiteY6" fmla="*/ 1743312 h 2696015"/>
              <a:gd name="connsiteX7" fmla="*/ 1301750 w 3473450"/>
              <a:gd name="connsiteY7" fmla="*/ 914637 h 2696015"/>
              <a:gd name="connsiteX8" fmla="*/ 1508125 w 3473450"/>
              <a:gd name="connsiteY8" fmla="*/ 190737 h 2696015"/>
              <a:gd name="connsiteX9" fmla="*/ 1657350 w 3473450"/>
              <a:gd name="connsiteY9" fmla="*/ 9762 h 2696015"/>
              <a:gd name="connsiteX10" fmla="*/ 1739900 w 3473450"/>
              <a:gd name="connsiteY10" fmla="*/ 28812 h 2696015"/>
              <a:gd name="connsiteX11" fmla="*/ 1800225 w 3473450"/>
              <a:gd name="connsiteY11" fmla="*/ 66912 h 2696015"/>
              <a:gd name="connsiteX12" fmla="*/ 1889125 w 3473450"/>
              <a:gd name="connsiteY12" fmla="*/ 266937 h 2696015"/>
              <a:gd name="connsiteX13" fmla="*/ 2305050 w 3473450"/>
              <a:gd name="connsiteY13" fmla="*/ 1762362 h 2696015"/>
              <a:gd name="connsiteX14" fmla="*/ 2473325 w 3473450"/>
              <a:gd name="connsiteY14" fmla="*/ 2184637 h 2696015"/>
              <a:gd name="connsiteX15" fmla="*/ 2562225 w 3473450"/>
              <a:gd name="connsiteY15" fmla="*/ 2368787 h 2696015"/>
              <a:gd name="connsiteX16" fmla="*/ 2654300 w 3473450"/>
              <a:gd name="connsiteY16" fmla="*/ 2483087 h 2696015"/>
              <a:gd name="connsiteX17" fmla="*/ 2784475 w 3473450"/>
              <a:gd name="connsiteY17" fmla="*/ 2591037 h 2696015"/>
              <a:gd name="connsiteX18" fmla="*/ 2927350 w 3473450"/>
              <a:gd name="connsiteY18" fmla="*/ 2664062 h 2696015"/>
              <a:gd name="connsiteX19" fmla="*/ 3473450 w 3473450"/>
              <a:gd name="connsiteY19" fmla="*/ 2654537 h 269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473450" h="2696015">
                <a:moveTo>
                  <a:pt x="0" y="2695812"/>
                </a:moveTo>
                <a:cubicBezTo>
                  <a:pt x="110860" y="2696341"/>
                  <a:pt x="221721" y="2696870"/>
                  <a:pt x="314325" y="2683112"/>
                </a:cubicBezTo>
                <a:cubicBezTo>
                  <a:pt x="406929" y="2669354"/>
                  <a:pt x="494242" y="2639720"/>
                  <a:pt x="555625" y="2613262"/>
                </a:cubicBezTo>
                <a:cubicBezTo>
                  <a:pt x="617008" y="2586804"/>
                  <a:pt x="642409" y="2559816"/>
                  <a:pt x="682625" y="2524362"/>
                </a:cubicBezTo>
                <a:cubicBezTo>
                  <a:pt x="722841" y="2488908"/>
                  <a:pt x="756179" y="2467741"/>
                  <a:pt x="796925" y="2400537"/>
                </a:cubicBezTo>
                <a:cubicBezTo>
                  <a:pt x="837671" y="2333333"/>
                  <a:pt x="882121" y="2230674"/>
                  <a:pt x="927100" y="2121137"/>
                </a:cubicBezTo>
                <a:cubicBezTo>
                  <a:pt x="972079" y="2011600"/>
                  <a:pt x="1004358" y="1944395"/>
                  <a:pt x="1066800" y="1743312"/>
                </a:cubicBezTo>
                <a:cubicBezTo>
                  <a:pt x="1129242" y="1542229"/>
                  <a:pt x="1228196" y="1173399"/>
                  <a:pt x="1301750" y="914637"/>
                </a:cubicBezTo>
                <a:cubicBezTo>
                  <a:pt x="1375304" y="655874"/>
                  <a:pt x="1448858" y="341549"/>
                  <a:pt x="1508125" y="190737"/>
                </a:cubicBezTo>
                <a:cubicBezTo>
                  <a:pt x="1567392" y="39925"/>
                  <a:pt x="1618721" y="36749"/>
                  <a:pt x="1657350" y="9762"/>
                </a:cubicBezTo>
                <a:cubicBezTo>
                  <a:pt x="1695979" y="-17225"/>
                  <a:pt x="1716088" y="19287"/>
                  <a:pt x="1739900" y="28812"/>
                </a:cubicBezTo>
                <a:cubicBezTo>
                  <a:pt x="1763713" y="38337"/>
                  <a:pt x="1775354" y="27225"/>
                  <a:pt x="1800225" y="66912"/>
                </a:cubicBezTo>
                <a:cubicBezTo>
                  <a:pt x="1825096" y="106599"/>
                  <a:pt x="1804988" y="-15638"/>
                  <a:pt x="1889125" y="266937"/>
                </a:cubicBezTo>
                <a:cubicBezTo>
                  <a:pt x="1973263" y="549512"/>
                  <a:pt x="2207683" y="1442745"/>
                  <a:pt x="2305050" y="1762362"/>
                </a:cubicBezTo>
                <a:cubicBezTo>
                  <a:pt x="2402417" y="2081979"/>
                  <a:pt x="2430462" y="2083566"/>
                  <a:pt x="2473325" y="2184637"/>
                </a:cubicBezTo>
                <a:cubicBezTo>
                  <a:pt x="2516188" y="2285708"/>
                  <a:pt x="2532063" y="2319045"/>
                  <a:pt x="2562225" y="2368787"/>
                </a:cubicBezTo>
                <a:cubicBezTo>
                  <a:pt x="2592388" y="2418529"/>
                  <a:pt x="2617258" y="2446045"/>
                  <a:pt x="2654300" y="2483087"/>
                </a:cubicBezTo>
                <a:cubicBezTo>
                  <a:pt x="2691342" y="2520129"/>
                  <a:pt x="2738967" y="2560875"/>
                  <a:pt x="2784475" y="2591037"/>
                </a:cubicBezTo>
                <a:cubicBezTo>
                  <a:pt x="2829983" y="2621199"/>
                  <a:pt x="2812521" y="2653479"/>
                  <a:pt x="2927350" y="2664062"/>
                </a:cubicBezTo>
                <a:cubicBezTo>
                  <a:pt x="3042179" y="2674645"/>
                  <a:pt x="3257814" y="2664591"/>
                  <a:pt x="3473450" y="2654537"/>
                </a:cubicBezTo>
              </a:path>
            </a:pathLst>
          </a:custGeom>
          <a:noFill/>
          <a:ln w="19050">
            <a:solidFill>
              <a:srgbClr val="845E3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a:extLst>
              <a:ext uri="{FF2B5EF4-FFF2-40B4-BE49-F238E27FC236}">
                <a16:creationId xmlns:a16="http://schemas.microsoft.com/office/drawing/2014/main" id="{E7884A5A-BEC0-19C5-2CDB-7EB0E1112CF4}"/>
              </a:ext>
            </a:extLst>
          </p:cNvPr>
          <p:cNvSpPr/>
          <p:nvPr/>
        </p:nvSpPr>
        <p:spPr>
          <a:xfrm>
            <a:off x="2278113" y="2184534"/>
            <a:ext cx="6352674" cy="3595080"/>
          </a:xfrm>
          <a:custGeom>
            <a:avLst/>
            <a:gdLst>
              <a:gd name="connsiteX0" fmla="*/ 0 w 6352674"/>
              <a:gd name="connsiteY0" fmla="*/ 3595080 h 3595080"/>
              <a:gd name="connsiteX1" fmla="*/ 499311 w 6352674"/>
              <a:gd name="connsiteY1" fmla="*/ 3480780 h 3595080"/>
              <a:gd name="connsiteX2" fmla="*/ 824163 w 6352674"/>
              <a:gd name="connsiteY2" fmla="*/ 2981469 h 3595080"/>
              <a:gd name="connsiteX3" fmla="*/ 1564105 w 6352674"/>
              <a:gd name="connsiteY3" fmla="*/ 1068448 h 3595080"/>
              <a:gd name="connsiteX4" fmla="*/ 2304047 w 6352674"/>
              <a:gd name="connsiteY4" fmla="*/ 2000896 h 3595080"/>
              <a:gd name="connsiteX5" fmla="*/ 3062037 w 6352674"/>
              <a:gd name="connsiteY5" fmla="*/ 3654 h 3595080"/>
              <a:gd name="connsiteX6" fmla="*/ 5239753 w 6352674"/>
              <a:gd name="connsiteY6" fmla="*/ 1513617 h 3595080"/>
              <a:gd name="connsiteX7" fmla="*/ 6352674 w 6352674"/>
              <a:gd name="connsiteY7" fmla="*/ 1772296 h 359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52674" h="3595080">
                <a:moveTo>
                  <a:pt x="0" y="3595080"/>
                </a:moveTo>
                <a:cubicBezTo>
                  <a:pt x="180975" y="3589064"/>
                  <a:pt x="361950" y="3583049"/>
                  <a:pt x="499311" y="3480780"/>
                </a:cubicBezTo>
                <a:cubicBezTo>
                  <a:pt x="636672" y="3378511"/>
                  <a:pt x="646697" y="3383524"/>
                  <a:pt x="824163" y="2981469"/>
                </a:cubicBezTo>
                <a:cubicBezTo>
                  <a:pt x="1001629" y="2579414"/>
                  <a:pt x="1317458" y="1231877"/>
                  <a:pt x="1564105" y="1068448"/>
                </a:cubicBezTo>
                <a:cubicBezTo>
                  <a:pt x="1810752" y="905019"/>
                  <a:pt x="2054392" y="2178362"/>
                  <a:pt x="2304047" y="2000896"/>
                </a:cubicBezTo>
                <a:cubicBezTo>
                  <a:pt x="2553702" y="1823430"/>
                  <a:pt x="2572753" y="84867"/>
                  <a:pt x="3062037" y="3654"/>
                </a:cubicBezTo>
                <a:cubicBezTo>
                  <a:pt x="3551321" y="-77559"/>
                  <a:pt x="4691314" y="1218843"/>
                  <a:pt x="5239753" y="1513617"/>
                </a:cubicBezTo>
                <a:cubicBezTo>
                  <a:pt x="5788193" y="1808391"/>
                  <a:pt x="6070433" y="1790343"/>
                  <a:pt x="6352674" y="1772296"/>
                </a:cubicBezTo>
              </a:path>
            </a:pathLst>
          </a:cu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D9D2464C-960C-93AE-4EB8-44CD39120A30}"/>
              </a:ext>
            </a:extLst>
          </p:cNvPr>
          <p:cNvSpPr txBox="1"/>
          <p:nvPr/>
        </p:nvSpPr>
        <p:spPr>
          <a:xfrm>
            <a:off x="3236536" y="1674488"/>
            <a:ext cx="1569660"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高斯混合分布</a:t>
            </a:r>
          </a:p>
        </p:txBody>
      </p:sp>
      <p:sp>
        <p:nvSpPr>
          <p:cNvPr id="25" name="文本框 24">
            <a:extLst>
              <a:ext uri="{FF2B5EF4-FFF2-40B4-BE49-F238E27FC236}">
                <a16:creationId xmlns:a16="http://schemas.microsoft.com/office/drawing/2014/main" id="{C4F4590E-7853-04A4-989B-DBE426CE6430}"/>
              </a:ext>
            </a:extLst>
          </p:cNvPr>
          <p:cNvSpPr txBox="1"/>
          <p:nvPr/>
        </p:nvSpPr>
        <p:spPr>
          <a:xfrm>
            <a:off x="1431384" y="4997188"/>
            <a:ext cx="2627642"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混合成分</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（高斯分布）</a:t>
            </a:r>
          </a:p>
        </p:txBody>
      </p:sp>
      <p:sp>
        <p:nvSpPr>
          <p:cNvPr id="26" name="文本框 25">
            <a:extLst>
              <a:ext uri="{FF2B5EF4-FFF2-40B4-BE49-F238E27FC236}">
                <a16:creationId xmlns:a16="http://schemas.microsoft.com/office/drawing/2014/main" id="{5E9B2A39-7E73-0E61-E10F-AA5DD29D467B}"/>
              </a:ext>
            </a:extLst>
          </p:cNvPr>
          <p:cNvSpPr txBox="1"/>
          <p:nvPr/>
        </p:nvSpPr>
        <p:spPr>
          <a:xfrm>
            <a:off x="5865055" y="5216746"/>
            <a:ext cx="2627642"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混合成分</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（高斯分布）</a:t>
            </a:r>
          </a:p>
        </p:txBody>
      </p:sp>
      <p:sp>
        <p:nvSpPr>
          <p:cNvPr id="30" name="椭圆 29">
            <a:extLst>
              <a:ext uri="{FF2B5EF4-FFF2-40B4-BE49-F238E27FC236}">
                <a16:creationId xmlns:a16="http://schemas.microsoft.com/office/drawing/2014/main" id="{B78312DD-0EDC-0EA4-4466-37CC54FE725E}"/>
              </a:ext>
            </a:extLst>
          </p:cNvPr>
          <p:cNvSpPr/>
          <p:nvPr/>
        </p:nvSpPr>
        <p:spPr>
          <a:xfrm>
            <a:off x="2809605" y="5875172"/>
            <a:ext cx="180000" cy="180473"/>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E4D0EBB1-0AAA-7AF0-F7F5-A7B04803D068}"/>
              </a:ext>
            </a:extLst>
          </p:cNvPr>
          <p:cNvSpPr/>
          <p:nvPr/>
        </p:nvSpPr>
        <p:spPr>
          <a:xfrm>
            <a:off x="3080871" y="5875172"/>
            <a:ext cx="180000" cy="180473"/>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a:extLst>
              <a:ext uri="{FF2B5EF4-FFF2-40B4-BE49-F238E27FC236}">
                <a16:creationId xmlns:a16="http://schemas.microsoft.com/office/drawing/2014/main" id="{6238FF7C-8917-D7A5-AFD7-9FCA986A5A91}"/>
              </a:ext>
            </a:extLst>
          </p:cNvPr>
          <p:cNvSpPr/>
          <p:nvPr/>
        </p:nvSpPr>
        <p:spPr>
          <a:xfrm>
            <a:off x="3354888" y="5875172"/>
            <a:ext cx="180000" cy="180473"/>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a:extLst>
              <a:ext uri="{FF2B5EF4-FFF2-40B4-BE49-F238E27FC236}">
                <a16:creationId xmlns:a16="http://schemas.microsoft.com/office/drawing/2014/main" id="{0B3B04CA-9578-E362-16B9-F94248497E08}"/>
              </a:ext>
            </a:extLst>
          </p:cNvPr>
          <p:cNvSpPr/>
          <p:nvPr/>
        </p:nvSpPr>
        <p:spPr>
          <a:xfrm>
            <a:off x="3628905" y="5875172"/>
            <a:ext cx="180000" cy="180473"/>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BD309ED3-034C-B791-25F8-F6245877140D}"/>
              </a:ext>
            </a:extLst>
          </p:cNvPr>
          <p:cNvSpPr/>
          <p:nvPr/>
        </p:nvSpPr>
        <p:spPr>
          <a:xfrm>
            <a:off x="5775055" y="5840938"/>
            <a:ext cx="180000" cy="180473"/>
          </a:xfrm>
          <a:prstGeom prst="ellipse">
            <a:avLst/>
          </a:prstGeom>
          <a:solidFill>
            <a:srgbClr val="845E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a:extLst>
              <a:ext uri="{FF2B5EF4-FFF2-40B4-BE49-F238E27FC236}">
                <a16:creationId xmlns:a16="http://schemas.microsoft.com/office/drawing/2014/main" id="{443A87E5-6A18-5F6E-70A2-7F2EEF61033D}"/>
              </a:ext>
            </a:extLst>
          </p:cNvPr>
          <p:cNvSpPr/>
          <p:nvPr/>
        </p:nvSpPr>
        <p:spPr>
          <a:xfrm>
            <a:off x="6046321" y="5840938"/>
            <a:ext cx="180000" cy="180473"/>
          </a:xfrm>
          <a:prstGeom prst="ellipse">
            <a:avLst/>
          </a:prstGeom>
          <a:solidFill>
            <a:srgbClr val="845E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a:extLst>
              <a:ext uri="{FF2B5EF4-FFF2-40B4-BE49-F238E27FC236}">
                <a16:creationId xmlns:a16="http://schemas.microsoft.com/office/drawing/2014/main" id="{9CFC0708-869B-7FD3-4A28-D2F7993DDC2C}"/>
              </a:ext>
            </a:extLst>
          </p:cNvPr>
          <p:cNvSpPr/>
          <p:nvPr/>
        </p:nvSpPr>
        <p:spPr>
          <a:xfrm>
            <a:off x="6320338" y="5840938"/>
            <a:ext cx="180000" cy="180473"/>
          </a:xfrm>
          <a:prstGeom prst="ellipse">
            <a:avLst/>
          </a:prstGeom>
          <a:solidFill>
            <a:srgbClr val="845E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a:extLst>
              <a:ext uri="{FF2B5EF4-FFF2-40B4-BE49-F238E27FC236}">
                <a16:creationId xmlns:a16="http://schemas.microsoft.com/office/drawing/2014/main" id="{6073C55D-49AC-9AA8-12A3-E47AE89333A6}"/>
              </a:ext>
            </a:extLst>
          </p:cNvPr>
          <p:cNvSpPr/>
          <p:nvPr/>
        </p:nvSpPr>
        <p:spPr>
          <a:xfrm>
            <a:off x="6594355" y="5840938"/>
            <a:ext cx="180000" cy="180473"/>
          </a:xfrm>
          <a:prstGeom prst="ellipse">
            <a:avLst/>
          </a:prstGeom>
          <a:solidFill>
            <a:srgbClr val="845E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65100ED1-C3BE-D748-0E4A-D97E4DA20C4C}"/>
              </a:ext>
            </a:extLst>
          </p:cNvPr>
          <p:cNvSpPr/>
          <p:nvPr/>
        </p:nvSpPr>
        <p:spPr>
          <a:xfrm>
            <a:off x="6875104" y="5840938"/>
            <a:ext cx="180000" cy="180473"/>
          </a:xfrm>
          <a:prstGeom prst="ellipse">
            <a:avLst/>
          </a:prstGeom>
          <a:solidFill>
            <a:srgbClr val="845E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a:extLst>
              <a:ext uri="{FF2B5EF4-FFF2-40B4-BE49-F238E27FC236}">
                <a16:creationId xmlns:a16="http://schemas.microsoft.com/office/drawing/2014/main" id="{6D0D2ABD-A5B9-206B-7965-F3889AD5D02B}"/>
              </a:ext>
            </a:extLst>
          </p:cNvPr>
          <p:cNvSpPr/>
          <p:nvPr/>
        </p:nvSpPr>
        <p:spPr>
          <a:xfrm>
            <a:off x="7146370" y="5840938"/>
            <a:ext cx="180000" cy="180473"/>
          </a:xfrm>
          <a:prstGeom prst="ellipse">
            <a:avLst/>
          </a:prstGeom>
          <a:solidFill>
            <a:srgbClr val="845E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a:extLst>
              <a:ext uri="{FF2B5EF4-FFF2-40B4-BE49-F238E27FC236}">
                <a16:creationId xmlns:a16="http://schemas.microsoft.com/office/drawing/2014/main" id="{773F6BA4-F5C3-170B-B978-D13643984A00}"/>
              </a:ext>
            </a:extLst>
          </p:cNvPr>
          <p:cNvSpPr/>
          <p:nvPr/>
        </p:nvSpPr>
        <p:spPr>
          <a:xfrm>
            <a:off x="7420387" y="5840938"/>
            <a:ext cx="180000" cy="180473"/>
          </a:xfrm>
          <a:prstGeom prst="ellipse">
            <a:avLst/>
          </a:prstGeom>
          <a:solidFill>
            <a:srgbClr val="845E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a:extLst>
              <a:ext uri="{FF2B5EF4-FFF2-40B4-BE49-F238E27FC236}">
                <a16:creationId xmlns:a16="http://schemas.microsoft.com/office/drawing/2014/main" id="{94D6F6CF-B5B4-91EC-BA2D-E938E43ED160}"/>
              </a:ext>
            </a:extLst>
          </p:cNvPr>
          <p:cNvSpPr/>
          <p:nvPr/>
        </p:nvSpPr>
        <p:spPr>
          <a:xfrm>
            <a:off x="7694404" y="5840938"/>
            <a:ext cx="180000" cy="180473"/>
          </a:xfrm>
          <a:prstGeom prst="ellipse">
            <a:avLst/>
          </a:prstGeom>
          <a:solidFill>
            <a:srgbClr val="845E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a:extLst>
              <a:ext uri="{FF2B5EF4-FFF2-40B4-BE49-F238E27FC236}">
                <a16:creationId xmlns:a16="http://schemas.microsoft.com/office/drawing/2014/main" id="{6452D99B-2252-AF85-7119-F3F6C7B46CA3}"/>
              </a:ext>
            </a:extLst>
          </p:cNvPr>
          <p:cNvSpPr/>
          <p:nvPr/>
        </p:nvSpPr>
        <p:spPr>
          <a:xfrm>
            <a:off x="2126512" y="5755131"/>
            <a:ext cx="2398779" cy="75378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solidFill>
                <a:schemeClr val="tx1"/>
              </a:solidFill>
              <a:latin typeface="微软雅黑" panose="020B0503020204020204" pitchFamily="34" charset="-122"/>
              <a:ea typeface="微软雅黑" panose="020B0503020204020204" pitchFamily="34" charset="-122"/>
            </a:endParaRPr>
          </a:p>
          <a:p>
            <a:pPr algn="ctr"/>
            <a:r>
              <a:rPr lang="zh-CN" altLang="en-US" b="1" dirty="0">
                <a:solidFill>
                  <a:schemeClr val="tx1"/>
                </a:solidFill>
                <a:latin typeface="微软雅黑" panose="020B0503020204020204" pitchFamily="34" charset="-122"/>
                <a:ea typeface="微软雅黑" panose="020B0503020204020204" pitchFamily="34" charset="-122"/>
              </a:rPr>
              <a:t>簇</a:t>
            </a:r>
            <a:r>
              <a:rPr lang="en-US" altLang="zh-CN" b="1" dirty="0">
                <a:solidFill>
                  <a:schemeClr val="tx1"/>
                </a:solidFill>
                <a:latin typeface="微软雅黑" panose="020B0503020204020204" pitchFamily="34" charset="-122"/>
                <a:ea typeface="微软雅黑" panose="020B0503020204020204" pitchFamily="34" charset="-122"/>
              </a:rPr>
              <a:t>A</a:t>
            </a: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43" name="椭圆 42">
            <a:extLst>
              <a:ext uri="{FF2B5EF4-FFF2-40B4-BE49-F238E27FC236}">
                <a16:creationId xmlns:a16="http://schemas.microsoft.com/office/drawing/2014/main" id="{58919845-082F-9722-675C-8BD2D7E7E024}"/>
              </a:ext>
            </a:extLst>
          </p:cNvPr>
          <p:cNvSpPr/>
          <p:nvPr/>
        </p:nvSpPr>
        <p:spPr>
          <a:xfrm>
            <a:off x="5039510" y="5683060"/>
            <a:ext cx="3417561" cy="89792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solidFill>
                <a:schemeClr val="tx1"/>
              </a:solidFill>
              <a:latin typeface="微软雅黑" panose="020B0503020204020204" pitchFamily="34" charset="-122"/>
              <a:ea typeface="微软雅黑" panose="020B0503020204020204" pitchFamily="34" charset="-122"/>
            </a:endParaRPr>
          </a:p>
          <a:p>
            <a:pPr algn="ctr"/>
            <a:r>
              <a:rPr lang="zh-CN" altLang="en-US" b="1" dirty="0">
                <a:solidFill>
                  <a:schemeClr val="tx1"/>
                </a:solidFill>
                <a:latin typeface="微软雅黑" panose="020B0503020204020204" pitchFamily="34" charset="-122"/>
                <a:ea typeface="微软雅黑" panose="020B0503020204020204" pitchFamily="34" charset="-122"/>
              </a:rPr>
              <a:t>簇</a:t>
            </a:r>
            <a:r>
              <a:rPr lang="en-US" altLang="zh-CN" b="1" dirty="0">
                <a:solidFill>
                  <a:schemeClr val="tx1"/>
                </a:solidFill>
                <a:latin typeface="微软雅黑" panose="020B0503020204020204" pitchFamily="34" charset="-122"/>
                <a:ea typeface="微软雅黑" panose="020B0503020204020204" pitchFamily="34" charset="-122"/>
              </a:rPr>
              <a:t>B</a:t>
            </a: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44" name="文本框 43">
            <a:extLst>
              <a:ext uri="{FF2B5EF4-FFF2-40B4-BE49-F238E27FC236}">
                <a16:creationId xmlns:a16="http://schemas.microsoft.com/office/drawing/2014/main" id="{F60AD4D3-BAA7-567A-7806-17FF58E52B1E}"/>
              </a:ext>
            </a:extLst>
          </p:cNvPr>
          <p:cNvSpPr txBox="1"/>
          <p:nvPr/>
        </p:nvSpPr>
        <p:spPr>
          <a:xfrm>
            <a:off x="824967" y="1654343"/>
            <a:ext cx="587927" cy="1754326"/>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概率密度函数</a:t>
            </a:r>
          </a:p>
        </p:txBody>
      </p:sp>
    </p:spTree>
    <p:extLst>
      <p:ext uri="{BB962C8B-B14F-4D97-AF65-F5344CB8AC3E}">
        <p14:creationId xmlns:p14="http://schemas.microsoft.com/office/powerpoint/2010/main" val="33234073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34</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基本概念</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7309DEF8-8FDF-3ABA-4111-32AE53186205}"/>
                  </a:ext>
                </a:extLst>
              </p:cNvPr>
              <p:cNvSpPr txBox="1"/>
              <p:nvPr/>
            </p:nvSpPr>
            <p:spPr>
              <a:xfrm>
                <a:off x="162560" y="1245067"/>
                <a:ext cx="8675814" cy="5376985"/>
              </a:xfrm>
              <a:prstGeom prst="rect">
                <a:avLst/>
              </a:prstGeom>
              <a:noFill/>
            </p:spPr>
            <p:txBody>
              <a:bodyPr wrap="square">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高斯混合聚类</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假设所有样本都源于高斯混合分布的采样</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，对于数据集</a:t>
                </a:r>
                <a14:m>
                  <m:oMath xmlns:m="http://schemas.openxmlformats.org/officeDocument/2006/math">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𝐷</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d>
                      <m:dPr>
                        <m:begChr m:val="{"/>
                        <m:endChr m:val="}"/>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𝑛</m:t>
                            </m:r>
                          </m:sub>
                        </m:sSub>
                      </m:e>
                    </m:d>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中的任意一个样本</a:t>
                </a:r>
                <a14:m>
                  <m:oMath xmlns:m="http://schemas.openxmlformats.org/officeDocument/2006/math">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oMath>
                </a14:m>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引入随机变量</a:t>
                </a: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𝑧</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1,…,</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𝑘</m:t>
                        </m:r>
                      </m:e>
                    </m:d>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表示该样本的高斯混合成分（例如，</a:t>
                </a:r>
                <a:r>
                  <a:rPr kumimoji="0" lang="en-US" altLang="zh-CN" sz="1800" b="0" i="0" u="none" strike="noStrike" kern="1200" cap="none" spc="0" normalizeH="0" baseline="0" noProof="0" dirty="0">
                    <a:ln>
                      <a:noFill/>
                    </a:ln>
                    <a:solidFill>
                      <a:srgbClr val="000000"/>
                    </a:solidFill>
                    <a:effectLst/>
                    <a:uLnTx/>
                    <a:uFillTx/>
                    <a:latin typeface="Arial"/>
                    <a:ea typeface="微软雅黑" panose="020B0503020204020204" pitchFamily="34" charset="-122"/>
                    <a:cs typeface="Times New Roman" panose="02020603050405020304" pitchFamily="18" charset="0"/>
                  </a:rPr>
                  <a:t> </a:t>
                </a:r>
                <a14:m>
                  <m:oMath xmlns:m="http://schemas.openxmlformats.org/officeDocument/2006/math">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𝑧</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=1</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表示该样本由混合成分</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生成）。</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将</a:t>
                </a:r>
                <a14:m>
                  <m:oMath xmlns:m="http://schemas.openxmlformats.org/officeDocument/2006/math">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𝑧</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先验分布</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（与数据无关，根据先验知识定义的</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分布）定义</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为：</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3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457200" rtl="0" eaLnBrk="1" fontAlgn="auto" latinLnBrk="0" hangingPunct="1">
                  <a:lnSpc>
                    <a:spcPct val="15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𝑓</m:t>
                      </m:r>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𝑧</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𝛼</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oMath>
                  </m:oMathPara>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根据贝叶斯定理，</a:t>
                </a:r>
                <a14:m>
                  <m:oMath xmlns:m="http://schemas.openxmlformats.org/officeDocument/2006/math">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𝑧</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后验分布</a:t>
                </a:r>
                <a:r>
                  <a:rPr kumimoji="0" lang="zh-CN" altLang="en-US" sz="18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（融合先验知识和数据的分布）</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可以根据下式计算</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457200" rtl="0" eaLnBrk="1" fontAlgn="auto" latinLnBrk="0" hangingPunct="1">
                  <a:lnSpc>
                    <a:spcPct val="15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𝑓</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𝑀</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𝑧</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f>
                        <m:f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fPr>
                        <m:num>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𝑓</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𝑀</m:t>
                              </m:r>
                            </m:sub>
                          </m:sSub>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𝑧</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e>
                          </m:d>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𝑓</m:t>
                          </m:r>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𝑧</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e>
                          </m:d>
                        </m:num>
                        <m:den>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𝑓</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𝑀</m:t>
                              </m:r>
                            </m:sub>
                          </m:sSub>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e>
                          </m:d>
                        </m:den>
                      </m:f>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f>
                        <m:f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fPr>
                        <m:num>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𝛼</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𝑓</m:t>
                          </m:r>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sSub>
                                <m:sSubPr>
                                  <m:ctrlP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𝝁</m:t>
                                  </m:r>
                                </m:e>
                                <m:sub>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sSub>
                                <m:sSubPr>
                                  <m:ctrlP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l-GR" altLang="zh-CN"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𝜮</m:t>
                                  </m:r>
                                </m:e>
                                <m:sub>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e>
                          </m:d>
                        </m:num>
                        <m:den>
                          <m:nary>
                            <m:naryPr>
                              <m: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3"/>
                                </m:r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𝑙</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=1</m:t>
                              </m:r>
                            </m:sub>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𝑘</m:t>
                              </m:r>
                            </m:sup>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𝛼</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𝑙</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𝑓</m:t>
                              </m:r>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sSub>
                                    <m:sSubPr>
                                      <m:ctrlP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𝝁</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𝑙</m:t>
                                      </m:r>
                                    </m:sub>
                                  </m:sSub>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sSub>
                                    <m:sSubPr>
                                      <m:ctrlP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l-GR" altLang="zh-CN"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𝜮</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𝑙</m:t>
                                      </m:r>
                                    </m:sub>
                                  </m:sSub>
                                </m:e>
                              </m:d>
                            </m:e>
                          </m:nary>
                        </m:den>
                      </m:f>
                    </m:oMath>
                  </m:oMathPara>
                </a14:m>
                <a:endPar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7309DEF8-8FDF-3ABA-4111-32AE53186205}"/>
                  </a:ext>
                </a:extLst>
              </p:cNvPr>
              <p:cNvSpPr txBox="1">
                <a:spLocks noRot="1" noChangeAspect="1" noMove="1" noResize="1" noEditPoints="1" noAdjustHandles="1" noChangeArrowheads="1" noChangeShapeType="1" noTextEdit="1"/>
              </p:cNvSpPr>
              <p:nvPr/>
            </p:nvSpPr>
            <p:spPr>
              <a:xfrm>
                <a:off x="162560" y="1245067"/>
                <a:ext cx="8675814" cy="5376985"/>
              </a:xfrm>
              <a:prstGeom prst="rect">
                <a:avLst/>
              </a:prstGeom>
              <a:blipFill>
                <a:blip r:embed="rId3"/>
                <a:stretch>
                  <a:fillRect l="-632" r="-316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029542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35</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基本概念</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7309DEF8-8FDF-3ABA-4111-32AE53186205}"/>
                  </a:ext>
                </a:extLst>
              </p:cNvPr>
              <p:cNvSpPr txBox="1"/>
              <p:nvPr/>
            </p:nvSpPr>
            <p:spPr>
              <a:xfrm>
                <a:off x="162560" y="1245067"/>
                <a:ext cx="8675814" cy="4960140"/>
              </a:xfrm>
              <a:prstGeom prst="rect">
                <a:avLst/>
              </a:prstGeom>
              <a:noFill/>
            </p:spPr>
            <p:txBody>
              <a:bodyPr wrap="square">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𝑓</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𝑀</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𝑧</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f>
                        <m:f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fPr>
                        <m:num>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𝑓</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𝑀</m:t>
                              </m:r>
                            </m:sub>
                          </m:sSub>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𝑧</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e>
                          </m:d>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𝑓</m:t>
                          </m:r>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𝑧</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e>
                          </m:d>
                        </m:num>
                        <m:den>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𝑓</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𝑀</m:t>
                              </m:r>
                            </m:sub>
                          </m:sSub>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e>
                          </m:d>
                        </m:den>
                      </m:f>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f>
                        <m:f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fPr>
                        <m:num>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𝛼</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𝑓</m:t>
                          </m:r>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sSub>
                                <m:sSubPr>
                                  <m:ctrlP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𝝁</m:t>
                                  </m:r>
                                </m:e>
                                <m:sub>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sSub>
                                <m:sSubPr>
                                  <m:ctrlP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l-GR" altLang="zh-CN"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𝜮</m:t>
                                  </m:r>
                                </m:e>
                                <m:sub>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e>
                          </m:d>
                        </m:num>
                        <m:den>
                          <m:nary>
                            <m:naryPr>
                              <m: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3"/>
                                </m:r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𝑙</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=1</m:t>
                              </m:r>
                            </m:sub>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𝑘</m:t>
                              </m:r>
                            </m:sup>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𝛼</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𝑙</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𝑓</m:t>
                              </m:r>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sSub>
                                    <m:sSubPr>
                                      <m:ctrlP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𝝁</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𝑙</m:t>
                                      </m:r>
                                    </m:sub>
                                  </m:sSub>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sSub>
                                    <m:sSubPr>
                                      <m:ctrlP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l-GR" altLang="zh-CN"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𝜮</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𝑙</m:t>
                                      </m:r>
                                    </m:sub>
                                  </m:sSub>
                                </m:e>
                              </m:d>
                            </m:e>
                          </m:nary>
                        </m:den>
                      </m:f>
                    </m:oMath>
                  </m:oMathPara>
                </a14:m>
                <a:endPar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457200" rtl="0" eaLnBrk="1" fontAlgn="auto" latinLnBrk="0" hangingPunct="1">
                  <a:lnSpc>
                    <a:spcPct val="150000"/>
                  </a:lnSpc>
                  <a:spcBef>
                    <a:spcPts val="0"/>
                  </a:spcBef>
                  <a:spcAft>
                    <a:spcPts val="0"/>
                  </a:spcAft>
                  <a:buClrTx/>
                  <a:buSzTx/>
                  <a:buFontTx/>
                  <a:buNone/>
                  <a:tabLst/>
                  <a:defRPr/>
                </a:pP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𝑓</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𝑀</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𝑧</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e>
                    </m:d>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给出了</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样本</a:t>
                </a:r>
                <a14:m>
                  <m:oMath xmlns:m="http://schemas.openxmlformats.org/officeDocument/2006/math">
                    <m:sSub>
                      <m:sSubPr>
                        <m:ctrlPr>
                          <a:rPr kumimoji="0" lang="en-US" altLang="zh-CN" sz="1800" b="1"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1"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kumimoji="0" lang="en-US" altLang="zh-CN" sz="1800" b="1"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𝒕</m:t>
                        </m:r>
                      </m:sub>
                    </m:sSub>
                  </m:oMath>
                </a14:m>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由第</a:t>
                </a:r>
                <a14:m>
                  <m:oMath xmlns:m="http://schemas.openxmlformats.org/officeDocument/2006/math">
                    <m:r>
                      <a:rPr kumimoji="0" lang="en-US" altLang="zh-CN" sz="1800" b="1" i="1" u="none" strike="noStrike" kern="1200" cap="none" spc="0" normalizeH="0" baseline="0" noProof="0" dirty="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𝒊</m:t>
                    </m:r>
                  </m:oMath>
                </a14:m>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个混合成分生成的后验概率</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。为方便说明，我们将</a:t>
                </a:r>
                <a14:m>
                  <m:oMath xmlns:m="http://schemas.openxmlformats.org/officeDocument/2006/math">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𝑓</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𝑀</m:t>
                        </m:r>
                      </m:sub>
                    </m:sSub>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𝑧</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e>
                    </m:d>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记为：</a:t>
                </a: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𝛾</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𝑡𝑖</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 </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1,…,</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𝑘</m:t>
                        </m:r>
                      </m:e>
                    </m:d>
                  </m:oMath>
                </a14:m>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。即：</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457200" rtl="0" eaLnBrk="1" fontAlgn="auto" latinLnBrk="0" hangingPunct="1">
                  <a:lnSpc>
                    <a:spcPct val="15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CN"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𝛾</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𝑡𝑖</m:t>
                          </m:r>
                        </m:sub>
                      </m:sSub>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f>
                        <m:f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fPr>
                        <m:num>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𝑓</m:t>
                          </m:r>
                          <m:d>
                            <m:dPr>
                              <m:ctrlP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𝝁</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l-GR" altLang="zh-CN"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𝜮</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e>
                          </m:d>
                        </m:num>
                        <m:den>
                          <m:nary>
                            <m:naryPr>
                              <m:chr m:val="∑"/>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3"/>
                                </m:r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𝑙</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sub>
                            <m:sup>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𝑘</m:t>
                              </m:r>
                            </m:sup>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𝑙</m:t>
                                  </m:r>
                                </m:sub>
                              </m:sSub>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𝑓</m:t>
                              </m:r>
                              <m:d>
                                <m:dPr>
                                  <m:ctrlP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𝝁</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𝑙</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l-GR" altLang="zh-CN"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𝜮</m:t>
                                      </m:r>
                                    </m:e>
                                    <m:sub>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𝑙</m:t>
                                      </m:r>
                                    </m:sub>
                                  </m:sSub>
                                </m:e>
                              </m:d>
                            </m:e>
                          </m:nary>
                        </m:den>
                      </m:f>
                    </m:oMath>
                  </m:oMathPara>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lvl="0">
                  <a:lnSpc>
                    <a:spcPct val="150000"/>
                  </a:lnSpc>
                  <a:defRPr/>
                </a:pPr>
                <a:r>
                  <a:rPr kumimoji="0" lang="zh-CN" altLang="en-US" sz="1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当高斯混合分布参数（</a:t>
                </a:r>
                <a:r>
                  <a:rPr lang="en-US" altLang="zh-CN" dirty="0">
                    <a:solidFill>
                      <a:schemeClr val="tx1"/>
                    </a:solidFill>
                    <a:ea typeface="微软雅黑" panose="020B0503020204020204" pitchFamily="34" charset="-122"/>
                    <a:cs typeface="Times New Roman" panose="02020603050405020304" pitchFamily="18" charset="0"/>
                  </a:rPr>
                  <a:t> </a:t>
                </a:r>
                <a14:m>
                  <m:oMath xmlns:m="http://schemas.openxmlformats.org/officeDocument/2006/math">
                    <m:sSub>
                      <m:sSubPr>
                        <m:ctrlPr>
                          <a:rPr lang="en-US" altLang="zh-CN" i="1">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b="0" i="1">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b="0" i="1">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b="0" i="1">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t> </m:t>
                    </m:r>
                    <m:r>
                      <a:rPr lang="en-US" altLang="zh-CN" b="0" i="1" smtClean="0">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b="1" i="1" dirty="0">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b="1" i="1">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t>𝝁</m:t>
                        </m:r>
                      </m:e>
                      <m:sub>
                        <m:r>
                          <a:rPr lang="en-US" altLang="zh-CN" b="1" i="1" dirty="0">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t>𝒊</m:t>
                        </m:r>
                      </m:sub>
                    </m:sSub>
                    <m:r>
                      <a:rPr lang="en-US" altLang="zh-CN" b="0" i="1" dirty="0">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b="1" i="1" dirty="0">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l-GR" altLang="zh-CN" b="1"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𝜮</m:t>
                        </m:r>
                      </m:e>
                      <m:sub>
                        <m:r>
                          <a:rPr lang="en-US" altLang="zh-CN" b="1" i="1" dirty="0">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t>𝒊</m:t>
                        </m:r>
                      </m:sub>
                    </m:sSub>
                  </m:oMath>
                </a14:m>
                <a:r>
                  <a:rPr kumimoji="0" lang="zh-CN" altLang="en-US" sz="1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）已知时</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，样本</a:t>
                </a:r>
                <a14:m>
                  <m:oMath xmlns:m="http://schemas.openxmlformats.org/officeDocument/2006/math">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被划分到的簇</a:t>
                </a: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𝑙</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为后验概率最大的簇：</a:t>
                </a:r>
                <a:endParaRPr kumimoji="0" lang="en-US" altLang="zh-CN" sz="20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endParaRPr>
              </a:p>
              <a:p>
                <a:pPr marL="0" marR="0" lvl="0" indent="0" algn="l" defTabSz="457200" rtl="0" eaLnBrk="1" fontAlgn="auto" latinLnBrk="0" hangingPunct="1">
                  <a:lnSpc>
                    <a:spcPct val="15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𝑙</m:t>
                          </m:r>
                        </m:e>
                        <m:sub>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m:t>
                          </m:r>
                        </m:sub>
                      </m:sSub>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func>
                        <m:funcPr>
                          <m:ctrlP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funcPr>
                        <m:fName>
                          <m:limLow>
                            <m:limLowPr>
                              <m:ctrlP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limLowPr>
                            <m:e>
                              <m:r>
                                <m:rPr>
                                  <m:sty m:val="p"/>
                                </m:rPr>
                                <a:rPr kumimoji="0" lang="en-US" altLang="zh-CN" sz="2000" b="0" i="0"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argmax</m:t>
                              </m:r>
                            </m:e>
                            <m:lim>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1,…,</m:t>
                                  </m:r>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𝑘</m:t>
                                  </m:r>
                                </m:e>
                              </m:d>
                            </m:lim>
                          </m:limLow>
                        </m:fName>
                        <m:e>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 </m:t>
                          </m:r>
                          <m:sSub>
                            <m:sSub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20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𝛾</m:t>
                              </m:r>
                            </m:e>
                            <m: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𝑡𝑖</m:t>
                              </m:r>
                            </m:sub>
                          </m:sSub>
                        </m:e>
                      </m:func>
                    </m:oMath>
                  </m:oMathPara>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7309DEF8-8FDF-3ABA-4111-32AE53186205}"/>
                  </a:ext>
                </a:extLst>
              </p:cNvPr>
              <p:cNvSpPr txBox="1">
                <a:spLocks noRot="1" noChangeAspect="1" noMove="1" noResize="1" noEditPoints="1" noAdjustHandles="1" noChangeArrowheads="1" noChangeShapeType="1" noTextEdit="1"/>
              </p:cNvSpPr>
              <p:nvPr/>
            </p:nvSpPr>
            <p:spPr>
              <a:xfrm>
                <a:off x="162560" y="1245067"/>
                <a:ext cx="8675814" cy="4960140"/>
              </a:xfrm>
              <a:prstGeom prst="rect">
                <a:avLst/>
              </a:prstGeom>
              <a:blipFill>
                <a:blip r:embed="rId3"/>
                <a:stretch>
                  <a:fillRect l="-63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531001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36</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关键参数推导（阅读内容）</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96B97EB8-671F-2DD6-D687-E431680C58CC}"/>
                  </a:ext>
                </a:extLst>
              </p:cNvPr>
              <p:cNvSpPr txBox="1"/>
              <p:nvPr/>
            </p:nvSpPr>
            <p:spPr>
              <a:xfrm>
                <a:off x="162560" y="1245067"/>
                <a:ext cx="8675814" cy="6759607"/>
              </a:xfrm>
              <a:prstGeom prst="rect">
                <a:avLst/>
              </a:prstGeom>
              <a:noFill/>
            </p:spPr>
            <p:txBody>
              <a:bodyPr wrap="square">
                <a:spAutoFit/>
              </a:bodyPr>
              <a:lstStyle/>
              <a:p>
                <a:pPr lvl="0" algn="just">
                  <a:lnSpc>
                    <a:spcPct val="150000"/>
                  </a:lnSpc>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上述结论是在</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高斯混合分布参数</a:t>
                </a:r>
                <a14:m>
                  <m:oMath xmlns:m="http://schemas.openxmlformats.org/officeDocument/2006/math">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 </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𝝁</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l-GR" altLang="zh-CN"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𝜮</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e>
                        </m:d>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𝑘</m:t>
                        </m:r>
                      </m:e>
                    </m:d>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已知的情况下得到的</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。接下来我们讨论</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如何根据数据估计高斯混合分布的参数</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pPr>
                <a:endPar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我们常用极大似然估计对概率模型的参数进行估计。首先构造对数似然函数：</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pPr>
                <a14:m>
                  <m:oMathPara xmlns:m="http://schemas.openxmlformats.org/officeDocument/2006/math">
                    <m:oMathParaPr>
                      <m:jc m:val="centerGroup"/>
                    </m:oMathParaPr>
                    <m:oMath xmlns:m="http://schemas.openxmlformats.org/officeDocument/2006/math">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𝐿𝐿</m:t>
                      </m:r>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𝐷</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𝑙𝑛</m:t>
                      </m:r>
                      <m:nary>
                        <m:naryPr>
                          <m: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3"/>
                            </m:r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=1</m:t>
                          </m:r>
                        </m:sub>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𝑛</m:t>
                          </m:r>
                        </m:sup>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𝑓</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𝑀</m:t>
                              </m:r>
                            </m:sub>
                          </m:sSub>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e>
                          </m:d>
                        </m:e>
                      </m:nary>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nary>
                        <m:naryPr>
                          <m: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3"/>
                            </m:r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=1</m:t>
                          </m:r>
                        </m:sub>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𝑛</m:t>
                          </m:r>
                        </m:sup>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𝑙𝑛</m:t>
                          </m:r>
                        </m:e>
                      </m:nary>
                      <m:nary>
                        <m:naryPr>
                          <m:chr m:val="∑"/>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3"/>
                            </m:r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𝑙</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sub>
                        <m:sup>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𝑘</m:t>
                          </m:r>
                        </m:sup>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𝑙</m:t>
                              </m:r>
                            </m:sub>
                          </m:sSub>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𝑓</m:t>
                          </m:r>
                          <m:d>
                            <m:dPr>
                              <m:ctrlP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𝝁</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𝑙</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l-GR" altLang="zh-CN"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𝜮</m:t>
                                  </m:r>
                                </m:e>
                                <m:sub>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𝑙</m:t>
                                  </m:r>
                                </m:sub>
                              </m:sSub>
                            </m:e>
                          </m:d>
                        </m:e>
                      </m:nary>
                    </m:oMath>
                  </m:oMathPara>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pPr>
                <a:endParaRPr lang="en-US" altLang="zh-CN" sz="5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最优参数</a:t>
                </a:r>
                <a14:m>
                  <m:oMath xmlns:m="http://schemas.openxmlformats.org/officeDocument/2006/math">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 </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𝝁</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l-GR" altLang="zh-CN"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𝜮</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e>
                        </m:d>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𝑘</m:t>
                        </m:r>
                      </m:e>
                    </m:d>
                  </m:oMath>
                </a14:m>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使对数似然函数取极大值，有：</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pPr>
                <a14:m>
                  <m:oMathPara xmlns:m="http://schemas.openxmlformats.org/officeDocument/2006/math">
                    <m:oMathParaPr>
                      <m:jc m:val="centerGroup"/>
                    </m:oMathParaPr>
                    <m:oMath xmlns:m="http://schemas.openxmlformats.org/officeDocument/2006/math">
                      <m:f>
                        <m:f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fPr>
                        <m:num>
                          <m:r>
                            <a:rPr kumimoji="0" lang="zh-CN"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𝐿𝐿</m:t>
                          </m:r>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𝐷</m:t>
                              </m:r>
                            </m:e>
                          </m:d>
                        </m:num>
                        <m:den>
                          <m:r>
                            <a:rPr kumimoji="0" lang="zh-CN"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𝝁</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den>
                      </m:f>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=0,    </m:t>
                      </m:r>
                      <m:f>
                        <m:f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fPr>
                        <m:num>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𝐿𝐿</m:t>
                          </m:r>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𝐷</m:t>
                              </m:r>
                            </m:e>
                          </m:d>
                        </m:num>
                        <m:den>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l-GR" altLang="zh-CN"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𝜮</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den>
                      </m:f>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=0</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   </m:t>
                      </m:r>
                      <m:f>
                        <m:f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fPr>
                        <m:num>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𝐿𝐿</m:t>
                          </m:r>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𝐷</m:t>
                              </m:r>
                            </m:e>
                          </m:d>
                        </m:num>
                        <m:den>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den>
                      </m:f>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=0</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  </m:t>
                      </m:r>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𝑘</m:t>
                      </m:r>
                    </m:oMath>
                  </m:oMathPara>
                </a14:m>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96B97EB8-671F-2DD6-D687-E431680C58CC}"/>
                  </a:ext>
                </a:extLst>
              </p:cNvPr>
              <p:cNvSpPr txBox="1">
                <a:spLocks noRot="1" noChangeAspect="1" noMove="1" noResize="1" noEditPoints="1" noAdjustHandles="1" noChangeArrowheads="1" noChangeShapeType="1" noTextEdit="1"/>
              </p:cNvSpPr>
              <p:nvPr/>
            </p:nvSpPr>
            <p:spPr>
              <a:xfrm>
                <a:off x="162560" y="1245067"/>
                <a:ext cx="8675814" cy="6759607"/>
              </a:xfrm>
              <a:prstGeom prst="rect">
                <a:avLst/>
              </a:prstGeom>
              <a:blipFill>
                <a:blip r:embed="rId3"/>
                <a:stretch>
                  <a:fillRect l="-632" r="-56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295626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37</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关键参数推导（阅读内容）</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96B97EB8-671F-2DD6-D687-E431680C58CC}"/>
                  </a:ext>
                </a:extLst>
              </p:cNvPr>
              <p:cNvSpPr txBox="1"/>
              <p:nvPr/>
            </p:nvSpPr>
            <p:spPr>
              <a:xfrm>
                <a:off x="162560" y="1245067"/>
                <a:ext cx="8675814" cy="6598666"/>
              </a:xfrm>
              <a:prstGeom prst="rect">
                <a:avLst/>
              </a:prstGeom>
              <a:noFill/>
            </p:spPr>
            <p:txBody>
              <a:bodyPr wrap="square">
                <a:spAutoFit/>
              </a:bodyPr>
              <a:lstStyle/>
              <a:p>
                <a:pPr lvl="0" algn="just">
                  <a:lnSpc>
                    <a:spcPct val="150000"/>
                  </a:lnSpc>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根据</a:t>
                </a:r>
                <a14:m>
                  <m:oMath xmlns:m="http://schemas.openxmlformats.org/officeDocument/2006/math">
                    <m:r>
                      <a:rPr kumimoji="0" lang="en-US" altLang="zh-CN" sz="2400" b="0" i="0"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 </m:t>
                    </m:r>
                    <m:f>
                      <m:fPr>
                        <m:ctrlP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fPr>
                      <m:num>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𝐿𝐿</m:t>
                        </m:r>
                        <m:d>
                          <m:dPr>
                            <m:ctrlP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𝐷</m:t>
                            </m:r>
                          </m:e>
                        </m:d>
                      </m:num>
                      <m:den>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400"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sz="2400"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𝝁</m:t>
                            </m:r>
                          </m:e>
                          <m:sub>
                            <m:r>
                              <a:rPr lang="en-US" altLang="zh-CN" sz="2400"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den>
                    </m:f>
                    <m: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=0</m:t>
                    </m:r>
                  </m:oMath>
                </a14:m>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可以得到</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pPr>
                <a14:m>
                  <m:oMathPara xmlns:m="http://schemas.openxmlformats.org/officeDocument/2006/math">
                    <m:oMathParaPr>
                      <m:jc m:val="centerGroup"/>
                    </m:oMathParaPr>
                    <m:oMath xmlns:m="http://schemas.openxmlformats.org/officeDocument/2006/math">
                      <m:nary>
                        <m:naryPr>
                          <m: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3"/>
                            </m:r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=1</m:t>
                          </m:r>
                        </m:sub>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𝑛</m:t>
                          </m:r>
                        </m:sup>
                        <m:e>
                          <m:f>
                            <m:f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fPr>
                            <m:num>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𝑓</m:t>
                              </m:r>
                              <m:d>
                                <m:dPr>
                                  <m:ctrlP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𝝁</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l-GR" altLang="zh-CN"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𝜮</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e>
                              </m:d>
                            </m:num>
                            <m:den>
                              <m:nary>
                                <m:naryPr>
                                  <m:chr m:val="∑"/>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3"/>
                                    </m:r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𝑙</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sub>
                                <m:sup>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𝑘</m:t>
                                  </m:r>
                                </m:sup>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𝑙</m:t>
                                      </m:r>
                                    </m:sub>
                                  </m:sSub>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𝑓</m:t>
                                  </m:r>
                                  <m:d>
                                    <m:dPr>
                                      <m:ctrlP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𝝁</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𝑙</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l-GR" altLang="zh-CN"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𝜮</m:t>
                                          </m:r>
                                        </m:e>
                                        <m:sub>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𝑙</m:t>
                                          </m:r>
                                        </m:sub>
                                      </m:sSub>
                                    </m:e>
                                  </m:d>
                                </m:e>
                              </m:nary>
                            </m:den>
                          </m:f>
                        </m:e>
                      </m:nary>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𝝁</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=0</m:t>
                      </m:r>
                    </m:oMath>
                  </m:oMathPara>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即：</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pPr>
                <a14:m>
                  <m:oMathPara xmlns:m="http://schemas.openxmlformats.org/officeDocument/2006/math">
                    <m:oMathParaPr>
                      <m:jc m:val="centerGroup"/>
                    </m:oMathParaPr>
                    <m:oMath xmlns:m="http://schemas.openxmlformats.org/officeDocument/2006/math">
                      <m:nary>
                        <m:naryPr>
                          <m: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3"/>
                            </m:r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=1</m:t>
                          </m:r>
                        </m:sub>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𝑛</m:t>
                          </m:r>
                        </m:sup>
                        <m:e>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𝛾</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𝑡𝑖</m:t>
                              </m:r>
                            </m:sub>
                          </m:sSub>
                        </m:e>
                      </m:nary>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𝝁</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=0</m:t>
                      </m:r>
                    </m:oMath>
                  </m:oMathPara>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可以得到</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pPr>
                <a14:m>
                  <m:oMathPara xmlns:m="http://schemas.openxmlformats.org/officeDocument/2006/math">
                    <m:oMathParaPr>
                      <m:jc m:val="centerGroup"/>
                    </m:oMathParaPr>
                    <m:oMath xmlns:m="http://schemas.openxmlformats.org/officeDocument/2006/math">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𝝁</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f>
                        <m:fPr>
                          <m:ctrlP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fPr>
                        <m:num>
                          <m:nary>
                            <m:naryPr>
                              <m:chr m:val="∑"/>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3"/>
                                </m:r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sub>
                            <m:sup>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𝑛</m:t>
                              </m:r>
                            </m:sup>
                            <m:e>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𝛾</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𝑡𝑖</m:t>
                                  </m:r>
                                </m:sub>
                              </m:sSub>
                            </m:e>
                          </m:nary>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num>
                        <m:den>
                          <m:nary>
                            <m:naryPr>
                              <m:chr m:val="∑"/>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3"/>
                                </m:r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sub>
                            <m:sup>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𝑛</m:t>
                              </m:r>
                            </m:sup>
                            <m:e>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𝛾</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𝑡𝑖</m:t>
                                  </m:r>
                                </m:sub>
                              </m:sSub>
                            </m:e>
                          </m:nary>
                        </m:den>
                      </m:f>
                    </m:oMath>
                  </m:oMathPara>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96B97EB8-671F-2DD6-D687-E431680C58CC}"/>
                  </a:ext>
                </a:extLst>
              </p:cNvPr>
              <p:cNvSpPr txBox="1">
                <a:spLocks noRot="1" noChangeAspect="1" noMove="1" noResize="1" noEditPoints="1" noAdjustHandles="1" noChangeArrowheads="1" noChangeShapeType="1" noTextEdit="1"/>
              </p:cNvSpPr>
              <p:nvPr/>
            </p:nvSpPr>
            <p:spPr>
              <a:xfrm>
                <a:off x="162560" y="1245067"/>
                <a:ext cx="8675814" cy="6598666"/>
              </a:xfrm>
              <a:prstGeom prst="rect">
                <a:avLst/>
              </a:prstGeom>
              <a:blipFill>
                <a:blip r:embed="rId3"/>
                <a:stretch>
                  <a:fillRect l="-63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817783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38</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关键参数推导（阅读内容）</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96B97EB8-671F-2DD6-D687-E431680C58CC}"/>
                  </a:ext>
                </a:extLst>
              </p:cNvPr>
              <p:cNvSpPr txBox="1"/>
              <p:nvPr/>
            </p:nvSpPr>
            <p:spPr>
              <a:xfrm>
                <a:off x="162560" y="1245067"/>
                <a:ext cx="8675814" cy="8221546"/>
              </a:xfrm>
              <a:prstGeom prst="rect">
                <a:avLst/>
              </a:prstGeom>
              <a:noFill/>
            </p:spPr>
            <p:txBody>
              <a:bodyPr wrap="square">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类似的，</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根据</a:t>
                </a:r>
                <a14:m>
                  <m:oMath xmlns:m="http://schemas.openxmlformats.org/officeDocument/2006/math">
                    <m:r>
                      <a:rPr kumimoji="0" lang="en-US" altLang="zh-CN" sz="2400" b="0" i="0"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 </m:t>
                    </m:r>
                    <m:f>
                      <m:fPr>
                        <m:ctrlP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fPr>
                      <m:num>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𝐿𝐿</m:t>
                        </m:r>
                        <m:d>
                          <m:dPr>
                            <m:ctrlP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𝐷</m:t>
                            </m:r>
                          </m:e>
                        </m:d>
                      </m:num>
                      <m:den>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sSub>
                          <m:sSubPr>
                            <m:ctrlP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l-GR" altLang="zh-CN" sz="24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𝜮</m:t>
                            </m:r>
                          </m:e>
                          <m:sub>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den>
                    </m:f>
                    <m: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=0</m:t>
                    </m:r>
                  </m:oMath>
                </a14:m>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可以得到</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l-GR" altLang="zh-CN"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𝜮</m:t>
                          </m:r>
                        </m:e>
                        <m:sub>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f>
                        <m:fPr>
                          <m:ctrlP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fPr>
                        <m:num>
                          <m:nary>
                            <m:naryPr>
                              <m:chr m:val="∑"/>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3"/>
                                </m:r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=1</m:t>
                              </m:r>
                            </m:sub>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𝑛</m:t>
                              </m:r>
                            </m:sup>
                            <m:e>
                              <m:sSub>
                                <m:sSubPr>
                                  <m:ctrlP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𝛾</m:t>
                                  </m:r>
                                </m:e>
                                <m:sub>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𝑡𝑖</m:t>
                                  </m:r>
                                </m:sub>
                              </m:sSub>
                              <m:sSup>
                                <m:sSupPr>
                                  <m:ctrlP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pPr>
                                <m:e>
                                  <m:d>
                                    <m:dPr>
                                      <m:ctrlP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𝝁</m:t>
                                          </m:r>
                                        </m:e>
                                        <m:sub>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e>
                                  </m:d>
                                </m:e>
                                <m:sup>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m:t>
                                  </m:r>
                                </m:sup>
                              </m:sSup>
                            </m:e>
                          </m:nary>
                          <m:d>
                            <m:dPr>
                              <m:ctrlP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𝝁</m:t>
                                  </m:r>
                                </m:e>
                                <m:sub>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e>
                          </m:d>
                        </m:num>
                        <m:den>
                          <m:nary>
                            <m:naryPr>
                              <m:chr m:val="∑"/>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3"/>
                                </m:r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=1</m:t>
                              </m:r>
                            </m:sub>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𝑛</m:t>
                              </m:r>
                            </m:sup>
                            <m:e>
                              <m:sSub>
                                <m:sSubPr>
                                  <m:ctrlP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𝛾</m:t>
                                  </m:r>
                                </m:e>
                                <m:sub>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𝑡𝑖</m:t>
                                  </m:r>
                                </m:sub>
                              </m:sSub>
                            </m:e>
                          </m:nary>
                        </m:den>
                      </m:f>
                    </m:oMath>
                  </m:oMathPara>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对于混合系数</a:t>
                </a: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𝛼</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，除了要求对数似然函数对混合系数偏导数等于零，还需要满足以下约束：</a:t>
                </a:r>
                <a:endPar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𝛼</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&gt;0,  </m:t>
                      </m:r>
                      <m:nary>
                        <m:naryPr>
                          <m:chr m:val="∑"/>
                          <m:limLoc m:val="subSup"/>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5"/>
                            </m:r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=1</m:t>
                          </m:r>
                        </m:sub>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𝑘</m:t>
                          </m:r>
                        </m:sup>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𝛼</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e>
                      </m:nary>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=1</m:t>
                      </m:r>
                    </m:oMath>
                  </m:oMathPara>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因此构造拉格朗日函数：</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pPr>
                <a14:m>
                  <m:oMathPara xmlns:m="http://schemas.openxmlformats.org/officeDocument/2006/math">
                    <m:oMathParaPr>
                      <m:jc m:val="centerGroup"/>
                    </m:oMathParaPr>
                    <m:oMath xmlns:m="http://schemas.openxmlformats.org/officeDocument/2006/math">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𝐿𝐴</m:t>
                      </m:r>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sub>
                          </m:s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𝑘</m:t>
                              </m:r>
                            </m:sub>
                          </m:s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a:rPr lang="zh-CN" altLang="en-US"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𝜆</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 </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𝐿𝐿</m:t>
                      </m:r>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𝐷</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r>
                        <a:rPr kumimoji="0" lang="zh-CN"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𝜆</m:t>
                      </m:r>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nary>
                            <m:naryPr>
                              <m:chr m:val="∑"/>
                              <m:limLoc m:val="subSup"/>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5"/>
                                </m:r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=1</m:t>
                              </m:r>
                            </m:sub>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𝑘</m:t>
                              </m:r>
                            </m:sup>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𝛼</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e>
                          </m:nary>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1</m:t>
                          </m:r>
                          <m:r>
                            <m:rPr>
                              <m:nor/>
                            </m:rP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m:t> </m:t>
                          </m:r>
                        </m:e>
                      </m:d>
                    </m:oMath>
                  </m:oMathPara>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96B97EB8-671F-2DD6-D687-E431680C58CC}"/>
                  </a:ext>
                </a:extLst>
              </p:cNvPr>
              <p:cNvSpPr txBox="1">
                <a:spLocks noRot="1" noChangeAspect="1" noMove="1" noResize="1" noEditPoints="1" noAdjustHandles="1" noChangeArrowheads="1" noChangeShapeType="1" noTextEdit="1"/>
              </p:cNvSpPr>
              <p:nvPr/>
            </p:nvSpPr>
            <p:spPr>
              <a:xfrm>
                <a:off x="162560" y="1245067"/>
                <a:ext cx="8675814" cy="8221546"/>
              </a:xfrm>
              <a:prstGeom prst="rect">
                <a:avLst/>
              </a:prstGeom>
              <a:blipFill>
                <a:blip r:embed="rId3"/>
                <a:stretch>
                  <a:fillRect l="-632" r="-56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147464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39</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关键参数推导（阅读内容）</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96B97EB8-671F-2DD6-D687-E431680C58CC}"/>
                  </a:ext>
                </a:extLst>
              </p:cNvPr>
              <p:cNvSpPr txBox="1"/>
              <p:nvPr/>
            </p:nvSpPr>
            <p:spPr>
              <a:xfrm>
                <a:off x="162560" y="1245067"/>
                <a:ext cx="8675814" cy="7125092"/>
              </a:xfrm>
              <a:prstGeom prst="rect">
                <a:avLst/>
              </a:prstGeom>
              <a:noFill/>
            </p:spPr>
            <p:txBody>
              <a:bodyPr wrap="square">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对于混合系数</a:t>
                </a: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𝛼</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，除了要求对数似然函数对混合系数偏导数等于零，还需要满足以下约束：</a:t>
                </a:r>
                <a:endPar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𝛼</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&gt;0,  </m:t>
                      </m:r>
                      <m:nary>
                        <m:naryPr>
                          <m:chr m:val="∑"/>
                          <m:limLoc m:val="subSup"/>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5"/>
                            </m:r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=1</m:t>
                          </m:r>
                        </m:sub>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𝑘</m:t>
                          </m:r>
                        </m:sup>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𝛼</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e>
                      </m:nary>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=1</m:t>
                      </m:r>
                    </m:oMath>
                  </m:oMathPara>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因此构造拉格朗日函数：</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𝐿𝐴</m:t>
                      </m:r>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𝛼</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1</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𝛼</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𝑘</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r>
                            <a:rPr kumimoji="0" lang="zh-CN"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𝜆</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 </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𝐿𝐿</m:t>
                      </m:r>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𝐷</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r>
                        <a:rPr kumimoji="0" lang="zh-CN"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𝜆</m:t>
                      </m:r>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nary>
                            <m:naryPr>
                              <m:chr m:val="∑"/>
                              <m:limLoc m:val="subSup"/>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5"/>
                                </m:r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=1</m:t>
                              </m:r>
                            </m:sub>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𝑘</m:t>
                              </m:r>
                            </m:sup>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𝛼</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e>
                          </m:nary>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1</m:t>
                          </m:r>
                          <m:r>
                            <m:rPr>
                              <m:nor/>
                            </m:rP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m:t> </m:t>
                          </m:r>
                        </m:e>
                      </m:d>
                    </m:oMath>
                  </m:oMathPara>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令拉格朗日函数对</a:t>
                </a:r>
                <a14:m>
                  <m:oMath xmlns:m="http://schemas.openxmlformats.org/officeDocument/2006/math">
                    <m:sSub>
                      <m:sSubPr>
                        <m:ctrlPr>
                          <a:rPr lang="en-US" altLang="zh-CN"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oMath>
                </a14:m>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偏导数等于</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0</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，可以得到：</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pPr>
                <a14:m>
                  <m:oMathPara xmlns:m="http://schemas.openxmlformats.org/officeDocument/2006/math">
                    <m:oMathParaPr>
                      <m:jc m:val="centerGroup"/>
                    </m:oMathParaPr>
                    <m:oMath xmlns:m="http://schemas.openxmlformats.org/officeDocument/2006/math">
                      <m:nary>
                        <m:naryPr>
                          <m: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3"/>
                            </m:r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=1</m:t>
                          </m:r>
                        </m:sub>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𝑛</m:t>
                          </m:r>
                        </m:sup>
                        <m:e>
                          <m:f>
                            <m:f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𝑓</m:t>
                              </m:r>
                              <m:d>
                                <m:dPr>
                                  <m:ctrlP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𝝁</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l-GR" altLang="zh-CN"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𝜮</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e>
                              </m:d>
                            </m:num>
                            <m:den>
                              <m:nary>
                                <m:naryPr>
                                  <m:chr m:val="∑"/>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3"/>
                                    </m:r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𝑙</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sub>
                                <m:sup>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𝑘</m:t>
                                  </m:r>
                                </m:sup>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𝑙</m:t>
                                      </m:r>
                                    </m:sub>
                                  </m:sSub>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𝑓</m:t>
                                  </m:r>
                                  <m:d>
                                    <m:dPr>
                                      <m:ctrlP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𝝁</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𝑙</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l-GR" altLang="zh-CN"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𝜮</m:t>
                                          </m:r>
                                        </m:e>
                                        <m:sub>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𝑙</m:t>
                                          </m:r>
                                        </m:sub>
                                      </m:sSub>
                                    </m:e>
                                  </m:d>
                                </m:e>
                              </m:nary>
                            </m:den>
                          </m:f>
                        </m:e>
                      </m:nary>
                      <m:r>
                        <a:rPr lang="en-US" altLang="zh-CN"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zh-CN" altLang="en-US"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𝜆</m:t>
                      </m:r>
                      <m:r>
                        <a:rPr lang="en-US" altLang="zh-CN"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=0</m:t>
                      </m:r>
                    </m:oMath>
                  </m:oMathPara>
                </a14:m>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96B97EB8-671F-2DD6-D687-E431680C58CC}"/>
                  </a:ext>
                </a:extLst>
              </p:cNvPr>
              <p:cNvSpPr txBox="1">
                <a:spLocks noRot="1" noChangeAspect="1" noMove="1" noResize="1" noEditPoints="1" noAdjustHandles="1" noChangeArrowheads="1" noChangeShapeType="1" noTextEdit="1"/>
              </p:cNvSpPr>
              <p:nvPr/>
            </p:nvSpPr>
            <p:spPr>
              <a:xfrm>
                <a:off x="162560" y="1245067"/>
                <a:ext cx="8675814" cy="7125092"/>
              </a:xfrm>
              <a:prstGeom prst="rect">
                <a:avLst/>
              </a:prstGeom>
              <a:blipFill>
                <a:blip r:embed="rId3"/>
                <a:stretch>
                  <a:fillRect l="-632" r="-56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961179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40</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关键参数推导（阅读内容）</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96B97EB8-671F-2DD6-D687-E431680C58CC}"/>
                  </a:ext>
                </a:extLst>
              </p:cNvPr>
              <p:cNvSpPr txBox="1"/>
              <p:nvPr/>
            </p:nvSpPr>
            <p:spPr>
              <a:xfrm>
                <a:off x="162560" y="1245067"/>
                <a:ext cx="8675814" cy="7386253"/>
              </a:xfrm>
              <a:prstGeom prst="rect">
                <a:avLst/>
              </a:prstGeom>
              <a:noFill/>
            </p:spPr>
            <p:txBody>
              <a:bodyPr wrap="square">
                <a:spAutoFit/>
              </a:bodyPr>
              <a:lstStyle/>
              <a:p>
                <a:pPr lvl="0" algn="just">
                  <a:lnSpc>
                    <a:spcPct val="150000"/>
                  </a:lnSpc>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令拉格朗日函数对</a:t>
                </a:r>
                <a14:m>
                  <m:oMath xmlns:m="http://schemas.openxmlformats.org/officeDocument/2006/math">
                    <m:sSub>
                      <m:sSubPr>
                        <m:ctrlPr>
                          <a:rPr lang="en-US" altLang="zh-CN"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oMath>
                </a14:m>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偏导数等于</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0</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，可以得到：</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pPr>
                <a14:m>
                  <m:oMathPara xmlns:m="http://schemas.openxmlformats.org/officeDocument/2006/math">
                    <m:oMathParaPr>
                      <m:jc m:val="centerGroup"/>
                    </m:oMathParaPr>
                    <m:oMath xmlns:m="http://schemas.openxmlformats.org/officeDocument/2006/math">
                      <m:nary>
                        <m:naryPr>
                          <m: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3"/>
                            </m:r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=1</m:t>
                          </m:r>
                        </m:sub>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𝑛</m:t>
                          </m:r>
                        </m:sup>
                        <m:e>
                          <m:f>
                            <m:f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𝑓</m:t>
                              </m:r>
                              <m:d>
                                <m:dPr>
                                  <m:ctrlP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𝝁</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l-GR" altLang="zh-CN"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𝜮</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e>
                              </m:d>
                            </m:num>
                            <m:den>
                              <m:nary>
                                <m:naryPr>
                                  <m:chr m:val="∑"/>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3"/>
                                    </m:r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𝑙</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sub>
                                <m:sup>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𝑘</m:t>
                                  </m:r>
                                </m:sup>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𝑙</m:t>
                                      </m:r>
                                    </m:sub>
                                  </m:sSub>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𝑓</m:t>
                                  </m:r>
                                  <m:d>
                                    <m:dPr>
                                      <m:ctrlP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𝝁</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𝑙</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l-GR" altLang="zh-CN"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𝜮</m:t>
                                          </m:r>
                                        </m:e>
                                        <m:sub>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𝑙</m:t>
                                          </m:r>
                                        </m:sub>
                                      </m:sSub>
                                    </m:e>
                                  </m:d>
                                </m:e>
                              </m:nary>
                            </m:den>
                          </m:f>
                        </m:e>
                      </m:nary>
                      <m:r>
                        <a:rPr lang="en-US" altLang="zh-CN"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zh-CN" altLang="en-US"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𝜆</m:t>
                      </m:r>
                      <m:r>
                        <a:rPr lang="en-US" altLang="zh-CN"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=0</m:t>
                      </m:r>
                    </m:oMath>
                  </m:oMathPara>
                </a14:m>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对上式两侧同时乘以</a:t>
                </a:r>
                <a14:m>
                  <m:oMath xmlns:m="http://schemas.openxmlformats.org/officeDocument/2006/math">
                    <m:sSub>
                      <m:sSubPr>
                        <m:ctrlPr>
                          <a:rPr lang="en-US" altLang="zh-CN"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oMath>
                </a14:m>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并对 </a:t>
                </a:r>
                <a14:m>
                  <m:oMath xmlns:m="http://schemas.openxmlformats.org/officeDocument/2006/math">
                    <m:r>
                      <a:rPr lang="en-US" altLang="zh-CN"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求和，可以得到</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pPr>
                <a14:m>
                  <m:oMathPara xmlns:m="http://schemas.openxmlformats.org/officeDocument/2006/math">
                    <m:oMathParaPr>
                      <m:jc m:val="centerGroup"/>
                    </m:oMathParaPr>
                    <m:oMath xmlns:m="http://schemas.openxmlformats.org/officeDocument/2006/math">
                      <m:r>
                        <a:rPr lang="zh-CN" altLang="en-US"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𝜆</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𝑛</m:t>
                      </m:r>
                    </m:oMath>
                  </m:oMathPara>
                </a14:m>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pPr>
                <a14:m>
                  <m:oMathPara xmlns:m="http://schemas.openxmlformats.org/officeDocument/2006/math">
                    <m:oMathParaPr>
                      <m:jc m:val="centerGroup"/>
                    </m:oMathParaPr>
                    <m:oMath xmlns:m="http://schemas.openxmlformats.org/officeDocument/2006/math">
                      <m:sSub>
                        <m:sSubPr>
                          <m:ctrlPr>
                            <a:rPr lang="en-US" altLang="zh-CN"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f>
                        <m:fPr>
                          <m:ctrlP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fPr>
                        <m:num>
                          <m:nary>
                            <m:naryPr>
                              <m:chr m:val="∑"/>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3"/>
                                </m:r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sub>
                            <m:sup>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𝑛</m:t>
                              </m:r>
                            </m:sup>
                            <m:e>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𝛾</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𝑡𝑖</m:t>
                                  </m:r>
                                </m:sub>
                              </m:sSub>
                            </m:e>
                          </m:nary>
                        </m:num>
                        <m:den>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𝑛</m:t>
                          </m:r>
                        </m:den>
                      </m:f>
                    </m:oMath>
                  </m:oMathPara>
                </a14:m>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请思考，</a:t>
                </a:r>
                <a14:m>
                  <m:oMath xmlns:m="http://schemas.openxmlformats.org/officeDocument/2006/math">
                    <m:r>
                      <a:rPr lang="zh-CN" altLang="en-US"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𝜆</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𝑛</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是如何计算得到的？</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96B97EB8-671F-2DD6-D687-E431680C58CC}"/>
                  </a:ext>
                </a:extLst>
              </p:cNvPr>
              <p:cNvSpPr txBox="1">
                <a:spLocks noRot="1" noChangeAspect="1" noMove="1" noResize="1" noEditPoints="1" noAdjustHandles="1" noChangeArrowheads="1" noChangeShapeType="1" noTextEdit="1"/>
              </p:cNvSpPr>
              <p:nvPr/>
            </p:nvSpPr>
            <p:spPr>
              <a:xfrm>
                <a:off x="162560" y="1245067"/>
                <a:ext cx="8675814" cy="7386253"/>
              </a:xfrm>
              <a:prstGeom prst="rect">
                <a:avLst/>
              </a:prstGeom>
              <a:blipFill>
                <a:blip r:embed="rId3"/>
                <a:stretch>
                  <a:fillRect l="-63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406822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41</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关键参数推导（阅读内容）</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96B97EB8-671F-2DD6-D687-E431680C58CC}"/>
                  </a:ext>
                </a:extLst>
              </p:cNvPr>
              <p:cNvSpPr txBox="1"/>
              <p:nvPr/>
            </p:nvSpPr>
            <p:spPr>
              <a:xfrm>
                <a:off x="162560" y="1245067"/>
                <a:ext cx="8675814" cy="5481693"/>
              </a:xfrm>
              <a:prstGeom prst="rect">
                <a:avLst/>
              </a:prstGeom>
              <a:noFill/>
            </p:spPr>
            <p:txBody>
              <a:bodyPr wrap="square">
                <a:spAutoFit/>
              </a:bodyPr>
              <a:lstStyle/>
              <a:p>
                <a:pPr algn="just">
                  <a:lnSpc>
                    <a:spcPct val="150000"/>
                  </a:lnSpc>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请思考，</a:t>
                </a:r>
                <a14:m>
                  <m:oMath xmlns:m="http://schemas.openxmlformats.org/officeDocument/2006/math">
                    <m:r>
                      <a:rPr lang="zh-CN" altLang="en-US"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𝜆</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𝑛</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是如何计算得到的？</a:t>
                </a:r>
                <a:endPar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endParaRPr>
              </a:p>
              <a:p>
                <a:pPr lvl="0" algn="just">
                  <a:lnSpc>
                    <a:spcPct val="150000"/>
                  </a:lnSpc>
                </a:pPr>
                <a14:m>
                  <m:oMathPara xmlns:m="http://schemas.openxmlformats.org/officeDocument/2006/math">
                    <m:oMathParaPr>
                      <m:jc m:val="centerGroup"/>
                    </m:oMathParaPr>
                    <m:oMath xmlns:m="http://schemas.openxmlformats.org/officeDocument/2006/math">
                      <m:nary>
                        <m:naryPr>
                          <m: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3"/>
                            </m:r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=1</m:t>
                          </m:r>
                        </m:sub>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𝑛</m:t>
                          </m:r>
                        </m:sup>
                        <m:e>
                          <m:f>
                            <m:f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𝑓</m:t>
                              </m:r>
                              <m:d>
                                <m:dPr>
                                  <m:ctrlP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𝝁</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l-GR" altLang="zh-CN"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𝜮</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e>
                              </m:d>
                            </m:num>
                            <m:den>
                              <m:nary>
                                <m:naryPr>
                                  <m:chr m:val="∑"/>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3"/>
                                    </m:r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𝑙</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sub>
                                <m:sup>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𝑘</m:t>
                                  </m:r>
                                </m:sup>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𝑙</m:t>
                                      </m:r>
                                    </m:sub>
                                  </m:sSub>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𝑓</m:t>
                                  </m:r>
                                  <m:d>
                                    <m:dPr>
                                      <m:ctrlP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𝝁</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𝑙</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l-GR" altLang="zh-CN"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𝜮</m:t>
                                          </m:r>
                                        </m:e>
                                        <m:sub>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𝑙</m:t>
                                          </m:r>
                                        </m:sub>
                                      </m:sSub>
                                    </m:e>
                                  </m:d>
                                </m:e>
                              </m:nary>
                            </m:den>
                          </m:f>
                        </m:e>
                      </m:nary>
                      <m:r>
                        <a:rPr lang="en-US" altLang="zh-CN"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zh-CN" altLang="en-US"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𝜆</m:t>
                      </m:r>
                      <m:r>
                        <a:rPr lang="en-US" altLang="zh-CN"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=0</m:t>
                      </m:r>
                    </m:oMath>
                  </m:oMathPara>
                </a14:m>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等式两边同时乘以</a:t>
                </a:r>
                <a14:m>
                  <m:oMath xmlns:m="http://schemas.openxmlformats.org/officeDocument/2006/math">
                    <m:sSub>
                      <m:sSubPr>
                        <m:ctrlPr>
                          <a:rPr lang="en-US" altLang="zh-CN"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，得到：</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pPr>
                <a14:m>
                  <m:oMathPara xmlns:m="http://schemas.openxmlformats.org/officeDocument/2006/math">
                    <m:oMathParaPr>
                      <m:jc m:val="centerGroup"/>
                    </m:oMathParaPr>
                    <m:oMath xmlns:m="http://schemas.openxmlformats.org/officeDocument/2006/math">
                      <m:nary>
                        <m:naryPr>
                          <m: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3"/>
                            </m:r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=1</m:t>
                          </m:r>
                        </m:sub>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𝑛</m:t>
                          </m:r>
                        </m:sup>
                        <m:e>
                          <m:f>
                            <m:f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fPr>
                            <m:num>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𝑓</m:t>
                              </m:r>
                              <m:d>
                                <m:dPr>
                                  <m:ctrlP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𝝁</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l-GR" altLang="zh-CN"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𝜮</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e>
                              </m:d>
                            </m:num>
                            <m:den>
                              <m:nary>
                                <m:naryPr>
                                  <m:chr m:val="∑"/>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3"/>
                                    </m:r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𝑙</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sub>
                                <m:sup>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𝑘</m:t>
                                  </m:r>
                                </m:sup>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𝑙</m:t>
                                      </m:r>
                                    </m:sub>
                                  </m:sSub>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𝑓</m:t>
                                  </m:r>
                                  <m:d>
                                    <m:dPr>
                                      <m:ctrlP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𝝁</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𝑙</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l-GR" altLang="zh-CN"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𝜮</m:t>
                                          </m:r>
                                        </m:e>
                                        <m:sub>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𝑙</m:t>
                                          </m:r>
                                        </m:sub>
                                      </m:sSub>
                                    </m:e>
                                  </m:d>
                                </m:e>
                              </m:nary>
                            </m:den>
                          </m:f>
                        </m:e>
                      </m:nary>
                      <m:r>
                        <a:rPr lang="en-US" altLang="zh-CN"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r>
                        <a:rPr lang="zh-CN" altLang="en-US"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𝜆</m:t>
                      </m:r>
                      <m:r>
                        <a:rPr lang="en-US" altLang="zh-CN"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=0</m:t>
                      </m:r>
                    </m:oMath>
                  </m:oMathPara>
                </a14:m>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将 </a:t>
                </a:r>
                <a14:m>
                  <m:oMath xmlns:m="http://schemas.openxmlformats.org/officeDocument/2006/math">
                    <m:f>
                      <m:f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fPr>
                      <m:num>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𝑓</m:t>
                        </m:r>
                        <m:d>
                          <m:dPr>
                            <m:ctrlP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𝝁</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l-GR" altLang="zh-CN"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𝜮</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e>
                        </m:d>
                      </m:num>
                      <m:den>
                        <m:nary>
                          <m:naryPr>
                            <m:chr m:val="∑"/>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3"/>
                              </m:r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𝑙</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sub>
                          <m:sup>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𝑘</m:t>
                            </m:r>
                          </m:sup>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𝑙</m:t>
                                </m:r>
                              </m:sub>
                            </m:sSub>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𝑓</m:t>
                            </m:r>
                            <m:d>
                              <m:dPr>
                                <m:ctrlP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𝝁</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𝑙</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l-GR" altLang="zh-CN"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𝜮</m:t>
                                    </m:r>
                                  </m:e>
                                  <m:sub>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𝑙</m:t>
                                    </m:r>
                                  </m:sub>
                                </m:sSub>
                              </m:e>
                            </m:d>
                          </m:e>
                        </m:nary>
                      </m:den>
                    </m:f>
                  </m:oMath>
                </a14:m>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记为 </a:t>
                </a:r>
                <a14:m>
                  <m:oMath xmlns:m="http://schemas.openxmlformats.org/officeDocument/2006/math">
                    <m:sSub>
                      <m:sSubPr>
                        <m:ctrlPr>
                          <a:rPr lang="en-US" altLang="zh-CN"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𝑚</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𝑖𝑡</m:t>
                        </m:r>
                      </m:sub>
                    </m:sSub>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，显然，</a:t>
                </a:r>
                <a14:m>
                  <m:oMath xmlns:m="http://schemas.openxmlformats.org/officeDocument/2006/math">
                    <m:nary>
                      <m:naryPr>
                        <m:chr m:val="∑"/>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naryPr>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sub>
                      <m:sup>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𝑘</m:t>
                        </m:r>
                      </m:sup>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𝑚</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𝑖𝑡</m:t>
                            </m:r>
                          </m:sub>
                        </m:sSub>
                      </m:e>
                    </m:nary>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，那么有：</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pPr>
                <a14:m>
                  <m:oMathPara xmlns:m="http://schemas.openxmlformats.org/officeDocument/2006/math">
                    <m:oMathParaPr>
                      <m:jc m:val="centerGroup"/>
                    </m:oMathParaPr>
                    <m:oMath xmlns:m="http://schemas.openxmlformats.org/officeDocument/2006/math">
                      <m:nary>
                        <m:naryPr>
                          <m: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3"/>
                            </m:r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=1</m:t>
                          </m:r>
                        </m:sub>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𝑘</m:t>
                          </m:r>
                        </m:sup>
                        <m:e>
                          <m:nary>
                            <m:naryPr>
                              <m:chr m:val="∑"/>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3"/>
                                </m:r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sub>
                            <m:sup>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𝑛</m:t>
                              </m:r>
                            </m:sup>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𝑚</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𝑖𝑡</m:t>
                                  </m:r>
                                </m:sub>
                              </m:sSub>
                            </m:e>
                          </m:nary>
                        </m:e>
                      </m:nary>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nary>
                        <m:naryPr>
                          <m: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3"/>
                            </m:r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=1</m:t>
                          </m:r>
                        </m:sub>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𝑘</m:t>
                          </m:r>
                        </m:sup>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r>
                            <a:rPr lang="zh-CN" altLang="en-US"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𝜆</m:t>
                          </m:r>
                        </m:e>
                      </m:nary>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nary>
                        <m:naryPr>
                          <m:chr m:val="∑"/>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naryPr>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sub>
                        <m:sup>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𝑛</m:t>
                          </m:r>
                        </m:sup>
                        <m:e>
                          <m:nary>
                            <m:naryPr>
                              <m:chr m:val="∑"/>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naryPr>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sub>
                            <m:sup>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𝑘</m:t>
                              </m:r>
                            </m:sup>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𝑚</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𝑖𝑡</m:t>
                                  </m:r>
                                </m:sub>
                              </m:sSub>
                            </m:e>
                          </m:nary>
                        </m:e>
                      </m:nary>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a:rPr lang="zh-CN" altLang="en-US"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𝜆</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𝑛</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𝜆</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=0</m:t>
                      </m:r>
                    </m:oMath>
                  </m:oMathPara>
                </a14:m>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96B97EB8-671F-2DD6-D687-E431680C58CC}"/>
                  </a:ext>
                </a:extLst>
              </p:cNvPr>
              <p:cNvSpPr txBox="1">
                <a:spLocks noRot="1" noChangeAspect="1" noMove="1" noResize="1" noEditPoints="1" noAdjustHandles="1" noChangeArrowheads="1" noChangeShapeType="1" noTextEdit="1"/>
              </p:cNvSpPr>
              <p:nvPr/>
            </p:nvSpPr>
            <p:spPr>
              <a:xfrm>
                <a:off x="162560" y="1245067"/>
                <a:ext cx="8675814" cy="5481693"/>
              </a:xfrm>
              <a:prstGeom prst="rect">
                <a:avLst/>
              </a:prstGeom>
              <a:blipFill>
                <a:blip r:embed="rId3"/>
                <a:stretch>
                  <a:fillRect l="-63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045244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关键参数推导</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96B97EB8-671F-2DD6-D687-E431680C58CC}"/>
                  </a:ext>
                </a:extLst>
              </p:cNvPr>
              <p:cNvSpPr txBox="1"/>
              <p:nvPr/>
            </p:nvSpPr>
            <p:spPr>
              <a:xfrm>
                <a:off x="162559" y="1245067"/>
                <a:ext cx="8926775" cy="7114576"/>
              </a:xfrm>
              <a:prstGeom prst="rect">
                <a:avLst/>
              </a:prstGeom>
              <a:noFill/>
            </p:spPr>
            <p:txBody>
              <a:bodyPr wrap="square">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综上，高斯混合分布的三个关键参数可以通过如下计算得到：</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CN"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𝝁</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f>
                        <m:fPr>
                          <m:ctrlP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fPr>
                        <m:num>
                          <m:nary>
                            <m:naryPr>
                              <m:chr m:val="∑"/>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3"/>
                                </m:r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sub>
                            <m:sup>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𝑛</m:t>
                              </m:r>
                            </m:sup>
                            <m:e>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𝛾</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𝑡𝑖</m:t>
                                  </m:r>
                                </m:sub>
                              </m:sSub>
                            </m:e>
                          </m:nary>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num>
                        <m:den>
                          <m:nary>
                            <m:naryPr>
                              <m:chr m:val="∑"/>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3"/>
                                </m:r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sub>
                            <m:sup>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𝑛</m:t>
                              </m:r>
                            </m:sup>
                            <m:e>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𝛾</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𝑡𝑖</m:t>
                                  </m:r>
                                </m:sub>
                              </m:sSub>
                            </m:e>
                          </m:nary>
                        </m:den>
                      </m:f>
                    </m:oMath>
                  </m:oMathPara>
                </a14:m>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l-GR" altLang="zh-CN"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𝜮</m:t>
                          </m:r>
                        </m:e>
                        <m:sub>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f>
                        <m:fPr>
                          <m:ctrlP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fPr>
                        <m:num>
                          <m:nary>
                            <m:naryPr>
                              <m:chr m:val="∑"/>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3"/>
                                </m:r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=1</m:t>
                              </m:r>
                            </m:sub>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𝑛</m:t>
                              </m:r>
                            </m:sup>
                            <m:e>
                              <m:sSub>
                                <m:sSubPr>
                                  <m:ctrlP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𝛾</m:t>
                                  </m:r>
                                </m:e>
                                <m:sub>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𝑡𝑖</m:t>
                                  </m:r>
                                </m:sub>
                              </m:sSub>
                              <m:sSup>
                                <m:sSupPr>
                                  <m:ctrlP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pPr>
                                <m:e>
                                  <m:d>
                                    <m:dPr>
                                      <m:ctrlP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𝝁</m:t>
                                          </m:r>
                                        </m:e>
                                        <m:sub>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e>
                                  </m:d>
                                </m:e>
                                <m:sup>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m:t>
                                  </m:r>
                                </m:sup>
                              </m:sSup>
                            </m:e>
                          </m:nary>
                          <m:d>
                            <m:dPr>
                              <m:ctrlP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𝝁</m:t>
                                  </m:r>
                                </m:e>
                                <m:sub>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e>
                          </m:d>
                        </m:num>
                        <m:den>
                          <m:nary>
                            <m:naryPr>
                              <m:chr m:val="∑"/>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3"/>
                                </m:r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=1</m:t>
                              </m:r>
                            </m:sub>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𝑛</m:t>
                              </m:r>
                            </m:sup>
                            <m:e>
                              <m:sSub>
                                <m:sSubPr>
                                  <m:ctrlP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𝛾</m:t>
                                  </m:r>
                                </m:e>
                                <m:sub>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𝑡𝑖</m:t>
                                  </m:r>
                                </m:sub>
                              </m:sSub>
                            </m:e>
                          </m:nary>
                        </m:den>
                      </m:f>
                    </m:oMath>
                  </m:oMathPara>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𝛼</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f>
                        <m:f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fPr>
                        <m:num>
                          <m:nary>
                            <m:naryPr>
                              <m:chr m:val="∑"/>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3"/>
                                </m:r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=1</m:t>
                              </m:r>
                            </m:sub>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𝑛</m:t>
                              </m:r>
                            </m:sup>
                            <m:e>
                              <m:sSub>
                                <m:sSubPr>
                                  <m:ctrlP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𝛾</m:t>
                                  </m:r>
                                </m:e>
                                <m:sub>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𝑡𝑖</m:t>
                                  </m:r>
                                </m:sub>
                              </m:sSub>
                            </m:e>
                          </m:nary>
                        </m:num>
                        <m:den>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𝑛</m:t>
                          </m:r>
                        </m:den>
                      </m:f>
                    </m:oMath>
                  </m:oMathPara>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可以看出，高斯混合分布参数</a:t>
                </a:r>
                <a14:m>
                  <m:oMath xmlns:m="http://schemas.openxmlformats.org/officeDocument/2006/math">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𝛼</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 </m:t>
                            </m:r>
                            <m:sSub>
                              <m:sSubPr>
                                <m:ctrlP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𝝁</m:t>
                                </m:r>
                              </m:e>
                              <m:sub>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sSub>
                              <m:sSubPr>
                                <m:ctrlP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l-GR" altLang="zh-CN"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𝜮</m:t>
                                </m:r>
                              </m:e>
                              <m:sub>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e>
                        </m:d>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=1,…</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𝑘</m:t>
                        </m:r>
                      </m:e>
                    </m:d>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均与</a:t>
                </a:r>
                <a14:m>
                  <m:oMath xmlns:m="http://schemas.openxmlformats.org/officeDocument/2006/math">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𝛾</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𝑡𝑖</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有关，然而</a:t>
                </a:r>
                <a14:m>
                  <m:oMath xmlns:m="http://schemas.openxmlformats.org/officeDocument/2006/math">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𝛾</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𝑡𝑖</m:t>
                        </m:r>
                      </m:sub>
                    </m:sSub>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f>
                      <m:f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fPr>
                      <m:num>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𝑓</m:t>
                        </m:r>
                        <m:d>
                          <m:dPr>
                            <m:ctrlP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𝝁</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l-GR" altLang="zh-CN"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𝜮</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e>
                        </m:d>
                      </m:num>
                      <m:den>
                        <m:nary>
                          <m:naryPr>
                            <m:chr m:val="∑"/>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3"/>
                              </m:r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𝑙</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sub>
                          <m:sup>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𝑘</m:t>
                            </m:r>
                          </m:sup>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𝑙</m:t>
                                </m:r>
                              </m:sub>
                            </m:sSub>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𝑓</m:t>
                            </m:r>
                            <m:d>
                              <m:dPr>
                                <m:ctrlP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𝝁</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𝑙</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l-GR" altLang="zh-CN"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𝜮</m:t>
                                    </m:r>
                                  </m:e>
                                  <m:sub>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𝑙</m:t>
                                    </m:r>
                                  </m:sub>
                                </m:sSub>
                              </m:e>
                            </m:d>
                          </m:e>
                        </m:nary>
                      </m:den>
                    </m:f>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，与高斯混合分布参数有关。为了对</a:t>
                </a:r>
                <a14:m>
                  <m:oMath xmlns:m="http://schemas.openxmlformats.org/officeDocument/2006/math">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𝛾</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取值进行估计，</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高斯混合聚类</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采用</a:t>
                </a:r>
                <a:r>
                  <a:rPr lang="en-US"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Expectation Maximization</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EM</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算法</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进行估计。</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96B97EB8-671F-2DD6-D687-E431680C58CC}"/>
                  </a:ext>
                </a:extLst>
              </p:cNvPr>
              <p:cNvSpPr txBox="1">
                <a:spLocks noRot="1" noChangeAspect="1" noMove="1" noResize="1" noEditPoints="1" noAdjustHandles="1" noChangeArrowheads="1" noChangeShapeType="1" noTextEdit="1"/>
              </p:cNvSpPr>
              <p:nvPr/>
            </p:nvSpPr>
            <p:spPr>
              <a:xfrm>
                <a:off x="162559" y="1245067"/>
                <a:ext cx="8926775" cy="7114576"/>
              </a:xfrm>
              <a:prstGeom prst="rect">
                <a:avLst/>
              </a:prstGeom>
              <a:blipFill>
                <a:blip r:embed="rId3"/>
                <a:stretch>
                  <a:fillRect l="-259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804478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43</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en-US" altLang="zh-CN" sz="3200" dirty="0">
                <a:latin typeface="微软雅黑" panose="020B0503020204020204" pitchFamily="34" charset="-122"/>
                <a:ea typeface="微软雅黑" panose="020B0503020204020204" pitchFamily="34" charset="-122"/>
                <a:cs typeface="Times New Roman" panose="02020603050405020304" pitchFamily="18" charset="0"/>
              </a:rPr>
              <a:t>EM</a:t>
            </a:r>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算法</a:t>
            </a:r>
          </a:p>
        </p:txBody>
      </p:sp>
      <p:sp>
        <p:nvSpPr>
          <p:cNvPr id="3" name="文本框 2">
            <a:extLst>
              <a:ext uri="{FF2B5EF4-FFF2-40B4-BE49-F238E27FC236}">
                <a16:creationId xmlns:a16="http://schemas.microsoft.com/office/drawing/2014/main" id="{96B97EB8-671F-2DD6-D687-E431680C58CC}"/>
              </a:ext>
            </a:extLst>
          </p:cNvPr>
          <p:cNvSpPr txBox="1"/>
          <p:nvPr/>
        </p:nvSpPr>
        <p:spPr>
          <a:xfrm>
            <a:off x="162560" y="1245067"/>
            <a:ext cx="8675814" cy="1289905"/>
          </a:xfrm>
          <a:prstGeom prst="rect">
            <a:avLst/>
          </a:prstGeom>
          <a:noFill/>
        </p:spPr>
        <p:txBody>
          <a:bodyPr wrap="square">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EM</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算法是在概率模型中寻找参数最大似然估计或者最大后验估计的算法，其中</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概率模型依赖于无法观测的隐性变量</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 name="文本框 12">
            <a:extLst>
              <a:ext uri="{FF2B5EF4-FFF2-40B4-BE49-F238E27FC236}">
                <a16:creationId xmlns:a16="http://schemas.microsoft.com/office/drawing/2014/main" id="{8CA10E75-0C22-4C58-93A8-3A47759E1C71}"/>
              </a:ext>
            </a:extLst>
          </p:cNvPr>
          <p:cNvSpPr txBox="1"/>
          <p:nvPr/>
        </p:nvSpPr>
        <p:spPr>
          <a:xfrm>
            <a:off x="234093" y="2168259"/>
            <a:ext cx="8675814" cy="1705403"/>
          </a:xfrm>
          <a:prstGeom prst="rect">
            <a:avLst/>
          </a:prstGeom>
          <a:noFill/>
        </p:spPr>
        <p:txBody>
          <a:bodyPr wrap="square">
            <a:spAutoFit/>
          </a:bodyPr>
          <a:lstStyle/>
          <a:p>
            <a:pPr algn="just">
              <a:lnSpc>
                <a:spcPct val="150000"/>
              </a:lnSpc>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在聚类问题中，这种隐性变量是数据类别。此时</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EM</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算法用来解决这样一个</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两难</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问题：我们有数据类别就可以拟合分布，有分布就可以分类数据，但我们</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既不知道数据分布，也不知道数据类别。</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 name="文本框 15">
            <a:extLst>
              <a:ext uri="{FF2B5EF4-FFF2-40B4-BE49-F238E27FC236}">
                <a16:creationId xmlns:a16="http://schemas.microsoft.com/office/drawing/2014/main" id="{35194A8B-237B-4EF5-92B2-0CFB5446740B}"/>
              </a:ext>
            </a:extLst>
          </p:cNvPr>
          <p:cNvSpPr txBox="1"/>
          <p:nvPr/>
        </p:nvSpPr>
        <p:spPr>
          <a:xfrm>
            <a:off x="3330644" y="3826061"/>
            <a:ext cx="4572000" cy="369332"/>
          </a:xfrm>
          <a:prstGeom prst="rect">
            <a:avLst/>
          </a:prstGeom>
          <a:noFill/>
        </p:spPr>
        <p:txBody>
          <a:bodyPr wrap="square">
            <a:spAutoFit/>
          </a:bodyPr>
          <a:lstStyle/>
          <a:p>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数据</a:t>
            </a:r>
            <a:endParaRPr lang="zh-CN" altLang="en-US" dirty="0"/>
          </a:p>
        </p:txBody>
      </p:sp>
      <p:sp>
        <p:nvSpPr>
          <p:cNvPr id="17" name="文本框 16">
            <a:extLst>
              <a:ext uri="{FF2B5EF4-FFF2-40B4-BE49-F238E27FC236}">
                <a16:creationId xmlns:a16="http://schemas.microsoft.com/office/drawing/2014/main" id="{6F5BFCF9-72F3-4867-BC92-8EC57C8F7CF6}"/>
              </a:ext>
            </a:extLst>
          </p:cNvPr>
          <p:cNvSpPr txBox="1"/>
          <p:nvPr/>
        </p:nvSpPr>
        <p:spPr>
          <a:xfrm>
            <a:off x="5488057" y="3826061"/>
            <a:ext cx="1838325" cy="369332"/>
          </a:xfrm>
          <a:prstGeom prst="rect">
            <a:avLst/>
          </a:prstGeom>
          <a:noFill/>
        </p:spPr>
        <p:txBody>
          <a:bodyPr wrap="square">
            <a:spAutoFit/>
          </a:bodyPr>
          <a:lstStyle/>
          <a:p>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分布</a:t>
            </a:r>
            <a:endParaRPr lang="zh-CN" altLang="en-US" dirty="0"/>
          </a:p>
        </p:txBody>
      </p:sp>
      <p:cxnSp>
        <p:nvCxnSpPr>
          <p:cNvPr id="14" name="直接箭头连接符 13">
            <a:extLst>
              <a:ext uri="{FF2B5EF4-FFF2-40B4-BE49-F238E27FC236}">
                <a16:creationId xmlns:a16="http://schemas.microsoft.com/office/drawing/2014/main" id="{50DB371F-5936-42BD-9C0B-A63CE2C99342}"/>
              </a:ext>
            </a:extLst>
          </p:cNvPr>
          <p:cNvCxnSpPr/>
          <p:nvPr/>
        </p:nvCxnSpPr>
        <p:spPr>
          <a:xfrm>
            <a:off x="4121220" y="3953577"/>
            <a:ext cx="12620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F69B3F84-D4CB-40F9-9EEF-61AE66E720C5}"/>
              </a:ext>
            </a:extLst>
          </p:cNvPr>
          <p:cNvCxnSpPr>
            <a:cxnSpLocks/>
          </p:cNvCxnSpPr>
          <p:nvPr/>
        </p:nvCxnSpPr>
        <p:spPr>
          <a:xfrm flipH="1">
            <a:off x="4121221" y="4086927"/>
            <a:ext cx="12191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98B5372A-C9DA-412C-8E41-62C9F5F1C0C1}"/>
              </a:ext>
            </a:extLst>
          </p:cNvPr>
          <p:cNvSpPr txBox="1"/>
          <p:nvPr/>
        </p:nvSpPr>
        <p:spPr>
          <a:xfrm>
            <a:off x="4416494" y="3578226"/>
            <a:ext cx="809626" cy="369332"/>
          </a:xfrm>
          <a:prstGeom prst="rect">
            <a:avLst/>
          </a:prstGeom>
          <a:noFill/>
        </p:spPr>
        <p:txBody>
          <a:bodyPr wrap="square">
            <a:spAutoFit/>
          </a:bodyPr>
          <a:lstStyle/>
          <a:p>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拟合</a:t>
            </a:r>
            <a:endParaRPr lang="zh-CN" altLang="en-US" dirty="0"/>
          </a:p>
        </p:txBody>
      </p:sp>
      <p:sp>
        <p:nvSpPr>
          <p:cNvPr id="24" name="文本框 23">
            <a:extLst>
              <a:ext uri="{FF2B5EF4-FFF2-40B4-BE49-F238E27FC236}">
                <a16:creationId xmlns:a16="http://schemas.microsoft.com/office/drawing/2014/main" id="{C6CBDA97-B240-4B5A-8C4E-FC8C35235599}"/>
              </a:ext>
            </a:extLst>
          </p:cNvPr>
          <p:cNvSpPr txBox="1"/>
          <p:nvPr/>
        </p:nvSpPr>
        <p:spPr>
          <a:xfrm>
            <a:off x="4416494" y="4097959"/>
            <a:ext cx="809626" cy="369332"/>
          </a:xfrm>
          <a:prstGeom prst="rect">
            <a:avLst/>
          </a:prstGeom>
          <a:noFill/>
        </p:spPr>
        <p:txBody>
          <a:bodyPr wrap="square">
            <a:spAutoFit/>
          </a:bodyPr>
          <a:lstStyle/>
          <a:p>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分类</a:t>
            </a:r>
            <a:endParaRPr lang="zh-CN" altLang="en-US" dirty="0"/>
          </a:p>
        </p:txBody>
      </p:sp>
      <p:sp>
        <p:nvSpPr>
          <p:cNvPr id="25" name="文本框 24">
            <a:extLst>
              <a:ext uri="{FF2B5EF4-FFF2-40B4-BE49-F238E27FC236}">
                <a16:creationId xmlns:a16="http://schemas.microsoft.com/office/drawing/2014/main" id="{41A12887-0ABB-42F5-AF90-27C0898D138C}"/>
              </a:ext>
            </a:extLst>
          </p:cNvPr>
          <p:cNvSpPr txBox="1"/>
          <p:nvPr/>
        </p:nvSpPr>
        <p:spPr>
          <a:xfrm>
            <a:off x="234093" y="5688929"/>
            <a:ext cx="8293920" cy="874407"/>
          </a:xfrm>
          <a:prstGeom prst="rect">
            <a:avLst/>
          </a:prstGeom>
          <a:noFill/>
        </p:spPr>
        <p:txBody>
          <a:bodyPr wrap="square">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因此，我们通过</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假设数据分布</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，通过</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Expectation</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M</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Maximization</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）循环迭代，获得最终的数据类别及各类别的数据分布。</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27" name="直接箭头连接符 26">
            <a:extLst>
              <a:ext uri="{FF2B5EF4-FFF2-40B4-BE49-F238E27FC236}">
                <a16:creationId xmlns:a16="http://schemas.microsoft.com/office/drawing/2014/main" id="{31AD3EC8-8749-40CD-94A1-6070FB29B9AF}"/>
              </a:ext>
            </a:extLst>
          </p:cNvPr>
          <p:cNvCxnSpPr>
            <a:cxnSpLocks/>
          </p:cNvCxnSpPr>
          <p:nvPr/>
        </p:nvCxnSpPr>
        <p:spPr>
          <a:xfrm flipV="1">
            <a:off x="739748" y="5426656"/>
            <a:ext cx="7600950" cy="9525"/>
          </a:xfrm>
          <a:prstGeom prst="straightConnector1">
            <a:avLst/>
          </a:prstGeom>
          <a:ln w="57150">
            <a:tailEnd type="none"/>
          </a:ln>
        </p:spPr>
        <p:style>
          <a:lnRef idx="1">
            <a:schemeClr val="accent1"/>
          </a:lnRef>
          <a:fillRef idx="0">
            <a:schemeClr val="accent1"/>
          </a:fillRef>
          <a:effectRef idx="0">
            <a:schemeClr val="accent1"/>
          </a:effectRef>
          <a:fontRef idx="minor">
            <a:schemeClr val="tx1"/>
          </a:fontRef>
        </p:style>
      </p:cxnSp>
      <p:sp>
        <p:nvSpPr>
          <p:cNvPr id="29" name="椭圆 28">
            <a:extLst>
              <a:ext uri="{FF2B5EF4-FFF2-40B4-BE49-F238E27FC236}">
                <a16:creationId xmlns:a16="http://schemas.microsoft.com/office/drawing/2014/main" id="{E7641309-E060-4722-83DC-7AA804A0DFC7}"/>
              </a:ext>
            </a:extLst>
          </p:cNvPr>
          <p:cNvSpPr/>
          <p:nvPr/>
        </p:nvSpPr>
        <p:spPr>
          <a:xfrm>
            <a:off x="1120844" y="5369624"/>
            <a:ext cx="112623" cy="11262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a:extLst>
              <a:ext uri="{FF2B5EF4-FFF2-40B4-BE49-F238E27FC236}">
                <a16:creationId xmlns:a16="http://schemas.microsoft.com/office/drawing/2014/main" id="{52773D1A-77D4-46EE-8534-1C83B382CDC1}"/>
              </a:ext>
            </a:extLst>
          </p:cNvPr>
          <p:cNvSpPr/>
          <p:nvPr/>
        </p:nvSpPr>
        <p:spPr>
          <a:xfrm>
            <a:off x="1897374" y="5372735"/>
            <a:ext cx="112623" cy="11262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7BDE4FEB-3A9E-4DD5-86DF-F66C9BFF831D}"/>
              </a:ext>
            </a:extLst>
          </p:cNvPr>
          <p:cNvSpPr/>
          <p:nvPr/>
        </p:nvSpPr>
        <p:spPr>
          <a:xfrm>
            <a:off x="1694801" y="5372917"/>
            <a:ext cx="112623" cy="11262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a:extLst>
              <a:ext uri="{FF2B5EF4-FFF2-40B4-BE49-F238E27FC236}">
                <a16:creationId xmlns:a16="http://schemas.microsoft.com/office/drawing/2014/main" id="{53EE598A-3A76-4A80-BD51-9855A3A68D80}"/>
              </a:ext>
            </a:extLst>
          </p:cNvPr>
          <p:cNvSpPr/>
          <p:nvPr/>
        </p:nvSpPr>
        <p:spPr>
          <a:xfrm>
            <a:off x="3097916" y="5364837"/>
            <a:ext cx="112623" cy="11262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a:extLst>
              <a:ext uri="{FF2B5EF4-FFF2-40B4-BE49-F238E27FC236}">
                <a16:creationId xmlns:a16="http://schemas.microsoft.com/office/drawing/2014/main" id="{609FD97C-A65A-4075-8E5A-7B4F41D2DA99}"/>
              </a:ext>
            </a:extLst>
          </p:cNvPr>
          <p:cNvSpPr/>
          <p:nvPr/>
        </p:nvSpPr>
        <p:spPr>
          <a:xfrm>
            <a:off x="3792349" y="5369624"/>
            <a:ext cx="112623" cy="11262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61ED3A27-97B4-4A9E-A8B2-485B230EEBC5}"/>
              </a:ext>
            </a:extLst>
          </p:cNvPr>
          <p:cNvSpPr/>
          <p:nvPr/>
        </p:nvSpPr>
        <p:spPr>
          <a:xfrm>
            <a:off x="5935930" y="5372837"/>
            <a:ext cx="112623" cy="11262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a:extLst>
              <a:ext uri="{FF2B5EF4-FFF2-40B4-BE49-F238E27FC236}">
                <a16:creationId xmlns:a16="http://schemas.microsoft.com/office/drawing/2014/main" id="{10FDFFB6-4F6B-406F-9A9F-2587193D8CD6}"/>
              </a:ext>
            </a:extLst>
          </p:cNvPr>
          <p:cNvSpPr/>
          <p:nvPr/>
        </p:nvSpPr>
        <p:spPr>
          <a:xfrm>
            <a:off x="6294595" y="5375868"/>
            <a:ext cx="112623" cy="11262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a:extLst>
              <a:ext uri="{FF2B5EF4-FFF2-40B4-BE49-F238E27FC236}">
                <a16:creationId xmlns:a16="http://schemas.microsoft.com/office/drawing/2014/main" id="{AD4BE041-0638-4653-8A4B-4F779680CB31}"/>
              </a:ext>
            </a:extLst>
          </p:cNvPr>
          <p:cNvSpPr/>
          <p:nvPr/>
        </p:nvSpPr>
        <p:spPr>
          <a:xfrm>
            <a:off x="7192784" y="5368646"/>
            <a:ext cx="112623" cy="11262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9" name="直接箭头连接符 38">
            <a:extLst>
              <a:ext uri="{FF2B5EF4-FFF2-40B4-BE49-F238E27FC236}">
                <a16:creationId xmlns:a16="http://schemas.microsoft.com/office/drawing/2014/main" id="{6722FE7B-3615-441B-B011-81FE63705E68}"/>
              </a:ext>
            </a:extLst>
          </p:cNvPr>
          <p:cNvCxnSpPr>
            <a:cxnSpLocks/>
          </p:cNvCxnSpPr>
          <p:nvPr/>
        </p:nvCxnSpPr>
        <p:spPr>
          <a:xfrm>
            <a:off x="4770372" y="5064275"/>
            <a:ext cx="68434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id="{AB6163BC-7501-47E8-A488-D1519AEC2085}"/>
              </a:ext>
            </a:extLst>
          </p:cNvPr>
          <p:cNvSpPr txBox="1"/>
          <p:nvPr/>
        </p:nvSpPr>
        <p:spPr>
          <a:xfrm>
            <a:off x="5578232" y="4876134"/>
            <a:ext cx="1657971" cy="369332"/>
          </a:xfrm>
          <a:prstGeom prst="rect">
            <a:avLst/>
          </a:prstGeom>
          <a:noFill/>
        </p:spPr>
        <p:txBody>
          <a:bodyPr wrap="square">
            <a:spAutoFit/>
          </a:bodyPr>
          <a:lstStyle/>
          <a:p>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假设数据分布</a:t>
            </a:r>
            <a:endParaRPr lang="zh-CN" altLang="en-US" dirty="0"/>
          </a:p>
        </p:txBody>
      </p:sp>
      <p:sp>
        <p:nvSpPr>
          <p:cNvPr id="42" name="任意多边形: 形状 41">
            <a:extLst>
              <a:ext uri="{FF2B5EF4-FFF2-40B4-BE49-F238E27FC236}">
                <a16:creationId xmlns:a16="http://schemas.microsoft.com/office/drawing/2014/main" id="{2E8347F6-91EF-40C1-A3DC-75DB628C9193}"/>
              </a:ext>
            </a:extLst>
          </p:cNvPr>
          <p:cNvSpPr/>
          <p:nvPr/>
        </p:nvSpPr>
        <p:spPr>
          <a:xfrm>
            <a:off x="1391622" y="4563477"/>
            <a:ext cx="1463311" cy="847179"/>
          </a:xfrm>
          <a:custGeom>
            <a:avLst/>
            <a:gdLst>
              <a:gd name="connsiteX0" fmla="*/ 0 w 2077279"/>
              <a:gd name="connsiteY0" fmla="*/ 1202634 h 1202634"/>
              <a:gd name="connsiteX1" fmla="*/ 1038639 w 2077279"/>
              <a:gd name="connsiteY1" fmla="*/ 0 h 1202634"/>
              <a:gd name="connsiteX2" fmla="*/ 2077279 w 2077279"/>
              <a:gd name="connsiteY2" fmla="*/ 1202634 h 1202634"/>
            </a:gdLst>
            <a:ahLst/>
            <a:cxnLst>
              <a:cxn ang="0">
                <a:pos x="connsiteX0" y="connsiteY0"/>
              </a:cxn>
              <a:cxn ang="0">
                <a:pos x="connsiteX1" y="connsiteY1"/>
              </a:cxn>
              <a:cxn ang="0">
                <a:pos x="connsiteX2" y="connsiteY2"/>
              </a:cxn>
            </a:cxnLst>
            <a:rect l="l" t="t" r="r" b="b"/>
            <a:pathLst>
              <a:path w="2077279" h="1202634">
                <a:moveTo>
                  <a:pt x="0" y="1202634"/>
                </a:moveTo>
                <a:cubicBezTo>
                  <a:pt x="346213" y="601317"/>
                  <a:pt x="692426" y="0"/>
                  <a:pt x="1038639" y="0"/>
                </a:cubicBezTo>
                <a:cubicBezTo>
                  <a:pt x="1384852" y="0"/>
                  <a:pt x="1731065" y="601317"/>
                  <a:pt x="2077279" y="1202634"/>
                </a:cubicBezTo>
              </a:path>
            </a:pathLst>
          </a:custGeom>
          <a:solidFill>
            <a:schemeClr val="accent6">
              <a:alpha val="18000"/>
            </a:schemeClr>
          </a:solidFill>
          <a:ln w="50800"/>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a:p>
        </p:txBody>
      </p:sp>
      <p:sp>
        <p:nvSpPr>
          <p:cNvPr id="43" name="任意多边形: 形状 42">
            <a:extLst>
              <a:ext uri="{FF2B5EF4-FFF2-40B4-BE49-F238E27FC236}">
                <a16:creationId xmlns:a16="http://schemas.microsoft.com/office/drawing/2014/main" id="{27AFCD04-4C21-4915-8304-ADD0B2ED323C}"/>
              </a:ext>
            </a:extLst>
          </p:cNvPr>
          <p:cNvSpPr/>
          <p:nvPr/>
        </p:nvSpPr>
        <p:spPr>
          <a:xfrm>
            <a:off x="3465391" y="4571477"/>
            <a:ext cx="1463311" cy="847179"/>
          </a:xfrm>
          <a:custGeom>
            <a:avLst/>
            <a:gdLst>
              <a:gd name="connsiteX0" fmla="*/ 0 w 2077279"/>
              <a:gd name="connsiteY0" fmla="*/ 1202634 h 1202634"/>
              <a:gd name="connsiteX1" fmla="*/ 1038639 w 2077279"/>
              <a:gd name="connsiteY1" fmla="*/ 0 h 1202634"/>
              <a:gd name="connsiteX2" fmla="*/ 2077279 w 2077279"/>
              <a:gd name="connsiteY2" fmla="*/ 1202634 h 1202634"/>
            </a:gdLst>
            <a:ahLst/>
            <a:cxnLst>
              <a:cxn ang="0">
                <a:pos x="connsiteX0" y="connsiteY0"/>
              </a:cxn>
              <a:cxn ang="0">
                <a:pos x="connsiteX1" y="connsiteY1"/>
              </a:cxn>
              <a:cxn ang="0">
                <a:pos x="connsiteX2" y="connsiteY2"/>
              </a:cxn>
            </a:cxnLst>
            <a:rect l="l" t="t" r="r" b="b"/>
            <a:pathLst>
              <a:path w="2077279" h="1202634">
                <a:moveTo>
                  <a:pt x="0" y="1202634"/>
                </a:moveTo>
                <a:cubicBezTo>
                  <a:pt x="346213" y="601317"/>
                  <a:pt x="692426" y="0"/>
                  <a:pt x="1038639" y="0"/>
                </a:cubicBezTo>
                <a:cubicBezTo>
                  <a:pt x="1384852" y="0"/>
                  <a:pt x="1731065" y="601317"/>
                  <a:pt x="2077279" y="1202634"/>
                </a:cubicBezTo>
              </a:path>
            </a:pathLst>
          </a:custGeom>
          <a:solidFill>
            <a:schemeClr val="tx1">
              <a:alpha val="18000"/>
            </a:schemeClr>
          </a:solidFill>
          <a:ln w="50800">
            <a:solidFill>
              <a:schemeClr val="tx1"/>
            </a:solidFill>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8477162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44</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en-US" altLang="zh-CN" sz="3200" dirty="0">
                <a:latin typeface="微软雅黑" panose="020B0503020204020204" pitchFamily="34" charset="-122"/>
                <a:ea typeface="微软雅黑" panose="020B0503020204020204" pitchFamily="34" charset="-122"/>
                <a:cs typeface="Times New Roman" panose="02020603050405020304" pitchFamily="18" charset="0"/>
              </a:rPr>
              <a:t>EM</a:t>
            </a:r>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算法</a:t>
            </a:r>
          </a:p>
        </p:txBody>
      </p:sp>
      <p:sp>
        <p:nvSpPr>
          <p:cNvPr id="3" name="文本框 2">
            <a:extLst>
              <a:ext uri="{FF2B5EF4-FFF2-40B4-BE49-F238E27FC236}">
                <a16:creationId xmlns:a16="http://schemas.microsoft.com/office/drawing/2014/main" id="{96B97EB8-671F-2DD6-D687-E431680C58CC}"/>
              </a:ext>
            </a:extLst>
          </p:cNvPr>
          <p:cNvSpPr txBox="1"/>
          <p:nvPr/>
        </p:nvSpPr>
        <p:spPr>
          <a:xfrm>
            <a:off x="162560" y="1897132"/>
            <a:ext cx="8675814" cy="458908"/>
          </a:xfrm>
          <a:prstGeom prst="rect">
            <a:avLst/>
          </a:prstGeom>
          <a:noFill/>
        </p:spPr>
        <p:txBody>
          <a:bodyPr wrap="square">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求每一个点属于类别及其类别对应的期望值</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5" name="文本框 24">
            <a:extLst>
              <a:ext uri="{FF2B5EF4-FFF2-40B4-BE49-F238E27FC236}">
                <a16:creationId xmlns:a16="http://schemas.microsoft.com/office/drawing/2014/main" id="{41A12887-0ABB-42F5-AF90-27C0898D138C}"/>
              </a:ext>
            </a:extLst>
          </p:cNvPr>
          <p:cNvSpPr txBox="1"/>
          <p:nvPr/>
        </p:nvSpPr>
        <p:spPr>
          <a:xfrm>
            <a:off x="204596" y="1356680"/>
            <a:ext cx="7785957" cy="458908"/>
          </a:xfrm>
          <a:prstGeom prst="rect">
            <a:avLst/>
          </a:prstGeom>
          <a:noFill/>
        </p:spPr>
        <p:txBody>
          <a:bodyPr wrap="square">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lang="en-US"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E</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Expectation</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）步</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27" name="直接箭头连接符 26">
            <a:extLst>
              <a:ext uri="{FF2B5EF4-FFF2-40B4-BE49-F238E27FC236}">
                <a16:creationId xmlns:a16="http://schemas.microsoft.com/office/drawing/2014/main" id="{31AD3EC8-8749-40CD-94A1-6070FB29B9AF}"/>
              </a:ext>
            </a:extLst>
          </p:cNvPr>
          <p:cNvCxnSpPr>
            <a:cxnSpLocks/>
          </p:cNvCxnSpPr>
          <p:nvPr/>
        </p:nvCxnSpPr>
        <p:spPr>
          <a:xfrm flipV="1">
            <a:off x="685191" y="3370116"/>
            <a:ext cx="7600950" cy="9525"/>
          </a:xfrm>
          <a:prstGeom prst="straightConnector1">
            <a:avLst/>
          </a:prstGeom>
          <a:ln w="57150">
            <a:tailEnd type="none"/>
          </a:ln>
        </p:spPr>
        <p:style>
          <a:lnRef idx="1">
            <a:schemeClr val="accent1"/>
          </a:lnRef>
          <a:fillRef idx="0">
            <a:schemeClr val="accent1"/>
          </a:fillRef>
          <a:effectRef idx="0">
            <a:schemeClr val="accent1"/>
          </a:effectRef>
          <a:fontRef idx="minor">
            <a:schemeClr val="tx1"/>
          </a:fontRef>
        </p:style>
      </p:cxnSp>
      <p:sp>
        <p:nvSpPr>
          <p:cNvPr id="29" name="椭圆 28">
            <a:extLst>
              <a:ext uri="{FF2B5EF4-FFF2-40B4-BE49-F238E27FC236}">
                <a16:creationId xmlns:a16="http://schemas.microsoft.com/office/drawing/2014/main" id="{E7641309-E060-4722-83DC-7AA804A0DFC7}"/>
              </a:ext>
            </a:extLst>
          </p:cNvPr>
          <p:cNvSpPr/>
          <p:nvPr/>
        </p:nvSpPr>
        <p:spPr>
          <a:xfrm>
            <a:off x="1066287" y="3313084"/>
            <a:ext cx="112623" cy="11262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0" name="椭圆 29">
            <a:extLst>
              <a:ext uri="{FF2B5EF4-FFF2-40B4-BE49-F238E27FC236}">
                <a16:creationId xmlns:a16="http://schemas.microsoft.com/office/drawing/2014/main" id="{52773D1A-77D4-46EE-8534-1C83B382CDC1}"/>
              </a:ext>
            </a:extLst>
          </p:cNvPr>
          <p:cNvSpPr/>
          <p:nvPr/>
        </p:nvSpPr>
        <p:spPr>
          <a:xfrm>
            <a:off x="1842817" y="3316195"/>
            <a:ext cx="112623" cy="11262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7BDE4FEB-3A9E-4DD5-86DF-F66C9BFF831D}"/>
              </a:ext>
            </a:extLst>
          </p:cNvPr>
          <p:cNvSpPr/>
          <p:nvPr/>
        </p:nvSpPr>
        <p:spPr>
          <a:xfrm>
            <a:off x="1640244" y="3316377"/>
            <a:ext cx="112623" cy="11262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2" name="椭圆 31">
            <a:extLst>
              <a:ext uri="{FF2B5EF4-FFF2-40B4-BE49-F238E27FC236}">
                <a16:creationId xmlns:a16="http://schemas.microsoft.com/office/drawing/2014/main" id="{53EE598A-3A76-4A80-BD51-9855A3A68D80}"/>
              </a:ext>
            </a:extLst>
          </p:cNvPr>
          <p:cNvSpPr/>
          <p:nvPr/>
        </p:nvSpPr>
        <p:spPr>
          <a:xfrm rot="16200000">
            <a:off x="3043359" y="3308297"/>
            <a:ext cx="112623" cy="112623"/>
          </a:xfrm>
          <a:prstGeom prst="ellipse">
            <a:avLst/>
          </a:prstGeom>
          <a:gradFill>
            <a:gsLst>
              <a:gs pos="0">
                <a:schemeClr val="accent2"/>
              </a:gs>
              <a:gs pos="100000">
                <a:schemeClr val="tx1"/>
              </a:gs>
            </a:gsLst>
            <a:lin ang="5400000" scaled="1"/>
          </a:gradFill>
          <a:ln>
            <a:gradFill>
              <a:gsLst>
                <a:gs pos="0">
                  <a:srgbClr val="C00000"/>
                </a:gs>
                <a:gs pos="100000">
                  <a:schemeClr val="tx1"/>
                </a:gs>
              </a:gsLst>
              <a:lin ang="5400000" scaled="1"/>
            </a:gra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3" name="椭圆 32">
            <a:extLst>
              <a:ext uri="{FF2B5EF4-FFF2-40B4-BE49-F238E27FC236}">
                <a16:creationId xmlns:a16="http://schemas.microsoft.com/office/drawing/2014/main" id="{609FD97C-A65A-4075-8E5A-7B4F41D2DA99}"/>
              </a:ext>
            </a:extLst>
          </p:cNvPr>
          <p:cNvSpPr/>
          <p:nvPr/>
        </p:nvSpPr>
        <p:spPr>
          <a:xfrm>
            <a:off x="3737792" y="3313084"/>
            <a:ext cx="112623" cy="112623"/>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61ED3A27-97B4-4A9E-A8B2-485B230EEBC5}"/>
              </a:ext>
            </a:extLst>
          </p:cNvPr>
          <p:cNvSpPr/>
          <p:nvPr/>
        </p:nvSpPr>
        <p:spPr>
          <a:xfrm>
            <a:off x="5881373" y="3316297"/>
            <a:ext cx="112623" cy="112623"/>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5" name="椭圆 34">
            <a:extLst>
              <a:ext uri="{FF2B5EF4-FFF2-40B4-BE49-F238E27FC236}">
                <a16:creationId xmlns:a16="http://schemas.microsoft.com/office/drawing/2014/main" id="{10FDFFB6-4F6B-406F-9A9F-2587193D8CD6}"/>
              </a:ext>
            </a:extLst>
          </p:cNvPr>
          <p:cNvSpPr/>
          <p:nvPr/>
        </p:nvSpPr>
        <p:spPr>
          <a:xfrm>
            <a:off x="6240038" y="3314358"/>
            <a:ext cx="112623" cy="112623"/>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6" name="椭圆 35">
            <a:extLst>
              <a:ext uri="{FF2B5EF4-FFF2-40B4-BE49-F238E27FC236}">
                <a16:creationId xmlns:a16="http://schemas.microsoft.com/office/drawing/2014/main" id="{AD4BE041-0638-4653-8A4B-4F779680CB31}"/>
              </a:ext>
            </a:extLst>
          </p:cNvPr>
          <p:cNvSpPr/>
          <p:nvPr/>
        </p:nvSpPr>
        <p:spPr>
          <a:xfrm>
            <a:off x="7138227" y="3312106"/>
            <a:ext cx="112623" cy="112623"/>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29FEC4BB-D67F-411E-A401-A0BFD7CD3D6B}"/>
              </a:ext>
            </a:extLst>
          </p:cNvPr>
          <p:cNvSpPr txBox="1"/>
          <p:nvPr/>
        </p:nvSpPr>
        <p:spPr>
          <a:xfrm>
            <a:off x="204596" y="4222457"/>
            <a:ext cx="8675814" cy="458908"/>
          </a:xfrm>
          <a:prstGeom prst="rect">
            <a:avLst/>
          </a:prstGeom>
          <a:noFill/>
        </p:spPr>
        <p:txBody>
          <a:bodyPr wrap="square">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根据属于类别及</a:t>
            </a:r>
            <a:r>
              <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期望，利用极大似然求</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出不同类别数据最可能的分布参数</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9" name="文本框 38">
            <a:extLst>
              <a:ext uri="{FF2B5EF4-FFF2-40B4-BE49-F238E27FC236}">
                <a16:creationId xmlns:a16="http://schemas.microsoft.com/office/drawing/2014/main" id="{D08018E8-7915-474A-950E-0D7164E5DEB4}"/>
              </a:ext>
            </a:extLst>
          </p:cNvPr>
          <p:cNvSpPr txBox="1"/>
          <p:nvPr/>
        </p:nvSpPr>
        <p:spPr>
          <a:xfrm>
            <a:off x="246632" y="3682005"/>
            <a:ext cx="7785957" cy="458908"/>
          </a:xfrm>
          <a:prstGeom prst="rect">
            <a:avLst/>
          </a:prstGeom>
          <a:noFill/>
        </p:spPr>
        <p:txBody>
          <a:bodyPr wrap="square">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lang="en-US"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M</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Maximization</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）步</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0" name="文本框 39">
            <a:extLst>
              <a:ext uri="{FF2B5EF4-FFF2-40B4-BE49-F238E27FC236}">
                <a16:creationId xmlns:a16="http://schemas.microsoft.com/office/drawing/2014/main" id="{9D585C49-DB4B-4A3B-A180-6E5F5F7BD02A}"/>
              </a:ext>
            </a:extLst>
          </p:cNvPr>
          <p:cNvSpPr txBox="1"/>
          <p:nvPr/>
        </p:nvSpPr>
        <p:spPr>
          <a:xfrm>
            <a:off x="246632" y="5958327"/>
            <a:ext cx="7785957" cy="458908"/>
          </a:xfrm>
          <a:prstGeom prst="rect">
            <a:avLst/>
          </a:prstGeom>
          <a:noFill/>
        </p:spPr>
        <p:txBody>
          <a:bodyPr wrap="square">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不断重复</a:t>
            </a:r>
            <a:r>
              <a:rPr kumimoji="0" lang="en-US" altLang="zh-CN" sz="18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E</a:t>
            </a:r>
            <a:r>
              <a:rPr kumimoji="0" lang="zh-CN" altLang="en-US" sz="18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和</a:t>
            </a:r>
            <a:r>
              <a:rPr kumimoji="0" lang="en-US" altLang="zh-CN" sz="18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M</a:t>
            </a:r>
            <a:r>
              <a:rPr kumimoji="0" lang="zh-CN" altLang="en-US" sz="18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步骤，直到最终获得结果</a:t>
            </a:r>
            <a:endParaRPr kumimoji="0" lang="en-US" altLang="zh-CN" sz="18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41" name="直接箭头连接符 40">
            <a:extLst>
              <a:ext uri="{FF2B5EF4-FFF2-40B4-BE49-F238E27FC236}">
                <a16:creationId xmlns:a16="http://schemas.microsoft.com/office/drawing/2014/main" id="{382E4C21-C325-4730-8074-9C4F1D39523C}"/>
              </a:ext>
            </a:extLst>
          </p:cNvPr>
          <p:cNvCxnSpPr>
            <a:cxnSpLocks/>
          </p:cNvCxnSpPr>
          <p:nvPr/>
        </p:nvCxnSpPr>
        <p:spPr>
          <a:xfrm flipV="1">
            <a:off x="594058" y="5743916"/>
            <a:ext cx="7600950" cy="9525"/>
          </a:xfrm>
          <a:prstGeom prst="straightConnector1">
            <a:avLst/>
          </a:prstGeom>
          <a:ln w="57150">
            <a:tailEnd type="none"/>
          </a:ln>
        </p:spPr>
        <p:style>
          <a:lnRef idx="1">
            <a:schemeClr val="accent1"/>
          </a:lnRef>
          <a:fillRef idx="0">
            <a:schemeClr val="accent1"/>
          </a:fillRef>
          <a:effectRef idx="0">
            <a:schemeClr val="accent1"/>
          </a:effectRef>
          <a:fontRef idx="minor">
            <a:schemeClr val="tx1"/>
          </a:fontRef>
        </p:style>
      </p:cxnSp>
      <p:sp>
        <p:nvSpPr>
          <p:cNvPr id="42" name="椭圆 41">
            <a:extLst>
              <a:ext uri="{FF2B5EF4-FFF2-40B4-BE49-F238E27FC236}">
                <a16:creationId xmlns:a16="http://schemas.microsoft.com/office/drawing/2014/main" id="{425F625E-7985-423E-82BF-10D4388F8BFA}"/>
              </a:ext>
            </a:extLst>
          </p:cNvPr>
          <p:cNvSpPr/>
          <p:nvPr/>
        </p:nvSpPr>
        <p:spPr>
          <a:xfrm>
            <a:off x="975154" y="5686884"/>
            <a:ext cx="112623" cy="11262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3" name="椭圆 42">
            <a:extLst>
              <a:ext uri="{FF2B5EF4-FFF2-40B4-BE49-F238E27FC236}">
                <a16:creationId xmlns:a16="http://schemas.microsoft.com/office/drawing/2014/main" id="{C6C0C895-4B55-41BF-928D-20F0414CB1C2}"/>
              </a:ext>
            </a:extLst>
          </p:cNvPr>
          <p:cNvSpPr/>
          <p:nvPr/>
        </p:nvSpPr>
        <p:spPr>
          <a:xfrm>
            <a:off x="1751684" y="5689995"/>
            <a:ext cx="112623" cy="11262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4" name="椭圆 43">
            <a:extLst>
              <a:ext uri="{FF2B5EF4-FFF2-40B4-BE49-F238E27FC236}">
                <a16:creationId xmlns:a16="http://schemas.microsoft.com/office/drawing/2014/main" id="{42335850-D299-493B-8AED-1E13530246EC}"/>
              </a:ext>
            </a:extLst>
          </p:cNvPr>
          <p:cNvSpPr/>
          <p:nvPr/>
        </p:nvSpPr>
        <p:spPr>
          <a:xfrm>
            <a:off x="1549111" y="5690177"/>
            <a:ext cx="112623" cy="11262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5" name="椭圆 44">
            <a:extLst>
              <a:ext uri="{FF2B5EF4-FFF2-40B4-BE49-F238E27FC236}">
                <a16:creationId xmlns:a16="http://schemas.microsoft.com/office/drawing/2014/main" id="{8F401986-BE95-4C2D-BF86-47B18695DFBB}"/>
              </a:ext>
            </a:extLst>
          </p:cNvPr>
          <p:cNvSpPr/>
          <p:nvPr/>
        </p:nvSpPr>
        <p:spPr>
          <a:xfrm rot="16200000">
            <a:off x="2952226" y="5682097"/>
            <a:ext cx="112623" cy="112623"/>
          </a:xfrm>
          <a:prstGeom prst="ellipse">
            <a:avLst/>
          </a:prstGeom>
          <a:gradFill>
            <a:gsLst>
              <a:gs pos="0">
                <a:schemeClr val="accent2"/>
              </a:gs>
              <a:gs pos="100000">
                <a:schemeClr val="tx1"/>
              </a:gs>
            </a:gsLst>
            <a:lin ang="5400000" scaled="1"/>
          </a:gradFill>
          <a:ln>
            <a:gradFill>
              <a:gsLst>
                <a:gs pos="0">
                  <a:srgbClr val="C00000"/>
                </a:gs>
                <a:gs pos="100000">
                  <a:schemeClr val="tx1"/>
                </a:gs>
              </a:gsLst>
              <a:lin ang="5400000" scaled="1"/>
            </a:gra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6" name="椭圆 45">
            <a:extLst>
              <a:ext uri="{FF2B5EF4-FFF2-40B4-BE49-F238E27FC236}">
                <a16:creationId xmlns:a16="http://schemas.microsoft.com/office/drawing/2014/main" id="{88F0A02D-A71C-450C-9C69-1B6BE89877CA}"/>
              </a:ext>
            </a:extLst>
          </p:cNvPr>
          <p:cNvSpPr/>
          <p:nvPr/>
        </p:nvSpPr>
        <p:spPr>
          <a:xfrm>
            <a:off x="3646659" y="5686884"/>
            <a:ext cx="112623" cy="112623"/>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7" name="椭圆 46">
            <a:extLst>
              <a:ext uri="{FF2B5EF4-FFF2-40B4-BE49-F238E27FC236}">
                <a16:creationId xmlns:a16="http://schemas.microsoft.com/office/drawing/2014/main" id="{B402A843-1013-4361-B5FD-08E7F4BEA0BC}"/>
              </a:ext>
            </a:extLst>
          </p:cNvPr>
          <p:cNvSpPr/>
          <p:nvPr/>
        </p:nvSpPr>
        <p:spPr>
          <a:xfrm>
            <a:off x="5790240" y="5690097"/>
            <a:ext cx="112623" cy="112623"/>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8" name="椭圆 47">
            <a:extLst>
              <a:ext uri="{FF2B5EF4-FFF2-40B4-BE49-F238E27FC236}">
                <a16:creationId xmlns:a16="http://schemas.microsoft.com/office/drawing/2014/main" id="{3DA60EC6-6174-4C0E-9AC3-67A947D33464}"/>
              </a:ext>
            </a:extLst>
          </p:cNvPr>
          <p:cNvSpPr/>
          <p:nvPr/>
        </p:nvSpPr>
        <p:spPr>
          <a:xfrm>
            <a:off x="6148905" y="5688158"/>
            <a:ext cx="112623" cy="112623"/>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9" name="椭圆 48">
            <a:extLst>
              <a:ext uri="{FF2B5EF4-FFF2-40B4-BE49-F238E27FC236}">
                <a16:creationId xmlns:a16="http://schemas.microsoft.com/office/drawing/2014/main" id="{61FE1304-09FE-41BF-98A0-DA6F3EB2CE16}"/>
              </a:ext>
            </a:extLst>
          </p:cNvPr>
          <p:cNvSpPr/>
          <p:nvPr/>
        </p:nvSpPr>
        <p:spPr>
          <a:xfrm>
            <a:off x="7047094" y="5685906"/>
            <a:ext cx="112623" cy="112623"/>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52" name="任意多边形: 形状 51">
            <a:extLst>
              <a:ext uri="{FF2B5EF4-FFF2-40B4-BE49-F238E27FC236}">
                <a16:creationId xmlns:a16="http://schemas.microsoft.com/office/drawing/2014/main" id="{104AF6FB-2410-4817-B5F8-EA3C098444BE}"/>
              </a:ext>
            </a:extLst>
          </p:cNvPr>
          <p:cNvSpPr/>
          <p:nvPr/>
        </p:nvSpPr>
        <p:spPr>
          <a:xfrm>
            <a:off x="1270002" y="2518817"/>
            <a:ext cx="1463311" cy="847179"/>
          </a:xfrm>
          <a:custGeom>
            <a:avLst/>
            <a:gdLst>
              <a:gd name="connsiteX0" fmla="*/ 0 w 2077279"/>
              <a:gd name="connsiteY0" fmla="*/ 1202634 h 1202634"/>
              <a:gd name="connsiteX1" fmla="*/ 1038639 w 2077279"/>
              <a:gd name="connsiteY1" fmla="*/ 0 h 1202634"/>
              <a:gd name="connsiteX2" fmla="*/ 2077279 w 2077279"/>
              <a:gd name="connsiteY2" fmla="*/ 1202634 h 1202634"/>
            </a:gdLst>
            <a:ahLst/>
            <a:cxnLst>
              <a:cxn ang="0">
                <a:pos x="connsiteX0" y="connsiteY0"/>
              </a:cxn>
              <a:cxn ang="0">
                <a:pos x="connsiteX1" y="connsiteY1"/>
              </a:cxn>
              <a:cxn ang="0">
                <a:pos x="connsiteX2" y="connsiteY2"/>
              </a:cxn>
            </a:cxnLst>
            <a:rect l="l" t="t" r="r" b="b"/>
            <a:pathLst>
              <a:path w="2077279" h="1202634">
                <a:moveTo>
                  <a:pt x="0" y="1202634"/>
                </a:moveTo>
                <a:cubicBezTo>
                  <a:pt x="346213" y="601317"/>
                  <a:pt x="692426" y="0"/>
                  <a:pt x="1038639" y="0"/>
                </a:cubicBezTo>
                <a:cubicBezTo>
                  <a:pt x="1384852" y="0"/>
                  <a:pt x="1731065" y="601317"/>
                  <a:pt x="2077279" y="1202634"/>
                </a:cubicBezTo>
              </a:path>
            </a:pathLst>
          </a:custGeom>
          <a:solidFill>
            <a:schemeClr val="accent6">
              <a:alpha val="18000"/>
            </a:schemeClr>
          </a:solidFill>
          <a:ln w="50800"/>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a:p>
        </p:txBody>
      </p:sp>
      <p:sp>
        <p:nvSpPr>
          <p:cNvPr id="53" name="任意多边形: 形状 52">
            <a:extLst>
              <a:ext uri="{FF2B5EF4-FFF2-40B4-BE49-F238E27FC236}">
                <a16:creationId xmlns:a16="http://schemas.microsoft.com/office/drawing/2014/main" id="{B452D35F-DD00-49C1-A579-FB9D8D5B0BBA}"/>
              </a:ext>
            </a:extLst>
          </p:cNvPr>
          <p:cNvSpPr/>
          <p:nvPr/>
        </p:nvSpPr>
        <p:spPr>
          <a:xfrm>
            <a:off x="3475069" y="2511125"/>
            <a:ext cx="1463311" cy="847179"/>
          </a:xfrm>
          <a:custGeom>
            <a:avLst/>
            <a:gdLst>
              <a:gd name="connsiteX0" fmla="*/ 0 w 2077279"/>
              <a:gd name="connsiteY0" fmla="*/ 1202634 h 1202634"/>
              <a:gd name="connsiteX1" fmla="*/ 1038639 w 2077279"/>
              <a:gd name="connsiteY1" fmla="*/ 0 h 1202634"/>
              <a:gd name="connsiteX2" fmla="*/ 2077279 w 2077279"/>
              <a:gd name="connsiteY2" fmla="*/ 1202634 h 1202634"/>
            </a:gdLst>
            <a:ahLst/>
            <a:cxnLst>
              <a:cxn ang="0">
                <a:pos x="connsiteX0" y="connsiteY0"/>
              </a:cxn>
              <a:cxn ang="0">
                <a:pos x="connsiteX1" y="connsiteY1"/>
              </a:cxn>
              <a:cxn ang="0">
                <a:pos x="connsiteX2" y="connsiteY2"/>
              </a:cxn>
            </a:cxnLst>
            <a:rect l="l" t="t" r="r" b="b"/>
            <a:pathLst>
              <a:path w="2077279" h="1202634">
                <a:moveTo>
                  <a:pt x="0" y="1202634"/>
                </a:moveTo>
                <a:cubicBezTo>
                  <a:pt x="346213" y="601317"/>
                  <a:pt x="692426" y="0"/>
                  <a:pt x="1038639" y="0"/>
                </a:cubicBezTo>
                <a:cubicBezTo>
                  <a:pt x="1384852" y="0"/>
                  <a:pt x="1731065" y="601317"/>
                  <a:pt x="2077279" y="1202634"/>
                </a:cubicBezTo>
              </a:path>
            </a:pathLst>
          </a:custGeom>
          <a:solidFill>
            <a:schemeClr val="tx1">
              <a:alpha val="18000"/>
            </a:schemeClr>
          </a:solidFill>
          <a:ln w="50800">
            <a:solidFill>
              <a:schemeClr val="tx1"/>
            </a:solidFill>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a:p>
        </p:txBody>
      </p:sp>
      <p:sp>
        <p:nvSpPr>
          <p:cNvPr id="54" name="任意多边形: 形状 53">
            <a:extLst>
              <a:ext uri="{FF2B5EF4-FFF2-40B4-BE49-F238E27FC236}">
                <a16:creationId xmlns:a16="http://schemas.microsoft.com/office/drawing/2014/main" id="{6714C9DA-268F-4000-80D4-A44625475D83}"/>
              </a:ext>
            </a:extLst>
          </p:cNvPr>
          <p:cNvSpPr/>
          <p:nvPr/>
        </p:nvSpPr>
        <p:spPr>
          <a:xfrm>
            <a:off x="910864" y="4804682"/>
            <a:ext cx="1896939" cy="934543"/>
          </a:xfrm>
          <a:custGeom>
            <a:avLst/>
            <a:gdLst>
              <a:gd name="connsiteX0" fmla="*/ 0 w 2077279"/>
              <a:gd name="connsiteY0" fmla="*/ 1202634 h 1202634"/>
              <a:gd name="connsiteX1" fmla="*/ 1038639 w 2077279"/>
              <a:gd name="connsiteY1" fmla="*/ 0 h 1202634"/>
              <a:gd name="connsiteX2" fmla="*/ 2077279 w 2077279"/>
              <a:gd name="connsiteY2" fmla="*/ 1202634 h 1202634"/>
            </a:gdLst>
            <a:ahLst/>
            <a:cxnLst>
              <a:cxn ang="0">
                <a:pos x="connsiteX0" y="connsiteY0"/>
              </a:cxn>
              <a:cxn ang="0">
                <a:pos x="connsiteX1" y="connsiteY1"/>
              </a:cxn>
              <a:cxn ang="0">
                <a:pos x="connsiteX2" y="connsiteY2"/>
              </a:cxn>
            </a:cxnLst>
            <a:rect l="l" t="t" r="r" b="b"/>
            <a:pathLst>
              <a:path w="2077279" h="1202634">
                <a:moveTo>
                  <a:pt x="0" y="1202634"/>
                </a:moveTo>
                <a:cubicBezTo>
                  <a:pt x="346213" y="601317"/>
                  <a:pt x="692426" y="0"/>
                  <a:pt x="1038639" y="0"/>
                </a:cubicBezTo>
                <a:cubicBezTo>
                  <a:pt x="1384852" y="0"/>
                  <a:pt x="1731065" y="601317"/>
                  <a:pt x="2077279" y="1202634"/>
                </a:cubicBezTo>
              </a:path>
            </a:pathLst>
          </a:custGeom>
          <a:solidFill>
            <a:schemeClr val="accent6">
              <a:alpha val="18000"/>
            </a:schemeClr>
          </a:solidFill>
          <a:ln w="50800"/>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a:p>
        </p:txBody>
      </p:sp>
      <p:sp>
        <p:nvSpPr>
          <p:cNvPr id="55" name="任意多边形: 形状 54">
            <a:extLst>
              <a:ext uri="{FF2B5EF4-FFF2-40B4-BE49-F238E27FC236}">
                <a16:creationId xmlns:a16="http://schemas.microsoft.com/office/drawing/2014/main" id="{02621F88-8E06-434F-A296-A5671C0E8962}"/>
              </a:ext>
            </a:extLst>
          </p:cNvPr>
          <p:cNvSpPr/>
          <p:nvPr/>
        </p:nvSpPr>
        <p:spPr>
          <a:xfrm>
            <a:off x="3364659" y="5149471"/>
            <a:ext cx="4109568" cy="588937"/>
          </a:xfrm>
          <a:custGeom>
            <a:avLst/>
            <a:gdLst>
              <a:gd name="connsiteX0" fmla="*/ 0 w 2077279"/>
              <a:gd name="connsiteY0" fmla="*/ 1202634 h 1202634"/>
              <a:gd name="connsiteX1" fmla="*/ 1038639 w 2077279"/>
              <a:gd name="connsiteY1" fmla="*/ 0 h 1202634"/>
              <a:gd name="connsiteX2" fmla="*/ 2077279 w 2077279"/>
              <a:gd name="connsiteY2" fmla="*/ 1202634 h 1202634"/>
            </a:gdLst>
            <a:ahLst/>
            <a:cxnLst>
              <a:cxn ang="0">
                <a:pos x="connsiteX0" y="connsiteY0"/>
              </a:cxn>
              <a:cxn ang="0">
                <a:pos x="connsiteX1" y="connsiteY1"/>
              </a:cxn>
              <a:cxn ang="0">
                <a:pos x="connsiteX2" y="connsiteY2"/>
              </a:cxn>
            </a:cxnLst>
            <a:rect l="l" t="t" r="r" b="b"/>
            <a:pathLst>
              <a:path w="2077279" h="1202634">
                <a:moveTo>
                  <a:pt x="0" y="1202634"/>
                </a:moveTo>
                <a:cubicBezTo>
                  <a:pt x="346213" y="601317"/>
                  <a:pt x="692426" y="0"/>
                  <a:pt x="1038639" y="0"/>
                </a:cubicBezTo>
                <a:cubicBezTo>
                  <a:pt x="1384852" y="0"/>
                  <a:pt x="1731065" y="601317"/>
                  <a:pt x="2077279" y="1202634"/>
                </a:cubicBezTo>
              </a:path>
            </a:pathLst>
          </a:custGeom>
          <a:solidFill>
            <a:schemeClr val="tx1">
              <a:alpha val="18000"/>
            </a:schemeClr>
          </a:solidFill>
          <a:ln w="50800">
            <a:solidFill>
              <a:schemeClr val="tx1"/>
            </a:solidFill>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33530514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45</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en-US" altLang="zh-CN" sz="3200" dirty="0">
                <a:latin typeface="微软雅黑" panose="020B0503020204020204" pitchFamily="34" charset="-122"/>
                <a:ea typeface="微软雅黑" panose="020B0503020204020204" pitchFamily="34" charset="-122"/>
                <a:cs typeface="Times New Roman" panose="02020603050405020304" pitchFamily="18" charset="0"/>
              </a:rPr>
              <a:t>EM</a:t>
            </a:r>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算法</a:t>
            </a:r>
          </a:p>
        </p:txBody>
      </p:sp>
      <p:sp>
        <p:nvSpPr>
          <p:cNvPr id="3" name="文本框 2">
            <a:extLst>
              <a:ext uri="{FF2B5EF4-FFF2-40B4-BE49-F238E27FC236}">
                <a16:creationId xmlns:a16="http://schemas.microsoft.com/office/drawing/2014/main" id="{96B97EB8-671F-2DD6-D687-E431680C58CC}"/>
              </a:ext>
            </a:extLst>
          </p:cNvPr>
          <p:cNvSpPr txBox="1"/>
          <p:nvPr/>
        </p:nvSpPr>
        <p:spPr>
          <a:xfrm>
            <a:off x="162560" y="1245067"/>
            <a:ext cx="8675814" cy="1705403"/>
          </a:xfrm>
          <a:prstGeom prst="rect">
            <a:avLst/>
          </a:prstGeom>
          <a:noFill/>
        </p:spPr>
        <p:txBody>
          <a:bodyPr wrap="square">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一个例子：</a:t>
            </a:r>
            <a:endPar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投掷两枚硬币</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B</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，每次实验只选择其中一枚，再对此枚硬币连续进行</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10</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次投掷，共进行</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5</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次实验，结果如下：</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6" name="表格 6">
            <a:extLst>
              <a:ext uri="{FF2B5EF4-FFF2-40B4-BE49-F238E27FC236}">
                <a16:creationId xmlns:a16="http://schemas.microsoft.com/office/drawing/2014/main" id="{2A52F752-F708-0864-7126-AF1C5CA86161}"/>
              </a:ext>
            </a:extLst>
          </p:cNvPr>
          <p:cNvGraphicFramePr>
            <a:graphicFrameLocks noGrp="1"/>
          </p:cNvGraphicFramePr>
          <p:nvPr/>
        </p:nvGraphicFramePr>
        <p:xfrm>
          <a:off x="1557338" y="2719848"/>
          <a:ext cx="6096000" cy="222504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366340392"/>
                    </a:ext>
                  </a:extLst>
                </a:gridCol>
                <a:gridCol w="2032000">
                  <a:extLst>
                    <a:ext uri="{9D8B030D-6E8A-4147-A177-3AD203B41FA5}">
                      <a16:colId xmlns:a16="http://schemas.microsoft.com/office/drawing/2014/main" val="824927946"/>
                    </a:ext>
                  </a:extLst>
                </a:gridCol>
                <a:gridCol w="2032000">
                  <a:extLst>
                    <a:ext uri="{9D8B030D-6E8A-4147-A177-3AD203B41FA5}">
                      <a16:colId xmlns:a16="http://schemas.microsoft.com/office/drawing/2014/main" val="1704196144"/>
                    </a:ext>
                  </a:extLst>
                </a:gridCol>
              </a:tblGrid>
              <a:tr h="370840">
                <a:tc>
                  <a:txBody>
                    <a:bodyPr/>
                    <a:lstStyle/>
                    <a:p>
                      <a:pPr algn="ctr"/>
                      <a:r>
                        <a:rPr lang="zh-CN" altLang="en-US" dirty="0">
                          <a:latin typeface="微软雅黑" panose="020B0503020204020204" pitchFamily="34" charset="-122"/>
                          <a:ea typeface="微软雅黑" panose="020B0503020204020204" pitchFamily="34" charset="-122"/>
                        </a:rPr>
                        <a:t>实验</a:t>
                      </a:r>
                    </a:p>
                  </a:txBody>
                  <a:tcPr/>
                </a:tc>
                <a:tc>
                  <a:txBody>
                    <a:bodyPr/>
                    <a:lstStyle/>
                    <a:p>
                      <a:pPr algn="ctr"/>
                      <a:r>
                        <a:rPr lang="zh-CN" altLang="en-US" dirty="0">
                          <a:latin typeface="微软雅黑" panose="020B0503020204020204" pitchFamily="34" charset="-122"/>
                          <a:ea typeface="微软雅黑" panose="020B0503020204020204" pitchFamily="34" charset="-122"/>
                        </a:rPr>
                        <a:t>硬币</a:t>
                      </a:r>
                      <a:r>
                        <a:rPr lang="en-US" altLang="zh-CN" dirty="0">
                          <a:latin typeface="微软雅黑" panose="020B0503020204020204" pitchFamily="34" charset="-122"/>
                          <a:ea typeface="微软雅黑" panose="020B0503020204020204" pitchFamily="34" charset="-122"/>
                        </a:rPr>
                        <a:t>A</a:t>
                      </a:r>
                      <a:endParaRPr lang="zh-CN" altLang="en-US" dirty="0">
                        <a:latin typeface="微软雅黑" panose="020B0503020204020204" pitchFamily="34" charset="-122"/>
                        <a:ea typeface="微软雅黑" panose="020B0503020204020204" pitchFamily="34" charset="-122"/>
                      </a:endParaRPr>
                    </a:p>
                  </a:txBody>
                  <a:tcPr/>
                </a:tc>
                <a:tc>
                  <a:txBody>
                    <a:bodyPr/>
                    <a:lstStyle/>
                    <a:p>
                      <a:pPr algn="ctr"/>
                      <a:r>
                        <a:rPr lang="zh-CN" altLang="en-US" dirty="0">
                          <a:latin typeface="微软雅黑" panose="020B0503020204020204" pitchFamily="34" charset="-122"/>
                          <a:ea typeface="微软雅黑" panose="020B0503020204020204" pitchFamily="34" charset="-122"/>
                        </a:rPr>
                        <a:t>硬币</a:t>
                      </a:r>
                      <a:r>
                        <a:rPr lang="en-US" altLang="zh-CN" dirty="0">
                          <a:latin typeface="微软雅黑" panose="020B0503020204020204" pitchFamily="34" charset="-122"/>
                          <a:ea typeface="微软雅黑" panose="020B0503020204020204" pitchFamily="34" charset="-122"/>
                        </a:rPr>
                        <a:t>B</a:t>
                      </a:r>
                      <a:endParaRPr lang="zh-CN" altLang="en-US"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2699105417"/>
                  </a:ext>
                </a:extLst>
              </a:tr>
              <a:tr h="370840">
                <a:tc>
                  <a:txBody>
                    <a:bodyPr/>
                    <a:lstStyle/>
                    <a:p>
                      <a:pPr algn="ctr"/>
                      <a:r>
                        <a:rPr lang="en-US" altLang="zh-CN" dirty="0">
                          <a:latin typeface="微软雅黑" panose="020B0503020204020204" pitchFamily="34" charset="-122"/>
                          <a:ea typeface="微软雅黑" panose="020B0503020204020204" pitchFamily="34" charset="-122"/>
                        </a:rPr>
                        <a:t>1</a:t>
                      </a:r>
                      <a:endParaRPr lang="zh-CN" altLang="en-US" dirty="0">
                        <a:latin typeface="微软雅黑" panose="020B0503020204020204" pitchFamily="34" charset="-122"/>
                        <a:ea typeface="微软雅黑" panose="020B0503020204020204" pitchFamily="34" charset="-122"/>
                      </a:endParaRPr>
                    </a:p>
                  </a:txBody>
                  <a:tcPr/>
                </a:tc>
                <a:tc>
                  <a:txBody>
                    <a:bodyPr/>
                    <a:lstStyle/>
                    <a:p>
                      <a:pPr algn="ct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正</a:t>
                      </a:r>
                      <a:r>
                        <a:rPr lang="en-US" altLang="zh-CN" dirty="0">
                          <a:latin typeface="微软雅黑" panose="020B0503020204020204" pitchFamily="34" charset="-122"/>
                          <a:ea typeface="微软雅黑" panose="020B0503020204020204" pitchFamily="34" charset="-122"/>
                        </a:rPr>
                        <a:t>7</a:t>
                      </a:r>
                      <a:r>
                        <a:rPr lang="zh-CN" altLang="en-US" dirty="0">
                          <a:latin typeface="微软雅黑" panose="020B0503020204020204" pitchFamily="34" charset="-122"/>
                          <a:ea typeface="微软雅黑" panose="020B0503020204020204" pitchFamily="34" charset="-122"/>
                        </a:rPr>
                        <a:t>负</a:t>
                      </a:r>
                    </a:p>
                  </a:txBody>
                  <a:tcPr/>
                </a:tc>
                <a:tc>
                  <a:txBody>
                    <a:bodyPr/>
                    <a:lstStyle/>
                    <a:p>
                      <a:pPr algn="ctr"/>
                      <a:endParaRPr lang="zh-CN" altLang="en-US"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9729184"/>
                  </a:ext>
                </a:extLst>
              </a:tr>
              <a:tr h="370840">
                <a:tc>
                  <a:txBody>
                    <a:bodyPr/>
                    <a:lstStyle/>
                    <a:p>
                      <a:pPr algn="ctr"/>
                      <a:r>
                        <a:rPr lang="en-US" altLang="zh-CN" dirty="0">
                          <a:latin typeface="微软雅黑" panose="020B0503020204020204" pitchFamily="34" charset="-122"/>
                          <a:ea typeface="微软雅黑" panose="020B0503020204020204" pitchFamily="34" charset="-122"/>
                        </a:rPr>
                        <a:t>2</a:t>
                      </a:r>
                      <a:endParaRPr lang="zh-CN" altLang="en-US" dirty="0">
                        <a:latin typeface="微软雅黑" panose="020B0503020204020204" pitchFamily="34" charset="-122"/>
                        <a:ea typeface="微软雅黑" panose="020B0503020204020204" pitchFamily="34" charset="-122"/>
                      </a:endParaRPr>
                    </a:p>
                  </a:txBody>
                  <a:tcPr/>
                </a:tc>
                <a:tc>
                  <a:txBody>
                    <a:bodyPr/>
                    <a:lstStyle/>
                    <a:p>
                      <a:pPr algn="ct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正</a:t>
                      </a:r>
                      <a:r>
                        <a:rPr lang="en-US" altLang="zh-CN" dirty="0">
                          <a:latin typeface="微软雅黑" panose="020B0503020204020204" pitchFamily="34" charset="-122"/>
                          <a:ea typeface="微软雅黑" panose="020B0503020204020204" pitchFamily="34" charset="-122"/>
                        </a:rPr>
                        <a:t>6</a:t>
                      </a:r>
                      <a:r>
                        <a:rPr lang="zh-CN" altLang="en-US" dirty="0">
                          <a:latin typeface="微软雅黑" panose="020B0503020204020204" pitchFamily="34" charset="-122"/>
                          <a:ea typeface="微软雅黑" panose="020B0503020204020204" pitchFamily="34" charset="-122"/>
                        </a:rPr>
                        <a:t>负</a:t>
                      </a:r>
                    </a:p>
                  </a:txBody>
                  <a:tcPr/>
                </a:tc>
                <a:tc>
                  <a:txBody>
                    <a:bodyPr/>
                    <a:lstStyle/>
                    <a:p>
                      <a:pPr algn="ctr"/>
                      <a:endParaRPr lang="zh-CN" altLang="en-US"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2364315353"/>
                  </a:ext>
                </a:extLst>
              </a:tr>
              <a:tr h="370840">
                <a:tc>
                  <a:txBody>
                    <a:bodyPr/>
                    <a:lstStyle/>
                    <a:p>
                      <a:pPr algn="ctr"/>
                      <a:r>
                        <a:rPr lang="en-US" altLang="zh-CN" dirty="0">
                          <a:latin typeface="微软雅黑" panose="020B0503020204020204" pitchFamily="34" charset="-122"/>
                          <a:ea typeface="微软雅黑" panose="020B0503020204020204" pitchFamily="34" charset="-122"/>
                        </a:rPr>
                        <a:t>3</a:t>
                      </a:r>
                      <a:endParaRPr lang="zh-CN" altLang="en-US" dirty="0">
                        <a:latin typeface="微软雅黑" panose="020B0503020204020204" pitchFamily="34" charset="-122"/>
                        <a:ea typeface="微软雅黑" panose="020B0503020204020204" pitchFamily="34" charset="-122"/>
                      </a:endParaRPr>
                    </a:p>
                  </a:txBody>
                  <a:tcPr/>
                </a:tc>
                <a:tc>
                  <a:txBody>
                    <a:bodyPr/>
                    <a:lstStyle/>
                    <a:p>
                      <a:pPr algn="ctr"/>
                      <a:endParaRPr lang="zh-CN" altLang="en-US" dirty="0">
                        <a:latin typeface="微软雅黑" panose="020B0503020204020204" pitchFamily="34" charset="-122"/>
                        <a:ea typeface="微软雅黑" panose="020B0503020204020204" pitchFamily="34" charset="-122"/>
                      </a:endParaRPr>
                    </a:p>
                  </a:txBody>
                  <a:tcPr/>
                </a:tc>
                <a:tc>
                  <a:txBody>
                    <a:bodyPr/>
                    <a:lstStyle/>
                    <a:p>
                      <a:pPr algn="ctr"/>
                      <a:r>
                        <a:rPr lang="en-US" altLang="zh-CN" dirty="0">
                          <a:latin typeface="微软雅黑" panose="020B0503020204020204" pitchFamily="34" charset="-122"/>
                          <a:ea typeface="微软雅黑" panose="020B0503020204020204" pitchFamily="34" charset="-122"/>
                        </a:rPr>
                        <a:t>7</a:t>
                      </a:r>
                      <a:r>
                        <a:rPr lang="zh-CN" altLang="en-US" dirty="0">
                          <a:latin typeface="微软雅黑" panose="020B0503020204020204" pitchFamily="34" charset="-122"/>
                          <a:ea typeface="微软雅黑" panose="020B0503020204020204" pitchFamily="34" charset="-122"/>
                        </a:rPr>
                        <a:t>正</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负</a:t>
                      </a:r>
                    </a:p>
                  </a:txBody>
                  <a:tcPr/>
                </a:tc>
                <a:extLst>
                  <a:ext uri="{0D108BD9-81ED-4DB2-BD59-A6C34878D82A}">
                    <a16:rowId xmlns:a16="http://schemas.microsoft.com/office/drawing/2014/main" val="203531141"/>
                  </a:ext>
                </a:extLst>
              </a:tr>
              <a:tr h="370840">
                <a:tc>
                  <a:txBody>
                    <a:bodyPr/>
                    <a:lstStyle/>
                    <a:p>
                      <a:pPr algn="ctr"/>
                      <a:r>
                        <a:rPr lang="en-US" altLang="zh-CN" dirty="0">
                          <a:latin typeface="微软雅黑" panose="020B0503020204020204" pitchFamily="34" charset="-122"/>
                          <a:ea typeface="微软雅黑" panose="020B0503020204020204" pitchFamily="34" charset="-122"/>
                        </a:rPr>
                        <a:t>4</a:t>
                      </a:r>
                      <a:endParaRPr lang="zh-CN" altLang="en-US" dirty="0">
                        <a:latin typeface="微软雅黑" panose="020B0503020204020204" pitchFamily="34" charset="-122"/>
                        <a:ea typeface="微软雅黑" panose="020B0503020204020204" pitchFamily="34" charset="-122"/>
                      </a:endParaRPr>
                    </a:p>
                  </a:txBody>
                  <a:tcPr/>
                </a:tc>
                <a:tc>
                  <a:txBody>
                    <a:bodyPr/>
                    <a:lstStyle/>
                    <a:p>
                      <a:pPr algn="ct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正</a:t>
                      </a:r>
                      <a:r>
                        <a:rPr lang="en-US" altLang="zh-CN" dirty="0">
                          <a:latin typeface="微软雅黑" panose="020B0503020204020204" pitchFamily="34" charset="-122"/>
                          <a:ea typeface="微软雅黑" panose="020B0503020204020204" pitchFamily="34" charset="-122"/>
                        </a:rPr>
                        <a:t>8</a:t>
                      </a:r>
                      <a:r>
                        <a:rPr lang="zh-CN" altLang="en-US" dirty="0">
                          <a:latin typeface="微软雅黑" panose="020B0503020204020204" pitchFamily="34" charset="-122"/>
                          <a:ea typeface="微软雅黑" panose="020B0503020204020204" pitchFamily="34" charset="-122"/>
                        </a:rPr>
                        <a:t>负</a:t>
                      </a:r>
                    </a:p>
                  </a:txBody>
                  <a:tcPr/>
                </a:tc>
                <a:tc>
                  <a:txBody>
                    <a:bodyPr/>
                    <a:lstStyle/>
                    <a:p>
                      <a:pPr algn="ctr"/>
                      <a:endParaRPr lang="zh-CN" altLang="en-US"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24491852"/>
                  </a:ext>
                </a:extLst>
              </a:tr>
              <a:tr h="370840">
                <a:tc>
                  <a:txBody>
                    <a:bodyPr/>
                    <a:lstStyle/>
                    <a:p>
                      <a:pPr algn="ctr"/>
                      <a:r>
                        <a:rPr lang="en-US" altLang="zh-CN" dirty="0">
                          <a:latin typeface="微软雅黑" panose="020B0503020204020204" pitchFamily="34" charset="-122"/>
                          <a:ea typeface="微软雅黑" panose="020B0503020204020204" pitchFamily="34" charset="-122"/>
                        </a:rPr>
                        <a:t>5</a:t>
                      </a:r>
                      <a:endParaRPr lang="zh-CN" altLang="en-US" dirty="0">
                        <a:latin typeface="微软雅黑" panose="020B0503020204020204" pitchFamily="34" charset="-122"/>
                        <a:ea typeface="微软雅黑" panose="020B0503020204020204" pitchFamily="34" charset="-122"/>
                      </a:endParaRPr>
                    </a:p>
                  </a:txBody>
                  <a:tcPr/>
                </a:tc>
                <a:tc>
                  <a:txBody>
                    <a:bodyPr/>
                    <a:lstStyle/>
                    <a:p>
                      <a:pPr algn="ctr"/>
                      <a:endParaRPr lang="zh-CN" altLang="en-US" dirty="0">
                        <a:latin typeface="微软雅黑" panose="020B0503020204020204" pitchFamily="34" charset="-122"/>
                        <a:ea typeface="微软雅黑" panose="020B0503020204020204" pitchFamily="34" charset="-122"/>
                      </a:endParaRPr>
                    </a:p>
                  </a:txBody>
                  <a:tcPr/>
                </a:tc>
                <a:tc>
                  <a:txBody>
                    <a:bodyPr/>
                    <a:lstStyle/>
                    <a:p>
                      <a:pPr algn="ctr"/>
                      <a:r>
                        <a:rPr lang="en-US" altLang="zh-CN" dirty="0">
                          <a:latin typeface="微软雅黑" panose="020B0503020204020204" pitchFamily="34" charset="-122"/>
                          <a:ea typeface="微软雅黑" panose="020B0503020204020204" pitchFamily="34" charset="-122"/>
                        </a:rPr>
                        <a:t>7</a:t>
                      </a:r>
                      <a:r>
                        <a:rPr lang="zh-CN" altLang="en-US" dirty="0">
                          <a:latin typeface="微软雅黑" panose="020B0503020204020204" pitchFamily="34" charset="-122"/>
                          <a:ea typeface="微软雅黑" panose="020B0503020204020204" pitchFamily="34" charset="-122"/>
                        </a:rPr>
                        <a:t>正</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负</a:t>
                      </a:r>
                    </a:p>
                  </a:txBody>
                  <a:tcPr/>
                </a:tc>
                <a:extLst>
                  <a:ext uri="{0D108BD9-81ED-4DB2-BD59-A6C34878D82A}">
                    <a16:rowId xmlns:a16="http://schemas.microsoft.com/office/drawing/2014/main" val="93392975"/>
                  </a:ext>
                </a:extLst>
              </a:tr>
            </a:tbl>
          </a:graphicData>
        </a:graphic>
      </p:graphicFrame>
      <p:sp>
        <p:nvSpPr>
          <p:cNvPr id="7" name="文本框 6">
            <a:extLst>
              <a:ext uri="{FF2B5EF4-FFF2-40B4-BE49-F238E27FC236}">
                <a16:creationId xmlns:a16="http://schemas.microsoft.com/office/drawing/2014/main" id="{573F9B03-71CF-7F2C-FAB2-89D998668DEA}"/>
              </a:ext>
            </a:extLst>
          </p:cNvPr>
          <p:cNvSpPr txBox="1"/>
          <p:nvPr/>
        </p:nvSpPr>
        <p:spPr>
          <a:xfrm>
            <a:off x="234093" y="5221302"/>
            <a:ext cx="8353569" cy="646331"/>
          </a:xfrm>
          <a:prstGeom prst="rect">
            <a:avLst/>
          </a:prstGeom>
          <a:noFill/>
        </p:spPr>
        <p:txBody>
          <a:bodyPr wrap="none" rtlCol="0">
            <a:spAutoFit/>
          </a:bodyPr>
          <a:lstStyle/>
          <a:p>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如果我们知道选择的结论，则可以直接估计得到硬币</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、硬币</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B</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正面向上的概率：</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endPar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C51DE7C0-8440-2E71-CB0C-84B5A7D3E957}"/>
                  </a:ext>
                </a:extLst>
              </p:cNvPr>
              <p:cNvSpPr txBox="1"/>
              <p:nvPr/>
            </p:nvSpPr>
            <p:spPr>
              <a:xfrm>
                <a:off x="1832639" y="5728726"/>
                <a:ext cx="2141227" cy="5203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zh-CN" altLang="en-US" i="1" smtClean="0">
                              <a:latin typeface="Cambria Math" panose="02040503050406030204" pitchFamily="18" charset="0"/>
                            </a:rPr>
                            <m:t>𝜃</m:t>
                          </m:r>
                        </m:e>
                        <m:sub>
                          <m:r>
                            <a:rPr lang="en-US" altLang="zh-CN" b="0" i="1" smtClean="0">
                              <a:latin typeface="Cambria Math" panose="02040503050406030204" pitchFamily="18" charset="0"/>
                            </a:rPr>
                            <m:t>𝐴</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3+4+2</m:t>
                          </m:r>
                        </m:num>
                        <m:den>
                          <m:r>
                            <a:rPr lang="en-US" altLang="zh-CN" b="0" i="1" smtClean="0">
                              <a:latin typeface="Cambria Math" panose="02040503050406030204" pitchFamily="18" charset="0"/>
                            </a:rPr>
                            <m:t>30</m:t>
                          </m:r>
                        </m:den>
                      </m:f>
                      <m:r>
                        <a:rPr lang="en-US" altLang="zh-CN" b="0" i="1" smtClean="0">
                          <a:latin typeface="Cambria Math" panose="02040503050406030204" pitchFamily="18" charset="0"/>
                        </a:rPr>
                        <m:t>=0.3</m:t>
                      </m:r>
                    </m:oMath>
                  </m:oMathPara>
                </a14:m>
                <a:endParaRPr lang="zh-CN" altLang="en-US" dirty="0"/>
              </a:p>
            </p:txBody>
          </p:sp>
        </mc:Choice>
        <mc:Fallback xmlns="">
          <p:sp>
            <p:nvSpPr>
              <p:cNvPr id="9" name="文本框 8">
                <a:extLst>
                  <a:ext uri="{FF2B5EF4-FFF2-40B4-BE49-F238E27FC236}">
                    <a16:creationId xmlns:a16="http://schemas.microsoft.com/office/drawing/2014/main" id="{C51DE7C0-8440-2E71-CB0C-84B5A7D3E957}"/>
                  </a:ext>
                </a:extLst>
              </p:cNvPr>
              <p:cNvSpPr txBox="1">
                <a:spLocks noRot="1" noChangeAspect="1" noMove="1" noResize="1" noEditPoints="1" noAdjustHandles="1" noChangeArrowheads="1" noChangeShapeType="1" noTextEdit="1"/>
              </p:cNvSpPr>
              <p:nvPr/>
            </p:nvSpPr>
            <p:spPr>
              <a:xfrm>
                <a:off x="1832639" y="5728726"/>
                <a:ext cx="2141227" cy="520399"/>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2C1BDE33-8FC8-979C-EA13-34DBD4906506}"/>
                  </a:ext>
                </a:extLst>
              </p:cNvPr>
              <p:cNvSpPr txBox="1"/>
              <p:nvPr/>
            </p:nvSpPr>
            <p:spPr>
              <a:xfrm>
                <a:off x="4643533" y="5706460"/>
                <a:ext cx="1753172" cy="5185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zh-CN" altLang="en-US" i="1" smtClean="0">
                              <a:latin typeface="Cambria Math" panose="02040503050406030204" pitchFamily="18" charset="0"/>
                            </a:rPr>
                            <m:t>𝜃</m:t>
                          </m:r>
                        </m:e>
                        <m:sub>
                          <m:r>
                            <a:rPr lang="en-US" altLang="zh-CN" b="0" i="1" smtClean="0">
                              <a:latin typeface="Cambria Math" panose="02040503050406030204" pitchFamily="18" charset="0"/>
                            </a:rPr>
                            <m:t>𝐵</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7+7</m:t>
                          </m:r>
                        </m:num>
                        <m:den>
                          <m:r>
                            <a:rPr lang="en-US" altLang="zh-CN" b="0" i="1" smtClean="0">
                              <a:latin typeface="Cambria Math" panose="02040503050406030204" pitchFamily="18" charset="0"/>
                            </a:rPr>
                            <m:t>20</m:t>
                          </m:r>
                        </m:den>
                      </m:f>
                      <m:r>
                        <a:rPr lang="en-US" altLang="zh-CN" b="0" i="1" smtClean="0">
                          <a:latin typeface="Cambria Math" panose="02040503050406030204" pitchFamily="18" charset="0"/>
                        </a:rPr>
                        <m:t>=0.7</m:t>
                      </m:r>
                    </m:oMath>
                  </m:oMathPara>
                </a14:m>
                <a:endParaRPr lang="zh-CN" altLang="en-US" dirty="0"/>
              </a:p>
            </p:txBody>
          </p:sp>
        </mc:Choice>
        <mc:Fallback xmlns="">
          <p:sp>
            <p:nvSpPr>
              <p:cNvPr id="10" name="文本框 9">
                <a:extLst>
                  <a:ext uri="{FF2B5EF4-FFF2-40B4-BE49-F238E27FC236}">
                    <a16:creationId xmlns:a16="http://schemas.microsoft.com/office/drawing/2014/main" id="{2C1BDE33-8FC8-979C-EA13-34DBD4906506}"/>
                  </a:ext>
                </a:extLst>
              </p:cNvPr>
              <p:cNvSpPr txBox="1">
                <a:spLocks noRot="1" noChangeAspect="1" noMove="1" noResize="1" noEditPoints="1" noAdjustHandles="1" noChangeArrowheads="1" noChangeShapeType="1" noTextEdit="1"/>
              </p:cNvSpPr>
              <p:nvPr/>
            </p:nvSpPr>
            <p:spPr>
              <a:xfrm>
                <a:off x="4643533" y="5706460"/>
                <a:ext cx="1753172" cy="518540"/>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809787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46</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en-US" altLang="zh-CN" sz="3200" dirty="0">
                <a:latin typeface="微软雅黑" panose="020B0503020204020204" pitchFamily="34" charset="-122"/>
                <a:ea typeface="微软雅黑" panose="020B0503020204020204" pitchFamily="34" charset="-122"/>
                <a:cs typeface="Times New Roman" panose="02020603050405020304" pitchFamily="18" charset="0"/>
              </a:rPr>
              <a:t>EM</a:t>
            </a:r>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算法</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96B97EB8-671F-2DD6-D687-E431680C58CC}"/>
                  </a:ext>
                </a:extLst>
              </p:cNvPr>
              <p:cNvSpPr txBox="1"/>
              <p:nvPr/>
            </p:nvSpPr>
            <p:spPr>
              <a:xfrm>
                <a:off x="429261" y="1308098"/>
                <a:ext cx="7962900" cy="2536400"/>
              </a:xfrm>
              <a:prstGeom prst="rect">
                <a:avLst/>
              </a:prstGeom>
              <a:noFill/>
            </p:spPr>
            <p:txBody>
              <a:bodyPr wrap="square">
                <a:spAutoFit/>
              </a:bodyPr>
              <a:lstStyle/>
              <a:p>
                <a:pPr lvl="0" algn="just">
                  <a:lnSpc>
                    <a:spcPct val="150000"/>
                  </a:lnSpc>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但是如果我们</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不知道</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投掷每次投掷的是硬币</a:t>
                </a:r>
                <a:r>
                  <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还是</a:t>
                </a:r>
                <a:r>
                  <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，就需要再引入一组</a:t>
                </a:r>
                <a:r>
                  <a:rPr lang="zh-CN" altLang="en-US" noProof="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隐变量</a:t>
                </a:r>
                <a14:m>
                  <m:oMath xmlns:m="http://schemas.openxmlformats.org/officeDocument/2006/math">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𝑧</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m:t>
                            </m:r>
                          </m:sub>
                        </m:sSub>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 </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=1,…,5</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（有两个可能的取值，使用</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或使用</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B</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），表示</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各次实验使用硬币情况。</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因为不同硬币正面朝上的概率不同，因此，估计这两个概率</a:t>
                </a:r>
                <a14:m>
                  <m:oMath xmlns:m="http://schemas.openxmlformats.org/officeDocument/2006/math">
                    <m:sSub>
                      <m:sSubPr>
                        <m:ctrlPr>
                          <a:rPr lang="en-US" altLang="zh-CN" i="1" smtClean="0">
                            <a:latin typeface="Cambria Math" panose="02040503050406030204" pitchFamily="18" charset="0"/>
                          </a:rPr>
                        </m:ctrlPr>
                      </m:sSubPr>
                      <m:e>
                        <m:r>
                          <a:rPr lang="zh-CN" altLang="en-US" i="1" smtClean="0">
                            <a:latin typeface="Cambria Math" panose="02040503050406030204" pitchFamily="18" charset="0"/>
                          </a:rPr>
                          <m:t>𝜃</m:t>
                        </m:r>
                      </m:e>
                      <m:sub>
                        <m:r>
                          <a:rPr lang="en-US" altLang="zh-CN" b="0" i="1" smtClean="0">
                            <a:latin typeface="Cambria Math" panose="02040503050406030204" pitchFamily="18" charset="0"/>
                          </a:rPr>
                          <m:t>𝐴</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和</a:t>
                </a:r>
                <a14:m>
                  <m:oMath xmlns:m="http://schemas.openxmlformats.org/officeDocument/2006/math">
                    <m:sSub>
                      <m:sSubPr>
                        <m:ctrlPr>
                          <a:rPr lang="en-US" altLang="zh-CN" i="1">
                            <a:latin typeface="Cambria Math" panose="02040503050406030204" pitchFamily="18" charset="0"/>
                          </a:rPr>
                        </m:ctrlPr>
                      </m:sSubPr>
                      <m:e>
                        <m:r>
                          <a:rPr lang="zh-CN" altLang="en-US" i="1">
                            <a:latin typeface="Cambria Math" panose="02040503050406030204" pitchFamily="18" charset="0"/>
                          </a:rPr>
                          <m:t>𝜃</m:t>
                        </m:r>
                      </m:e>
                      <m:sub>
                        <m:r>
                          <a:rPr lang="en-US" altLang="zh-CN" b="0" i="1" smtClean="0">
                            <a:latin typeface="Cambria Math" panose="02040503050406030204" pitchFamily="18" charset="0"/>
                          </a:rPr>
                          <m:t>𝐵</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需要知道每次投掷的是哪枚硬币</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即确定</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隐变量</a:t>
                </a:r>
                <a14:m>
                  <m:oMath xmlns:m="http://schemas.openxmlformats.org/officeDocument/2006/math">
                    <m:d>
                      <m:dPr>
                        <m:begChr m:val="{"/>
                        <m:endChr m:val="}"/>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𝑧</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sub>
                        </m:sSub>
                      </m:e>
                    </m:d>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的取值），而估计</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隐变量</a:t>
                </a:r>
                <a14:m>
                  <m:oMath xmlns:m="http://schemas.openxmlformats.org/officeDocument/2006/math">
                    <m:d>
                      <m:dPr>
                        <m:begChr m:val="{"/>
                        <m:endChr m:val="}"/>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𝑧</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sub>
                        </m:sSub>
                      </m:e>
                    </m:d>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又需要知道</a:t>
                </a:r>
                <a14:m>
                  <m:oMath xmlns:m="http://schemas.openxmlformats.org/officeDocument/2006/math">
                    <m:sSub>
                      <m:sSubPr>
                        <m:ctrlPr>
                          <a:rPr lang="en-US" altLang="zh-CN" i="1">
                            <a:latin typeface="Cambria Math" panose="02040503050406030204" pitchFamily="18" charset="0"/>
                          </a:rPr>
                        </m:ctrlPr>
                      </m:sSubPr>
                      <m:e>
                        <m:r>
                          <a:rPr lang="zh-CN" altLang="en-US" i="1">
                            <a:latin typeface="Cambria Math" panose="02040503050406030204" pitchFamily="18" charset="0"/>
                          </a:rPr>
                          <m:t>𝜃</m:t>
                        </m:r>
                      </m:e>
                      <m:sub>
                        <m:r>
                          <a:rPr lang="en-US" altLang="zh-CN" i="1">
                            <a:latin typeface="Cambria Math" panose="02040503050406030204" pitchFamily="18" charset="0"/>
                          </a:rPr>
                          <m:t>𝐴</m:t>
                        </m:r>
                      </m:sub>
                    </m:sSub>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和</a:t>
                </a:r>
                <a14:m>
                  <m:oMath xmlns:m="http://schemas.openxmlformats.org/officeDocument/2006/math">
                    <m:sSub>
                      <m:sSubPr>
                        <m:ctrlPr>
                          <a:rPr lang="en-US" altLang="zh-CN" i="1">
                            <a:latin typeface="Cambria Math" panose="02040503050406030204" pitchFamily="18" charset="0"/>
                          </a:rPr>
                        </m:ctrlPr>
                      </m:sSubPr>
                      <m:e>
                        <m:r>
                          <a:rPr lang="zh-CN" altLang="en-US" i="1">
                            <a:latin typeface="Cambria Math" panose="02040503050406030204" pitchFamily="18" charset="0"/>
                          </a:rPr>
                          <m:t>𝜃</m:t>
                        </m:r>
                      </m:e>
                      <m:sub>
                        <m:r>
                          <a:rPr lang="en-US" altLang="zh-CN" i="1">
                            <a:latin typeface="Cambria Math" panose="02040503050406030204" pitchFamily="18" charset="0"/>
                          </a:rPr>
                          <m:t>𝐵</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的取值（鸡生蛋、蛋生鸡）。</a:t>
                </a:r>
                <a:r>
                  <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EM</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算法就是解决这类问题的算法。</a:t>
                </a:r>
                <a:endParaRPr lang="en-US"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96B97EB8-671F-2DD6-D687-E431680C58CC}"/>
                  </a:ext>
                </a:extLst>
              </p:cNvPr>
              <p:cNvSpPr txBox="1">
                <a:spLocks noRot="1" noChangeAspect="1" noMove="1" noResize="1" noEditPoints="1" noAdjustHandles="1" noChangeArrowheads="1" noChangeShapeType="1" noTextEdit="1"/>
              </p:cNvSpPr>
              <p:nvPr/>
            </p:nvSpPr>
            <p:spPr>
              <a:xfrm>
                <a:off x="429261" y="1308098"/>
                <a:ext cx="7962900" cy="2536400"/>
              </a:xfrm>
              <a:prstGeom prst="rect">
                <a:avLst/>
              </a:prstGeom>
              <a:blipFill>
                <a:blip r:embed="rId3"/>
                <a:stretch>
                  <a:fillRect l="-612" r="-3443" b="-2885"/>
                </a:stretch>
              </a:blipFill>
            </p:spPr>
            <p:txBody>
              <a:bodyPr/>
              <a:lstStyle/>
              <a:p>
                <a:r>
                  <a:rPr lang="zh-CN" altLang="en-US">
                    <a:noFill/>
                  </a:rPr>
                  <a:t> </a:t>
                </a:r>
              </a:p>
            </p:txBody>
          </p:sp>
        </mc:Fallback>
      </mc:AlternateContent>
      <p:graphicFrame>
        <p:nvGraphicFramePr>
          <p:cNvPr id="4" name="表格 3">
            <a:extLst>
              <a:ext uri="{FF2B5EF4-FFF2-40B4-BE49-F238E27FC236}">
                <a16:creationId xmlns:a16="http://schemas.microsoft.com/office/drawing/2014/main" id="{48E25B52-9E64-47A6-891B-EE7CEB168116}"/>
              </a:ext>
            </a:extLst>
          </p:cNvPr>
          <p:cNvGraphicFramePr>
            <a:graphicFrameLocks noGrp="1"/>
          </p:cNvGraphicFramePr>
          <p:nvPr/>
        </p:nvGraphicFramePr>
        <p:xfrm>
          <a:off x="2124075" y="4130283"/>
          <a:ext cx="5082975" cy="2225040"/>
        </p:xfrm>
        <a:graphic>
          <a:graphicData uri="http://schemas.openxmlformats.org/drawingml/2006/table">
            <a:tbl>
              <a:tblPr firstRow="1" bandRow="1">
                <a:tableStyleId>{5C22544A-7EE6-4342-B048-85BDC9FD1C3A}</a:tableStyleId>
              </a:tblPr>
              <a:tblGrid>
                <a:gridCol w="2128720">
                  <a:extLst>
                    <a:ext uri="{9D8B030D-6E8A-4147-A177-3AD203B41FA5}">
                      <a16:colId xmlns:a16="http://schemas.microsoft.com/office/drawing/2014/main" val="1998931891"/>
                    </a:ext>
                  </a:extLst>
                </a:gridCol>
                <a:gridCol w="2954255">
                  <a:extLst>
                    <a:ext uri="{9D8B030D-6E8A-4147-A177-3AD203B41FA5}">
                      <a16:colId xmlns:a16="http://schemas.microsoft.com/office/drawing/2014/main" val="3133699894"/>
                    </a:ext>
                  </a:extLst>
                </a:gridCol>
              </a:tblGrid>
              <a:tr h="370840">
                <a:tc>
                  <a:txBody>
                    <a:bodyPr/>
                    <a:lstStyle/>
                    <a:p>
                      <a:pPr algn="ctr"/>
                      <a:r>
                        <a:rPr lang="zh-CN" altLang="en-US" dirty="0">
                          <a:latin typeface="微软雅黑" panose="020B0503020204020204" pitchFamily="34" charset="-122"/>
                          <a:ea typeface="微软雅黑" panose="020B0503020204020204" pitchFamily="34" charset="-122"/>
                        </a:rPr>
                        <a:t>实验</a:t>
                      </a:r>
                    </a:p>
                  </a:txBody>
                  <a:tcPr/>
                </a:tc>
                <a:tc>
                  <a:txBody>
                    <a:bodyPr/>
                    <a:lstStyle/>
                    <a:p>
                      <a:pPr algn="ctr"/>
                      <a:r>
                        <a:rPr lang="zh-CN" altLang="en-US" dirty="0">
                          <a:latin typeface="微软雅黑" panose="020B0503020204020204" pitchFamily="34" charset="-122"/>
                          <a:ea typeface="微软雅黑" panose="020B0503020204020204" pitchFamily="34" charset="-122"/>
                        </a:rPr>
                        <a:t>硬币</a:t>
                      </a:r>
                      <a:r>
                        <a:rPr lang="en-US" altLang="zh-CN" dirty="0">
                          <a:latin typeface="微软雅黑" panose="020B0503020204020204" pitchFamily="34" charset="-122"/>
                          <a:ea typeface="微软雅黑" panose="020B0503020204020204" pitchFamily="34" charset="-122"/>
                        </a:rPr>
                        <a:t>X</a:t>
                      </a:r>
                      <a:endParaRPr lang="zh-CN" altLang="en-US"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494532213"/>
                  </a:ext>
                </a:extLst>
              </a:tr>
              <a:tr h="370840">
                <a:tc>
                  <a:txBody>
                    <a:bodyPr/>
                    <a:lstStyle/>
                    <a:p>
                      <a:pPr algn="ctr"/>
                      <a:r>
                        <a:rPr lang="en-US" altLang="zh-CN" dirty="0">
                          <a:latin typeface="微软雅黑" panose="020B0503020204020204" pitchFamily="34" charset="-122"/>
                          <a:ea typeface="微软雅黑" panose="020B0503020204020204" pitchFamily="34" charset="-122"/>
                        </a:rPr>
                        <a:t>1</a:t>
                      </a:r>
                      <a:endParaRPr lang="zh-CN" altLang="en-US" dirty="0">
                        <a:latin typeface="微软雅黑" panose="020B0503020204020204" pitchFamily="34" charset="-122"/>
                        <a:ea typeface="微软雅黑" panose="020B0503020204020204" pitchFamily="34" charset="-122"/>
                      </a:endParaRPr>
                    </a:p>
                  </a:txBody>
                  <a:tcPr/>
                </a:tc>
                <a:tc>
                  <a:txBody>
                    <a:bodyPr/>
                    <a:lstStyle/>
                    <a:p>
                      <a:pPr algn="ct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正</a:t>
                      </a:r>
                      <a:r>
                        <a:rPr lang="en-US" altLang="zh-CN" dirty="0">
                          <a:latin typeface="微软雅黑" panose="020B0503020204020204" pitchFamily="34" charset="-122"/>
                          <a:ea typeface="微软雅黑" panose="020B0503020204020204" pitchFamily="34" charset="-122"/>
                        </a:rPr>
                        <a:t>7</a:t>
                      </a:r>
                      <a:r>
                        <a:rPr lang="zh-CN" altLang="en-US" dirty="0">
                          <a:latin typeface="微软雅黑" panose="020B0503020204020204" pitchFamily="34" charset="-122"/>
                          <a:ea typeface="微软雅黑" panose="020B0503020204020204" pitchFamily="34" charset="-122"/>
                        </a:rPr>
                        <a:t>负</a:t>
                      </a:r>
                    </a:p>
                  </a:txBody>
                  <a:tcPr/>
                </a:tc>
                <a:extLst>
                  <a:ext uri="{0D108BD9-81ED-4DB2-BD59-A6C34878D82A}">
                    <a16:rowId xmlns:a16="http://schemas.microsoft.com/office/drawing/2014/main" val="895141859"/>
                  </a:ext>
                </a:extLst>
              </a:tr>
              <a:tr h="370840">
                <a:tc>
                  <a:txBody>
                    <a:bodyPr/>
                    <a:lstStyle/>
                    <a:p>
                      <a:pPr algn="ctr"/>
                      <a:r>
                        <a:rPr lang="en-US" altLang="zh-CN" dirty="0">
                          <a:latin typeface="微软雅黑" panose="020B0503020204020204" pitchFamily="34" charset="-122"/>
                          <a:ea typeface="微软雅黑" panose="020B0503020204020204" pitchFamily="34" charset="-122"/>
                        </a:rPr>
                        <a:t>2</a:t>
                      </a:r>
                      <a:endParaRPr lang="zh-CN" altLang="en-US" dirty="0">
                        <a:latin typeface="微软雅黑" panose="020B0503020204020204" pitchFamily="34" charset="-122"/>
                        <a:ea typeface="微软雅黑" panose="020B0503020204020204" pitchFamily="34" charset="-122"/>
                      </a:endParaRPr>
                    </a:p>
                  </a:txBody>
                  <a:tcPr/>
                </a:tc>
                <a:tc>
                  <a:txBody>
                    <a:bodyPr/>
                    <a:lstStyle/>
                    <a:p>
                      <a:pPr algn="ct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正</a:t>
                      </a:r>
                      <a:r>
                        <a:rPr lang="en-US" altLang="zh-CN" dirty="0">
                          <a:latin typeface="微软雅黑" panose="020B0503020204020204" pitchFamily="34" charset="-122"/>
                          <a:ea typeface="微软雅黑" panose="020B0503020204020204" pitchFamily="34" charset="-122"/>
                        </a:rPr>
                        <a:t>6</a:t>
                      </a:r>
                      <a:r>
                        <a:rPr lang="zh-CN" altLang="en-US" dirty="0">
                          <a:latin typeface="微软雅黑" panose="020B0503020204020204" pitchFamily="34" charset="-122"/>
                          <a:ea typeface="微软雅黑" panose="020B0503020204020204" pitchFamily="34" charset="-122"/>
                        </a:rPr>
                        <a:t>负</a:t>
                      </a:r>
                    </a:p>
                  </a:txBody>
                  <a:tcPr/>
                </a:tc>
                <a:extLst>
                  <a:ext uri="{0D108BD9-81ED-4DB2-BD59-A6C34878D82A}">
                    <a16:rowId xmlns:a16="http://schemas.microsoft.com/office/drawing/2014/main" val="2227835110"/>
                  </a:ext>
                </a:extLst>
              </a:tr>
              <a:tr h="370840">
                <a:tc>
                  <a:txBody>
                    <a:bodyPr/>
                    <a:lstStyle/>
                    <a:p>
                      <a:pPr algn="ctr"/>
                      <a:r>
                        <a:rPr lang="en-US" altLang="zh-CN" dirty="0">
                          <a:latin typeface="微软雅黑" panose="020B0503020204020204" pitchFamily="34" charset="-122"/>
                          <a:ea typeface="微软雅黑" panose="020B0503020204020204" pitchFamily="34" charset="-122"/>
                        </a:rPr>
                        <a:t>3</a:t>
                      </a:r>
                      <a:endParaRPr lang="zh-CN" altLang="en-US" dirty="0">
                        <a:latin typeface="微软雅黑" panose="020B0503020204020204" pitchFamily="34" charset="-122"/>
                        <a:ea typeface="微软雅黑" panose="020B0503020204020204" pitchFamily="34" charset="-122"/>
                      </a:endParaRPr>
                    </a:p>
                  </a:txBody>
                  <a:tcPr/>
                </a:tc>
                <a:tc>
                  <a:txBody>
                    <a:bodyPr/>
                    <a:lstStyle/>
                    <a:p>
                      <a:pPr marL="0" marR="0" lvl="0" indent="0" algn="ctr" defTabSz="914400" eaLnBrk="1" fontAlgn="base" latinLnBrk="0" hangingPunct="1">
                        <a:lnSpc>
                          <a:spcPct val="100000"/>
                        </a:lnSpc>
                        <a:spcBef>
                          <a:spcPct val="0"/>
                        </a:spcBef>
                        <a:spcAft>
                          <a:spcPct val="0"/>
                        </a:spcAft>
                        <a:buClrTx/>
                        <a:buSzTx/>
                        <a:buFont typeface="Arial" pitchFamily="34" charset="0"/>
                        <a:buNone/>
                        <a:tabLst/>
                        <a:defRPr/>
                      </a:pPr>
                      <a:r>
                        <a:rPr lang="en-US" altLang="zh-CN" dirty="0">
                          <a:latin typeface="微软雅黑" panose="020B0503020204020204" pitchFamily="34" charset="-122"/>
                          <a:ea typeface="微软雅黑" panose="020B0503020204020204" pitchFamily="34" charset="-122"/>
                        </a:rPr>
                        <a:t>7</a:t>
                      </a:r>
                      <a:r>
                        <a:rPr lang="zh-CN" altLang="en-US" dirty="0">
                          <a:latin typeface="微软雅黑" panose="020B0503020204020204" pitchFamily="34" charset="-122"/>
                          <a:ea typeface="微软雅黑" panose="020B0503020204020204" pitchFamily="34" charset="-122"/>
                        </a:rPr>
                        <a:t>正</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负</a:t>
                      </a:r>
                    </a:p>
                  </a:txBody>
                  <a:tcPr/>
                </a:tc>
                <a:extLst>
                  <a:ext uri="{0D108BD9-81ED-4DB2-BD59-A6C34878D82A}">
                    <a16:rowId xmlns:a16="http://schemas.microsoft.com/office/drawing/2014/main" val="1516226644"/>
                  </a:ext>
                </a:extLst>
              </a:tr>
              <a:tr h="370840">
                <a:tc>
                  <a:txBody>
                    <a:bodyPr/>
                    <a:lstStyle/>
                    <a:p>
                      <a:pPr algn="ctr"/>
                      <a:r>
                        <a:rPr lang="en-US" altLang="zh-CN" dirty="0">
                          <a:latin typeface="微软雅黑" panose="020B0503020204020204" pitchFamily="34" charset="-122"/>
                          <a:ea typeface="微软雅黑" panose="020B0503020204020204" pitchFamily="34" charset="-122"/>
                        </a:rPr>
                        <a:t>4</a:t>
                      </a:r>
                      <a:endParaRPr lang="zh-CN" altLang="en-US" dirty="0">
                        <a:latin typeface="微软雅黑" panose="020B0503020204020204" pitchFamily="34" charset="-122"/>
                        <a:ea typeface="微软雅黑" panose="020B0503020204020204" pitchFamily="34" charset="-122"/>
                      </a:endParaRPr>
                    </a:p>
                  </a:txBody>
                  <a:tcPr/>
                </a:tc>
                <a:tc>
                  <a:txBody>
                    <a:bodyPr/>
                    <a:lstStyle/>
                    <a:p>
                      <a:pPr algn="ct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正</a:t>
                      </a:r>
                      <a:r>
                        <a:rPr lang="en-US" altLang="zh-CN" dirty="0">
                          <a:latin typeface="微软雅黑" panose="020B0503020204020204" pitchFamily="34" charset="-122"/>
                          <a:ea typeface="微软雅黑" panose="020B0503020204020204" pitchFamily="34" charset="-122"/>
                        </a:rPr>
                        <a:t>8</a:t>
                      </a:r>
                      <a:r>
                        <a:rPr lang="zh-CN" altLang="en-US" dirty="0">
                          <a:latin typeface="微软雅黑" panose="020B0503020204020204" pitchFamily="34" charset="-122"/>
                          <a:ea typeface="微软雅黑" panose="020B0503020204020204" pitchFamily="34" charset="-122"/>
                        </a:rPr>
                        <a:t>负</a:t>
                      </a:r>
                    </a:p>
                  </a:txBody>
                  <a:tcPr/>
                </a:tc>
                <a:extLst>
                  <a:ext uri="{0D108BD9-81ED-4DB2-BD59-A6C34878D82A}">
                    <a16:rowId xmlns:a16="http://schemas.microsoft.com/office/drawing/2014/main" val="1770977871"/>
                  </a:ext>
                </a:extLst>
              </a:tr>
              <a:tr h="370840">
                <a:tc>
                  <a:txBody>
                    <a:bodyPr/>
                    <a:lstStyle/>
                    <a:p>
                      <a:pPr algn="ctr"/>
                      <a:r>
                        <a:rPr lang="en-US" altLang="zh-CN" dirty="0">
                          <a:latin typeface="微软雅黑" panose="020B0503020204020204" pitchFamily="34" charset="-122"/>
                          <a:ea typeface="微软雅黑" panose="020B0503020204020204" pitchFamily="34" charset="-122"/>
                        </a:rPr>
                        <a:t>5</a:t>
                      </a:r>
                      <a:endParaRPr lang="zh-CN" altLang="en-US" dirty="0">
                        <a:latin typeface="微软雅黑" panose="020B0503020204020204" pitchFamily="34" charset="-122"/>
                        <a:ea typeface="微软雅黑" panose="020B0503020204020204" pitchFamily="34" charset="-122"/>
                      </a:endParaRPr>
                    </a:p>
                  </a:txBody>
                  <a:tcPr/>
                </a:tc>
                <a:tc>
                  <a:txBody>
                    <a:bodyPr/>
                    <a:lstStyle/>
                    <a:p>
                      <a:pPr marL="0" marR="0" lvl="0" indent="0" algn="ctr" defTabSz="914400" eaLnBrk="1" fontAlgn="base" latinLnBrk="0" hangingPunct="1">
                        <a:lnSpc>
                          <a:spcPct val="100000"/>
                        </a:lnSpc>
                        <a:spcBef>
                          <a:spcPct val="0"/>
                        </a:spcBef>
                        <a:spcAft>
                          <a:spcPct val="0"/>
                        </a:spcAft>
                        <a:buClrTx/>
                        <a:buSzTx/>
                        <a:buFont typeface="Arial" pitchFamily="34" charset="0"/>
                        <a:buNone/>
                        <a:tabLst/>
                        <a:defRPr/>
                      </a:pPr>
                      <a:r>
                        <a:rPr lang="en-US" altLang="zh-CN" dirty="0">
                          <a:latin typeface="微软雅黑" panose="020B0503020204020204" pitchFamily="34" charset="-122"/>
                          <a:ea typeface="微软雅黑" panose="020B0503020204020204" pitchFamily="34" charset="-122"/>
                        </a:rPr>
                        <a:t>7</a:t>
                      </a:r>
                      <a:r>
                        <a:rPr lang="zh-CN" altLang="en-US" dirty="0">
                          <a:latin typeface="微软雅黑" panose="020B0503020204020204" pitchFamily="34" charset="-122"/>
                          <a:ea typeface="微软雅黑" panose="020B0503020204020204" pitchFamily="34" charset="-122"/>
                        </a:rPr>
                        <a:t>正</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负</a:t>
                      </a:r>
                    </a:p>
                  </a:txBody>
                  <a:tcPr/>
                </a:tc>
                <a:extLst>
                  <a:ext uri="{0D108BD9-81ED-4DB2-BD59-A6C34878D82A}">
                    <a16:rowId xmlns:a16="http://schemas.microsoft.com/office/drawing/2014/main" val="854932070"/>
                  </a:ext>
                </a:extLst>
              </a:tr>
            </a:tbl>
          </a:graphicData>
        </a:graphic>
      </p:graphicFrame>
    </p:spTree>
    <p:extLst>
      <p:ext uri="{BB962C8B-B14F-4D97-AF65-F5344CB8AC3E}">
        <p14:creationId xmlns:p14="http://schemas.microsoft.com/office/powerpoint/2010/main" val="40509452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47</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en-US" altLang="zh-CN" sz="3200" dirty="0">
                <a:latin typeface="微软雅黑" panose="020B0503020204020204" pitchFamily="34" charset="-122"/>
                <a:ea typeface="微软雅黑" panose="020B0503020204020204" pitchFamily="34" charset="-122"/>
                <a:cs typeface="Times New Roman" panose="02020603050405020304" pitchFamily="18" charset="0"/>
              </a:rPr>
              <a:t>EM</a:t>
            </a:r>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算法</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96B97EB8-671F-2DD6-D687-E431680C58CC}"/>
                  </a:ext>
                </a:extLst>
              </p:cNvPr>
              <p:cNvSpPr txBox="1"/>
              <p:nvPr/>
            </p:nvSpPr>
            <p:spPr>
              <a:xfrm>
                <a:off x="162560" y="1245067"/>
                <a:ext cx="8675814" cy="989823"/>
              </a:xfrm>
              <a:prstGeom prst="rect">
                <a:avLst/>
              </a:prstGeom>
              <a:noFill/>
            </p:spPr>
            <p:txBody>
              <a:bodyPr wrap="square">
                <a:spAutoFit/>
              </a:bodyPr>
              <a:lstStyle/>
              <a:p>
                <a:pPr lvl="0" algn="just">
                  <a:lnSpc>
                    <a:spcPct val="150000"/>
                  </a:lnSpc>
                  <a:defRPr/>
                </a:pPr>
                <a:endParaRPr kumimoji="0" lang="en-US" altLang="zh-CN" sz="5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defRPr/>
                </a:pPr>
                <a:r>
                  <a:rPr lang="en-US"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EM</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算法的思路</a:t>
                </a:r>
                <a:r>
                  <a:rPr lang="zh-CN" altLang="en-US"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：先初始化</a:t>
                </a:r>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zh-CN" altLang="en-US" b="0" i="1" smtClean="0">
                            <a:solidFill>
                              <a:schemeClr val="tx1"/>
                            </a:solidFill>
                            <a:latin typeface="Cambria Math" panose="02040503050406030204" pitchFamily="18" charset="0"/>
                          </a:rPr>
                          <m:t>𝜃</m:t>
                        </m:r>
                      </m:e>
                      <m:sub>
                        <m:r>
                          <a:rPr lang="en-US" altLang="zh-CN" b="0" i="1" smtClean="0">
                            <a:solidFill>
                              <a:schemeClr val="tx1"/>
                            </a:solidFill>
                            <a:latin typeface="Cambria Math" panose="02040503050406030204" pitchFamily="18" charset="0"/>
                          </a:rPr>
                          <m:t>𝐴</m:t>
                        </m:r>
                      </m:sub>
                    </m:sSub>
                  </m:oMath>
                </a14:m>
                <a:r>
                  <a:rPr kumimoji="0" lang="zh-CN" altLang="en-US" sz="1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和</a:t>
                </a:r>
                <a14:m>
                  <m:oMath xmlns:m="http://schemas.openxmlformats.org/officeDocument/2006/math">
                    <m:sSub>
                      <m:sSubPr>
                        <m:ctrlPr>
                          <a:rPr lang="en-US" altLang="zh-CN" i="1">
                            <a:solidFill>
                              <a:schemeClr val="tx1"/>
                            </a:solidFill>
                            <a:latin typeface="Cambria Math" panose="02040503050406030204" pitchFamily="18" charset="0"/>
                          </a:rPr>
                        </m:ctrlPr>
                      </m:sSubPr>
                      <m:e>
                        <m:r>
                          <a:rPr lang="zh-CN" altLang="en-US" b="0" i="1">
                            <a:solidFill>
                              <a:schemeClr val="tx1"/>
                            </a:solidFill>
                            <a:latin typeface="Cambria Math" panose="02040503050406030204" pitchFamily="18" charset="0"/>
                          </a:rPr>
                          <m:t>𝜃</m:t>
                        </m:r>
                      </m:e>
                      <m:sub>
                        <m:r>
                          <a:rPr lang="en-US" altLang="zh-CN" b="0" i="1" smtClean="0">
                            <a:solidFill>
                              <a:schemeClr val="tx1"/>
                            </a:solidFill>
                            <a:latin typeface="Cambria Math" panose="02040503050406030204" pitchFamily="18" charset="0"/>
                          </a:rPr>
                          <m:t>𝐵</m:t>
                        </m:r>
                      </m:sub>
                    </m:sSub>
                  </m:oMath>
                </a14:m>
                <a:r>
                  <a:rPr kumimoji="0" lang="zh-CN" altLang="en-US" sz="1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，估计</a:t>
                </a:r>
                <a:r>
                  <a:rPr lang="zh-CN" altLang="en-US"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隐变量</a:t>
                </a:r>
                <a14:m>
                  <m:oMath xmlns:m="http://schemas.openxmlformats.org/officeDocument/2006/math">
                    <m:d>
                      <m:dPr>
                        <m:begChr m:val="{"/>
                        <m:endChr m:val="}"/>
                        <m:ctrlPr>
                          <a:rPr lang="en-US" altLang="zh-CN" i="1">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i="1">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0" i="1">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t>𝑧</m:t>
                            </m:r>
                          </m:e>
                          <m:sub>
                            <m:r>
                              <a:rPr lang="en-US" altLang="zh-CN" b="0" i="1">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t>𝑡</m:t>
                            </m:r>
                          </m:sub>
                        </m:sSub>
                      </m:e>
                    </m:d>
                  </m:oMath>
                </a14:m>
                <a:r>
                  <a:rPr kumimoji="0" lang="zh-CN" altLang="en-US" sz="1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并计算各关键变量关于隐性变量的期望，之后用最大似然估计更新</a:t>
                </a:r>
                <a14:m>
                  <m:oMath xmlns:m="http://schemas.openxmlformats.org/officeDocument/2006/math">
                    <m:sSub>
                      <m:sSubPr>
                        <m:ctrlPr>
                          <a:rPr lang="en-US" altLang="zh-CN" i="1">
                            <a:solidFill>
                              <a:schemeClr val="tx1"/>
                            </a:solidFill>
                            <a:latin typeface="Cambria Math" panose="02040503050406030204" pitchFamily="18" charset="0"/>
                          </a:rPr>
                        </m:ctrlPr>
                      </m:sSubPr>
                      <m:e>
                        <m:r>
                          <a:rPr lang="zh-CN" altLang="en-US" b="0" i="1">
                            <a:solidFill>
                              <a:schemeClr val="tx1"/>
                            </a:solidFill>
                            <a:latin typeface="Cambria Math" panose="02040503050406030204" pitchFamily="18" charset="0"/>
                          </a:rPr>
                          <m:t>𝜃</m:t>
                        </m:r>
                      </m:e>
                      <m:sub>
                        <m:r>
                          <a:rPr lang="en-US" altLang="zh-CN" b="0" i="1">
                            <a:solidFill>
                              <a:schemeClr val="tx1"/>
                            </a:solidFill>
                            <a:latin typeface="Cambria Math" panose="02040503050406030204" pitchFamily="18" charset="0"/>
                          </a:rPr>
                          <m:t>𝐴</m:t>
                        </m:r>
                      </m:sub>
                    </m:sSub>
                  </m:oMath>
                </a14:m>
                <a:r>
                  <a:rPr lang="zh-CN" altLang="en-US"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和</a:t>
                </a:r>
                <a14:m>
                  <m:oMath xmlns:m="http://schemas.openxmlformats.org/officeDocument/2006/math">
                    <m:sSub>
                      <m:sSubPr>
                        <m:ctrlPr>
                          <a:rPr lang="en-US" altLang="zh-CN" i="1">
                            <a:solidFill>
                              <a:schemeClr val="tx1"/>
                            </a:solidFill>
                            <a:latin typeface="Cambria Math" panose="02040503050406030204" pitchFamily="18" charset="0"/>
                          </a:rPr>
                        </m:ctrlPr>
                      </m:sSubPr>
                      <m:e>
                        <m:r>
                          <a:rPr lang="zh-CN" altLang="en-US" b="0" i="1">
                            <a:solidFill>
                              <a:schemeClr val="tx1"/>
                            </a:solidFill>
                            <a:latin typeface="Cambria Math" panose="02040503050406030204" pitchFamily="18" charset="0"/>
                          </a:rPr>
                          <m:t>𝜃</m:t>
                        </m:r>
                      </m:e>
                      <m:sub>
                        <m:r>
                          <a:rPr lang="en-US" altLang="zh-CN" b="0" i="1">
                            <a:solidFill>
                              <a:schemeClr val="tx1"/>
                            </a:solidFill>
                            <a:latin typeface="Cambria Math" panose="02040503050406030204" pitchFamily="18" charset="0"/>
                          </a:rPr>
                          <m:t>𝐵</m:t>
                        </m:r>
                      </m:sub>
                    </m:sSub>
                  </m:oMath>
                </a14:m>
                <a:r>
                  <a:rPr kumimoji="0" lang="zh-CN" altLang="en-US" sz="1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，不断迭代直至收敛。</a:t>
                </a:r>
                <a:endParaRPr kumimoji="0" lang="en-US" altLang="zh-CN" sz="1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96B97EB8-671F-2DD6-D687-E431680C58CC}"/>
                  </a:ext>
                </a:extLst>
              </p:cNvPr>
              <p:cNvSpPr txBox="1">
                <a:spLocks noRot="1" noChangeAspect="1" noMove="1" noResize="1" noEditPoints="1" noAdjustHandles="1" noChangeArrowheads="1" noChangeShapeType="1" noTextEdit="1"/>
              </p:cNvSpPr>
              <p:nvPr/>
            </p:nvSpPr>
            <p:spPr>
              <a:xfrm>
                <a:off x="162560" y="1245067"/>
                <a:ext cx="8675814" cy="989823"/>
              </a:xfrm>
              <a:prstGeom prst="rect">
                <a:avLst/>
              </a:prstGeom>
              <a:blipFill>
                <a:blip r:embed="rId3"/>
                <a:stretch>
                  <a:fillRect l="-632" r="-562" b="-85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2EDA6233-D391-4563-B192-B770BF565CBD}"/>
                  </a:ext>
                </a:extLst>
              </p:cNvPr>
              <p:cNvSpPr txBox="1"/>
              <p:nvPr/>
            </p:nvSpPr>
            <p:spPr>
              <a:xfrm>
                <a:off x="385666" y="2766162"/>
                <a:ext cx="8229601" cy="3367397"/>
              </a:xfrm>
              <a:prstGeom prst="rect">
                <a:avLst/>
              </a:prstGeom>
              <a:noFill/>
            </p:spPr>
            <p:txBody>
              <a:bodyPr wrap="square">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EM</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算法包含两个步骤</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defRPr/>
                </a:pPr>
                <a:r>
                  <a:rPr lang="en-US"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E</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 步</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（期望步）：根据数据、模型和当前参数，估计</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隐性变量分布，并计算各关键变量关于隐性变量的期望</a:t>
                </a:r>
                <a:endParaRPr lang="en-US"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defRPr/>
                </a:pPr>
                <a:r>
                  <a:rPr lang="zh-CN" altLang="en-US"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即</a:t>
                </a:r>
                <a:r>
                  <a:rPr lang="zh-CN" altLang="en-US"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每次选择哪枚硬币</a:t>
                </a:r>
                <a14:m>
                  <m:oMath xmlns:m="http://schemas.openxmlformats.org/officeDocument/2006/math">
                    <m:sSub>
                      <m:sSubPr>
                        <m:ctrlPr>
                          <a:rPr kumimoji="0" lang="en-US" altLang="zh-CN" sz="1800" b="0" i="1" u="none" strike="noStrike" kern="1200" cap="none" spc="0" normalizeH="0" baseline="0" noProof="0" smtClean="0">
                            <a:ln>
                              <a:noFill/>
                            </a:ln>
                            <a:solidFill>
                              <a:schemeClr val="tx1">
                                <a:lumMod val="95000"/>
                                <a:lumOff val="5000"/>
                              </a:schemeClr>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0" i="1" u="none" strike="noStrike" kern="1200" cap="none" spc="0" normalizeH="0" baseline="0" noProof="0" smtClean="0">
                            <a:ln>
                              <a:noFill/>
                            </a:ln>
                            <a:solidFill>
                              <a:schemeClr val="tx1">
                                <a:lumMod val="95000"/>
                                <a:lumOff val="5000"/>
                              </a:schemeClr>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𝑧</m:t>
                        </m:r>
                      </m:e>
                      <m:sub>
                        <m:r>
                          <a:rPr kumimoji="0" lang="en-US" altLang="zh-CN" sz="1800" b="0" i="1" u="none" strike="noStrike" kern="1200" cap="none" spc="0" normalizeH="0" baseline="0" noProof="0" smtClean="0">
                            <a:ln>
                              <a:noFill/>
                            </a:ln>
                            <a:solidFill>
                              <a:schemeClr val="tx1">
                                <a:lumMod val="95000"/>
                                <a:lumOff val="5000"/>
                              </a:schemeClr>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m:t>
                        </m:r>
                      </m:sub>
                    </m:sSub>
                    <m:r>
                      <a:rPr kumimoji="0" lang="en-US" altLang="zh-CN" sz="1800" b="0" i="1" u="none" strike="noStrike" kern="1200" cap="none" spc="0" normalizeH="0" baseline="0" noProof="0" smtClean="0">
                        <a:ln>
                          <a:noFill/>
                        </a:ln>
                        <a:solidFill>
                          <a:schemeClr val="tx1">
                            <a:lumMod val="95000"/>
                            <a:lumOff val="5000"/>
                          </a:schemeClr>
                        </a:solidFill>
                        <a:effectLst/>
                        <a:uLnTx/>
                        <a:uFillTx/>
                        <a:latin typeface="Cambria Math" panose="02040503050406030204" pitchFamily="18" charset="0"/>
                        <a:ea typeface="微软雅黑" panose="020B0503020204020204" pitchFamily="34" charset="-122"/>
                        <a:cs typeface="Times New Roman" panose="02020603050405020304" pitchFamily="18" charset="0"/>
                      </a:rPr>
                      <m:t> </m:t>
                    </m:r>
                  </m:oMath>
                </a14:m>
                <a:r>
                  <a:rPr lang="zh-CN" altLang="en-US"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，以及在该情况下，</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硬币</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和硬币</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B</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正反的</a:t>
                </a:r>
                <a:r>
                  <a:rPr lang="zh-CN" altLang="en-US" dirty="0">
                    <a:latin typeface="微软雅黑" panose="020B0503020204020204" pitchFamily="34" charset="-122"/>
                    <a:ea typeface="微软雅黑" panose="020B0503020204020204" pitchFamily="34" charset="-122"/>
                  </a:rPr>
                  <a:t>期望次数</a:t>
                </a:r>
                <a:r>
                  <a:rPr lang="zh-CN" altLang="en-US"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defRPr/>
                </a:pPr>
                <a:endParaRPr lang="en-US" altLang="zh-CN"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M</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步</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（最大化步） </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：在给定的隐性变量及有关期望下，计算使极大似然估计函数取值最大的</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参数</a:t>
                </a:r>
                <a:endPar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（即硬币</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和硬币</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的正面概率</a:t>
                </a:r>
                <a14:m>
                  <m:oMath xmlns:m="http://schemas.openxmlformats.org/officeDocument/2006/math">
                    <m:sSub>
                      <m:sSubPr>
                        <m:ctrlPr>
                          <a:rPr lang="en-US" altLang="zh-CN" i="1" smtClean="0">
                            <a:latin typeface="Cambria Math" panose="02040503050406030204" pitchFamily="18" charset="0"/>
                          </a:rPr>
                        </m:ctrlPr>
                      </m:sSubPr>
                      <m:e>
                        <m:r>
                          <a:rPr lang="zh-CN" altLang="en-US" i="1" smtClean="0">
                            <a:latin typeface="Cambria Math" panose="02040503050406030204" pitchFamily="18" charset="0"/>
                          </a:rPr>
                          <m:t>𝜃</m:t>
                        </m:r>
                      </m:e>
                      <m:sub>
                        <m:r>
                          <a:rPr lang="en-US" altLang="zh-CN" b="0" i="1" smtClean="0">
                            <a:latin typeface="Cambria Math" panose="02040503050406030204" pitchFamily="18" charset="0"/>
                          </a:rPr>
                          <m:t>𝐴</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和</a:t>
                </a:r>
                <a14:m>
                  <m:oMath xmlns:m="http://schemas.openxmlformats.org/officeDocument/2006/math">
                    <m:sSub>
                      <m:sSubPr>
                        <m:ctrlPr>
                          <a:rPr lang="en-US" altLang="zh-CN" i="1">
                            <a:latin typeface="Cambria Math" panose="02040503050406030204" pitchFamily="18" charset="0"/>
                          </a:rPr>
                        </m:ctrlPr>
                      </m:sSubPr>
                      <m:e>
                        <m:r>
                          <a:rPr lang="zh-CN" altLang="en-US" i="1">
                            <a:latin typeface="Cambria Math" panose="02040503050406030204" pitchFamily="18" charset="0"/>
                          </a:rPr>
                          <m:t>𝜃</m:t>
                        </m:r>
                      </m:e>
                      <m:sub>
                        <m:r>
                          <a:rPr lang="en-US" altLang="zh-CN" b="0" i="1" smtClean="0">
                            <a:latin typeface="Cambria Math" panose="02040503050406030204" pitchFamily="18" charset="0"/>
                          </a:rPr>
                          <m:t>𝐵</m:t>
                        </m:r>
                      </m:sub>
                    </m:sSub>
                    <m:r>
                      <a:rPr lang="en-US" altLang="zh-CN" b="0" i="1" smtClean="0">
                        <a:latin typeface="Cambria Math" panose="02040503050406030204" pitchFamily="18" charset="0"/>
                      </a:rPr>
                      <m:t> </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10" name="文本框 9">
                <a:extLst>
                  <a:ext uri="{FF2B5EF4-FFF2-40B4-BE49-F238E27FC236}">
                    <a16:creationId xmlns:a16="http://schemas.microsoft.com/office/drawing/2014/main" id="{2EDA6233-D391-4563-B192-B770BF565CBD}"/>
                  </a:ext>
                </a:extLst>
              </p:cNvPr>
              <p:cNvSpPr txBox="1">
                <a:spLocks noRot="1" noChangeAspect="1" noMove="1" noResize="1" noEditPoints="1" noAdjustHandles="1" noChangeArrowheads="1" noChangeShapeType="1" noTextEdit="1"/>
              </p:cNvSpPr>
              <p:nvPr/>
            </p:nvSpPr>
            <p:spPr>
              <a:xfrm>
                <a:off x="385666" y="2766162"/>
                <a:ext cx="8229601" cy="3367397"/>
              </a:xfrm>
              <a:prstGeom prst="rect">
                <a:avLst/>
              </a:prstGeom>
              <a:blipFill>
                <a:blip r:embed="rId4"/>
                <a:stretch>
                  <a:fillRect l="-593" r="-667" b="-1993"/>
                </a:stretch>
              </a:blipFill>
            </p:spPr>
            <p:txBody>
              <a:bodyPr/>
              <a:lstStyle/>
              <a:p>
                <a:r>
                  <a:rPr lang="zh-CN" altLang="en-US">
                    <a:noFill/>
                  </a:rPr>
                  <a:t> </a:t>
                </a:r>
              </a:p>
            </p:txBody>
          </p:sp>
        </mc:Fallback>
      </mc:AlternateContent>
      <p:sp>
        <p:nvSpPr>
          <p:cNvPr id="6" name="矩形 5">
            <a:extLst>
              <a:ext uri="{FF2B5EF4-FFF2-40B4-BE49-F238E27FC236}">
                <a16:creationId xmlns:a16="http://schemas.microsoft.com/office/drawing/2014/main" id="{0776A36B-34D7-44AD-B541-E6FDB4553089}"/>
              </a:ext>
            </a:extLst>
          </p:cNvPr>
          <p:cNvSpPr/>
          <p:nvPr/>
        </p:nvSpPr>
        <p:spPr>
          <a:xfrm>
            <a:off x="295275" y="2766161"/>
            <a:ext cx="8415337" cy="336739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315432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48</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en-US" altLang="zh-CN" sz="3200" dirty="0">
                <a:latin typeface="微软雅黑" panose="020B0503020204020204" pitchFamily="34" charset="-122"/>
                <a:ea typeface="微软雅黑" panose="020B0503020204020204" pitchFamily="34" charset="-122"/>
                <a:cs typeface="Times New Roman" panose="02020603050405020304" pitchFamily="18" charset="0"/>
              </a:rPr>
              <a:t>EM</a:t>
            </a:r>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算法</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96B97EB8-671F-2DD6-D687-E431680C58CC}"/>
                  </a:ext>
                </a:extLst>
              </p:cNvPr>
              <p:cNvSpPr txBox="1"/>
              <p:nvPr/>
            </p:nvSpPr>
            <p:spPr>
              <a:xfrm>
                <a:off x="162560" y="1245067"/>
                <a:ext cx="8675814" cy="2120902"/>
              </a:xfrm>
              <a:prstGeom prst="rect">
                <a:avLst/>
              </a:prstGeom>
              <a:noFill/>
            </p:spPr>
            <p:txBody>
              <a:bodyPr wrap="square">
                <a:spAutoFit/>
              </a:bodyPr>
              <a:lstStyle/>
              <a:p>
                <a:pPr lvl="0" algn="just">
                  <a:lnSpc>
                    <a:spcPct val="150000"/>
                  </a:lnSpc>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用</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EM</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算法解决上述问题，需要通过多轮迭代。初始化</a:t>
                </a:r>
                <a14:m>
                  <m:oMath xmlns:m="http://schemas.openxmlformats.org/officeDocument/2006/math">
                    <m:sSub>
                      <m:sSubPr>
                        <m:ctrlPr>
                          <a:rPr lang="en-US" altLang="zh-CN" i="1">
                            <a:latin typeface="Cambria Math" panose="02040503050406030204" pitchFamily="18" charset="0"/>
                          </a:rPr>
                        </m:ctrlPr>
                      </m:sSubPr>
                      <m:e>
                        <m:r>
                          <a:rPr lang="zh-CN" altLang="en-US" i="1">
                            <a:latin typeface="Cambria Math" panose="02040503050406030204" pitchFamily="18" charset="0"/>
                          </a:rPr>
                          <m:t>𝜃</m:t>
                        </m:r>
                      </m:e>
                      <m:sub>
                        <m:r>
                          <a:rPr lang="en-US" altLang="zh-CN" i="1">
                            <a:latin typeface="Cambria Math" panose="02040503050406030204" pitchFamily="18" charset="0"/>
                          </a:rPr>
                          <m:t>𝐴</m:t>
                        </m:r>
                      </m:sub>
                    </m:sSub>
                    <m:r>
                      <a:rPr lang="en-US" altLang="zh-CN" b="0" i="1" smtClean="0">
                        <a:latin typeface="Cambria Math" panose="02040503050406030204" pitchFamily="18" charset="0"/>
                      </a:rPr>
                      <m:t>=0.4</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和</a:t>
                </a:r>
                <a14:m>
                  <m:oMath xmlns:m="http://schemas.openxmlformats.org/officeDocument/2006/math">
                    <m:sSub>
                      <m:sSubPr>
                        <m:ctrlPr>
                          <a:rPr lang="en-US" altLang="zh-CN" i="1">
                            <a:latin typeface="Cambria Math" panose="02040503050406030204" pitchFamily="18" charset="0"/>
                          </a:rPr>
                        </m:ctrlPr>
                      </m:sSubPr>
                      <m:e>
                        <m:r>
                          <a:rPr lang="zh-CN" altLang="en-US" i="1">
                            <a:latin typeface="Cambria Math" panose="02040503050406030204" pitchFamily="18" charset="0"/>
                          </a:rPr>
                          <m:t>𝜃</m:t>
                        </m:r>
                      </m:e>
                      <m:sub>
                        <m:r>
                          <a:rPr lang="en-US" altLang="zh-CN" i="1">
                            <a:latin typeface="Cambria Math" panose="02040503050406030204" pitchFamily="18" charset="0"/>
                          </a:rPr>
                          <m:t>𝐵</m:t>
                        </m:r>
                      </m:sub>
                    </m:sSub>
                    <m:r>
                      <a:rPr lang="en-US" altLang="zh-CN" b="0" i="1" smtClean="0">
                        <a:latin typeface="Cambria Math" panose="02040503050406030204" pitchFamily="18" charset="0"/>
                      </a:rPr>
                      <m:t>=0.6</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，下面将不断更新这两个概率</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。以第</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轮迭代的实验</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为例，</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首先进行</a:t>
                </a:r>
                <a:r>
                  <a:rPr lang="en-US"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E</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 步</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（期望步）的计算，即（</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）估计隐性变量</a:t>
                </a:r>
                <a14:m>
                  <m:oMath xmlns:m="http://schemas.openxmlformats.org/officeDocument/2006/math">
                    <m:sSub>
                      <m:sSubPr>
                        <m:ctrlPr>
                          <a:rPr lang="en-US" altLang="zh-CN" b="1" i="1">
                            <a:solidFill>
                              <a:srgbClr val="C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i="1">
                            <a:solidFill>
                              <a:srgbClr val="C00000"/>
                            </a:solidFill>
                            <a:latin typeface="Cambria Math" panose="02040503050406030204" pitchFamily="18" charset="0"/>
                            <a:ea typeface="微软雅黑" panose="020B0503020204020204" pitchFamily="34" charset="-122"/>
                            <a:cs typeface="Times New Roman" panose="02020603050405020304" pitchFamily="18" charset="0"/>
                          </a:rPr>
                          <m:t>𝒛</m:t>
                        </m:r>
                      </m:e>
                      <m:sub>
                        <m:r>
                          <a:rPr lang="en-US" altLang="zh-CN" b="1" i="1">
                            <a:solidFill>
                              <a:srgbClr val="C00000"/>
                            </a:solidFill>
                            <a:latin typeface="Cambria Math" panose="02040503050406030204" pitchFamily="18" charset="0"/>
                            <a:ea typeface="微软雅黑" panose="020B0503020204020204" pitchFamily="34" charset="-122"/>
                            <a:cs typeface="Times New Roman" panose="02020603050405020304" pitchFamily="18" charset="0"/>
                          </a:rPr>
                          <m:t>𝒕</m:t>
                        </m:r>
                      </m:sub>
                    </m:sSub>
                    <m:r>
                      <a:rPr lang="en-US" altLang="zh-CN" b="1" i="1">
                        <a:solidFill>
                          <a:srgbClr val="C00000"/>
                        </a:solidFill>
                        <a:latin typeface="Cambria Math" panose="02040503050406030204" pitchFamily="18" charset="0"/>
                        <a:ea typeface="微软雅黑" panose="020B0503020204020204" pitchFamily="34" charset="-122"/>
                        <a:cs typeface="Times New Roman" panose="02020603050405020304" pitchFamily="18" charset="0"/>
                      </a:rPr>
                      <m:t> </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96B97EB8-671F-2DD6-D687-E431680C58CC}"/>
                  </a:ext>
                </a:extLst>
              </p:cNvPr>
              <p:cNvSpPr txBox="1">
                <a:spLocks noRot="1" noChangeAspect="1" noMove="1" noResize="1" noEditPoints="1" noAdjustHandles="1" noChangeArrowheads="1" noChangeShapeType="1" noTextEdit="1"/>
              </p:cNvSpPr>
              <p:nvPr/>
            </p:nvSpPr>
            <p:spPr>
              <a:xfrm>
                <a:off x="162560" y="1245067"/>
                <a:ext cx="8675814" cy="2120902"/>
              </a:xfrm>
              <a:prstGeom prst="rect">
                <a:avLst/>
              </a:prstGeom>
              <a:blipFill>
                <a:blip r:embed="rId3"/>
                <a:stretch>
                  <a:fillRect l="-632" r="-56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2205AD9B-4335-4E0D-9E16-B93071975925}"/>
                  </a:ext>
                </a:extLst>
              </p:cNvPr>
              <p:cNvSpPr/>
              <p:nvPr/>
            </p:nvSpPr>
            <p:spPr>
              <a:xfrm>
                <a:off x="278174" y="2360792"/>
                <a:ext cx="8478076" cy="891141"/>
              </a:xfrm>
              <a:prstGeom prst="rect">
                <a:avLst/>
              </a:prstGeom>
            </p:spPr>
            <p:txBody>
              <a:bodyPr wrap="square">
                <a:spAutoFit/>
              </a:bodyPr>
              <a:lstStyle/>
              <a:p>
                <a:pPr lvl="0" algn="just">
                  <a:lnSpc>
                    <a:spcPct val="150000"/>
                  </a:lnSpc>
                  <a:defRPr/>
                </a:pPr>
                <a14:m>
                  <m:oMathPara xmlns:m="http://schemas.openxmlformats.org/officeDocument/2006/math">
                    <m:oMathParaPr>
                      <m:jc m:val="left"/>
                    </m:oMathParaPr>
                    <m:oMath xmlns:m="http://schemas.openxmlformats.org/officeDocument/2006/math">
                      <m:r>
                        <a:rPr lang="en-US" altLang="zh-CN" sz="1600" i="1" smtClean="0">
                          <a:latin typeface="Cambria Math" panose="02040503050406030204" pitchFamily="18" charset="0"/>
                        </a:rPr>
                        <m:t>𝑃</m:t>
                      </m:r>
                      <m:d>
                        <m:dPr>
                          <m:ctrlPr>
                            <a:rPr lang="en-US" altLang="zh-CN" sz="1600" i="1" smtClean="0">
                              <a:latin typeface="Cambria Math" panose="02040503050406030204" pitchFamily="18" charset="0"/>
                            </a:rPr>
                          </m:ctrlPr>
                        </m:dPr>
                        <m:e>
                          <m:r>
                            <a:rPr lang="zh-CN" altLang="en-US" sz="1600" i="1">
                              <a:latin typeface="Cambria Math" panose="02040503050406030204" pitchFamily="18" charset="0"/>
                            </a:rPr>
                            <m:t>选</m:t>
                          </m:r>
                          <m:r>
                            <a:rPr lang="en-US" altLang="zh-CN" sz="1600" i="1">
                              <a:latin typeface="Cambria Math" panose="02040503050406030204" pitchFamily="18" charset="0"/>
                            </a:rPr>
                            <m:t>𝐴</m:t>
                          </m:r>
                        </m:e>
                        <m:e>
                          <m:r>
                            <a:rPr lang="zh-CN" altLang="en-US" sz="1600" i="1">
                              <a:latin typeface="Cambria Math" panose="02040503050406030204" pitchFamily="18" charset="0"/>
                            </a:rPr>
                            <m:t>投掷结果</m:t>
                          </m:r>
                        </m:e>
                      </m:d>
                      <m:r>
                        <a:rPr lang="en-US" altLang="zh-CN" sz="1600" i="1">
                          <a:latin typeface="Cambria Math" panose="02040503050406030204" pitchFamily="18" charset="0"/>
                        </a:rPr>
                        <m:t>=</m:t>
                      </m:r>
                      <m:f>
                        <m:fPr>
                          <m:ctrlPr>
                            <a:rPr lang="en-US" altLang="zh-CN" sz="1600" i="1">
                              <a:latin typeface="Cambria Math" panose="02040503050406030204" pitchFamily="18" charset="0"/>
                            </a:rPr>
                          </m:ctrlPr>
                        </m:fPr>
                        <m:num>
                          <m:r>
                            <a:rPr lang="zh-CN" altLang="en-US" sz="1600" i="1">
                              <a:latin typeface="Cambria Math" panose="02040503050406030204" pitchFamily="18" charset="0"/>
                            </a:rPr>
                            <m:t>𝑃</m:t>
                          </m:r>
                          <m:d>
                            <m:dPr>
                              <m:ctrlPr>
                                <a:rPr lang="en-US" altLang="zh-CN" sz="1600" i="1">
                                  <a:latin typeface="Cambria Math" panose="02040503050406030204" pitchFamily="18" charset="0"/>
                                </a:rPr>
                              </m:ctrlPr>
                            </m:dPr>
                            <m:e>
                              <m:r>
                                <a:rPr lang="zh-CN" altLang="en-US" sz="1600" i="1">
                                  <a:latin typeface="Cambria Math" panose="02040503050406030204" pitchFamily="18" charset="0"/>
                                </a:rPr>
                                <m:t>选</m:t>
                              </m:r>
                              <m:r>
                                <a:rPr lang="zh-CN" altLang="en-US" sz="1600" i="1">
                                  <a:latin typeface="Cambria Math" panose="02040503050406030204" pitchFamily="18" charset="0"/>
                                </a:rPr>
                                <m:t>𝐴</m:t>
                              </m:r>
                              <m:r>
                                <a:rPr lang="en-US" altLang="zh-CN" sz="1600" b="0" i="1" smtClean="0">
                                  <a:latin typeface="Cambria Math" panose="02040503050406030204" pitchFamily="18" charset="0"/>
                                </a:rPr>
                                <m:t>,</m:t>
                              </m:r>
                              <m:r>
                                <a:rPr lang="zh-CN" altLang="en-US" sz="1600" i="1">
                                  <a:latin typeface="Cambria Math" panose="02040503050406030204" pitchFamily="18" charset="0"/>
                                </a:rPr>
                                <m:t>投掷结果</m:t>
                              </m:r>
                            </m:e>
                          </m:d>
                        </m:num>
                        <m:den>
                          <m:r>
                            <a:rPr lang="zh-CN" altLang="en-US" sz="1600" i="1">
                              <a:latin typeface="Cambria Math" panose="02040503050406030204" pitchFamily="18" charset="0"/>
                            </a:rPr>
                            <m:t>𝑃</m:t>
                          </m:r>
                          <m:d>
                            <m:dPr>
                              <m:ctrlPr>
                                <a:rPr lang="en-US" altLang="zh-CN" sz="1600" i="1">
                                  <a:latin typeface="Cambria Math" panose="02040503050406030204" pitchFamily="18" charset="0"/>
                                </a:rPr>
                              </m:ctrlPr>
                            </m:dPr>
                            <m:e>
                              <m:r>
                                <a:rPr lang="zh-CN" altLang="en-US" sz="1600" i="1">
                                  <a:latin typeface="Cambria Math" panose="02040503050406030204" pitchFamily="18" charset="0"/>
                                </a:rPr>
                                <m:t>选</m:t>
                              </m:r>
                              <m:r>
                                <a:rPr lang="zh-CN" altLang="en-US" sz="1600" i="1">
                                  <a:latin typeface="Cambria Math" panose="02040503050406030204" pitchFamily="18" charset="0"/>
                                </a:rPr>
                                <m:t>𝐴</m:t>
                              </m:r>
                              <m:r>
                                <a:rPr lang="en-US" altLang="zh-CN" sz="1600" i="1">
                                  <a:latin typeface="Cambria Math" panose="02040503050406030204" pitchFamily="18" charset="0"/>
                                </a:rPr>
                                <m:t>,</m:t>
                              </m:r>
                              <m:r>
                                <a:rPr lang="zh-CN" altLang="en-US" sz="1600" i="1">
                                  <a:latin typeface="Cambria Math" panose="02040503050406030204" pitchFamily="18" charset="0"/>
                                </a:rPr>
                                <m:t>投掷结果</m:t>
                              </m:r>
                            </m:e>
                          </m:d>
                          <m:r>
                            <a:rPr lang="en-US" altLang="zh-CN" sz="1600" b="0" i="1" smtClean="0">
                              <a:latin typeface="Cambria Math" panose="02040503050406030204" pitchFamily="18" charset="0"/>
                            </a:rPr>
                            <m:t>+</m:t>
                          </m:r>
                          <m:r>
                            <a:rPr lang="zh-CN" altLang="en-US" sz="1600" i="1">
                              <a:latin typeface="Cambria Math" panose="02040503050406030204" pitchFamily="18" charset="0"/>
                            </a:rPr>
                            <m:t>𝑃</m:t>
                          </m:r>
                          <m:d>
                            <m:dPr>
                              <m:ctrlPr>
                                <a:rPr lang="en-US" altLang="zh-CN" sz="1600" i="1">
                                  <a:latin typeface="Cambria Math" panose="02040503050406030204" pitchFamily="18" charset="0"/>
                                </a:rPr>
                              </m:ctrlPr>
                            </m:dPr>
                            <m:e>
                              <m:r>
                                <a:rPr lang="zh-CN" altLang="en-US" sz="1600" i="1">
                                  <a:latin typeface="Cambria Math" panose="02040503050406030204" pitchFamily="18" charset="0"/>
                                </a:rPr>
                                <m:t>选</m:t>
                              </m:r>
                              <m:r>
                                <a:rPr lang="en-US" altLang="zh-CN" sz="1600" b="0" i="1" smtClean="0">
                                  <a:latin typeface="Cambria Math" panose="02040503050406030204" pitchFamily="18" charset="0"/>
                                </a:rPr>
                                <m:t>𝐵</m:t>
                              </m:r>
                              <m:r>
                                <a:rPr lang="en-US" altLang="zh-CN" sz="1600" i="1">
                                  <a:latin typeface="Cambria Math" panose="02040503050406030204" pitchFamily="18" charset="0"/>
                                </a:rPr>
                                <m:t>,</m:t>
                              </m:r>
                              <m:r>
                                <a:rPr lang="zh-CN" altLang="en-US" sz="1600" i="1">
                                  <a:latin typeface="Cambria Math" panose="02040503050406030204" pitchFamily="18" charset="0"/>
                                </a:rPr>
                                <m:t>投掷结果</m:t>
                              </m:r>
                            </m:e>
                          </m:d>
                        </m:den>
                      </m:f>
                    </m:oMath>
                  </m:oMathPara>
                </a14:m>
                <a:endParaRPr lang="en-US" altLang="zh-CN" sz="1600" i="1" dirty="0">
                  <a:latin typeface="Cambria Math" panose="02040503050406030204" pitchFamily="18" charset="0"/>
                </a:endParaRPr>
              </a:p>
            </p:txBody>
          </p:sp>
        </mc:Choice>
        <mc:Fallback xmlns="">
          <p:sp>
            <p:nvSpPr>
              <p:cNvPr id="4" name="矩形 3">
                <a:extLst>
                  <a:ext uri="{FF2B5EF4-FFF2-40B4-BE49-F238E27FC236}">
                    <a16:creationId xmlns:a16="http://schemas.microsoft.com/office/drawing/2014/main" id="{2205AD9B-4335-4E0D-9E16-B93071975925}"/>
                  </a:ext>
                </a:extLst>
              </p:cNvPr>
              <p:cNvSpPr>
                <a:spLocks noRot="1" noChangeAspect="1" noMove="1" noResize="1" noEditPoints="1" noAdjustHandles="1" noChangeArrowheads="1" noChangeShapeType="1" noTextEdit="1"/>
              </p:cNvSpPr>
              <p:nvPr/>
            </p:nvSpPr>
            <p:spPr>
              <a:xfrm>
                <a:off x="278174" y="2360792"/>
                <a:ext cx="8478076" cy="891141"/>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80353DD5-35B5-4CF3-B5B2-7A2EEDE08720}"/>
                  </a:ext>
                </a:extLst>
              </p:cNvPr>
              <p:cNvSpPr/>
              <p:nvPr/>
            </p:nvSpPr>
            <p:spPr>
              <a:xfrm>
                <a:off x="2630518" y="2151217"/>
                <a:ext cx="3005951" cy="369332"/>
              </a:xfrm>
              <a:prstGeom prst="rect">
                <a:avLst/>
              </a:prstGeom>
            </p:spPr>
            <p:txBody>
              <a:bodyPr wrap="none">
                <a:spAutoFit/>
              </a:bodyPr>
              <a:lstStyle/>
              <a:p>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根据贝叶斯定理可以算出</a:t>
                </a:r>
                <a14:m>
                  <m:oMath xmlns:m="http://schemas.openxmlformats.org/officeDocument/2006/math">
                    <m:r>
                      <a:rPr lang="zh-CN" altLang="en-US" i="1">
                        <a:latin typeface="Cambria Math" panose="02040503050406030204" pitchFamily="18" charset="0"/>
                      </a:rPr>
                      <m:t> </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p>
            </p:txBody>
          </p:sp>
        </mc:Choice>
        <mc:Fallback xmlns="">
          <p:sp>
            <p:nvSpPr>
              <p:cNvPr id="7" name="矩形 6">
                <a:extLst>
                  <a:ext uri="{FF2B5EF4-FFF2-40B4-BE49-F238E27FC236}">
                    <a16:creationId xmlns:a16="http://schemas.microsoft.com/office/drawing/2014/main" id="{80353DD5-35B5-4CF3-B5B2-7A2EEDE08720}"/>
                  </a:ext>
                </a:extLst>
              </p:cNvPr>
              <p:cNvSpPr>
                <a:spLocks noRot="1" noChangeAspect="1" noMove="1" noResize="1" noEditPoints="1" noAdjustHandles="1" noChangeArrowheads="1" noChangeShapeType="1" noTextEdit="1"/>
              </p:cNvSpPr>
              <p:nvPr/>
            </p:nvSpPr>
            <p:spPr>
              <a:xfrm>
                <a:off x="2630518" y="2151217"/>
                <a:ext cx="3005951" cy="369332"/>
              </a:xfrm>
              <a:prstGeom prst="rect">
                <a:avLst/>
              </a:prstGeom>
              <a:blipFill>
                <a:blip r:embed="rId5"/>
                <a:stretch>
                  <a:fillRect l="-1826" t="-10000" r="-1217"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997ED1E2-8436-4363-81DE-A7DA8B7D839C}"/>
                  </a:ext>
                </a:extLst>
              </p:cNvPr>
              <p:cNvSpPr/>
              <p:nvPr/>
            </p:nvSpPr>
            <p:spPr>
              <a:xfrm>
                <a:off x="342900" y="2944981"/>
                <a:ext cx="8801100" cy="1032590"/>
              </a:xfrm>
              <a:prstGeom prst="rect">
                <a:avLst/>
              </a:prstGeom>
            </p:spPr>
            <p:txBody>
              <a:bodyPr wrap="square">
                <a:spAutoFit/>
              </a:bodyPr>
              <a:lstStyle/>
              <a:p>
                <a:pPr lvl="0" algn="just">
                  <a:lnSpc>
                    <a:spcPct val="150000"/>
                  </a:lnSpc>
                  <a:defRPr/>
                </a:pPr>
                <a:r>
                  <a:rPr lang="en-US" altLang="zh-CN" sz="1600" dirty="0"/>
                  <a:t>=</a:t>
                </a:r>
                <a14:m>
                  <m:oMath xmlns:m="http://schemas.openxmlformats.org/officeDocument/2006/math">
                    <m:f>
                      <m:fPr>
                        <m:ctrlPr>
                          <a:rPr lang="en-US" altLang="zh-CN" sz="1600" i="1">
                            <a:latin typeface="Cambria Math" panose="02040503050406030204" pitchFamily="18" charset="0"/>
                          </a:rPr>
                        </m:ctrlPr>
                      </m:fPr>
                      <m:num>
                        <m:sSup>
                          <m:sSupPr>
                            <m:ctrlPr>
                              <a:rPr lang="en-US" altLang="zh-CN" sz="1600" i="1">
                                <a:latin typeface="Cambria Math" panose="02040503050406030204" pitchFamily="18" charset="0"/>
                              </a:rPr>
                            </m:ctrlPr>
                          </m:sSupPr>
                          <m:e>
                            <m:sSub>
                              <m:sSubPr>
                                <m:ctrlPr>
                                  <a:rPr lang="en-US" altLang="zh-CN" sz="1600" i="1">
                                    <a:latin typeface="Cambria Math" panose="02040503050406030204" pitchFamily="18" charset="0"/>
                                  </a:rPr>
                                </m:ctrlPr>
                              </m:sSubPr>
                              <m:e>
                                <m:r>
                                  <a:rPr lang="zh-CN" altLang="en-US" sz="1600" i="1">
                                    <a:latin typeface="Cambria Math" panose="02040503050406030204" pitchFamily="18" charset="0"/>
                                  </a:rPr>
                                  <m:t>𝜃</m:t>
                                </m:r>
                              </m:e>
                              <m:sub>
                                <m:r>
                                  <a:rPr lang="en-US" altLang="zh-CN" sz="1600" i="1">
                                    <a:latin typeface="Cambria Math" panose="02040503050406030204" pitchFamily="18" charset="0"/>
                                  </a:rPr>
                                  <m:t>𝐴</m:t>
                                </m:r>
                              </m:sub>
                            </m:sSub>
                          </m:e>
                          <m:sup>
                            <m:r>
                              <a:rPr lang="zh-CN" altLang="en-US" sz="1600" i="1">
                                <a:latin typeface="Cambria Math" panose="02040503050406030204" pitchFamily="18" charset="0"/>
                              </a:rPr>
                              <m:t>正面次数</m:t>
                            </m:r>
                          </m:sup>
                        </m:sSup>
                        <m:r>
                          <a:rPr lang="en-US" altLang="zh-CN" sz="1600" i="1">
                            <a:latin typeface="Cambria Math" panose="02040503050406030204" pitchFamily="18" charset="0"/>
                          </a:rPr>
                          <m:t>×</m:t>
                        </m:r>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(1−</m:t>
                            </m:r>
                            <m:sSub>
                              <m:sSubPr>
                                <m:ctrlPr>
                                  <a:rPr lang="en-US" altLang="zh-CN" sz="1600" i="1">
                                    <a:latin typeface="Cambria Math" panose="02040503050406030204" pitchFamily="18" charset="0"/>
                                  </a:rPr>
                                </m:ctrlPr>
                              </m:sSubPr>
                              <m:e>
                                <m:r>
                                  <a:rPr lang="zh-CN" altLang="en-US" sz="1600" i="1">
                                    <a:latin typeface="Cambria Math" panose="02040503050406030204" pitchFamily="18" charset="0"/>
                                  </a:rPr>
                                  <m:t>𝜃</m:t>
                                </m:r>
                              </m:e>
                              <m:sub>
                                <m:r>
                                  <a:rPr lang="en-US" altLang="zh-CN" sz="1600" i="1">
                                    <a:latin typeface="Cambria Math" panose="02040503050406030204" pitchFamily="18" charset="0"/>
                                  </a:rPr>
                                  <m:t>𝐴</m:t>
                                </m:r>
                              </m:sub>
                            </m:sSub>
                            <m:r>
                              <a:rPr lang="en-US" altLang="zh-CN" sz="1600" i="1">
                                <a:latin typeface="Cambria Math" panose="02040503050406030204" pitchFamily="18" charset="0"/>
                              </a:rPr>
                              <m:t>)</m:t>
                            </m:r>
                          </m:e>
                          <m:sup>
                            <m:r>
                              <a:rPr lang="zh-CN" altLang="en-US" sz="1600" i="1">
                                <a:latin typeface="Cambria Math" panose="02040503050406030204" pitchFamily="18" charset="0"/>
                              </a:rPr>
                              <m:t>反面次数</m:t>
                            </m:r>
                          </m:sup>
                        </m:sSup>
                      </m:num>
                      <m:den>
                        <m:sSup>
                          <m:sSupPr>
                            <m:ctrlPr>
                              <a:rPr lang="en-US" altLang="zh-CN" sz="1600" i="1">
                                <a:latin typeface="Cambria Math" panose="02040503050406030204" pitchFamily="18" charset="0"/>
                              </a:rPr>
                            </m:ctrlPr>
                          </m:sSupPr>
                          <m:e>
                            <m:sSub>
                              <m:sSubPr>
                                <m:ctrlPr>
                                  <a:rPr lang="en-US" altLang="zh-CN" sz="1600" i="1">
                                    <a:latin typeface="Cambria Math" panose="02040503050406030204" pitchFamily="18" charset="0"/>
                                  </a:rPr>
                                </m:ctrlPr>
                              </m:sSubPr>
                              <m:e>
                                <m:r>
                                  <a:rPr lang="zh-CN" altLang="en-US" sz="1600" i="1">
                                    <a:latin typeface="Cambria Math" panose="02040503050406030204" pitchFamily="18" charset="0"/>
                                  </a:rPr>
                                  <m:t>𝜃</m:t>
                                </m:r>
                              </m:e>
                              <m:sub>
                                <m:r>
                                  <a:rPr lang="en-US" altLang="zh-CN" sz="1600" i="1">
                                    <a:latin typeface="Cambria Math" panose="02040503050406030204" pitchFamily="18" charset="0"/>
                                  </a:rPr>
                                  <m:t>𝐴</m:t>
                                </m:r>
                              </m:sub>
                            </m:sSub>
                          </m:e>
                          <m:sup>
                            <m:r>
                              <a:rPr lang="zh-CN" altLang="en-US" sz="1600" i="1">
                                <a:latin typeface="Cambria Math" panose="02040503050406030204" pitchFamily="18" charset="0"/>
                              </a:rPr>
                              <m:t>正面次数</m:t>
                            </m:r>
                          </m:sup>
                        </m:sSup>
                        <m:r>
                          <a:rPr lang="en-US" altLang="zh-CN" sz="1600" i="1">
                            <a:latin typeface="Cambria Math" panose="02040503050406030204" pitchFamily="18" charset="0"/>
                          </a:rPr>
                          <m:t>×</m:t>
                        </m:r>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(1−</m:t>
                            </m:r>
                            <m:sSub>
                              <m:sSubPr>
                                <m:ctrlPr>
                                  <a:rPr lang="en-US" altLang="zh-CN" sz="1600" i="1">
                                    <a:latin typeface="Cambria Math" panose="02040503050406030204" pitchFamily="18" charset="0"/>
                                  </a:rPr>
                                </m:ctrlPr>
                              </m:sSubPr>
                              <m:e>
                                <m:r>
                                  <a:rPr lang="zh-CN" altLang="en-US" sz="1600" i="1">
                                    <a:latin typeface="Cambria Math" panose="02040503050406030204" pitchFamily="18" charset="0"/>
                                  </a:rPr>
                                  <m:t>𝜃</m:t>
                                </m:r>
                              </m:e>
                              <m:sub>
                                <m:r>
                                  <a:rPr lang="en-US" altLang="zh-CN" sz="1600" i="1">
                                    <a:latin typeface="Cambria Math" panose="02040503050406030204" pitchFamily="18" charset="0"/>
                                  </a:rPr>
                                  <m:t>𝐴</m:t>
                                </m:r>
                              </m:sub>
                            </m:sSub>
                            <m:r>
                              <a:rPr lang="en-US" altLang="zh-CN" sz="1600" i="1">
                                <a:latin typeface="Cambria Math" panose="02040503050406030204" pitchFamily="18" charset="0"/>
                              </a:rPr>
                              <m:t>)</m:t>
                            </m:r>
                          </m:e>
                          <m:sup>
                            <m:r>
                              <a:rPr lang="zh-CN" altLang="en-US" sz="1600" i="1">
                                <a:latin typeface="Cambria Math" panose="02040503050406030204" pitchFamily="18" charset="0"/>
                              </a:rPr>
                              <m:t>反面次数</m:t>
                            </m:r>
                          </m:sup>
                        </m:sSup>
                        <m:r>
                          <a:rPr lang="en-US" altLang="zh-CN" sz="1600" i="1">
                            <a:latin typeface="Cambria Math" panose="02040503050406030204" pitchFamily="18" charset="0"/>
                          </a:rPr>
                          <m:t>+</m:t>
                        </m:r>
                        <m:sSup>
                          <m:sSupPr>
                            <m:ctrlPr>
                              <a:rPr lang="en-US" altLang="zh-CN" sz="1600" i="1">
                                <a:latin typeface="Cambria Math" panose="02040503050406030204" pitchFamily="18" charset="0"/>
                              </a:rPr>
                            </m:ctrlPr>
                          </m:sSupPr>
                          <m:e>
                            <m:sSub>
                              <m:sSubPr>
                                <m:ctrlPr>
                                  <a:rPr lang="en-US" altLang="zh-CN" sz="1600" i="1">
                                    <a:latin typeface="Cambria Math" panose="02040503050406030204" pitchFamily="18" charset="0"/>
                                  </a:rPr>
                                </m:ctrlPr>
                              </m:sSubPr>
                              <m:e>
                                <m:r>
                                  <a:rPr lang="zh-CN" altLang="en-US" sz="1600" i="1">
                                    <a:latin typeface="Cambria Math" panose="02040503050406030204" pitchFamily="18" charset="0"/>
                                  </a:rPr>
                                  <m:t>𝜃</m:t>
                                </m:r>
                              </m:e>
                              <m:sub>
                                <m:r>
                                  <a:rPr lang="en-US" altLang="zh-CN" sz="1600" i="1">
                                    <a:latin typeface="Cambria Math" panose="02040503050406030204" pitchFamily="18" charset="0"/>
                                  </a:rPr>
                                  <m:t>𝐵</m:t>
                                </m:r>
                              </m:sub>
                            </m:sSub>
                          </m:e>
                          <m:sup>
                            <m:r>
                              <a:rPr lang="zh-CN" altLang="en-US" sz="1600" i="1">
                                <a:latin typeface="Cambria Math" panose="02040503050406030204" pitchFamily="18" charset="0"/>
                              </a:rPr>
                              <m:t>正面次数</m:t>
                            </m:r>
                          </m:sup>
                        </m:sSup>
                        <m:r>
                          <a:rPr lang="en-US" altLang="zh-CN" sz="1600" i="1">
                            <a:latin typeface="Cambria Math" panose="02040503050406030204" pitchFamily="18" charset="0"/>
                          </a:rPr>
                          <m:t>×</m:t>
                        </m:r>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(1−</m:t>
                            </m:r>
                            <m:sSub>
                              <m:sSubPr>
                                <m:ctrlPr>
                                  <a:rPr lang="en-US" altLang="zh-CN" sz="1600" i="1">
                                    <a:latin typeface="Cambria Math" panose="02040503050406030204" pitchFamily="18" charset="0"/>
                                  </a:rPr>
                                </m:ctrlPr>
                              </m:sSubPr>
                              <m:e>
                                <m:r>
                                  <a:rPr lang="zh-CN" altLang="en-US" sz="1600" i="1">
                                    <a:latin typeface="Cambria Math" panose="02040503050406030204" pitchFamily="18" charset="0"/>
                                  </a:rPr>
                                  <m:t>𝜃</m:t>
                                </m:r>
                              </m:e>
                              <m:sub>
                                <m:r>
                                  <a:rPr lang="en-US" altLang="zh-CN" sz="1600" i="1">
                                    <a:latin typeface="Cambria Math" panose="02040503050406030204" pitchFamily="18" charset="0"/>
                                  </a:rPr>
                                  <m:t>𝐵</m:t>
                                </m:r>
                              </m:sub>
                            </m:sSub>
                            <m:r>
                              <a:rPr lang="en-US" altLang="zh-CN" sz="1600" i="1">
                                <a:latin typeface="Cambria Math" panose="02040503050406030204" pitchFamily="18" charset="0"/>
                              </a:rPr>
                              <m:t>)</m:t>
                            </m:r>
                          </m:e>
                          <m:sup>
                            <m:r>
                              <a:rPr lang="zh-CN" altLang="en-US" sz="1600" i="1">
                                <a:latin typeface="Cambria Math" panose="02040503050406030204" pitchFamily="18" charset="0"/>
                              </a:rPr>
                              <m:t>反面次数</m:t>
                            </m:r>
                          </m:sup>
                        </m:sSup>
                      </m:den>
                    </m:f>
                    <m:r>
                      <a:rPr lang="en-US" altLang="zh-CN" sz="1600" i="1">
                        <a:latin typeface="Cambria Math" panose="02040503050406030204" pitchFamily="18" charset="0"/>
                      </a:rPr>
                      <m:t> =</m:t>
                    </m:r>
                    <m:f>
                      <m:fPr>
                        <m:ctrlPr>
                          <a:rPr lang="en-US" altLang="zh-CN" sz="1600" i="1">
                            <a:latin typeface="Cambria Math" panose="02040503050406030204" pitchFamily="18" charset="0"/>
                          </a:rPr>
                        </m:ctrlPr>
                      </m:fPr>
                      <m:num>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0.4</m:t>
                            </m:r>
                          </m:e>
                          <m:sup>
                            <m:r>
                              <a:rPr lang="en-US" altLang="zh-CN" sz="1600" i="1">
                                <a:latin typeface="Cambria Math" panose="02040503050406030204" pitchFamily="18" charset="0"/>
                              </a:rPr>
                              <m:t>3</m:t>
                            </m:r>
                          </m:sup>
                        </m:sSup>
                        <m:r>
                          <a:rPr lang="en-US" altLang="zh-CN" sz="1600" i="1">
                            <a:latin typeface="Cambria Math" panose="02040503050406030204" pitchFamily="18" charset="0"/>
                          </a:rPr>
                          <m:t>×</m:t>
                        </m:r>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0.6</m:t>
                            </m:r>
                          </m:e>
                          <m:sup>
                            <m:r>
                              <a:rPr lang="en-US" altLang="zh-CN" sz="1600" i="1">
                                <a:latin typeface="Cambria Math" panose="02040503050406030204" pitchFamily="18" charset="0"/>
                              </a:rPr>
                              <m:t>7</m:t>
                            </m:r>
                          </m:sup>
                        </m:sSup>
                      </m:num>
                      <m:den>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0.4</m:t>
                            </m:r>
                          </m:e>
                          <m:sup>
                            <m:r>
                              <a:rPr lang="en-US" altLang="zh-CN" sz="1600" i="1">
                                <a:latin typeface="Cambria Math" panose="02040503050406030204" pitchFamily="18" charset="0"/>
                              </a:rPr>
                              <m:t>3</m:t>
                            </m:r>
                          </m:sup>
                        </m:sSup>
                        <m:r>
                          <a:rPr lang="en-US" altLang="zh-CN" sz="1600" i="1">
                            <a:latin typeface="Cambria Math" panose="02040503050406030204" pitchFamily="18" charset="0"/>
                          </a:rPr>
                          <m:t>×</m:t>
                        </m:r>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0.6</m:t>
                            </m:r>
                          </m:e>
                          <m:sup>
                            <m:r>
                              <a:rPr lang="en-US" altLang="zh-CN" sz="1600" i="1">
                                <a:latin typeface="Cambria Math" panose="02040503050406030204" pitchFamily="18" charset="0"/>
                              </a:rPr>
                              <m:t>7</m:t>
                            </m:r>
                          </m:sup>
                        </m:sSup>
                        <m:r>
                          <a:rPr lang="en-US" altLang="zh-CN" sz="1600" i="1">
                            <a:latin typeface="Cambria Math" panose="02040503050406030204" pitchFamily="18" charset="0"/>
                          </a:rPr>
                          <m:t>+</m:t>
                        </m:r>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0.6</m:t>
                            </m:r>
                          </m:e>
                          <m:sup>
                            <m:r>
                              <a:rPr lang="en-US" altLang="zh-CN" sz="1600" i="1">
                                <a:latin typeface="Cambria Math" panose="02040503050406030204" pitchFamily="18" charset="0"/>
                              </a:rPr>
                              <m:t>3</m:t>
                            </m:r>
                          </m:sup>
                        </m:sSup>
                        <m:r>
                          <a:rPr lang="en-US" altLang="zh-CN" sz="1600" i="1">
                            <a:latin typeface="Cambria Math" panose="02040503050406030204" pitchFamily="18" charset="0"/>
                          </a:rPr>
                          <m:t>×</m:t>
                        </m:r>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0.4</m:t>
                            </m:r>
                          </m:e>
                          <m:sup>
                            <m:r>
                              <a:rPr lang="en-US" altLang="zh-CN" sz="1600" i="1">
                                <a:latin typeface="Cambria Math" panose="02040503050406030204" pitchFamily="18" charset="0"/>
                              </a:rPr>
                              <m:t>7</m:t>
                            </m:r>
                          </m:sup>
                        </m:sSup>
                      </m:den>
                    </m:f>
                    <m:r>
                      <a:rPr lang="en-US" altLang="zh-CN" sz="1600" i="1">
                        <a:latin typeface="Cambria Math" panose="02040503050406030204" pitchFamily="18" charset="0"/>
                      </a:rPr>
                      <m:t>=0.835</m:t>
                    </m:r>
                  </m:oMath>
                </a14:m>
                <a:endPar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997ED1E2-8436-4363-81DE-A7DA8B7D839C}"/>
                  </a:ext>
                </a:extLst>
              </p:cNvPr>
              <p:cNvSpPr>
                <a:spLocks noRot="1" noChangeAspect="1" noMove="1" noResize="1" noEditPoints="1" noAdjustHandles="1" noChangeArrowheads="1" noChangeShapeType="1" noTextEdit="1"/>
              </p:cNvSpPr>
              <p:nvPr/>
            </p:nvSpPr>
            <p:spPr>
              <a:xfrm>
                <a:off x="342900" y="2944981"/>
                <a:ext cx="8801100" cy="1032590"/>
              </a:xfrm>
              <a:prstGeom prst="rect">
                <a:avLst/>
              </a:prstGeom>
              <a:blipFill>
                <a:blip r:embed="rId6"/>
                <a:stretch>
                  <a:fillRect l="-3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38EBA410-B728-4B2E-89DC-BCE7D0A2B397}"/>
                  </a:ext>
                </a:extLst>
              </p:cNvPr>
              <p:cNvSpPr/>
              <p:nvPr/>
            </p:nvSpPr>
            <p:spPr>
              <a:xfrm>
                <a:off x="278174" y="4977546"/>
                <a:ext cx="6568016"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600" i="1" smtClean="0">
                          <a:latin typeface="Cambria Math" panose="02040503050406030204" pitchFamily="18" charset="0"/>
                        </a:rPr>
                        <m:t>硬币</m:t>
                      </m:r>
                      <m:r>
                        <a:rPr lang="en-US" altLang="zh-CN" sz="1600" i="1">
                          <a:latin typeface="Cambria Math" panose="02040503050406030204" pitchFamily="18" charset="0"/>
                        </a:rPr>
                        <m:t>𝐴</m:t>
                      </m:r>
                      <m:r>
                        <a:rPr lang="zh-CN" altLang="en-US" sz="1600" i="1">
                          <a:latin typeface="Cambria Math" panose="02040503050406030204" pitchFamily="18" charset="0"/>
                        </a:rPr>
                        <m:t>为正面期望次数</m:t>
                      </m:r>
                      <m:r>
                        <a:rPr lang="en-US" altLang="zh-CN" sz="1600" b="0" i="1" smtClean="0">
                          <a:latin typeface="Cambria Math" panose="02040503050406030204" pitchFamily="18" charset="0"/>
                        </a:rPr>
                        <m:t>=</m:t>
                      </m:r>
                      <m:r>
                        <a:rPr lang="zh-CN" altLang="en-US" sz="1600" i="1">
                          <a:latin typeface="Cambria Math" panose="02040503050406030204" pitchFamily="18" charset="0"/>
                        </a:rPr>
                        <m:t>正面</m:t>
                      </m:r>
                      <m:r>
                        <a:rPr lang="zh-CN" altLang="en-US" sz="1600" i="1" smtClean="0">
                          <a:latin typeface="Cambria Math" panose="02040503050406030204" pitchFamily="18" charset="0"/>
                        </a:rPr>
                        <m:t>次数</m:t>
                      </m:r>
                      <m:r>
                        <a:rPr lang="en-US" altLang="zh-CN" sz="1600" b="0" i="1" smtClean="0">
                          <a:latin typeface="Cambria Math" panose="02040503050406030204" pitchFamily="18" charset="0"/>
                        </a:rPr>
                        <m:t>×</m:t>
                      </m:r>
                      <m:r>
                        <a:rPr lang="zh-CN" altLang="en-US" sz="1600" i="1">
                          <a:latin typeface="Cambria Math" panose="02040503050406030204" pitchFamily="18" charset="0"/>
                        </a:rPr>
                        <m:t>选硬币</m:t>
                      </m:r>
                      <m:r>
                        <a:rPr lang="en-US" altLang="zh-CN" sz="1600" i="1">
                          <a:latin typeface="Cambria Math" panose="02040503050406030204" pitchFamily="18" charset="0"/>
                        </a:rPr>
                        <m:t>𝐴</m:t>
                      </m:r>
                      <m:r>
                        <a:rPr lang="zh-CN" altLang="en-US" sz="1600" i="1">
                          <a:latin typeface="Cambria Math" panose="02040503050406030204" pitchFamily="18" charset="0"/>
                        </a:rPr>
                        <m:t>概率</m:t>
                      </m:r>
                      <m:r>
                        <a:rPr lang="en-US" altLang="zh-CN" sz="1600" b="0" i="1" smtClean="0">
                          <a:latin typeface="Cambria Math" panose="02040503050406030204" pitchFamily="18" charset="0"/>
                        </a:rPr>
                        <m:t>=3×0.835=2.505</m:t>
                      </m:r>
                    </m:oMath>
                  </m:oMathPara>
                </a14:m>
                <a:endParaRPr dirty="0"/>
              </a:p>
            </p:txBody>
          </p:sp>
        </mc:Choice>
        <mc:Fallback xmlns="">
          <p:sp>
            <p:nvSpPr>
              <p:cNvPr id="10" name="矩形 9">
                <a:extLst>
                  <a:ext uri="{FF2B5EF4-FFF2-40B4-BE49-F238E27FC236}">
                    <a16:creationId xmlns:a16="http://schemas.microsoft.com/office/drawing/2014/main" id="{38EBA410-B728-4B2E-89DC-BCE7D0A2B397}"/>
                  </a:ext>
                </a:extLst>
              </p:cNvPr>
              <p:cNvSpPr>
                <a:spLocks noRot="1" noChangeAspect="1" noMove="1" noResize="1" noEditPoints="1" noAdjustHandles="1" noChangeArrowheads="1" noChangeShapeType="1" noTextEdit="1"/>
              </p:cNvSpPr>
              <p:nvPr/>
            </p:nvSpPr>
            <p:spPr>
              <a:xfrm>
                <a:off x="278174" y="4977546"/>
                <a:ext cx="6568016" cy="338554"/>
              </a:xfrm>
              <a:prstGeom prst="rect">
                <a:avLst/>
              </a:prstGeom>
              <a:blipFill>
                <a:blip r:embed="rId7"/>
                <a:stretch>
                  <a:fillRect b="-54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C2B7A3A4-5F48-439F-B9D9-66BA19350A32}"/>
                  </a:ext>
                </a:extLst>
              </p:cNvPr>
              <p:cNvSpPr/>
              <p:nvPr/>
            </p:nvSpPr>
            <p:spPr>
              <a:xfrm>
                <a:off x="313217" y="4027390"/>
                <a:ext cx="4634602" cy="338554"/>
              </a:xfrm>
              <a:prstGeom prst="rect">
                <a:avLst/>
              </a:prstGeom>
            </p:spPr>
            <p:txBody>
              <a:bodyPr wrap="none">
                <a:spAutoFit/>
              </a:bodyPr>
              <a:lstStyle/>
              <a:p>
                <a14:m>
                  <m:oMath xmlns:m="http://schemas.openxmlformats.org/officeDocument/2006/math">
                    <m:r>
                      <a:rPr lang="en-US" altLang="zh-CN" sz="1600" i="1" smtClean="0">
                        <a:latin typeface="Cambria Math" panose="02040503050406030204" pitchFamily="18" charset="0"/>
                      </a:rPr>
                      <m:t>𝑃</m:t>
                    </m:r>
                    <m:d>
                      <m:dPr>
                        <m:ctrlPr>
                          <a:rPr lang="en-US" altLang="zh-CN" sz="1600" i="1">
                            <a:latin typeface="Cambria Math" panose="02040503050406030204" pitchFamily="18" charset="0"/>
                          </a:rPr>
                        </m:ctrlPr>
                      </m:dPr>
                      <m:e>
                        <m:r>
                          <a:rPr lang="zh-CN" altLang="en-US" sz="1600" i="1">
                            <a:latin typeface="Cambria Math" panose="02040503050406030204" pitchFamily="18" charset="0"/>
                          </a:rPr>
                          <m:t>选</m:t>
                        </m:r>
                        <m:r>
                          <a:rPr lang="en-US" altLang="zh-CN" sz="1600" b="0" i="1" smtClean="0">
                            <a:latin typeface="Cambria Math" panose="02040503050406030204" pitchFamily="18" charset="0"/>
                          </a:rPr>
                          <m:t>𝐵</m:t>
                        </m:r>
                      </m:e>
                      <m:e>
                        <m:r>
                          <a:rPr lang="zh-CN" altLang="en-US" sz="1600" i="1">
                            <a:latin typeface="Cambria Math" panose="02040503050406030204" pitchFamily="18" charset="0"/>
                          </a:rPr>
                          <m:t>投掷结果</m:t>
                        </m:r>
                      </m:e>
                    </m:d>
                    <m:r>
                      <a:rPr lang="en-US" altLang="zh-CN" sz="1600" b="0" i="1" smtClean="0">
                        <a:latin typeface="Cambria Math" panose="02040503050406030204" pitchFamily="18" charset="0"/>
                      </a:rPr>
                      <m:t>=1−</m:t>
                    </m:r>
                    <m:r>
                      <a:rPr lang="en-US" altLang="zh-CN" sz="1600" i="1">
                        <a:latin typeface="Cambria Math" panose="02040503050406030204" pitchFamily="18" charset="0"/>
                      </a:rPr>
                      <m:t>𝑃</m:t>
                    </m:r>
                    <m:d>
                      <m:dPr>
                        <m:ctrlPr>
                          <a:rPr lang="en-US" altLang="zh-CN" sz="1600" i="1" smtClean="0">
                            <a:latin typeface="Cambria Math" panose="02040503050406030204" pitchFamily="18" charset="0"/>
                          </a:rPr>
                        </m:ctrlPr>
                      </m:dPr>
                      <m:e>
                        <m:r>
                          <a:rPr lang="zh-CN" altLang="en-US" sz="1600" i="1">
                            <a:latin typeface="Cambria Math" panose="02040503050406030204" pitchFamily="18" charset="0"/>
                          </a:rPr>
                          <m:t>选</m:t>
                        </m:r>
                        <m:r>
                          <a:rPr lang="en-US" altLang="zh-CN" sz="1600" i="1">
                            <a:latin typeface="Cambria Math" panose="02040503050406030204" pitchFamily="18" charset="0"/>
                          </a:rPr>
                          <m:t>𝐴</m:t>
                        </m:r>
                      </m:e>
                      <m:e>
                        <m:r>
                          <a:rPr lang="zh-CN" altLang="en-US" sz="1600" i="1">
                            <a:latin typeface="Cambria Math" panose="02040503050406030204" pitchFamily="18" charset="0"/>
                          </a:rPr>
                          <m:t>投掷结果</m:t>
                        </m:r>
                      </m:e>
                    </m:d>
                  </m:oMath>
                </a14:m>
                <a:r>
                  <a:rPr lang="en-US" altLang="zh-CN" sz="1600" dirty="0"/>
                  <a:t> </a:t>
                </a:r>
                <a14:m>
                  <m:oMath xmlns:m="http://schemas.openxmlformats.org/officeDocument/2006/math">
                    <m:r>
                      <a:rPr lang="en-US" altLang="zh-CN" sz="1600" i="1">
                        <a:latin typeface="Cambria Math" panose="02040503050406030204" pitchFamily="18" charset="0"/>
                      </a:rPr>
                      <m:t>=0.165</m:t>
                    </m:r>
                  </m:oMath>
                </a14:m>
                <a:endParaRPr lang="zh-CN" altLang="en-US" sz="1600" dirty="0"/>
              </a:p>
            </p:txBody>
          </p:sp>
        </mc:Choice>
        <mc:Fallback xmlns="">
          <p:sp>
            <p:nvSpPr>
              <p:cNvPr id="11" name="矩形 10">
                <a:extLst>
                  <a:ext uri="{FF2B5EF4-FFF2-40B4-BE49-F238E27FC236}">
                    <a16:creationId xmlns:a16="http://schemas.microsoft.com/office/drawing/2014/main" id="{C2B7A3A4-5F48-439F-B9D9-66BA19350A32}"/>
                  </a:ext>
                </a:extLst>
              </p:cNvPr>
              <p:cNvSpPr>
                <a:spLocks noRot="1" noChangeAspect="1" noMove="1" noResize="1" noEditPoints="1" noAdjustHandles="1" noChangeArrowheads="1" noChangeShapeType="1" noTextEdit="1"/>
              </p:cNvSpPr>
              <p:nvPr/>
            </p:nvSpPr>
            <p:spPr>
              <a:xfrm>
                <a:off x="313217" y="4027390"/>
                <a:ext cx="4634602" cy="338554"/>
              </a:xfrm>
              <a:prstGeom prst="rect">
                <a:avLst/>
              </a:prstGeom>
              <a:blipFill>
                <a:blip r:embed="rId8"/>
                <a:stretch>
                  <a:fillRect b="-1090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F47364C4-F993-4854-BDF8-F7C67D219B66}"/>
                  </a:ext>
                </a:extLst>
              </p:cNvPr>
              <p:cNvSpPr/>
              <p:nvPr/>
            </p:nvSpPr>
            <p:spPr>
              <a:xfrm>
                <a:off x="278174" y="5408193"/>
                <a:ext cx="6568016"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600" i="1" smtClean="0">
                          <a:latin typeface="Cambria Math" panose="02040503050406030204" pitchFamily="18" charset="0"/>
                        </a:rPr>
                        <m:t>硬币</m:t>
                      </m:r>
                      <m:r>
                        <a:rPr lang="en-US" altLang="zh-CN" sz="1600" i="1">
                          <a:latin typeface="Cambria Math" panose="02040503050406030204" pitchFamily="18" charset="0"/>
                        </a:rPr>
                        <m:t>𝐴</m:t>
                      </m:r>
                      <m:r>
                        <a:rPr lang="zh-CN" altLang="en-US" sz="1600" i="1">
                          <a:latin typeface="Cambria Math" panose="02040503050406030204" pitchFamily="18" charset="0"/>
                        </a:rPr>
                        <m:t>为</m:t>
                      </m:r>
                      <m:r>
                        <a:rPr lang="zh-CN" altLang="en-US" sz="1600" i="1" smtClean="0">
                          <a:latin typeface="Cambria Math" panose="02040503050406030204" pitchFamily="18" charset="0"/>
                        </a:rPr>
                        <m:t>反</m:t>
                      </m:r>
                      <m:r>
                        <a:rPr lang="zh-CN" altLang="en-US" sz="1600" i="1">
                          <a:latin typeface="Cambria Math" panose="02040503050406030204" pitchFamily="18" charset="0"/>
                        </a:rPr>
                        <m:t>面期望次数</m:t>
                      </m:r>
                      <m:r>
                        <a:rPr lang="en-US" altLang="zh-CN" sz="1600" b="0" i="1" smtClean="0">
                          <a:latin typeface="Cambria Math" panose="02040503050406030204" pitchFamily="18" charset="0"/>
                        </a:rPr>
                        <m:t>=</m:t>
                      </m:r>
                      <m:r>
                        <a:rPr lang="zh-CN" altLang="en-US" sz="1600" i="1">
                          <a:latin typeface="Cambria Math" panose="02040503050406030204" pitchFamily="18" charset="0"/>
                        </a:rPr>
                        <m:t>反面</m:t>
                      </m:r>
                      <m:r>
                        <a:rPr lang="zh-CN" altLang="en-US" sz="1600" i="1" smtClean="0">
                          <a:latin typeface="Cambria Math" panose="02040503050406030204" pitchFamily="18" charset="0"/>
                        </a:rPr>
                        <m:t>次数</m:t>
                      </m:r>
                      <m:r>
                        <a:rPr lang="en-US" altLang="zh-CN" sz="1600" b="0" i="1" smtClean="0">
                          <a:latin typeface="Cambria Math" panose="02040503050406030204" pitchFamily="18" charset="0"/>
                        </a:rPr>
                        <m:t>×</m:t>
                      </m:r>
                      <m:r>
                        <a:rPr lang="zh-CN" altLang="en-US" sz="1600" i="1">
                          <a:latin typeface="Cambria Math" panose="02040503050406030204" pitchFamily="18" charset="0"/>
                        </a:rPr>
                        <m:t>选硬币</m:t>
                      </m:r>
                      <m:r>
                        <a:rPr lang="en-US" altLang="zh-CN" sz="1600" i="1">
                          <a:latin typeface="Cambria Math" panose="02040503050406030204" pitchFamily="18" charset="0"/>
                        </a:rPr>
                        <m:t>𝐴</m:t>
                      </m:r>
                      <m:r>
                        <a:rPr lang="zh-CN" altLang="en-US" sz="1600" i="1">
                          <a:latin typeface="Cambria Math" panose="02040503050406030204" pitchFamily="18" charset="0"/>
                        </a:rPr>
                        <m:t>概率</m:t>
                      </m:r>
                      <m:r>
                        <a:rPr lang="en-US" altLang="zh-CN" sz="1600" b="0" i="1" smtClean="0">
                          <a:latin typeface="Cambria Math" panose="02040503050406030204" pitchFamily="18" charset="0"/>
                        </a:rPr>
                        <m:t>=7×0.835=5.845</m:t>
                      </m:r>
                    </m:oMath>
                  </m:oMathPara>
                </a14:m>
                <a:endParaRPr dirty="0"/>
              </a:p>
            </p:txBody>
          </p:sp>
        </mc:Choice>
        <mc:Fallback xmlns="">
          <p:sp>
            <p:nvSpPr>
              <p:cNvPr id="16" name="矩形 15">
                <a:extLst>
                  <a:ext uri="{FF2B5EF4-FFF2-40B4-BE49-F238E27FC236}">
                    <a16:creationId xmlns:a16="http://schemas.microsoft.com/office/drawing/2014/main" id="{F47364C4-F993-4854-BDF8-F7C67D219B66}"/>
                  </a:ext>
                </a:extLst>
              </p:cNvPr>
              <p:cNvSpPr>
                <a:spLocks noRot="1" noChangeAspect="1" noMove="1" noResize="1" noEditPoints="1" noAdjustHandles="1" noChangeArrowheads="1" noChangeShapeType="1" noTextEdit="1"/>
              </p:cNvSpPr>
              <p:nvPr/>
            </p:nvSpPr>
            <p:spPr>
              <a:xfrm>
                <a:off x="278174" y="5408193"/>
                <a:ext cx="6568016" cy="338554"/>
              </a:xfrm>
              <a:prstGeom prst="rect">
                <a:avLst/>
              </a:prstGeom>
              <a:blipFill>
                <a:blip r:embed="rId9"/>
                <a:stretch>
                  <a:fillRect b="-35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a:extLst>
                  <a:ext uri="{FF2B5EF4-FFF2-40B4-BE49-F238E27FC236}">
                    <a16:creationId xmlns:a16="http://schemas.microsoft.com/office/drawing/2014/main" id="{80AC50A1-079C-4104-930F-177DB9120A99}"/>
                  </a:ext>
                </a:extLst>
              </p:cNvPr>
              <p:cNvSpPr/>
              <p:nvPr/>
            </p:nvSpPr>
            <p:spPr>
              <a:xfrm>
                <a:off x="278174" y="5818459"/>
                <a:ext cx="6577634"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600" i="1" smtClean="0">
                          <a:latin typeface="Cambria Math" panose="02040503050406030204" pitchFamily="18" charset="0"/>
                        </a:rPr>
                        <m:t>硬币</m:t>
                      </m:r>
                      <m:r>
                        <a:rPr lang="en-US" altLang="zh-CN" sz="1600" b="0" i="1" smtClean="0">
                          <a:latin typeface="Cambria Math" panose="02040503050406030204" pitchFamily="18" charset="0"/>
                        </a:rPr>
                        <m:t>𝐵</m:t>
                      </m:r>
                      <m:r>
                        <a:rPr lang="zh-CN" altLang="en-US" sz="1600" i="1">
                          <a:latin typeface="Cambria Math" panose="02040503050406030204" pitchFamily="18" charset="0"/>
                        </a:rPr>
                        <m:t>为正面期望次数</m:t>
                      </m:r>
                      <m:r>
                        <a:rPr lang="en-US" altLang="zh-CN" sz="1600" b="0" i="1" smtClean="0">
                          <a:latin typeface="Cambria Math" panose="02040503050406030204" pitchFamily="18" charset="0"/>
                        </a:rPr>
                        <m:t>=</m:t>
                      </m:r>
                      <m:r>
                        <a:rPr lang="zh-CN" altLang="en-US" sz="1600" i="1">
                          <a:latin typeface="Cambria Math" panose="02040503050406030204" pitchFamily="18" charset="0"/>
                        </a:rPr>
                        <m:t>正面</m:t>
                      </m:r>
                      <m:r>
                        <a:rPr lang="zh-CN" altLang="en-US" sz="1600" i="1" smtClean="0">
                          <a:latin typeface="Cambria Math" panose="02040503050406030204" pitchFamily="18" charset="0"/>
                        </a:rPr>
                        <m:t>次数</m:t>
                      </m:r>
                      <m:r>
                        <a:rPr lang="en-US" altLang="zh-CN" sz="1600" b="0" i="1" smtClean="0">
                          <a:latin typeface="Cambria Math" panose="02040503050406030204" pitchFamily="18" charset="0"/>
                        </a:rPr>
                        <m:t>×</m:t>
                      </m:r>
                      <m:r>
                        <a:rPr lang="zh-CN" altLang="en-US" sz="1600" i="1">
                          <a:latin typeface="Cambria Math" panose="02040503050406030204" pitchFamily="18" charset="0"/>
                        </a:rPr>
                        <m:t>选硬币</m:t>
                      </m:r>
                      <m:r>
                        <a:rPr lang="en-US" altLang="zh-CN" sz="1600" b="0" i="1" smtClean="0">
                          <a:latin typeface="Cambria Math" panose="02040503050406030204" pitchFamily="18" charset="0"/>
                        </a:rPr>
                        <m:t>𝐵</m:t>
                      </m:r>
                      <m:r>
                        <a:rPr lang="zh-CN" altLang="en-US" sz="1600" i="1">
                          <a:latin typeface="Cambria Math" panose="02040503050406030204" pitchFamily="18" charset="0"/>
                        </a:rPr>
                        <m:t>概率</m:t>
                      </m:r>
                      <m:r>
                        <a:rPr lang="en-US" altLang="zh-CN" sz="1600" b="0" i="1" smtClean="0">
                          <a:latin typeface="Cambria Math" panose="02040503050406030204" pitchFamily="18" charset="0"/>
                        </a:rPr>
                        <m:t>=3×0.165=0.495</m:t>
                      </m:r>
                    </m:oMath>
                  </m:oMathPara>
                </a14:m>
                <a:endParaRPr dirty="0"/>
              </a:p>
            </p:txBody>
          </p:sp>
        </mc:Choice>
        <mc:Fallback xmlns="">
          <p:sp>
            <p:nvSpPr>
              <p:cNvPr id="20" name="矩形 19">
                <a:extLst>
                  <a:ext uri="{FF2B5EF4-FFF2-40B4-BE49-F238E27FC236}">
                    <a16:creationId xmlns:a16="http://schemas.microsoft.com/office/drawing/2014/main" id="{80AC50A1-079C-4104-930F-177DB9120A99}"/>
                  </a:ext>
                </a:extLst>
              </p:cNvPr>
              <p:cNvSpPr>
                <a:spLocks noRot="1" noChangeAspect="1" noMove="1" noResize="1" noEditPoints="1" noAdjustHandles="1" noChangeArrowheads="1" noChangeShapeType="1" noTextEdit="1"/>
              </p:cNvSpPr>
              <p:nvPr/>
            </p:nvSpPr>
            <p:spPr>
              <a:xfrm>
                <a:off x="278174" y="5818459"/>
                <a:ext cx="6577634" cy="338554"/>
              </a:xfrm>
              <a:prstGeom prst="rect">
                <a:avLst/>
              </a:prstGeom>
              <a:blipFill>
                <a:blip r:embed="rId10"/>
                <a:stretch>
                  <a:fillRect b="-35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矩形 20">
                <a:extLst>
                  <a:ext uri="{FF2B5EF4-FFF2-40B4-BE49-F238E27FC236}">
                    <a16:creationId xmlns:a16="http://schemas.microsoft.com/office/drawing/2014/main" id="{3F028205-D2D3-44F4-A549-397A638F4965}"/>
                  </a:ext>
                </a:extLst>
              </p:cNvPr>
              <p:cNvSpPr/>
              <p:nvPr/>
            </p:nvSpPr>
            <p:spPr>
              <a:xfrm>
                <a:off x="278174" y="6249105"/>
                <a:ext cx="6577634"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600" i="1" smtClean="0">
                          <a:latin typeface="Cambria Math" panose="02040503050406030204" pitchFamily="18" charset="0"/>
                        </a:rPr>
                        <m:t>硬币</m:t>
                      </m:r>
                      <m:r>
                        <a:rPr lang="en-US" altLang="zh-CN" sz="1600" b="0" i="1" smtClean="0">
                          <a:latin typeface="Cambria Math" panose="02040503050406030204" pitchFamily="18" charset="0"/>
                        </a:rPr>
                        <m:t>𝐵</m:t>
                      </m:r>
                      <m:r>
                        <a:rPr lang="zh-CN" altLang="en-US" sz="1600" i="1">
                          <a:latin typeface="Cambria Math" panose="02040503050406030204" pitchFamily="18" charset="0"/>
                        </a:rPr>
                        <m:t>为</m:t>
                      </m:r>
                      <m:r>
                        <a:rPr lang="zh-CN" altLang="en-US" sz="1600" i="1" smtClean="0">
                          <a:latin typeface="Cambria Math" panose="02040503050406030204" pitchFamily="18" charset="0"/>
                        </a:rPr>
                        <m:t>反</m:t>
                      </m:r>
                      <m:r>
                        <a:rPr lang="zh-CN" altLang="en-US" sz="1600" i="1">
                          <a:latin typeface="Cambria Math" panose="02040503050406030204" pitchFamily="18" charset="0"/>
                        </a:rPr>
                        <m:t>面期望次数</m:t>
                      </m:r>
                      <m:r>
                        <a:rPr lang="en-US" altLang="zh-CN" sz="1600" b="0" i="1" smtClean="0">
                          <a:latin typeface="Cambria Math" panose="02040503050406030204" pitchFamily="18" charset="0"/>
                        </a:rPr>
                        <m:t>=</m:t>
                      </m:r>
                      <m:r>
                        <a:rPr lang="zh-CN" altLang="en-US" sz="1600" i="1">
                          <a:latin typeface="Cambria Math" panose="02040503050406030204" pitchFamily="18" charset="0"/>
                        </a:rPr>
                        <m:t>反面</m:t>
                      </m:r>
                      <m:r>
                        <a:rPr lang="zh-CN" altLang="en-US" sz="1600" i="1" smtClean="0">
                          <a:latin typeface="Cambria Math" panose="02040503050406030204" pitchFamily="18" charset="0"/>
                        </a:rPr>
                        <m:t>次数</m:t>
                      </m:r>
                      <m:r>
                        <a:rPr lang="en-US" altLang="zh-CN" sz="1600" b="0" i="1" smtClean="0">
                          <a:latin typeface="Cambria Math" panose="02040503050406030204" pitchFamily="18" charset="0"/>
                        </a:rPr>
                        <m:t>×</m:t>
                      </m:r>
                      <m:r>
                        <a:rPr lang="zh-CN" altLang="en-US" sz="1600" i="1">
                          <a:latin typeface="Cambria Math" panose="02040503050406030204" pitchFamily="18" charset="0"/>
                        </a:rPr>
                        <m:t>选硬币</m:t>
                      </m:r>
                      <m:r>
                        <a:rPr lang="en-US" altLang="zh-CN" sz="1600" b="0" i="1" smtClean="0">
                          <a:latin typeface="Cambria Math" panose="02040503050406030204" pitchFamily="18" charset="0"/>
                        </a:rPr>
                        <m:t>𝐵</m:t>
                      </m:r>
                      <m:r>
                        <a:rPr lang="zh-CN" altLang="en-US" sz="1600" i="1">
                          <a:latin typeface="Cambria Math" panose="02040503050406030204" pitchFamily="18" charset="0"/>
                        </a:rPr>
                        <m:t>概率</m:t>
                      </m:r>
                      <m:r>
                        <a:rPr lang="en-US" altLang="zh-CN" sz="1600" b="0" i="1" smtClean="0">
                          <a:latin typeface="Cambria Math" panose="02040503050406030204" pitchFamily="18" charset="0"/>
                        </a:rPr>
                        <m:t>=7×0.165=1.155</m:t>
                      </m:r>
                    </m:oMath>
                  </m:oMathPara>
                </a14:m>
                <a:endParaRPr dirty="0"/>
              </a:p>
            </p:txBody>
          </p:sp>
        </mc:Choice>
        <mc:Fallback xmlns="">
          <p:sp>
            <p:nvSpPr>
              <p:cNvPr id="21" name="矩形 20">
                <a:extLst>
                  <a:ext uri="{FF2B5EF4-FFF2-40B4-BE49-F238E27FC236}">
                    <a16:creationId xmlns:a16="http://schemas.microsoft.com/office/drawing/2014/main" id="{3F028205-D2D3-44F4-A549-397A638F4965}"/>
                  </a:ext>
                </a:extLst>
              </p:cNvPr>
              <p:cNvSpPr>
                <a:spLocks noRot="1" noChangeAspect="1" noMove="1" noResize="1" noEditPoints="1" noAdjustHandles="1" noChangeArrowheads="1" noChangeShapeType="1" noTextEdit="1"/>
              </p:cNvSpPr>
              <p:nvPr/>
            </p:nvSpPr>
            <p:spPr>
              <a:xfrm>
                <a:off x="278174" y="6249105"/>
                <a:ext cx="6577634" cy="338554"/>
              </a:xfrm>
              <a:prstGeom prst="rect">
                <a:avLst/>
              </a:prstGeom>
              <a:blipFill>
                <a:blip r:embed="rId11"/>
                <a:stretch>
                  <a:fillRect b="-3571"/>
                </a:stretch>
              </a:blipFill>
            </p:spPr>
            <p:txBody>
              <a:bodyPr/>
              <a:lstStyle/>
              <a:p>
                <a:r>
                  <a:rPr lang="zh-CN" altLang="en-US">
                    <a:noFill/>
                  </a:rPr>
                  <a:t> </a:t>
                </a:r>
              </a:p>
            </p:txBody>
          </p:sp>
        </mc:Fallback>
      </mc:AlternateContent>
      <p:sp>
        <p:nvSpPr>
          <p:cNvPr id="19" name="文本框 18">
            <a:extLst>
              <a:ext uri="{FF2B5EF4-FFF2-40B4-BE49-F238E27FC236}">
                <a16:creationId xmlns:a16="http://schemas.microsoft.com/office/drawing/2014/main" id="{653B644B-A225-439D-BF0A-8F90B68B1C85}"/>
              </a:ext>
            </a:extLst>
          </p:cNvPr>
          <p:cNvSpPr txBox="1"/>
          <p:nvPr/>
        </p:nvSpPr>
        <p:spPr>
          <a:xfrm>
            <a:off x="176116" y="4508216"/>
            <a:ext cx="5748433" cy="369332"/>
          </a:xfrm>
          <a:prstGeom prst="rect">
            <a:avLst/>
          </a:prstGeom>
          <a:noFill/>
        </p:spPr>
        <p:txBody>
          <a:bodyPr wrap="square">
            <a:spAutoFit/>
          </a:bodyPr>
          <a:lstStyle/>
          <a:p>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）计算在该隐性变量下关键变量的期望值：</a:t>
            </a:r>
            <a:endParaRPr lang="zh-CN" altLang="en-US" dirty="0"/>
          </a:p>
        </p:txBody>
      </p:sp>
    </p:spTree>
    <p:extLst>
      <p:ext uri="{BB962C8B-B14F-4D97-AF65-F5344CB8AC3E}">
        <p14:creationId xmlns:p14="http://schemas.microsoft.com/office/powerpoint/2010/main" val="2424144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49</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en-US" altLang="zh-CN" sz="3200" dirty="0">
                <a:latin typeface="微软雅黑" panose="020B0503020204020204" pitchFamily="34" charset="-122"/>
                <a:ea typeface="微软雅黑" panose="020B0503020204020204" pitchFamily="34" charset="-122"/>
                <a:cs typeface="Times New Roman" panose="02020603050405020304" pitchFamily="18" charset="0"/>
              </a:rPr>
              <a:t>EM</a:t>
            </a:r>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算法</a:t>
            </a:r>
          </a:p>
        </p:txBody>
      </p:sp>
      <p:sp>
        <p:nvSpPr>
          <p:cNvPr id="3" name="文本框 2">
            <a:extLst>
              <a:ext uri="{FF2B5EF4-FFF2-40B4-BE49-F238E27FC236}">
                <a16:creationId xmlns:a16="http://schemas.microsoft.com/office/drawing/2014/main" id="{96B97EB8-671F-2DD6-D687-E431680C58CC}"/>
              </a:ext>
            </a:extLst>
          </p:cNvPr>
          <p:cNvSpPr txBox="1"/>
          <p:nvPr/>
        </p:nvSpPr>
        <p:spPr>
          <a:xfrm>
            <a:off x="162560" y="1245067"/>
            <a:ext cx="8675814" cy="458908"/>
          </a:xfrm>
          <a:prstGeom prst="rect">
            <a:avLst/>
          </a:prstGeom>
          <a:noFill/>
        </p:spPr>
        <p:txBody>
          <a:bodyPr wrap="square">
            <a:spAutoFit/>
          </a:bodyPr>
          <a:lstStyle/>
          <a:p>
            <a:pPr lvl="0" algn="just">
              <a:lnSpc>
                <a:spcPct val="150000"/>
              </a:lnSpc>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第一轮 </a:t>
            </a:r>
            <a:r>
              <a:rPr lang="en-US"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E</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 步</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（期望步）迭代的完整计算表如下：</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6" name="表格 6">
            <a:extLst>
              <a:ext uri="{FF2B5EF4-FFF2-40B4-BE49-F238E27FC236}">
                <a16:creationId xmlns:a16="http://schemas.microsoft.com/office/drawing/2014/main" id="{2A52F752-F708-0864-7126-AF1C5CA86161}"/>
              </a:ext>
            </a:extLst>
          </p:cNvPr>
          <p:cNvGraphicFramePr>
            <a:graphicFrameLocks noGrp="1"/>
          </p:cNvGraphicFramePr>
          <p:nvPr/>
        </p:nvGraphicFramePr>
        <p:xfrm>
          <a:off x="1025999" y="2282190"/>
          <a:ext cx="7092001" cy="2560320"/>
        </p:xfrm>
        <a:graphic>
          <a:graphicData uri="http://schemas.openxmlformats.org/drawingml/2006/table">
            <a:tbl>
              <a:tblPr firstRow="1" bandRow="1">
                <a:tableStyleId>{5C22544A-7EE6-4342-B048-85BDC9FD1C3A}</a:tableStyleId>
              </a:tblPr>
              <a:tblGrid>
                <a:gridCol w="1013143">
                  <a:extLst>
                    <a:ext uri="{9D8B030D-6E8A-4147-A177-3AD203B41FA5}">
                      <a16:colId xmlns:a16="http://schemas.microsoft.com/office/drawing/2014/main" val="2366340392"/>
                    </a:ext>
                  </a:extLst>
                </a:gridCol>
                <a:gridCol w="1013143">
                  <a:extLst>
                    <a:ext uri="{9D8B030D-6E8A-4147-A177-3AD203B41FA5}">
                      <a16:colId xmlns:a16="http://schemas.microsoft.com/office/drawing/2014/main" val="824927946"/>
                    </a:ext>
                  </a:extLst>
                </a:gridCol>
                <a:gridCol w="1013143">
                  <a:extLst>
                    <a:ext uri="{9D8B030D-6E8A-4147-A177-3AD203B41FA5}">
                      <a16:colId xmlns:a16="http://schemas.microsoft.com/office/drawing/2014/main" val="4287585144"/>
                    </a:ext>
                  </a:extLst>
                </a:gridCol>
                <a:gridCol w="1013143">
                  <a:extLst>
                    <a:ext uri="{9D8B030D-6E8A-4147-A177-3AD203B41FA5}">
                      <a16:colId xmlns:a16="http://schemas.microsoft.com/office/drawing/2014/main" val="312968925"/>
                    </a:ext>
                  </a:extLst>
                </a:gridCol>
                <a:gridCol w="1013143">
                  <a:extLst>
                    <a:ext uri="{9D8B030D-6E8A-4147-A177-3AD203B41FA5}">
                      <a16:colId xmlns:a16="http://schemas.microsoft.com/office/drawing/2014/main" val="2514246307"/>
                    </a:ext>
                  </a:extLst>
                </a:gridCol>
                <a:gridCol w="1013143">
                  <a:extLst>
                    <a:ext uri="{9D8B030D-6E8A-4147-A177-3AD203B41FA5}">
                      <a16:colId xmlns:a16="http://schemas.microsoft.com/office/drawing/2014/main" val="2691503266"/>
                    </a:ext>
                  </a:extLst>
                </a:gridCol>
                <a:gridCol w="1013143">
                  <a:extLst>
                    <a:ext uri="{9D8B030D-6E8A-4147-A177-3AD203B41FA5}">
                      <a16:colId xmlns:a16="http://schemas.microsoft.com/office/drawing/2014/main" val="4180023200"/>
                    </a:ext>
                  </a:extLst>
                </a:gridCol>
              </a:tblGrid>
              <a:tr h="720000">
                <a:tc>
                  <a:txBody>
                    <a:bodyPr/>
                    <a:lstStyle/>
                    <a:p>
                      <a:pPr algn="ctr"/>
                      <a:r>
                        <a:rPr lang="zh-CN" altLang="en-US" sz="1400" dirty="0">
                          <a:latin typeface="微软雅黑" panose="020B0503020204020204" pitchFamily="34" charset="-122"/>
                          <a:ea typeface="微软雅黑" panose="020B0503020204020204" pitchFamily="34" charset="-122"/>
                        </a:rPr>
                        <a:t>实验</a:t>
                      </a:r>
                    </a:p>
                  </a:txBody>
                  <a:tcPr anchor="ctr"/>
                </a:tc>
                <a:tc>
                  <a:txBody>
                    <a:bodyPr/>
                    <a:lstStyle/>
                    <a:p>
                      <a:pPr algn="ctr"/>
                      <a:r>
                        <a:rPr lang="zh-CN" altLang="en-US" sz="1400" dirty="0">
                          <a:latin typeface="微软雅黑" panose="020B0503020204020204" pitchFamily="34" charset="-122"/>
                          <a:ea typeface="微软雅黑" panose="020B0503020204020204" pitchFamily="34" charset="-122"/>
                        </a:rPr>
                        <a:t>选硬币</a:t>
                      </a:r>
                      <a:r>
                        <a:rPr lang="en-US" altLang="zh-CN" sz="1400" dirty="0">
                          <a:latin typeface="微软雅黑" panose="020B0503020204020204" pitchFamily="34" charset="-122"/>
                          <a:ea typeface="微软雅黑" panose="020B0503020204020204" pitchFamily="34" charset="-122"/>
                        </a:rPr>
                        <a:t>A</a:t>
                      </a:r>
                      <a:r>
                        <a:rPr lang="zh-CN" altLang="en-US" sz="1400" dirty="0">
                          <a:latin typeface="微软雅黑" panose="020B0503020204020204" pitchFamily="34" charset="-122"/>
                          <a:ea typeface="微软雅黑" panose="020B0503020204020204" pitchFamily="34" charset="-122"/>
                        </a:rPr>
                        <a:t>概率</a:t>
                      </a:r>
                    </a:p>
                  </a:txBody>
                  <a:tcPr anchor="ctr"/>
                </a:tc>
                <a:tc>
                  <a:txBody>
                    <a:bodyPr/>
                    <a:lstStyle/>
                    <a:p>
                      <a:pPr marL="0" marR="0" lvl="0" indent="0" algn="ctr" defTabSz="914400" eaLnBrk="1" fontAlgn="base" latinLnBrk="0" hangingPunct="1">
                        <a:lnSpc>
                          <a:spcPct val="100000"/>
                        </a:lnSpc>
                        <a:spcBef>
                          <a:spcPct val="0"/>
                        </a:spcBef>
                        <a:spcAft>
                          <a:spcPct val="0"/>
                        </a:spcAft>
                        <a:buClrTx/>
                        <a:buSzTx/>
                        <a:buFont typeface="Arial" pitchFamily="34" charset="0"/>
                        <a:buNone/>
                        <a:tabLst/>
                        <a:defRPr/>
                      </a:pPr>
                      <a:r>
                        <a:rPr lang="zh-CN" altLang="en-US" sz="1400" dirty="0">
                          <a:latin typeface="微软雅黑" panose="020B0503020204020204" pitchFamily="34" charset="-122"/>
                          <a:ea typeface="微软雅黑" panose="020B0503020204020204" pitchFamily="34" charset="-122"/>
                        </a:rPr>
                        <a:t>选硬币</a:t>
                      </a:r>
                      <a:r>
                        <a:rPr lang="en-US" altLang="zh-CN" sz="1400" dirty="0">
                          <a:latin typeface="微软雅黑" panose="020B0503020204020204" pitchFamily="34" charset="-122"/>
                          <a:ea typeface="微软雅黑" panose="020B0503020204020204" pitchFamily="34" charset="-122"/>
                        </a:rPr>
                        <a:t>B</a:t>
                      </a:r>
                      <a:r>
                        <a:rPr lang="zh-CN" altLang="en-US" sz="1400" dirty="0">
                          <a:latin typeface="微软雅黑" panose="020B0503020204020204" pitchFamily="34" charset="-122"/>
                          <a:ea typeface="微软雅黑" panose="020B0503020204020204" pitchFamily="34" charset="-122"/>
                        </a:rPr>
                        <a:t>概率</a:t>
                      </a:r>
                    </a:p>
                  </a:txBody>
                  <a:tcPr anchor="ctr"/>
                </a:tc>
                <a:tc>
                  <a:txBody>
                    <a:bodyPr/>
                    <a:lstStyle/>
                    <a:p>
                      <a:pPr algn="ctr"/>
                      <a:r>
                        <a:rPr lang="zh-CN" altLang="en-US" sz="1400" dirty="0">
                          <a:latin typeface="微软雅黑" panose="020B0503020204020204" pitchFamily="34" charset="-122"/>
                          <a:ea typeface="微软雅黑" panose="020B0503020204020204" pitchFamily="34" charset="-122"/>
                        </a:rPr>
                        <a:t>硬币</a:t>
                      </a:r>
                      <a:r>
                        <a:rPr lang="en-US" altLang="zh-CN" sz="1400" dirty="0">
                          <a:latin typeface="微软雅黑" panose="020B0503020204020204" pitchFamily="34" charset="-122"/>
                          <a:ea typeface="微软雅黑" panose="020B0503020204020204" pitchFamily="34" charset="-122"/>
                        </a:rPr>
                        <a:t>A</a:t>
                      </a:r>
                      <a:r>
                        <a:rPr lang="zh-CN" altLang="en-US" sz="1400" dirty="0">
                          <a:latin typeface="微软雅黑" panose="020B0503020204020204" pitchFamily="34" charset="-122"/>
                          <a:ea typeface="微软雅黑" panose="020B0503020204020204" pitchFamily="34" charset="-122"/>
                        </a:rPr>
                        <a:t>为正面期望次数</a:t>
                      </a:r>
                    </a:p>
                  </a:txBody>
                  <a:tcPr anchor="ctr"/>
                </a:tc>
                <a:tc>
                  <a:txBody>
                    <a:bodyPr/>
                    <a:lstStyle/>
                    <a:p>
                      <a:pPr marL="0" marR="0" lvl="0" indent="0" algn="ctr" defTabSz="914400" eaLnBrk="1" fontAlgn="base" latinLnBrk="0" hangingPunct="1">
                        <a:lnSpc>
                          <a:spcPct val="100000"/>
                        </a:lnSpc>
                        <a:spcBef>
                          <a:spcPct val="0"/>
                        </a:spcBef>
                        <a:spcAft>
                          <a:spcPct val="0"/>
                        </a:spcAft>
                        <a:buClrTx/>
                        <a:buSzTx/>
                        <a:buFont typeface="Arial" pitchFamily="34" charset="0"/>
                        <a:buNone/>
                        <a:tabLst/>
                        <a:defRPr/>
                      </a:pPr>
                      <a:r>
                        <a:rPr lang="zh-CN" altLang="en-US" sz="1400" dirty="0">
                          <a:latin typeface="微软雅黑" panose="020B0503020204020204" pitchFamily="34" charset="-122"/>
                          <a:ea typeface="微软雅黑" panose="020B0503020204020204" pitchFamily="34" charset="-122"/>
                        </a:rPr>
                        <a:t>硬币</a:t>
                      </a:r>
                      <a:r>
                        <a:rPr lang="en-US" altLang="zh-CN" sz="1400" dirty="0">
                          <a:latin typeface="微软雅黑" panose="020B0503020204020204" pitchFamily="34" charset="-122"/>
                          <a:ea typeface="微软雅黑" panose="020B0503020204020204" pitchFamily="34" charset="-122"/>
                        </a:rPr>
                        <a:t>A</a:t>
                      </a:r>
                      <a:r>
                        <a:rPr lang="zh-CN" altLang="en-US" sz="1400" dirty="0">
                          <a:latin typeface="微软雅黑" panose="020B0503020204020204" pitchFamily="34" charset="-122"/>
                          <a:ea typeface="微软雅黑" panose="020B0503020204020204" pitchFamily="34" charset="-122"/>
                        </a:rPr>
                        <a:t>为反面期望次数</a:t>
                      </a:r>
                    </a:p>
                  </a:txBody>
                  <a:tcPr anchor="ctr"/>
                </a:tc>
                <a:tc>
                  <a:txBody>
                    <a:bodyPr/>
                    <a:lstStyle/>
                    <a:p>
                      <a:pPr algn="ctr"/>
                      <a:r>
                        <a:rPr lang="zh-CN" altLang="en-US" sz="1400" dirty="0">
                          <a:latin typeface="微软雅黑" panose="020B0503020204020204" pitchFamily="34" charset="-122"/>
                          <a:ea typeface="微软雅黑" panose="020B0503020204020204" pitchFamily="34" charset="-122"/>
                        </a:rPr>
                        <a:t>硬币</a:t>
                      </a:r>
                      <a:r>
                        <a:rPr lang="en-US" altLang="zh-CN" sz="1400" dirty="0">
                          <a:latin typeface="微软雅黑" panose="020B0503020204020204" pitchFamily="34" charset="-122"/>
                          <a:ea typeface="微软雅黑" panose="020B0503020204020204" pitchFamily="34" charset="-122"/>
                        </a:rPr>
                        <a:t>B</a:t>
                      </a:r>
                      <a:r>
                        <a:rPr lang="zh-CN" altLang="en-US" sz="1400" dirty="0">
                          <a:latin typeface="微软雅黑" panose="020B0503020204020204" pitchFamily="34" charset="-122"/>
                          <a:ea typeface="微软雅黑" panose="020B0503020204020204" pitchFamily="34" charset="-122"/>
                        </a:rPr>
                        <a:t>为正面期望次数</a:t>
                      </a:r>
                    </a:p>
                  </a:txBody>
                  <a:tcPr anchor="ctr"/>
                </a:tc>
                <a:tc>
                  <a:txBody>
                    <a:bodyPr/>
                    <a:lstStyle/>
                    <a:p>
                      <a:pPr marL="0" marR="0" lvl="0" indent="0" algn="ctr" defTabSz="914400" eaLnBrk="1" fontAlgn="base" latinLnBrk="0" hangingPunct="1">
                        <a:lnSpc>
                          <a:spcPct val="100000"/>
                        </a:lnSpc>
                        <a:spcBef>
                          <a:spcPct val="0"/>
                        </a:spcBef>
                        <a:spcAft>
                          <a:spcPct val="0"/>
                        </a:spcAft>
                        <a:buClrTx/>
                        <a:buSzTx/>
                        <a:buFont typeface="Arial" pitchFamily="34" charset="0"/>
                        <a:buNone/>
                        <a:tabLst/>
                        <a:defRPr/>
                      </a:pPr>
                      <a:r>
                        <a:rPr lang="zh-CN" altLang="en-US" sz="1400" dirty="0">
                          <a:latin typeface="微软雅黑" panose="020B0503020204020204" pitchFamily="34" charset="-122"/>
                          <a:ea typeface="微软雅黑" panose="020B0503020204020204" pitchFamily="34" charset="-122"/>
                        </a:rPr>
                        <a:t>硬币</a:t>
                      </a:r>
                      <a:r>
                        <a:rPr lang="en-US" altLang="zh-CN" sz="1400" dirty="0">
                          <a:latin typeface="微软雅黑" panose="020B0503020204020204" pitchFamily="34" charset="-122"/>
                          <a:ea typeface="微软雅黑" panose="020B0503020204020204" pitchFamily="34" charset="-122"/>
                        </a:rPr>
                        <a:t>B</a:t>
                      </a:r>
                      <a:r>
                        <a:rPr lang="zh-CN" altLang="en-US" sz="1400" dirty="0">
                          <a:latin typeface="微软雅黑" panose="020B0503020204020204" pitchFamily="34" charset="-122"/>
                          <a:ea typeface="微软雅黑" panose="020B0503020204020204" pitchFamily="34" charset="-122"/>
                        </a:rPr>
                        <a:t>为反面期望次数</a:t>
                      </a:r>
                    </a:p>
                  </a:txBody>
                  <a:tcPr anchor="ctr"/>
                </a:tc>
                <a:extLst>
                  <a:ext uri="{0D108BD9-81ED-4DB2-BD59-A6C34878D82A}">
                    <a16:rowId xmlns:a16="http://schemas.microsoft.com/office/drawing/2014/main" val="2699105417"/>
                  </a:ext>
                </a:extLst>
              </a:tr>
              <a:tr h="300000">
                <a:tc>
                  <a:txBody>
                    <a:bodyPr/>
                    <a:lstStyle/>
                    <a:p>
                      <a:pPr algn="ctr"/>
                      <a:r>
                        <a:rPr lang="en-US" altLang="zh-CN" sz="1400" dirty="0">
                          <a:latin typeface="微软雅黑" panose="020B0503020204020204" pitchFamily="34" charset="-122"/>
                          <a:ea typeface="微软雅黑" panose="020B0503020204020204" pitchFamily="34" charset="-122"/>
                        </a:rPr>
                        <a:t>1</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400" dirty="0">
                          <a:latin typeface="微软雅黑" panose="020B0503020204020204" pitchFamily="34" charset="-122"/>
                          <a:ea typeface="微软雅黑" panose="020B0503020204020204" pitchFamily="34" charset="-122"/>
                        </a:rPr>
                        <a:t>0.835</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400" dirty="0">
                          <a:latin typeface="微软雅黑" panose="020B0503020204020204" pitchFamily="34" charset="-122"/>
                          <a:ea typeface="微软雅黑" panose="020B0503020204020204" pitchFamily="34" charset="-122"/>
                        </a:rPr>
                        <a:t>0.165</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400" dirty="0">
                          <a:latin typeface="微软雅黑" panose="020B0503020204020204" pitchFamily="34" charset="-122"/>
                          <a:ea typeface="微软雅黑" panose="020B0503020204020204" pitchFamily="34" charset="-122"/>
                        </a:rPr>
                        <a:t>2.505</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400" dirty="0">
                          <a:latin typeface="微软雅黑" panose="020B0503020204020204" pitchFamily="34" charset="-122"/>
                          <a:ea typeface="微软雅黑" panose="020B0503020204020204" pitchFamily="34" charset="-122"/>
                        </a:rPr>
                        <a:t>5.845</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400" dirty="0">
                          <a:latin typeface="微软雅黑" panose="020B0503020204020204" pitchFamily="34" charset="-122"/>
                          <a:ea typeface="微软雅黑" panose="020B0503020204020204" pitchFamily="34" charset="-122"/>
                        </a:rPr>
                        <a:t>0.495</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400" dirty="0">
                          <a:latin typeface="微软雅黑" panose="020B0503020204020204" pitchFamily="34" charset="-122"/>
                          <a:ea typeface="微软雅黑" panose="020B0503020204020204" pitchFamily="34" charset="-122"/>
                        </a:rPr>
                        <a:t>1.155</a:t>
                      </a:r>
                      <a:endParaRPr lang="zh-CN" altLang="en-US" sz="14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9729184"/>
                  </a:ext>
                </a:extLst>
              </a:tr>
              <a:tr h="300000">
                <a:tc>
                  <a:txBody>
                    <a:bodyPr/>
                    <a:lstStyle/>
                    <a:p>
                      <a:pPr algn="ctr"/>
                      <a:r>
                        <a:rPr lang="en-US" altLang="zh-CN" sz="1400" dirty="0">
                          <a:latin typeface="微软雅黑" panose="020B0503020204020204" pitchFamily="34" charset="-122"/>
                          <a:ea typeface="微软雅黑" panose="020B0503020204020204" pitchFamily="34" charset="-122"/>
                        </a:rPr>
                        <a:t>2</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400" dirty="0">
                          <a:latin typeface="微软雅黑" panose="020B0503020204020204" pitchFamily="34" charset="-122"/>
                          <a:ea typeface="微软雅黑" panose="020B0503020204020204" pitchFamily="34" charset="-122"/>
                        </a:rPr>
                        <a:t>0.692</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400" dirty="0">
                          <a:latin typeface="微软雅黑" panose="020B0503020204020204" pitchFamily="34" charset="-122"/>
                          <a:ea typeface="微软雅黑" panose="020B0503020204020204" pitchFamily="34" charset="-122"/>
                        </a:rPr>
                        <a:t>0.308</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400" dirty="0">
                          <a:latin typeface="微软雅黑" panose="020B0503020204020204" pitchFamily="34" charset="-122"/>
                          <a:ea typeface="微软雅黑" panose="020B0503020204020204" pitchFamily="34" charset="-122"/>
                        </a:rPr>
                        <a:t>2.769</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400" dirty="0">
                          <a:latin typeface="微软雅黑" panose="020B0503020204020204" pitchFamily="34" charset="-122"/>
                          <a:ea typeface="微软雅黑" panose="020B0503020204020204" pitchFamily="34" charset="-122"/>
                        </a:rPr>
                        <a:t>4.154</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400" dirty="0">
                          <a:latin typeface="微软雅黑" panose="020B0503020204020204" pitchFamily="34" charset="-122"/>
                          <a:ea typeface="微软雅黑" panose="020B0503020204020204" pitchFamily="34" charset="-122"/>
                        </a:rPr>
                        <a:t>1.231</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400" dirty="0">
                          <a:latin typeface="微软雅黑" panose="020B0503020204020204" pitchFamily="34" charset="-122"/>
                          <a:ea typeface="微软雅黑" panose="020B0503020204020204" pitchFamily="34" charset="-122"/>
                        </a:rPr>
                        <a:t>1.846</a:t>
                      </a:r>
                      <a:endParaRPr lang="zh-CN" altLang="en-US" sz="14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364315353"/>
                  </a:ext>
                </a:extLst>
              </a:tr>
              <a:tr h="300000">
                <a:tc>
                  <a:txBody>
                    <a:bodyPr/>
                    <a:lstStyle/>
                    <a:p>
                      <a:pPr algn="ctr"/>
                      <a:r>
                        <a:rPr lang="en-US" altLang="zh-CN" sz="1400" dirty="0">
                          <a:latin typeface="微软雅黑" panose="020B0503020204020204" pitchFamily="34" charset="-122"/>
                          <a:ea typeface="微软雅黑" panose="020B0503020204020204" pitchFamily="34" charset="-122"/>
                        </a:rPr>
                        <a:t>3</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eaLnBrk="1" fontAlgn="base" latinLnBrk="0" hangingPunct="1">
                        <a:lnSpc>
                          <a:spcPct val="100000"/>
                        </a:lnSpc>
                        <a:spcBef>
                          <a:spcPct val="0"/>
                        </a:spcBef>
                        <a:spcAft>
                          <a:spcPct val="0"/>
                        </a:spcAft>
                        <a:buClrTx/>
                        <a:buSzTx/>
                        <a:buFont typeface="Arial" pitchFamily="34" charset="0"/>
                        <a:buNone/>
                        <a:tabLst/>
                        <a:defRPr/>
                      </a:pPr>
                      <a:r>
                        <a:rPr lang="en-US" altLang="zh-CN" sz="1400" dirty="0">
                          <a:latin typeface="微软雅黑" panose="020B0503020204020204" pitchFamily="34" charset="-122"/>
                          <a:ea typeface="微软雅黑" panose="020B0503020204020204" pitchFamily="34" charset="-122"/>
                        </a:rPr>
                        <a:t>0.165</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eaLnBrk="1" fontAlgn="base" latinLnBrk="0" hangingPunct="1">
                        <a:lnSpc>
                          <a:spcPct val="100000"/>
                        </a:lnSpc>
                        <a:spcBef>
                          <a:spcPct val="0"/>
                        </a:spcBef>
                        <a:spcAft>
                          <a:spcPct val="0"/>
                        </a:spcAft>
                        <a:buClrTx/>
                        <a:buSzTx/>
                        <a:buFont typeface="Arial" pitchFamily="34" charset="0"/>
                        <a:buNone/>
                        <a:tabLst/>
                        <a:defRPr/>
                      </a:pPr>
                      <a:r>
                        <a:rPr lang="en-US" altLang="zh-CN" sz="1400" dirty="0">
                          <a:latin typeface="微软雅黑" panose="020B0503020204020204" pitchFamily="34" charset="-122"/>
                          <a:ea typeface="微软雅黑" panose="020B0503020204020204" pitchFamily="34" charset="-122"/>
                        </a:rPr>
                        <a:t>0.835</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eaLnBrk="1" fontAlgn="base" latinLnBrk="0" hangingPunct="1">
                        <a:lnSpc>
                          <a:spcPct val="100000"/>
                        </a:lnSpc>
                        <a:spcBef>
                          <a:spcPct val="0"/>
                        </a:spcBef>
                        <a:spcAft>
                          <a:spcPct val="0"/>
                        </a:spcAft>
                        <a:buClrTx/>
                        <a:buSzTx/>
                        <a:buFont typeface="Arial" pitchFamily="34" charset="0"/>
                        <a:buNone/>
                        <a:tabLst/>
                        <a:defRPr/>
                      </a:pPr>
                      <a:r>
                        <a:rPr lang="en-US" altLang="zh-CN" sz="1400" dirty="0">
                          <a:latin typeface="微软雅黑" panose="020B0503020204020204" pitchFamily="34" charset="-122"/>
                          <a:ea typeface="微软雅黑" panose="020B0503020204020204" pitchFamily="34" charset="-122"/>
                        </a:rPr>
                        <a:t>1.155</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eaLnBrk="1" fontAlgn="base" latinLnBrk="0" hangingPunct="1">
                        <a:lnSpc>
                          <a:spcPct val="100000"/>
                        </a:lnSpc>
                        <a:spcBef>
                          <a:spcPct val="0"/>
                        </a:spcBef>
                        <a:spcAft>
                          <a:spcPct val="0"/>
                        </a:spcAft>
                        <a:buClrTx/>
                        <a:buSzTx/>
                        <a:buFont typeface="Arial" pitchFamily="34" charset="0"/>
                        <a:buNone/>
                        <a:tabLst/>
                        <a:defRPr/>
                      </a:pPr>
                      <a:r>
                        <a:rPr lang="en-US" altLang="zh-CN" sz="1400" dirty="0">
                          <a:latin typeface="微软雅黑" panose="020B0503020204020204" pitchFamily="34" charset="-122"/>
                          <a:ea typeface="微软雅黑" panose="020B0503020204020204" pitchFamily="34" charset="-122"/>
                        </a:rPr>
                        <a:t>0.495</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eaLnBrk="1" fontAlgn="base" latinLnBrk="0" hangingPunct="1">
                        <a:lnSpc>
                          <a:spcPct val="100000"/>
                        </a:lnSpc>
                        <a:spcBef>
                          <a:spcPct val="0"/>
                        </a:spcBef>
                        <a:spcAft>
                          <a:spcPct val="0"/>
                        </a:spcAft>
                        <a:buClrTx/>
                        <a:buSzTx/>
                        <a:buFont typeface="Arial" pitchFamily="34" charset="0"/>
                        <a:buNone/>
                        <a:tabLst/>
                        <a:defRPr/>
                      </a:pPr>
                      <a:r>
                        <a:rPr lang="en-US" altLang="zh-CN" sz="1400" dirty="0">
                          <a:latin typeface="微软雅黑" panose="020B0503020204020204" pitchFamily="34" charset="-122"/>
                          <a:ea typeface="微软雅黑" panose="020B0503020204020204" pitchFamily="34" charset="-122"/>
                        </a:rPr>
                        <a:t>5.845</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eaLnBrk="1" fontAlgn="base" latinLnBrk="0" hangingPunct="1">
                        <a:lnSpc>
                          <a:spcPct val="100000"/>
                        </a:lnSpc>
                        <a:spcBef>
                          <a:spcPct val="0"/>
                        </a:spcBef>
                        <a:spcAft>
                          <a:spcPct val="0"/>
                        </a:spcAft>
                        <a:buClrTx/>
                        <a:buSzTx/>
                        <a:buFont typeface="Arial" pitchFamily="34" charset="0"/>
                        <a:buNone/>
                        <a:tabLst/>
                        <a:defRPr/>
                      </a:pPr>
                      <a:r>
                        <a:rPr lang="en-US" altLang="zh-CN" sz="1400" dirty="0">
                          <a:latin typeface="微软雅黑" panose="020B0503020204020204" pitchFamily="34" charset="-122"/>
                          <a:ea typeface="微软雅黑" panose="020B0503020204020204" pitchFamily="34" charset="-122"/>
                        </a:rPr>
                        <a:t>2.505</a:t>
                      </a:r>
                      <a:endParaRPr lang="zh-CN" altLang="en-US" sz="14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03531141"/>
                  </a:ext>
                </a:extLst>
              </a:tr>
              <a:tr h="300000">
                <a:tc>
                  <a:txBody>
                    <a:bodyPr/>
                    <a:lstStyle/>
                    <a:p>
                      <a:pPr algn="ctr"/>
                      <a:r>
                        <a:rPr lang="en-US" altLang="zh-CN" sz="1400" dirty="0">
                          <a:latin typeface="微软雅黑" panose="020B0503020204020204" pitchFamily="34" charset="-122"/>
                          <a:ea typeface="微软雅黑" panose="020B0503020204020204" pitchFamily="34" charset="-122"/>
                        </a:rPr>
                        <a:t>4</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400" dirty="0">
                          <a:latin typeface="微软雅黑" panose="020B0503020204020204" pitchFamily="34" charset="-122"/>
                          <a:ea typeface="微软雅黑" panose="020B0503020204020204" pitchFamily="34" charset="-122"/>
                        </a:rPr>
                        <a:t>0.919</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400" dirty="0">
                          <a:latin typeface="微软雅黑" panose="020B0503020204020204" pitchFamily="34" charset="-122"/>
                          <a:ea typeface="微软雅黑" panose="020B0503020204020204" pitchFamily="34" charset="-122"/>
                        </a:rPr>
                        <a:t>0.081</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400" dirty="0">
                          <a:latin typeface="微软雅黑" panose="020B0503020204020204" pitchFamily="34" charset="-122"/>
                          <a:ea typeface="微软雅黑" panose="020B0503020204020204" pitchFamily="34" charset="-122"/>
                        </a:rPr>
                        <a:t>1.839</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400" dirty="0">
                          <a:latin typeface="微软雅黑" panose="020B0503020204020204" pitchFamily="34" charset="-122"/>
                          <a:ea typeface="微软雅黑" panose="020B0503020204020204" pitchFamily="34" charset="-122"/>
                        </a:rPr>
                        <a:t>7.354</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400" dirty="0">
                          <a:latin typeface="微软雅黑" panose="020B0503020204020204" pitchFamily="34" charset="-122"/>
                          <a:ea typeface="微软雅黑" panose="020B0503020204020204" pitchFamily="34" charset="-122"/>
                        </a:rPr>
                        <a:t>0.161</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400" dirty="0">
                          <a:latin typeface="微软雅黑" panose="020B0503020204020204" pitchFamily="34" charset="-122"/>
                          <a:ea typeface="微软雅黑" panose="020B0503020204020204" pitchFamily="34" charset="-122"/>
                        </a:rPr>
                        <a:t>0.646</a:t>
                      </a:r>
                      <a:endParaRPr lang="zh-CN" altLang="en-US" sz="14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24491852"/>
                  </a:ext>
                </a:extLst>
              </a:tr>
              <a:tr h="300000">
                <a:tc>
                  <a:txBody>
                    <a:bodyPr/>
                    <a:lstStyle/>
                    <a:p>
                      <a:pPr algn="ctr"/>
                      <a:r>
                        <a:rPr lang="en-US" altLang="zh-CN" sz="1400" dirty="0">
                          <a:latin typeface="微软雅黑" panose="020B0503020204020204" pitchFamily="34" charset="-122"/>
                          <a:ea typeface="微软雅黑" panose="020B0503020204020204" pitchFamily="34" charset="-122"/>
                        </a:rPr>
                        <a:t>5</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eaLnBrk="1" fontAlgn="base" latinLnBrk="0" hangingPunct="1">
                        <a:lnSpc>
                          <a:spcPct val="100000"/>
                        </a:lnSpc>
                        <a:spcBef>
                          <a:spcPct val="0"/>
                        </a:spcBef>
                        <a:spcAft>
                          <a:spcPct val="0"/>
                        </a:spcAft>
                        <a:buClrTx/>
                        <a:buSzTx/>
                        <a:buFont typeface="Arial" pitchFamily="34" charset="0"/>
                        <a:buNone/>
                        <a:tabLst/>
                        <a:defRPr/>
                      </a:pPr>
                      <a:r>
                        <a:rPr lang="en-US" altLang="zh-CN" sz="1400" dirty="0">
                          <a:latin typeface="微软雅黑" panose="020B0503020204020204" pitchFamily="34" charset="-122"/>
                          <a:ea typeface="微软雅黑" panose="020B0503020204020204" pitchFamily="34" charset="-122"/>
                        </a:rPr>
                        <a:t>0.165</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eaLnBrk="1" fontAlgn="base" latinLnBrk="0" hangingPunct="1">
                        <a:lnSpc>
                          <a:spcPct val="100000"/>
                        </a:lnSpc>
                        <a:spcBef>
                          <a:spcPct val="0"/>
                        </a:spcBef>
                        <a:spcAft>
                          <a:spcPct val="0"/>
                        </a:spcAft>
                        <a:buClrTx/>
                        <a:buSzTx/>
                        <a:buFont typeface="Arial" pitchFamily="34" charset="0"/>
                        <a:buNone/>
                        <a:tabLst/>
                        <a:defRPr/>
                      </a:pPr>
                      <a:r>
                        <a:rPr lang="en-US" altLang="zh-CN" sz="1400" dirty="0">
                          <a:latin typeface="微软雅黑" panose="020B0503020204020204" pitchFamily="34" charset="-122"/>
                          <a:ea typeface="微软雅黑" panose="020B0503020204020204" pitchFamily="34" charset="-122"/>
                        </a:rPr>
                        <a:t>0.835</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eaLnBrk="1" fontAlgn="base" latinLnBrk="0" hangingPunct="1">
                        <a:lnSpc>
                          <a:spcPct val="100000"/>
                        </a:lnSpc>
                        <a:spcBef>
                          <a:spcPct val="0"/>
                        </a:spcBef>
                        <a:spcAft>
                          <a:spcPct val="0"/>
                        </a:spcAft>
                        <a:buClrTx/>
                        <a:buSzTx/>
                        <a:buFont typeface="Arial" pitchFamily="34" charset="0"/>
                        <a:buNone/>
                        <a:tabLst/>
                        <a:defRPr/>
                      </a:pPr>
                      <a:r>
                        <a:rPr lang="en-US" altLang="zh-CN" sz="1400" dirty="0">
                          <a:latin typeface="微软雅黑" panose="020B0503020204020204" pitchFamily="34" charset="-122"/>
                          <a:ea typeface="微软雅黑" panose="020B0503020204020204" pitchFamily="34" charset="-122"/>
                        </a:rPr>
                        <a:t>1.155</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eaLnBrk="1" fontAlgn="base" latinLnBrk="0" hangingPunct="1">
                        <a:lnSpc>
                          <a:spcPct val="100000"/>
                        </a:lnSpc>
                        <a:spcBef>
                          <a:spcPct val="0"/>
                        </a:spcBef>
                        <a:spcAft>
                          <a:spcPct val="0"/>
                        </a:spcAft>
                        <a:buClrTx/>
                        <a:buSzTx/>
                        <a:buFont typeface="Arial" pitchFamily="34" charset="0"/>
                        <a:buNone/>
                        <a:tabLst/>
                        <a:defRPr/>
                      </a:pPr>
                      <a:r>
                        <a:rPr lang="en-US" altLang="zh-CN" sz="1400" dirty="0">
                          <a:latin typeface="微软雅黑" panose="020B0503020204020204" pitchFamily="34" charset="-122"/>
                          <a:ea typeface="微软雅黑" panose="020B0503020204020204" pitchFamily="34" charset="-122"/>
                        </a:rPr>
                        <a:t>0.495</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eaLnBrk="1" fontAlgn="base" latinLnBrk="0" hangingPunct="1">
                        <a:lnSpc>
                          <a:spcPct val="100000"/>
                        </a:lnSpc>
                        <a:spcBef>
                          <a:spcPct val="0"/>
                        </a:spcBef>
                        <a:spcAft>
                          <a:spcPct val="0"/>
                        </a:spcAft>
                        <a:buClrTx/>
                        <a:buSzTx/>
                        <a:buFont typeface="Arial" pitchFamily="34" charset="0"/>
                        <a:buNone/>
                        <a:tabLst/>
                        <a:defRPr/>
                      </a:pPr>
                      <a:r>
                        <a:rPr lang="en-US" altLang="zh-CN" sz="1400" dirty="0">
                          <a:latin typeface="微软雅黑" panose="020B0503020204020204" pitchFamily="34" charset="-122"/>
                          <a:ea typeface="微软雅黑" panose="020B0503020204020204" pitchFamily="34" charset="-122"/>
                        </a:rPr>
                        <a:t>5.845</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eaLnBrk="1" fontAlgn="base" latinLnBrk="0" hangingPunct="1">
                        <a:lnSpc>
                          <a:spcPct val="100000"/>
                        </a:lnSpc>
                        <a:spcBef>
                          <a:spcPct val="0"/>
                        </a:spcBef>
                        <a:spcAft>
                          <a:spcPct val="0"/>
                        </a:spcAft>
                        <a:buClrTx/>
                        <a:buSzTx/>
                        <a:buFont typeface="Arial" pitchFamily="34" charset="0"/>
                        <a:buNone/>
                        <a:tabLst/>
                        <a:defRPr/>
                      </a:pPr>
                      <a:r>
                        <a:rPr lang="en-US" altLang="zh-CN" sz="1400" dirty="0">
                          <a:latin typeface="微软雅黑" panose="020B0503020204020204" pitchFamily="34" charset="-122"/>
                          <a:ea typeface="微软雅黑" panose="020B0503020204020204" pitchFamily="34" charset="-122"/>
                        </a:rPr>
                        <a:t>2.505</a:t>
                      </a:r>
                      <a:endParaRPr lang="zh-CN" altLang="en-US" sz="14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93392975"/>
                  </a:ext>
                </a:extLst>
              </a:tr>
              <a:tr h="300000">
                <a:tc gridSpan="3">
                  <a:txBody>
                    <a:bodyPr/>
                    <a:lstStyle/>
                    <a:p>
                      <a:pPr algn="ctr"/>
                      <a:r>
                        <a:rPr lang="zh-CN" altLang="en-US" sz="1400" dirty="0">
                          <a:latin typeface="微软雅黑" panose="020B0503020204020204" pitchFamily="34" charset="-122"/>
                          <a:ea typeface="微软雅黑" panose="020B0503020204020204" pitchFamily="34" charset="-122"/>
                        </a:rPr>
                        <a:t>合并</a:t>
                      </a:r>
                    </a:p>
                  </a:txBody>
                  <a:tcPr anchor="ctr"/>
                </a:tc>
                <a:tc hMerge="1">
                  <a:txBody>
                    <a:bodyPr/>
                    <a:lstStyle/>
                    <a:p>
                      <a:pPr marL="0" marR="0" lvl="0" indent="0" algn="ctr" defTabSz="914400" eaLnBrk="1" fontAlgn="base" latinLnBrk="0" hangingPunct="1">
                        <a:lnSpc>
                          <a:spcPct val="100000"/>
                        </a:lnSpc>
                        <a:spcBef>
                          <a:spcPct val="0"/>
                        </a:spcBef>
                        <a:spcAft>
                          <a:spcPct val="0"/>
                        </a:spcAft>
                        <a:buClrTx/>
                        <a:buSzTx/>
                        <a:buFont typeface="Arial" pitchFamily="34" charset="0"/>
                        <a:buNone/>
                        <a:tabLst/>
                        <a:defRPr/>
                      </a:pPr>
                      <a:endParaRPr lang="zh-CN" altLang="en-US" dirty="0">
                        <a:latin typeface="微软雅黑" panose="020B0503020204020204" pitchFamily="34" charset="-122"/>
                        <a:ea typeface="微软雅黑" panose="020B0503020204020204" pitchFamily="34" charset="-122"/>
                      </a:endParaRPr>
                    </a:p>
                  </a:txBody>
                  <a:tcPr/>
                </a:tc>
                <a:tc hMerge="1">
                  <a:txBody>
                    <a:bodyPr/>
                    <a:lstStyle/>
                    <a:p>
                      <a:pPr marL="0" marR="0" lvl="0" indent="0" algn="ctr" defTabSz="914400" eaLnBrk="1" fontAlgn="base" latinLnBrk="0" hangingPunct="1">
                        <a:lnSpc>
                          <a:spcPct val="100000"/>
                        </a:lnSpc>
                        <a:spcBef>
                          <a:spcPct val="0"/>
                        </a:spcBef>
                        <a:spcAft>
                          <a:spcPct val="0"/>
                        </a:spcAft>
                        <a:buClrTx/>
                        <a:buSzTx/>
                        <a:buFont typeface="Arial" pitchFamily="34" charset="0"/>
                        <a:buNone/>
                        <a:tabLst/>
                        <a:defRPr/>
                      </a:pPr>
                      <a:endParaRPr lang="zh-CN" altLang="en-US" dirty="0">
                        <a:latin typeface="微软雅黑" panose="020B0503020204020204" pitchFamily="34" charset="-122"/>
                        <a:ea typeface="微软雅黑" panose="020B0503020204020204" pitchFamily="34" charset="-122"/>
                      </a:endParaRPr>
                    </a:p>
                  </a:txBody>
                  <a:tcPr/>
                </a:tc>
                <a:tc>
                  <a:txBody>
                    <a:bodyPr/>
                    <a:lstStyle/>
                    <a:p>
                      <a:pPr marL="0" marR="0" lvl="0" indent="0" algn="ctr" defTabSz="914400" eaLnBrk="1" fontAlgn="base" latinLnBrk="0" hangingPunct="1">
                        <a:lnSpc>
                          <a:spcPct val="100000"/>
                        </a:lnSpc>
                        <a:spcBef>
                          <a:spcPct val="0"/>
                        </a:spcBef>
                        <a:spcAft>
                          <a:spcPct val="0"/>
                        </a:spcAft>
                        <a:buClrTx/>
                        <a:buSzTx/>
                        <a:buFont typeface="Arial" pitchFamily="34" charset="0"/>
                        <a:buNone/>
                        <a:tabLst/>
                        <a:defRPr/>
                      </a:pPr>
                      <a:r>
                        <a:rPr lang="en-US" altLang="zh-CN" sz="1400" dirty="0">
                          <a:latin typeface="微软雅黑" panose="020B0503020204020204" pitchFamily="34" charset="-122"/>
                          <a:ea typeface="微软雅黑" panose="020B0503020204020204" pitchFamily="34" charset="-122"/>
                        </a:rPr>
                        <a:t>9.422</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eaLnBrk="1" fontAlgn="base" latinLnBrk="0" hangingPunct="1">
                        <a:lnSpc>
                          <a:spcPct val="100000"/>
                        </a:lnSpc>
                        <a:spcBef>
                          <a:spcPct val="0"/>
                        </a:spcBef>
                        <a:spcAft>
                          <a:spcPct val="0"/>
                        </a:spcAft>
                        <a:buClrTx/>
                        <a:buSzTx/>
                        <a:buFont typeface="Arial" pitchFamily="34" charset="0"/>
                        <a:buNone/>
                        <a:tabLst/>
                        <a:defRPr/>
                      </a:pPr>
                      <a:r>
                        <a:rPr lang="en-US" altLang="zh-CN" sz="1400" dirty="0">
                          <a:latin typeface="微软雅黑" panose="020B0503020204020204" pitchFamily="34" charset="-122"/>
                          <a:ea typeface="微软雅黑" panose="020B0503020204020204" pitchFamily="34" charset="-122"/>
                        </a:rPr>
                        <a:t>18.343</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eaLnBrk="1" fontAlgn="base" latinLnBrk="0" hangingPunct="1">
                        <a:lnSpc>
                          <a:spcPct val="100000"/>
                        </a:lnSpc>
                        <a:spcBef>
                          <a:spcPct val="0"/>
                        </a:spcBef>
                        <a:spcAft>
                          <a:spcPct val="0"/>
                        </a:spcAft>
                        <a:buClrTx/>
                        <a:buSzTx/>
                        <a:buFont typeface="Arial" pitchFamily="34" charset="0"/>
                        <a:buNone/>
                        <a:tabLst/>
                        <a:defRPr/>
                      </a:pPr>
                      <a:r>
                        <a:rPr lang="en-US" altLang="zh-CN" sz="1400" dirty="0">
                          <a:latin typeface="微软雅黑" panose="020B0503020204020204" pitchFamily="34" charset="-122"/>
                          <a:ea typeface="微软雅黑" panose="020B0503020204020204" pitchFamily="34" charset="-122"/>
                        </a:rPr>
                        <a:t>13.578</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eaLnBrk="1" fontAlgn="base" latinLnBrk="0" hangingPunct="1">
                        <a:lnSpc>
                          <a:spcPct val="100000"/>
                        </a:lnSpc>
                        <a:spcBef>
                          <a:spcPct val="0"/>
                        </a:spcBef>
                        <a:spcAft>
                          <a:spcPct val="0"/>
                        </a:spcAft>
                        <a:buClrTx/>
                        <a:buSzTx/>
                        <a:buFont typeface="Arial" pitchFamily="34" charset="0"/>
                        <a:buNone/>
                        <a:tabLst/>
                        <a:defRPr/>
                      </a:pPr>
                      <a:r>
                        <a:rPr lang="en-US" altLang="zh-CN" sz="1400" dirty="0">
                          <a:latin typeface="微软雅黑" panose="020B0503020204020204" pitchFamily="34" charset="-122"/>
                          <a:ea typeface="微软雅黑" panose="020B0503020204020204" pitchFamily="34" charset="-122"/>
                        </a:rPr>
                        <a:t>8.657</a:t>
                      </a:r>
                      <a:endParaRPr lang="zh-CN" altLang="en-US" sz="14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604972532"/>
                  </a:ext>
                </a:extLst>
              </a:tr>
            </a:tbl>
          </a:graphicData>
        </a:graphic>
      </p:graphicFrame>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7DC874DE-8413-4624-892B-BE49A8476B35}"/>
                  </a:ext>
                </a:extLst>
              </p:cNvPr>
              <p:cNvSpPr/>
              <p:nvPr/>
            </p:nvSpPr>
            <p:spPr>
              <a:xfrm>
                <a:off x="162560" y="5181823"/>
                <a:ext cx="8067040" cy="1289905"/>
              </a:xfrm>
              <a:prstGeom prst="rect">
                <a:avLst/>
              </a:prstGeom>
            </p:spPr>
            <p:txBody>
              <a:bodyPr wrap="square">
                <a:spAutoFit/>
              </a:bodyPr>
              <a:lstStyle/>
              <a:p>
                <a:pPr lvl="0" algn="just">
                  <a:lnSpc>
                    <a:spcPct val="150000"/>
                  </a:lnSpc>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需要指出的是，</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隐变量</a:t>
                </a:r>
                <a14:m>
                  <m:oMath xmlns:m="http://schemas.openxmlformats.org/officeDocument/2006/math">
                    <m:d>
                      <m:dPr>
                        <m:begChr m:val="{"/>
                        <m:endChr m:val="}"/>
                        <m:ctrlPr>
                          <a:rPr lang="en-US" altLang="zh-CN" b="1" i="1">
                            <a:solidFill>
                              <a:srgbClr val="C00000"/>
                            </a:solidFill>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b="1" i="1">
                                <a:solidFill>
                                  <a:srgbClr val="C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i="1">
                                <a:solidFill>
                                  <a:srgbClr val="C00000"/>
                                </a:solidFill>
                                <a:latin typeface="Cambria Math" panose="02040503050406030204" pitchFamily="18" charset="0"/>
                                <a:ea typeface="微软雅黑" panose="020B0503020204020204" pitchFamily="34" charset="-122"/>
                                <a:cs typeface="Times New Roman" panose="02020603050405020304" pitchFamily="18" charset="0"/>
                              </a:rPr>
                              <m:t>𝒛</m:t>
                            </m:r>
                          </m:e>
                          <m:sub>
                            <m:r>
                              <a:rPr lang="en-US" altLang="zh-CN" b="1" i="1">
                                <a:solidFill>
                                  <a:srgbClr val="C00000"/>
                                </a:solidFill>
                                <a:latin typeface="Cambria Math" panose="02040503050406030204" pitchFamily="18" charset="0"/>
                                <a:ea typeface="微软雅黑" panose="020B0503020204020204" pitchFamily="34" charset="-122"/>
                                <a:cs typeface="Times New Roman" panose="02020603050405020304" pitchFamily="18" charset="0"/>
                              </a:rPr>
                              <m:t>𝒕</m:t>
                            </m:r>
                          </m:sub>
                        </m:sSub>
                      </m:e>
                    </m:d>
                    <m:r>
                      <a:rPr lang="en-US" altLang="zh-CN" b="1" i="1">
                        <a:solidFill>
                          <a:srgbClr val="C00000"/>
                        </a:solidFill>
                        <a:latin typeface="Cambria Math" panose="02040503050406030204" pitchFamily="18" charset="0"/>
                        <a:ea typeface="微软雅黑" panose="020B0503020204020204" pitchFamily="34" charset="-122"/>
                        <a:cs typeface="Times New Roman" panose="02020603050405020304" pitchFamily="18" charset="0"/>
                      </a:rPr>
                      <m:t> </m:t>
                    </m:r>
                    <m:r>
                      <a:rPr lang="en-US" altLang="zh-CN" b="1" i="1">
                        <a:solidFill>
                          <a:srgbClr val="C00000"/>
                        </a:solidFill>
                        <a:latin typeface="Cambria Math" panose="02040503050406030204" pitchFamily="18" charset="0"/>
                        <a:ea typeface="微软雅黑" panose="020B0503020204020204" pitchFamily="34" charset="-122"/>
                        <a:cs typeface="Times New Roman" panose="02020603050405020304" pitchFamily="18" charset="0"/>
                      </a:rPr>
                      <m:t>𝒕</m:t>
                    </m:r>
                    <m:r>
                      <a:rPr lang="en-US" altLang="zh-CN" b="1" i="1">
                        <a:solidFill>
                          <a:srgbClr val="C0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b="1" i="1">
                        <a:solidFill>
                          <a:srgbClr val="C00000"/>
                        </a:solidFill>
                        <a:latin typeface="Cambria Math" panose="02040503050406030204" pitchFamily="18" charset="0"/>
                        <a:ea typeface="微软雅黑" panose="020B0503020204020204" pitchFamily="34" charset="-122"/>
                        <a:cs typeface="Times New Roman" panose="02020603050405020304" pitchFamily="18" charset="0"/>
                      </a:rPr>
                      <m:t>𝟏</m:t>
                    </m:r>
                    <m:r>
                      <a:rPr lang="en-US" altLang="zh-CN" b="1" i="1">
                        <a:solidFill>
                          <a:srgbClr val="C0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b="1" i="1">
                        <a:solidFill>
                          <a:srgbClr val="C00000"/>
                        </a:solidFill>
                        <a:latin typeface="Cambria Math" panose="02040503050406030204" pitchFamily="18" charset="0"/>
                        <a:ea typeface="微软雅黑" panose="020B0503020204020204" pitchFamily="34" charset="-122"/>
                        <a:cs typeface="Times New Roman" panose="02020603050405020304" pitchFamily="18" charset="0"/>
                      </a:rPr>
                      <m:t>𝟓</m:t>
                    </m:r>
                  </m:oMath>
                </a14:m>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表示各次实验使用硬币的情况</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，共有两个可能的取值（使用</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或使用</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B</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），符合伯努利分布，因此表格中</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列的选硬币</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概率和选硬币</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B</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概率即为隐变量</a:t>
                </a:r>
                <a14:m>
                  <m:oMath xmlns:m="http://schemas.openxmlformats.org/officeDocument/2006/math">
                    <m:d>
                      <m:dPr>
                        <m:begChr m:val="{"/>
                        <m:endChr m:val="}"/>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𝑧</m:t>
                            </m:r>
                          </m:e>
                          <m:sub>
                            <m:r>
                              <a:rPr lang="en-US" altLang="zh-CN">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sub>
                        </m:sSub>
                      </m:e>
                    </m:d>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的概率分布。</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11" name="矩形 10">
                <a:extLst>
                  <a:ext uri="{FF2B5EF4-FFF2-40B4-BE49-F238E27FC236}">
                    <a16:creationId xmlns:a16="http://schemas.microsoft.com/office/drawing/2014/main" id="{7DC874DE-8413-4624-892B-BE49A8476B35}"/>
                  </a:ext>
                </a:extLst>
              </p:cNvPr>
              <p:cNvSpPr>
                <a:spLocks noRot="1" noChangeAspect="1" noMove="1" noResize="1" noEditPoints="1" noAdjustHandles="1" noChangeArrowheads="1" noChangeShapeType="1" noTextEdit="1"/>
              </p:cNvSpPr>
              <p:nvPr/>
            </p:nvSpPr>
            <p:spPr>
              <a:xfrm>
                <a:off x="162560" y="5181823"/>
                <a:ext cx="8067040" cy="1289905"/>
              </a:xfrm>
              <a:prstGeom prst="rect">
                <a:avLst/>
              </a:prstGeom>
              <a:blipFill>
                <a:blip r:embed="rId3"/>
                <a:stretch>
                  <a:fillRect l="-680" r="-605" b="-6604"/>
                </a:stretch>
              </a:blipFill>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4DF6BB9E-C03D-4896-9C27-4A50D3C974D6}"/>
              </a:ext>
            </a:extLst>
          </p:cNvPr>
          <p:cNvSpPr/>
          <p:nvPr/>
        </p:nvSpPr>
        <p:spPr>
          <a:xfrm>
            <a:off x="2005445" y="2282190"/>
            <a:ext cx="2088573" cy="2243917"/>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E01C5B7A-BEF6-4547-ADA5-5E87442FE8E9}"/>
                  </a:ext>
                </a:extLst>
              </p:cNvPr>
              <p:cNvSpPr/>
              <p:nvPr/>
            </p:nvSpPr>
            <p:spPr>
              <a:xfrm>
                <a:off x="2760418" y="1676177"/>
                <a:ext cx="59548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800" b="1" i="1" smtClean="0">
                              <a:solidFill>
                                <a:srgbClr val="C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800" b="1" i="1">
                              <a:solidFill>
                                <a:srgbClr val="C00000"/>
                              </a:solidFill>
                              <a:latin typeface="Cambria Math" panose="02040503050406030204" pitchFamily="18" charset="0"/>
                              <a:ea typeface="微软雅黑" panose="020B0503020204020204" pitchFamily="34" charset="-122"/>
                              <a:cs typeface="Times New Roman" panose="02020603050405020304" pitchFamily="18" charset="0"/>
                            </a:rPr>
                            <m:t>𝒛</m:t>
                          </m:r>
                        </m:e>
                        <m:sub>
                          <m:r>
                            <a:rPr lang="en-US" altLang="zh-CN" sz="2800" b="1" i="1">
                              <a:solidFill>
                                <a:srgbClr val="C00000"/>
                              </a:solidFill>
                              <a:latin typeface="Cambria Math" panose="02040503050406030204" pitchFamily="18" charset="0"/>
                              <a:ea typeface="微软雅黑" panose="020B0503020204020204" pitchFamily="34" charset="-122"/>
                              <a:cs typeface="Times New Roman" panose="02020603050405020304" pitchFamily="18" charset="0"/>
                            </a:rPr>
                            <m:t>𝒕</m:t>
                          </m:r>
                        </m:sub>
                      </m:sSub>
                    </m:oMath>
                  </m:oMathPara>
                </a14:m>
                <a:endParaRPr lang="zh-CN" altLang="en-US" sz="2800" b="1" dirty="0">
                  <a:solidFill>
                    <a:srgbClr val="C00000"/>
                  </a:solidFill>
                </a:endParaRPr>
              </a:p>
            </p:txBody>
          </p:sp>
        </mc:Choice>
        <mc:Fallback xmlns="">
          <p:sp>
            <p:nvSpPr>
              <p:cNvPr id="16" name="矩形 15">
                <a:extLst>
                  <a:ext uri="{FF2B5EF4-FFF2-40B4-BE49-F238E27FC236}">
                    <a16:creationId xmlns:a16="http://schemas.microsoft.com/office/drawing/2014/main" id="{E01C5B7A-BEF6-4547-ADA5-5E87442FE8E9}"/>
                  </a:ext>
                </a:extLst>
              </p:cNvPr>
              <p:cNvSpPr>
                <a:spLocks noRot="1" noChangeAspect="1" noMove="1" noResize="1" noEditPoints="1" noAdjustHandles="1" noChangeArrowheads="1" noChangeShapeType="1" noTextEdit="1"/>
              </p:cNvSpPr>
              <p:nvPr/>
            </p:nvSpPr>
            <p:spPr>
              <a:xfrm>
                <a:off x="2760418" y="1676177"/>
                <a:ext cx="595484" cy="523220"/>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321180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50</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en-US" altLang="zh-CN" sz="3200" dirty="0">
                <a:latin typeface="微软雅黑" panose="020B0503020204020204" pitchFamily="34" charset="-122"/>
                <a:ea typeface="微软雅黑" panose="020B0503020204020204" pitchFamily="34" charset="-122"/>
                <a:cs typeface="Times New Roman" panose="02020603050405020304" pitchFamily="18" charset="0"/>
              </a:rPr>
              <a:t>EM</a:t>
            </a:r>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算法</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96B97EB8-671F-2DD6-D687-E431680C58CC}"/>
                  </a:ext>
                </a:extLst>
              </p:cNvPr>
              <p:cNvSpPr txBox="1"/>
              <p:nvPr/>
            </p:nvSpPr>
            <p:spPr>
              <a:xfrm>
                <a:off x="162560" y="1245067"/>
                <a:ext cx="8675814" cy="5549724"/>
              </a:xfrm>
              <a:prstGeom prst="rect">
                <a:avLst/>
              </a:prstGeom>
              <a:noFill/>
            </p:spPr>
            <p:txBody>
              <a:bodyPr wrap="square">
                <a:spAutoFit/>
              </a:bodyPr>
              <a:lstStyle/>
              <a:p>
                <a:pPr lvl="0" algn="just">
                  <a:lnSpc>
                    <a:spcPct val="150000"/>
                  </a:lnSpc>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此后，我们进行 </a:t>
                </a:r>
                <a:r>
                  <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M </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步</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（最大化步）的更新步骤，即：</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第一轮迭代完后，新的</a:t>
                </a:r>
                <a14:m>
                  <m:oMath xmlns:m="http://schemas.openxmlformats.org/officeDocument/2006/math">
                    <m:sSub>
                      <m:sSubPr>
                        <m:ctrlPr>
                          <a:rPr lang="en-US" altLang="zh-CN" i="1">
                            <a:latin typeface="Cambria Math" panose="02040503050406030204" pitchFamily="18" charset="0"/>
                          </a:rPr>
                        </m:ctrlPr>
                      </m:sSubPr>
                      <m:e>
                        <m:r>
                          <a:rPr lang="zh-CN" altLang="en-US" i="1">
                            <a:latin typeface="Cambria Math" panose="02040503050406030204" pitchFamily="18" charset="0"/>
                          </a:rPr>
                          <m:t>𝜃</m:t>
                        </m:r>
                      </m:e>
                      <m:sub>
                        <m:r>
                          <a:rPr lang="en-US" altLang="zh-CN" i="1">
                            <a:latin typeface="Cambria Math" panose="02040503050406030204" pitchFamily="18" charset="0"/>
                          </a:rPr>
                          <m:t>𝐴</m:t>
                        </m:r>
                      </m:sub>
                    </m:sSub>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zh-CN" altLang="en-US" i="1">
                            <a:latin typeface="Cambria Math" panose="02040503050406030204" pitchFamily="18" charset="0"/>
                          </a:rPr>
                          <m:t>硬币</m:t>
                        </m:r>
                        <m:r>
                          <a:rPr lang="en-US" altLang="zh-CN" i="1">
                            <a:latin typeface="Cambria Math" panose="02040503050406030204" pitchFamily="18" charset="0"/>
                          </a:rPr>
                          <m:t>𝐴</m:t>
                        </m:r>
                        <m:r>
                          <a:rPr lang="zh-CN" altLang="en-US" i="1">
                            <a:latin typeface="Cambria Math" panose="02040503050406030204" pitchFamily="18" charset="0"/>
                          </a:rPr>
                          <m:t>为正面期望次数</m:t>
                        </m:r>
                        <m:r>
                          <a:rPr lang="zh-CN" altLang="en-US" i="1" smtClean="0">
                            <a:latin typeface="Cambria Math" panose="02040503050406030204" pitchFamily="18" charset="0"/>
                          </a:rPr>
                          <m:t>总和</m:t>
                        </m:r>
                        <m:r>
                          <a:rPr lang="zh-CN" altLang="en-US" i="1">
                            <a:latin typeface="Cambria Math" panose="02040503050406030204" pitchFamily="18" charset="0"/>
                          </a:rPr>
                          <m:t> </m:t>
                        </m:r>
                      </m:num>
                      <m:den>
                        <m:r>
                          <a:rPr lang="zh-CN" altLang="en-US" i="1">
                            <a:latin typeface="Cambria Math" panose="02040503050406030204" pitchFamily="18" charset="0"/>
                          </a:rPr>
                          <m:t>硬币</m:t>
                        </m:r>
                        <m:r>
                          <a:rPr lang="en-US" altLang="zh-CN" i="1">
                            <a:latin typeface="Cambria Math" panose="02040503050406030204" pitchFamily="18" charset="0"/>
                          </a:rPr>
                          <m:t>𝐴</m:t>
                        </m:r>
                        <m:r>
                          <a:rPr lang="zh-CN" altLang="en-US" i="1">
                            <a:latin typeface="Cambria Math" panose="02040503050406030204" pitchFamily="18" charset="0"/>
                          </a:rPr>
                          <m:t>为正面期望次数总和</m:t>
                        </m:r>
                        <m:r>
                          <a:rPr lang="en-US" altLang="zh-CN" b="0" i="1" smtClean="0">
                            <a:latin typeface="Cambria Math" panose="02040503050406030204" pitchFamily="18" charset="0"/>
                          </a:rPr>
                          <m:t>+</m:t>
                        </m:r>
                        <m:r>
                          <a:rPr lang="zh-CN" altLang="en-US" i="1">
                            <a:latin typeface="Cambria Math" panose="02040503050406030204" pitchFamily="18" charset="0"/>
                          </a:rPr>
                          <m:t>硬币</m:t>
                        </m:r>
                        <m:r>
                          <a:rPr lang="en-US" altLang="zh-CN" i="1">
                            <a:latin typeface="Cambria Math" panose="02040503050406030204" pitchFamily="18" charset="0"/>
                          </a:rPr>
                          <m:t>𝐴</m:t>
                        </m:r>
                        <m:r>
                          <a:rPr lang="zh-CN" altLang="en-US" i="1">
                            <a:latin typeface="Cambria Math" panose="02040503050406030204" pitchFamily="18" charset="0"/>
                          </a:rPr>
                          <m:t>为反面期望次数总和</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9.422</m:t>
                        </m:r>
                      </m:num>
                      <m:den>
                        <m:r>
                          <a:rPr lang="en-US" altLang="zh-CN" b="0" i="1" smtClean="0">
                            <a:latin typeface="Cambria Math" panose="02040503050406030204" pitchFamily="18" charset="0"/>
                          </a:rPr>
                          <m:t>9.422+18.343</m:t>
                        </m:r>
                      </m:den>
                    </m:f>
                    <m:r>
                      <a:rPr lang="en-US" altLang="zh-CN" i="1">
                        <a:latin typeface="Cambria Math" panose="02040503050406030204" pitchFamily="18" charset="0"/>
                      </a:rPr>
                      <m:t>=0.339</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14:m>
                  <m:oMath xmlns:m="http://schemas.openxmlformats.org/officeDocument/2006/math">
                    <m:sSub>
                      <m:sSubPr>
                        <m:ctrlPr>
                          <a:rPr lang="en-US" altLang="zh-CN" i="1">
                            <a:latin typeface="Cambria Math" panose="02040503050406030204" pitchFamily="18" charset="0"/>
                          </a:rPr>
                        </m:ctrlPr>
                      </m:sSubPr>
                      <m:e>
                        <m:r>
                          <a:rPr lang="zh-CN" altLang="en-US" i="1">
                            <a:latin typeface="Cambria Math" panose="02040503050406030204" pitchFamily="18" charset="0"/>
                          </a:rPr>
                          <m:t>𝜃</m:t>
                        </m:r>
                      </m:e>
                      <m:sub>
                        <m:r>
                          <a:rPr lang="en-US" altLang="zh-CN" i="1">
                            <a:latin typeface="Cambria Math" panose="02040503050406030204" pitchFamily="18" charset="0"/>
                          </a:rPr>
                          <m:t>𝐵</m:t>
                        </m:r>
                      </m:sub>
                    </m:sSub>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zh-CN" altLang="en-US" i="1">
                            <a:latin typeface="Cambria Math" panose="02040503050406030204" pitchFamily="18" charset="0"/>
                          </a:rPr>
                          <m:t>硬币</m:t>
                        </m:r>
                        <m:r>
                          <a:rPr lang="en-US" altLang="zh-CN" b="0" i="1" smtClean="0">
                            <a:latin typeface="Cambria Math" panose="02040503050406030204" pitchFamily="18" charset="0"/>
                          </a:rPr>
                          <m:t>𝐵</m:t>
                        </m:r>
                        <m:r>
                          <a:rPr lang="zh-CN" altLang="en-US" i="1">
                            <a:latin typeface="Cambria Math" panose="02040503050406030204" pitchFamily="18" charset="0"/>
                          </a:rPr>
                          <m:t>为正面期望次数总和</m:t>
                        </m:r>
                        <m:r>
                          <a:rPr lang="zh-CN" altLang="en-US" i="1">
                            <a:latin typeface="Cambria Math" panose="02040503050406030204" pitchFamily="18" charset="0"/>
                          </a:rPr>
                          <m:t> </m:t>
                        </m:r>
                      </m:num>
                      <m:den>
                        <m:r>
                          <a:rPr lang="zh-CN" altLang="en-US" i="1">
                            <a:latin typeface="Cambria Math" panose="02040503050406030204" pitchFamily="18" charset="0"/>
                          </a:rPr>
                          <m:t>硬币</m:t>
                        </m:r>
                        <m:r>
                          <a:rPr lang="en-US" altLang="zh-CN" b="0" i="1" smtClean="0">
                            <a:latin typeface="Cambria Math" panose="02040503050406030204" pitchFamily="18" charset="0"/>
                          </a:rPr>
                          <m:t>𝐵</m:t>
                        </m:r>
                        <m:r>
                          <a:rPr lang="zh-CN" altLang="en-US" i="1">
                            <a:latin typeface="Cambria Math" panose="02040503050406030204" pitchFamily="18" charset="0"/>
                          </a:rPr>
                          <m:t>为正面期望次数总和</m:t>
                        </m:r>
                        <m:r>
                          <a:rPr lang="en-US" altLang="zh-CN" i="1">
                            <a:latin typeface="Cambria Math" panose="02040503050406030204" pitchFamily="18" charset="0"/>
                          </a:rPr>
                          <m:t>+</m:t>
                        </m:r>
                        <m:r>
                          <a:rPr lang="zh-CN" altLang="en-US" i="1">
                            <a:latin typeface="Cambria Math" panose="02040503050406030204" pitchFamily="18" charset="0"/>
                          </a:rPr>
                          <m:t>硬币</m:t>
                        </m:r>
                        <m:r>
                          <a:rPr lang="en-US" altLang="zh-CN" b="0" i="1" smtClean="0">
                            <a:latin typeface="Cambria Math" panose="02040503050406030204" pitchFamily="18" charset="0"/>
                          </a:rPr>
                          <m:t>𝐵</m:t>
                        </m:r>
                        <m:r>
                          <a:rPr lang="zh-CN" altLang="en-US" i="1">
                            <a:latin typeface="Cambria Math" panose="02040503050406030204" pitchFamily="18" charset="0"/>
                          </a:rPr>
                          <m:t>为反面期望次数总和</m:t>
                        </m:r>
                      </m:den>
                    </m:f>
                    <m:r>
                      <a:rPr lang="en-US" altLang="zh-CN" i="1">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13.578</m:t>
                        </m:r>
                      </m:num>
                      <m:den>
                        <m:r>
                          <a:rPr lang="en-US" altLang="zh-CN" b="0" i="1" smtClean="0">
                            <a:latin typeface="Cambria Math" panose="02040503050406030204" pitchFamily="18" charset="0"/>
                          </a:rPr>
                          <m:t>13.578+8.657</m:t>
                        </m:r>
                      </m:den>
                    </m:f>
                    <m:r>
                      <a:rPr lang="en-US" altLang="zh-CN" b="0" i="1" smtClean="0">
                        <a:latin typeface="Cambria Math" panose="02040503050406030204" pitchFamily="18" charset="0"/>
                      </a:rPr>
                      <m:t>=0.611</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如此</a:t>
                </a:r>
                <a:r>
                  <a:rPr lang="en-US"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E</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步和</a:t>
                </a:r>
                <a:r>
                  <a:rPr lang="en-US"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M</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步不断迭代</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，直到达到收敛条件。设收敛条件迭代后为</a:t>
                </a:r>
                <a14:m>
                  <m:oMath xmlns:m="http://schemas.openxmlformats.org/officeDocument/2006/math">
                    <m:sSub>
                      <m:sSubPr>
                        <m:ctrlPr>
                          <a:rPr lang="en-US" altLang="zh-CN" i="1">
                            <a:latin typeface="Cambria Math" panose="02040503050406030204" pitchFamily="18" charset="0"/>
                          </a:rPr>
                        </m:ctrlPr>
                      </m:sSubPr>
                      <m:e>
                        <m:r>
                          <a:rPr lang="zh-CN" altLang="en-US" i="1">
                            <a:latin typeface="Cambria Math" panose="02040503050406030204" pitchFamily="18" charset="0"/>
                          </a:rPr>
                          <m:t>𝜃</m:t>
                        </m:r>
                      </m:e>
                      <m:sub>
                        <m:r>
                          <a:rPr lang="en-US" altLang="zh-CN" i="1">
                            <a:latin typeface="Cambria Math" panose="02040503050406030204" pitchFamily="18" charset="0"/>
                          </a:rPr>
                          <m:t>𝐴</m:t>
                        </m:r>
                      </m:sub>
                    </m:sSub>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和</a:t>
                </a:r>
                <a14:m>
                  <m:oMath xmlns:m="http://schemas.openxmlformats.org/officeDocument/2006/math">
                    <m:sSub>
                      <m:sSubPr>
                        <m:ctrlPr>
                          <a:rPr lang="en-US" altLang="zh-CN" i="1">
                            <a:latin typeface="Cambria Math" panose="02040503050406030204" pitchFamily="18" charset="0"/>
                          </a:rPr>
                        </m:ctrlPr>
                      </m:sSubPr>
                      <m:e>
                        <m:r>
                          <a:rPr lang="zh-CN" altLang="en-US" i="1">
                            <a:latin typeface="Cambria Math" panose="02040503050406030204" pitchFamily="18" charset="0"/>
                          </a:rPr>
                          <m:t>𝜃</m:t>
                        </m:r>
                      </m:e>
                      <m:sub>
                        <m:r>
                          <a:rPr lang="en-US" altLang="zh-CN" b="0" i="1" smtClean="0">
                            <a:latin typeface="Cambria Math" panose="02040503050406030204" pitchFamily="18" charset="0"/>
                          </a:rPr>
                          <m:t>𝐵</m:t>
                        </m:r>
                      </m:sub>
                    </m:sSub>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变化的绝对值都小于</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0.001</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，则迭代</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6</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轮后算法收敛，最终</a:t>
                </a:r>
                <a14:m>
                  <m:oMath xmlns:m="http://schemas.openxmlformats.org/officeDocument/2006/math">
                    <m:sSub>
                      <m:sSubPr>
                        <m:ctrlPr>
                          <a:rPr lang="en-US" altLang="zh-CN" i="1">
                            <a:latin typeface="Cambria Math" panose="02040503050406030204" pitchFamily="18" charset="0"/>
                          </a:rPr>
                        </m:ctrlPr>
                      </m:sSubPr>
                      <m:e>
                        <m:r>
                          <a:rPr lang="zh-CN" altLang="en-US" i="1">
                            <a:latin typeface="Cambria Math" panose="02040503050406030204" pitchFamily="18" charset="0"/>
                          </a:rPr>
                          <m:t>𝜃</m:t>
                        </m:r>
                      </m:e>
                      <m:sub>
                        <m:r>
                          <a:rPr lang="en-US" altLang="zh-CN" i="1">
                            <a:latin typeface="Cambria Math" panose="02040503050406030204" pitchFamily="18" charset="0"/>
                          </a:rPr>
                          <m:t>𝐴</m:t>
                        </m:r>
                      </m:sub>
                    </m:sSub>
                    <m:r>
                      <a:rPr lang="en-US" altLang="zh-CN" i="1">
                        <a:latin typeface="Cambria Math" panose="02040503050406030204" pitchFamily="18" charset="0"/>
                      </a:rPr>
                      <m:t>=0.3</m:t>
                    </m:r>
                    <m:r>
                      <a:rPr lang="en-US" altLang="zh-CN" b="0" i="1" smtClean="0">
                        <a:latin typeface="Cambria Math" panose="02040503050406030204" pitchFamily="18" charset="0"/>
                      </a:rPr>
                      <m:t>02</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14:m>
                  <m:oMath xmlns:m="http://schemas.openxmlformats.org/officeDocument/2006/math">
                    <m:sSub>
                      <m:sSubPr>
                        <m:ctrlPr>
                          <a:rPr lang="en-US" altLang="zh-CN" i="1">
                            <a:latin typeface="Cambria Math" panose="02040503050406030204" pitchFamily="18" charset="0"/>
                          </a:rPr>
                        </m:ctrlPr>
                      </m:sSubPr>
                      <m:e>
                        <m:r>
                          <a:rPr lang="zh-CN" altLang="en-US" i="1">
                            <a:latin typeface="Cambria Math" panose="02040503050406030204" pitchFamily="18" charset="0"/>
                          </a:rPr>
                          <m:t>𝜃</m:t>
                        </m:r>
                      </m:e>
                      <m:sub>
                        <m:r>
                          <a:rPr lang="en-US" altLang="zh-CN" i="1">
                            <a:latin typeface="Cambria Math" panose="02040503050406030204" pitchFamily="18" charset="0"/>
                          </a:rPr>
                          <m:t>𝐵</m:t>
                        </m:r>
                      </m:sub>
                    </m:sSub>
                    <m:r>
                      <a:rPr lang="en-US" altLang="zh-CN" i="1">
                        <a:latin typeface="Cambria Math" panose="02040503050406030204" pitchFamily="18" charset="0"/>
                      </a:rPr>
                      <m:t>=0.6</m:t>
                    </m:r>
                    <m:r>
                      <a:rPr lang="en-US" altLang="zh-CN" b="0" i="1" smtClean="0">
                        <a:latin typeface="Cambria Math" panose="02040503050406030204" pitchFamily="18" charset="0"/>
                      </a:rPr>
                      <m:t>48</m:t>
                    </m:r>
                    <m:r>
                      <a:rPr lang="en-US" altLang="zh-CN" i="1">
                        <a:latin typeface="Cambria Math" panose="02040503050406030204" pitchFamily="18" charset="0"/>
                      </a:rPr>
                      <m:t> </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defRPr/>
                </a:pPr>
                <a:r>
                  <a:rPr lang="zh-CN" altLang="en-US"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注意：</a:t>
                </a:r>
                <a:endParaRPr lang="en-US" altLang="zh-CN"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defRPr/>
                </a:pP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初始化概率不影响最终结果，结果最终会收敛到同一个值，但是由于算法存在对称性，因此需要保证初始化时</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的概率大于</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B</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的概率，不然最终结果会反过来。</a:t>
                </a:r>
              </a:p>
              <a:p>
                <a:pPr lvl="0" algn="just">
                  <a:lnSpc>
                    <a:spcPct val="150000"/>
                  </a:lnSpc>
                  <a:defRPr/>
                </a:pP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 </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以上结果之所以不是</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0.3</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0.7</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，是因为实验次数过少，增加实验次数就可以解</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决这个问题。</a:t>
                </a:r>
              </a:p>
            </p:txBody>
          </p:sp>
        </mc:Choice>
        <mc:Fallback xmlns="">
          <p:sp>
            <p:nvSpPr>
              <p:cNvPr id="3" name="文本框 2">
                <a:extLst>
                  <a:ext uri="{FF2B5EF4-FFF2-40B4-BE49-F238E27FC236}">
                    <a16:creationId xmlns:a16="http://schemas.microsoft.com/office/drawing/2014/main" id="{96B97EB8-671F-2DD6-D687-E431680C58CC}"/>
                  </a:ext>
                </a:extLst>
              </p:cNvPr>
              <p:cNvSpPr txBox="1">
                <a:spLocks noRot="1" noChangeAspect="1" noMove="1" noResize="1" noEditPoints="1" noAdjustHandles="1" noChangeArrowheads="1" noChangeShapeType="1" noTextEdit="1"/>
              </p:cNvSpPr>
              <p:nvPr/>
            </p:nvSpPr>
            <p:spPr>
              <a:xfrm>
                <a:off x="162560" y="1245067"/>
                <a:ext cx="8675814" cy="5549724"/>
              </a:xfrm>
              <a:prstGeom prst="rect">
                <a:avLst/>
              </a:prstGeom>
              <a:blipFill>
                <a:blip r:embed="rId3"/>
                <a:stretch>
                  <a:fillRect l="-632" r="-562" b="-76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662044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51</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en-US" altLang="zh-CN" sz="3200" dirty="0">
                <a:latin typeface="微软雅黑" panose="020B0503020204020204" pitchFamily="34" charset="-122"/>
                <a:ea typeface="微软雅黑" panose="020B0503020204020204" pitchFamily="34" charset="-122"/>
                <a:cs typeface="Times New Roman" panose="02020603050405020304" pitchFamily="18" charset="0"/>
              </a:rPr>
              <a:t>EM</a:t>
            </a:r>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算法</a:t>
            </a:r>
          </a:p>
        </p:txBody>
      </p:sp>
      <p:sp>
        <p:nvSpPr>
          <p:cNvPr id="3" name="文本框 2">
            <a:extLst>
              <a:ext uri="{FF2B5EF4-FFF2-40B4-BE49-F238E27FC236}">
                <a16:creationId xmlns:a16="http://schemas.microsoft.com/office/drawing/2014/main" id="{96B97EB8-671F-2DD6-D687-E431680C58CC}"/>
              </a:ext>
            </a:extLst>
          </p:cNvPr>
          <p:cNvSpPr txBox="1"/>
          <p:nvPr/>
        </p:nvSpPr>
        <p:spPr>
          <a:xfrm>
            <a:off x="162560" y="1245067"/>
            <a:ext cx="8675814" cy="5583388"/>
          </a:xfrm>
          <a:prstGeom prst="rect">
            <a:avLst/>
          </a:prstGeom>
          <a:noFill/>
        </p:spPr>
        <p:txBody>
          <a:bodyPr wrap="square">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endParaRPr lang="en-US" altLang="zh-CN" sz="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采用</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EM</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算法解决高斯混合聚类的参数估计问题，算法流程如下：</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停止规则：一般是以估计参数变化的绝对值作为判断依据，如果前后两轮迭代获得的参数变化绝对值小于某一预先设定的值，则停止迭代。</a:t>
            </a: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4" name="表格 8">
                <a:extLst>
                  <a:ext uri="{FF2B5EF4-FFF2-40B4-BE49-F238E27FC236}">
                    <a16:creationId xmlns:a16="http://schemas.microsoft.com/office/drawing/2014/main" id="{9E6F4C0D-FA11-0120-4F5E-4079599A2217}"/>
                  </a:ext>
                </a:extLst>
              </p:cNvPr>
              <p:cNvGraphicFramePr>
                <a:graphicFrameLocks noGrp="1"/>
              </p:cNvGraphicFramePr>
              <p:nvPr/>
            </p:nvGraphicFramePr>
            <p:xfrm>
              <a:off x="162560" y="2257863"/>
              <a:ext cx="8818880" cy="3063240"/>
            </p:xfrm>
            <a:graphic>
              <a:graphicData uri="http://schemas.openxmlformats.org/drawingml/2006/table">
                <a:tbl>
                  <a:tblPr firstRow="1">
                    <a:tableStyleId>{9D7B26C5-4107-4FEC-AEDC-1716B250A1EF}</a:tableStyleId>
                  </a:tblPr>
                  <a:tblGrid>
                    <a:gridCol w="1571614">
                      <a:extLst>
                        <a:ext uri="{9D8B030D-6E8A-4147-A177-3AD203B41FA5}">
                          <a16:colId xmlns:a16="http://schemas.microsoft.com/office/drawing/2014/main" val="3710864334"/>
                        </a:ext>
                      </a:extLst>
                    </a:gridCol>
                    <a:gridCol w="7247266">
                      <a:extLst>
                        <a:ext uri="{9D8B030D-6E8A-4147-A177-3AD203B41FA5}">
                          <a16:colId xmlns:a16="http://schemas.microsoft.com/office/drawing/2014/main" val="1358374503"/>
                        </a:ext>
                      </a:extLst>
                    </a:gridCol>
                  </a:tblGrid>
                  <a:tr h="605790">
                    <a:tc gridSpan="2">
                      <a:txBody>
                        <a:bodyPr/>
                        <a:lstStyle/>
                        <a:p>
                          <a:r>
                            <a:rPr lang="en-US" altLang="zh-CN" sz="1800" dirty="0">
                              <a:latin typeface="微软雅黑" panose="020B0503020204020204" pitchFamily="34" charset="-122"/>
                              <a:ea typeface="微软雅黑" panose="020B0503020204020204" pitchFamily="34" charset="-122"/>
                            </a:rPr>
                            <a:t>EM</a:t>
                          </a:r>
                          <a:r>
                            <a:rPr lang="zh-CN" altLang="en-US" sz="1800" dirty="0">
                              <a:latin typeface="微软雅黑" panose="020B0503020204020204" pitchFamily="34" charset="-122"/>
                              <a:ea typeface="微软雅黑" panose="020B0503020204020204" pitchFamily="34" charset="-122"/>
                            </a:rPr>
                            <a:t>算法流程</a:t>
                          </a:r>
                        </a:p>
                      </a:txBody>
                      <a:tcPr anchor="ctr"/>
                    </a:tc>
                    <a:tc hMerge="1">
                      <a:txBody>
                        <a:bodyPr/>
                        <a:lstStyle/>
                        <a:p>
                          <a:endParaRPr lang="zh-CN" altLang="en-US" dirty="0"/>
                        </a:p>
                      </a:txBody>
                      <a:tcPr anchor="ctr"/>
                    </a:tc>
                    <a:extLst>
                      <a:ext uri="{0D108BD9-81ED-4DB2-BD59-A6C34878D82A}">
                        <a16:rowId xmlns:a16="http://schemas.microsoft.com/office/drawing/2014/main" val="1145325910"/>
                      </a:ext>
                    </a:extLst>
                  </a:tr>
                  <a:tr h="605790">
                    <a:tc>
                      <a:txBody>
                        <a:bodyPr/>
                        <a:lstStyle/>
                        <a:p>
                          <a:r>
                            <a:rPr lang="zh-CN" altLang="en-US" sz="1800" b="1" dirty="0">
                              <a:latin typeface="微软雅黑" panose="020B0503020204020204" pitchFamily="34" charset="-122"/>
                              <a:ea typeface="微软雅黑" panose="020B0503020204020204" pitchFamily="34" charset="-122"/>
                            </a:rPr>
                            <a:t>步骤一</a:t>
                          </a:r>
                        </a:p>
                      </a:txBody>
                      <a:tcPr anchor="ctr"/>
                    </a:tc>
                    <a:tc>
                      <a:txBody>
                        <a:bodyPr/>
                        <a:lstStyle/>
                        <a:p>
                          <a:r>
                            <a:rPr lang="zh-CN" altLang="en-US" sz="1800" dirty="0">
                              <a:latin typeface="微软雅黑" panose="020B0503020204020204" pitchFamily="34" charset="-122"/>
                              <a:ea typeface="微软雅黑" panose="020B0503020204020204" pitchFamily="34" charset="-122"/>
                            </a:rPr>
                            <a:t>初始化参数</a:t>
                          </a:r>
                          <a14:m>
                            <m:oMath xmlns:m="http://schemas.openxmlformats.org/officeDocument/2006/math">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d>
                                    <m:dPr>
                                      <m:ctrlPr>
                                        <a:rPr lang="en-US" altLang="zh-CN" sz="18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sz="18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sz="18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sz="18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sz="18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 </m:t>
                                      </m:r>
                                      <m:sSub>
                                        <m:sSubPr>
                                          <m:ctrlPr>
                                            <a:rPr lang="en-US" altLang="zh-CN" sz="1800"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sz="1800"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𝝁</m:t>
                                          </m:r>
                                        </m:e>
                                        <m:sub>
                                          <m:r>
                                            <a:rPr lang="en-US" altLang="zh-CN" sz="1800"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sz="1800"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1800"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l-GR" altLang="zh-CN" sz="1800"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𝜮</m:t>
                                          </m:r>
                                        </m:e>
                                        <m:sub>
                                          <m:r>
                                            <a:rPr lang="en-US" altLang="zh-CN" sz="1800"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e>
                                  </m:d>
                                  <m:r>
                                    <a:rPr lang="en-US" altLang="zh-CN" sz="1800"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800"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r>
                                    <a:rPr lang="en-US" altLang="zh-CN" sz="1800"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r>
                                    <a:rPr lang="en-US" altLang="zh-CN" sz="1800"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𝑘</m:t>
                                  </m:r>
                                </m:e>
                              </m:d>
                            </m:oMath>
                          </a14:m>
                          <a:endParaRPr lang="zh-CN" altLang="en-US" sz="18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263208478"/>
                      </a:ext>
                    </a:extLst>
                  </a:tr>
                  <a:tr h="605790">
                    <a:tc>
                      <a:txBody>
                        <a:bodyPr/>
                        <a:lstStyle/>
                        <a:p>
                          <a:r>
                            <a:rPr lang="zh-CN" altLang="en-US" sz="1800" b="1" dirty="0">
                              <a:latin typeface="微软雅黑" panose="020B0503020204020204" pitchFamily="34" charset="-122"/>
                              <a:ea typeface="微软雅黑" panose="020B0503020204020204" pitchFamily="34" charset="-122"/>
                            </a:rPr>
                            <a:t>步骤二（</a:t>
                          </a:r>
                          <a:r>
                            <a:rPr lang="en-US" altLang="zh-CN" sz="1800" b="1" dirty="0">
                              <a:latin typeface="微软雅黑" panose="020B0503020204020204" pitchFamily="34" charset="-122"/>
                              <a:ea typeface="微软雅黑" panose="020B0503020204020204" pitchFamily="34" charset="-122"/>
                            </a:rPr>
                            <a:t>E</a:t>
                          </a:r>
                          <a:r>
                            <a:rPr lang="zh-CN" altLang="en-US" sz="1800" b="1" dirty="0">
                              <a:latin typeface="微软雅黑" panose="020B0503020204020204" pitchFamily="34" charset="-122"/>
                              <a:ea typeface="微软雅黑" panose="020B0503020204020204" pitchFamily="34" charset="-122"/>
                            </a:rPr>
                            <a:t>步）</a:t>
                          </a:r>
                        </a:p>
                      </a:txBody>
                      <a:tcPr anchor="ctr"/>
                    </a:tc>
                    <a:tc>
                      <a:txBody>
                        <a:bodyPr/>
                        <a:lstStyle/>
                        <a:p>
                          <a:r>
                            <a:rPr lang="zh-CN" altLang="en-US" sz="1800" dirty="0">
                              <a:latin typeface="微软雅黑" panose="020B0503020204020204" pitchFamily="34" charset="-122"/>
                              <a:ea typeface="微软雅黑" panose="020B0503020204020204" pitchFamily="34" charset="-122"/>
                            </a:rPr>
                            <a:t>根据当前参数计算</a:t>
                          </a:r>
                          <a14:m>
                            <m:oMath xmlns:m="http://schemas.openxmlformats.org/officeDocument/2006/math">
                              <m:sSub>
                                <m:sSubPr>
                                  <m:ctrlPr>
                                    <a:rPr lang="en-US" altLang="zh-CN" sz="180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sz="1800"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𝛾</m:t>
                                  </m:r>
                                </m:e>
                                <m:sub>
                                  <m:r>
                                    <a:rPr lang="en-US" altLang="zh-CN" sz="1800"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𝑡𝑖</m:t>
                                  </m:r>
                                </m:sub>
                              </m:sSub>
                              <m:r>
                                <a:rPr lang="en-US" altLang="zh-CN" sz="1800"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 </m:t>
                              </m:r>
                              <m:r>
                                <a:rPr lang="en-US" altLang="zh-CN" sz="1800"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sz="1800" b="0" i="1" dirty="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US" altLang="zh-CN" sz="1800" b="0" i="1" dirty="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b="0" i="1" dirty="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m:t>
                                  </m:r>
                                  <m:r>
                                    <a:rPr lang="en-US" altLang="zh-CN" sz="1800" b="0" i="1" dirty="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𝑛</m:t>
                                  </m:r>
                                </m:e>
                              </m:d>
                              <m:r>
                                <a:rPr lang="en-US" altLang="zh-CN" sz="1800" b="0" i="1" dirty="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1800" b="0" i="1" dirty="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𝑖</m:t>
                              </m:r>
                              <m:r>
                                <a:rPr lang="en-US" altLang="zh-CN" sz="1800" b="0" i="1" dirty="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US" altLang="zh-CN" sz="1800" b="0" i="1" dirty="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b="0" i="1" dirty="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m:t>
                                  </m:r>
                                  <m:r>
                                    <a:rPr lang="en-US" altLang="zh-CN" sz="1800" b="0" i="1" dirty="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𝑘</m:t>
                                  </m:r>
                                </m:e>
                              </m:d>
                            </m:oMath>
                          </a14:m>
                          <a:r>
                            <a:rPr lang="zh-CN" altLang="en-US" sz="1800" dirty="0">
                              <a:latin typeface="微软雅黑" panose="020B0503020204020204" pitchFamily="34" charset="-122"/>
                              <a:ea typeface="微软雅黑" panose="020B0503020204020204" pitchFamily="34" charset="-122"/>
                            </a:rPr>
                            <a:t>；</a:t>
                          </a:r>
                        </a:p>
                      </a:txBody>
                      <a:tcPr anchor="ctr"/>
                    </a:tc>
                    <a:extLst>
                      <a:ext uri="{0D108BD9-81ED-4DB2-BD59-A6C34878D82A}">
                        <a16:rowId xmlns:a16="http://schemas.microsoft.com/office/drawing/2014/main" val="940137260"/>
                      </a:ext>
                    </a:extLst>
                  </a:tr>
                  <a:tr h="605790">
                    <a:tc>
                      <a:txBody>
                        <a:bodyPr/>
                        <a:lstStyle/>
                        <a:p>
                          <a:r>
                            <a:rPr lang="zh-CN" altLang="en-US" sz="1800" b="1" dirty="0">
                              <a:latin typeface="微软雅黑" panose="020B0503020204020204" pitchFamily="34" charset="-122"/>
                              <a:ea typeface="微软雅黑" panose="020B0503020204020204" pitchFamily="34" charset="-122"/>
                            </a:rPr>
                            <a:t>步骤三（</a:t>
                          </a:r>
                          <a:r>
                            <a:rPr lang="en-US" altLang="zh-CN" sz="1800" b="1" dirty="0">
                              <a:latin typeface="微软雅黑" panose="020B0503020204020204" pitchFamily="34" charset="-122"/>
                              <a:ea typeface="微软雅黑" panose="020B0503020204020204" pitchFamily="34" charset="-122"/>
                            </a:rPr>
                            <a:t>M</a:t>
                          </a:r>
                          <a:r>
                            <a:rPr lang="zh-CN" altLang="en-US" sz="1800" b="1" dirty="0">
                              <a:latin typeface="微软雅黑" panose="020B0503020204020204" pitchFamily="34" charset="-122"/>
                              <a:ea typeface="微软雅黑" panose="020B0503020204020204" pitchFamily="34" charset="-122"/>
                            </a:rPr>
                            <a:t>步）</a:t>
                          </a:r>
                        </a:p>
                      </a:txBody>
                      <a:tcPr anchor="ctr"/>
                    </a:tc>
                    <a:tc>
                      <a:txBody>
                        <a:bodyPr/>
                        <a:lstStyle/>
                        <a:p>
                          <a:r>
                            <a:rPr lang="zh-CN" altLang="en-US" sz="1800" b="0" dirty="0">
                              <a:latin typeface="微软雅黑" panose="020B0503020204020204" pitchFamily="34" charset="-122"/>
                              <a:ea typeface="微软雅黑" panose="020B0503020204020204" pitchFamily="34" charset="-122"/>
                            </a:rPr>
                            <a:t>根据步骤二中计算所得</a:t>
                          </a:r>
                          <a14:m>
                            <m:oMath xmlns:m="http://schemas.openxmlformats.org/officeDocument/2006/math">
                              <m:sSub>
                                <m:sSubPr>
                                  <m:ctrlPr>
                                    <a:rPr lang="en-US" altLang="zh-CN" sz="180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sz="1800"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𝛾</m:t>
                                  </m:r>
                                </m:e>
                                <m:sub>
                                  <m:r>
                                    <a:rPr lang="en-US" altLang="zh-CN" sz="1800"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𝑡𝑖</m:t>
                                  </m:r>
                                </m:sub>
                              </m:sSub>
                            </m:oMath>
                          </a14:m>
                          <a:r>
                            <a:rPr lang="zh-CN" altLang="en-US" sz="1800" b="0" dirty="0">
                              <a:latin typeface="微软雅黑" panose="020B0503020204020204" pitchFamily="34" charset="-122"/>
                              <a:ea typeface="微软雅黑" panose="020B0503020204020204" pitchFamily="34" charset="-122"/>
                            </a:rPr>
                            <a:t>更新参数</a:t>
                          </a:r>
                          <a14:m>
                            <m:oMath xmlns:m="http://schemas.openxmlformats.org/officeDocument/2006/math">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d>
                                    <m:dPr>
                                      <m:ctrlPr>
                                        <a:rPr lang="en-US" altLang="zh-CN" sz="18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sz="18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sz="18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sz="18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sz="18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 </m:t>
                                      </m:r>
                                      <m:sSub>
                                        <m:sSubPr>
                                          <m:ctrlPr>
                                            <a:rPr lang="en-US" altLang="zh-CN" sz="1800"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sz="1800"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𝝁</m:t>
                                          </m:r>
                                        </m:e>
                                        <m:sub>
                                          <m:r>
                                            <a:rPr lang="en-US" altLang="zh-CN" sz="1800"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sz="1800"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1800"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l-GR" altLang="zh-CN" sz="1800"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𝜮</m:t>
                                          </m:r>
                                        </m:e>
                                        <m:sub>
                                          <m:r>
                                            <a:rPr lang="en-US" altLang="zh-CN" sz="1800"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e>
                                  </m:d>
                                  <m:r>
                                    <a:rPr lang="en-US" altLang="zh-CN" sz="1800"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800"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r>
                                    <a:rPr lang="en-US" altLang="zh-CN" sz="1800"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r>
                                    <a:rPr lang="en-US" altLang="zh-CN" sz="1800"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𝑘</m:t>
                                  </m:r>
                                </m:e>
                              </m:d>
                            </m:oMath>
                          </a14:m>
                          <a:endParaRPr lang="zh-CN" altLang="en-US" sz="1800" b="1"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4076822986"/>
                      </a:ext>
                    </a:extLst>
                  </a:tr>
                  <a:tr h="605790">
                    <a:tc>
                      <a:txBody>
                        <a:bodyPr/>
                        <a:lstStyle/>
                        <a:p>
                          <a:r>
                            <a:rPr lang="zh-CN" altLang="en-US" sz="1800" b="1" dirty="0">
                              <a:latin typeface="微软雅黑" panose="020B0503020204020204" pitchFamily="34" charset="-122"/>
                              <a:ea typeface="微软雅黑" panose="020B0503020204020204" pitchFamily="34" charset="-122"/>
                            </a:rPr>
                            <a:t>步骤五</a:t>
                          </a:r>
                        </a:p>
                      </a:txBody>
                      <a:tcPr anchor="ctr"/>
                    </a:tc>
                    <a:tc>
                      <a:txBody>
                        <a:bodyPr/>
                        <a:lstStyle/>
                        <a:p>
                          <a:r>
                            <a:rPr lang="zh-CN" altLang="en-US" sz="1800" dirty="0">
                              <a:latin typeface="微软雅黑" panose="020B0503020204020204" pitchFamily="34" charset="-122"/>
                              <a:ea typeface="微软雅黑" panose="020B0503020204020204" pitchFamily="34" charset="-122"/>
                            </a:rPr>
                            <a:t>若</a:t>
                          </a:r>
                          <a:r>
                            <a:rPr lang="en-US" altLang="zh-CN" sz="1800" dirty="0">
                              <a:latin typeface="微软雅黑" panose="020B0503020204020204" pitchFamily="34" charset="-122"/>
                              <a:ea typeface="微软雅黑" panose="020B0503020204020204" pitchFamily="34" charset="-122"/>
                            </a:rPr>
                            <a:t>EM</a:t>
                          </a:r>
                          <a:r>
                            <a:rPr lang="zh-CN" altLang="en-US" sz="1800" dirty="0">
                              <a:latin typeface="微软雅黑" panose="020B0503020204020204" pitchFamily="34" charset="-122"/>
                              <a:ea typeface="微软雅黑" panose="020B0503020204020204" pitchFamily="34" charset="-122"/>
                            </a:rPr>
                            <a:t>算法的停止条件满足，例如：已经达到最大迭代次数，则根据高斯混合分布确定簇划分，否则返回</a:t>
                          </a:r>
                          <a:r>
                            <a:rPr lang="zh-CN" altLang="en-US" sz="1800" b="1" dirty="0">
                              <a:latin typeface="微软雅黑" panose="020B0503020204020204" pitchFamily="34" charset="-122"/>
                              <a:ea typeface="微软雅黑" panose="020B0503020204020204" pitchFamily="34" charset="-122"/>
                            </a:rPr>
                            <a:t>步骤二</a:t>
                          </a:r>
                          <a:r>
                            <a:rPr lang="zh-CN" altLang="en-US" sz="1800" dirty="0">
                              <a:latin typeface="微软雅黑" panose="020B0503020204020204" pitchFamily="34" charset="-122"/>
                              <a:ea typeface="微软雅黑" panose="020B0503020204020204" pitchFamily="34" charset="-122"/>
                            </a:rPr>
                            <a:t>。</a:t>
                          </a:r>
                        </a:p>
                      </a:txBody>
                      <a:tcPr anchor="ctr"/>
                    </a:tc>
                    <a:extLst>
                      <a:ext uri="{0D108BD9-81ED-4DB2-BD59-A6C34878D82A}">
                        <a16:rowId xmlns:a16="http://schemas.microsoft.com/office/drawing/2014/main" val="817326073"/>
                      </a:ext>
                    </a:extLst>
                  </a:tr>
                </a:tbl>
              </a:graphicData>
            </a:graphic>
          </p:graphicFrame>
        </mc:Choice>
        <mc:Fallback xmlns="">
          <p:graphicFrame>
            <p:nvGraphicFramePr>
              <p:cNvPr id="4" name="表格 8">
                <a:extLst>
                  <a:ext uri="{FF2B5EF4-FFF2-40B4-BE49-F238E27FC236}">
                    <a16:creationId xmlns:a16="http://schemas.microsoft.com/office/drawing/2014/main" id="{9E6F4C0D-FA11-0120-4F5E-4079599A2217}"/>
                  </a:ext>
                </a:extLst>
              </p:cNvPr>
              <p:cNvGraphicFramePr>
                <a:graphicFrameLocks noGrp="1"/>
              </p:cNvGraphicFramePr>
              <p:nvPr>
                <p:extLst>
                  <p:ext uri="{D42A27DB-BD31-4B8C-83A1-F6EECF244321}">
                    <p14:modId xmlns:p14="http://schemas.microsoft.com/office/powerpoint/2010/main" val="3591063978"/>
                  </p:ext>
                </p:extLst>
              </p:nvPr>
            </p:nvGraphicFramePr>
            <p:xfrm>
              <a:off x="162560" y="2257863"/>
              <a:ext cx="8818880" cy="3063240"/>
            </p:xfrm>
            <a:graphic>
              <a:graphicData uri="http://schemas.openxmlformats.org/drawingml/2006/table">
                <a:tbl>
                  <a:tblPr firstRow="1">
                    <a:tableStyleId>{9D7B26C5-4107-4FEC-AEDC-1716B250A1EF}</a:tableStyleId>
                  </a:tblPr>
                  <a:tblGrid>
                    <a:gridCol w="1571614">
                      <a:extLst>
                        <a:ext uri="{9D8B030D-6E8A-4147-A177-3AD203B41FA5}">
                          <a16:colId xmlns:a16="http://schemas.microsoft.com/office/drawing/2014/main" val="3710864334"/>
                        </a:ext>
                      </a:extLst>
                    </a:gridCol>
                    <a:gridCol w="7247266">
                      <a:extLst>
                        <a:ext uri="{9D8B030D-6E8A-4147-A177-3AD203B41FA5}">
                          <a16:colId xmlns:a16="http://schemas.microsoft.com/office/drawing/2014/main" val="1358374503"/>
                        </a:ext>
                      </a:extLst>
                    </a:gridCol>
                  </a:tblGrid>
                  <a:tr h="605790">
                    <a:tc gridSpan="2">
                      <a:txBody>
                        <a:bodyPr/>
                        <a:lstStyle/>
                        <a:p>
                          <a:r>
                            <a:rPr lang="en-US" altLang="zh-CN" sz="1800" dirty="0">
                              <a:latin typeface="微软雅黑" panose="020B0503020204020204" pitchFamily="34" charset="-122"/>
                              <a:ea typeface="微软雅黑" panose="020B0503020204020204" pitchFamily="34" charset="-122"/>
                            </a:rPr>
                            <a:t>EM</a:t>
                          </a:r>
                          <a:r>
                            <a:rPr lang="zh-CN" altLang="en-US" sz="1800" dirty="0">
                              <a:latin typeface="微软雅黑" panose="020B0503020204020204" pitchFamily="34" charset="-122"/>
                              <a:ea typeface="微软雅黑" panose="020B0503020204020204" pitchFamily="34" charset="-122"/>
                            </a:rPr>
                            <a:t>算法流程</a:t>
                          </a:r>
                        </a:p>
                      </a:txBody>
                      <a:tcPr anchor="ctr"/>
                    </a:tc>
                    <a:tc hMerge="1">
                      <a:txBody>
                        <a:bodyPr/>
                        <a:lstStyle/>
                        <a:p>
                          <a:endParaRPr lang="zh-CN" altLang="en-US" dirty="0"/>
                        </a:p>
                      </a:txBody>
                      <a:tcPr anchor="ctr"/>
                    </a:tc>
                    <a:extLst>
                      <a:ext uri="{0D108BD9-81ED-4DB2-BD59-A6C34878D82A}">
                        <a16:rowId xmlns:a16="http://schemas.microsoft.com/office/drawing/2014/main" val="1145325910"/>
                      </a:ext>
                    </a:extLst>
                  </a:tr>
                  <a:tr h="605790">
                    <a:tc>
                      <a:txBody>
                        <a:bodyPr/>
                        <a:lstStyle/>
                        <a:p>
                          <a:r>
                            <a:rPr lang="zh-CN" altLang="en-US" sz="1800" b="1" dirty="0">
                              <a:latin typeface="微软雅黑" panose="020B0503020204020204" pitchFamily="34" charset="-122"/>
                              <a:ea typeface="微软雅黑" panose="020B0503020204020204" pitchFamily="34" charset="-122"/>
                            </a:rPr>
                            <a:t>步骤一</a:t>
                          </a:r>
                        </a:p>
                      </a:txBody>
                      <a:tcPr anchor="ctr"/>
                    </a:tc>
                    <a:tc>
                      <a:txBody>
                        <a:bodyPr/>
                        <a:lstStyle/>
                        <a:p>
                          <a:endParaRPr lang="zh-CN"/>
                        </a:p>
                      </a:txBody>
                      <a:tcPr anchor="ctr">
                        <a:blipFill>
                          <a:blip r:embed="rId3"/>
                          <a:stretch>
                            <a:fillRect l="-21681" t="-100000" r="-84" b="-320000"/>
                          </a:stretch>
                        </a:blipFill>
                      </a:tcPr>
                    </a:tc>
                    <a:extLst>
                      <a:ext uri="{0D108BD9-81ED-4DB2-BD59-A6C34878D82A}">
                        <a16:rowId xmlns:a16="http://schemas.microsoft.com/office/drawing/2014/main" val="1263208478"/>
                      </a:ext>
                    </a:extLst>
                  </a:tr>
                  <a:tr h="605790">
                    <a:tc>
                      <a:txBody>
                        <a:bodyPr/>
                        <a:lstStyle/>
                        <a:p>
                          <a:r>
                            <a:rPr lang="zh-CN" altLang="en-US" sz="1800" b="1" dirty="0">
                              <a:latin typeface="微软雅黑" panose="020B0503020204020204" pitchFamily="34" charset="-122"/>
                              <a:ea typeface="微软雅黑" panose="020B0503020204020204" pitchFamily="34" charset="-122"/>
                            </a:rPr>
                            <a:t>步骤二（</a:t>
                          </a:r>
                          <a:r>
                            <a:rPr lang="en-US" altLang="zh-CN" sz="1800" b="1" dirty="0">
                              <a:latin typeface="微软雅黑" panose="020B0503020204020204" pitchFamily="34" charset="-122"/>
                              <a:ea typeface="微软雅黑" panose="020B0503020204020204" pitchFamily="34" charset="-122"/>
                            </a:rPr>
                            <a:t>E</a:t>
                          </a:r>
                          <a:r>
                            <a:rPr lang="zh-CN" altLang="en-US" sz="1800" b="1" dirty="0">
                              <a:latin typeface="微软雅黑" panose="020B0503020204020204" pitchFamily="34" charset="-122"/>
                              <a:ea typeface="微软雅黑" panose="020B0503020204020204" pitchFamily="34" charset="-122"/>
                            </a:rPr>
                            <a:t>步）</a:t>
                          </a:r>
                        </a:p>
                      </a:txBody>
                      <a:tcPr anchor="ctr"/>
                    </a:tc>
                    <a:tc>
                      <a:txBody>
                        <a:bodyPr/>
                        <a:lstStyle/>
                        <a:p>
                          <a:endParaRPr lang="zh-CN"/>
                        </a:p>
                      </a:txBody>
                      <a:tcPr anchor="ctr">
                        <a:blipFill>
                          <a:blip r:embed="rId3"/>
                          <a:stretch>
                            <a:fillRect l="-21681" t="-202020" r="-84" b="-223232"/>
                          </a:stretch>
                        </a:blipFill>
                      </a:tcPr>
                    </a:tc>
                    <a:extLst>
                      <a:ext uri="{0D108BD9-81ED-4DB2-BD59-A6C34878D82A}">
                        <a16:rowId xmlns:a16="http://schemas.microsoft.com/office/drawing/2014/main" val="940137260"/>
                      </a:ext>
                    </a:extLst>
                  </a:tr>
                  <a:tr h="605790">
                    <a:tc>
                      <a:txBody>
                        <a:bodyPr/>
                        <a:lstStyle/>
                        <a:p>
                          <a:r>
                            <a:rPr lang="zh-CN" altLang="en-US" sz="1800" b="1" dirty="0">
                              <a:latin typeface="微软雅黑" panose="020B0503020204020204" pitchFamily="34" charset="-122"/>
                              <a:ea typeface="微软雅黑" panose="020B0503020204020204" pitchFamily="34" charset="-122"/>
                            </a:rPr>
                            <a:t>步骤三（</a:t>
                          </a:r>
                          <a:r>
                            <a:rPr lang="en-US" altLang="zh-CN" sz="1800" b="1" dirty="0">
                              <a:latin typeface="微软雅黑" panose="020B0503020204020204" pitchFamily="34" charset="-122"/>
                              <a:ea typeface="微软雅黑" panose="020B0503020204020204" pitchFamily="34" charset="-122"/>
                            </a:rPr>
                            <a:t>M</a:t>
                          </a:r>
                          <a:r>
                            <a:rPr lang="zh-CN" altLang="en-US" sz="1800" b="1" dirty="0">
                              <a:latin typeface="微软雅黑" panose="020B0503020204020204" pitchFamily="34" charset="-122"/>
                              <a:ea typeface="微软雅黑" panose="020B0503020204020204" pitchFamily="34" charset="-122"/>
                            </a:rPr>
                            <a:t>步）</a:t>
                          </a:r>
                        </a:p>
                      </a:txBody>
                      <a:tcPr anchor="ctr"/>
                    </a:tc>
                    <a:tc>
                      <a:txBody>
                        <a:bodyPr/>
                        <a:lstStyle/>
                        <a:p>
                          <a:endParaRPr lang="zh-CN"/>
                        </a:p>
                      </a:txBody>
                      <a:tcPr anchor="ctr">
                        <a:blipFill>
                          <a:blip r:embed="rId3"/>
                          <a:stretch>
                            <a:fillRect l="-21681" t="-299000" r="-84" b="-121000"/>
                          </a:stretch>
                        </a:blipFill>
                      </a:tcPr>
                    </a:tc>
                    <a:extLst>
                      <a:ext uri="{0D108BD9-81ED-4DB2-BD59-A6C34878D82A}">
                        <a16:rowId xmlns:a16="http://schemas.microsoft.com/office/drawing/2014/main" val="4076822986"/>
                      </a:ext>
                    </a:extLst>
                  </a:tr>
                  <a:tr h="640080">
                    <a:tc>
                      <a:txBody>
                        <a:bodyPr/>
                        <a:lstStyle/>
                        <a:p>
                          <a:r>
                            <a:rPr lang="zh-CN" altLang="en-US" sz="1800" b="1" dirty="0">
                              <a:latin typeface="微软雅黑" panose="020B0503020204020204" pitchFamily="34" charset="-122"/>
                              <a:ea typeface="微软雅黑" panose="020B0503020204020204" pitchFamily="34" charset="-122"/>
                            </a:rPr>
                            <a:t>步骤五</a:t>
                          </a:r>
                        </a:p>
                      </a:txBody>
                      <a:tcPr anchor="ctr"/>
                    </a:tc>
                    <a:tc>
                      <a:txBody>
                        <a:bodyPr/>
                        <a:lstStyle/>
                        <a:p>
                          <a:r>
                            <a:rPr lang="zh-CN" altLang="en-US" sz="1800" dirty="0">
                              <a:latin typeface="微软雅黑" panose="020B0503020204020204" pitchFamily="34" charset="-122"/>
                              <a:ea typeface="微软雅黑" panose="020B0503020204020204" pitchFamily="34" charset="-122"/>
                            </a:rPr>
                            <a:t>若</a:t>
                          </a:r>
                          <a:r>
                            <a:rPr lang="en-US" altLang="zh-CN" sz="1800" dirty="0">
                              <a:latin typeface="微软雅黑" panose="020B0503020204020204" pitchFamily="34" charset="-122"/>
                              <a:ea typeface="微软雅黑" panose="020B0503020204020204" pitchFamily="34" charset="-122"/>
                            </a:rPr>
                            <a:t>EM</a:t>
                          </a:r>
                          <a:r>
                            <a:rPr lang="zh-CN" altLang="en-US" sz="1800" dirty="0">
                              <a:latin typeface="微软雅黑" panose="020B0503020204020204" pitchFamily="34" charset="-122"/>
                              <a:ea typeface="微软雅黑" panose="020B0503020204020204" pitchFamily="34" charset="-122"/>
                            </a:rPr>
                            <a:t>算法的停止条件满足，例如：已经达到最大迭代次数，则根据高斯混合分布确定簇划分，否则返回</a:t>
                          </a:r>
                          <a:r>
                            <a:rPr lang="zh-CN" altLang="en-US" sz="1800" b="1" dirty="0">
                              <a:latin typeface="微软雅黑" panose="020B0503020204020204" pitchFamily="34" charset="-122"/>
                              <a:ea typeface="微软雅黑" panose="020B0503020204020204" pitchFamily="34" charset="-122"/>
                            </a:rPr>
                            <a:t>步骤二</a:t>
                          </a:r>
                          <a:r>
                            <a:rPr lang="zh-CN" altLang="en-US" sz="1800" dirty="0">
                              <a:latin typeface="微软雅黑" panose="020B0503020204020204" pitchFamily="34" charset="-122"/>
                              <a:ea typeface="微软雅黑" panose="020B0503020204020204" pitchFamily="34" charset="-122"/>
                            </a:rPr>
                            <a:t>。</a:t>
                          </a:r>
                        </a:p>
                      </a:txBody>
                      <a:tcPr anchor="ctr"/>
                    </a:tc>
                    <a:extLst>
                      <a:ext uri="{0D108BD9-81ED-4DB2-BD59-A6C34878D82A}">
                        <a16:rowId xmlns:a16="http://schemas.microsoft.com/office/drawing/2014/main" val="817326073"/>
                      </a:ext>
                    </a:extLst>
                  </a:tr>
                </a:tbl>
              </a:graphicData>
            </a:graphic>
          </p:graphicFrame>
        </mc:Fallback>
      </mc:AlternateContent>
    </p:spTree>
    <p:extLst>
      <p:ext uri="{BB962C8B-B14F-4D97-AF65-F5344CB8AC3E}">
        <p14:creationId xmlns:p14="http://schemas.microsoft.com/office/powerpoint/2010/main" val="35133068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高斯混合聚类</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96B97EB8-671F-2DD6-D687-E431680C58CC}"/>
                  </a:ext>
                </a:extLst>
              </p:cNvPr>
              <p:cNvSpPr txBox="1"/>
              <p:nvPr/>
            </p:nvSpPr>
            <p:spPr>
              <a:xfrm>
                <a:off x="162560" y="1227020"/>
                <a:ext cx="8675814" cy="6179640"/>
              </a:xfrm>
              <a:prstGeom prst="rect">
                <a:avLst/>
              </a:prstGeom>
              <a:noFill/>
            </p:spPr>
            <p:txBody>
              <a:bodyPr wrap="square">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以拥堵判断数据为例说明高斯混合聚类中应用</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EM</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算法进行参数计算步骤</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marR="0" lvl="0" indent="-285750" algn="just" defTabSz="4572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数据输入：</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285750" marR="0" lvl="0" indent="-285750" algn="just" defTabSz="4572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参数初始化：</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R="0" lvl="0" algn="just" defTabSz="457200" rtl="0" eaLnBrk="1" fontAlgn="auto" latinLnBrk="0" hangingPunct="1">
                  <a:lnSpc>
                    <a:spcPct val="150000"/>
                  </a:lnSpc>
                  <a:spcBef>
                    <a:spcPts val="0"/>
                  </a:spcBef>
                  <a:spcAft>
                    <a:spcPts val="0"/>
                  </a:spcAft>
                  <a:buClrTx/>
                  <a:buSzTx/>
                  <a:tabLst/>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聚类类别：</a:t>
                </a:r>
                <a14:m>
                  <m:oMath xmlns:m="http://schemas.openxmlformats.org/officeDocument/2006/math">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𝑘</m:t>
                    </m:r>
                    <m:r>
                      <a:rPr lang="en-US" altLang="zh-CN"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=3</m:t>
                    </m:r>
                    <m:r>
                      <a:rPr lang="en-US" altLang="zh-CN" b="0" i="0"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   </m:t>
                    </m:r>
                  </m:oMath>
                </a14:m>
                <a:endParaRPr lang="en-US" altLang="zh-CN" b="0" i="0"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endParaRPr>
              </a:p>
              <a:p>
                <a:pPr lvl="0" algn="just">
                  <a:lnSpc>
                    <a:spcPct val="150000"/>
                  </a:lnSpc>
                  <a:defRPr/>
                </a:pPr>
                <a:r>
                  <a:rPr lang="zh-CN" altLang="en-US" dirty="0">
                    <a:solidFill>
                      <a:srgbClr val="000000"/>
                    </a:solidFill>
                    <a:ea typeface="微软雅黑" panose="020B0503020204020204" pitchFamily="34" charset="-122"/>
                    <a:cs typeface="Times New Roman" panose="02020603050405020304" pitchFamily="18" charset="0"/>
                  </a:rPr>
                  <a:t>聚类参数：</a:t>
                </a:r>
                <a14:m>
                  <m:oMath xmlns:m="http://schemas.openxmlformats.org/officeDocument/2006/math">
                    <m:sSub>
                      <m:sSubPr>
                        <m:ctrlPr>
                          <a:rPr lang="en-US" altLang="zh-CN" sz="180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sz="18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sz="18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sub>
                    </m:sSub>
                    <m:r>
                      <a:rPr lang="en-US" altLang="zh-CN" sz="18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2</m:t>
                        </m:r>
                      </m:sub>
                    </m:s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3</m:t>
                        </m:r>
                      </m:sub>
                    </m:s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=1/3</m:t>
                    </m:r>
                  </m:oMath>
                </a14:m>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14:m>
                  <m:oMath xmlns:m="http://schemas.openxmlformats.org/officeDocument/2006/math">
                    <m:r>
                      <a:rPr lang="en-US" altLang="zh-CN" sz="1800" b="0" i="0"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   </m:t>
                    </m:r>
                    <m:sSub>
                      <m:sSubPr>
                        <m:ctrlPr>
                          <a:rPr lang="en-US" altLang="zh-CN" sz="180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sz="1800"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𝝁</m:t>
                        </m:r>
                      </m:e>
                      <m:sub>
                        <m:r>
                          <a:rPr lang="en-US" altLang="zh-CN" sz="18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sub>
                    </m:sSub>
                    <m:r>
                      <a:rPr lang="en-US" altLang="zh-CN" sz="1800"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𝝁</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2</m:t>
                        </m:r>
                      </m:sub>
                    </m:sSub>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𝝁</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3</m:t>
                        </m:r>
                      </m:sub>
                    </m:sSub>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d>
                      <m:dPr>
                        <m:ctrlP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m>
                          <m:mPr>
                            <m:mcs>
                              <m:mc>
                                <m:mcPr>
                                  <m:count m:val="1"/>
                                  <m:mcJc m:val="center"/>
                                </m:mcPr>
                              </m:mc>
                            </m:mcs>
                            <m:ctrlP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mPr>
                          <m:mr>
                            <m:e>
                              <m:r>
                                <m:rPr>
                                  <m:brk m:alnAt="7"/>
                                </m:rP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e>
                          </m:mr>
                          <m:mr>
                            <m:e>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e>
                          </m:mr>
                        </m:m>
                      </m:e>
                    </m:d>
                  </m:oMath>
                </a14:m>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solidFill>
                      <a:srgbClr val="000000"/>
                    </a:solidFill>
                    <a:ea typeface="微软雅黑" panose="020B0503020204020204" pitchFamily="34" charset="-122"/>
                    <a:cs typeface="Times New Roman" panose="02020603050405020304" pitchFamily="18" charset="0"/>
                  </a:rPr>
                  <a:t> </a:t>
                </a:r>
                <a14:m>
                  <m:oMath xmlns:m="http://schemas.openxmlformats.org/officeDocument/2006/math">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l-GR" altLang="zh-CN"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𝜮</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由</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python package</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指定</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R="0" lvl="0" algn="just" defTabSz="457200" rtl="0" eaLnBrk="1" fontAlgn="auto" latinLnBrk="0" hangingPunct="1">
                  <a:lnSpc>
                    <a:spcPct val="150000"/>
                  </a:lnSpc>
                  <a:spcBef>
                    <a:spcPts val="0"/>
                  </a:spcBef>
                  <a:spcAft>
                    <a:spcPts val="0"/>
                  </a:spcAft>
                  <a:buClrTx/>
                  <a:buSzTx/>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96B97EB8-671F-2DD6-D687-E431680C58CC}"/>
                  </a:ext>
                </a:extLst>
              </p:cNvPr>
              <p:cNvSpPr txBox="1">
                <a:spLocks noRot="1" noChangeAspect="1" noMove="1" noResize="1" noEditPoints="1" noAdjustHandles="1" noChangeArrowheads="1" noChangeShapeType="1" noTextEdit="1"/>
              </p:cNvSpPr>
              <p:nvPr/>
            </p:nvSpPr>
            <p:spPr>
              <a:xfrm>
                <a:off x="162560" y="1227020"/>
                <a:ext cx="8675814" cy="6179640"/>
              </a:xfrm>
              <a:prstGeom prst="rect">
                <a:avLst/>
              </a:prstGeom>
              <a:blipFill>
                <a:blip r:embed="rId3"/>
                <a:stretch>
                  <a:fillRect l="-632" r="-141"/>
                </a:stretch>
              </a:blipFill>
            </p:spPr>
            <p:txBody>
              <a:bodyPr/>
              <a:lstStyle/>
              <a:p>
                <a:r>
                  <a:rPr lang="zh-CN" altLang="en-US">
                    <a:noFill/>
                  </a:rPr>
                  <a:t> </a:t>
                </a:r>
              </a:p>
            </p:txBody>
          </p:sp>
        </mc:Fallback>
      </mc:AlternateContent>
      <p:graphicFrame>
        <p:nvGraphicFramePr>
          <p:cNvPr id="4" name="表格 5">
            <a:extLst>
              <a:ext uri="{FF2B5EF4-FFF2-40B4-BE49-F238E27FC236}">
                <a16:creationId xmlns:a16="http://schemas.microsoft.com/office/drawing/2014/main" id="{F9B5E224-0483-948D-5C82-0083BB59ED45}"/>
              </a:ext>
            </a:extLst>
          </p:cNvPr>
          <p:cNvGraphicFramePr>
            <a:graphicFrameLocks noGrp="1"/>
          </p:cNvGraphicFramePr>
          <p:nvPr>
            <p:extLst>
              <p:ext uri="{D42A27DB-BD31-4B8C-83A1-F6EECF244321}">
                <p14:modId xmlns:p14="http://schemas.microsoft.com/office/powerpoint/2010/main" val="2400103732"/>
              </p:ext>
            </p:extLst>
          </p:nvPr>
        </p:nvGraphicFramePr>
        <p:xfrm>
          <a:off x="1452467" y="2210335"/>
          <a:ext cx="6096000" cy="18542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501742205"/>
                    </a:ext>
                  </a:extLst>
                </a:gridCol>
                <a:gridCol w="2032000">
                  <a:extLst>
                    <a:ext uri="{9D8B030D-6E8A-4147-A177-3AD203B41FA5}">
                      <a16:colId xmlns:a16="http://schemas.microsoft.com/office/drawing/2014/main" val="455132387"/>
                    </a:ext>
                  </a:extLst>
                </a:gridCol>
                <a:gridCol w="2032000">
                  <a:extLst>
                    <a:ext uri="{9D8B030D-6E8A-4147-A177-3AD203B41FA5}">
                      <a16:colId xmlns:a16="http://schemas.microsoft.com/office/drawing/2014/main" val="924296031"/>
                    </a:ext>
                  </a:extLst>
                </a:gridCol>
              </a:tblGrid>
              <a:tr h="370840">
                <a:tc>
                  <a:txBody>
                    <a:bodyPr/>
                    <a:lstStyle/>
                    <a:p>
                      <a:r>
                        <a:rPr lang="zh-CN" altLang="en-US" dirty="0"/>
                        <a:t>数据编号</a:t>
                      </a:r>
                    </a:p>
                  </a:txBody>
                  <a:tcPr/>
                </a:tc>
                <a:tc>
                  <a:txBody>
                    <a:bodyPr/>
                    <a:lstStyle/>
                    <a:p>
                      <a:r>
                        <a:rPr lang="zh-CN" altLang="en-US" dirty="0"/>
                        <a:t>停车次数</a:t>
                      </a:r>
                    </a:p>
                  </a:txBody>
                  <a:tcPr/>
                </a:tc>
                <a:tc>
                  <a:txBody>
                    <a:bodyPr/>
                    <a:lstStyle/>
                    <a:p>
                      <a:r>
                        <a:rPr lang="zh-CN" altLang="en-US" dirty="0"/>
                        <a:t>平均速度</a:t>
                      </a:r>
                    </a:p>
                  </a:txBody>
                  <a:tcPr/>
                </a:tc>
                <a:extLst>
                  <a:ext uri="{0D108BD9-81ED-4DB2-BD59-A6C34878D82A}">
                    <a16:rowId xmlns:a16="http://schemas.microsoft.com/office/drawing/2014/main" val="504590462"/>
                  </a:ext>
                </a:extLst>
              </a:tr>
              <a:tr h="370840">
                <a:tc>
                  <a:txBody>
                    <a:bodyPr/>
                    <a:lstStyle/>
                    <a:p>
                      <a:r>
                        <a:rPr lang="en-US" altLang="zh-CN" dirty="0"/>
                        <a:t>1</a:t>
                      </a:r>
                      <a:endParaRPr lang="zh-CN" altLang="en-US" dirty="0"/>
                    </a:p>
                  </a:txBody>
                  <a:tcPr/>
                </a:tc>
                <a:tc>
                  <a:txBody>
                    <a:bodyPr/>
                    <a:lstStyle/>
                    <a:p>
                      <a:r>
                        <a:rPr lang="en-US" altLang="zh-CN" dirty="0"/>
                        <a:t>3.24</a:t>
                      </a:r>
                      <a:endParaRPr lang="zh-CN" altLang="en-US" dirty="0"/>
                    </a:p>
                  </a:txBody>
                  <a:tcPr/>
                </a:tc>
                <a:tc>
                  <a:txBody>
                    <a:bodyPr/>
                    <a:lstStyle/>
                    <a:p>
                      <a:r>
                        <a:rPr lang="en-US" altLang="zh-CN" dirty="0"/>
                        <a:t>4.99</a:t>
                      </a:r>
                      <a:endParaRPr lang="zh-CN" altLang="en-US" dirty="0"/>
                    </a:p>
                  </a:txBody>
                  <a:tcPr/>
                </a:tc>
                <a:extLst>
                  <a:ext uri="{0D108BD9-81ED-4DB2-BD59-A6C34878D82A}">
                    <a16:rowId xmlns:a16="http://schemas.microsoft.com/office/drawing/2014/main" val="1013630088"/>
                  </a:ext>
                </a:extLst>
              </a:tr>
              <a:tr h="370840">
                <a:tc>
                  <a:txBody>
                    <a:bodyPr/>
                    <a:lstStyle/>
                    <a:p>
                      <a:r>
                        <a:rPr lang="en-US" altLang="zh-CN" dirty="0"/>
                        <a:t>2</a:t>
                      </a:r>
                      <a:endParaRPr lang="zh-CN" altLang="en-US" dirty="0"/>
                    </a:p>
                  </a:txBody>
                  <a:tcPr/>
                </a:tc>
                <a:tc>
                  <a:txBody>
                    <a:bodyPr/>
                    <a:lstStyle/>
                    <a:p>
                      <a:r>
                        <a:rPr lang="en-US" altLang="zh-CN" dirty="0"/>
                        <a:t>5.31</a:t>
                      </a:r>
                      <a:endParaRPr lang="zh-CN" altLang="en-US" dirty="0"/>
                    </a:p>
                  </a:txBody>
                  <a:tcPr/>
                </a:tc>
                <a:tc>
                  <a:txBody>
                    <a:bodyPr/>
                    <a:lstStyle/>
                    <a:p>
                      <a:r>
                        <a:rPr lang="en-US" altLang="zh-CN" dirty="0"/>
                        <a:t>0.34</a:t>
                      </a:r>
                      <a:endParaRPr lang="zh-CN" altLang="en-US" dirty="0"/>
                    </a:p>
                  </a:txBody>
                  <a:tcPr/>
                </a:tc>
                <a:extLst>
                  <a:ext uri="{0D108BD9-81ED-4DB2-BD59-A6C34878D82A}">
                    <a16:rowId xmlns:a16="http://schemas.microsoft.com/office/drawing/2014/main" val="2962795161"/>
                  </a:ext>
                </a:extLst>
              </a:tr>
              <a:tr h="370840">
                <a:tc>
                  <a:txBody>
                    <a:bodyPr/>
                    <a:lstStyle/>
                    <a:p>
                      <a:r>
                        <a:rPr lang="en-US" altLang="zh-CN" dirty="0"/>
                        <a:t>…</a:t>
                      </a:r>
                      <a:endParaRPr lang="zh-CN" altLang="en-US" dirty="0"/>
                    </a:p>
                  </a:txBody>
                  <a:tcPr/>
                </a:tc>
                <a:tc>
                  <a:txBody>
                    <a:bodyPr/>
                    <a:lstStyle/>
                    <a:p>
                      <a:r>
                        <a:rPr lang="en-US" altLang="zh-CN" dirty="0"/>
                        <a:t>…</a:t>
                      </a:r>
                      <a:endParaRPr lang="zh-CN" altLang="en-US" dirty="0"/>
                    </a:p>
                  </a:txBody>
                  <a:tcPr/>
                </a:tc>
                <a:tc>
                  <a:txBody>
                    <a:bodyPr/>
                    <a:lstStyle/>
                    <a:p>
                      <a:r>
                        <a:rPr lang="en-US" altLang="zh-CN" dirty="0"/>
                        <a:t>…</a:t>
                      </a:r>
                      <a:endParaRPr lang="zh-CN" altLang="en-US" dirty="0"/>
                    </a:p>
                  </a:txBody>
                  <a:tcPr/>
                </a:tc>
                <a:extLst>
                  <a:ext uri="{0D108BD9-81ED-4DB2-BD59-A6C34878D82A}">
                    <a16:rowId xmlns:a16="http://schemas.microsoft.com/office/drawing/2014/main" val="2770123725"/>
                  </a:ext>
                </a:extLst>
              </a:tr>
              <a:tr h="370840">
                <a:tc>
                  <a:txBody>
                    <a:bodyPr/>
                    <a:lstStyle/>
                    <a:p>
                      <a:r>
                        <a:rPr lang="en-US" altLang="zh-CN" dirty="0"/>
                        <a:t>50</a:t>
                      </a:r>
                      <a:endParaRPr lang="zh-CN" altLang="en-US" dirty="0"/>
                    </a:p>
                  </a:txBody>
                  <a:tcPr/>
                </a:tc>
                <a:tc>
                  <a:txBody>
                    <a:bodyPr/>
                    <a:lstStyle/>
                    <a:p>
                      <a:r>
                        <a:rPr lang="en-US" altLang="zh-CN" dirty="0"/>
                        <a:t>1.03</a:t>
                      </a:r>
                      <a:endParaRPr lang="zh-CN" altLang="en-US" dirty="0"/>
                    </a:p>
                  </a:txBody>
                  <a:tcPr/>
                </a:tc>
                <a:tc>
                  <a:txBody>
                    <a:bodyPr/>
                    <a:lstStyle/>
                    <a:p>
                      <a:r>
                        <a:rPr lang="en-US" altLang="zh-CN" dirty="0"/>
                        <a:t>5.34</a:t>
                      </a:r>
                      <a:endParaRPr lang="zh-CN" altLang="en-US" dirty="0"/>
                    </a:p>
                  </a:txBody>
                  <a:tcPr/>
                </a:tc>
                <a:extLst>
                  <a:ext uri="{0D108BD9-81ED-4DB2-BD59-A6C34878D82A}">
                    <a16:rowId xmlns:a16="http://schemas.microsoft.com/office/drawing/2014/main" val="2177495349"/>
                  </a:ext>
                </a:extLst>
              </a:tr>
            </a:tbl>
          </a:graphicData>
        </a:graphic>
      </p:graphicFrame>
    </p:spTree>
    <p:extLst>
      <p:ext uri="{BB962C8B-B14F-4D97-AF65-F5344CB8AC3E}">
        <p14:creationId xmlns:p14="http://schemas.microsoft.com/office/powerpoint/2010/main" val="4827922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53</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高斯混合聚类</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96B97EB8-671F-2DD6-D687-E431680C58CC}"/>
                  </a:ext>
                </a:extLst>
              </p:cNvPr>
              <p:cNvSpPr txBox="1"/>
              <p:nvPr/>
            </p:nvSpPr>
            <p:spPr>
              <a:xfrm>
                <a:off x="162560" y="1227020"/>
                <a:ext cx="8675814" cy="4836902"/>
              </a:xfrm>
              <a:prstGeom prst="rect">
                <a:avLst/>
              </a:prstGeom>
              <a:noFill/>
            </p:spPr>
            <p:txBody>
              <a:bodyPr wrap="square">
                <a:spAutoFit/>
              </a:bodyPr>
              <a:lstStyle/>
              <a:p>
                <a:pPr marL="285750" lvl="0" indent="-285750" algn="just">
                  <a:lnSpc>
                    <a:spcPct val="150000"/>
                  </a:lnSpc>
                  <a:buFont typeface="Wingdings" panose="05000000000000000000" pitchFamily="2" charset="2"/>
                  <a:buChar char="Ø"/>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第一轮迭代</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p>
              <a:p>
                <a:pPr marL="742950" lvl="1" indent="-285750" algn="just">
                  <a:lnSpc>
                    <a:spcPct val="150000"/>
                  </a:lnSpc>
                  <a:buFont typeface="Wingdings" panose="05000000000000000000" pitchFamily="2" charset="2"/>
                  <a:buChar char="u"/>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基于</a:t>
                </a:r>
                <a14:m>
                  <m:oMath xmlns:m="http://schemas.openxmlformats.org/officeDocument/2006/math">
                    <m:d>
                      <m:dPr>
                        <m:begChr m:val="{"/>
                        <m:endChr m:val="}"/>
                        <m:ctrlPr>
                          <a:rPr kumimoji="0" lang="en-US" altLang="zh-CN"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 </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𝝁</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l-GR" altLang="zh-CN"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𝜮</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e>
                        </m:d>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=1,…3</m:t>
                        </m:r>
                      </m:e>
                    </m:d>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计算</a:t>
                </a:r>
                <a14:m>
                  <m:oMath xmlns:m="http://schemas.openxmlformats.org/officeDocument/2006/math">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𝛾</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𝑡𝑖</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 </m:t>
                    </m:r>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i="1"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US" altLang="zh-CN" i="1"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m:t>
                        </m:r>
                        <m:r>
                          <a:rPr lang="en-US" altLang="zh-CN" b="0" i="1" dirty="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50</m:t>
                        </m:r>
                      </m:e>
                    </m:d>
                    <m:r>
                      <a:rPr lang="en-US" altLang="zh-CN" i="1"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i="1"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𝑖</m:t>
                    </m:r>
                    <m:r>
                      <a:rPr lang="en-US" altLang="zh-CN" i="1"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US" altLang="zh-CN" i="1"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m:t>
                        </m:r>
                        <m:r>
                          <a:rPr lang="en-US" altLang="zh-CN" b="0" i="1" dirty="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3</m:t>
                        </m:r>
                      </m:e>
                    </m:d>
                    <m:r>
                      <a:rPr lang="zh-CN" altLang="en-US" i="1" dirty="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以数据点</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为例，其</a:t>
                </a:r>
                <a14:m>
                  <m:oMath xmlns:m="http://schemas.openxmlformats.org/officeDocument/2006/math">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𝛾</m:t>
                        </m:r>
                      </m:e>
                      <m:sub>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11</m:t>
                        </m:r>
                      </m:sub>
                    </m:sSub>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=0.307</m:t>
                    </m:r>
                    <m:r>
                      <a:rPr lang="zh-CN" altLang="en-US"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𝛾</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2</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=0.</m:t>
                    </m:r>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43</m:t>
                    </m:r>
                    <m:r>
                      <a:rPr lang="zh-CN" altLang="en-US"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𝛾</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3</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=0.</m:t>
                    </m:r>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263</m:t>
                    </m:r>
                  </m:oMath>
                </a14:m>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742950" lvl="1" indent="-285750" algn="just">
                  <a:lnSpc>
                    <a:spcPct val="150000"/>
                  </a:lnSpc>
                  <a:buFont typeface="Wingdings" panose="05000000000000000000" pitchFamily="2" charset="2"/>
                  <a:buChar char="u"/>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基于</a:t>
                </a:r>
                <a14:m>
                  <m:oMath xmlns:m="http://schemas.openxmlformats.org/officeDocument/2006/math">
                    <m:sSub>
                      <m:sSubPr>
                        <m:ctrlPr>
                          <a:rPr lang="en-US" altLang="zh-CN"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𝛾</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𝑡𝑖</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 </m:t>
                    </m:r>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i="1"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US" altLang="zh-CN" i="1"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m:t>
                        </m:r>
                        <m:r>
                          <a:rPr lang="en-US" altLang="zh-CN" b="0" i="1" dirty="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50</m:t>
                        </m:r>
                      </m:e>
                    </m:d>
                    <m:r>
                      <a:rPr lang="en-US" altLang="zh-CN" i="1"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i="1"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𝑖</m:t>
                    </m:r>
                    <m:r>
                      <a:rPr lang="en-US" altLang="zh-CN" i="1"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US" altLang="zh-CN" i="1"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m:t>
                        </m:r>
                        <m:r>
                          <a:rPr lang="en-US" altLang="zh-CN" b="0" i="1" dirty="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3</m:t>
                        </m:r>
                      </m:e>
                    </m:d>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，更新</a:t>
                </a:r>
                <a14:m>
                  <m:oMath xmlns:m="http://schemas.openxmlformats.org/officeDocument/2006/math">
                    <m:d>
                      <m:dPr>
                        <m:begChr m:val="{"/>
                        <m:endChr m:val="}"/>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 </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𝝁</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l-GR" altLang="zh-CN"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𝜮</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e>
                        </m:d>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=1,…3</m:t>
                        </m:r>
                      </m:e>
                    </m:d>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，得到参数：</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1" algn="just">
                  <a:lnSpc>
                    <a:spcPct val="150000"/>
                  </a:lnSpc>
                  <a:defRPr/>
                </a:pPr>
                <a14:m>
                  <m:oMath xmlns:m="http://schemas.openxmlformats.org/officeDocument/2006/math">
                    <m:sSub>
                      <m:sSubPr>
                        <m:ctrlPr>
                          <a:rPr lang="en-US" altLang="zh-CN" sz="180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sz="18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sz="18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sub>
                    </m:sSub>
                    <m:r>
                      <a:rPr lang="en-US" altLang="zh-CN" sz="18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=0.120</m:t>
                    </m:r>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 </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2</m:t>
                        </m:r>
                      </m:sub>
                    </m:s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=0.125</m:t>
                    </m:r>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 </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3</m:t>
                        </m:r>
                      </m:sub>
                    </m:s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=0.754</m:t>
                    </m:r>
                  </m:oMath>
                </a14:m>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14:m>
                  <m:oMath xmlns:m="http://schemas.openxmlformats.org/officeDocument/2006/math">
                    <m:r>
                      <a:rPr lang="en-US" altLang="zh-CN" sz="1800" b="0" i="0"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   </m:t>
                    </m:r>
                    <m:sSub>
                      <m:sSubPr>
                        <m:ctrlPr>
                          <a:rPr lang="en-US" altLang="zh-CN" sz="180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sz="1800"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𝝁</m:t>
                        </m:r>
                      </m:e>
                      <m:sub>
                        <m:r>
                          <a:rPr lang="en-US" altLang="zh-CN" sz="18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sub>
                    </m:sSub>
                    <m:r>
                      <a:rPr lang="en-US" altLang="zh-CN" sz="1800"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d>
                      <m:d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m>
                          <m:mPr>
                            <m:mcs>
                              <m:mc>
                                <m:mcPr>
                                  <m:count m:val="1"/>
                                  <m:mcJc m:val="center"/>
                                </m:mcPr>
                              </m:mc>
                            </m:mcs>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mPr>
                          <m:mr>
                            <m:e>
                              <m:r>
                                <m:rPr>
                                  <m:brk m:alnAt="7"/>
                                </m:r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.13</m:t>
                              </m:r>
                            </m:e>
                          </m:mr>
                          <m:mr>
                            <m:e>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−1.23</m:t>
                              </m:r>
                            </m:e>
                          </m:mr>
                        </m:m>
                      </m:e>
                    </m:d>
                    <m:r>
                      <a:rPr lang="zh-CN" altLang="en-US"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 </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𝝁</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2</m:t>
                        </m:r>
                      </m:sub>
                    </m:sSub>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d>
                      <m:d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m>
                          <m:mPr>
                            <m:mcs>
                              <m:mc>
                                <m:mcPr>
                                  <m:count m:val="1"/>
                                  <m:mcJc m:val="center"/>
                                </m:mcPr>
                              </m:mc>
                            </m:mcs>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mPr>
                          <m:mr>
                            <m:e>
                              <m:r>
                                <m:rPr>
                                  <m:brk m:alnAt="7"/>
                                </m:rP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0.55</m:t>
                              </m:r>
                            </m:e>
                          </m:mr>
                          <m:mr>
                            <m:e>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0.879</m:t>
                              </m:r>
                            </m:e>
                          </m:mr>
                        </m:m>
                      </m:e>
                    </m:d>
                    <m:r>
                      <a:rPr lang="zh-CN" altLang="en-US"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 </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𝝁</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3</m:t>
                        </m:r>
                      </m:sub>
                    </m:sSub>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d>
                      <m:dPr>
                        <m:ctrlP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m>
                          <m:mPr>
                            <m:mcs>
                              <m:mc>
                                <m:mcPr>
                                  <m:count m:val="1"/>
                                  <m:mcJc m:val="center"/>
                                </m:mcPr>
                              </m:mc>
                            </m:mcs>
                            <m:ctrlP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mPr>
                          <m:mr>
                            <m:e>
                              <m:r>
                                <m:rPr>
                                  <m:brk m:alnAt="7"/>
                                </m:rP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0.88</m:t>
                              </m:r>
                            </m:e>
                          </m:mr>
                          <m:mr>
                            <m:e>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0.05</m:t>
                              </m:r>
                            </m:e>
                          </m:mr>
                        </m:m>
                      </m:e>
                    </m:d>
                    <m:r>
                      <a:rPr lang="en-US" altLang="zh-CN" b="0" i="0"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l-GR" altLang="zh-CN"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𝜮</m:t>
                        </m:r>
                      </m:e>
                      <m:sub>
                        <m:r>
                          <a:rPr lang="en-US" altLang="zh-CN"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m:t>
                        </m:r>
                      </m:sub>
                    </m:sSub>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d>
                      <m:dPr>
                        <m:ctrlP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m>
                          <m:mPr>
                            <m:mcs>
                              <m:mc>
                                <m:mcPr>
                                  <m:count m:val="2"/>
                                  <m:mcJc m:val="center"/>
                                </m:mcPr>
                              </m:mc>
                            </m:mcs>
                            <m:ctrlP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mPr>
                          <m:mr>
                            <m:e>
                              <m:r>
                                <m:rPr>
                                  <m:brk m:alnAt="7"/>
                                </m:rP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0</m:t>
                              </m:r>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.29</m:t>
                              </m:r>
                            </m:e>
                            <m:e>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−0.12</m:t>
                              </m:r>
                            </m:e>
                          </m:mr>
                          <m:mr>
                            <m:e>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−0.12</m:t>
                              </m:r>
                            </m:e>
                            <m:e>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0.11</m:t>
                              </m:r>
                            </m:e>
                          </m:mr>
                        </m:m>
                      </m:e>
                    </m:d>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l-GR" altLang="zh-CN"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𝜮</m:t>
                        </m:r>
                      </m:e>
                      <m:sub>
                        <m:r>
                          <a:rPr lang="en-US" altLang="zh-CN"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2</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d>
                      <m:d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m>
                          <m:mPr>
                            <m:mcs>
                              <m:mc>
                                <m:mcPr>
                                  <m:count m:val="2"/>
                                  <m:mcJc m:val="center"/>
                                </m:mcPr>
                              </m:mc>
                            </m:mcs>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mPr>
                          <m:mr>
                            <m:e>
                              <m:r>
                                <m:rPr>
                                  <m:brk m:alnAt="7"/>
                                </m:r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0</m:t>
                              </m:r>
                            </m:e>
                            <m:e>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0</m:t>
                              </m:r>
                            </m:e>
                          </m:mr>
                          <m:mr>
                            <m:e>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0</m:t>
                              </m:r>
                            </m:e>
                            <m:e>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0.</m:t>
                              </m:r>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03</m:t>
                              </m:r>
                            </m:e>
                          </m:mr>
                        </m:m>
                      </m:e>
                    </m:d>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l-GR" altLang="zh-CN"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𝜮</m:t>
                        </m:r>
                      </m:e>
                      <m:sub>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2</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d>
                      <m:dPr>
                        <m:ctrlPr>
                          <a:rPr lang="en-US" altLang="zh-CN"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m>
                          <m:mPr>
                            <m:mcs>
                              <m:mc>
                                <m:mcPr>
                                  <m:count m:val="2"/>
                                  <m:mcJc m:val="center"/>
                                </m:mcPr>
                              </m:mc>
                            </m:mcs>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mPr>
                          <m:mr>
                            <m:e>
                              <m:r>
                                <m:rPr>
                                  <m:brk m:alnAt="7"/>
                                </m:rP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.02</m:t>
                              </m:r>
                            </m:e>
                            <m:e>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0</m:t>
                              </m:r>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.6</m:t>
                              </m:r>
                            </m:e>
                          </m:mr>
                          <m:mr>
                            <m:e>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−0.6</m:t>
                              </m:r>
                            </m:e>
                            <m:e>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0.</m:t>
                              </m:r>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93</m:t>
                              </m:r>
                            </m:e>
                          </m:mr>
                        </m:m>
                      </m:e>
                    </m:d>
                  </m:oMath>
                </a14:m>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742950" lvl="1" indent="-285750" algn="just">
                  <a:lnSpc>
                    <a:spcPct val="150000"/>
                  </a:lnSpc>
                  <a:buFont typeface="Wingdings" panose="05000000000000000000" pitchFamily="2" charset="2"/>
                  <a:buChar char="u"/>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聚类结果：</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1" algn="just">
                  <a:lnSpc>
                    <a:spcPct val="150000"/>
                  </a:lnSpc>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742950" lvl="1" indent="-285750" algn="just">
                  <a:lnSpc>
                    <a:spcPct val="150000"/>
                  </a:lnSpc>
                  <a:buFont typeface="Wingdings" panose="05000000000000000000" pitchFamily="2" charset="2"/>
                  <a:buChar char="u"/>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R="0" lvl="0" algn="just" defTabSz="457200" rtl="0" eaLnBrk="1" fontAlgn="auto" latinLnBrk="0" hangingPunct="1">
                  <a:lnSpc>
                    <a:spcPct val="150000"/>
                  </a:lnSpc>
                  <a:spcBef>
                    <a:spcPts val="0"/>
                  </a:spcBef>
                  <a:spcAft>
                    <a:spcPts val="0"/>
                  </a:spcAft>
                  <a:buClrTx/>
                  <a:buSzTx/>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96B97EB8-671F-2DD6-D687-E431680C58CC}"/>
                  </a:ext>
                </a:extLst>
              </p:cNvPr>
              <p:cNvSpPr txBox="1">
                <a:spLocks noRot="1" noChangeAspect="1" noMove="1" noResize="1" noEditPoints="1" noAdjustHandles="1" noChangeArrowheads="1" noChangeShapeType="1" noTextEdit="1"/>
              </p:cNvSpPr>
              <p:nvPr/>
            </p:nvSpPr>
            <p:spPr>
              <a:xfrm>
                <a:off x="162560" y="1227020"/>
                <a:ext cx="8675814" cy="4836902"/>
              </a:xfrm>
              <a:prstGeom prst="rect">
                <a:avLst/>
              </a:prstGeom>
              <a:blipFill>
                <a:blip r:embed="rId3"/>
                <a:stretch>
                  <a:fillRect l="-492" r="-3162"/>
                </a:stretch>
              </a:blipFill>
            </p:spPr>
            <p:txBody>
              <a:bodyPr/>
              <a:lstStyle/>
              <a:p>
                <a:r>
                  <a:rPr lang="zh-CN" altLang="en-US">
                    <a:noFill/>
                  </a:rPr>
                  <a:t> </a:t>
                </a:r>
              </a:p>
            </p:txBody>
          </p:sp>
        </mc:Fallback>
      </mc:AlternateContent>
      <p:pic>
        <p:nvPicPr>
          <p:cNvPr id="7" name="图片 6">
            <a:extLst>
              <a:ext uri="{FF2B5EF4-FFF2-40B4-BE49-F238E27FC236}">
                <a16:creationId xmlns:a16="http://schemas.microsoft.com/office/drawing/2014/main" id="{4476B53E-775B-0640-CCB1-493FAEA657E3}"/>
              </a:ext>
            </a:extLst>
          </p:cNvPr>
          <p:cNvPicPr>
            <a:picLocks noChangeAspect="1"/>
          </p:cNvPicPr>
          <p:nvPr/>
        </p:nvPicPr>
        <p:blipFill>
          <a:blip r:embed="rId4"/>
          <a:stretch>
            <a:fillRect/>
          </a:stretch>
        </p:blipFill>
        <p:spPr>
          <a:xfrm>
            <a:off x="2848509" y="4429921"/>
            <a:ext cx="3260563" cy="2428079"/>
          </a:xfrm>
          <a:prstGeom prst="rect">
            <a:avLst/>
          </a:prstGeom>
        </p:spPr>
      </p:pic>
    </p:spTree>
    <p:extLst>
      <p:ext uri="{BB962C8B-B14F-4D97-AF65-F5344CB8AC3E}">
        <p14:creationId xmlns:p14="http://schemas.microsoft.com/office/powerpoint/2010/main" val="20048819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54</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高斯混合聚类</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96B97EB8-671F-2DD6-D687-E431680C58CC}"/>
                  </a:ext>
                </a:extLst>
              </p:cNvPr>
              <p:cNvSpPr txBox="1"/>
              <p:nvPr/>
            </p:nvSpPr>
            <p:spPr>
              <a:xfrm>
                <a:off x="162560" y="1227020"/>
                <a:ext cx="8675814" cy="2536400"/>
              </a:xfrm>
              <a:prstGeom prst="rect">
                <a:avLst/>
              </a:prstGeom>
              <a:noFill/>
            </p:spPr>
            <p:txBody>
              <a:bodyPr wrap="square">
                <a:spAutoFit/>
              </a:bodyPr>
              <a:lstStyle/>
              <a:p>
                <a:pPr marL="285750" marR="0" lvl="0" indent="-285750" algn="just" defTabSz="4572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第二轮迭代</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p>
              <a:p>
                <a:pPr marL="742950" marR="0" lvl="1" indent="-285750" algn="just" defTabSz="457200" rtl="0" eaLnBrk="1" fontAlgn="auto" latinLnBrk="0" hangingPunct="1">
                  <a:lnSpc>
                    <a:spcPct val="150000"/>
                  </a:lnSpc>
                  <a:spcBef>
                    <a:spcPts val="0"/>
                  </a:spcBef>
                  <a:spcAft>
                    <a:spcPts val="0"/>
                  </a:spcAft>
                  <a:buClrTx/>
                  <a:buSzTx/>
                  <a:buFont typeface="Wingdings" panose="05000000000000000000" pitchFamily="2" charset="2"/>
                  <a:buChar char="u"/>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基于</a:t>
                </a:r>
                <a14:m>
                  <m:oMath xmlns:m="http://schemas.openxmlformats.org/officeDocument/2006/math">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𝛼</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 </m:t>
                            </m:r>
                            <m:sSub>
                              <m:sSubPr>
                                <m:ctrlP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𝝁</m:t>
                                </m:r>
                              </m:e>
                              <m:sub>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sSub>
                              <m:sSubPr>
                                <m:ctrlP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l-GR" altLang="zh-CN"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𝜮</m:t>
                                </m:r>
                              </m:e>
                              <m:sub>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e>
                        </m:d>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=1,…3</m:t>
                        </m:r>
                      </m:e>
                    </m:d>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计算</a:t>
                </a:r>
                <a14:m>
                  <m:oMath xmlns:m="http://schemas.openxmlformats.org/officeDocument/2006/math">
                    <m:sSub>
                      <m:sSubPr>
                        <m:ctrlP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𝛾</m:t>
                        </m:r>
                      </m:e>
                      <m:sub>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𝑡𝑖</m:t>
                        </m:r>
                      </m:sub>
                    </m:sSub>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 </m:t>
                    </m:r>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m:t>
                    </m:r>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1,…,</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50</m:t>
                        </m:r>
                      </m:e>
                    </m:d>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 </m:t>
                    </m:r>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𝑖</m:t>
                    </m:r>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1,…,</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3</m:t>
                        </m:r>
                      </m:e>
                    </m:d>
                  </m:oMath>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742950" marR="0" lvl="1" indent="-285750" algn="just" defTabSz="457200" rtl="0" eaLnBrk="1" fontAlgn="auto" latinLnBrk="0" hangingPunct="1">
                  <a:lnSpc>
                    <a:spcPct val="150000"/>
                  </a:lnSpc>
                  <a:spcBef>
                    <a:spcPts val="0"/>
                  </a:spcBef>
                  <a:spcAft>
                    <a:spcPts val="0"/>
                  </a:spcAft>
                  <a:buClrTx/>
                  <a:buSzTx/>
                  <a:buFont typeface="Wingdings" panose="05000000000000000000" pitchFamily="2" charset="2"/>
                  <a:buChar char="u"/>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基于</a:t>
                </a:r>
                <a14:m>
                  <m:oMath xmlns:m="http://schemas.openxmlformats.org/officeDocument/2006/math">
                    <m:sSub>
                      <m:sSubPr>
                        <m:ctrlP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𝛾</m:t>
                        </m:r>
                      </m:e>
                      <m:sub>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𝑡𝑖</m:t>
                        </m:r>
                      </m:sub>
                    </m:sSub>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 </m:t>
                    </m:r>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𝑡</m:t>
                    </m:r>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1,…,</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50</m:t>
                        </m:r>
                      </m:e>
                    </m:d>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 </m:t>
                    </m:r>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𝑖</m:t>
                    </m:r>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1,…,</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3</m:t>
                        </m:r>
                      </m:e>
                    </m:d>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，更新</a:t>
                </a:r>
                <a14:m>
                  <m:oMath xmlns:m="http://schemas.openxmlformats.org/officeDocument/2006/math">
                    <m:d>
                      <m:dPr>
                        <m:begChr m:val="{"/>
                        <m:endChr m:val="}"/>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𝛼</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 </m:t>
                            </m:r>
                            <m:sSub>
                              <m:sSubPr>
                                <m:ctrlP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𝝁</m:t>
                                </m:r>
                              </m:e>
                              <m:sub>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sSub>
                              <m:sSubPr>
                                <m:ctrlP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l-GR" altLang="zh-CN"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𝜮</m:t>
                                </m:r>
                              </m:e>
                              <m:sub>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e>
                        </m:d>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=1,…3</m:t>
                        </m:r>
                      </m:e>
                    </m:d>
                  </m:oMath>
                </a14:m>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gn="just">
                  <a:lnSpc>
                    <a:spcPct val="150000"/>
                  </a:lnSpc>
                  <a:buFont typeface="Wingdings" panose="05000000000000000000" pitchFamily="2" charset="2"/>
                  <a:buChar char="Ø"/>
                  <a:defRPr/>
                </a:pPr>
                <a:r>
                  <a:rPr kumimoji="0" lang="zh-CN" altLang="en-US"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第三轮迭代</a:t>
                </a:r>
                <a:r>
                  <a:rPr kumimoji="0" lang="en-US" altLang="zh-CN"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p>
              <a:p>
                <a:pPr marL="742950" marR="0" lvl="1" indent="-285750" algn="just" defTabSz="457200" rtl="0" eaLnBrk="1" fontAlgn="auto" latinLnBrk="0" hangingPunct="1">
                  <a:lnSpc>
                    <a:spcPct val="150000"/>
                  </a:lnSpc>
                  <a:spcBef>
                    <a:spcPts val="0"/>
                  </a:spcBef>
                  <a:spcAft>
                    <a:spcPts val="0"/>
                  </a:spcAft>
                  <a:buClrTx/>
                  <a:buSzTx/>
                  <a:buFont typeface="Wingdings" panose="05000000000000000000" pitchFamily="2" charset="2"/>
                  <a:buChar char="u"/>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96B97EB8-671F-2DD6-D687-E431680C58CC}"/>
                  </a:ext>
                </a:extLst>
              </p:cNvPr>
              <p:cNvSpPr txBox="1">
                <a:spLocks noRot="1" noChangeAspect="1" noMove="1" noResize="1" noEditPoints="1" noAdjustHandles="1" noChangeArrowheads="1" noChangeShapeType="1" noTextEdit="1"/>
              </p:cNvSpPr>
              <p:nvPr/>
            </p:nvSpPr>
            <p:spPr>
              <a:xfrm>
                <a:off x="162560" y="1227020"/>
                <a:ext cx="8675814" cy="2536400"/>
              </a:xfrm>
              <a:prstGeom prst="rect">
                <a:avLst/>
              </a:prstGeom>
              <a:blipFill>
                <a:blip r:embed="rId3"/>
                <a:stretch>
                  <a:fillRect l="-49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9401362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55</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4" name="文本框 3">
            <a:extLst>
              <a:ext uri="{FF2B5EF4-FFF2-40B4-BE49-F238E27FC236}">
                <a16:creationId xmlns:a16="http://schemas.microsoft.com/office/drawing/2014/main" id="{194C7B8E-BB6A-754C-CBBE-52BFCCF8D64B}"/>
              </a:ext>
            </a:extLst>
          </p:cNvPr>
          <p:cNvSpPr txBox="1"/>
          <p:nvPr/>
        </p:nvSpPr>
        <p:spPr>
          <a:xfrm>
            <a:off x="160890" y="1390864"/>
            <a:ext cx="8760860" cy="2536400"/>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利用</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高斯混合聚类</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算法，对无真实标签下的网格拥堵状态进行判别。选取“平均速度”和“平均停车次数”作为聚类特征，在</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50</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个样本的小数据集上进行聚类分析，</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判断网格的拥堵状态并进行结果可视化</a:t>
            </a:r>
            <a:endPar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p:pic>
        <p:nvPicPr>
          <p:cNvPr id="7" name="图片 6">
            <a:extLst>
              <a:ext uri="{FF2B5EF4-FFF2-40B4-BE49-F238E27FC236}">
                <a16:creationId xmlns:a16="http://schemas.microsoft.com/office/drawing/2014/main" id="{E5DC5ABF-BE45-B2E3-DFBA-72F7577FFFE0}"/>
              </a:ext>
            </a:extLst>
          </p:cNvPr>
          <p:cNvPicPr>
            <a:picLocks noChangeAspect="1"/>
          </p:cNvPicPr>
          <p:nvPr/>
        </p:nvPicPr>
        <p:blipFill>
          <a:blip r:embed="rId3"/>
          <a:stretch>
            <a:fillRect/>
          </a:stretch>
        </p:blipFill>
        <p:spPr>
          <a:xfrm>
            <a:off x="655453" y="3499339"/>
            <a:ext cx="7938344" cy="2305867"/>
          </a:xfrm>
          <a:prstGeom prst="rect">
            <a:avLst/>
          </a:prstGeom>
        </p:spPr>
      </p:pic>
      <p:sp>
        <p:nvSpPr>
          <p:cNvPr id="14" name="文本框 13">
            <a:extLst>
              <a:ext uri="{FF2B5EF4-FFF2-40B4-BE49-F238E27FC236}">
                <a16:creationId xmlns:a16="http://schemas.microsoft.com/office/drawing/2014/main" id="{A453E821-BE96-E6A0-11CC-698F7EF99376}"/>
              </a:ext>
            </a:extLst>
          </p:cNvPr>
          <p:cNvSpPr txBox="1"/>
          <p:nvPr/>
        </p:nvSpPr>
        <p:spPr>
          <a:xfrm>
            <a:off x="3997569" y="3022385"/>
            <a:ext cx="1695157"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表 数据示例</a:t>
            </a:r>
            <a:endParaRPr kumimoji="0" lang="zh-CN" altLang="en-US" sz="1800" b="0" i="0" u="none" strike="noStrike" kern="1200" cap="none" spc="0" normalizeH="0" baseline="0" noProof="0" dirty="0">
              <a:ln>
                <a:noFill/>
              </a:ln>
              <a:solidFill>
                <a:srgbClr val="000000"/>
              </a:solidFill>
              <a:effectLst/>
              <a:uLnTx/>
              <a:uFillTx/>
              <a:latin typeface="Arial"/>
              <a:ea typeface="宋体"/>
              <a:cs typeface="+mn-cs"/>
            </a:endParaRPr>
          </a:p>
        </p:txBody>
      </p:sp>
    </p:spTree>
    <p:extLst>
      <p:ext uri="{BB962C8B-B14F-4D97-AF65-F5344CB8AC3E}">
        <p14:creationId xmlns:p14="http://schemas.microsoft.com/office/powerpoint/2010/main" val="183958306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56</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4" name="文本框 3">
            <a:extLst>
              <a:ext uri="{FF2B5EF4-FFF2-40B4-BE49-F238E27FC236}">
                <a16:creationId xmlns:a16="http://schemas.microsoft.com/office/drawing/2014/main" id="{194C7B8E-BB6A-754C-CBBE-52BFCCF8D64B}"/>
              </a:ext>
            </a:extLst>
          </p:cNvPr>
          <p:cNvSpPr txBox="1"/>
          <p:nvPr/>
        </p:nvSpPr>
        <p:spPr>
          <a:xfrm>
            <a:off x="76408" y="1202845"/>
            <a:ext cx="8760860" cy="5444888"/>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数据预处理与可视化部分代码与</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K-means</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算法相同，模型训练代码如下：</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p:pic>
        <p:nvPicPr>
          <p:cNvPr id="6" name="图片 5">
            <a:extLst>
              <a:ext uri="{FF2B5EF4-FFF2-40B4-BE49-F238E27FC236}">
                <a16:creationId xmlns:a16="http://schemas.microsoft.com/office/drawing/2014/main" id="{045A4113-114E-C29B-A538-1AEC3969F6D3}"/>
              </a:ext>
            </a:extLst>
          </p:cNvPr>
          <p:cNvPicPr>
            <a:picLocks noChangeAspect="1"/>
          </p:cNvPicPr>
          <p:nvPr/>
        </p:nvPicPr>
        <p:blipFill rotWithShape="1">
          <a:blip r:embed="rId3"/>
          <a:srcRect t="1336"/>
          <a:stretch/>
        </p:blipFill>
        <p:spPr>
          <a:xfrm>
            <a:off x="228208" y="2063489"/>
            <a:ext cx="8687583" cy="3708661"/>
          </a:xfrm>
          <a:prstGeom prst="rect">
            <a:avLst/>
          </a:prstGeom>
        </p:spPr>
      </p:pic>
    </p:spTree>
    <p:extLst>
      <p:ext uri="{BB962C8B-B14F-4D97-AF65-F5344CB8AC3E}">
        <p14:creationId xmlns:p14="http://schemas.microsoft.com/office/powerpoint/2010/main" val="12712026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57</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4" name="文本框 3">
            <a:extLst>
              <a:ext uri="{FF2B5EF4-FFF2-40B4-BE49-F238E27FC236}">
                <a16:creationId xmlns:a16="http://schemas.microsoft.com/office/drawing/2014/main" id="{194C7B8E-BB6A-754C-CBBE-52BFCCF8D64B}"/>
              </a:ext>
            </a:extLst>
          </p:cNvPr>
          <p:cNvSpPr txBox="1"/>
          <p:nvPr/>
        </p:nvSpPr>
        <p:spPr>
          <a:xfrm>
            <a:off x="220580" y="1260553"/>
            <a:ext cx="8760860" cy="7383881"/>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各轮收敛效果</a:t>
            </a:r>
            <a:endParaRPr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algn="just">
              <a:lnSpc>
                <a:spcPct val="150000"/>
              </a:lnSpc>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最终分类结果</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（下一页为详细分类结果数据，</a:t>
            </a:r>
            <a:r>
              <a:rPr lang="en-US" altLang="zh-CN" sz="1200" b="0" i="1" dirty="0" err="1">
                <a:effectLst/>
                <a:latin typeface="微软雅黑" panose="020B0503020204020204" pitchFamily="34" charset="-122"/>
                <a:ea typeface="微软雅黑" panose="020B0503020204020204" pitchFamily="34" charset="-122"/>
              </a:rPr>
              <a:t>γti</a:t>
            </a:r>
            <a:r>
              <a:rPr lang="zh-CN" altLang="en-US" sz="1200" b="0" i="0" dirty="0">
                <a:effectLst/>
                <a:latin typeface="微软雅黑" panose="020B0503020204020204" pitchFamily="34" charset="-122"/>
                <a:ea typeface="微软雅黑" panose="020B0503020204020204" pitchFamily="34" charset="-122"/>
              </a:rPr>
              <a:t>​ 表示数据点 </a:t>
            </a:r>
            <a:r>
              <a:rPr lang="en-US" altLang="zh-CN" sz="1200" b="0" i="1" dirty="0">
                <a:effectLst/>
                <a:latin typeface="微软雅黑" panose="020B0503020204020204" pitchFamily="34" charset="-122"/>
                <a:ea typeface="微软雅黑" panose="020B0503020204020204" pitchFamily="34" charset="-122"/>
              </a:rPr>
              <a:t>t</a:t>
            </a:r>
            <a:r>
              <a:rPr lang="zh-CN" altLang="en-US" sz="1200" b="0" i="0" dirty="0">
                <a:effectLst/>
                <a:latin typeface="微软雅黑" panose="020B0503020204020204" pitchFamily="34" charset="-122"/>
                <a:ea typeface="微软雅黑" panose="020B0503020204020204" pitchFamily="34" charset="-122"/>
              </a:rPr>
              <a:t> 属于第 </a:t>
            </a:r>
            <a:r>
              <a:rPr lang="en-US" altLang="zh-CN" sz="1200" b="0" i="1" dirty="0" err="1">
                <a:effectLst/>
                <a:latin typeface="微软雅黑" panose="020B0503020204020204" pitchFamily="34" charset="-122"/>
                <a:ea typeface="微软雅黑" panose="020B0503020204020204" pitchFamily="34" charset="-122"/>
              </a:rPr>
              <a:t>i</a:t>
            </a:r>
            <a:r>
              <a:rPr lang="zh-CN" altLang="en-US" sz="1200" b="0" i="0" dirty="0">
                <a:effectLst/>
                <a:latin typeface="微软雅黑" panose="020B0503020204020204" pitchFamily="34" charset="-122"/>
                <a:ea typeface="微软雅黑" panose="020B0503020204020204" pitchFamily="34" charset="-122"/>
              </a:rPr>
              <a:t> 个高斯分布的后验概率</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p:pic>
        <p:nvPicPr>
          <p:cNvPr id="10" name="图片 9">
            <a:extLst>
              <a:ext uri="{FF2B5EF4-FFF2-40B4-BE49-F238E27FC236}">
                <a16:creationId xmlns:a16="http://schemas.microsoft.com/office/drawing/2014/main" id="{99774613-FEA2-4DA7-85BC-4EB1631D20A9}"/>
              </a:ext>
            </a:extLst>
          </p:cNvPr>
          <p:cNvPicPr>
            <a:picLocks noChangeAspect="1"/>
          </p:cNvPicPr>
          <p:nvPr/>
        </p:nvPicPr>
        <p:blipFill>
          <a:blip r:embed="rId3"/>
          <a:stretch>
            <a:fillRect/>
          </a:stretch>
        </p:blipFill>
        <p:spPr>
          <a:xfrm>
            <a:off x="2691130" y="4474492"/>
            <a:ext cx="3200711" cy="2383508"/>
          </a:xfrm>
          <a:prstGeom prst="rect">
            <a:avLst/>
          </a:prstGeom>
        </p:spPr>
      </p:pic>
      <p:pic>
        <p:nvPicPr>
          <p:cNvPr id="23" name="图片 22">
            <a:extLst>
              <a:ext uri="{FF2B5EF4-FFF2-40B4-BE49-F238E27FC236}">
                <a16:creationId xmlns:a16="http://schemas.microsoft.com/office/drawing/2014/main" id="{B4DBB051-8689-43A0-B6DF-407E3243248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10540" y="1714501"/>
            <a:ext cx="3181301" cy="2347647"/>
          </a:xfrm>
          <a:prstGeom prst="rect">
            <a:avLst/>
          </a:prstGeom>
        </p:spPr>
      </p:pic>
    </p:spTree>
    <p:extLst>
      <p:ext uri="{BB962C8B-B14F-4D97-AF65-F5344CB8AC3E}">
        <p14:creationId xmlns:p14="http://schemas.microsoft.com/office/powerpoint/2010/main" val="5281637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58</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4" name="文本框 3">
            <a:extLst>
              <a:ext uri="{FF2B5EF4-FFF2-40B4-BE49-F238E27FC236}">
                <a16:creationId xmlns:a16="http://schemas.microsoft.com/office/drawing/2014/main" id="{194C7B8E-BB6A-754C-CBBE-52BFCCF8D64B}"/>
              </a:ext>
            </a:extLst>
          </p:cNvPr>
          <p:cNvSpPr txBox="1"/>
          <p:nvPr/>
        </p:nvSpPr>
        <p:spPr>
          <a:xfrm>
            <a:off x="76408" y="1202845"/>
            <a:ext cx="8760860" cy="1289905"/>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pic>
        <p:nvPicPr>
          <p:cNvPr id="10" name="图片 9">
            <a:extLst>
              <a:ext uri="{FF2B5EF4-FFF2-40B4-BE49-F238E27FC236}">
                <a16:creationId xmlns:a16="http://schemas.microsoft.com/office/drawing/2014/main" id="{7558BE91-5815-2ED9-3775-47A26079560D}"/>
              </a:ext>
            </a:extLst>
          </p:cNvPr>
          <p:cNvPicPr>
            <a:picLocks noChangeAspect="1"/>
          </p:cNvPicPr>
          <p:nvPr/>
        </p:nvPicPr>
        <p:blipFill>
          <a:blip r:embed="rId3"/>
          <a:stretch>
            <a:fillRect/>
          </a:stretch>
        </p:blipFill>
        <p:spPr>
          <a:xfrm>
            <a:off x="4372351" y="536096"/>
            <a:ext cx="6278495" cy="6189399"/>
          </a:xfrm>
          <a:prstGeom prst="rect">
            <a:avLst/>
          </a:prstGeom>
        </p:spPr>
      </p:pic>
      <p:pic>
        <p:nvPicPr>
          <p:cNvPr id="11" name="图片 10">
            <a:extLst>
              <a:ext uri="{FF2B5EF4-FFF2-40B4-BE49-F238E27FC236}">
                <a16:creationId xmlns:a16="http://schemas.microsoft.com/office/drawing/2014/main" id="{4BE01537-B244-F95B-3CE0-BEF261624923}"/>
              </a:ext>
            </a:extLst>
          </p:cNvPr>
          <p:cNvPicPr>
            <a:picLocks noChangeAspect="1"/>
          </p:cNvPicPr>
          <p:nvPr/>
        </p:nvPicPr>
        <p:blipFill>
          <a:blip r:embed="rId4"/>
          <a:stretch>
            <a:fillRect/>
          </a:stretch>
        </p:blipFill>
        <p:spPr>
          <a:xfrm>
            <a:off x="76408" y="536096"/>
            <a:ext cx="5832274" cy="6188662"/>
          </a:xfrm>
          <a:prstGeom prst="rect">
            <a:avLst/>
          </a:prstGeom>
        </p:spPr>
      </p:pic>
      <p:sp>
        <p:nvSpPr>
          <p:cNvPr id="3" name="对话气泡: 矩形 2">
            <a:extLst>
              <a:ext uri="{FF2B5EF4-FFF2-40B4-BE49-F238E27FC236}">
                <a16:creationId xmlns:a16="http://schemas.microsoft.com/office/drawing/2014/main" id="{A6C6FA75-900F-4953-8788-3270DE389AEB}"/>
              </a:ext>
            </a:extLst>
          </p:cNvPr>
          <p:cNvSpPr/>
          <p:nvPr/>
        </p:nvSpPr>
        <p:spPr>
          <a:xfrm>
            <a:off x="981080" y="1186780"/>
            <a:ext cx="2285999" cy="1045723"/>
          </a:xfrm>
          <a:prstGeom prst="wedgeRectCallout">
            <a:avLst>
              <a:gd name="adj1" fmla="val -20833"/>
              <a:gd name="adj2" fmla="val -82151"/>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FEADB4F4-A818-48EA-A731-6DB0F25DA7E5}"/>
              </a:ext>
            </a:extLst>
          </p:cNvPr>
          <p:cNvSpPr txBox="1"/>
          <p:nvPr/>
        </p:nvSpPr>
        <p:spPr>
          <a:xfrm>
            <a:off x="1060625" y="1259767"/>
            <a:ext cx="2073943" cy="923330"/>
          </a:xfrm>
          <a:prstGeom prst="rect">
            <a:avLst/>
          </a:prstGeom>
          <a:noFill/>
        </p:spPr>
        <p:txBody>
          <a:bodyPr wrap="square">
            <a:spAutoFit/>
          </a:bodyPr>
          <a:lstStyle/>
          <a:p>
            <a:r>
              <a:rPr lang="en-US" altLang="zh-CN" b="0" i="1" dirty="0" err="1">
                <a:effectLst/>
                <a:latin typeface="微软雅黑" panose="020B0503020204020204" pitchFamily="34" charset="-122"/>
                <a:ea typeface="微软雅黑" panose="020B0503020204020204" pitchFamily="34" charset="-122"/>
              </a:rPr>
              <a:t>γ</a:t>
            </a:r>
            <a:r>
              <a:rPr lang="en-US" altLang="zh-CN" b="1" i="1" dirty="0" err="1">
                <a:solidFill>
                  <a:srgbClr val="C00000"/>
                </a:solidFill>
                <a:effectLst/>
                <a:latin typeface="微软雅黑" panose="020B0503020204020204" pitchFamily="34" charset="-122"/>
                <a:ea typeface="微软雅黑" panose="020B0503020204020204" pitchFamily="34" charset="-122"/>
              </a:rPr>
              <a:t>t</a:t>
            </a:r>
            <a:r>
              <a:rPr lang="en-US" altLang="zh-CN" b="0" i="1" dirty="0" err="1">
                <a:effectLst/>
                <a:latin typeface="微软雅黑" panose="020B0503020204020204" pitchFamily="34" charset="-122"/>
                <a:ea typeface="微软雅黑" panose="020B0503020204020204" pitchFamily="34" charset="-122"/>
              </a:rPr>
              <a:t>i</a:t>
            </a:r>
            <a:r>
              <a:rPr lang="zh-CN" altLang="en-US" b="0" i="0" dirty="0">
                <a:effectLst/>
                <a:latin typeface="微软雅黑" panose="020B0503020204020204" pitchFamily="34" charset="-122"/>
                <a:ea typeface="微软雅黑" panose="020B0503020204020204" pitchFamily="34" charset="-122"/>
              </a:rPr>
              <a:t>​ 表示</a:t>
            </a:r>
            <a:r>
              <a:rPr lang="zh-CN" altLang="en-US" b="1" i="0" dirty="0">
                <a:solidFill>
                  <a:srgbClr val="C00000"/>
                </a:solidFill>
                <a:effectLst/>
                <a:latin typeface="微软雅黑" panose="020B0503020204020204" pitchFamily="34" charset="-122"/>
                <a:ea typeface="微软雅黑" panose="020B0503020204020204" pitchFamily="34" charset="-122"/>
              </a:rPr>
              <a:t>数据点 </a:t>
            </a:r>
            <a:r>
              <a:rPr lang="en-US" altLang="zh-CN" b="1" i="1" dirty="0">
                <a:solidFill>
                  <a:srgbClr val="C00000"/>
                </a:solidFill>
                <a:effectLst/>
                <a:latin typeface="微软雅黑" panose="020B0503020204020204" pitchFamily="34" charset="-122"/>
                <a:ea typeface="微软雅黑" panose="020B0503020204020204" pitchFamily="34" charset="-122"/>
              </a:rPr>
              <a:t>t</a:t>
            </a:r>
            <a:r>
              <a:rPr lang="zh-CN" altLang="en-US" b="1" i="0" dirty="0">
                <a:solidFill>
                  <a:srgbClr val="C00000"/>
                </a:solidFill>
                <a:effectLst/>
                <a:latin typeface="微软雅黑" panose="020B0503020204020204" pitchFamily="34" charset="-122"/>
                <a:ea typeface="微软雅黑" panose="020B0503020204020204" pitchFamily="34" charset="-122"/>
              </a:rPr>
              <a:t> </a:t>
            </a:r>
            <a:r>
              <a:rPr lang="zh-CN" altLang="en-US" b="0" i="0" dirty="0">
                <a:effectLst/>
                <a:latin typeface="微软雅黑" panose="020B0503020204020204" pitchFamily="34" charset="-122"/>
                <a:ea typeface="微软雅黑" panose="020B0503020204020204" pitchFamily="34" charset="-122"/>
              </a:rPr>
              <a:t>属于第 </a:t>
            </a:r>
            <a:r>
              <a:rPr lang="en-US" altLang="zh-CN" b="0" i="1" dirty="0" err="1">
                <a:effectLst/>
                <a:latin typeface="微软雅黑" panose="020B0503020204020204" pitchFamily="34" charset="-122"/>
                <a:ea typeface="微软雅黑" panose="020B0503020204020204" pitchFamily="34" charset="-122"/>
              </a:rPr>
              <a:t>i</a:t>
            </a:r>
            <a:r>
              <a:rPr lang="zh-CN" altLang="en-US" b="0" i="0" dirty="0">
                <a:effectLst/>
                <a:latin typeface="微软雅黑" panose="020B0503020204020204" pitchFamily="34" charset="-122"/>
                <a:ea typeface="微软雅黑" panose="020B0503020204020204" pitchFamily="34" charset="-122"/>
              </a:rPr>
              <a:t> 个高斯分布的后验概率</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29913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4"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59</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13" name="标题 1">
            <a:extLst>
              <a:ext uri="{FF2B5EF4-FFF2-40B4-BE49-F238E27FC236}">
                <a16:creationId xmlns:a16="http://schemas.microsoft.com/office/drawing/2014/main" id="{5607F18F-699A-4F7F-A2ED-BD80B7B267C8}"/>
              </a:ext>
            </a:extLst>
          </p:cNvPr>
          <p:cNvSpPr>
            <a:spLocks noGrp="1"/>
          </p:cNvSpPr>
          <p:nvPr>
            <p:ph type="title"/>
          </p:nvPr>
        </p:nvSpPr>
        <p:spPr>
          <a:xfrm>
            <a:off x="457200" y="462280"/>
            <a:ext cx="8229600" cy="990600"/>
          </a:xfrm>
        </p:spPr>
        <p:txBody>
          <a:bodyPr/>
          <a:lstStyle/>
          <a:p>
            <a:r>
              <a:rPr lang="en-US" altLang="zh-CN" dirty="0">
                <a:latin typeface="微软雅黑" panose="020B0503020204020204" pitchFamily="34" charset="-122"/>
                <a:ea typeface="微软雅黑" panose="020B0503020204020204" pitchFamily="34" charset="-122"/>
                <a:cs typeface="Times New Roman" panose="02020603050405020304" pitchFamily="18" charset="0"/>
              </a:rPr>
              <a:t>4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层次聚类算法</a:t>
            </a:r>
          </a:p>
        </p:txBody>
      </p:sp>
      <p:sp>
        <p:nvSpPr>
          <p:cNvPr id="14" name="内容占位符 2">
            <a:extLst>
              <a:ext uri="{FF2B5EF4-FFF2-40B4-BE49-F238E27FC236}">
                <a16:creationId xmlns:a16="http://schemas.microsoft.com/office/drawing/2014/main" id="{D53E8302-9586-421A-84F3-019752B5E77E}"/>
              </a:ext>
            </a:extLst>
          </p:cNvPr>
          <p:cNvSpPr>
            <a:spLocks noGrp="1"/>
          </p:cNvSpPr>
          <p:nvPr>
            <p:ph idx="1"/>
          </p:nvPr>
        </p:nvSpPr>
        <p:spPr>
          <a:xfrm>
            <a:off x="457200" y="1452878"/>
            <a:ext cx="8299050" cy="4942842"/>
          </a:xfrm>
        </p:spPr>
        <p:txBody>
          <a:bodyPr/>
          <a:lstStyle/>
          <a:p>
            <a:r>
              <a:rPr lang="zh-CN" altLang="en-US"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算法基本思想</a:t>
            </a: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a:buNone/>
            </a:pP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r>
              <a:rPr lang="zh-CN" altLang="en-US"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算法过程</a:t>
            </a: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页脚占位符 2">
            <a:extLst>
              <a:ext uri="{FF2B5EF4-FFF2-40B4-BE49-F238E27FC236}">
                <a16:creationId xmlns:a16="http://schemas.microsoft.com/office/drawing/2014/main" id="{D587D2AD-241A-41DE-BAC5-9CF913617622}"/>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13456079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60</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算法基本思想</a:t>
            </a:r>
          </a:p>
        </p:txBody>
      </p:sp>
      <p:sp>
        <p:nvSpPr>
          <p:cNvPr id="3" name="文本框 2">
            <a:extLst>
              <a:ext uri="{FF2B5EF4-FFF2-40B4-BE49-F238E27FC236}">
                <a16:creationId xmlns:a16="http://schemas.microsoft.com/office/drawing/2014/main" id="{96B97EB8-671F-2DD6-D687-E431680C58CC}"/>
              </a:ext>
            </a:extLst>
          </p:cNvPr>
          <p:cNvSpPr txBox="1"/>
          <p:nvPr/>
        </p:nvSpPr>
        <p:spPr>
          <a:xfrm>
            <a:off x="162560" y="1245067"/>
            <a:ext cx="8675814" cy="5029390"/>
          </a:xfrm>
          <a:prstGeom prst="rect">
            <a:avLst/>
          </a:prstGeom>
          <a:noFill/>
        </p:spPr>
        <p:txBody>
          <a:bodyPr wrap="square">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层次聚类（又称为系统聚类或系谱聚类）是一种常用聚类算法，该算法</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通过合成或分割簇，生成嵌套的集群</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。层次聚类算法的策略可以分为“</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自底向上聚合</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”和“</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自顶向下分拆</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”两种。</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lang="en-US" altLang="zh-CN" sz="12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本课介绍的算法策略为</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自底向上</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聚合地层次聚类算法</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，其算法层次结构可以表示为一棵树：</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树的根是一个唯一的簇，包含所有的样本，而树的叶子节点是单独的一个样本。通过树的叶子节点的相互合并，最终合称为树的根节点</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6" name="图片 5">
            <a:extLst>
              <a:ext uri="{FF2B5EF4-FFF2-40B4-BE49-F238E27FC236}">
                <a16:creationId xmlns:a16="http://schemas.microsoft.com/office/drawing/2014/main" id="{51D46F35-C78F-D8F4-221B-FDA0C94E4A93}"/>
              </a:ext>
            </a:extLst>
          </p:cNvPr>
          <p:cNvPicPr>
            <a:picLocks noChangeAspect="1"/>
          </p:cNvPicPr>
          <p:nvPr/>
        </p:nvPicPr>
        <p:blipFill>
          <a:blip r:embed="rId3"/>
          <a:stretch>
            <a:fillRect/>
          </a:stretch>
        </p:blipFill>
        <p:spPr>
          <a:xfrm>
            <a:off x="2400473" y="4217692"/>
            <a:ext cx="4343054" cy="2621258"/>
          </a:xfrm>
          <a:prstGeom prst="rect">
            <a:avLst/>
          </a:prstGeom>
        </p:spPr>
      </p:pic>
      <p:cxnSp>
        <p:nvCxnSpPr>
          <p:cNvPr id="9" name="直接箭头连接符 8">
            <a:extLst>
              <a:ext uri="{FF2B5EF4-FFF2-40B4-BE49-F238E27FC236}">
                <a16:creationId xmlns:a16="http://schemas.microsoft.com/office/drawing/2014/main" id="{2C168BEE-B0AE-0005-83EE-668257303716}"/>
              </a:ext>
            </a:extLst>
          </p:cNvPr>
          <p:cNvCxnSpPr>
            <a:cxnSpLocks/>
          </p:cNvCxnSpPr>
          <p:nvPr/>
        </p:nvCxnSpPr>
        <p:spPr>
          <a:xfrm flipV="1">
            <a:off x="1858879" y="4217692"/>
            <a:ext cx="0" cy="2562103"/>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1" name="直接箭头连接符 10">
            <a:extLst>
              <a:ext uri="{FF2B5EF4-FFF2-40B4-BE49-F238E27FC236}">
                <a16:creationId xmlns:a16="http://schemas.microsoft.com/office/drawing/2014/main" id="{87DFBDFE-F428-A36D-7741-1454412D95C8}"/>
              </a:ext>
            </a:extLst>
          </p:cNvPr>
          <p:cNvCxnSpPr>
            <a:cxnSpLocks/>
          </p:cNvCxnSpPr>
          <p:nvPr/>
        </p:nvCxnSpPr>
        <p:spPr>
          <a:xfrm>
            <a:off x="7194885" y="4246721"/>
            <a:ext cx="0" cy="256320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7" name="文本框 16">
            <a:extLst>
              <a:ext uri="{FF2B5EF4-FFF2-40B4-BE49-F238E27FC236}">
                <a16:creationId xmlns:a16="http://schemas.microsoft.com/office/drawing/2014/main" id="{8EF95B0B-47BA-C4C9-9E8E-129C93E3DB0B}"/>
              </a:ext>
            </a:extLst>
          </p:cNvPr>
          <p:cNvSpPr txBox="1"/>
          <p:nvPr/>
        </p:nvSpPr>
        <p:spPr>
          <a:xfrm>
            <a:off x="881266" y="5158989"/>
            <a:ext cx="954107" cy="400110"/>
          </a:xfrm>
          <a:prstGeom prst="rect">
            <a:avLst/>
          </a:prstGeom>
          <a:noFill/>
        </p:spPr>
        <p:txBody>
          <a:bodyPr wrap="none" rtlCol="0">
            <a:spAutoFit/>
          </a:bodyPr>
          <a:lstStyle/>
          <a:p>
            <a:r>
              <a:rPr lang="zh-CN" altLang="en-US" sz="2000" dirty="0">
                <a:latin typeface="微软雅黑" panose="020B0503020204020204" pitchFamily="34" charset="-122"/>
                <a:ea typeface="微软雅黑" panose="020B0503020204020204" pitchFamily="34" charset="-122"/>
              </a:rPr>
              <a:t>簇间距</a:t>
            </a:r>
          </a:p>
        </p:txBody>
      </p:sp>
      <p:sp>
        <p:nvSpPr>
          <p:cNvPr id="19" name="文本框 18">
            <a:extLst>
              <a:ext uri="{FF2B5EF4-FFF2-40B4-BE49-F238E27FC236}">
                <a16:creationId xmlns:a16="http://schemas.microsoft.com/office/drawing/2014/main" id="{DB5D863E-335E-A518-BD5A-E1CB42A4599A}"/>
              </a:ext>
            </a:extLst>
          </p:cNvPr>
          <p:cNvSpPr txBox="1"/>
          <p:nvPr/>
        </p:nvSpPr>
        <p:spPr>
          <a:xfrm>
            <a:off x="7385571" y="5158989"/>
            <a:ext cx="954107" cy="400110"/>
          </a:xfrm>
          <a:prstGeom prst="rect">
            <a:avLst/>
          </a:prstGeom>
          <a:noFill/>
        </p:spPr>
        <p:txBody>
          <a:bodyPr wrap="none" rtlCol="0">
            <a:spAutoFit/>
          </a:bodyPr>
          <a:lstStyle/>
          <a:p>
            <a:r>
              <a:rPr lang="zh-CN" altLang="en-US" sz="2000" dirty="0">
                <a:latin typeface="微软雅黑" panose="020B0503020204020204" pitchFamily="34" charset="-122"/>
                <a:ea typeface="微软雅黑" panose="020B0503020204020204" pitchFamily="34" charset="-122"/>
              </a:rPr>
              <a:t>簇数量</a:t>
            </a:r>
          </a:p>
        </p:txBody>
      </p:sp>
    </p:spTree>
    <p:extLst>
      <p:ext uri="{BB962C8B-B14F-4D97-AF65-F5344CB8AC3E}">
        <p14:creationId xmlns:p14="http://schemas.microsoft.com/office/powerpoint/2010/main" val="379144010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61</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31445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算法基本思想</a:t>
            </a:r>
          </a:p>
        </p:txBody>
      </p:sp>
      <p:sp>
        <p:nvSpPr>
          <p:cNvPr id="3" name="文本框 2">
            <a:extLst>
              <a:ext uri="{FF2B5EF4-FFF2-40B4-BE49-F238E27FC236}">
                <a16:creationId xmlns:a16="http://schemas.microsoft.com/office/drawing/2014/main" id="{96B97EB8-671F-2DD6-D687-E431680C58CC}"/>
              </a:ext>
            </a:extLst>
          </p:cNvPr>
          <p:cNvSpPr txBox="1"/>
          <p:nvPr/>
        </p:nvSpPr>
        <p:spPr>
          <a:xfrm>
            <a:off x="125162" y="1047096"/>
            <a:ext cx="8675814" cy="2120902"/>
          </a:xfrm>
          <a:prstGeom prst="rect">
            <a:avLst/>
          </a:prstGeom>
          <a:noFill/>
        </p:spPr>
        <p:txBody>
          <a:bodyPr wrap="square">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矩形: 圆角 3">
            <a:extLst>
              <a:ext uri="{FF2B5EF4-FFF2-40B4-BE49-F238E27FC236}">
                <a16:creationId xmlns:a16="http://schemas.microsoft.com/office/drawing/2014/main" id="{2012B5FF-FD43-AC93-824A-8F0D6A7AEEA5}"/>
              </a:ext>
            </a:extLst>
          </p:cNvPr>
          <p:cNvSpPr/>
          <p:nvPr/>
        </p:nvSpPr>
        <p:spPr>
          <a:xfrm>
            <a:off x="3426414" y="1838145"/>
            <a:ext cx="2223436" cy="58245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latin typeface="微软雅黑" panose="020B0503020204020204" pitchFamily="34" charset="-122"/>
                <a:ea typeface="微软雅黑" panose="020B0503020204020204" pitchFamily="34" charset="-122"/>
              </a:rPr>
              <a:t>东南大学</a:t>
            </a:r>
          </a:p>
        </p:txBody>
      </p:sp>
      <p:cxnSp>
        <p:nvCxnSpPr>
          <p:cNvPr id="10" name="直接连接符 9">
            <a:extLst>
              <a:ext uri="{FF2B5EF4-FFF2-40B4-BE49-F238E27FC236}">
                <a16:creationId xmlns:a16="http://schemas.microsoft.com/office/drawing/2014/main" id="{88A5E13C-A79E-471F-B681-F9A8776F485C}"/>
              </a:ext>
            </a:extLst>
          </p:cNvPr>
          <p:cNvCxnSpPr>
            <a:cxnSpLocks/>
            <a:stCxn id="4" idx="2"/>
          </p:cNvCxnSpPr>
          <p:nvPr/>
        </p:nvCxnSpPr>
        <p:spPr>
          <a:xfrm>
            <a:off x="4538132" y="2420599"/>
            <a:ext cx="0" cy="304194"/>
          </a:xfrm>
          <a:prstGeom prst="line">
            <a:avLst/>
          </a:prstGeom>
          <a:ln w="19050"/>
        </p:spPr>
        <p:style>
          <a:lnRef idx="1">
            <a:schemeClr val="dk1"/>
          </a:lnRef>
          <a:fillRef idx="0">
            <a:schemeClr val="dk1"/>
          </a:fillRef>
          <a:effectRef idx="0">
            <a:schemeClr val="dk1"/>
          </a:effectRef>
          <a:fontRef idx="minor">
            <a:schemeClr val="tx1"/>
          </a:fontRef>
        </p:style>
      </p:cxnSp>
      <p:cxnSp>
        <p:nvCxnSpPr>
          <p:cNvPr id="13" name="直接连接符 12">
            <a:extLst>
              <a:ext uri="{FF2B5EF4-FFF2-40B4-BE49-F238E27FC236}">
                <a16:creationId xmlns:a16="http://schemas.microsoft.com/office/drawing/2014/main" id="{AA3D6BA4-F6E7-6922-3062-6CA2C2334850}"/>
              </a:ext>
            </a:extLst>
          </p:cNvPr>
          <p:cNvCxnSpPr>
            <a:cxnSpLocks/>
          </p:cNvCxnSpPr>
          <p:nvPr/>
        </p:nvCxnSpPr>
        <p:spPr>
          <a:xfrm>
            <a:off x="4572000" y="2716866"/>
            <a:ext cx="3920067" cy="6350"/>
          </a:xfrm>
          <a:prstGeom prst="line">
            <a:avLst/>
          </a:prstGeom>
          <a:ln w="19050"/>
        </p:spPr>
        <p:style>
          <a:lnRef idx="1">
            <a:schemeClr val="dk1"/>
          </a:lnRef>
          <a:fillRef idx="0">
            <a:schemeClr val="dk1"/>
          </a:fillRef>
          <a:effectRef idx="0">
            <a:schemeClr val="dk1"/>
          </a:effectRef>
          <a:fontRef idx="minor">
            <a:schemeClr val="tx1"/>
          </a:fontRef>
        </p:style>
      </p:cxnSp>
      <p:cxnSp>
        <p:nvCxnSpPr>
          <p:cNvPr id="22" name="直接连接符 21">
            <a:extLst>
              <a:ext uri="{FF2B5EF4-FFF2-40B4-BE49-F238E27FC236}">
                <a16:creationId xmlns:a16="http://schemas.microsoft.com/office/drawing/2014/main" id="{0F33BE8C-D073-375D-2F4C-5989D855C86A}"/>
              </a:ext>
            </a:extLst>
          </p:cNvPr>
          <p:cNvCxnSpPr>
            <a:cxnSpLocks/>
            <a:stCxn id="31" idx="0"/>
          </p:cNvCxnSpPr>
          <p:nvPr/>
        </p:nvCxnSpPr>
        <p:spPr>
          <a:xfrm flipV="1">
            <a:off x="6182258" y="2721387"/>
            <a:ext cx="0" cy="533959"/>
          </a:xfrm>
          <a:prstGeom prst="line">
            <a:avLst/>
          </a:prstGeom>
          <a:ln w="19050"/>
        </p:spPr>
        <p:style>
          <a:lnRef idx="1">
            <a:schemeClr val="dk1"/>
          </a:lnRef>
          <a:fillRef idx="0">
            <a:schemeClr val="dk1"/>
          </a:fillRef>
          <a:effectRef idx="0">
            <a:schemeClr val="dk1"/>
          </a:effectRef>
          <a:fontRef idx="minor">
            <a:schemeClr val="tx1"/>
          </a:fontRef>
        </p:style>
      </p:cxnSp>
      <p:cxnSp>
        <p:nvCxnSpPr>
          <p:cNvPr id="25" name="直接连接符 24">
            <a:extLst>
              <a:ext uri="{FF2B5EF4-FFF2-40B4-BE49-F238E27FC236}">
                <a16:creationId xmlns:a16="http://schemas.microsoft.com/office/drawing/2014/main" id="{7D1F9550-ABF8-3CE1-086A-FF46196000CE}"/>
              </a:ext>
            </a:extLst>
          </p:cNvPr>
          <p:cNvCxnSpPr>
            <a:cxnSpLocks/>
          </p:cNvCxnSpPr>
          <p:nvPr/>
        </p:nvCxnSpPr>
        <p:spPr>
          <a:xfrm flipV="1">
            <a:off x="1062567" y="2716866"/>
            <a:ext cx="3509433" cy="6350"/>
          </a:xfrm>
          <a:prstGeom prst="line">
            <a:avLst/>
          </a:prstGeom>
          <a:ln w="19050"/>
        </p:spPr>
        <p:style>
          <a:lnRef idx="1">
            <a:schemeClr val="dk1"/>
          </a:lnRef>
          <a:fillRef idx="0">
            <a:schemeClr val="dk1"/>
          </a:fillRef>
          <a:effectRef idx="0">
            <a:schemeClr val="dk1"/>
          </a:effectRef>
          <a:fontRef idx="minor">
            <a:schemeClr val="tx1"/>
          </a:fontRef>
        </p:style>
      </p:cxnSp>
      <p:cxnSp>
        <p:nvCxnSpPr>
          <p:cNvPr id="26" name="直接连接符 25">
            <a:extLst>
              <a:ext uri="{FF2B5EF4-FFF2-40B4-BE49-F238E27FC236}">
                <a16:creationId xmlns:a16="http://schemas.microsoft.com/office/drawing/2014/main" id="{56956879-3B46-02B9-A64E-0287D05727A6}"/>
              </a:ext>
            </a:extLst>
          </p:cNvPr>
          <p:cNvCxnSpPr>
            <a:cxnSpLocks/>
          </p:cNvCxnSpPr>
          <p:nvPr/>
        </p:nvCxnSpPr>
        <p:spPr>
          <a:xfrm flipV="1">
            <a:off x="3616399" y="2719353"/>
            <a:ext cx="0" cy="495300"/>
          </a:xfrm>
          <a:prstGeom prst="line">
            <a:avLst/>
          </a:prstGeom>
          <a:ln w="19050"/>
        </p:spPr>
        <p:style>
          <a:lnRef idx="1">
            <a:schemeClr val="dk1"/>
          </a:lnRef>
          <a:fillRef idx="0">
            <a:schemeClr val="dk1"/>
          </a:fillRef>
          <a:effectRef idx="0">
            <a:schemeClr val="dk1"/>
          </a:effectRef>
          <a:fontRef idx="minor">
            <a:schemeClr val="tx1"/>
          </a:fontRef>
        </p:style>
      </p:cxnSp>
      <p:sp>
        <p:nvSpPr>
          <p:cNvPr id="30" name="矩形: 圆角 29">
            <a:extLst>
              <a:ext uri="{FF2B5EF4-FFF2-40B4-BE49-F238E27FC236}">
                <a16:creationId xmlns:a16="http://schemas.microsoft.com/office/drawing/2014/main" id="{0F9B130B-B21B-E1BE-8B77-D32745DA0B02}"/>
              </a:ext>
            </a:extLst>
          </p:cNvPr>
          <p:cNvSpPr/>
          <p:nvPr/>
        </p:nvSpPr>
        <p:spPr>
          <a:xfrm>
            <a:off x="2678401" y="3214653"/>
            <a:ext cx="1859731" cy="46355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latin typeface="微软雅黑" panose="020B0503020204020204" pitchFamily="34" charset="-122"/>
                <a:ea typeface="微软雅黑" panose="020B0503020204020204" pitchFamily="34" charset="-122"/>
              </a:rPr>
              <a:t>土木学院</a:t>
            </a:r>
          </a:p>
        </p:txBody>
      </p:sp>
      <p:sp>
        <p:nvSpPr>
          <p:cNvPr id="31" name="矩形: 圆角 30">
            <a:extLst>
              <a:ext uri="{FF2B5EF4-FFF2-40B4-BE49-F238E27FC236}">
                <a16:creationId xmlns:a16="http://schemas.microsoft.com/office/drawing/2014/main" id="{73A5FE71-AB54-5985-3175-24FAA12EB261}"/>
              </a:ext>
            </a:extLst>
          </p:cNvPr>
          <p:cNvSpPr/>
          <p:nvPr/>
        </p:nvSpPr>
        <p:spPr>
          <a:xfrm>
            <a:off x="5328785" y="3255346"/>
            <a:ext cx="1706946" cy="46355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latin typeface="微软雅黑" panose="020B0503020204020204" pitchFamily="34" charset="-122"/>
                <a:ea typeface="微软雅黑" panose="020B0503020204020204" pitchFamily="34" charset="-122"/>
              </a:rPr>
              <a:t>交通学院</a:t>
            </a:r>
          </a:p>
        </p:txBody>
      </p:sp>
      <p:cxnSp>
        <p:nvCxnSpPr>
          <p:cNvPr id="32" name="直接连接符 31">
            <a:extLst>
              <a:ext uri="{FF2B5EF4-FFF2-40B4-BE49-F238E27FC236}">
                <a16:creationId xmlns:a16="http://schemas.microsoft.com/office/drawing/2014/main" id="{7AB41542-6A65-5E0F-C172-5C9116E98D48}"/>
              </a:ext>
            </a:extLst>
          </p:cNvPr>
          <p:cNvCxnSpPr>
            <a:cxnSpLocks/>
            <a:stCxn id="31" idx="2"/>
          </p:cNvCxnSpPr>
          <p:nvPr/>
        </p:nvCxnSpPr>
        <p:spPr>
          <a:xfrm>
            <a:off x="6182258" y="3718897"/>
            <a:ext cx="0" cy="636269"/>
          </a:xfrm>
          <a:prstGeom prst="line">
            <a:avLst/>
          </a:prstGeom>
          <a:ln w="19050"/>
        </p:spPr>
        <p:style>
          <a:lnRef idx="1">
            <a:schemeClr val="dk1"/>
          </a:lnRef>
          <a:fillRef idx="0">
            <a:schemeClr val="dk1"/>
          </a:fillRef>
          <a:effectRef idx="0">
            <a:schemeClr val="dk1"/>
          </a:effectRef>
          <a:fontRef idx="minor">
            <a:schemeClr val="tx1"/>
          </a:fontRef>
        </p:style>
      </p:cxnSp>
      <p:cxnSp>
        <p:nvCxnSpPr>
          <p:cNvPr id="33" name="直接连接符 32">
            <a:extLst>
              <a:ext uri="{FF2B5EF4-FFF2-40B4-BE49-F238E27FC236}">
                <a16:creationId xmlns:a16="http://schemas.microsoft.com/office/drawing/2014/main" id="{F8C32DD6-89AF-364B-0F1E-D02A88CB0BDD}"/>
              </a:ext>
            </a:extLst>
          </p:cNvPr>
          <p:cNvCxnSpPr>
            <a:cxnSpLocks/>
          </p:cNvCxnSpPr>
          <p:nvPr/>
        </p:nvCxnSpPr>
        <p:spPr>
          <a:xfrm>
            <a:off x="4301139" y="4359771"/>
            <a:ext cx="3920067" cy="6350"/>
          </a:xfrm>
          <a:prstGeom prst="line">
            <a:avLst/>
          </a:prstGeom>
          <a:ln w="19050"/>
        </p:spPr>
        <p:style>
          <a:lnRef idx="1">
            <a:schemeClr val="dk1"/>
          </a:lnRef>
          <a:fillRef idx="0">
            <a:schemeClr val="dk1"/>
          </a:fillRef>
          <a:effectRef idx="0">
            <a:schemeClr val="dk1"/>
          </a:effectRef>
          <a:fontRef idx="minor">
            <a:schemeClr val="tx1"/>
          </a:fontRef>
        </p:style>
      </p:cxnSp>
      <p:cxnSp>
        <p:nvCxnSpPr>
          <p:cNvPr id="34" name="直接连接符 33">
            <a:extLst>
              <a:ext uri="{FF2B5EF4-FFF2-40B4-BE49-F238E27FC236}">
                <a16:creationId xmlns:a16="http://schemas.microsoft.com/office/drawing/2014/main" id="{774F8D61-379E-B274-8A43-82577144B2C3}"/>
              </a:ext>
            </a:extLst>
          </p:cNvPr>
          <p:cNvCxnSpPr>
            <a:cxnSpLocks/>
          </p:cNvCxnSpPr>
          <p:nvPr/>
        </p:nvCxnSpPr>
        <p:spPr>
          <a:xfrm flipV="1">
            <a:off x="5211581" y="4359771"/>
            <a:ext cx="0" cy="495300"/>
          </a:xfrm>
          <a:prstGeom prst="line">
            <a:avLst/>
          </a:prstGeom>
          <a:ln w="19050"/>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758E2632-F24B-C9DA-B483-2CC190E03E79}"/>
              </a:ext>
            </a:extLst>
          </p:cNvPr>
          <p:cNvCxnSpPr>
            <a:cxnSpLocks/>
          </p:cNvCxnSpPr>
          <p:nvPr/>
        </p:nvCxnSpPr>
        <p:spPr>
          <a:xfrm flipV="1">
            <a:off x="7467948" y="4359771"/>
            <a:ext cx="0" cy="495300"/>
          </a:xfrm>
          <a:prstGeom prst="line">
            <a:avLst/>
          </a:prstGeom>
          <a:ln w="19050"/>
        </p:spPr>
        <p:style>
          <a:lnRef idx="1">
            <a:schemeClr val="dk1"/>
          </a:lnRef>
          <a:fillRef idx="0">
            <a:schemeClr val="dk1"/>
          </a:fillRef>
          <a:effectRef idx="0">
            <a:schemeClr val="dk1"/>
          </a:effectRef>
          <a:fontRef idx="minor">
            <a:schemeClr val="tx1"/>
          </a:fontRef>
        </p:style>
      </p:cxnSp>
      <p:sp>
        <p:nvSpPr>
          <p:cNvPr id="38" name="矩形: 圆角 37">
            <a:extLst>
              <a:ext uri="{FF2B5EF4-FFF2-40B4-BE49-F238E27FC236}">
                <a16:creationId xmlns:a16="http://schemas.microsoft.com/office/drawing/2014/main" id="{820B37F2-A04B-0485-E576-A8B2BCFE3B7F}"/>
              </a:ext>
            </a:extLst>
          </p:cNvPr>
          <p:cNvSpPr/>
          <p:nvPr/>
        </p:nvSpPr>
        <p:spPr>
          <a:xfrm>
            <a:off x="4320464" y="4857558"/>
            <a:ext cx="1782234" cy="49530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latin typeface="微软雅黑" panose="020B0503020204020204" pitchFamily="34" charset="-122"/>
                <a:ea typeface="微软雅黑" panose="020B0503020204020204" pitchFamily="34" charset="-122"/>
              </a:rPr>
              <a:t>交通工程系</a:t>
            </a:r>
          </a:p>
        </p:txBody>
      </p:sp>
      <p:sp>
        <p:nvSpPr>
          <p:cNvPr id="39" name="矩形: 圆角 38">
            <a:extLst>
              <a:ext uri="{FF2B5EF4-FFF2-40B4-BE49-F238E27FC236}">
                <a16:creationId xmlns:a16="http://schemas.microsoft.com/office/drawing/2014/main" id="{AA29CA2F-CEFA-E7EE-7A24-353C3EFA2BA9}"/>
              </a:ext>
            </a:extLst>
          </p:cNvPr>
          <p:cNvSpPr/>
          <p:nvPr/>
        </p:nvSpPr>
        <p:spPr>
          <a:xfrm>
            <a:off x="6608233" y="4855071"/>
            <a:ext cx="1823779" cy="49530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latin typeface="微软雅黑" panose="020B0503020204020204" pitchFamily="34" charset="-122"/>
                <a:ea typeface="微软雅黑" panose="020B0503020204020204" pitchFamily="34" charset="-122"/>
              </a:rPr>
              <a:t>桥梁工程系</a:t>
            </a:r>
          </a:p>
        </p:txBody>
      </p:sp>
      <p:cxnSp>
        <p:nvCxnSpPr>
          <p:cNvPr id="49" name="直接连接符 48">
            <a:extLst>
              <a:ext uri="{FF2B5EF4-FFF2-40B4-BE49-F238E27FC236}">
                <a16:creationId xmlns:a16="http://schemas.microsoft.com/office/drawing/2014/main" id="{1A0A1CF2-AA22-16FD-81EA-B8D481DE16B0}"/>
              </a:ext>
            </a:extLst>
          </p:cNvPr>
          <p:cNvCxnSpPr>
            <a:cxnSpLocks/>
            <a:stCxn id="38" idx="2"/>
          </p:cNvCxnSpPr>
          <p:nvPr/>
        </p:nvCxnSpPr>
        <p:spPr>
          <a:xfrm>
            <a:off x="5211581" y="5352859"/>
            <a:ext cx="0" cy="253257"/>
          </a:xfrm>
          <a:prstGeom prst="line">
            <a:avLst/>
          </a:prstGeom>
          <a:ln w="19050"/>
        </p:spPr>
        <p:style>
          <a:lnRef idx="1">
            <a:schemeClr val="dk1"/>
          </a:lnRef>
          <a:fillRef idx="0">
            <a:schemeClr val="dk1"/>
          </a:fillRef>
          <a:effectRef idx="0">
            <a:schemeClr val="dk1"/>
          </a:effectRef>
          <a:fontRef idx="minor">
            <a:schemeClr val="tx1"/>
          </a:fontRef>
        </p:style>
      </p:cxnSp>
      <p:cxnSp>
        <p:nvCxnSpPr>
          <p:cNvPr id="52" name="直接连接符 51">
            <a:extLst>
              <a:ext uri="{FF2B5EF4-FFF2-40B4-BE49-F238E27FC236}">
                <a16:creationId xmlns:a16="http://schemas.microsoft.com/office/drawing/2014/main" id="{6C10A064-6B92-6544-0CCB-5E9EC2CE9FD3}"/>
              </a:ext>
            </a:extLst>
          </p:cNvPr>
          <p:cNvCxnSpPr>
            <a:cxnSpLocks/>
          </p:cNvCxnSpPr>
          <p:nvPr/>
        </p:nvCxnSpPr>
        <p:spPr>
          <a:xfrm>
            <a:off x="4004657" y="5600361"/>
            <a:ext cx="2475656"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54" name="直接连接符 53">
            <a:extLst>
              <a:ext uri="{FF2B5EF4-FFF2-40B4-BE49-F238E27FC236}">
                <a16:creationId xmlns:a16="http://schemas.microsoft.com/office/drawing/2014/main" id="{D8D06447-1AE7-0EE3-50F5-99B19C5FAAD8}"/>
              </a:ext>
            </a:extLst>
          </p:cNvPr>
          <p:cNvCxnSpPr>
            <a:cxnSpLocks/>
          </p:cNvCxnSpPr>
          <p:nvPr/>
        </p:nvCxnSpPr>
        <p:spPr>
          <a:xfrm flipV="1">
            <a:off x="4191164" y="5600361"/>
            <a:ext cx="0" cy="361079"/>
          </a:xfrm>
          <a:prstGeom prst="line">
            <a:avLst/>
          </a:prstGeom>
          <a:ln w="19050"/>
        </p:spPr>
        <p:style>
          <a:lnRef idx="1">
            <a:schemeClr val="dk1"/>
          </a:lnRef>
          <a:fillRef idx="0">
            <a:schemeClr val="dk1"/>
          </a:fillRef>
          <a:effectRef idx="0">
            <a:schemeClr val="dk1"/>
          </a:effectRef>
          <a:fontRef idx="minor">
            <a:schemeClr val="tx1"/>
          </a:fontRef>
        </p:style>
      </p:cxnSp>
      <p:cxnSp>
        <p:nvCxnSpPr>
          <p:cNvPr id="56" name="直接连接符 55">
            <a:extLst>
              <a:ext uri="{FF2B5EF4-FFF2-40B4-BE49-F238E27FC236}">
                <a16:creationId xmlns:a16="http://schemas.microsoft.com/office/drawing/2014/main" id="{675AE6DA-A179-5AEE-D042-885DB8FB689C}"/>
              </a:ext>
            </a:extLst>
          </p:cNvPr>
          <p:cNvCxnSpPr>
            <a:cxnSpLocks/>
          </p:cNvCxnSpPr>
          <p:nvPr/>
        </p:nvCxnSpPr>
        <p:spPr>
          <a:xfrm flipV="1">
            <a:off x="4774223" y="5600358"/>
            <a:ext cx="0" cy="361079"/>
          </a:xfrm>
          <a:prstGeom prst="line">
            <a:avLst/>
          </a:prstGeom>
          <a:ln w="19050"/>
        </p:spPr>
        <p:style>
          <a:lnRef idx="1">
            <a:schemeClr val="dk1"/>
          </a:lnRef>
          <a:fillRef idx="0">
            <a:schemeClr val="dk1"/>
          </a:fillRef>
          <a:effectRef idx="0">
            <a:schemeClr val="dk1"/>
          </a:effectRef>
          <a:fontRef idx="minor">
            <a:schemeClr val="tx1"/>
          </a:fontRef>
        </p:style>
      </p:cxnSp>
      <p:cxnSp>
        <p:nvCxnSpPr>
          <p:cNvPr id="58" name="直接连接符 57">
            <a:extLst>
              <a:ext uri="{FF2B5EF4-FFF2-40B4-BE49-F238E27FC236}">
                <a16:creationId xmlns:a16="http://schemas.microsoft.com/office/drawing/2014/main" id="{FB933810-1D38-C8D3-56D9-5C354F4ACCF8}"/>
              </a:ext>
            </a:extLst>
          </p:cNvPr>
          <p:cNvCxnSpPr>
            <a:cxnSpLocks/>
          </p:cNvCxnSpPr>
          <p:nvPr/>
        </p:nvCxnSpPr>
        <p:spPr>
          <a:xfrm flipV="1">
            <a:off x="6271275" y="5600359"/>
            <a:ext cx="0" cy="361079"/>
          </a:xfrm>
          <a:prstGeom prst="line">
            <a:avLst/>
          </a:prstGeom>
          <a:ln w="19050"/>
        </p:spPr>
        <p:style>
          <a:lnRef idx="1">
            <a:schemeClr val="dk1"/>
          </a:lnRef>
          <a:fillRef idx="0">
            <a:schemeClr val="dk1"/>
          </a:fillRef>
          <a:effectRef idx="0">
            <a:schemeClr val="dk1"/>
          </a:effectRef>
          <a:fontRef idx="minor">
            <a:schemeClr val="tx1"/>
          </a:fontRef>
        </p:style>
      </p:cxnSp>
      <p:sp>
        <p:nvSpPr>
          <p:cNvPr id="59" name="矩形: 圆角 58">
            <a:extLst>
              <a:ext uri="{FF2B5EF4-FFF2-40B4-BE49-F238E27FC236}">
                <a16:creationId xmlns:a16="http://schemas.microsoft.com/office/drawing/2014/main" id="{14F94A9C-8FBB-0B25-BE7D-FE05D9B55558}"/>
              </a:ext>
            </a:extLst>
          </p:cNvPr>
          <p:cNvSpPr/>
          <p:nvPr/>
        </p:nvSpPr>
        <p:spPr>
          <a:xfrm>
            <a:off x="3988940" y="5971520"/>
            <a:ext cx="404447" cy="8145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学生</a:t>
            </a:r>
            <a:r>
              <a:rPr lang="en-US" altLang="zh-CN" sz="1600" dirty="0">
                <a:latin typeface="微软雅黑" panose="020B0503020204020204" pitchFamily="34" charset="-122"/>
                <a:ea typeface="微软雅黑" panose="020B0503020204020204" pitchFamily="34" charset="-122"/>
              </a:rPr>
              <a:t>A</a:t>
            </a:r>
            <a:endParaRPr lang="zh-CN" altLang="en-US" sz="1600" dirty="0">
              <a:latin typeface="微软雅黑" panose="020B0503020204020204" pitchFamily="34" charset="-122"/>
              <a:ea typeface="微软雅黑" panose="020B0503020204020204" pitchFamily="34" charset="-122"/>
            </a:endParaRPr>
          </a:p>
        </p:txBody>
      </p:sp>
      <p:sp>
        <p:nvSpPr>
          <p:cNvPr id="60" name="矩形: 圆角 59">
            <a:extLst>
              <a:ext uri="{FF2B5EF4-FFF2-40B4-BE49-F238E27FC236}">
                <a16:creationId xmlns:a16="http://schemas.microsoft.com/office/drawing/2014/main" id="{EA830915-8586-F62C-FF14-BFC0C46F93C9}"/>
              </a:ext>
            </a:extLst>
          </p:cNvPr>
          <p:cNvSpPr/>
          <p:nvPr/>
        </p:nvSpPr>
        <p:spPr>
          <a:xfrm>
            <a:off x="4572000" y="5961438"/>
            <a:ext cx="404447" cy="8145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学生</a:t>
            </a:r>
            <a:r>
              <a:rPr lang="en-US" altLang="zh-CN" sz="1600" dirty="0">
                <a:latin typeface="微软雅黑" panose="020B0503020204020204" pitchFamily="34" charset="-122"/>
                <a:ea typeface="微软雅黑" panose="020B0503020204020204" pitchFamily="34" charset="-122"/>
              </a:rPr>
              <a:t>B</a:t>
            </a:r>
            <a:endParaRPr lang="zh-CN" altLang="en-US" sz="1600" dirty="0">
              <a:latin typeface="微软雅黑" panose="020B0503020204020204" pitchFamily="34" charset="-122"/>
              <a:ea typeface="微软雅黑" panose="020B0503020204020204" pitchFamily="34" charset="-122"/>
            </a:endParaRPr>
          </a:p>
        </p:txBody>
      </p:sp>
      <p:sp>
        <p:nvSpPr>
          <p:cNvPr id="61" name="矩形: 圆角 60">
            <a:extLst>
              <a:ext uri="{FF2B5EF4-FFF2-40B4-BE49-F238E27FC236}">
                <a16:creationId xmlns:a16="http://schemas.microsoft.com/office/drawing/2014/main" id="{4A8C353D-5913-8658-FB45-796A7D305810}"/>
              </a:ext>
            </a:extLst>
          </p:cNvPr>
          <p:cNvSpPr/>
          <p:nvPr/>
        </p:nvSpPr>
        <p:spPr>
          <a:xfrm>
            <a:off x="6022546" y="5971519"/>
            <a:ext cx="404447" cy="8145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学生</a:t>
            </a:r>
            <a:r>
              <a:rPr lang="en-US" altLang="zh-CN" sz="1600" dirty="0">
                <a:latin typeface="微软雅黑" panose="020B0503020204020204" pitchFamily="34" charset="-122"/>
                <a:ea typeface="微软雅黑" panose="020B0503020204020204" pitchFamily="34" charset="-122"/>
              </a:rPr>
              <a:t>N</a:t>
            </a:r>
            <a:endParaRPr lang="zh-CN" altLang="en-US" sz="1600" dirty="0">
              <a:latin typeface="微软雅黑" panose="020B0503020204020204" pitchFamily="34" charset="-122"/>
              <a:ea typeface="微软雅黑" panose="020B0503020204020204" pitchFamily="34" charset="-122"/>
            </a:endParaRPr>
          </a:p>
        </p:txBody>
      </p:sp>
      <p:sp>
        <p:nvSpPr>
          <p:cNvPr id="62" name="文本框 61">
            <a:extLst>
              <a:ext uri="{FF2B5EF4-FFF2-40B4-BE49-F238E27FC236}">
                <a16:creationId xmlns:a16="http://schemas.microsoft.com/office/drawing/2014/main" id="{DCBAB0B5-67AD-7C39-62D6-C8C97737A852}"/>
              </a:ext>
            </a:extLst>
          </p:cNvPr>
          <p:cNvSpPr txBox="1"/>
          <p:nvPr/>
        </p:nvSpPr>
        <p:spPr>
          <a:xfrm>
            <a:off x="5278923" y="6084360"/>
            <a:ext cx="441146" cy="400110"/>
          </a:xfrm>
          <a:prstGeom prst="rect">
            <a:avLst/>
          </a:prstGeom>
          <a:noFill/>
        </p:spPr>
        <p:txBody>
          <a:bodyPr wrap="none" rtlCol="0">
            <a:spAutoFit/>
          </a:bodyPr>
          <a:lstStyle/>
          <a:p>
            <a:r>
              <a:rPr lang="en-US" altLang="zh-CN" sz="2000" b="1" dirty="0"/>
              <a:t>…</a:t>
            </a:r>
            <a:endParaRPr lang="zh-CN" altLang="en-US" sz="2000" b="1" dirty="0"/>
          </a:p>
        </p:txBody>
      </p:sp>
      <p:cxnSp>
        <p:nvCxnSpPr>
          <p:cNvPr id="63" name="直接连接符 62">
            <a:extLst>
              <a:ext uri="{FF2B5EF4-FFF2-40B4-BE49-F238E27FC236}">
                <a16:creationId xmlns:a16="http://schemas.microsoft.com/office/drawing/2014/main" id="{F7D25DD8-7B87-A090-E5C5-AA695B7EF7EA}"/>
              </a:ext>
            </a:extLst>
          </p:cNvPr>
          <p:cNvCxnSpPr>
            <a:cxnSpLocks/>
          </p:cNvCxnSpPr>
          <p:nvPr/>
        </p:nvCxnSpPr>
        <p:spPr>
          <a:xfrm flipV="1">
            <a:off x="1174075" y="2723644"/>
            <a:ext cx="0" cy="495300"/>
          </a:xfrm>
          <a:prstGeom prst="line">
            <a:avLst/>
          </a:prstGeom>
          <a:ln w="19050"/>
        </p:spPr>
        <p:style>
          <a:lnRef idx="1">
            <a:schemeClr val="dk1"/>
          </a:lnRef>
          <a:fillRef idx="0">
            <a:schemeClr val="dk1"/>
          </a:fillRef>
          <a:effectRef idx="0">
            <a:schemeClr val="dk1"/>
          </a:effectRef>
          <a:fontRef idx="minor">
            <a:schemeClr val="tx1"/>
          </a:fontRef>
        </p:style>
      </p:cxnSp>
      <p:sp>
        <p:nvSpPr>
          <p:cNvPr id="64" name="矩形: 圆角 63">
            <a:extLst>
              <a:ext uri="{FF2B5EF4-FFF2-40B4-BE49-F238E27FC236}">
                <a16:creationId xmlns:a16="http://schemas.microsoft.com/office/drawing/2014/main" id="{0CB3EAD5-13C6-E594-6FFD-BFB62F1BD53F}"/>
              </a:ext>
            </a:extLst>
          </p:cNvPr>
          <p:cNvSpPr/>
          <p:nvPr/>
        </p:nvSpPr>
        <p:spPr>
          <a:xfrm>
            <a:off x="236077" y="3218944"/>
            <a:ext cx="1859731" cy="46355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latin typeface="微软雅黑" panose="020B0503020204020204" pitchFamily="34" charset="-122"/>
                <a:ea typeface="微软雅黑" panose="020B0503020204020204" pitchFamily="34" charset="-122"/>
              </a:rPr>
              <a:t>人事处</a:t>
            </a:r>
          </a:p>
        </p:txBody>
      </p:sp>
      <p:sp>
        <p:nvSpPr>
          <p:cNvPr id="66" name="文本框 65">
            <a:extLst>
              <a:ext uri="{FF2B5EF4-FFF2-40B4-BE49-F238E27FC236}">
                <a16:creationId xmlns:a16="http://schemas.microsoft.com/office/drawing/2014/main" id="{362B323E-8D18-2B9C-3F93-3ED9441127CD}"/>
              </a:ext>
            </a:extLst>
          </p:cNvPr>
          <p:cNvSpPr txBox="1"/>
          <p:nvPr/>
        </p:nvSpPr>
        <p:spPr>
          <a:xfrm>
            <a:off x="75325" y="1322550"/>
            <a:ext cx="3775393" cy="400110"/>
          </a:xfrm>
          <a:prstGeom prst="rect">
            <a:avLst/>
          </a:prstGeom>
          <a:noFill/>
        </p:spPr>
        <p:txBody>
          <a:bodyPr wrap="none" rtlCol="0">
            <a:spAutoFit/>
          </a:bodyPr>
          <a:lstStyle/>
          <a:p>
            <a:r>
              <a:rPr lang="zh-CN" altLang="en-US" sz="2000" dirty="0">
                <a:latin typeface="微软雅黑" panose="020B0503020204020204" pitchFamily="34" charset="-122"/>
                <a:ea typeface="微软雅黑" panose="020B0503020204020204" pitchFamily="34" charset="-122"/>
              </a:rPr>
              <a:t>例子：学校人员的“层次聚类”</a:t>
            </a:r>
          </a:p>
        </p:txBody>
      </p:sp>
    </p:spTree>
    <p:extLst>
      <p:ext uri="{BB962C8B-B14F-4D97-AF65-F5344CB8AC3E}">
        <p14:creationId xmlns:p14="http://schemas.microsoft.com/office/powerpoint/2010/main" val="291759815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62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算法基本思想</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96B97EB8-671F-2DD6-D687-E431680C58CC}"/>
                  </a:ext>
                </a:extLst>
              </p:cNvPr>
              <p:cNvSpPr txBox="1"/>
              <p:nvPr/>
            </p:nvSpPr>
            <p:spPr>
              <a:xfrm>
                <a:off x="162560" y="1245067"/>
                <a:ext cx="8675814" cy="5860387"/>
              </a:xfrm>
              <a:prstGeom prst="rect">
                <a:avLst/>
              </a:prstGeom>
              <a:noFill/>
            </p:spPr>
            <p:txBody>
              <a:bodyPr wrap="square">
                <a:spAutoFit/>
              </a:bodyPr>
              <a:lstStyle/>
              <a:p>
                <a:pPr lvl="0" algn="just">
                  <a:lnSpc>
                    <a:spcPct val="150000"/>
                  </a:lnSpc>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在定义</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簇间距离</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计算方法的基础上，层次聚类算法的</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基本思想</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是：先将各个样本看作单独的一簇，选择距离最小的一对簇合并成为一个新的簇。然后，重新计算簇间的距离，再将距离最近的两簇合并，循环计算，直至合成为一个唯一的簇。</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对于如右图所示的样本分布，</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层次聚类过程如下</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）首先计算各簇距离，将距离最近的</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b</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c</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合并</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为一簇，此时得到五个簇：</a:t>
                </a:r>
                <a14:m>
                  <m:oMath xmlns:m="http://schemas.openxmlformats.org/officeDocument/2006/math">
                    <m:d>
                      <m:dPr>
                        <m:begChr m:val="{"/>
                        <m:endChr m:val="}"/>
                        <m:ctrlPr>
                          <a:rPr lang="en-US" altLang="zh-CN"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𝑎</m:t>
                        </m:r>
                      </m:e>
                    </m:d>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d>
                      <m:dPr>
                        <m:begChr m:val="{"/>
                        <m:endChr m:val="}"/>
                        <m:ctrlP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𝑏</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𝑐</m:t>
                        </m:r>
                      </m:e>
                    </m:d>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d>
                      <m:dPr>
                        <m:begChr m:val="{"/>
                        <m:endChr m:val="}"/>
                        <m:ctrlP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𝑑</m:t>
                        </m:r>
                      </m:e>
                    </m:d>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d>
                      <m:dPr>
                        <m:begChr m:val="{"/>
                        <m:endChr m:val="}"/>
                        <m:ctrlP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𝑒</m:t>
                        </m:r>
                      </m:e>
                    </m:d>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d>
                      <m:dPr>
                        <m:begChr m:val="{"/>
                        <m:endChr m:val="}"/>
                        <m:ctrlP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𝑓</m:t>
                        </m:r>
                      </m:e>
                    </m:d>
                  </m:oMath>
                </a14:m>
                <a:endParaRPr lang="en-US" altLang="zh-CN"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pPr>
                <a:endParaRPr lang="en-US" altLang="zh-CN"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）计算各簇之间的距离，将距离最近的</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d</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a:t>
                </a:r>
              </a:p>
              <a:p>
                <a:pPr lvl="0" algn="just">
                  <a:lnSpc>
                    <a:spcPct val="150000"/>
                  </a:lnSpc>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合并为一簇，此时有四个簇：</a:t>
                </a:r>
                <a:r>
                  <a:rPr lang="en-US" altLang="zh-CN" dirty="0">
                    <a:solidFill>
                      <a:srgbClr val="000000"/>
                    </a:solidFill>
                    <a:ea typeface="微软雅黑" panose="020B0503020204020204" pitchFamily="34" charset="-122"/>
                    <a:cs typeface="Times New Roman" panose="02020603050405020304" pitchFamily="18" charset="0"/>
                  </a:rPr>
                  <a:t> </a:t>
                </a:r>
                <a14:m>
                  <m:oMath xmlns:m="http://schemas.openxmlformats.org/officeDocument/2006/math">
                    <m:d>
                      <m:dPr>
                        <m:begChr m:val="{"/>
                        <m:endChr m:val="}"/>
                        <m:ctrlPr>
                          <a:rPr lang="en-US" altLang="zh-CN"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𝑎</m:t>
                        </m:r>
                      </m:e>
                    </m:d>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d>
                      <m:dPr>
                        <m:begChr m:val="{"/>
                        <m:endChr m:val="}"/>
                        <m:ctrlP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𝑏</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𝑐</m:t>
                        </m:r>
                      </m:e>
                    </m:d>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d>
                      <m:dPr>
                        <m:begChr m:val="{"/>
                        <m:endChr m:val="}"/>
                        <m:ctrlP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𝑑</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𝑒</m:t>
                        </m:r>
                      </m:e>
                    </m:d>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d>
                      <m:dPr>
                        <m:begChr m:val="{"/>
                        <m:endChr m:val="}"/>
                        <m:ctrlP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𝑓</m:t>
                        </m:r>
                      </m:e>
                    </m:d>
                  </m:oMath>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96B97EB8-671F-2DD6-D687-E431680C58CC}"/>
                  </a:ext>
                </a:extLst>
              </p:cNvPr>
              <p:cNvSpPr txBox="1">
                <a:spLocks noRot="1" noChangeAspect="1" noMove="1" noResize="1" noEditPoints="1" noAdjustHandles="1" noChangeArrowheads="1" noChangeShapeType="1" noTextEdit="1"/>
              </p:cNvSpPr>
              <p:nvPr/>
            </p:nvSpPr>
            <p:spPr>
              <a:xfrm>
                <a:off x="162560" y="1245067"/>
                <a:ext cx="8675814" cy="5860387"/>
              </a:xfrm>
              <a:prstGeom prst="rect">
                <a:avLst/>
              </a:prstGeom>
              <a:blipFill>
                <a:blip r:embed="rId4"/>
                <a:stretch>
                  <a:fillRect l="-632" r="-562"/>
                </a:stretch>
              </a:blipFill>
            </p:spPr>
            <p:txBody>
              <a:bodyPr/>
              <a:lstStyle/>
              <a:p>
                <a:r>
                  <a:rPr lang="zh-CN" altLang="en-US">
                    <a:noFill/>
                  </a:rPr>
                  <a:t> </a:t>
                </a:r>
              </a:p>
            </p:txBody>
          </p:sp>
        </mc:Fallback>
      </mc:AlternateContent>
      <p:sp>
        <p:nvSpPr>
          <p:cNvPr id="13" name="Rectangle 2">
            <a:extLst>
              <a:ext uri="{FF2B5EF4-FFF2-40B4-BE49-F238E27FC236}">
                <a16:creationId xmlns:a16="http://schemas.microsoft.com/office/drawing/2014/main" id="{76255F33-E016-A3AA-CD1F-A75737940C83}"/>
              </a:ext>
            </a:extLst>
          </p:cNvPr>
          <p:cNvSpPr>
            <a:spLocks noChangeArrowheads="1"/>
          </p:cNvSpPr>
          <p:nvPr/>
        </p:nvSpPr>
        <p:spPr bwMode="auto">
          <a:xfrm>
            <a:off x="3597442" y="311748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6" name="Rectangle 4">
            <a:extLst>
              <a:ext uri="{FF2B5EF4-FFF2-40B4-BE49-F238E27FC236}">
                <a16:creationId xmlns:a16="http://schemas.microsoft.com/office/drawing/2014/main" id="{51689749-C616-38E1-AE6E-D860D8593F51}"/>
              </a:ext>
            </a:extLst>
          </p:cNvPr>
          <p:cNvSpPr>
            <a:spLocks noChangeArrowheads="1"/>
          </p:cNvSpPr>
          <p:nvPr/>
        </p:nvSpPr>
        <p:spPr bwMode="auto">
          <a:xfrm>
            <a:off x="491647" y="382002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0" name="对象 19">
            <a:extLst>
              <a:ext uri="{FF2B5EF4-FFF2-40B4-BE49-F238E27FC236}">
                <a16:creationId xmlns:a16="http://schemas.microsoft.com/office/drawing/2014/main" id="{2649733A-9620-7DB3-3B7C-225A3BB7AD23}"/>
              </a:ext>
            </a:extLst>
          </p:cNvPr>
          <p:cNvGraphicFramePr>
            <a:graphicFrameLocks noChangeAspect="1"/>
          </p:cNvGraphicFramePr>
          <p:nvPr>
            <p:extLst>
              <p:ext uri="{D42A27DB-BD31-4B8C-83A1-F6EECF244321}">
                <p14:modId xmlns:p14="http://schemas.microsoft.com/office/powerpoint/2010/main" val="1589662562"/>
              </p:ext>
            </p:extLst>
          </p:nvPr>
        </p:nvGraphicFramePr>
        <p:xfrm>
          <a:off x="5766098" y="3188539"/>
          <a:ext cx="2845457" cy="2845457"/>
        </p:xfrm>
        <a:graphic>
          <a:graphicData uri="http://schemas.openxmlformats.org/presentationml/2006/ole">
            <mc:AlternateContent xmlns:mc="http://schemas.openxmlformats.org/markup-compatibility/2006">
              <mc:Choice xmlns:v="urn:schemas-microsoft-com:vml" Requires="v">
                <p:oleObj spid="_x0000_s9243" name="Visio" r:id="rId5" imgW="771371" imgH="787488" progId="Visio.Drawing.15">
                  <p:embed/>
                </p:oleObj>
              </mc:Choice>
              <mc:Fallback>
                <p:oleObj name="Visio" r:id="rId5" imgW="771371" imgH="787488" progId="Visio.Drawing.15">
                  <p:embed/>
                  <p:pic>
                    <p:nvPicPr>
                      <p:cNvPr id="0" name="Object 3"/>
                      <p:cNvPicPr>
                        <a:picLocks noChangeAspect="1" noChangeArrowheads="1"/>
                      </p:cNvPicPr>
                      <p:nvPr/>
                    </p:nvPicPr>
                    <p:blipFill>
                      <a:blip r:embed="rId6"/>
                      <a:srcRect/>
                      <a:stretch>
                        <a:fillRect/>
                      </a:stretch>
                    </p:blipFill>
                    <p:spPr bwMode="auto">
                      <a:xfrm>
                        <a:off x="5766098" y="3188539"/>
                        <a:ext cx="2845457" cy="2845457"/>
                      </a:xfrm>
                      <a:prstGeom prst="rect">
                        <a:avLst/>
                      </a:prstGeom>
                      <a:noFill/>
                    </p:spPr>
                  </p:pic>
                </p:oleObj>
              </mc:Fallback>
            </mc:AlternateContent>
          </a:graphicData>
        </a:graphic>
      </p:graphicFrame>
    </p:spTree>
    <p:extLst>
      <p:ext uri="{BB962C8B-B14F-4D97-AF65-F5344CB8AC3E}">
        <p14:creationId xmlns:p14="http://schemas.microsoft.com/office/powerpoint/2010/main" val="242386982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63</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算法基本思想</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96B97EB8-671F-2DD6-D687-E431680C58CC}"/>
                  </a:ext>
                </a:extLst>
              </p:cNvPr>
              <p:cNvSpPr txBox="1"/>
              <p:nvPr/>
            </p:nvSpPr>
            <p:spPr>
              <a:xfrm>
                <a:off x="162560" y="1245067"/>
                <a:ext cx="8675814" cy="4198393"/>
              </a:xfrm>
              <a:prstGeom prst="rect">
                <a:avLst/>
              </a:prstGeom>
              <a:noFill/>
            </p:spPr>
            <p:txBody>
              <a:bodyPr wrap="square">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对于如下图所示的样本分布，</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层次聚类过程如下</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3</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）计算各簇之间的距离，将距离最近的</a:t>
                </a:r>
                <a14:m>
                  <m:oMath xmlns:m="http://schemas.openxmlformats.org/officeDocument/2006/math">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𝑑</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𝑒</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 </m:t>
                    </m:r>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和</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 </m:t>
                    </m:r>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𝑓</m:t>
                        </m:r>
                      </m:e>
                    </m:d>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合并为一簇，此时有三个簇：</a:t>
                </a:r>
                <a:r>
                  <a:rPr kumimoji="0" lang="en-US" altLang="zh-CN" sz="1800" b="0" i="0" u="none" strike="noStrike" kern="1200" cap="none" spc="0" normalizeH="0" baseline="0" noProof="0" dirty="0">
                    <a:ln>
                      <a:noFill/>
                    </a:ln>
                    <a:solidFill>
                      <a:srgbClr val="000000"/>
                    </a:solidFill>
                    <a:effectLst/>
                    <a:uLnTx/>
                    <a:uFillTx/>
                    <a:latin typeface="Arial"/>
                    <a:ea typeface="微软雅黑" panose="020B0503020204020204" pitchFamily="34" charset="-122"/>
                    <a:cs typeface="Times New Roman" panose="02020603050405020304" pitchFamily="18" charset="0"/>
                  </a:rPr>
                  <a:t> </a:t>
                </a:r>
                <a14:m>
                  <m:oMath xmlns:m="http://schemas.openxmlformats.org/officeDocument/2006/math">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𝑎</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𝑏</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𝑐</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𝑑</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𝑒</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𝑓</m:t>
                        </m:r>
                      </m:e>
                    </m:d>
                  </m:oMath>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4</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）计算各簇之间的距离，将距离最近的</a:t>
                </a:r>
                <a14:m>
                  <m:oMath xmlns:m="http://schemas.openxmlformats.org/officeDocument/2006/math">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𝑏</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𝑐</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 </m:t>
                    </m:r>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和</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 </m:t>
                    </m:r>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𝑑</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𝑒</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𝑓</m:t>
                        </m:r>
                      </m:e>
                    </m:d>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合并为一簇，此时有两个簇： </a:t>
                </a:r>
                <a:r>
                  <a:rPr kumimoji="0" lang="en-US" altLang="zh-CN" sz="1800" b="0" i="0" u="none" strike="noStrike" kern="1200" cap="none" spc="0" normalizeH="0" baseline="0" noProof="0" dirty="0">
                    <a:ln>
                      <a:noFill/>
                    </a:ln>
                    <a:solidFill>
                      <a:srgbClr val="000000"/>
                    </a:solidFill>
                    <a:effectLst/>
                    <a:uLnTx/>
                    <a:uFillTx/>
                    <a:latin typeface="Arial"/>
                    <a:ea typeface="微软雅黑" panose="020B0503020204020204" pitchFamily="34" charset="-122"/>
                    <a:cs typeface="Times New Roman" panose="02020603050405020304" pitchFamily="18" charset="0"/>
                  </a:rPr>
                  <a:t> </a:t>
                </a:r>
                <a14:m>
                  <m:oMath xmlns:m="http://schemas.openxmlformats.org/officeDocument/2006/math">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𝑎</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 </m:t>
                    </m:r>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𝑏</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𝑐</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𝑑</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𝑒</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𝑓</m:t>
                        </m:r>
                      </m:e>
                    </m:d>
                  </m:oMath>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5</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）将剩余两簇</a:t>
                </a:r>
                <a14:m>
                  <m:oMath xmlns:m="http://schemas.openxmlformats.org/officeDocument/2006/math">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𝑎</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 </m:t>
                    </m:r>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和</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 </m:t>
                    </m:r>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𝑏</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𝑐</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𝑑</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𝑒</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𝑓</m:t>
                        </m:r>
                      </m:e>
                    </m:d>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合并</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96B97EB8-671F-2DD6-D687-E431680C58CC}"/>
                  </a:ext>
                </a:extLst>
              </p:cNvPr>
              <p:cNvSpPr txBox="1">
                <a:spLocks noRot="1" noChangeAspect="1" noMove="1" noResize="1" noEditPoints="1" noAdjustHandles="1" noChangeArrowheads="1" noChangeShapeType="1" noTextEdit="1"/>
              </p:cNvSpPr>
              <p:nvPr/>
            </p:nvSpPr>
            <p:spPr>
              <a:xfrm>
                <a:off x="162560" y="1245067"/>
                <a:ext cx="8675814" cy="4198393"/>
              </a:xfrm>
              <a:prstGeom prst="rect">
                <a:avLst/>
              </a:prstGeom>
              <a:blipFill>
                <a:blip r:embed="rId4"/>
                <a:stretch>
                  <a:fillRect l="-632" r="-562"/>
                </a:stretch>
              </a:blipFill>
            </p:spPr>
            <p:txBody>
              <a:bodyPr/>
              <a:lstStyle/>
              <a:p>
                <a:r>
                  <a:rPr lang="zh-CN" altLang="en-US">
                    <a:noFill/>
                  </a:rPr>
                  <a:t> </a:t>
                </a:r>
              </a:p>
            </p:txBody>
          </p:sp>
        </mc:Fallback>
      </mc:AlternateContent>
      <p:sp>
        <p:nvSpPr>
          <p:cNvPr id="13" name="Rectangle 2">
            <a:extLst>
              <a:ext uri="{FF2B5EF4-FFF2-40B4-BE49-F238E27FC236}">
                <a16:creationId xmlns:a16="http://schemas.microsoft.com/office/drawing/2014/main" id="{76255F33-E016-A3AA-CD1F-A75737940C83}"/>
              </a:ext>
            </a:extLst>
          </p:cNvPr>
          <p:cNvSpPr>
            <a:spLocks noChangeArrowheads="1"/>
          </p:cNvSpPr>
          <p:nvPr/>
        </p:nvSpPr>
        <p:spPr bwMode="auto">
          <a:xfrm>
            <a:off x="3597442" y="311748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6" name="Rectangle 4">
            <a:extLst>
              <a:ext uri="{FF2B5EF4-FFF2-40B4-BE49-F238E27FC236}">
                <a16:creationId xmlns:a16="http://schemas.microsoft.com/office/drawing/2014/main" id="{51689749-C616-38E1-AE6E-D860D8593F51}"/>
              </a:ext>
            </a:extLst>
          </p:cNvPr>
          <p:cNvSpPr>
            <a:spLocks noChangeArrowheads="1"/>
          </p:cNvSpPr>
          <p:nvPr/>
        </p:nvSpPr>
        <p:spPr bwMode="auto">
          <a:xfrm>
            <a:off x="491647" y="382002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graphicFrame>
        <p:nvGraphicFramePr>
          <p:cNvPr id="4" name="对象 3">
            <a:extLst>
              <a:ext uri="{FF2B5EF4-FFF2-40B4-BE49-F238E27FC236}">
                <a16:creationId xmlns:a16="http://schemas.microsoft.com/office/drawing/2014/main" id="{B5CB0648-32E1-32CD-BA09-C4CF77959F69}"/>
              </a:ext>
            </a:extLst>
          </p:cNvPr>
          <p:cNvGraphicFramePr>
            <a:graphicFrameLocks noChangeAspect="1"/>
          </p:cNvGraphicFramePr>
          <p:nvPr>
            <p:extLst>
              <p:ext uri="{D42A27DB-BD31-4B8C-83A1-F6EECF244321}">
                <p14:modId xmlns:p14="http://schemas.microsoft.com/office/powerpoint/2010/main" val="452176769"/>
              </p:ext>
            </p:extLst>
          </p:nvPr>
        </p:nvGraphicFramePr>
        <p:xfrm>
          <a:off x="5017193" y="3750275"/>
          <a:ext cx="3575185" cy="2705824"/>
        </p:xfrm>
        <a:graphic>
          <a:graphicData uri="http://schemas.openxmlformats.org/presentationml/2006/ole">
            <mc:AlternateContent xmlns:mc="http://schemas.openxmlformats.org/markup-compatibility/2006">
              <mc:Choice xmlns:v="urn:schemas-microsoft-com:vml" Requires="v">
                <p:oleObj spid="_x0000_s10292" name="Visio" r:id="rId5" imgW="1038096" imgH="781181" progId="Visio.Drawing.15">
                  <p:embed/>
                </p:oleObj>
              </mc:Choice>
              <mc:Fallback>
                <p:oleObj name="Visio" r:id="rId5" imgW="1038096" imgH="781181" progId="Visio.Drawing.15">
                  <p:embed/>
                  <p:pic>
                    <p:nvPicPr>
                      <p:cNvPr id="14" name="对象 13">
                        <a:extLst>
                          <a:ext uri="{FF2B5EF4-FFF2-40B4-BE49-F238E27FC236}">
                            <a16:creationId xmlns:a16="http://schemas.microsoft.com/office/drawing/2014/main" id="{746D3E20-0B77-4B53-FD3B-3EEFF9B2CBE4}"/>
                          </a:ext>
                        </a:extLst>
                      </p:cNvPr>
                      <p:cNvPicPr>
                        <a:picLocks noChangeAspect="1" noChangeArrowheads="1"/>
                      </p:cNvPicPr>
                      <p:nvPr/>
                    </p:nvPicPr>
                    <p:blipFill>
                      <a:blip r:embed="rId6"/>
                      <a:srcRect/>
                      <a:stretch>
                        <a:fillRect/>
                      </a:stretch>
                    </p:blipFill>
                    <p:spPr bwMode="auto">
                      <a:xfrm>
                        <a:off x="5017193" y="3750275"/>
                        <a:ext cx="3575185" cy="2705824"/>
                      </a:xfrm>
                      <a:prstGeom prst="rect">
                        <a:avLst/>
                      </a:prstGeom>
                      <a:noFill/>
                    </p:spPr>
                  </p:pic>
                </p:oleObj>
              </mc:Fallback>
            </mc:AlternateContent>
          </a:graphicData>
        </a:graphic>
      </p:graphicFrame>
      <p:graphicFrame>
        <p:nvGraphicFramePr>
          <p:cNvPr id="6" name="对象 5">
            <a:extLst>
              <a:ext uri="{FF2B5EF4-FFF2-40B4-BE49-F238E27FC236}">
                <a16:creationId xmlns:a16="http://schemas.microsoft.com/office/drawing/2014/main" id="{41ECA202-C086-1733-FBDB-756B5FB399F9}"/>
              </a:ext>
            </a:extLst>
          </p:cNvPr>
          <p:cNvGraphicFramePr>
            <a:graphicFrameLocks noChangeAspect="1"/>
          </p:cNvGraphicFramePr>
          <p:nvPr>
            <p:extLst>
              <p:ext uri="{D42A27DB-BD31-4B8C-83A1-F6EECF244321}">
                <p14:modId xmlns:p14="http://schemas.microsoft.com/office/powerpoint/2010/main" val="2387864457"/>
              </p:ext>
            </p:extLst>
          </p:nvPr>
        </p:nvGraphicFramePr>
        <p:xfrm>
          <a:off x="491647" y="3953071"/>
          <a:ext cx="2571967" cy="2571967"/>
        </p:xfrm>
        <a:graphic>
          <a:graphicData uri="http://schemas.openxmlformats.org/presentationml/2006/ole">
            <mc:AlternateContent xmlns:mc="http://schemas.openxmlformats.org/markup-compatibility/2006">
              <mc:Choice xmlns:v="urn:schemas-microsoft-com:vml" Requires="v">
                <p:oleObj spid="_x0000_s10293" name="Visio" r:id="rId7" imgW="769705" imgH="777269" progId="Visio.Drawing.15">
                  <p:embed/>
                </p:oleObj>
              </mc:Choice>
              <mc:Fallback>
                <p:oleObj name="Visio" r:id="rId7" imgW="769705" imgH="777269" progId="Visio.Drawing.15">
                  <p:embed/>
                  <p:pic>
                    <p:nvPicPr>
                      <p:cNvPr id="20" name="对象 19">
                        <a:extLst>
                          <a:ext uri="{FF2B5EF4-FFF2-40B4-BE49-F238E27FC236}">
                            <a16:creationId xmlns:a16="http://schemas.microsoft.com/office/drawing/2014/main" id="{2649733A-9620-7DB3-3B7C-225A3BB7AD2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1647" y="3953071"/>
                        <a:ext cx="2571967" cy="2571967"/>
                      </a:xfrm>
                      <a:prstGeom prst="rect">
                        <a:avLst/>
                      </a:prstGeom>
                      <a:noFill/>
                    </p:spPr>
                  </p:pic>
                </p:oleObj>
              </mc:Fallback>
            </mc:AlternateContent>
          </a:graphicData>
        </a:graphic>
      </p:graphicFrame>
      <p:sp>
        <p:nvSpPr>
          <p:cNvPr id="7" name="箭头: 右 6">
            <a:extLst>
              <a:ext uri="{FF2B5EF4-FFF2-40B4-BE49-F238E27FC236}">
                <a16:creationId xmlns:a16="http://schemas.microsoft.com/office/drawing/2014/main" id="{852328D1-773F-D176-D67B-B14280E37232}"/>
              </a:ext>
            </a:extLst>
          </p:cNvPr>
          <p:cNvSpPr/>
          <p:nvPr/>
        </p:nvSpPr>
        <p:spPr>
          <a:xfrm>
            <a:off x="3907850" y="4989904"/>
            <a:ext cx="633676" cy="4241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宋体"/>
              <a:cs typeface="+mn-cs"/>
            </a:endParaRPr>
          </a:p>
        </p:txBody>
      </p:sp>
      <p:sp>
        <p:nvSpPr>
          <p:cNvPr id="9" name="文本框 8">
            <a:extLst>
              <a:ext uri="{FF2B5EF4-FFF2-40B4-BE49-F238E27FC236}">
                <a16:creationId xmlns:a16="http://schemas.microsoft.com/office/drawing/2014/main" id="{B2A60F0E-678C-FB36-5217-F5FD65C4FB1C}"/>
              </a:ext>
            </a:extLst>
          </p:cNvPr>
          <p:cNvSpPr txBox="1"/>
          <p:nvPr/>
        </p:nvSpPr>
        <p:spPr>
          <a:xfrm>
            <a:off x="3723362" y="5726856"/>
            <a:ext cx="1107996"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聚类结果</a:t>
            </a:r>
          </a:p>
        </p:txBody>
      </p:sp>
    </p:spTree>
    <p:extLst>
      <p:ext uri="{BB962C8B-B14F-4D97-AF65-F5344CB8AC3E}">
        <p14:creationId xmlns:p14="http://schemas.microsoft.com/office/powerpoint/2010/main" val="36806585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64</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算法基本思想</a:t>
            </a:r>
          </a:p>
        </p:txBody>
      </p:sp>
      <p:sp>
        <p:nvSpPr>
          <p:cNvPr id="3" name="文本框 2">
            <a:extLst>
              <a:ext uri="{FF2B5EF4-FFF2-40B4-BE49-F238E27FC236}">
                <a16:creationId xmlns:a16="http://schemas.microsoft.com/office/drawing/2014/main" id="{96B97EB8-671F-2DD6-D687-E431680C58CC}"/>
              </a:ext>
            </a:extLst>
          </p:cNvPr>
          <p:cNvSpPr txBox="1"/>
          <p:nvPr/>
        </p:nvSpPr>
        <p:spPr>
          <a:xfrm>
            <a:off x="162560" y="1245067"/>
            <a:ext cx="8675814" cy="5998886"/>
          </a:xfrm>
          <a:prstGeom prst="rect">
            <a:avLst/>
          </a:prstGeom>
          <a:noFill/>
        </p:spPr>
        <p:txBody>
          <a:bodyPr wrap="square">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在实际应用中，可以根据具体问题选取</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簇间距离计算方式</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）完全连接聚类（</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complete-linkage agglomerative clustering</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8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将簇间距离定义为两个簇中</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距离最远的</a:t>
            </a:r>
            <a:r>
              <a:rPr kumimoji="0" lang="zh-CN" altLang="en-US" sz="18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两个点之间的距离。</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这种计算方式容易受到极端值的影响，两个距离较近的簇可能因为极端值无法组合在一起</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）单一连接聚类（</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single-linkage agglomerative clustering</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：将簇间距离定义为两个簇中</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距离最近的</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两个点之间的距离。这种计算方式容易受到</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极端值的影响，两个距离较远的簇可能因为极端值被组合在一起</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 name="Rectangle 2">
            <a:extLst>
              <a:ext uri="{FF2B5EF4-FFF2-40B4-BE49-F238E27FC236}">
                <a16:creationId xmlns:a16="http://schemas.microsoft.com/office/drawing/2014/main" id="{76255F33-E016-A3AA-CD1F-A75737940C83}"/>
              </a:ext>
            </a:extLst>
          </p:cNvPr>
          <p:cNvSpPr>
            <a:spLocks noChangeArrowheads="1"/>
          </p:cNvSpPr>
          <p:nvPr/>
        </p:nvSpPr>
        <p:spPr bwMode="auto">
          <a:xfrm>
            <a:off x="3597442" y="311748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6" name="Rectangle 4">
            <a:extLst>
              <a:ext uri="{FF2B5EF4-FFF2-40B4-BE49-F238E27FC236}">
                <a16:creationId xmlns:a16="http://schemas.microsoft.com/office/drawing/2014/main" id="{51689749-C616-38E1-AE6E-D860D8593F51}"/>
              </a:ext>
            </a:extLst>
          </p:cNvPr>
          <p:cNvSpPr>
            <a:spLocks noChangeArrowheads="1"/>
          </p:cNvSpPr>
          <p:nvPr/>
        </p:nvSpPr>
        <p:spPr bwMode="auto">
          <a:xfrm>
            <a:off x="491647" y="382002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graphicFrame>
        <p:nvGraphicFramePr>
          <p:cNvPr id="23" name="对象 22">
            <a:extLst>
              <a:ext uri="{FF2B5EF4-FFF2-40B4-BE49-F238E27FC236}">
                <a16:creationId xmlns:a16="http://schemas.microsoft.com/office/drawing/2014/main" id="{C83C5A1F-83AB-5D65-3C49-C97BDB87B67A}"/>
              </a:ext>
            </a:extLst>
          </p:cNvPr>
          <p:cNvGraphicFramePr>
            <a:graphicFrameLocks noChangeAspect="1"/>
          </p:cNvGraphicFramePr>
          <p:nvPr>
            <p:extLst>
              <p:ext uri="{D42A27DB-BD31-4B8C-83A1-F6EECF244321}">
                <p14:modId xmlns:p14="http://schemas.microsoft.com/office/powerpoint/2010/main" val="657469568"/>
              </p:ext>
            </p:extLst>
          </p:nvPr>
        </p:nvGraphicFramePr>
        <p:xfrm>
          <a:off x="2325041" y="3312315"/>
          <a:ext cx="4833470" cy="428200"/>
        </p:xfrm>
        <a:graphic>
          <a:graphicData uri="http://schemas.openxmlformats.org/presentationml/2006/ole">
            <mc:AlternateContent xmlns:mc="http://schemas.openxmlformats.org/markup-compatibility/2006">
              <mc:Choice xmlns:v="urn:schemas-microsoft-com:vml" Requires="v">
                <p:oleObj spid="_x0000_s11316" name="Equation" r:id="rId4" imgW="2362200" imgH="203200" progId="Equation.DSMT4">
                  <p:embed/>
                </p:oleObj>
              </mc:Choice>
              <mc:Fallback>
                <p:oleObj name="Equation" r:id="rId4" imgW="2362200" imgH="203200" progId="Equation.DSMT4">
                  <p:embed/>
                  <p:pic>
                    <p:nvPicPr>
                      <p:cNvPr id="23" name="对象 22">
                        <a:extLst>
                          <a:ext uri="{FF2B5EF4-FFF2-40B4-BE49-F238E27FC236}">
                            <a16:creationId xmlns:a16="http://schemas.microsoft.com/office/drawing/2014/main" id="{C83C5A1F-83AB-5D65-3C49-C97BDB87B67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25041" y="3312315"/>
                        <a:ext cx="4833470" cy="428200"/>
                      </a:xfrm>
                      <a:prstGeom prst="rect">
                        <a:avLst/>
                      </a:prstGeom>
                      <a:noFill/>
                    </p:spPr>
                  </p:pic>
                </p:oleObj>
              </mc:Fallback>
            </mc:AlternateContent>
          </a:graphicData>
        </a:graphic>
      </p:graphicFrame>
      <p:graphicFrame>
        <p:nvGraphicFramePr>
          <p:cNvPr id="4" name="对象 3">
            <a:extLst>
              <a:ext uri="{FF2B5EF4-FFF2-40B4-BE49-F238E27FC236}">
                <a16:creationId xmlns:a16="http://schemas.microsoft.com/office/drawing/2014/main" id="{604DE417-B0D7-1311-C2D2-95B64978C8A4}"/>
              </a:ext>
            </a:extLst>
          </p:cNvPr>
          <p:cNvGraphicFramePr>
            <a:graphicFrameLocks noChangeAspect="1"/>
          </p:cNvGraphicFramePr>
          <p:nvPr>
            <p:extLst>
              <p:ext uri="{D42A27DB-BD31-4B8C-83A1-F6EECF244321}">
                <p14:modId xmlns:p14="http://schemas.microsoft.com/office/powerpoint/2010/main" val="2949165180"/>
              </p:ext>
            </p:extLst>
          </p:nvPr>
        </p:nvGraphicFramePr>
        <p:xfrm>
          <a:off x="2253845" y="5357809"/>
          <a:ext cx="5113388" cy="456676"/>
        </p:xfrm>
        <a:graphic>
          <a:graphicData uri="http://schemas.openxmlformats.org/presentationml/2006/ole">
            <mc:AlternateContent xmlns:mc="http://schemas.openxmlformats.org/markup-compatibility/2006">
              <mc:Choice xmlns:v="urn:schemas-microsoft-com:vml" Requires="v">
                <p:oleObj spid="_x0000_s11317" name="Equation" r:id="rId6" imgW="2349500" imgH="203200" progId="Equation.DSMT4">
                  <p:embed/>
                </p:oleObj>
              </mc:Choice>
              <mc:Fallback>
                <p:oleObj name="Equation" r:id="rId6" imgW="2349500" imgH="203200" progId="Equation.DSMT4">
                  <p:embed/>
                  <p:pic>
                    <p:nvPicPr>
                      <p:cNvPr id="25" name="对象 24">
                        <a:extLst>
                          <a:ext uri="{FF2B5EF4-FFF2-40B4-BE49-F238E27FC236}">
                            <a16:creationId xmlns:a16="http://schemas.microsoft.com/office/drawing/2014/main" id="{0BE8DF65-9E8B-10DE-F62E-15E48F83481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53845" y="5357809"/>
                        <a:ext cx="5113388" cy="456676"/>
                      </a:xfrm>
                      <a:prstGeom prst="rect">
                        <a:avLst/>
                      </a:prstGeom>
                      <a:noFill/>
                    </p:spPr>
                  </p:pic>
                </p:oleObj>
              </mc:Fallback>
            </mc:AlternateContent>
          </a:graphicData>
        </a:graphic>
      </p:graphicFrame>
    </p:spTree>
    <p:extLst>
      <p:ext uri="{BB962C8B-B14F-4D97-AF65-F5344CB8AC3E}">
        <p14:creationId xmlns:p14="http://schemas.microsoft.com/office/powerpoint/2010/main" val="29302991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65</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算法基本思想</a:t>
            </a:r>
          </a:p>
        </p:txBody>
      </p:sp>
      <p:sp>
        <p:nvSpPr>
          <p:cNvPr id="3" name="文本框 2">
            <a:extLst>
              <a:ext uri="{FF2B5EF4-FFF2-40B4-BE49-F238E27FC236}">
                <a16:creationId xmlns:a16="http://schemas.microsoft.com/office/drawing/2014/main" id="{96B97EB8-671F-2DD6-D687-E431680C58CC}"/>
              </a:ext>
            </a:extLst>
          </p:cNvPr>
          <p:cNvSpPr txBox="1"/>
          <p:nvPr/>
        </p:nvSpPr>
        <p:spPr>
          <a:xfrm>
            <a:off x="162560" y="1245067"/>
            <a:ext cx="8675814" cy="3782895"/>
          </a:xfrm>
          <a:prstGeom prst="rect">
            <a:avLst/>
          </a:prstGeom>
          <a:noFill/>
        </p:spPr>
        <p:txBody>
          <a:bodyPr wrap="square">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在实际应用中，可以根据具体问题选取簇</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间距离计算方式：</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）平均连接聚类（</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average agglomerative clustering</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计算两个簇中每个样本到另一个簇中每一个样本距离的均值</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。这种距离计算方式计算量较大，但更为合理，不容易受到异常值影响</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 name="Rectangle 2">
            <a:extLst>
              <a:ext uri="{FF2B5EF4-FFF2-40B4-BE49-F238E27FC236}">
                <a16:creationId xmlns:a16="http://schemas.microsoft.com/office/drawing/2014/main" id="{76255F33-E016-A3AA-CD1F-A75737940C83}"/>
              </a:ext>
            </a:extLst>
          </p:cNvPr>
          <p:cNvSpPr>
            <a:spLocks noChangeArrowheads="1"/>
          </p:cNvSpPr>
          <p:nvPr/>
        </p:nvSpPr>
        <p:spPr bwMode="auto">
          <a:xfrm>
            <a:off x="3597442" y="311748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6" name="Rectangle 4">
            <a:extLst>
              <a:ext uri="{FF2B5EF4-FFF2-40B4-BE49-F238E27FC236}">
                <a16:creationId xmlns:a16="http://schemas.microsoft.com/office/drawing/2014/main" id="{51689749-C616-38E1-AE6E-D860D8593F51}"/>
              </a:ext>
            </a:extLst>
          </p:cNvPr>
          <p:cNvSpPr>
            <a:spLocks noChangeArrowheads="1"/>
          </p:cNvSpPr>
          <p:nvPr/>
        </p:nvSpPr>
        <p:spPr bwMode="auto">
          <a:xfrm>
            <a:off x="491647" y="382002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graphicFrame>
        <p:nvGraphicFramePr>
          <p:cNvPr id="27" name="对象 26">
            <a:extLst>
              <a:ext uri="{FF2B5EF4-FFF2-40B4-BE49-F238E27FC236}">
                <a16:creationId xmlns:a16="http://schemas.microsoft.com/office/drawing/2014/main" id="{09A6E7AF-6AEA-7838-8980-764390334865}"/>
              </a:ext>
            </a:extLst>
          </p:cNvPr>
          <p:cNvGraphicFramePr>
            <a:graphicFrameLocks noChangeAspect="1"/>
          </p:cNvGraphicFramePr>
          <p:nvPr>
            <p:extLst>
              <p:ext uri="{D42A27DB-BD31-4B8C-83A1-F6EECF244321}">
                <p14:modId xmlns:p14="http://schemas.microsoft.com/office/powerpoint/2010/main" val="3012947088"/>
              </p:ext>
            </p:extLst>
          </p:nvPr>
        </p:nvGraphicFramePr>
        <p:xfrm>
          <a:off x="2432647" y="3462999"/>
          <a:ext cx="4278706" cy="794883"/>
        </p:xfrm>
        <a:graphic>
          <a:graphicData uri="http://schemas.openxmlformats.org/presentationml/2006/ole">
            <mc:AlternateContent xmlns:mc="http://schemas.openxmlformats.org/markup-compatibility/2006">
              <mc:Choice xmlns:v="urn:schemas-microsoft-com:vml" Requires="v">
                <p:oleObj spid="_x0000_s12315" name="Equation" r:id="rId4" imgW="2159000" imgH="393700" progId="Equation.DSMT4">
                  <p:embed/>
                </p:oleObj>
              </mc:Choice>
              <mc:Fallback>
                <p:oleObj name="Equation" r:id="rId4" imgW="2159000" imgH="393700"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32647" y="3462999"/>
                        <a:ext cx="4278706" cy="794883"/>
                      </a:xfrm>
                      <a:prstGeom prst="rect">
                        <a:avLst/>
                      </a:prstGeom>
                      <a:noFill/>
                    </p:spPr>
                  </p:pic>
                </p:oleObj>
              </mc:Fallback>
            </mc:AlternateContent>
          </a:graphicData>
        </a:graphic>
      </p:graphicFrame>
    </p:spTree>
    <p:extLst>
      <p:ext uri="{BB962C8B-B14F-4D97-AF65-F5344CB8AC3E}">
        <p14:creationId xmlns:p14="http://schemas.microsoft.com/office/powerpoint/2010/main" val="36388046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66</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算法基本思想</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96B97EB8-671F-2DD6-D687-E431680C58CC}"/>
                  </a:ext>
                </a:extLst>
              </p:cNvPr>
              <p:cNvSpPr txBox="1"/>
              <p:nvPr/>
            </p:nvSpPr>
            <p:spPr>
              <a:xfrm>
                <a:off x="162560" y="1245067"/>
                <a:ext cx="8675814" cy="5444888"/>
              </a:xfrm>
              <a:prstGeom prst="rect">
                <a:avLst/>
              </a:prstGeom>
              <a:noFill/>
            </p:spPr>
            <p:txBody>
              <a:bodyPr wrap="square">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4</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）离差平方和（</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W</a:t>
                </a:r>
                <a:r>
                  <a:rPr kumimoji="0" lang="en-US" altLang="zh-CN" sz="18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ard</a:t>
                </a:r>
                <a14:m>
                  <m:oMath xmlns:m="http://schemas.openxmlformats.org/officeDocument/2006/math">
                    <m:r>
                      <a:rPr lang="en-US" altLang="zh-CN"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oMath>
                </a14:m>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s</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Method</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（阅读内容）</a:t>
                </a:r>
                <a:endParaRPr kumimoji="0" lang="en-US" altLang="zh-CN"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离差平方和法来自于方差分析。对于包含</a:t>
                </a:r>
                <a14:m>
                  <m:oMath xmlns:m="http://schemas.openxmlformats.org/officeDocument/2006/math">
                    <m:r>
                      <a:rPr lang="en-US" altLang="zh-CN"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𝑘</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个簇的数据集，其离差平方和被定义为：</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其中，</a:t>
                </a:r>
                <a:r>
                  <a:rPr lang="en-US" altLang="zh-CN" dirty="0"/>
                  <a:t> </a:t>
                </a:r>
                <a14:m>
                  <m:oMath xmlns:m="http://schemas.openxmlformats.org/officeDocument/2006/math">
                    <m:sSub>
                      <m:sSubPr>
                        <m:ctrlPr>
                          <a:rPr lang="en-US" altLang="zh-CN" i="1" smtClean="0">
                            <a:latin typeface="Cambria Math" panose="02040503050406030204" pitchFamily="18" charset="0"/>
                          </a:rPr>
                        </m:ctrlPr>
                      </m:sSubPr>
                      <m:e>
                        <m:r>
                          <a:rPr lang="zh-CN" altLang="en-US" b="1" i="1" smtClean="0">
                            <a:latin typeface="Cambria Math" panose="02040503050406030204" pitchFamily="18" charset="0"/>
                          </a:rPr>
                          <m:t>𝝁</m:t>
                        </m:r>
                      </m:e>
                      <m:sub>
                        <m:r>
                          <a:rPr lang="en-US" altLang="zh-CN" b="0" i="1" smtClean="0">
                            <a:latin typeface="Cambria Math" panose="02040503050406030204" pitchFamily="18" charset="0"/>
                          </a:rPr>
                          <m:t>𝑙</m:t>
                        </m:r>
                      </m:sub>
                    </m:sSub>
                  </m:oMath>
                </a14:m>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表示簇</a:t>
                </a:r>
                <a14:m>
                  <m:oMath xmlns:m="http://schemas.openxmlformats.org/officeDocument/2006/math">
                    <m:sSub>
                      <m:sSubPr>
                        <m:ctrlPr>
                          <a:rPr lang="en-US" altLang="zh-CN"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𝐸</m:t>
                        </m:r>
                      </m:e>
                      <m:sub>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𝑙</m:t>
                        </m:r>
                      </m:sub>
                    </m:sSub>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的聚类中心。</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基于离差平方和进行层次聚类的基本思想是：</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簇进行合并会增加离差平方和，每轮迭代选取使离差平方和增加最小的簇进行合并</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。初始情况下，每个样本为一簇（此时离差平方和为</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0</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），后续每轮迭代将</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使离差平方和增加最少</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的两簇进行合并。</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96B97EB8-671F-2DD6-D687-E431680C58CC}"/>
                  </a:ext>
                </a:extLst>
              </p:cNvPr>
              <p:cNvSpPr txBox="1">
                <a:spLocks noRot="1" noChangeAspect="1" noMove="1" noResize="1" noEditPoints="1" noAdjustHandles="1" noChangeArrowheads="1" noChangeShapeType="1" noTextEdit="1"/>
              </p:cNvSpPr>
              <p:nvPr/>
            </p:nvSpPr>
            <p:spPr>
              <a:xfrm>
                <a:off x="162560" y="1245067"/>
                <a:ext cx="8675814" cy="5444888"/>
              </a:xfrm>
              <a:prstGeom prst="rect">
                <a:avLst/>
              </a:prstGeom>
              <a:blipFill>
                <a:blip r:embed="rId4"/>
                <a:stretch>
                  <a:fillRect l="-632" r="-562"/>
                </a:stretch>
              </a:blipFill>
            </p:spPr>
            <p:txBody>
              <a:bodyPr/>
              <a:lstStyle/>
              <a:p>
                <a:r>
                  <a:rPr lang="zh-CN" altLang="en-US">
                    <a:noFill/>
                  </a:rPr>
                  <a:t> </a:t>
                </a:r>
              </a:p>
            </p:txBody>
          </p:sp>
        </mc:Fallback>
      </mc:AlternateContent>
      <p:sp>
        <p:nvSpPr>
          <p:cNvPr id="16" name="Rectangle 4">
            <a:extLst>
              <a:ext uri="{FF2B5EF4-FFF2-40B4-BE49-F238E27FC236}">
                <a16:creationId xmlns:a16="http://schemas.microsoft.com/office/drawing/2014/main" id="{51689749-C616-38E1-AE6E-D860D8593F51}"/>
              </a:ext>
            </a:extLst>
          </p:cNvPr>
          <p:cNvSpPr>
            <a:spLocks noChangeArrowheads="1"/>
          </p:cNvSpPr>
          <p:nvPr/>
        </p:nvSpPr>
        <p:spPr bwMode="auto">
          <a:xfrm>
            <a:off x="491647" y="382002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graphicFrame>
        <p:nvGraphicFramePr>
          <p:cNvPr id="4" name="对象 3">
            <a:extLst>
              <a:ext uri="{FF2B5EF4-FFF2-40B4-BE49-F238E27FC236}">
                <a16:creationId xmlns:a16="http://schemas.microsoft.com/office/drawing/2014/main" id="{729D249B-6247-3290-9B74-2B16F8D0BBF8}"/>
              </a:ext>
            </a:extLst>
          </p:cNvPr>
          <p:cNvGraphicFramePr>
            <a:graphicFrameLocks noChangeAspect="1"/>
          </p:cNvGraphicFramePr>
          <p:nvPr/>
        </p:nvGraphicFramePr>
        <p:xfrm>
          <a:off x="3408701" y="2236171"/>
          <a:ext cx="2769877" cy="794249"/>
        </p:xfrm>
        <a:graphic>
          <a:graphicData uri="http://schemas.openxmlformats.org/presentationml/2006/ole">
            <mc:AlternateContent xmlns:mc="http://schemas.openxmlformats.org/markup-compatibility/2006">
              <mc:Choice xmlns:v="urn:schemas-microsoft-com:vml" Requires="v">
                <p:oleObj spid="_x0000_s13339" name="Equation" r:id="rId5" imgW="1218960" imgH="342720" progId="Equation.DSMT4">
                  <p:embed/>
                </p:oleObj>
              </mc:Choice>
              <mc:Fallback>
                <p:oleObj name="Equation" r:id="rId5" imgW="1218960" imgH="342720" progId="Equation.DSMT4">
                  <p:embed/>
                  <p:pic>
                    <p:nvPicPr>
                      <p:cNvPr id="4" name="对象 3">
                        <a:extLst>
                          <a:ext uri="{FF2B5EF4-FFF2-40B4-BE49-F238E27FC236}">
                            <a16:creationId xmlns:a16="http://schemas.microsoft.com/office/drawing/2014/main" id="{729D249B-6247-3290-9B74-2B16F8D0BBF8}"/>
                          </a:ext>
                        </a:extLst>
                      </p:cNvPr>
                      <p:cNvPicPr>
                        <a:picLocks noChangeAspect="1" noChangeArrowheads="1"/>
                      </p:cNvPicPr>
                      <p:nvPr/>
                    </p:nvPicPr>
                    <p:blipFill>
                      <a:blip r:embed="rId6"/>
                      <a:srcRect/>
                      <a:stretch>
                        <a:fillRect/>
                      </a:stretch>
                    </p:blipFill>
                    <p:spPr bwMode="auto">
                      <a:xfrm>
                        <a:off x="3408701" y="2236171"/>
                        <a:ext cx="2769877" cy="794249"/>
                      </a:xfrm>
                      <a:prstGeom prst="rect">
                        <a:avLst/>
                      </a:prstGeom>
                      <a:noFill/>
                    </p:spPr>
                  </p:pic>
                </p:oleObj>
              </mc:Fallback>
            </mc:AlternateContent>
          </a:graphicData>
        </a:graphic>
      </p:graphicFrame>
    </p:spTree>
    <p:extLst>
      <p:ext uri="{BB962C8B-B14F-4D97-AF65-F5344CB8AC3E}">
        <p14:creationId xmlns:p14="http://schemas.microsoft.com/office/powerpoint/2010/main" val="11015762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67</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算法过程</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96B97EB8-671F-2DD6-D687-E431680C58CC}"/>
                  </a:ext>
                </a:extLst>
              </p:cNvPr>
              <p:cNvSpPr txBox="1"/>
              <p:nvPr/>
            </p:nvSpPr>
            <p:spPr>
              <a:xfrm>
                <a:off x="162560" y="1245067"/>
                <a:ext cx="8675814" cy="6786601"/>
              </a:xfrm>
              <a:prstGeom prst="rect">
                <a:avLst/>
              </a:prstGeom>
              <a:noFill/>
            </p:spPr>
            <p:txBody>
              <a:bodyPr wrap="square">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考虑使用</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层次</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聚类算法将数据集的</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𝑛</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个样本划分为</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𝑘</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个不相交的簇，</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算法步骤如下</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）初始化，选择样本间距离和簇间距离的计算方法，将每个样本点各自设为独立的一簇，记为</a:t>
                </a: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𝐸</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1</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𝐸</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𝑛</m:t>
                        </m:r>
                      </m:sub>
                    </m:sSub>
                  </m:oMath>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）计算任意两个簇间的距离</a:t>
                </a:r>
                <a14:m>
                  <m:oMath xmlns:m="http://schemas.openxmlformats.org/officeDocument/2006/math">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𝑑</m:t>
                    </m:r>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𝐸</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 </m:t>
                        </m:r>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𝐸</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𝑗</m:t>
                            </m:r>
                          </m:sub>
                        </m:sSub>
                      </m:e>
                    </m:d>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将距离最近的两个簇</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𝐸</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与 </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𝐸</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𝑗</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合并为</a:t>
                </a:r>
                <a14:m>
                  <m:oMath xmlns:m="http://schemas.openxmlformats.org/officeDocument/2006/math">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𝐸</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 </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𝐸</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𝑗</m:t>
                            </m:r>
                          </m:sub>
                        </m:sSub>
                      </m:e>
                    </m:d>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，将新的簇记为：</a:t>
                </a:r>
                <a:r>
                  <a:rPr lang="en-US" altLang="zh-CN" dirty="0">
                    <a:solidFill>
                      <a:srgbClr val="000000"/>
                    </a:solidFill>
                    <a:ea typeface="微软雅黑" panose="020B0503020204020204" pitchFamily="34" charset="-122"/>
                    <a:cs typeface="Times New Roman" panose="02020603050405020304" pitchFamily="18" charset="0"/>
                  </a:rPr>
                  <a:t> </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𝐸</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sub>
                    </m:s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𝐸</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𝑛</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𝑝</m:t>
                        </m:r>
                      </m:sub>
                    </m:sSub>
                  </m:oMath>
                </a14:m>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𝑝</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为该步骤参与计算的次数</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p>
              <a:p>
                <a:pPr lvl="0" algn="just">
                  <a:lnSpc>
                    <a:spcPct val="150000"/>
                  </a:lnSpc>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）如果已经聚为</a:t>
                </a:r>
                <a14:m>
                  <m:oMath xmlns:m="http://schemas.openxmlformats.org/officeDocument/2006/math">
                    <m:r>
                      <a:rPr lang="en-US" altLang="zh-CN"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𝑘</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簇则停止，否则重复步骤（</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），继续合并簇</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层次聚类算法的优点在于灵活的距离计算公式使得它有很广的适用性，并且能够通过建立树的过程发现类的层次关系。但注意层次聚类算法的计算复杂度很高，所以</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处理大规模数据聚类问题时，建议不要选择此算法</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96B97EB8-671F-2DD6-D687-E431680C58CC}"/>
                  </a:ext>
                </a:extLst>
              </p:cNvPr>
              <p:cNvSpPr txBox="1">
                <a:spLocks noRot="1" noChangeAspect="1" noMove="1" noResize="1" noEditPoints="1" noAdjustHandles="1" noChangeArrowheads="1" noChangeShapeType="1" noTextEdit="1"/>
              </p:cNvSpPr>
              <p:nvPr/>
            </p:nvSpPr>
            <p:spPr>
              <a:xfrm>
                <a:off x="162560" y="1245067"/>
                <a:ext cx="8675814" cy="6786601"/>
              </a:xfrm>
              <a:prstGeom prst="rect">
                <a:avLst/>
              </a:prstGeom>
              <a:blipFill>
                <a:blip r:embed="rId3"/>
                <a:stretch>
                  <a:fillRect l="-632" r="-3233"/>
                </a:stretch>
              </a:blipFill>
            </p:spPr>
            <p:txBody>
              <a:bodyPr/>
              <a:lstStyle/>
              <a:p>
                <a:r>
                  <a:rPr lang="zh-CN" altLang="en-US">
                    <a:noFill/>
                  </a:rPr>
                  <a:t> </a:t>
                </a:r>
              </a:p>
            </p:txBody>
          </p:sp>
        </mc:Fallback>
      </mc:AlternateContent>
      <p:sp>
        <p:nvSpPr>
          <p:cNvPr id="16" name="Rectangle 4">
            <a:extLst>
              <a:ext uri="{FF2B5EF4-FFF2-40B4-BE49-F238E27FC236}">
                <a16:creationId xmlns:a16="http://schemas.microsoft.com/office/drawing/2014/main" id="{51689749-C616-38E1-AE6E-D860D8593F51}"/>
              </a:ext>
            </a:extLst>
          </p:cNvPr>
          <p:cNvSpPr>
            <a:spLocks noChangeArrowheads="1"/>
          </p:cNvSpPr>
          <p:nvPr/>
        </p:nvSpPr>
        <p:spPr bwMode="auto">
          <a:xfrm>
            <a:off x="491647" y="382002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Tree>
    <p:extLst>
      <p:ext uri="{BB962C8B-B14F-4D97-AF65-F5344CB8AC3E}">
        <p14:creationId xmlns:p14="http://schemas.microsoft.com/office/powerpoint/2010/main" val="177081811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68</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4" name="文本框 3">
            <a:extLst>
              <a:ext uri="{FF2B5EF4-FFF2-40B4-BE49-F238E27FC236}">
                <a16:creationId xmlns:a16="http://schemas.microsoft.com/office/drawing/2014/main" id="{194C7B8E-BB6A-754C-CBBE-52BFCCF8D64B}"/>
              </a:ext>
            </a:extLst>
          </p:cNvPr>
          <p:cNvSpPr txBox="1"/>
          <p:nvPr/>
        </p:nvSpPr>
        <p:spPr>
          <a:xfrm>
            <a:off x="160890" y="1390864"/>
            <a:ext cx="8760860" cy="2536400"/>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利用</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层次</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聚类算法，对无真实标签下的网格拥堵状态进行判别。选取“平均速度”和“平均停车次数”作为聚类特征，在</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50</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个样本的小数据集上进行聚类分析，来判断网格的拥堵状态。</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查阅官方文档，调整模型参数，观察聚类结果变化。</a:t>
            </a:r>
            <a:endPar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p:pic>
        <p:nvPicPr>
          <p:cNvPr id="7" name="图片 6">
            <a:extLst>
              <a:ext uri="{FF2B5EF4-FFF2-40B4-BE49-F238E27FC236}">
                <a16:creationId xmlns:a16="http://schemas.microsoft.com/office/drawing/2014/main" id="{E5DC5ABF-BE45-B2E3-DFBA-72F7577FFFE0}"/>
              </a:ext>
            </a:extLst>
          </p:cNvPr>
          <p:cNvPicPr>
            <a:picLocks noChangeAspect="1"/>
          </p:cNvPicPr>
          <p:nvPr/>
        </p:nvPicPr>
        <p:blipFill>
          <a:blip r:embed="rId3"/>
          <a:stretch>
            <a:fillRect/>
          </a:stretch>
        </p:blipFill>
        <p:spPr>
          <a:xfrm>
            <a:off x="655453" y="3499339"/>
            <a:ext cx="7938344" cy="2305867"/>
          </a:xfrm>
          <a:prstGeom prst="rect">
            <a:avLst/>
          </a:prstGeom>
        </p:spPr>
      </p:pic>
      <p:sp>
        <p:nvSpPr>
          <p:cNvPr id="14" name="文本框 13">
            <a:extLst>
              <a:ext uri="{FF2B5EF4-FFF2-40B4-BE49-F238E27FC236}">
                <a16:creationId xmlns:a16="http://schemas.microsoft.com/office/drawing/2014/main" id="{A453E821-BE96-E6A0-11CC-698F7EF99376}"/>
              </a:ext>
            </a:extLst>
          </p:cNvPr>
          <p:cNvSpPr txBox="1"/>
          <p:nvPr/>
        </p:nvSpPr>
        <p:spPr>
          <a:xfrm>
            <a:off x="3997569" y="3022385"/>
            <a:ext cx="1695157"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表 数据示例</a:t>
            </a:r>
            <a:endParaRPr kumimoji="0" lang="zh-CN" altLang="en-US" sz="1800" b="0" i="0" u="none" strike="noStrike" kern="1200" cap="none" spc="0" normalizeH="0" baseline="0" noProof="0" dirty="0">
              <a:ln>
                <a:noFill/>
              </a:ln>
              <a:solidFill>
                <a:srgbClr val="000000"/>
              </a:solidFill>
              <a:effectLst/>
              <a:uLnTx/>
              <a:uFillTx/>
              <a:latin typeface="Arial"/>
              <a:ea typeface="宋体"/>
              <a:cs typeface="+mn-cs"/>
            </a:endParaRPr>
          </a:p>
        </p:txBody>
      </p:sp>
    </p:spTree>
    <p:extLst>
      <p:ext uri="{BB962C8B-B14F-4D97-AF65-F5344CB8AC3E}">
        <p14:creationId xmlns:p14="http://schemas.microsoft.com/office/powerpoint/2010/main" val="226080223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69</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4" name="文本框 3">
            <a:extLst>
              <a:ext uri="{FF2B5EF4-FFF2-40B4-BE49-F238E27FC236}">
                <a16:creationId xmlns:a16="http://schemas.microsoft.com/office/drawing/2014/main" id="{194C7B8E-BB6A-754C-CBBE-52BFCCF8D64B}"/>
              </a:ext>
            </a:extLst>
          </p:cNvPr>
          <p:cNvSpPr txBox="1"/>
          <p:nvPr/>
        </p:nvSpPr>
        <p:spPr>
          <a:xfrm>
            <a:off x="105905" y="1202845"/>
            <a:ext cx="8760860" cy="2951898"/>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Agglomerative Clustering</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对象用于执行层次聚类，查阅官网文档 </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hlinkClick r:id="rId3"/>
              </a:rPr>
              <a:t>https://scikit</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hlinkClick r:id="rId3"/>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hlinkClick r:id="rId3"/>
              </a:rPr>
              <a:t>learn.org/stable/modules/generated/sklearn.cluster.AgglomerativeClustering.html</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调整</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类内距离和连接规则的表示方法，观察聚类结果</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p:pic>
        <p:nvPicPr>
          <p:cNvPr id="7" name="图片 6">
            <a:extLst>
              <a:ext uri="{FF2B5EF4-FFF2-40B4-BE49-F238E27FC236}">
                <a16:creationId xmlns:a16="http://schemas.microsoft.com/office/drawing/2014/main" id="{0CDACF58-CF2D-8EB1-40F9-23CBEAAD4163}"/>
              </a:ext>
            </a:extLst>
          </p:cNvPr>
          <p:cNvPicPr>
            <a:picLocks noChangeAspect="1"/>
          </p:cNvPicPr>
          <p:nvPr/>
        </p:nvPicPr>
        <p:blipFill>
          <a:blip r:embed="rId4"/>
          <a:stretch>
            <a:fillRect/>
          </a:stretch>
        </p:blipFill>
        <p:spPr>
          <a:xfrm>
            <a:off x="162560" y="2872261"/>
            <a:ext cx="7078116" cy="3617029"/>
          </a:xfrm>
          <a:prstGeom prst="rect">
            <a:avLst/>
          </a:prstGeom>
        </p:spPr>
      </p:pic>
    </p:spTree>
    <p:extLst>
      <p:ext uri="{BB962C8B-B14F-4D97-AF65-F5344CB8AC3E}">
        <p14:creationId xmlns:p14="http://schemas.microsoft.com/office/powerpoint/2010/main" val="76902187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70</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4" name="文本框 3">
            <a:extLst>
              <a:ext uri="{FF2B5EF4-FFF2-40B4-BE49-F238E27FC236}">
                <a16:creationId xmlns:a16="http://schemas.microsoft.com/office/drawing/2014/main" id="{194C7B8E-BB6A-754C-CBBE-52BFCCF8D64B}"/>
              </a:ext>
            </a:extLst>
          </p:cNvPr>
          <p:cNvSpPr txBox="1"/>
          <p:nvPr/>
        </p:nvSpPr>
        <p:spPr>
          <a:xfrm>
            <a:off x="76408" y="1202845"/>
            <a:ext cx="8760860" cy="4198393"/>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结果可视化</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p:pic>
        <p:nvPicPr>
          <p:cNvPr id="2050" name="Picture 2">
            <a:extLst>
              <a:ext uri="{FF2B5EF4-FFF2-40B4-BE49-F238E27FC236}">
                <a16:creationId xmlns:a16="http://schemas.microsoft.com/office/drawing/2014/main" id="{EFD0C0EF-E35B-B352-B01F-FCF80644BA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9867" y="1714501"/>
            <a:ext cx="6665365" cy="4963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387463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71</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13" name="标题 1">
            <a:extLst>
              <a:ext uri="{FF2B5EF4-FFF2-40B4-BE49-F238E27FC236}">
                <a16:creationId xmlns:a16="http://schemas.microsoft.com/office/drawing/2014/main" id="{5607F18F-699A-4F7F-A2ED-BD80B7B267C8}"/>
              </a:ext>
            </a:extLst>
          </p:cNvPr>
          <p:cNvSpPr>
            <a:spLocks noGrp="1"/>
          </p:cNvSpPr>
          <p:nvPr>
            <p:ph type="title"/>
          </p:nvPr>
        </p:nvSpPr>
        <p:spPr>
          <a:xfrm>
            <a:off x="457200" y="462280"/>
            <a:ext cx="8229600" cy="990600"/>
          </a:xfrm>
        </p:spPr>
        <p:txBody>
          <a:bodyPr/>
          <a:lstStyle/>
          <a:p>
            <a:r>
              <a:rPr lang="en-US" altLang="zh-CN" dirty="0">
                <a:latin typeface="微软雅黑" panose="020B0503020204020204" pitchFamily="34" charset="-122"/>
                <a:ea typeface="微软雅黑" panose="020B0503020204020204" pitchFamily="34" charset="-122"/>
                <a:cs typeface="Times New Roman" panose="02020603050405020304" pitchFamily="18" charset="0"/>
              </a:rPr>
              <a:t>5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基于密度的</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DBSCAN</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聚类方法</a:t>
            </a:r>
          </a:p>
        </p:txBody>
      </p:sp>
      <p:sp>
        <p:nvSpPr>
          <p:cNvPr id="14" name="内容占位符 2">
            <a:extLst>
              <a:ext uri="{FF2B5EF4-FFF2-40B4-BE49-F238E27FC236}">
                <a16:creationId xmlns:a16="http://schemas.microsoft.com/office/drawing/2014/main" id="{D53E8302-9586-421A-84F3-019752B5E77E}"/>
              </a:ext>
            </a:extLst>
          </p:cNvPr>
          <p:cNvSpPr>
            <a:spLocks noGrp="1"/>
          </p:cNvSpPr>
          <p:nvPr>
            <p:ph idx="1"/>
          </p:nvPr>
        </p:nvSpPr>
        <p:spPr>
          <a:xfrm>
            <a:off x="457200" y="1452878"/>
            <a:ext cx="8299050" cy="4942842"/>
          </a:xfrm>
        </p:spPr>
        <p:txBody>
          <a:bodyPr/>
          <a:lstStyle/>
          <a:p>
            <a:r>
              <a:rPr lang="zh-CN" altLang="en-US"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基本概念</a:t>
            </a: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a:buNone/>
            </a:pP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r>
              <a:rPr lang="zh-CN" altLang="en-US"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算法过程</a:t>
            </a: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r>
              <a:rPr lang="zh-CN" altLang="en-US"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算法变体：</a:t>
            </a:r>
            <a:r>
              <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ST-DBSCAN</a:t>
            </a:r>
          </a:p>
        </p:txBody>
      </p:sp>
      <p:sp>
        <p:nvSpPr>
          <p:cNvPr id="7" name="页脚占位符 2">
            <a:extLst>
              <a:ext uri="{FF2B5EF4-FFF2-40B4-BE49-F238E27FC236}">
                <a16:creationId xmlns:a16="http://schemas.microsoft.com/office/drawing/2014/main" id="{D587D2AD-241A-41DE-BAC5-9CF913617622}"/>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63936782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72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7" name="文本框 6">
            <a:extLst>
              <a:ext uri="{FF2B5EF4-FFF2-40B4-BE49-F238E27FC236}">
                <a16:creationId xmlns:a16="http://schemas.microsoft.com/office/drawing/2014/main" id="{4E6C8BBE-4733-E71B-3CE0-FC1EFC610F5E}"/>
              </a:ext>
            </a:extLst>
          </p:cNvPr>
          <p:cNvSpPr txBox="1"/>
          <p:nvPr/>
        </p:nvSpPr>
        <p:spPr>
          <a:xfrm>
            <a:off x="102324" y="457200"/>
            <a:ext cx="8939352" cy="1289905"/>
          </a:xfrm>
          <a:prstGeom prst="rect">
            <a:avLst/>
          </a:prstGeom>
          <a:noFill/>
        </p:spPr>
        <p:txBody>
          <a:bodyPr wrap="square">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在前面几章的学习中，我们学习了几类经典聚类算法：</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K-means</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聚类，高斯混合聚类和层次聚类算法。前面介绍的几类算法有各自的局限性。</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13" name="表格 7">
            <a:extLst>
              <a:ext uri="{FF2B5EF4-FFF2-40B4-BE49-F238E27FC236}">
                <a16:creationId xmlns:a16="http://schemas.microsoft.com/office/drawing/2014/main" id="{4151F7DF-AC4A-7610-DB94-50BE286F72E3}"/>
              </a:ext>
            </a:extLst>
          </p:cNvPr>
          <p:cNvGraphicFramePr>
            <a:graphicFrameLocks noGrp="1"/>
          </p:cNvGraphicFramePr>
          <p:nvPr>
            <p:extLst>
              <p:ext uri="{D42A27DB-BD31-4B8C-83A1-F6EECF244321}">
                <p14:modId xmlns:p14="http://schemas.microsoft.com/office/powerpoint/2010/main" val="3104214849"/>
              </p:ext>
            </p:extLst>
          </p:nvPr>
        </p:nvGraphicFramePr>
        <p:xfrm>
          <a:off x="162560" y="1404338"/>
          <a:ext cx="8819094" cy="2565400"/>
        </p:xfrm>
        <a:graphic>
          <a:graphicData uri="http://schemas.openxmlformats.org/drawingml/2006/table">
            <a:tbl>
              <a:tblPr firstRow="1" bandRow="1">
                <a:tableStyleId>{5C22544A-7EE6-4342-B048-85BDC9FD1C3A}</a:tableStyleId>
              </a:tblPr>
              <a:tblGrid>
                <a:gridCol w="2169296">
                  <a:extLst>
                    <a:ext uri="{9D8B030D-6E8A-4147-A177-3AD203B41FA5}">
                      <a16:colId xmlns:a16="http://schemas.microsoft.com/office/drawing/2014/main" val="30191861"/>
                    </a:ext>
                  </a:extLst>
                </a:gridCol>
                <a:gridCol w="6649798">
                  <a:extLst>
                    <a:ext uri="{9D8B030D-6E8A-4147-A177-3AD203B41FA5}">
                      <a16:colId xmlns:a16="http://schemas.microsoft.com/office/drawing/2014/main" val="2235079610"/>
                    </a:ext>
                  </a:extLst>
                </a:gridCol>
              </a:tblGrid>
              <a:tr h="370840">
                <a:tc>
                  <a:txBody>
                    <a:bodyPr/>
                    <a:lstStyle/>
                    <a:p>
                      <a:r>
                        <a:rPr lang="zh-CN" altLang="en-US" dirty="0">
                          <a:latin typeface="微软雅黑" panose="020B0503020204020204" pitchFamily="34" charset="-122"/>
                          <a:ea typeface="微软雅黑" panose="020B0503020204020204" pitchFamily="34" charset="-122"/>
                        </a:rPr>
                        <a:t>算法</a:t>
                      </a:r>
                    </a:p>
                  </a:txBody>
                  <a:tcPr/>
                </a:tc>
                <a:tc>
                  <a:txBody>
                    <a:bodyPr/>
                    <a:lstStyle/>
                    <a:p>
                      <a:r>
                        <a:rPr lang="zh-CN" altLang="en-US" dirty="0">
                          <a:latin typeface="微软雅黑" panose="020B0503020204020204" pitchFamily="34" charset="-122"/>
                          <a:ea typeface="微软雅黑" panose="020B0503020204020204" pitchFamily="34" charset="-122"/>
                        </a:rPr>
                        <a:t>局限性</a:t>
                      </a:r>
                    </a:p>
                  </a:txBody>
                  <a:tcPr/>
                </a:tc>
                <a:extLst>
                  <a:ext uri="{0D108BD9-81ED-4DB2-BD59-A6C34878D82A}">
                    <a16:rowId xmlns:a16="http://schemas.microsoft.com/office/drawing/2014/main" val="3463460192"/>
                  </a:ext>
                </a:extLst>
              </a:tr>
              <a:tr h="370840">
                <a:tc>
                  <a:txBody>
                    <a:bodyPr/>
                    <a:lstStyle/>
                    <a:p>
                      <a:r>
                        <a:rPr lang="en-US" altLang="zh-CN" dirty="0">
                          <a:latin typeface="微软雅黑" panose="020B0503020204020204" pitchFamily="34" charset="-122"/>
                          <a:ea typeface="微软雅黑" panose="020B0503020204020204" pitchFamily="34" charset="-122"/>
                        </a:rPr>
                        <a:t>K-means</a:t>
                      </a:r>
                      <a:r>
                        <a:rPr lang="zh-CN" altLang="en-US" dirty="0">
                          <a:latin typeface="微软雅黑" panose="020B0503020204020204" pitchFamily="34" charset="-122"/>
                          <a:ea typeface="微软雅黑" panose="020B0503020204020204" pitchFamily="34" charset="-122"/>
                        </a:rPr>
                        <a:t>聚类</a:t>
                      </a:r>
                    </a:p>
                  </a:txBody>
                  <a:tcPr/>
                </a:tc>
                <a:tc>
                  <a:txBody>
                    <a:bodyPr/>
                    <a:lstStyle/>
                    <a:p>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）需要事先确定</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值；</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）初始聚类中心对最终结果影响大</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）受离群点影响大</a:t>
                      </a:r>
                    </a:p>
                  </a:txBody>
                  <a:tcPr/>
                </a:tc>
                <a:extLst>
                  <a:ext uri="{0D108BD9-81ED-4DB2-BD59-A6C34878D82A}">
                    <a16:rowId xmlns:a16="http://schemas.microsoft.com/office/drawing/2014/main" val="2344544440"/>
                  </a:ext>
                </a:extLst>
              </a:tr>
              <a:tr h="370840">
                <a:tc>
                  <a:txBody>
                    <a:bodyPr/>
                    <a:lstStyle/>
                    <a:p>
                      <a:r>
                        <a:rPr lang="zh-CN" altLang="en-US" dirty="0">
                          <a:latin typeface="微软雅黑" panose="020B0503020204020204" pitchFamily="34" charset="-122"/>
                          <a:ea typeface="微软雅黑" panose="020B0503020204020204" pitchFamily="34" charset="-122"/>
                        </a:rPr>
                        <a:t>高斯混合聚类</a:t>
                      </a:r>
                    </a:p>
                  </a:txBody>
                  <a:tcPr/>
                </a:tc>
                <a:tc>
                  <a:txBody>
                    <a:bodyPr/>
                    <a:lstStyle/>
                    <a:p>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）假设样本服从高斯分布，分布类型偏离真实情况时会导致聚类结果不准</a:t>
                      </a:r>
                    </a:p>
                  </a:txBody>
                  <a:tcPr/>
                </a:tc>
                <a:extLst>
                  <a:ext uri="{0D108BD9-81ED-4DB2-BD59-A6C34878D82A}">
                    <a16:rowId xmlns:a16="http://schemas.microsoft.com/office/drawing/2014/main" val="2424016437"/>
                  </a:ext>
                </a:extLst>
              </a:tr>
              <a:tr h="370840">
                <a:tc>
                  <a:txBody>
                    <a:bodyPr/>
                    <a:lstStyle/>
                    <a:p>
                      <a:r>
                        <a:rPr lang="zh-CN" altLang="en-US" dirty="0">
                          <a:latin typeface="微软雅黑" panose="020B0503020204020204" pitchFamily="34" charset="-122"/>
                          <a:ea typeface="微软雅黑" panose="020B0503020204020204" pitchFamily="34" charset="-122"/>
                        </a:rPr>
                        <a:t>层次聚类</a:t>
                      </a:r>
                    </a:p>
                  </a:txBody>
                  <a:tcPr/>
                </a:tc>
                <a:tc>
                  <a:txBody>
                    <a:bodyPr/>
                    <a:lstStyle/>
                    <a:p>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a:t>
                      </a:r>
                      <a:r>
                        <a:rPr lang="zh-CN" altLang="en-US" sz="1800" b="0" i="0" u="none" kern="1200" baseline="0" dirty="0">
                          <a:solidFill>
                            <a:schemeClr val="dk1"/>
                          </a:solidFill>
                          <a:effectLst/>
                          <a:latin typeface="微软雅黑" panose="020B0503020204020204" pitchFamily="34" charset="-122"/>
                          <a:ea typeface="微软雅黑" panose="020B0503020204020204" pitchFamily="34" charset="-122"/>
                          <a:cs typeface="+mn-cs"/>
                        </a:rPr>
                        <a:t>需要计算并存储所有对象之间的距离，这在处理大规模数据集时会产生较大的计算和存储开销。</a:t>
                      </a:r>
                      <a:endParaRPr lang="zh-CN" altLang="en-US"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07927684"/>
                  </a:ext>
                </a:extLst>
              </a:tr>
            </a:tbl>
          </a:graphicData>
        </a:graphic>
      </p:graphicFrame>
      <p:sp>
        <p:nvSpPr>
          <p:cNvPr id="20" name="文本框 19">
            <a:extLst>
              <a:ext uri="{FF2B5EF4-FFF2-40B4-BE49-F238E27FC236}">
                <a16:creationId xmlns:a16="http://schemas.microsoft.com/office/drawing/2014/main" id="{32850B16-743D-9B60-8ECD-C9238B53BC14}"/>
              </a:ext>
            </a:extLst>
          </p:cNvPr>
          <p:cNvSpPr txBox="1"/>
          <p:nvPr/>
        </p:nvSpPr>
        <p:spPr>
          <a:xfrm>
            <a:off x="64835" y="4288225"/>
            <a:ext cx="8976841" cy="2120902"/>
          </a:xfrm>
          <a:prstGeom prst="rect">
            <a:avLst/>
          </a:prstGeom>
          <a:noFill/>
        </p:spPr>
        <p:txBody>
          <a:bodyPr wrap="square">
            <a:spAutoFit/>
          </a:bodyPr>
          <a:lstStyle/>
          <a:p>
            <a:pPr>
              <a:lnSpc>
                <a:spcPct val="150000"/>
              </a:lnSpc>
            </a:pPr>
            <a:r>
              <a:rPr lang="zh-CN" altLang="en-US" dirty="0">
                <a:solidFill>
                  <a:schemeClr val="dk1"/>
                </a:solidFill>
                <a:latin typeface="微软雅黑" panose="020B0503020204020204" pitchFamily="34" charset="-122"/>
                <a:ea typeface="微软雅黑" panose="020B0503020204020204" pitchFamily="34" charset="-122"/>
              </a:rPr>
              <a:t>为了解决这些问题，</a:t>
            </a:r>
            <a:r>
              <a:rPr lang="zh-CN" altLang="en-US" b="1" dirty="0">
                <a:solidFill>
                  <a:srgbClr val="C00000"/>
                </a:solidFill>
                <a:latin typeface="微软雅黑" panose="020B0503020204020204" pitchFamily="34" charset="-122"/>
                <a:ea typeface="微软雅黑" panose="020B0503020204020204" pitchFamily="34" charset="-122"/>
              </a:rPr>
              <a:t>基于密度的聚类算法</a:t>
            </a:r>
            <a:r>
              <a:rPr lang="zh-CN" altLang="en-US" dirty="0">
                <a:solidFill>
                  <a:schemeClr val="dk1"/>
                </a:solidFill>
                <a:latin typeface="微软雅黑" panose="020B0503020204020204" pitchFamily="34" charset="-122"/>
                <a:ea typeface="微软雅黑" panose="020B0503020204020204" pitchFamily="34" charset="-122"/>
              </a:rPr>
              <a:t>应运而生。该算法通过识别具有不同密度的数据区域，将数据集划分为不同的聚类，</a:t>
            </a:r>
            <a:r>
              <a:rPr lang="zh-CN" altLang="en-US" b="1" dirty="0">
                <a:solidFill>
                  <a:srgbClr val="C00000"/>
                </a:solidFill>
                <a:latin typeface="微软雅黑" panose="020B0503020204020204" pitchFamily="34" charset="-122"/>
                <a:ea typeface="微软雅黑" panose="020B0503020204020204" pitchFamily="34" charset="-122"/>
              </a:rPr>
              <a:t>具有更高的鲁棒性和适应性</a:t>
            </a:r>
            <a:r>
              <a:rPr lang="zh-CN" altLang="en-US" dirty="0">
                <a:solidFill>
                  <a:schemeClr val="dk1"/>
                </a:solidFill>
                <a:latin typeface="微软雅黑" panose="020B0503020204020204" pitchFamily="34" charset="-122"/>
                <a:ea typeface="微软雅黑" panose="020B0503020204020204" pitchFamily="34" charset="-122"/>
              </a:rPr>
              <a:t>。基于密度的聚类算法</a:t>
            </a:r>
            <a:r>
              <a:rPr lang="zh-CN" altLang="en-US" b="1" dirty="0">
                <a:solidFill>
                  <a:srgbClr val="C00000"/>
                </a:solidFill>
                <a:latin typeface="微软雅黑" panose="020B0503020204020204" pitchFamily="34" charset="-122"/>
                <a:ea typeface="微软雅黑" panose="020B0503020204020204" pitchFamily="34" charset="-122"/>
              </a:rPr>
              <a:t>不需要事先指定聚类簇数，</a:t>
            </a:r>
            <a:r>
              <a:rPr lang="zh-CN" altLang="en-US" dirty="0">
                <a:latin typeface="微软雅黑" panose="020B0503020204020204" pitchFamily="34" charset="-122"/>
                <a:ea typeface="微软雅黑" panose="020B0503020204020204" pitchFamily="34" charset="-122"/>
              </a:rPr>
              <a:t>能够自适应地发现任意形状的聚类结构，</a:t>
            </a:r>
            <a:r>
              <a:rPr lang="zh-CN" altLang="en-US" b="1" dirty="0">
                <a:solidFill>
                  <a:srgbClr val="C00000"/>
                </a:solidFill>
                <a:latin typeface="微软雅黑" panose="020B0503020204020204" pitchFamily="34" charset="-122"/>
                <a:ea typeface="微软雅黑" panose="020B0503020204020204" pitchFamily="34" charset="-122"/>
              </a:rPr>
              <a:t>同时也不需要计算所有对象之间的距离，从而具有更高的计算效率</a:t>
            </a:r>
            <a:r>
              <a:rPr lang="zh-CN" altLang="en-US" dirty="0">
                <a:solidFill>
                  <a:schemeClr val="dk1"/>
                </a:solidFill>
                <a:latin typeface="微软雅黑" panose="020B0503020204020204" pitchFamily="34" charset="-122"/>
                <a:ea typeface="微软雅黑" panose="020B0503020204020204" pitchFamily="34" charset="-122"/>
              </a:rPr>
              <a:t>。因此，基于密度的聚类算法在处理大规模、高维度数据集时具有优越性，成为现代聚类分析中的重要方法之一。</a:t>
            </a:r>
          </a:p>
        </p:txBody>
      </p:sp>
    </p:spTree>
    <p:extLst>
      <p:ext uri="{BB962C8B-B14F-4D97-AF65-F5344CB8AC3E}">
        <p14:creationId xmlns:p14="http://schemas.microsoft.com/office/powerpoint/2010/main" val="33712177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73</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基本概念</a:t>
            </a:r>
          </a:p>
        </p:txBody>
      </p:sp>
      <p:sp>
        <p:nvSpPr>
          <p:cNvPr id="3" name="文本框 2">
            <a:extLst>
              <a:ext uri="{FF2B5EF4-FFF2-40B4-BE49-F238E27FC236}">
                <a16:creationId xmlns:a16="http://schemas.microsoft.com/office/drawing/2014/main" id="{96B97EB8-671F-2DD6-D687-E431680C58CC}"/>
              </a:ext>
            </a:extLst>
          </p:cNvPr>
          <p:cNvSpPr txBox="1"/>
          <p:nvPr/>
        </p:nvSpPr>
        <p:spPr>
          <a:xfrm>
            <a:off x="162560" y="1245067"/>
            <a:ext cx="8675814" cy="2120902"/>
          </a:xfrm>
          <a:prstGeom prst="rect">
            <a:avLst/>
          </a:prstGeom>
          <a:noFill/>
        </p:spPr>
        <p:txBody>
          <a:bodyPr wrap="square">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基于密度的聚类</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：根据样本的密度分布来进行聚类。通常情况下，密度聚类</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从样本密度的角度出发，来考查样本之间的可连接性</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，并</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基于可连接样本不断扩展聚类簇</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，以获得最终的聚类结果。</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DBSCAN</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Density-Based Spatial Clustering of Applications with Noise</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）是最具代表性的一种密度聚类方法，</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DBSCAN</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可以在包含噪声的数据中发现任意形状的聚类</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 name="Rectangle 4">
            <a:extLst>
              <a:ext uri="{FF2B5EF4-FFF2-40B4-BE49-F238E27FC236}">
                <a16:creationId xmlns:a16="http://schemas.microsoft.com/office/drawing/2014/main" id="{51689749-C616-38E1-AE6E-D860D8593F51}"/>
              </a:ext>
            </a:extLst>
          </p:cNvPr>
          <p:cNvSpPr>
            <a:spLocks noChangeArrowheads="1"/>
          </p:cNvSpPr>
          <p:nvPr/>
        </p:nvSpPr>
        <p:spPr bwMode="auto">
          <a:xfrm>
            <a:off x="491647" y="382002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pic>
        <p:nvPicPr>
          <p:cNvPr id="6" name="图片 5">
            <a:extLst>
              <a:ext uri="{FF2B5EF4-FFF2-40B4-BE49-F238E27FC236}">
                <a16:creationId xmlns:a16="http://schemas.microsoft.com/office/drawing/2014/main" id="{3B042B53-9913-5EAD-14E9-64F03F6F4588}"/>
              </a:ext>
            </a:extLst>
          </p:cNvPr>
          <p:cNvPicPr>
            <a:picLocks noChangeAspect="1"/>
          </p:cNvPicPr>
          <p:nvPr/>
        </p:nvPicPr>
        <p:blipFill>
          <a:blip r:embed="rId3"/>
          <a:stretch>
            <a:fillRect/>
          </a:stretch>
        </p:blipFill>
        <p:spPr>
          <a:xfrm>
            <a:off x="162560" y="3626596"/>
            <a:ext cx="3060652" cy="2403219"/>
          </a:xfrm>
          <a:prstGeom prst="rect">
            <a:avLst/>
          </a:prstGeom>
        </p:spPr>
      </p:pic>
      <p:sp>
        <p:nvSpPr>
          <p:cNvPr id="9" name="文本框 8">
            <a:extLst>
              <a:ext uri="{FF2B5EF4-FFF2-40B4-BE49-F238E27FC236}">
                <a16:creationId xmlns:a16="http://schemas.microsoft.com/office/drawing/2014/main" id="{6212B179-DA8A-C36F-9B1D-90E439FCDAE8}"/>
              </a:ext>
            </a:extLst>
          </p:cNvPr>
          <p:cNvSpPr txBox="1"/>
          <p:nvPr/>
        </p:nvSpPr>
        <p:spPr>
          <a:xfrm>
            <a:off x="1120880" y="6197540"/>
            <a:ext cx="1338828" cy="369332"/>
          </a:xfrm>
          <a:prstGeom prst="rect">
            <a:avLst/>
          </a:prstGeom>
          <a:noFill/>
        </p:spPr>
        <p:txBody>
          <a:bodyPr wrap="none" rtlCol="0">
            <a:spAutoFit/>
          </a:bodyPr>
          <a:lstStyle/>
          <a:p>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初始样本点</a:t>
            </a:r>
          </a:p>
        </p:txBody>
      </p:sp>
      <p:sp>
        <p:nvSpPr>
          <p:cNvPr id="10" name="箭头: 右 9">
            <a:extLst>
              <a:ext uri="{FF2B5EF4-FFF2-40B4-BE49-F238E27FC236}">
                <a16:creationId xmlns:a16="http://schemas.microsoft.com/office/drawing/2014/main" id="{7BA239FB-C18A-1F02-3CA9-FFD624E9FBFB}"/>
              </a:ext>
            </a:extLst>
          </p:cNvPr>
          <p:cNvSpPr/>
          <p:nvPr/>
        </p:nvSpPr>
        <p:spPr>
          <a:xfrm>
            <a:off x="3742083" y="4253207"/>
            <a:ext cx="1416326" cy="6100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a:extLst>
              <a:ext uri="{FF2B5EF4-FFF2-40B4-BE49-F238E27FC236}">
                <a16:creationId xmlns:a16="http://schemas.microsoft.com/office/drawing/2014/main" id="{5BF98B18-5349-1663-0CC7-ABACBA0C1721}"/>
              </a:ext>
            </a:extLst>
          </p:cNvPr>
          <p:cNvPicPr>
            <a:picLocks noChangeAspect="1"/>
          </p:cNvPicPr>
          <p:nvPr/>
        </p:nvPicPr>
        <p:blipFill>
          <a:blip r:embed="rId4"/>
          <a:stretch>
            <a:fillRect/>
          </a:stretch>
        </p:blipFill>
        <p:spPr>
          <a:xfrm>
            <a:off x="6057325" y="3626596"/>
            <a:ext cx="2955623" cy="2505854"/>
          </a:xfrm>
          <a:prstGeom prst="rect">
            <a:avLst/>
          </a:prstGeom>
        </p:spPr>
      </p:pic>
      <p:sp>
        <p:nvSpPr>
          <p:cNvPr id="17" name="文本框 16">
            <a:extLst>
              <a:ext uri="{FF2B5EF4-FFF2-40B4-BE49-F238E27FC236}">
                <a16:creationId xmlns:a16="http://schemas.microsoft.com/office/drawing/2014/main" id="{D4A8391E-1EA1-1A09-3530-8507DC70A6AD}"/>
              </a:ext>
            </a:extLst>
          </p:cNvPr>
          <p:cNvSpPr txBox="1"/>
          <p:nvPr/>
        </p:nvSpPr>
        <p:spPr>
          <a:xfrm>
            <a:off x="6376865" y="6184870"/>
            <a:ext cx="2064989" cy="369332"/>
          </a:xfrm>
          <a:prstGeom prst="rect">
            <a:avLst/>
          </a:prstGeom>
          <a:noFill/>
        </p:spPr>
        <p:txBody>
          <a:bodyPr wrap="none" rtlCol="0">
            <a:spAutoFit/>
          </a:bodyPr>
          <a:lstStyle/>
          <a:p>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DBSCAN</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聚类结果</a:t>
            </a:r>
          </a:p>
        </p:txBody>
      </p:sp>
      <p:sp>
        <p:nvSpPr>
          <p:cNvPr id="11" name="文本框 10">
            <a:extLst>
              <a:ext uri="{FF2B5EF4-FFF2-40B4-BE49-F238E27FC236}">
                <a16:creationId xmlns:a16="http://schemas.microsoft.com/office/drawing/2014/main" id="{E5B26E92-D778-ADC7-0E34-7B35231A9E7D}"/>
              </a:ext>
            </a:extLst>
          </p:cNvPr>
          <p:cNvSpPr txBox="1"/>
          <p:nvPr/>
        </p:nvSpPr>
        <p:spPr>
          <a:xfrm>
            <a:off x="3063130" y="4973234"/>
            <a:ext cx="2940105" cy="646331"/>
          </a:xfrm>
          <a:prstGeom prst="rect">
            <a:avLst/>
          </a:prstGeom>
          <a:noFill/>
        </p:spPr>
        <p:txBody>
          <a:bodyPr wrap="square" rtlCol="0">
            <a:spAutoFit/>
          </a:bodyPr>
          <a:lstStyle/>
          <a:p>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考察样本之间可连接性，基于可连接样本拓展聚类簇</a:t>
            </a:r>
          </a:p>
        </p:txBody>
      </p:sp>
    </p:spTree>
    <p:extLst>
      <p:ext uri="{BB962C8B-B14F-4D97-AF65-F5344CB8AC3E}">
        <p14:creationId xmlns:p14="http://schemas.microsoft.com/office/powerpoint/2010/main" val="316328352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74</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基本概念</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96B97EB8-671F-2DD6-D687-E431680C58CC}"/>
                  </a:ext>
                </a:extLst>
              </p:cNvPr>
              <p:cNvSpPr txBox="1"/>
              <p:nvPr/>
            </p:nvSpPr>
            <p:spPr>
              <a:xfrm>
                <a:off x="162560" y="1245067"/>
                <a:ext cx="8675814" cy="3059043"/>
              </a:xfrm>
              <a:prstGeom prst="rect">
                <a:avLst/>
              </a:prstGeom>
              <a:noFill/>
            </p:spPr>
            <p:txBody>
              <a:bodyPr wrap="square">
                <a:spAutoFit/>
              </a:bodyPr>
              <a:lstStyle/>
              <a:p>
                <a:pPr lvl="0" algn="just">
                  <a:lnSpc>
                    <a:spcPct val="150000"/>
                  </a:lnSpc>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给定</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数据集</a:t>
                </a:r>
                <a14:m>
                  <m:oMath xmlns:m="http://schemas.openxmlformats.org/officeDocument/2006/math">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𝐷</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d>
                      <m:dPr>
                        <m:begChr m:val="{"/>
                        <m:endChr m:val="}"/>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sub>
                        </m:s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𝑛</m:t>
                            </m:r>
                          </m:sub>
                        </m:sSub>
                      </m:e>
                    </m:d>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与</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邻域参数</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14:m>
                  <m:oMath xmlns:m="http://schemas.openxmlformats.org/officeDocument/2006/math">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𝜀</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（邻域半径），</a:t>
                </a:r>
                <a:r>
                  <a:rPr lang="en-US" altLang="zh-CN" dirty="0">
                    <a:solidFill>
                      <a:srgbClr val="000000"/>
                    </a:solidFill>
                    <a:ea typeface="微软雅黑" panose="020B0503020204020204" pitchFamily="34" charset="-122"/>
                    <a:cs typeface="Times New Roman" panose="02020603050405020304" pitchFamily="18" charset="0"/>
                  </a:rPr>
                  <a:t> </a:t>
                </a:r>
                <a14:m>
                  <m:oMath xmlns:m="http://schemas.openxmlformats.org/officeDocument/2006/math">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𝑀𝑖𝑛𝑃𝑡𝑠</m:t>
                    </m:r>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 </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（邻域内最小包含点数），</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DBSCAN</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算法首先进行以下定义，</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14:m>
                  <m:oMath xmlns:m="http://schemas.openxmlformats.org/officeDocument/2006/math">
                    <m:r>
                      <a:rPr kumimoji="0" lang="zh-CN"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𝜀</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邻域：对于任意</a:t>
                </a:r>
                <a14:m>
                  <m:oMath xmlns:m="http://schemas.openxmlformats.org/officeDocument/2006/math">
                    <m:r>
                      <a:rPr lang="zh-CN" altLang="en-US"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数据</m:t>
                    </m:r>
                    <m:r>
                      <a:rPr lang="zh-CN" altLang="en-US"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点</m:t>
                    </m:r>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𝒙</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𝑗</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𝐷</m:t>
                    </m:r>
                  </m:oMath>
                </a14:m>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其</a:t>
                </a:r>
                <a14:m>
                  <m:oMath xmlns:m="http://schemas.openxmlformats.org/officeDocument/2006/math">
                    <m:r>
                      <a:rPr lang="zh-CN" altLang="en-US" i="1" smtClean="0">
                        <a:solidFill>
                          <a:srgbClr val="C00000"/>
                        </a:solidFill>
                        <a:latin typeface="Cambria Math" panose="02040503050406030204" pitchFamily="18" charset="0"/>
                        <a:ea typeface="微软雅黑" panose="020B0503020204020204" pitchFamily="34" charset="-122"/>
                        <a:cs typeface="Times New Roman" panose="02020603050405020304" pitchFamily="18" charset="0"/>
                      </a:rPr>
                      <m:t>𝜀</m:t>
                    </m:r>
                    <m:r>
                      <a:rPr lang="en-US" altLang="zh-CN" i="1">
                        <a:solidFill>
                          <a:srgbClr val="C00000"/>
                        </a:solidFill>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邻域</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为数据集</a:t>
                </a:r>
                <a:r>
                  <a:rPr lang="en-US" altLang="zh-CN"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D</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中与</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𝑗</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的距离不大于</a:t>
                </a:r>
                <a14:m>
                  <m:oMath xmlns:m="http://schemas.openxmlformats.org/officeDocument/2006/math">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𝜀</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的样本子集，即：</a:t>
                </a: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𝑁</m:t>
                        </m:r>
                      </m:e>
                      <m:sub>
                        <m:r>
                          <a:rPr kumimoji="0" lang="zh-CN"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𝜀</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𝑗</m:t>
                            </m:r>
                          </m:sub>
                        </m:sSub>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𝒙</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𝐷</m:t>
                        </m:r>
                        <m:r>
                          <a:rPr lang="en-US" altLang="zh-CN"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𝑑𝑖𝑠𝑡</m:t>
                        </m:r>
                        <m:d>
                          <m:dPr>
                            <m:ctrlPr>
                              <a:rPr lang="en-US" altLang="zh-CN"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𝒙</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𝑗</m:t>
                                </m:r>
                              </m:sub>
                            </m:sSub>
                          </m:e>
                        </m:d>
                        <m:r>
                          <a:rPr lang="en-US" altLang="zh-CN"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&lt;</m:t>
                        </m:r>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𝜀</m:t>
                        </m:r>
                      </m:e>
                    </m:d>
                  </m:oMath>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）核心点：若某样本点的</a:t>
                </a:r>
                <a14:m>
                  <m:oMath xmlns:m="http://schemas.openxmlformats.org/officeDocument/2006/math">
                    <m:r>
                      <a:rPr kumimoji="0" lang="zh-CN"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𝜀</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邻域包含不少于</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𝑀𝑖𝑛𝑃𝑡𝑠</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个样本，则称该点为核心点</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lvl="0">
                  <a:lnSpc>
                    <a:spcPct val="150000"/>
                  </a:lnSpc>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96B97EB8-671F-2DD6-D687-E431680C58CC}"/>
                  </a:ext>
                </a:extLst>
              </p:cNvPr>
              <p:cNvSpPr txBox="1">
                <a:spLocks noRot="1" noChangeAspect="1" noMove="1" noResize="1" noEditPoints="1" noAdjustHandles="1" noChangeArrowheads="1" noChangeShapeType="1" noTextEdit="1"/>
              </p:cNvSpPr>
              <p:nvPr/>
            </p:nvSpPr>
            <p:spPr>
              <a:xfrm>
                <a:off x="162560" y="1245067"/>
                <a:ext cx="8675814" cy="3059043"/>
              </a:xfrm>
              <a:prstGeom prst="rect">
                <a:avLst/>
              </a:prstGeom>
              <a:blipFill>
                <a:blip r:embed="rId3"/>
                <a:stretch>
                  <a:fillRect l="-632" r="-562"/>
                </a:stretch>
              </a:blipFill>
            </p:spPr>
            <p:txBody>
              <a:bodyPr/>
              <a:lstStyle/>
              <a:p>
                <a:r>
                  <a:rPr lang="zh-CN" altLang="en-US">
                    <a:noFill/>
                  </a:rPr>
                  <a:t> </a:t>
                </a:r>
              </a:p>
            </p:txBody>
          </p:sp>
        </mc:Fallback>
      </mc:AlternateContent>
      <p:pic>
        <p:nvPicPr>
          <p:cNvPr id="35" name="图片 34">
            <a:extLst>
              <a:ext uri="{FF2B5EF4-FFF2-40B4-BE49-F238E27FC236}">
                <a16:creationId xmlns:a16="http://schemas.microsoft.com/office/drawing/2014/main" id="{41128D3E-253C-6160-745F-CB6C9C6CC3A0}"/>
              </a:ext>
            </a:extLst>
          </p:cNvPr>
          <p:cNvPicPr>
            <a:picLocks noChangeAspect="1"/>
          </p:cNvPicPr>
          <p:nvPr/>
        </p:nvPicPr>
        <p:blipFill>
          <a:blip r:embed="rId4"/>
          <a:stretch>
            <a:fillRect/>
          </a:stretch>
        </p:blipFill>
        <p:spPr>
          <a:xfrm>
            <a:off x="2206487" y="3562173"/>
            <a:ext cx="4966387" cy="2774901"/>
          </a:xfrm>
          <a:prstGeom prst="rect">
            <a:avLst/>
          </a:prstGeom>
        </p:spPr>
      </p:pic>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F621B4D8-1BA8-3A87-8229-0F469DC8BD9E}"/>
                  </a:ext>
                </a:extLst>
              </p:cNvPr>
              <p:cNvSpPr txBox="1"/>
              <p:nvPr/>
            </p:nvSpPr>
            <p:spPr>
              <a:xfrm>
                <a:off x="2449996" y="6337074"/>
                <a:ext cx="4572000" cy="369332"/>
              </a:xfrm>
              <a:prstGeom prst="rect">
                <a:avLst/>
              </a:prstGeom>
              <a:noFill/>
            </p:spPr>
            <p:txBody>
              <a:bodyPr wrap="square">
                <a:spAutoFit/>
              </a:bodyPr>
              <a:lstStyle/>
              <a:p>
                <a14:m>
                  <m:oMath xmlns:m="http://schemas.openxmlformats.org/officeDocument/2006/math">
                    <m:r>
                      <a:rPr lang="zh-CN" altLang="en-US">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𝜀</m:t>
                    </m:r>
                    <m:r>
                      <a:rPr lang="en-US" altLang="zh-CN">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=3, </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𝑀𝑖𝑛𝑃𝑡𝑠</m:t>
                    </m:r>
                    <m:r>
                      <a:rPr lang="en-US" altLang="zh-CN">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=4 </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时的</a:t>
                </a:r>
                <a14:m>
                  <m:oMath xmlns:m="http://schemas.openxmlformats.org/officeDocument/2006/math">
                    <m:r>
                      <a:rPr lang="zh-CN" altLang="en-US">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𝜀</m:t>
                    </m:r>
                    <m:r>
                      <a:rPr lang="en-US" altLang="zh-CN">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邻域与核心点</a:t>
                </a:r>
                <a:endParaRPr lang="zh-CN" altLang="en-US" dirty="0"/>
              </a:p>
            </p:txBody>
          </p:sp>
        </mc:Choice>
        <mc:Fallback xmlns="">
          <p:sp>
            <p:nvSpPr>
              <p:cNvPr id="37" name="文本框 36">
                <a:extLst>
                  <a:ext uri="{FF2B5EF4-FFF2-40B4-BE49-F238E27FC236}">
                    <a16:creationId xmlns:a16="http://schemas.microsoft.com/office/drawing/2014/main" id="{F621B4D8-1BA8-3A87-8229-0F469DC8BD9E}"/>
                  </a:ext>
                </a:extLst>
              </p:cNvPr>
              <p:cNvSpPr txBox="1">
                <a:spLocks noRot="1" noChangeAspect="1" noMove="1" noResize="1" noEditPoints="1" noAdjustHandles="1" noChangeArrowheads="1" noChangeShapeType="1" noTextEdit="1"/>
              </p:cNvSpPr>
              <p:nvPr/>
            </p:nvSpPr>
            <p:spPr>
              <a:xfrm>
                <a:off x="2449996" y="6337074"/>
                <a:ext cx="4572000" cy="369332"/>
              </a:xfrm>
              <a:prstGeom prst="rect">
                <a:avLst/>
              </a:prstGeom>
              <a:blipFill>
                <a:blip r:embed="rId5"/>
                <a:stretch>
                  <a:fillRect t="-10000" b="-26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455789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75</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基本概念</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96B97EB8-671F-2DD6-D687-E431680C58CC}"/>
                  </a:ext>
                </a:extLst>
              </p:cNvPr>
              <p:cNvSpPr txBox="1"/>
              <p:nvPr/>
            </p:nvSpPr>
            <p:spPr>
              <a:xfrm>
                <a:off x="162560" y="1245067"/>
                <a:ext cx="8675814" cy="4002699"/>
              </a:xfrm>
              <a:prstGeom prst="rect">
                <a:avLst/>
              </a:prstGeom>
              <a:noFill/>
            </p:spPr>
            <p:txBody>
              <a:bodyPr wrap="square">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3</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）密度直达：若</a:t>
                </a: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𝒙</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𝑗</m:t>
                        </m:r>
                      </m:sub>
                    </m:sSub>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在</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𝒙</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的</m:t>
                    </m:r>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𝜀</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邻域中，且</a:t>
                </a:r>
                <a14:m>
                  <m:oMath xmlns:m="http://schemas.openxmlformats.org/officeDocument/2006/math">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𝒙</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是核心点，则称</a:t>
                </a:r>
                <a14:m>
                  <m:oMath xmlns:m="http://schemas.openxmlformats.org/officeDocument/2006/math">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𝒙</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𝑗</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 </m:t>
                    </m:r>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由</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 </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𝒙</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密度直达（不具有对称性，即反之不一定成立）</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4</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）密度可达：对于</a:t>
                </a: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𝒙</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𝑗</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 </m:t>
                    </m:r>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与</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 </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𝒙</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，若存在样本序列</a:t>
                </a: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𝑝</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1</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𝑝</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𝑛</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，其中</a:t>
                </a:r>
                <a14:m>
                  <m:oMath xmlns:m="http://schemas.openxmlformats.org/officeDocument/2006/math">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𝑝</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1</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𝒙</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14:m>
                  <m:oMath xmlns:m="http://schemas.openxmlformats.org/officeDocument/2006/math">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𝑝</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𝑛</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𝒙</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𝑗</m:t>
                        </m:r>
                      </m:sub>
                    </m:sSub>
                  </m:oMath>
                </a14:m>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且</a:t>
                </a: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𝑝</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+1</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 </m:t>
                    </m:r>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由</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 </m:t>
                    </m:r>
                    <m:sSub>
                      <m:sSubPr>
                        <m:ctrlP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𝑝</m:t>
                        </m:r>
                      </m:e>
                      <m:sub>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密度直达，则称</a:t>
                </a:r>
                <a14:m>
                  <m:oMath xmlns:m="http://schemas.openxmlformats.org/officeDocument/2006/math">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𝒙</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𝑗</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 </m:t>
                    </m:r>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由</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 </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𝒙</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密度可达（同样不具有对称性）</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5</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）密度相连：</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对于</a:t>
                </a: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𝒙</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𝑗</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 </m:t>
                    </m:r>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与</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 </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𝒙</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，若存在</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𝒙</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𝑘</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使</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𝑗</m:t>
                        </m:r>
                      </m:sub>
                    </m:s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 </m:t>
                    </m:r>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与</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 </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均由</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𝑘</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密度可达，则称</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𝑗</m:t>
                        </m:r>
                      </m:sub>
                    </m:s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 </m:t>
                    </m:r>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与</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 </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密度相连（具有对称性）</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96B97EB8-671F-2DD6-D687-E431680C58CC}"/>
                  </a:ext>
                </a:extLst>
              </p:cNvPr>
              <p:cNvSpPr txBox="1">
                <a:spLocks noRot="1" noChangeAspect="1" noMove="1" noResize="1" noEditPoints="1" noAdjustHandles="1" noChangeArrowheads="1" noChangeShapeType="1" noTextEdit="1"/>
              </p:cNvSpPr>
              <p:nvPr/>
            </p:nvSpPr>
            <p:spPr>
              <a:xfrm>
                <a:off x="162560" y="1245067"/>
                <a:ext cx="8675814" cy="4002699"/>
              </a:xfrm>
              <a:prstGeom prst="rect">
                <a:avLst/>
              </a:prstGeom>
              <a:blipFill>
                <a:blip r:embed="rId3"/>
                <a:stretch>
                  <a:fillRect l="-632" r="-562"/>
                </a:stretch>
              </a:blipFill>
            </p:spPr>
            <p:txBody>
              <a:bodyPr/>
              <a:lstStyle/>
              <a:p>
                <a:r>
                  <a:rPr lang="zh-CN" altLang="en-US">
                    <a:noFill/>
                  </a:rPr>
                  <a:t> </a:t>
                </a:r>
              </a:p>
            </p:txBody>
          </p:sp>
        </mc:Fallback>
      </mc:AlternateContent>
      <p:sp>
        <p:nvSpPr>
          <p:cNvPr id="16" name="Rectangle 4">
            <a:extLst>
              <a:ext uri="{FF2B5EF4-FFF2-40B4-BE49-F238E27FC236}">
                <a16:creationId xmlns:a16="http://schemas.microsoft.com/office/drawing/2014/main" id="{51689749-C616-38E1-AE6E-D860D8593F51}"/>
              </a:ext>
            </a:extLst>
          </p:cNvPr>
          <p:cNvSpPr>
            <a:spLocks noChangeArrowheads="1"/>
          </p:cNvSpPr>
          <p:nvPr/>
        </p:nvSpPr>
        <p:spPr bwMode="auto">
          <a:xfrm>
            <a:off x="491647" y="382002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pic>
        <p:nvPicPr>
          <p:cNvPr id="4" name="图片 3">
            <a:extLst>
              <a:ext uri="{FF2B5EF4-FFF2-40B4-BE49-F238E27FC236}">
                <a16:creationId xmlns:a16="http://schemas.microsoft.com/office/drawing/2014/main" id="{F09FF64F-9B1D-A649-C44D-B4AAB0ED7C2C}"/>
              </a:ext>
            </a:extLst>
          </p:cNvPr>
          <p:cNvPicPr>
            <a:picLocks noChangeAspect="1"/>
          </p:cNvPicPr>
          <p:nvPr/>
        </p:nvPicPr>
        <p:blipFill>
          <a:blip r:embed="rId4"/>
          <a:stretch>
            <a:fillRect/>
          </a:stretch>
        </p:blipFill>
        <p:spPr>
          <a:xfrm>
            <a:off x="474388" y="4153522"/>
            <a:ext cx="1951952" cy="2344233"/>
          </a:xfrm>
          <a:prstGeom prst="rect">
            <a:avLst/>
          </a:prstGeom>
        </p:spPr>
      </p:pic>
      <p:pic>
        <p:nvPicPr>
          <p:cNvPr id="7" name="图片 6">
            <a:extLst>
              <a:ext uri="{FF2B5EF4-FFF2-40B4-BE49-F238E27FC236}">
                <a16:creationId xmlns:a16="http://schemas.microsoft.com/office/drawing/2014/main" id="{6AEA7F5A-3122-F212-C26C-127D861D9E95}"/>
              </a:ext>
            </a:extLst>
          </p:cNvPr>
          <p:cNvPicPr>
            <a:picLocks noChangeAspect="1"/>
          </p:cNvPicPr>
          <p:nvPr/>
        </p:nvPicPr>
        <p:blipFill>
          <a:blip r:embed="rId5"/>
          <a:stretch>
            <a:fillRect/>
          </a:stretch>
        </p:blipFill>
        <p:spPr>
          <a:xfrm>
            <a:off x="3039520" y="4054258"/>
            <a:ext cx="2646948" cy="2688889"/>
          </a:xfrm>
          <a:prstGeom prst="rect">
            <a:avLst/>
          </a:prstGeom>
        </p:spPr>
      </p:pic>
      <p:pic>
        <p:nvPicPr>
          <p:cNvPr id="10" name="图片 9">
            <a:extLst>
              <a:ext uri="{FF2B5EF4-FFF2-40B4-BE49-F238E27FC236}">
                <a16:creationId xmlns:a16="http://schemas.microsoft.com/office/drawing/2014/main" id="{AC6871FF-B1F2-6DAC-F925-6F0339D85C6B}"/>
              </a:ext>
            </a:extLst>
          </p:cNvPr>
          <p:cNvPicPr>
            <a:picLocks noChangeAspect="1"/>
          </p:cNvPicPr>
          <p:nvPr/>
        </p:nvPicPr>
        <p:blipFill>
          <a:blip r:embed="rId6"/>
          <a:stretch>
            <a:fillRect/>
          </a:stretch>
        </p:blipFill>
        <p:spPr>
          <a:xfrm>
            <a:off x="6015764" y="4054258"/>
            <a:ext cx="2565256" cy="2420734"/>
          </a:xfrm>
          <a:prstGeom prst="rect">
            <a:avLst/>
          </a:prstGeom>
        </p:spPr>
      </p:pic>
    </p:spTree>
    <p:extLst>
      <p:ext uri="{BB962C8B-B14F-4D97-AF65-F5344CB8AC3E}">
        <p14:creationId xmlns:p14="http://schemas.microsoft.com/office/powerpoint/2010/main" val="102399010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76</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算法过程</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96B97EB8-671F-2DD6-D687-E431680C58CC}"/>
                  </a:ext>
                </a:extLst>
              </p:cNvPr>
              <p:cNvSpPr txBox="1"/>
              <p:nvPr/>
            </p:nvSpPr>
            <p:spPr>
              <a:xfrm>
                <a:off x="162560" y="1245067"/>
                <a:ext cx="8675814" cy="5444888"/>
              </a:xfrm>
              <a:prstGeom prst="rect">
                <a:avLst/>
              </a:prstGeom>
              <a:noFill/>
            </p:spPr>
            <p:txBody>
              <a:bodyPr wrap="square">
                <a:spAutoFit/>
              </a:bodyPr>
              <a:lstStyle/>
              <a:p>
                <a:pPr lvl="0" algn="just">
                  <a:lnSpc>
                    <a:spcPct val="150000"/>
                  </a:lnSpc>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给定数据集</a:t>
                </a:r>
                <a14:m>
                  <m:oMath xmlns:m="http://schemas.openxmlformats.org/officeDocument/2006/math">
                    <m:r>
                      <a:rPr lang="en-US" altLang="zh-CN"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𝐷</m:t>
                    </m:r>
                    <m:r>
                      <a:rPr lang="en-US" altLang="zh-CN"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d>
                      <m:dPr>
                        <m:begChr m:val="{"/>
                        <m:endChr m:val="}"/>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sub>
                        </m:s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𝑛</m:t>
                            </m:r>
                          </m:sub>
                        </m:sSub>
                      </m:e>
                    </m:d>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 </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，与邻域参数</a:t>
                </a:r>
                <a14:m>
                  <m:oMath xmlns:m="http://schemas.openxmlformats.org/officeDocument/2006/math">
                    <m:r>
                      <a:rPr lang="zh-CN" altLang="en-US"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𝜀</m:t>
                    </m:r>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oMath>
                </a14:m>
                <a:r>
                  <a:rPr lang="en-US" altLang="zh-CN" dirty="0">
                    <a:solidFill>
                      <a:srgbClr val="000000"/>
                    </a:solidFill>
                    <a:ea typeface="微软雅黑" panose="020B0503020204020204" pitchFamily="34" charset="-122"/>
                    <a:cs typeface="Times New Roman" panose="02020603050405020304" pitchFamily="18" charset="0"/>
                  </a:rPr>
                  <a:t> </a:t>
                </a:r>
                <a14:m>
                  <m:oMath xmlns:m="http://schemas.openxmlformats.org/officeDocument/2006/math">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𝑀𝑖𝑛</m:t>
                    </m:r>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𝑃</m:t>
                    </m:r>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𝑡𝑠</m:t>
                    </m:r>
                  </m:oMath>
                </a14:m>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DBSCAN</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算法流程如下：</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defRPr/>
                </a:pP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a:t>
                </a: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）遍历数据点，确定核心点</a:t>
                </a:r>
                <a:endPar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对于每个数据点，计算该点</a:t>
                </a:r>
                <a14:m>
                  <m:oMath xmlns:m="http://schemas.openxmlformats.org/officeDocument/2006/math">
                    <m:r>
                      <a:rPr lang="zh-CN" altLang="en-US"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𝜀</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邻域内的样本点数，若点数低于</a:t>
                </a:r>
                <a14:m>
                  <m:oMath xmlns:m="http://schemas.openxmlformats.org/officeDocument/2006/math">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𝑀𝑖𝑛𝑝𝑡𝑠</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，则称该点为</a:t>
                </a:r>
                <a:r>
                  <a:rPr kumimoji="0" lang="zh-CN" altLang="en-US"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低密度点</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，可能是边缘点或噪声点，而点数大于或等于</a:t>
                </a:r>
                <a14:m>
                  <m:oMath xmlns:m="http://schemas.openxmlformats.org/officeDocument/2006/math">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𝑀𝑖𝑛𝑝𝑡𝑠</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的称为高密度点，即核心点。</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defRPr/>
                </a:pPr>
                <a:r>
                  <a:rPr lang="zh-CN" altLang="en-US"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）遍历无类别核心点，进行聚类</a:t>
                </a:r>
                <a:endPar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任意选择一个没有类别的核心点作为种子，</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找到所有这个核心点能够密度可达的样本集合，即为一个聚类簇</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。接着继续选择另一个没有类别的核心点去寻找密度可达的样本集合，这样就得到另一个聚类簇 。一直到所有核心点都有类别为止。</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不在任何高密度点的圈内的低密度点就是噪声点</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96B97EB8-671F-2DD6-D687-E431680C58CC}"/>
                  </a:ext>
                </a:extLst>
              </p:cNvPr>
              <p:cNvSpPr txBox="1">
                <a:spLocks noRot="1" noChangeAspect="1" noMove="1" noResize="1" noEditPoints="1" noAdjustHandles="1" noChangeArrowheads="1" noChangeShapeType="1" noTextEdit="1"/>
              </p:cNvSpPr>
              <p:nvPr/>
            </p:nvSpPr>
            <p:spPr>
              <a:xfrm>
                <a:off x="162560" y="1245067"/>
                <a:ext cx="8675814" cy="5444888"/>
              </a:xfrm>
              <a:prstGeom prst="rect">
                <a:avLst/>
              </a:prstGeom>
              <a:blipFill>
                <a:blip r:embed="rId3"/>
                <a:stretch>
                  <a:fillRect l="-632" r="-562"/>
                </a:stretch>
              </a:blipFill>
            </p:spPr>
            <p:txBody>
              <a:bodyPr/>
              <a:lstStyle/>
              <a:p>
                <a:r>
                  <a:rPr lang="zh-CN" altLang="en-US">
                    <a:noFill/>
                  </a:rPr>
                  <a:t> </a:t>
                </a:r>
              </a:p>
            </p:txBody>
          </p:sp>
        </mc:Fallback>
      </mc:AlternateContent>
      <p:sp>
        <p:nvSpPr>
          <p:cNvPr id="16" name="Rectangle 4">
            <a:extLst>
              <a:ext uri="{FF2B5EF4-FFF2-40B4-BE49-F238E27FC236}">
                <a16:creationId xmlns:a16="http://schemas.microsoft.com/office/drawing/2014/main" id="{51689749-C616-38E1-AE6E-D860D8593F51}"/>
              </a:ext>
            </a:extLst>
          </p:cNvPr>
          <p:cNvSpPr>
            <a:spLocks noChangeArrowheads="1"/>
          </p:cNvSpPr>
          <p:nvPr/>
        </p:nvSpPr>
        <p:spPr bwMode="auto">
          <a:xfrm>
            <a:off x="491647" y="382002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Tree>
    <p:extLst>
      <p:ext uri="{BB962C8B-B14F-4D97-AF65-F5344CB8AC3E}">
        <p14:creationId xmlns:p14="http://schemas.microsoft.com/office/powerpoint/2010/main" val="336408731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77</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算法过程</a:t>
            </a:r>
          </a:p>
        </p:txBody>
      </p:sp>
      <p:sp>
        <p:nvSpPr>
          <p:cNvPr id="3" name="文本框 2">
            <a:extLst>
              <a:ext uri="{FF2B5EF4-FFF2-40B4-BE49-F238E27FC236}">
                <a16:creationId xmlns:a16="http://schemas.microsoft.com/office/drawing/2014/main" id="{96B97EB8-671F-2DD6-D687-E431680C58CC}"/>
              </a:ext>
            </a:extLst>
          </p:cNvPr>
          <p:cNvSpPr txBox="1"/>
          <p:nvPr/>
        </p:nvSpPr>
        <p:spPr>
          <a:xfrm>
            <a:off x="162560" y="1245067"/>
            <a:ext cx="8675814" cy="1289905"/>
          </a:xfrm>
          <a:prstGeom prst="rect">
            <a:avLst/>
          </a:prstGeom>
          <a:noFill/>
        </p:spPr>
        <p:txBody>
          <a:bodyPr wrap="square">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文本框 5">
            <a:extLst>
              <a:ext uri="{FF2B5EF4-FFF2-40B4-BE49-F238E27FC236}">
                <a16:creationId xmlns:a16="http://schemas.microsoft.com/office/drawing/2014/main" id="{26FD8D1F-D0E5-AE0F-289B-DFF907C4B528}"/>
              </a:ext>
            </a:extLst>
          </p:cNvPr>
          <p:cNvSpPr txBox="1"/>
          <p:nvPr/>
        </p:nvSpPr>
        <p:spPr>
          <a:xfrm>
            <a:off x="6186735" y="5958448"/>
            <a:ext cx="1800493"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核心点与边缘点</a:t>
            </a:r>
          </a:p>
        </p:txBody>
      </p:sp>
      <p:pic>
        <p:nvPicPr>
          <p:cNvPr id="7" name="图片 6">
            <a:extLst>
              <a:ext uri="{FF2B5EF4-FFF2-40B4-BE49-F238E27FC236}">
                <a16:creationId xmlns:a16="http://schemas.microsoft.com/office/drawing/2014/main" id="{15937768-BB82-1429-8063-58547AA3C62E}"/>
              </a:ext>
            </a:extLst>
          </p:cNvPr>
          <p:cNvPicPr>
            <a:picLocks noChangeAspect="1"/>
          </p:cNvPicPr>
          <p:nvPr/>
        </p:nvPicPr>
        <p:blipFill>
          <a:blip r:embed="rId3"/>
          <a:stretch>
            <a:fillRect/>
          </a:stretch>
        </p:blipFill>
        <p:spPr>
          <a:xfrm>
            <a:off x="208189" y="1431365"/>
            <a:ext cx="2804342" cy="4024023"/>
          </a:xfrm>
          <a:prstGeom prst="rect">
            <a:avLst/>
          </a:prstGeom>
        </p:spPr>
      </p:pic>
      <p:sp>
        <p:nvSpPr>
          <p:cNvPr id="10" name="箭头: 右 9">
            <a:extLst>
              <a:ext uri="{FF2B5EF4-FFF2-40B4-BE49-F238E27FC236}">
                <a16:creationId xmlns:a16="http://schemas.microsoft.com/office/drawing/2014/main" id="{CA3689A9-4621-1873-1F6D-0A30F6051CA2}"/>
              </a:ext>
            </a:extLst>
          </p:cNvPr>
          <p:cNvSpPr/>
          <p:nvPr/>
        </p:nvSpPr>
        <p:spPr>
          <a:xfrm>
            <a:off x="3869356" y="3147461"/>
            <a:ext cx="851836" cy="75077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3E395D35-7A0B-6455-DCF0-F0AA098621A6}"/>
              </a:ext>
            </a:extLst>
          </p:cNvPr>
          <p:cNvSpPr txBox="1"/>
          <p:nvPr/>
        </p:nvSpPr>
        <p:spPr>
          <a:xfrm>
            <a:off x="3576771" y="4075233"/>
            <a:ext cx="1437005" cy="646331"/>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遍历样本点找到核心点</a:t>
            </a:r>
          </a:p>
        </p:txBody>
      </p:sp>
      <p:sp>
        <p:nvSpPr>
          <p:cNvPr id="13" name="文本框 12">
            <a:extLst>
              <a:ext uri="{FF2B5EF4-FFF2-40B4-BE49-F238E27FC236}">
                <a16:creationId xmlns:a16="http://schemas.microsoft.com/office/drawing/2014/main" id="{C3AA0ECC-0ED8-B60B-5163-491EDD8BF719}"/>
              </a:ext>
            </a:extLst>
          </p:cNvPr>
          <p:cNvSpPr txBox="1"/>
          <p:nvPr/>
        </p:nvSpPr>
        <p:spPr>
          <a:xfrm>
            <a:off x="1027503" y="5865532"/>
            <a:ext cx="1338828"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初始样本点</a:t>
            </a:r>
          </a:p>
        </p:txBody>
      </p:sp>
      <p:pic>
        <p:nvPicPr>
          <p:cNvPr id="14" name="图片 13">
            <a:extLst>
              <a:ext uri="{FF2B5EF4-FFF2-40B4-BE49-F238E27FC236}">
                <a16:creationId xmlns:a16="http://schemas.microsoft.com/office/drawing/2014/main" id="{70EFA7A5-54D8-3F52-0799-83BCE74138A6}"/>
              </a:ext>
            </a:extLst>
          </p:cNvPr>
          <p:cNvPicPr>
            <a:picLocks noChangeAspect="1"/>
          </p:cNvPicPr>
          <p:nvPr/>
        </p:nvPicPr>
        <p:blipFill>
          <a:blip r:embed="rId4"/>
          <a:stretch>
            <a:fillRect/>
          </a:stretch>
        </p:blipFill>
        <p:spPr>
          <a:xfrm>
            <a:off x="5654181" y="1431365"/>
            <a:ext cx="3021624" cy="4340785"/>
          </a:xfrm>
          <a:prstGeom prst="rect">
            <a:avLst/>
          </a:prstGeom>
        </p:spPr>
      </p:pic>
    </p:spTree>
    <p:extLst>
      <p:ext uri="{BB962C8B-B14F-4D97-AF65-F5344CB8AC3E}">
        <p14:creationId xmlns:p14="http://schemas.microsoft.com/office/powerpoint/2010/main" val="84932709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78</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算法过程</a:t>
            </a:r>
          </a:p>
        </p:txBody>
      </p:sp>
      <p:sp>
        <p:nvSpPr>
          <p:cNvPr id="3" name="文本框 2">
            <a:extLst>
              <a:ext uri="{FF2B5EF4-FFF2-40B4-BE49-F238E27FC236}">
                <a16:creationId xmlns:a16="http://schemas.microsoft.com/office/drawing/2014/main" id="{96B97EB8-671F-2DD6-D687-E431680C58CC}"/>
              </a:ext>
            </a:extLst>
          </p:cNvPr>
          <p:cNvSpPr txBox="1"/>
          <p:nvPr/>
        </p:nvSpPr>
        <p:spPr>
          <a:xfrm>
            <a:off x="162560" y="1245067"/>
            <a:ext cx="8675814" cy="1289905"/>
          </a:xfrm>
          <a:prstGeom prst="rect">
            <a:avLst/>
          </a:prstGeom>
          <a:noFill/>
        </p:spPr>
        <p:txBody>
          <a:bodyPr wrap="square">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文本框 5">
            <a:extLst>
              <a:ext uri="{FF2B5EF4-FFF2-40B4-BE49-F238E27FC236}">
                <a16:creationId xmlns:a16="http://schemas.microsoft.com/office/drawing/2014/main" id="{26FD8D1F-D0E5-AE0F-289B-DFF907C4B528}"/>
              </a:ext>
            </a:extLst>
          </p:cNvPr>
          <p:cNvSpPr txBox="1"/>
          <p:nvPr/>
        </p:nvSpPr>
        <p:spPr>
          <a:xfrm>
            <a:off x="6629497" y="5857383"/>
            <a:ext cx="1107996"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聚类结果</a:t>
            </a:r>
          </a:p>
        </p:txBody>
      </p:sp>
      <p:sp>
        <p:nvSpPr>
          <p:cNvPr id="10" name="箭头: 右 9">
            <a:extLst>
              <a:ext uri="{FF2B5EF4-FFF2-40B4-BE49-F238E27FC236}">
                <a16:creationId xmlns:a16="http://schemas.microsoft.com/office/drawing/2014/main" id="{CA3689A9-4621-1873-1F6D-0A30F6051CA2}"/>
              </a:ext>
            </a:extLst>
          </p:cNvPr>
          <p:cNvSpPr/>
          <p:nvPr/>
        </p:nvSpPr>
        <p:spPr>
          <a:xfrm>
            <a:off x="3869356" y="3147461"/>
            <a:ext cx="851836" cy="75077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宋体"/>
              <a:cs typeface="+mn-cs"/>
            </a:endParaRPr>
          </a:p>
        </p:txBody>
      </p:sp>
      <p:sp>
        <p:nvSpPr>
          <p:cNvPr id="11" name="文本框 10">
            <a:extLst>
              <a:ext uri="{FF2B5EF4-FFF2-40B4-BE49-F238E27FC236}">
                <a16:creationId xmlns:a16="http://schemas.microsoft.com/office/drawing/2014/main" id="{3E395D35-7A0B-6455-DCF0-F0AA098621A6}"/>
              </a:ext>
            </a:extLst>
          </p:cNvPr>
          <p:cNvSpPr txBox="1"/>
          <p:nvPr/>
        </p:nvSpPr>
        <p:spPr>
          <a:xfrm>
            <a:off x="3576771" y="4225856"/>
            <a:ext cx="1598116"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得到聚类结果</a:t>
            </a:r>
          </a:p>
        </p:txBody>
      </p:sp>
      <p:sp>
        <p:nvSpPr>
          <p:cNvPr id="13" name="文本框 12">
            <a:extLst>
              <a:ext uri="{FF2B5EF4-FFF2-40B4-BE49-F238E27FC236}">
                <a16:creationId xmlns:a16="http://schemas.microsoft.com/office/drawing/2014/main" id="{C3AA0ECC-0ED8-B60B-5163-491EDD8BF719}"/>
              </a:ext>
            </a:extLst>
          </p:cNvPr>
          <p:cNvSpPr txBox="1"/>
          <p:nvPr/>
        </p:nvSpPr>
        <p:spPr>
          <a:xfrm>
            <a:off x="167284" y="5773782"/>
            <a:ext cx="3926075"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遍历核心点找到</a:t>
            </a:r>
            <a:r>
              <a:rPr lang="zh-CN" altLang="en-US" dirty="0">
                <a:solidFill>
                  <a:srgbClr val="000000"/>
                </a:solidFill>
                <a:latin typeface="微软雅黑" panose="020B0503020204020204" pitchFamily="34" charset="-122"/>
                <a:ea typeface="微软雅黑" panose="020B0503020204020204" pitchFamily="34" charset="-122"/>
              </a:rPr>
              <a:t>核心点的</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密度可达点</a:t>
            </a:r>
          </a:p>
        </p:txBody>
      </p:sp>
      <p:pic>
        <p:nvPicPr>
          <p:cNvPr id="4" name="图片 3">
            <a:extLst>
              <a:ext uri="{FF2B5EF4-FFF2-40B4-BE49-F238E27FC236}">
                <a16:creationId xmlns:a16="http://schemas.microsoft.com/office/drawing/2014/main" id="{EA625836-1E77-9425-BF4E-D6C39A46B071}"/>
              </a:ext>
            </a:extLst>
          </p:cNvPr>
          <p:cNvPicPr>
            <a:picLocks noChangeAspect="1"/>
          </p:cNvPicPr>
          <p:nvPr/>
        </p:nvPicPr>
        <p:blipFill>
          <a:blip r:embed="rId3"/>
          <a:stretch>
            <a:fillRect/>
          </a:stretch>
        </p:blipFill>
        <p:spPr>
          <a:xfrm>
            <a:off x="185549" y="1478932"/>
            <a:ext cx="2872611" cy="3728793"/>
          </a:xfrm>
          <a:prstGeom prst="rect">
            <a:avLst/>
          </a:prstGeom>
        </p:spPr>
      </p:pic>
      <p:pic>
        <p:nvPicPr>
          <p:cNvPr id="9" name="图片 8">
            <a:extLst>
              <a:ext uri="{FF2B5EF4-FFF2-40B4-BE49-F238E27FC236}">
                <a16:creationId xmlns:a16="http://schemas.microsoft.com/office/drawing/2014/main" id="{F21C7B45-7E30-9A8E-B495-23AA11A0A98F}"/>
              </a:ext>
            </a:extLst>
          </p:cNvPr>
          <p:cNvPicPr>
            <a:picLocks noChangeAspect="1"/>
          </p:cNvPicPr>
          <p:nvPr/>
        </p:nvPicPr>
        <p:blipFill>
          <a:blip r:embed="rId4"/>
          <a:stretch>
            <a:fillRect/>
          </a:stretch>
        </p:blipFill>
        <p:spPr>
          <a:xfrm>
            <a:off x="5139054" y="1245067"/>
            <a:ext cx="3819397" cy="4355931"/>
          </a:xfrm>
          <a:prstGeom prst="rect">
            <a:avLst/>
          </a:prstGeom>
        </p:spPr>
      </p:pic>
    </p:spTree>
    <p:extLst>
      <p:ext uri="{BB962C8B-B14F-4D97-AF65-F5344CB8AC3E}">
        <p14:creationId xmlns:p14="http://schemas.microsoft.com/office/powerpoint/2010/main" val="422791394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79</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p:sp>
        <p:nvSpPr>
          <p:cNvPr id="3" name="文本框 2">
            <a:extLst>
              <a:ext uri="{FF2B5EF4-FFF2-40B4-BE49-F238E27FC236}">
                <a16:creationId xmlns:a16="http://schemas.microsoft.com/office/drawing/2014/main" id="{96B97EB8-671F-2DD6-D687-E431680C58CC}"/>
              </a:ext>
            </a:extLst>
          </p:cNvPr>
          <p:cNvSpPr txBox="1"/>
          <p:nvPr/>
        </p:nvSpPr>
        <p:spPr>
          <a:xfrm>
            <a:off x="162560" y="1245067"/>
            <a:ext cx="8675814" cy="2120902"/>
          </a:xfrm>
          <a:prstGeom prst="rect">
            <a:avLst/>
          </a:prstGeom>
          <a:noFill/>
        </p:spPr>
        <p:txBody>
          <a:bodyPr wrap="square">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登录以下网站（</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https://www.naftaliharris.com/blog/visualizing-dbscan-clustering/</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），自行选择数据集，设置参数，观察</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DBSCAN</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的聚类流程，找到核心点、噪声点和最终聚类得到的簇。</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 name="Rectangle 4">
            <a:extLst>
              <a:ext uri="{FF2B5EF4-FFF2-40B4-BE49-F238E27FC236}">
                <a16:creationId xmlns:a16="http://schemas.microsoft.com/office/drawing/2014/main" id="{51689749-C616-38E1-AE6E-D860D8593F51}"/>
              </a:ext>
            </a:extLst>
          </p:cNvPr>
          <p:cNvSpPr>
            <a:spLocks noChangeArrowheads="1"/>
          </p:cNvSpPr>
          <p:nvPr/>
        </p:nvSpPr>
        <p:spPr bwMode="auto">
          <a:xfrm>
            <a:off x="491647" y="382002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pic>
        <p:nvPicPr>
          <p:cNvPr id="7" name="图片 6">
            <a:extLst>
              <a:ext uri="{FF2B5EF4-FFF2-40B4-BE49-F238E27FC236}">
                <a16:creationId xmlns:a16="http://schemas.microsoft.com/office/drawing/2014/main" id="{C02053F5-2C75-9573-32E6-C8B586562069}"/>
              </a:ext>
            </a:extLst>
          </p:cNvPr>
          <p:cNvPicPr>
            <a:picLocks noChangeAspect="1"/>
          </p:cNvPicPr>
          <p:nvPr/>
        </p:nvPicPr>
        <p:blipFill>
          <a:blip r:embed="rId3"/>
          <a:stretch>
            <a:fillRect/>
          </a:stretch>
        </p:blipFill>
        <p:spPr>
          <a:xfrm>
            <a:off x="2424940" y="2813050"/>
            <a:ext cx="4294120" cy="3721099"/>
          </a:xfrm>
          <a:prstGeom prst="rect">
            <a:avLst/>
          </a:prstGeom>
        </p:spPr>
      </p:pic>
    </p:spTree>
    <p:extLst>
      <p:ext uri="{BB962C8B-B14F-4D97-AF65-F5344CB8AC3E}">
        <p14:creationId xmlns:p14="http://schemas.microsoft.com/office/powerpoint/2010/main" val="350523612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80</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4" name="文本框 3">
            <a:extLst>
              <a:ext uri="{FF2B5EF4-FFF2-40B4-BE49-F238E27FC236}">
                <a16:creationId xmlns:a16="http://schemas.microsoft.com/office/drawing/2014/main" id="{194C7B8E-BB6A-754C-CBBE-52BFCCF8D64B}"/>
              </a:ext>
            </a:extLst>
          </p:cNvPr>
          <p:cNvSpPr txBox="1"/>
          <p:nvPr/>
        </p:nvSpPr>
        <p:spPr>
          <a:xfrm>
            <a:off x="160890" y="1390864"/>
            <a:ext cx="8760860" cy="2536400"/>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利用</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DBSCAN</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算法，对无真实标签下的网格拥堵状态进行判别。选取“平均速度”和“平均停车次数”作为聚类特征，在</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50</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个样本的小数据集上进行聚类分析，来判断网格的拥堵状态。</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自行调整邻域参数，观察聚类结果变化情况</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p:pic>
        <p:nvPicPr>
          <p:cNvPr id="7" name="图片 6">
            <a:extLst>
              <a:ext uri="{FF2B5EF4-FFF2-40B4-BE49-F238E27FC236}">
                <a16:creationId xmlns:a16="http://schemas.microsoft.com/office/drawing/2014/main" id="{E5DC5ABF-BE45-B2E3-DFBA-72F7577FFFE0}"/>
              </a:ext>
            </a:extLst>
          </p:cNvPr>
          <p:cNvPicPr>
            <a:picLocks noChangeAspect="1"/>
          </p:cNvPicPr>
          <p:nvPr/>
        </p:nvPicPr>
        <p:blipFill>
          <a:blip r:embed="rId3"/>
          <a:stretch>
            <a:fillRect/>
          </a:stretch>
        </p:blipFill>
        <p:spPr>
          <a:xfrm>
            <a:off x="655453" y="3499339"/>
            <a:ext cx="7938344" cy="2305867"/>
          </a:xfrm>
          <a:prstGeom prst="rect">
            <a:avLst/>
          </a:prstGeom>
        </p:spPr>
      </p:pic>
      <p:sp>
        <p:nvSpPr>
          <p:cNvPr id="14" name="文本框 13">
            <a:extLst>
              <a:ext uri="{FF2B5EF4-FFF2-40B4-BE49-F238E27FC236}">
                <a16:creationId xmlns:a16="http://schemas.microsoft.com/office/drawing/2014/main" id="{A453E821-BE96-E6A0-11CC-698F7EF99376}"/>
              </a:ext>
            </a:extLst>
          </p:cNvPr>
          <p:cNvSpPr txBox="1"/>
          <p:nvPr/>
        </p:nvSpPr>
        <p:spPr>
          <a:xfrm>
            <a:off x="3997569" y="3022385"/>
            <a:ext cx="1695157"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表 数据示例</a:t>
            </a:r>
            <a:endParaRPr kumimoji="0" lang="zh-CN" altLang="en-US" sz="1800" b="0" i="0" u="none" strike="noStrike" kern="1200" cap="none" spc="0" normalizeH="0" baseline="0" noProof="0" dirty="0">
              <a:ln>
                <a:noFill/>
              </a:ln>
              <a:solidFill>
                <a:srgbClr val="000000"/>
              </a:solidFill>
              <a:effectLst/>
              <a:uLnTx/>
              <a:uFillTx/>
              <a:latin typeface="Arial"/>
              <a:ea typeface="宋体"/>
              <a:cs typeface="+mn-cs"/>
            </a:endParaRPr>
          </a:p>
        </p:txBody>
      </p:sp>
    </p:spTree>
    <p:extLst>
      <p:ext uri="{BB962C8B-B14F-4D97-AF65-F5344CB8AC3E}">
        <p14:creationId xmlns:p14="http://schemas.microsoft.com/office/powerpoint/2010/main" val="174246342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81</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p:sp>
        <p:nvSpPr>
          <p:cNvPr id="3" name="文本框 2">
            <a:extLst>
              <a:ext uri="{FF2B5EF4-FFF2-40B4-BE49-F238E27FC236}">
                <a16:creationId xmlns:a16="http://schemas.microsoft.com/office/drawing/2014/main" id="{96B97EB8-671F-2DD6-D687-E431680C58CC}"/>
              </a:ext>
            </a:extLst>
          </p:cNvPr>
          <p:cNvSpPr txBox="1"/>
          <p:nvPr/>
        </p:nvSpPr>
        <p:spPr>
          <a:xfrm>
            <a:off x="162560" y="1245067"/>
            <a:ext cx="8675814" cy="874407"/>
          </a:xfrm>
          <a:prstGeom prst="rect">
            <a:avLst/>
          </a:prstGeom>
          <a:noFill/>
        </p:spPr>
        <p:txBody>
          <a:bodyPr wrap="square">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数据预处理与模型训练代码如下，</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自行调整邻域参数，观察聚类结果变化情况</a:t>
            </a:r>
            <a:endPar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 name="Rectangle 4">
            <a:extLst>
              <a:ext uri="{FF2B5EF4-FFF2-40B4-BE49-F238E27FC236}">
                <a16:creationId xmlns:a16="http://schemas.microsoft.com/office/drawing/2014/main" id="{51689749-C616-38E1-AE6E-D860D8593F51}"/>
              </a:ext>
            </a:extLst>
          </p:cNvPr>
          <p:cNvSpPr>
            <a:spLocks noChangeArrowheads="1"/>
          </p:cNvSpPr>
          <p:nvPr/>
        </p:nvSpPr>
        <p:spPr bwMode="auto">
          <a:xfrm>
            <a:off x="491647" y="382002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pic>
        <p:nvPicPr>
          <p:cNvPr id="6" name="图片 5">
            <a:extLst>
              <a:ext uri="{FF2B5EF4-FFF2-40B4-BE49-F238E27FC236}">
                <a16:creationId xmlns:a16="http://schemas.microsoft.com/office/drawing/2014/main" id="{30298B1B-A7C6-E0D0-A06C-511DB0E68080}"/>
              </a:ext>
            </a:extLst>
          </p:cNvPr>
          <p:cNvPicPr>
            <a:picLocks noChangeAspect="1"/>
          </p:cNvPicPr>
          <p:nvPr/>
        </p:nvPicPr>
        <p:blipFill>
          <a:blip r:embed="rId3"/>
          <a:stretch>
            <a:fillRect/>
          </a:stretch>
        </p:blipFill>
        <p:spPr>
          <a:xfrm>
            <a:off x="269507" y="1872130"/>
            <a:ext cx="7809832" cy="4338796"/>
          </a:xfrm>
          <a:prstGeom prst="rect">
            <a:avLst/>
          </a:prstGeom>
        </p:spPr>
      </p:pic>
    </p:spTree>
    <p:extLst>
      <p:ext uri="{BB962C8B-B14F-4D97-AF65-F5344CB8AC3E}">
        <p14:creationId xmlns:p14="http://schemas.microsoft.com/office/powerpoint/2010/main" val="70253015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82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p:sp>
        <p:nvSpPr>
          <p:cNvPr id="3" name="文本框 2">
            <a:extLst>
              <a:ext uri="{FF2B5EF4-FFF2-40B4-BE49-F238E27FC236}">
                <a16:creationId xmlns:a16="http://schemas.microsoft.com/office/drawing/2014/main" id="{96B97EB8-671F-2DD6-D687-E431680C58CC}"/>
              </a:ext>
            </a:extLst>
          </p:cNvPr>
          <p:cNvSpPr txBox="1"/>
          <p:nvPr/>
        </p:nvSpPr>
        <p:spPr>
          <a:xfrm>
            <a:off x="162560" y="1245067"/>
            <a:ext cx="8675814" cy="458908"/>
          </a:xfrm>
          <a:prstGeom prst="rect">
            <a:avLst/>
          </a:prstGeom>
          <a:noFill/>
        </p:spPr>
        <p:txBody>
          <a:bodyPr wrap="square">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结果可视化</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 name="Rectangle 4">
            <a:extLst>
              <a:ext uri="{FF2B5EF4-FFF2-40B4-BE49-F238E27FC236}">
                <a16:creationId xmlns:a16="http://schemas.microsoft.com/office/drawing/2014/main" id="{51689749-C616-38E1-AE6E-D860D8593F51}"/>
              </a:ext>
            </a:extLst>
          </p:cNvPr>
          <p:cNvSpPr>
            <a:spLocks noChangeArrowheads="1"/>
          </p:cNvSpPr>
          <p:nvPr/>
        </p:nvSpPr>
        <p:spPr bwMode="auto">
          <a:xfrm>
            <a:off x="491647" y="382002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pic>
        <p:nvPicPr>
          <p:cNvPr id="4" name="图片 3">
            <a:extLst>
              <a:ext uri="{FF2B5EF4-FFF2-40B4-BE49-F238E27FC236}">
                <a16:creationId xmlns:a16="http://schemas.microsoft.com/office/drawing/2014/main" id="{01F17479-1D53-4311-CA1C-41E0DC9C7E4B}"/>
              </a:ext>
            </a:extLst>
          </p:cNvPr>
          <p:cNvPicPr>
            <a:picLocks noChangeAspect="1"/>
          </p:cNvPicPr>
          <p:nvPr/>
        </p:nvPicPr>
        <p:blipFill>
          <a:blip r:embed="rId3"/>
          <a:stretch>
            <a:fillRect/>
          </a:stretch>
        </p:blipFill>
        <p:spPr>
          <a:xfrm>
            <a:off x="1059701" y="1703975"/>
            <a:ext cx="6556365" cy="4882400"/>
          </a:xfrm>
          <a:prstGeom prst="rect">
            <a:avLst/>
          </a:prstGeom>
        </p:spPr>
      </p:pic>
    </p:spTree>
    <p:extLst>
      <p:ext uri="{BB962C8B-B14F-4D97-AF65-F5344CB8AC3E}">
        <p14:creationId xmlns:p14="http://schemas.microsoft.com/office/powerpoint/2010/main" val="282791537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83</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算法变体：</a:t>
            </a:r>
            <a:r>
              <a:rPr lang="en-US" altLang="zh-CN" sz="3200" dirty="0">
                <a:latin typeface="微软雅黑" panose="020B0503020204020204" pitchFamily="34" charset="-122"/>
                <a:ea typeface="微软雅黑" panose="020B0503020204020204" pitchFamily="34" charset="-122"/>
                <a:cs typeface="Times New Roman" panose="02020603050405020304" pitchFamily="18" charset="0"/>
              </a:rPr>
              <a:t>ST-DBSCAN</a:t>
            </a:r>
            <a:endParaRPr lang="zh-CN" altLang="en-US" sz="3200" dirty="0">
              <a:latin typeface="微软雅黑" panose="020B0503020204020204" pitchFamily="34" charset="-122"/>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96B97EB8-671F-2DD6-D687-E431680C58CC}"/>
                  </a:ext>
                </a:extLst>
              </p:cNvPr>
              <p:cNvSpPr txBox="1"/>
              <p:nvPr/>
            </p:nvSpPr>
            <p:spPr>
              <a:xfrm>
                <a:off x="162560" y="1245067"/>
                <a:ext cx="8675814" cy="4613892"/>
              </a:xfrm>
              <a:prstGeom prst="rect">
                <a:avLst/>
              </a:prstGeom>
              <a:noFill/>
            </p:spPr>
            <p:txBody>
              <a:bodyPr wrap="square">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DBSCAN</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算法也有很多变体，其中以</a:t>
                </a:r>
                <a:r>
                  <a:rPr lang="en-US" altLang="zh-CN"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Birant</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等首次提出的</a:t>
                </a:r>
                <a:r>
                  <a:rPr lang="en-US"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ST-DBSCAN</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最为著名，这一算法考虑了</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时空数据</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的聚类。时空数据，就是样本的特征还对应了时间和空间两个维度。空间信息通常由经度和纬度表示，时间信息通常由时间单元（</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time unit</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）表示。</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执行</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ST-DBSCAN</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算法需要定义四个参数：</a:t>
                </a:r>
                <a14:m>
                  <m:oMath xmlns:m="http://schemas.openxmlformats.org/officeDocument/2006/math">
                    <m:sSub>
                      <m:sSubPr>
                        <m:ctrlPr>
                          <a:rPr lang="en-US" altLang="zh-CN"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𝜀</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sub>
                    </m:sSub>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𝜀</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2</m:t>
                        </m:r>
                      </m:sub>
                    </m:sSub>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𝑀𝑖𝑛𝑃𝑡𝑠</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  ∆</m:t>
                    </m:r>
                    <m:r>
                      <a:rPr lang="zh-CN" altLang="en-US"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𝜀</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285750" lvl="0" indent="-285750" algn="just">
                  <a:lnSpc>
                    <a:spcPct val="150000"/>
                  </a:lnSpc>
                  <a:buFont typeface="Arial" panose="020B0604020202020204" pitchFamily="34" charset="0"/>
                  <a:buChar char="•"/>
                  <a:defRPr/>
                </a:pPr>
                <a:r>
                  <a:rPr lang="en-US" altLang="zh-CN" dirty="0">
                    <a:solidFill>
                      <a:srgbClr val="000000"/>
                    </a:solidFill>
                    <a:ea typeface="微软雅黑" panose="020B0503020204020204" pitchFamily="34" charset="-122"/>
                    <a:cs typeface="Times New Roman" panose="02020603050405020304" pitchFamily="18" charset="0"/>
                  </a:rPr>
                  <a:t> </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𝜀</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用于</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搜索</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空间维度上的近邻点；</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285750" lvl="0" indent="-285750" algn="just">
                  <a:lnSpc>
                    <a:spcPct val="150000"/>
                  </a:lnSpc>
                  <a:buFont typeface="Arial" panose="020B0604020202020204" pitchFamily="34" charset="0"/>
                  <a:buChar char="•"/>
                  <a:defRPr/>
                </a:pPr>
                <a:r>
                  <a:rPr lang="en-US" altLang="zh-CN" dirty="0">
                    <a:solidFill>
                      <a:srgbClr val="000000"/>
                    </a:solidFill>
                    <a:ea typeface="微软雅黑" panose="020B0503020204020204" pitchFamily="34" charset="-122"/>
                    <a:cs typeface="Times New Roman" panose="02020603050405020304" pitchFamily="18" charset="0"/>
                  </a:rPr>
                  <a:t> </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𝜀</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2</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用于</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搜索</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非空间维度上的近邻点；</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285750" lvl="0" indent="-285750" algn="just">
                  <a:lnSpc>
                    <a:spcPct val="150000"/>
                  </a:lnSpc>
                  <a:buFont typeface="Arial" panose="020B0604020202020204" pitchFamily="34" charset="0"/>
                  <a:buChar char="•"/>
                  <a:defRPr/>
                </a:pPr>
                <a:r>
                  <a:rPr lang="en-US" altLang="zh-CN" dirty="0">
                    <a:solidFill>
                      <a:srgbClr val="000000"/>
                    </a:solidFill>
                    <a:ea typeface="微软雅黑" panose="020B0503020204020204" pitchFamily="34" charset="-122"/>
                    <a:cs typeface="Times New Roman" panose="02020603050405020304" pitchFamily="18" charset="0"/>
                  </a:rPr>
                  <a:t> </a:t>
                </a:r>
                <a14:m>
                  <m:oMath xmlns:m="http://schemas.openxmlformats.org/officeDocument/2006/math">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𝑀𝑖𝑛𝑃𝑡𝑠</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为核心点邻域内最小包含点数；</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285750" lvl="0" indent="-285750" algn="just">
                  <a:lnSpc>
                    <a:spcPct val="150000"/>
                  </a:lnSpc>
                  <a:buFont typeface="Arial" panose="020B0604020202020204" pitchFamily="34" charset="0"/>
                  <a:buChar char="•"/>
                  <a:defRPr/>
                </a:pPr>
                <a:r>
                  <a:rPr lang="en-US" altLang="zh-CN" dirty="0">
                    <a:solidFill>
                      <a:srgbClr val="000000"/>
                    </a:solidFill>
                    <a:ea typeface="Cambria Math" panose="02040503050406030204" pitchFamily="18" charset="0"/>
                    <a:cs typeface="Times New Roman" panose="02020603050405020304" pitchFamily="18" charset="0"/>
                  </a:rPr>
                  <a:t> </a:t>
                </a:r>
                <a14:m>
                  <m:oMath xmlns:m="http://schemas.openxmlformats.org/officeDocument/2006/math">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zh-CN" altLang="en-US"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𝜀</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是寻找密度相连样本时用到的阈值；</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96B97EB8-671F-2DD6-D687-E431680C58CC}"/>
                  </a:ext>
                </a:extLst>
              </p:cNvPr>
              <p:cNvSpPr txBox="1">
                <a:spLocks noRot="1" noChangeAspect="1" noMove="1" noResize="1" noEditPoints="1" noAdjustHandles="1" noChangeArrowheads="1" noChangeShapeType="1" noTextEdit="1"/>
              </p:cNvSpPr>
              <p:nvPr/>
            </p:nvSpPr>
            <p:spPr>
              <a:xfrm>
                <a:off x="162560" y="1245067"/>
                <a:ext cx="8675814" cy="4613892"/>
              </a:xfrm>
              <a:prstGeom prst="rect">
                <a:avLst/>
              </a:prstGeom>
              <a:blipFill>
                <a:blip r:embed="rId3"/>
                <a:stretch>
                  <a:fillRect l="-632" r="-562"/>
                </a:stretch>
              </a:blipFill>
            </p:spPr>
            <p:txBody>
              <a:bodyPr/>
              <a:lstStyle/>
              <a:p>
                <a:r>
                  <a:rPr lang="zh-CN" altLang="en-US">
                    <a:noFill/>
                  </a:rPr>
                  <a:t> </a:t>
                </a:r>
              </a:p>
            </p:txBody>
          </p:sp>
        </mc:Fallback>
      </mc:AlternateContent>
      <p:sp>
        <p:nvSpPr>
          <p:cNvPr id="16" name="Rectangle 4">
            <a:extLst>
              <a:ext uri="{FF2B5EF4-FFF2-40B4-BE49-F238E27FC236}">
                <a16:creationId xmlns:a16="http://schemas.microsoft.com/office/drawing/2014/main" id="{51689749-C616-38E1-AE6E-D860D8593F51}"/>
              </a:ext>
            </a:extLst>
          </p:cNvPr>
          <p:cNvSpPr>
            <a:spLocks noChangeArrowheads="1"/>
          </p:cNvSpPr>
          <p:nvPr/>
        </p:nvSpPr>
        <p:spPr bwMode="auto">
          <a:xfrm>
            <a:off x="491647" y="382002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Tree>
    <p:extLst>
      <p:ext uri="{BB962C8B-B14F-4D97-AF65-F5344CB8AC3E}">
        <p14:creationId xmlns:p14="http://schemas.microsoft.com/office/powerpoint/2010/main" val="248973903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84</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算法变体：</a:t>
            </a:r>
            <a:r>
              <a:rPr lang="en-US" altLang="zh-CN" sz="3200" dirty="0">
                <a:latin typeface="微软雅黑" panose="020B0503020204020204" pitchFamily="34" charset="-122"/>
                <a:ea typeface="微软雅黑" panose="020B0503020204020204" pitchFamily="34" charset="-122"/>
                <a:cs typeface="Times New Roman" panose="02020603050405020304" pitchFamily="18" charset="0"/>
              </a:rPr>
              <a:t>ST-DBSCAN</a:t>
            </a:r>
            <a:endParaRPr lang="zh-CN" altLang="en-US" sz="3200" dirty="0">
              <a:latin typeface="微软雅黑" panose="020B0503020204020204" pitchFamily="34" charset="-122"/>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96B97EB8-671F-2DD6-D687-E431680C58CC}"/>
                  </a:ext>
                </a:extLst>
              </p:cNvPr>
              <p:cNvSpPr txBox="1"/>
              <p:nvPr/>
            </p:nvSpPr>
            <p:spPr>
              <a:xfrm>
                <a:off x="162560" y="1245067"/>
                <a:ext cx="8675814" cy="3077253"/>
              </a:xfrm>
              <a:prstGeom prst="rect">
                <a:avLst/>
              </a:prstGeom>
              <a:noFill/>
            </p:spPr>
            <p:txBody>
              <a:bodyPr wrap="square">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ST-DBSCAN</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相比于</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DBSCAN</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进行了两方面的改进：</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）在</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ST-DBSCAN</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中，点</a:t>
                </a:r>
                <a14:m>
                  <m:oMath xmlns:m="http://schemas.openxmlformats.org/officeDocument/2006/math">
                    <m:r>
                      <a:rPr kumimoji="0" lang="en-US" altLang="zh-CN" sz="1800" b="0" i="0"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 </m:t>
                    </m:r>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𝒙</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𝑗</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 </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由</a:t>
                </a:r>
                <a14:m>
                  <m:oMath xmlns:m="http://schemas.openxmlformats.org/officeDocument/2006/math">
                    <m:r>
                      <a:rPr kumimoji="0" lang="en-US" altLang="zh-CN" sz="1800" b="0" i="0"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 </m:t>
                    </m:r>
                    <m:sSub>
                      <m:sSubPr>
                        <m:ctrlP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1"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𝒙</m:t>
                        </m:r>
                      </m:e>
                      <m:sub>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 </m:t>
                    </m:r>
                  </m:oMath>
                </a14:m>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密度直达</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需要满足以下条件：</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285750" marR="0" lvl="0" indent="-285750" algn="just" defTabSz="457200" rtl="0" eaLnBrk="1" fontAlgn="auto" latinLnBrk="0" hangingPunct="1">
                  <a:lnSpc>
                    <a:spcPct val="150000"/>
                  </a:lnSpc>
                  <a:spcBef>
                    <a:spcPts val="0"/>
                  </a:spcBef>
                  <a:spcAft>
                    <a:spcPts val="0"/>
                  </a:spcAft>
                  <a:buClrTx/>
                  <a:buSzTx/>
                  <a:buFont typeface="Wingdings" panose="05000000000000000000" pitchFamily="2" charset="2"/>
                  <a:buChar char="Ø"/>
                  <a:tabLst/>
                  <a:defRPr/>
                </a:pPr>
                <a14:m>
                  <m:oMath xmlns:m="http://schemas.openxmlformats.org/officeDocument/2006/math">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𝒙</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r>
                      <a:rPr lang="zh-CN" altLang="en-US"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是</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核心点</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lvl="0" indent="-285750" algn="just">
                  <a:lnSpc>
                    <a:spcPct val="150000"/>
                  </a:lnSpc>
                  <a:buFont typeface="Wingdings" panose="05000000000000000000" pitchFamily="2" charset="2"/>
                  <a:buChar char="Ø"/>
                  <a:defRPr/>
                </a:pPr>
                <a:r>
                  <a:rPr kumimoji="0" lang="en-US" altLang="zh-CN" sz="1800" b="0" u="none" strike="noStrike" kern="120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rPr>
                  <a:t> </a:t>
                </a: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𝒙</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𝑗</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 </m:t>
                    </m:r>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与</m:t>
                    </m:r>
                    <m:r>
                      <a:rPr kumimoji="0" lang="en-US" altLang="zh-CN" sz="1800" b="0" i="0"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 </m:t>
                    </m:r>
                    <m:sSub>
                      <m:sSubPr>
                        <m:ctrlP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1"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𝒙</m:t>
                        </m:r>
                      </m:e>
                      <m:sub>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𝑖</m:t>
                        </m:r>
                      </m:sub>
                    </m:sSub>
                  </m:oMath>
                </a14:m>
                <a:r>
                  <a:rPr kumimoji="0" lang="zh-CN" altLang="en-US" sz="180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空间距离小于</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𝜀</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sub>
                    </m:sSub>
                  </m:oMath>
                </a14:m>
                <a:endParaRPr kumimoji="0" lang="en-US" altLang="zh-CN" sz="180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285750" lvl="0" indent="-285750" algn="just">
                  <a:lnSpc>
                    <a:spcPct val="150000"/>
                  </a:lnSpc>
                  <a:buFont typeface="Wingdings" panose="05000000000000000000" pitchFamily="2" charset="2"/>
                  <a:buChar char="Ø"/>
                  <a:defRPr/>
                </a:pPr>
                <a:r>
                  <a:rPr kumimoji="0" lang="en-US" altLang="zh-CN" sz="1800" b="0" u="none" strike="noStrike" kern="120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rPr>
                  <a:t> </a:t>
                </a: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1" i="0"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𝐱</m:t>
                        </m:r>
                      </m:e>
                      <m:sub>
                        <m:r>
                          <m:rPr>
                            <m:sty m:val="p"/>
                          </m:rPr>
                          <a:rPr kumimoji="0" lang="en-US" altLang="zh-CN" sz="1800" b="0" i="0"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j</m:t>
                        </m:r>
                      </m:sub>
                    </m:sSub>
                    <m:r>
                      <a:rPr kumimoji="0" lang="en-US" altLang="zh-CN" sz="1800" b="0" i="0"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 </m:t>
                    </m:r>
                    <m:r>
                      <a:rPr lang="zh-CN" altLang="en-US" i="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与</m:t>
                    </m:r>
                    <m:r>
                      <a:rPr kumimoji="0" lang="en-US" altLang="zh-CN" sz="1800" b="0" i="0"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 </m:t>
                    </m:r>
                    <m:sSub>
                      <m:sSubPr>
                        <m:ctrlP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en-US" altLang="zh-CN" sz="1800" b="1" i="0"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𝐱</m:t>
                        </m:r>
                      </m:e>
                      <m:sub>
                        <m:r>
                          <m:rPr>
                            <m:sty m:val="p"/>
                          </m:rPr>
                          <a:rPr kumimoji="0" lang="en-US" altLang="zh-CN" sz="1800" b="0" i="0"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i</m:t>
                        </m:r>
                      </m:sub>
                    </m:sSub>
                  </m:oMath>
                </a14:m>
                <a:r>
                  <a:rPr kumimoji="0" lang="zh-CN" altLang="en-US" sz="180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非空间距离小于</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m:rPr>
                            <m:sty m:val="p"/>
                          </m:rPr>
                          <a:rPr lang="zh-CN" altLang="en-US" i="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ε</m:t>
                        </m:r>
                      </m:e>
                      <m:sub>
                        <m:r>
                          <a:rPr lang="en-US" altLang="zh-CN" b="0" i="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2</m:t>
                        </m:r>
                      </m:sub>
                    </m:sSub>
                  </m:oMath>
                </a14:m>
                <a:endParaRPr kumimoji="0" lang="en-US" altLang="zh-CN" sz="180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285750" lvl="0" indent="-285750" algn="just">
                  <a:lnSpc>
                    <a:spcPct val="150000"/>
                  </a:lnSpc>
                  <a:buFont typeface="Wingdings" panose="05000000000000000000" pitchFamily="2" charset="2"/>
                  <a:buChar char="Ø"/>
                  <a:defRPr/>
                </a:pPr>
                <a:r>
                  <a:rPr kumimoji="0" lang="zh-CN" altLang="en-US" sz="180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两个样本在相邻的时间单元中被观察到（如一年内的相邻两天）</a:t>
                </a:r>
                <a:endParaRPr kumimoji="0" lang="en-US" altLang="zh-CN" sz="180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defRPr/>
                </a:pPr>
                <a:endParaRPr kumimoji="0" lang="en-US" altLang="zh-CN" sz="180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96B97EB8-671F-2DD6-D687-E431680C58CC}"/>
                  </a:ext>
                </a:extLst>
              </p:cNvPr>
              <p:cNvSpPr txBox="1">
                <a:spLocks noRot="1" noChangeAspect="1" noMove="1" noResize="1" noEditPoints="1" noAdjustHandles="1" noChangeArrowheads="1" noChangeShapeType="1" noTextEdit="1"/>
              </p:cNvSpPr>
              <p:nvPr/>
            </p:nvSpPr>
            <p:spPr>
              <a:xfrm>
                <a:off x="162560" y="1245067"/>
                <a:ext cx="8675814" cy="3077253"/>
              </a:xfrm>
              <a:prstGeom prst="rect">
                <a:avLst/>
              </a:prstGeom>
              <a:blipFill>
                <a:blip r:embed="rId3"/>
                <a:stretch>
                  <a:fillRect l="-632"/>
                </a:stretch>
              </a:blipFill>
            </p:spPr>
            <p:txBody>
              <a:bodyPr/>
              <a:lstStyle/>
              <a:p>
                <a:r>
                  <a:rPr lang="zh-CN" altLang="en-US">
                    <a:noFill/>
                  </a:rPr>
                  <a:t> </a:t>
                </a:r>
              </a:p>
            </p:txBody>
          </p:sp>
        </mc:Fallback>
      </mc:AlternateContent>
      <p:sp>
        <p:nvSpPr>
          <p:cNvPr id="16" name="Rectangle 4">
            <a:extLst>
              <a:ext uri="{FF2B5EF4-FFF2-40B4-BE49-F238E27FC236}">
                <a16:creationId xmlns:a16="http://schemas.microsoft.com/office/drawing/2014/main" id="{51689749-C616-38E1-AE6E-D860D8593F51}"/>
              </a:ext>
            </a:extLst>
          </p:cNvPr>
          <p:cNvSpPr>
            <a:spLocks noChangeArrowheads="1"/>
          </p:cNvSpPr>
          <p:nvPr/>
        </p:nvSpPr>
        <p:spPr bwMode="auto">
          <a:xfrm>
            <a:off x="491647" y="382002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Tree>
    <p:extLst>
      <p:ext uri="{BB962C8B-B14F-4D97-AF65-F5344CB8AC3E}">
        <p14:creationId xmlns:p14="http://schemas.microsoft.com/office/powerpoint/2010/main" val="189550221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4/25/2025</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85</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Rectangle 8">
            <a:extLst>
              <a:ext uri="{FF2B5EF4-FFF2-40B4-BE49-F238E27FC236}">
                <a16:creationId xmlns:a16="http://schemas.microsoft.com/office/drawing/2014/main" id="{7D31EAC8-7BAE-0C80-B9E4-214788BE53A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8" name="Rectangle 11">
            <a:extLst>
              <a:ext uri="{FF2B5EF4-FFF2-40B4-BE49-F238E27FC236}">
                <a16:creationId xmlns:a16="http://schemas.microsoft.com/office/drawing/2014/main" id="{98555126-6975-FA98-6DA4-5122D1E1A93F}"/>
              </a:ext>
            </a:extLst>
          </p:cNvPr>
          <p:cNvSpPr>
            <a:spLocks noChangeArrowheads="1"/>
          </p:cNvSpPr>
          <p:nvPr/>
        </p:nvSpPr>
        <p:spPr bwMode="auto">
          <a:xfrm>
            <a:off x="0" y="1085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 b="0" i="0" u="none" strike="noStrike" kern="1200" cap="none" spc="0" normalizeH="0" baseline="0" noProof="0">
                <a:ln>
                  <a:noFill/>
                </a:ln>
                <a:solidFill>
                  <a:srgbClr val="000000"/>
                </a:solidFill>
                <a:effectLst/>
                <a:uLnTx/>
                <a:uFillTx/>
                <a:latin typeface="Arial"/>
                <a:ea typeface="宋体"/>
                <a:cs typeface="+mn-cs"/>
              </a:rPr>
              <a:t> </a:t>
            </a:r>
            <a:endPar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5" name="标题 1">
            <a:extLst>
              <a:ext uri="{FF2B5EF4-FFF2-40B4-BE49-F238E27FC236}">
                <a16:creationId xmlns:a16="http://schemas.microsoft.com/office/drawing/2014/main" id="{6BE4DE02-C831-84AE-DCB2-D6CA0C84E9DB}"/>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算法变体：</a:t>
            </a:r>
            <a:r>
              <a:rPr lang="en-US" altLang="zh-CN" sz="3200" dirty="0">
                <a:latin typeface="微软雅黑" panose="020B0503020204020204" pitchFamily="34" charset="-122"/>
                <a:ea typeface="微软雅黑" panose="020B0503020204020204" pitchFamily="34" charset="-122"/>
                <a:cs typeface="Times New Roman" panose="02020603050405020304" pitchFamily="18" charset="0"/>
              </a:rPr>
              <a:t>ST-DBSCAN</a:t>
            </a:r>
            <a:endParaRPr lang="zh-CN" altLang="en-US" sz="3200" dirty="0">
              <a:latin typeface="微软雅黑" panose="020B0503020204020204" pitchFamily="34" charset="-122"/>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96B97EB8-671F-2DD6-D687-E431680C58CC}"/>
                  </a:ext>
                </a:extLst>
              </p:cNvPr>
              <p:cNvSpPr txBox="1"/>
              <p:nvPr/>
            </p:nvSpPr>
            <p:spPr>
              <a:xfrm>
                <a:off x="162560" y="1245067"/>
                <a:ext cx="8675814" cy="1705403"/>
              </a:xfrm>
              <a:prstGeom prst="rect">
                <a:avLst/>
              </a:prstGeom>
              <a:noFill/>
            </p:spPr>
            <p:txBody>
              <a:bodyPr wrap="square">
                <a:spAutoFit/>
              </a:bodyPr>
              <a:lstStyle/>
              <a:p>
                <a:pPr lvl="0" algn="just">
                  <a:lnSpc>
                    <a:spcPct val="150000"/>
                  </a:lnSpc>
                  <a:defRPr/>
                </a:pPr>
                <a:r>
                  <a:rPr kumimoji="0" lang="zh-CN" altLang="en-US" sz="180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a:t>
                </a:r>
                <a:r>
                  <a:rPr kumimoji="0" lang="zh-CN" altLang="en-US" sz="180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ST-DBSCAN</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利</a:t>
                </a:r>
                <a:r>
                  <a:rPr kumimoji="0" lang="zh-CN" altLang="en-US" sz="180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用</a:t>
                </a:r>
                <a14:m>
                  <m:oMath xmlns:m="http://schemas.openxmlformats.org/officeDocument/2006/math">
                    <m:r>
                      <a:rPr lang="en-US" altLang="zh-CN"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zh-CN" altLang="en-US"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𝜀</m:t>
                    </m:r>
                  </m:oMath>
                </a14:m>
                <a:r>
                  <a:rPr kumimoji="0" lang="zh-CN" altLang="en-US" sz="1800" b="1"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对聚类</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边界进行限制</a:t>
                </a:r>
                <a:endParaRPr lang="en-US"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为了避免簇的边界对于相邻点的位置过于敏感，对于某核心点的密度可达点</a:t>
                </a:r>
                <a14:m>
                  <m:oMath xmlns:m="http://schemas.openxmlformats.org/officeDocument/2006/math">
                    <m:sSub>
                      <m:sSubPr>
                        <m:ctrlP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𝒙</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oMath>
                </a14:m>
                <a:r>
                  <a:rPr kumimoji="0" lang="en-US" altLang="zh-CN" sz="180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80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仅当</a:t>
                </a:r>
                <a14:m>
                  <m:oMath xmlns:m="http://schemas.openxmlformats.org/officeDocument/2006/math">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𝑑𝑖𝑠𝑡</m:t>
                    </m:r>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dPr>
                      <m:e>
                        <m:r>
                          <a:rPr kumimoji="0" lang="zh-CN" altLang="en-US"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𝝁</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rPr>
                      <m:t>&lt;</m:t>
                    </m:r>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zh-CN" altLang="en-US"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𝜀</m:t>
                    </m:r>
                  </m:oMath>
                </a14:m>
                <a:r>
                  <a:rPr kumimoji="0" lang="zh-CN" altLang="en-US" sz="180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时，</a:t>
                </a:r>
                <a:r>
                  <a:rPr lang="en-US" altLang="zh-CN" dirty="0">
                    <a:solidFill>
                      <a:srgbClr val="000000"/>
                    </a:solidFill>
                    <a:ea typeface="微软雅黑" panose="020B0503020204020204" pitchFamily="34" charset="-122"/>
                    <a:cs typeface="Times New Roman" panose="02020603050405020304" pitchFamily="18" charset="0"/>
                  </a:rPr>
                  <a:t> </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oMath>
                </a14:m>
                <a:r>
                  <a:rPr kumimoji="0" lang="zh-CN" altLang="en-US" sz="180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才归入该核心点所在的簇。这里</a:t>
                </a:r>
                <a14:m>
                  <m:oMath xmlns:m="http://schemas.openxmlformats.org/officeDocument/2006/math">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𝝁</m:t>
                    </m:r>
                  </m:oMath>
                </a14:m>
                <a:r>
                  <a:rPr kumimoji="0" lang="zh-CN" altLang="en-US" sz="180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为该簇所有点特征的均值</a:t>
                </a:r>
                <a:endParaRPr kumimoji="0" lang="en-US" altLang="zh-CN" sz="180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150000"/>
                  </a:lnSpc>
                  <a:defRPr/>
                </a:pPr>
                <a:endParaRPr kumimoji="0" lang="en-US" altLang="zh-CN" sz="180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96B97EB8-671F-2DD6-D687-E431680C58CC}"/>
                  </a:ext>
                </a:extLst>
              </p:cNvPr>
              <p:cNvSpPr txBox="1">
                <a:spLocks noRot="1" noChangeAspect="1" noMove="1" noResize="1" noEditPoints="1" noAdjustHandles="1" noChangeArrowheads="1" noChangeShapeType="1" noTextEdit="1"/>
              </p:cNvSpPr>
              <p:nvPr/>
            </p:nvSpPr>
            <p:spPr>
              <a:xfrm>
                <a:off x="162560" y="1245067"/>
                <a:ext cx="8675814" cy="1705403"/>
              </a:xfrm>
              <a:prstGeom prst="rect">
                <a:avLst/>
              </a:prstGeom>
              <a:blipFill>
                <a:blip r:embed="rId3"/>
                <a:stretch>
                  <a:fillRect l="-632" r="-562"/>
                </a:stretch>
              </a:blipFill>
            </p:spPr>
            <p:txBody>
              <a:bodyPr/>
              <a:lstStyle/>
              <a:p>
                <a:r>
                  <a:rPr lang="zh-CN" altLang="en-US">
                    <a:noFill/>
                  </a:rPr>
                  <a:t> </a:t>
                </a:r>
              </a:p>
            </p:txBody>
          </p:sp>
        </mc:Fallback>
      </mc:AlternateContent>
      <p:sp>
        <p:nvSpPr>
          <p:cNvPr id="16" name="Rectangle 4">
            <a:extLst>
              <a:ext uri="{FF2B5EF4-FFF2-40B4-BE49-F238E27FC236}">
                <a16:creationId xmlns:a16="http://schemas.microsoft.com/office/drawing/2014/main" id="{51689749-C616-38E1-AE6E-D860D8593F51}"/>
              </a:ext>
            </a:extLst>
          </p:cNvPr>
          <p:cNvSpPr>
            <a:spLocks noChangeArrowheads="1"/>
          </p:cNvSpPr>
          <p:nvPr/>
        </p:nvSpPr>
        <p:spPr bwMode="auto">
          <a:xfrm>
            <a:off x="491647" y="382002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4" name="文本框 3">
            <a:extLst>
              <a:ext uri="{FF2B5EF4-FFF2-40B4-BE49-F238E27FC236}">
                <a16:creationId xmlns:a16="http://schemas.microsoft.com/office/drawing/2014/main" id="{7B92854E-5652-B3CA-7499-E357CC4FBBBF}"/>
              </a:ext>
            </a:extLst>
          </p:cNvPr>
          <p:cNvSpPr txBox="1"/>
          <p:nvPr/>
        </p:nvSpPr>
        <p:spPr>
          <a:xfrm>
            <a:off x="0" y="5943964"/>
            <a:ext cx="8915679" cy="369332"/>
          </a:xfrm>
          <a:prstGeom prst="rect">
            <a:avLst/>
          </a:prstGeom>
          <a:noFill/>
        </p:spPr>
        <p:txBody>
          <a:bodyPr wrap="square" rtlCol="0">
            <a:spAutoFit/>
          </a:bodyPr>
          <a:lstStyle/>
          <a:p>
            <a:pPr algn="ctr"/>
            <a:r>
              <a:rPr lang="zh-CN" altLang="en-US" b="1" dirty="0">
                <a:solidFill>
                  <a:srgbClr val="C00000"/>
                </a:solidFill>
                <a:latin typeface="微软雅黑" panose="020B0503020204020204" pitchFamily="34" charset="-122"/>
                <a:ea typeface="微软雅黑" panose="020B0503020204020204" pitchFamily="34" charset="-122"/>
              </a:rPr>
              <a:t>在实际应用中，</a:t>
            </a:r>
            <a:r>
              <a:rPr lang="en-US" altLang="zh-CN" b="1" dirty="0">
                <a:solidFill>
                  <a:srgbClr val="C00000"/>
                </a:solidFill>
                <a:latin typeface="微软雅黑" panose="020B0503020204020204" pitchFamily="34" charset="-122"/>
                <a:ea typeface="微软雅黑" panose="020B0503020204020204" pitchFamily="34" charset="-122"/>
              </a:rPr>
              <a:t>ST-DBSCAN</a:t>
            </a:r>
            <a:r>
              <a:rPr lang="zh-CN" altLang="en-US" b="1" dirty="0">
                <a:solidFill>
                  <a:srgbClr val="C00000"/>
                </a:solidFill>
                <a:latin typeface="微软雅黑" panose="020B0503020204020204" pitchFamily="34" charset="-122"/>
                <a:ea typeface="微软雅黑" panose="020B0503020204020204" pitchFamily="34" charset="-122"/>
              </a:rPr>
              <a:t>对于空间和时间特征的处理方式也可以用于其他数据特征</a:t>
            </a:r>
          </a:p>
        </p:txBody>
      </p:sp>
      <p:pic>
        <p:nvPicPr>
          <p:cNvPr id="6" name="图片 5">
            <a:extLst>
              <a:ext uri="{FF2B5EF4-FFF2-40B4-BE49-F238E27FC236}">
                <a16:creationId xmlns:a16="http://schemas.microsoft.com/office/drawing/2014/main" id="{3F1F5AE2-4F8C-EC60-0B77-A458BBFA29A3}"/>
              </a:ext>
            </a:extLst>
          </p:cNvPr>
          <p:cNvPicPr>
            <a:picLocks noChangeAspect="1"/>
          </p:cNvPicPr>
          <p:nvPr/>
        </p:nvPicPr>
        <p:blipFill>
          <a:blip r:embed="rId4"/>
          <a:stretch>
            <a:fillRect/>
          </a:stretch>
        </p:blipFill>
        <p:spPr>
          <a:xfrm>
            <a:off x="305625" y="2529631"/>
            <a:ext cx="8391371" cy="3427185"/>
          </a:xfrm>
          <a:prstGeom prst="rect">
            <a:avLst/>
          </a:prstGeom>
        </p:spPr>
      </p:pic>
      <p:sp>
        <p:nvSpPr>
          <p:cNvPr id="145" name="文本框 144">
            <a:extLst>
              <a:ext uri="{FF2B5EF4-FFF2-40B4-BE49-F238E27FC236}">
                <a16:creationId xmlns:a16="http://schemas.microsoft.com/office/drawing/2014/main" id="{D4474D6F-F2CF-8BBF-5FA4-D26A2F4B913C}"/>
              </a:ext>
            </a:extLst>
          </p:cNvPr>
          <p:cNvSpPr txBox="1"/>
          <p:nvPr/>
        </p:nvSpPr>
        <p:spPr>
          <a:xfrm rot="20049940">
            <a:off x="2124888" y="2200946"/>
            <a:ext cx="4587038" cy="584775"/>
          </a:xfrm>
          <a:prstGeom prst="rect">
            <a:avLst/>
          </a:prstGeom>
          <a:noFill/>
        </p:spPr>
        <p:txBody>
          <a:bodyPr wrap="square">
            <a:spAutoFit/>
          </a:bodyPr>
          <a:lstStyle/>
          <a:p>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对于聚类</a:t>
            </a:r>
            <a:endPar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边界限制</a:t>
            </a:r>
            <a:endParaRPr lang="zh-CN" altLang="en-US" sz="1600" dirty="0"/>
          </a:p>
        </p:txBody>
      </p:sp>
      <p:sp>
        <p:nvSpPr>
          <p:cNvPr id="146" name="文本框 145">
            <a:extLst>
              <a:ext uri="{FF2B5EF4-FFF2-40B4-BE49-F238E27FC236}">
                <a16:creationId xmlns:a16="http://schemas.microsoft.com/office/drawing/2014/main" id="{DFC72DC7-903F-4459-B971-A6F256613918}"/>
              </a:ext>
            </a:extLst>
          </p:cNvPr>
          <p:cNvSpPr txBox="1"/>
          <p:nvPr/>
        </p:nvSpPr>
        <p:spPr>
          <a:xfrm rot="1023353">
            <a:off x="2496925" y="4618827"/>
            <a:ext cx="4587038" cy="584775"/>
          </a:xfrm>
          <a:prstGeom prst="rect">
            <a:avLst/>
          </a:prstGeom>
          <a:noFill/>
        </p:spPr>
        <p:txBody>
          <a:bodyPr wrap="square">
            <a:spAutoFit/>
          </a:bodyPr>
          <a:lstStyle/>
          <a:p>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不对聚类</a:t>
            </a:r>
            <a:endPar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边界限制</a:t>
            </a:r>
            <a:endParaRPr lang="zh-CN" altLang="en-US" sz="1600" dirty="0"/>
          </a:p>
        </p:txBody>
      </p:sp>
    </p:spTree>
    <p:extLst>
      <p:ext uri="{BB962C8B-B14F-4D97-AF65-F5344CB8AC3E}">
        <p14:creationId xmlns:p14="http://schemas.microsoft.com/office/powerpoint/2010/main" val="1341064648"/>
      </p:ext>
    </p:extLst>
  </p:cSld>
  <p:clrMapOvr>
    <a:masterClrMapping/>
  </p:clrMapOvr>
</p:sld>
</file>

<file path=ppt/theme/theme1.xml><?xml version="1.0" encoding="utf-8"?>
<a:theme xmlns:a="http://schemas.openxmlformats.org/drawingml/2006/main" name="Clarity">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CAEACE"/>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35500</TotalTime>
  <Words>8226</Words>
  <Application>Microsoft Office PowerPoint</Application>
  <PresentationFormat>全屏显示(4:3)</PresentationFormat>
  <Paragraphs>1162</Paragraphs>
  <Slides>85</Slides>
  <Notes>80</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3</vt:i4>
      </vt:variant>
      <vt:variant>
        <vt:lpstr>幻灯片标题</vt:lpstr>
      </vt:variant>
      <vt:variant>
        <vt:i4>85</vt:i4>
      </vt:variant>
    </vt:vector>
  </HeadingPairs>
  <TitlesOfParts>
    <vt:vector size="98" baseType="lpstr">
      <vt:lpstr>-apple-system</vt:lpstr>
      <vt:lpstr>Arial (Headings)</vt:lpstr>
      <vt:lpstr>等线</vt:lpstr>
      <vt:lpstr>宋体</vt:lpstr>
      <vt:lpstr>微软雅黑</vt:lpstr>
      <vt:lpstr>Arial</vt:lpstr>
      <vt:lpstr>Cambria Math</vt:lpstr>
      <vt:lpstr>Times New Roman</vt:lpstr>
      <vt:lpstr>Wingdings</vt:lpstr>
      <vt:lpstr>Clarity</vt:lpstr>
      <vt:lpstr>Equation</vt:lpstr>
      <vt:lpstr>MathType 7.0 Equation</vt:lpstr>
      <vt:lpstr>Visio</vt:lpstr>
      <vt:lpstr>PowerPoint 演示文稿</vt:lpstr>
      <vt:lpstr>PowerPoint 演示文稿</vt:lpstr>
      <vt:lpstr>PowerPoint 演示文稿</vt:lpstr>
      <vt:lpstr>PowerPoint 演示文稿</vt:lpstr>
      <vt:lpstr>聚类分析</vt:lpstr>
      <vt:lpstr>聚类分析</vt:lpstr>
      <vt:lpstr>1 聚类分析的一般建模流程</vt:lpstr>
      <vt:lpstr>聚类分析的建模原理</vt:lpstr>
      <vt:lpstr>聚类分析的建模原理</vt:lpstr>
      <vt:lpstr>聚类分析的建模原理</vt:lpstr>
      <vt:lpstr>聚类分析算法的性能度量</vt:lpstr>
      <vt:lpstr>聚类分析算法的性能度量</vt:lpstr>
      <vt:lpstr>聚类分析算法的性能度量</vt:lpstr>
      <vt:lpstr>聚类分析算法的性能度量</vt:lpstr>
      <vt:lpstr>聚类分析算法的性能度量</vt:lpstr>
      <vt:lpstr>聚类分析算法的性能度量</vt:lpstr>
      <vt:lpstr>聚类分析算法的性能度量</vt:lpstr>
      <vt:lpstr>聚类分析算法的性能度量</vt:lpstr>
      <vt:lpstr>聚类分析算法的性能度量</vt:lpstr>
      <vt:lpstr>2 K-均值聚类（K-means clustering）</vt:lpstr>
      <vt:lpstr>目标函数与算法流程</vt:lpstr>
      <vt:lpstr>目标函数与算法流程</vt:lpstr>
      <vt:lpstr>目标函数与算法流程</vt:lpstr>
      <vt:lpstr>算法变体：K-Medoids（K-中心点）</vt:lpstr>
      <vt:lpstr>算法变体：K-Medoids</vt:lpstr>
      <vt:lpstr>试一试</vt:lpstr>
      <vt:lpstr>试一试</vt:lpstr>
      <vt:lpstr>试一试</vt:lpstr>
      <vt:lpstr>试一试</vt:lpstr>
      <vt:lpstr>3 高斯混合聚类</vt:lpstr>
      <vt:lpstr>基本概念</vt:lpstr>
      <vt:lpstr>基本概念</vt:lpstr>
      <vt:lpstr>基本概念</vt:lpstr>
      <vt:lpstr>基本概念</vt:lpstr>
      <vt:lpstr>基本概念</vt:lpstr>
      <vt:lpstr>关键参数推导（阅读内容）</vt:lpstr>
      <vt:lpstr>关键参数推导（阅读内容）</vt:lpstr>
      <vt:lpstr>关键参数推导（阅读内容）</vt:lpstr>
      <vt:lpstr>关键参数推导（阅读内容）</vt:lpstr>
      <vt:lpstr>关键参数推导（阅读内容）</vt:lpstr>
      <vt:lpstr>关键参数推导（阅读内容）</vt:lpstr>
      <vt:lpstr>关键参数推导</vt:lpstr>
      <vt:lpstr>EM算法</vt:lpstr>
      <vt:lpstr>EM算法</vt:lpstr>
      <vt:lpstr>EM算法</vt:lpstr>
      <vt:lpstr>EM算法</vt:lpstr>
      <vt:lpstr>EM算法</vt:lpstr>
      <vt:lpstr>EM算法</vt:lpstr>
      <vt:lpstr>EM算法</vt:lpstr>
      <vt:lpstr>EM算法</vt:lpstr>
      <vt:lpstr>EM算法</vt:lpstr>
      <vt:lpstr>高斯混合聚类</vt:lpstr>
      <vt:lpstr>高斯混合聚类</vt:lpstr>
      <vt:lpstr>高斯混合聚类</vt:lpstr>
      <vt:lpstr>试一试</vt:lpstr>
      <vt:lpstr>试一试</vt:lpstr>
      <vt:lpstr>试一试</vt:lpstr>
      <vt:lpstr>PowerPoint 演示文稿</vt:lpstr>
      <vt:lpstr>4 层次聚类算法</vt:lpstr>
      <vt:lpstr>算法基本思想</vt:lpstr>
      <vt:lpstr>算法基本思想</vt:lpstr>
      <vt:lpstr>算法基本思想</vt:lpstr>
      <vt:lpstr>算法基本思想</vt:lpstr>
      <vt:lpstr>算法基本思想</vt:lpstr>
      <vt:lpstr>算法基本思想</vt:lpstr>
      <vt:lpstr>算法基本思想</vt:lpstr>
      <vt:lpstr>算法过程</vt:lpstr>
      <vt:lpstr>试一试</vt:lpstr>
      <vt:lpstr>试一试</vt:lpstr>
      <vt:lpstr>试一试</vt:lpstr>
      <vt:lpstr>5 基于密度的DBSCAN聚类方法</vt:lpstr>
      <vt:lpstr>PowerPoint 演示文稿</vt:lpstr>
      <vt:lpstr>基本概念</vt:lpstr>
      <vt:lpstr>基本概念</vt:lpstr>
      <vt:lpstr>基本概念</vt:lpstr>
      <vt:lpstr>算法过程</vt:lpstr>
      <vt:lpstr>算法过程</vt:lpstr>
      <vt:lpstr>算法过程</vt:lpstr>
      <vt:lpstr>试一试</vt:lpstr>
      <vt:lpstr>试一试</vt:lpstr>
      <vt:lpstr>试一试</vt:lpstr>
      <vt:lpstr>试一试</vt:lpstr>
      <vt:lpstr>算法变体：ST-DBSCAN</vt:lpstr>
      <vt:lpstr>算法变体：ST-DBSCAN</vt:lpstr>
      <vt:lpstr>算法变体：ST-DBSCAN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Di Huang</dc:creator>
  <cp:lastModifiedBy>刘志远</cp:lastModifiedBy>
  <cp:revision>755</cp:revision>
  <dcterms:created xsi:type="dcterms:W3CDTF">2016-02-16T07:55:59Z</dcterms:created>
  <dcterms:modified xsi:type="dcterms:W3CDTF">2025-04-25T06:30:27Z</dcterms:modified>
</cp:coreProperties>
</file>