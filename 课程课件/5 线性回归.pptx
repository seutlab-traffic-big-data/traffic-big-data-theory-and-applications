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98" r:id="rId2"/>
    <p:sldId id="361" r:id="rId3"/>
    <p:sldId id="362" r:id="rId4"/>
    <p:sldId id="363" r:id="rId5"/>
    <p:sldId id="364" r:id="rId6"/>
    <p:sldId id="365" r:id="rId7"/>
    <p:sldId id="370" r:id="rId8"/>
    <p:sldId id="371" r:id="rId9"/>
    <p:sldId id="372" r:id="rId10"/>
    <p:sldId id="373" r:id="rId11"/>
    <p:sldId id="374" r:id="rId12"/>
    <p:sldId id="375" r:id="rId13"/>
    <p:sldId id="376" r:id="rId14"/>
    <p:sldId id="377" r:id="rId15"/>
    <p:sldId id="378" r:id="rId16"/>
    <p:sldId id="383" r:id="rId17"/>
    <p:sldId id="384" r:id="rId18"/>
    <p:sldId id="385" r:id="rId19"/>
    <p:sldId id="386" r:id="rId20"/>
    <p:sldId id="387" r:id="rId21"/>
    <p:sldId id="388" r:id="rId22"/>
    <p:sldId id="389" r:id="rId23"/>
    <p:sldId id="390" r:id="rId24"/>
    <p:sldId id="425" r:id="rId25"/>
    <p:sldId id="426" r:id="rId26"/>
    <p:sldId id="427" r:id="rId27"/>
    <p:sldId id="428" r:id="rId28"/>
    <p:sldId id="429" r:id="rId29"/>
    <p:sldId id="430" r:id="rId30"/>
    <p:sldId id="431" r:id="rId31"/>
    <p:sldId id="432" r:id="rId32"/>
    <p:sldId id="422" r:id="rId33"/>
    <p:sldId id="423" r:id="rId34"/>
    <p:sldId id="424"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4" autoAdjust="0"/>
    <p:restoredTop sz="94672" autoAdjust="0"/>
  </p:normalViewPr>
  <p:slideViewPr>
    <p:cSldViewPr snapToGrid="0">
      <p:cViewPr varScale="1">
        <p:scale>
          <a:sx n="82" d="100"/>
          <a:sy n="82" d="100"/>
        </p:scale>
        <p:origin x="528" y="56"/>
      </p:cViewPr>
      <p:guideLst>
        <p:guide orient="horz" pos="2160"/>
        <p:guide pos="2880"/>
      </p:guideLst>
    </p:cSldViewPr>
  </p:slideViewPr>
  <p:outlineViewPr>
    <p:cViewPr>
      <p:scale>
        <a:sx n="33" d="100"/>
        <a:sy n="33" d="100"/>
      </p:scale>
      <p:origin x="0" y="109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A3875B-5461-4E88-BAB9-4D73D3881FC5}" type="datetimeFigureOut">
              <a:rPr lang="zh-CN" altLang="en-US" smtClean="0"/>
              <a:t>2023/3/20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5AC041-8114-4A48-8C7E-42A4F3F9974D}" type="slidenum">
              <a:rPr lang="zh-CN" altLang="en-US" smtClean="0"/>
              <a:t>‹#›</a:t>
            </a:fld>
            <a:endParaRPr lang="zh-CN" altLang="en-US"/>
          </a:p>
        </p:txBody>
      </p:sp>
    </p:spTree>
    <p:extLst>
      <p:ext uri="{BB962C8B-B14F-4D97-AF65-F5344CB8AC3E}">
        <p14:creationId xmlns:p14="http://schemas.microsoft.com/office/powerpoint/2010/main" val="1946376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5AC041-8114-4A48-8C7E-42A4F3F9974D}"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4256974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0108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矩形 6"/>
          <p:cNvSpPr/>
          <p:nvPr userDrawn="1"/>
        </p:nvSpPr>
        <p:spPr>
          <a:xfrm>
            <a:off x="183087" y="325157"/>
            <a:ext cx="93847" cy="46037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8" name="矩形 7"/>
          <p:cNvSpPr/>
          <p:nvPr userDrawn="1"/>
        </p:nvSpPr>
        <p:spPr>
          <a:xfrm>
            <a:off x="9832" y="6743524"/>
            <a:ext cx="9144000" cy="11911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spTree>
    <p:extLst>
      <p:ext uri="{BB962C8B-B14F-4D97-AF65-F5344CB8AC3E}">
        <p14:creationId xmlns:p14="http://schemas.microsoft.com/office/powerpoint/2010/main" val="4074614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37574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62126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95687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62312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6570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2493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98723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17758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30399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BB6BE-69A9-4DCC-9CBF-D770C886B290}" type="datetimeFigureOut">
              <a:rPr lang="zh-CN" altLang="en-US" smtClean="0">
                <a:solidFill>
                  <a:prstClr val="black">
                    <a:tint val="75000"/>
                  </a:prstClr>
                </a:solidFill>
              </a:rPr>
              <a:pPr/>
              <a:t>2023/3/20</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217E49-4A81-4299-BC2A-F1C5AFD91497}"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矩形 6"/>
          <p:cNvSpPr/>
          <p:nvPr userDrawn="1"/>
        </p:nvSpPr>
        <p:spPr>
          <a:xfrm>
            <a:off x="183087" y="325157"/>
            <a:ext cx="93847" cy="46037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8" name="矩形 7"/>
          <p:cNvSpPr/>
          <p:nvPr userDrawn="1"/>
        </p:nvSpPr>
        <p:spPr>
          <a:xfrm>
            <a:off x="9832" y="6743524"/>
            <a:ext cx="9144000" cy="11911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spTree>
    <p:extLst>
      <p:ext uri="{BB962C8B-B14F-4D97-AF65-F5344CB8AC3E}">
        <p14:creationId xmlns:p14="http://schemas.microsoft.com/office/powerpoint/2010/main" val="28663462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wmf"/><Relationship Id="rId5" Type="http://schemas.openxmlformats.org/officeDocument/2006/relationships/oleObject" Target="../embeddings/oleObject1.bin"/><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 Id="rId9"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wmf"/></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jpeg"/></Relationships>
</file>

<file path=ppt/slides/_rels/slide20.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png"/><Relationship Id="rId9" Type="http://schemas.openxmlformats.org/officeDocument/2006/relationships/image" Target="../media/image42.jpe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10" name="标题 1"/>
          <p:cNvSpPr>
            <a:spLocks noGrp="1"/>
          </p:cNvSpPr>
          <p:nvPr>
            <p:ph type="ctrTitle"/>
          </p:nvPr>
        </p:nvSpPr>
        <p:spPr>
          <a:xfrm>
            <a:off x="0" y="2260061"/>
            <a:ext cx="9144000" cy="1965670"/>
          </a:xfrm>
        </p:spPr>
        <p:txBody>
          <a:bodyPr>
            <a:normAutofit/>
          </a:bodyPr>
          <a:lstStyle/>
          <a:p>
            <a:r>
              <a:rPr lang="zh-CN" altLang="en-US" sz="4950" b="1" dirty="0" smtClean="0">
                <a:solidFill>
                  <a:srgbClr val="000000"/>
                </a:solidFill>
                <a:latin typeface="微软雅黑" panose="020B0503020204020204" pitchFamily="34" charset="-122"/>
                <a:ea typeface="微软雅黑" panose="020B0503020204020204" pitchFamily="34" charset="-122"/>
              </a:rPr>
              <a:t>第</a:t>
            </a:r>
            <a:r>
              <a:rPr lang="zh-CN" altLang="en-US" sz="4950" b="1" dirty="0">
                <a:solidFill>
                  <a:srgbClr val="000000"/>
                </a:solidFill>
                <a:latin typeface="微软雅黑" panose="020B0503020204020204" pitchFamily="34" charset="-122"/>
                <a:ea typeface="微软雅黑" panose="020B0503020204020204" pitchFamily="34" charset="-122"/>
              </a:rPr>
              <a:t>二</a:t>
            </a:r>
            <a:r>
              <a:rPr lang="zh-CN" altLang="en-US" sz="4950" b="1" dirty="0" smtClean="0">
                <a:solidFill>
                  <a:srgbClr val="000000"/>
                </a:solidFill>
                <a:latin typeface="微软雅黑" panose="020B0503020204020204" pitchFamily="34" charset="-122"/>
                <a:ea typeface="微软雅黑" panose="020B0503020204020204" pitchFamily="34" charset="-122"/>
              </a:rPr>
              <a:t>章 线性回归</a:t>
            </a:r>
            <a:r>
              <a:rPr lang="en-US" altLang="zh-CN" sz="4950" b="1" dirty="0">
                <a:solidFill>
                  <a:srgbClr val="000000"/>
                </a:solidFill>
                <a:latin typeface="微软雅黑" panose="020B0503020204020204" pitchFamily="34" charset="-122"/>
                <a:ea typeface="微软雅黑" panose="020B0503020204020204" pitchFamily="34" charset="-122"/>
              </a:rPr>
              <a:t/>
            </a:r>
            <a:br>
              <a:rPr lang="en-US" altLang="zh-CN" sz="4950" b="1" dirty="0">
                <a:solidFill>
                  <a:srgbClr val="000000"/>
                </a:solidFill>
                <a:latin typeface="微软雅黑" panose="020B0503020204020204" pitchFamily="34" charset="-122"/>
                <a:ea typeface="微软雅黑" panose="020B0503020204020204" pitchFamily="34" charset="-122"/>
              </a:rPr>
            </a:br>
            <a:endParaRPr lang="zh-CN" altLang="en-US" sz="3975"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435084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Linear Regression model</a:t>
            </a:r>
            <a:endParaRPr lang="zh-CN" altLang="en-US" sz="3600" b="1" smtClean="0">
              <a:cs typeface="Times New Roman" pitchFamily="18" charset="0"/>
            </a:endParaRPr>
          </a:p>
        </p:txBody>
      </p:sp>
      <p:pic>
        <p:nvPicPr>
          <p:cNvPr id="23555" name="Picture 1" descr="C:\Users\cheng\AppData\Roaming\Tencent\Users\394197411\QQ\WinTemp\RichOle\X5%_)OPRWYYGGA~{S51V70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76400"/>
            <a:ext cx="2667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2" descr="C:\Users\cheng\AppData\Roaming\Tencent\Users\394197411\QQ\WinTemp\RichOle\_Q)79F_24V6CWQX5ITFH`UK.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611313"/>
            <a:ext cx="2667000"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3557" name="对象 1"/>
          <p:cNvGraphicFramePr>
            <a:graphicFrameLocks noChangeAspect="1"/>
          </p:cNvGraphicFramePr>
          <p:nvPr/>
        </p:nvGraphicFramePr>
        <p:xfrm>
          <a:off x="777875" y="5410200"/>
          <a:ext cx="2328863" cy="395288"/>
        </p:xfrm>
        <a:graphic>
          <a:graphicData uri="http://schemas.openxmlformats.org/presentationml/2006/ole">
            <mc:AlternateContent xmlns:mc="http://schemas.openxmlformats.org/markup-compatibility/2006">
              <mc:Choice xmlns:v="urn:schemas-microsoft-com:vml" Requires="v">
                <p:oleObj spid="_x0000_s25605" name="Equation" r:id="rId5" imgW="1193800" imgH="203200" progId="Equation.DSMT4">
                  <p:embed/>
                </p:oleObj>
              </mc:Choice>
              <mc:Fallback>
                <p:oleObj name="Equation" r:id="rId5" imgW="1193800" imgH="203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875" y="5410200"/>
                        <a:ext cx="23288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890669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Linear Regression model</a:t>
            </a:r>
            <a:endParaRPr lang="zh-CN" altLang="en-US" sz="3600" b="1" smtClean="0">
              <a:cs typeface="Times New Roman" pitchFamily="18" charset="0"/>
            </a:endParaRPr>
          </a:p>
        </p:txBody>
      </p:sp>
      <p:sp>
        <p:nvSpPr>
          <p:cNvPr id="24579" name="Text Box 3"/>
          <p:cNvSpPr txBox="1">
            <a:spLocks noChangeArrowheads="1"/>
          </p:cNvSpPr>
          <p:nvPr/>
        </p:nvSpPr>
        <p:spPr bwMode="auto">
          <a:xfrm>
            <a:off x="136525" y="1600200"/>
            <a:ext cx="8931275" cy="493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40000"/>
              </a:spcBef>
              <a:buClrTx/>
              <a:buSzTx/>
              <a:buFontTx/>
              <a:buChar char="•"/>
            </a:pPr>
            <a:r>
              <a:rPr lang="en-US" altLang="zh-CN" sz="1800">
                <a:solidFill>
                  <a:srgbClr val="000000"/>
                </a:solidFill>
                <a:latin typeface="Times New Roman" pitchFamily="18" charset="0"/>
                <a:cs typeface="Times New Roman" pitchFamily="18" charset="0"/>
              </a:rPr>
              <a:t>If a regression model has only two unknown parameters, then it is a binary regression model </a:t>
            </a:r>
          </a:p>
          <a:p>
            <a:pPr eaLnBrk="1" hangingPunct="1">
              <a:spcBef>
                <a:spcPct val="40000"/>
              </a:spcBef>
              <a:buClrTx/>
              <a:buSzTx/>
              <a:buFontTx/>
              <a:buChar char="•"/>
            </a:pPr>
            <a:r>
              <a:rPr lang="en-US" altLang="zh-CN" sz="1800">
                <a:solidFill>
                  <a:srgbClr val="000000"/>
                </a:solidFill>
                <a:latin typeface="Times New Roman" pitchFamily="18" charset="0"/>
                <a:cs typeface="Times New Roman" pitchFamily="18" charset="0"/>
              </a:rPr>
              <a:t>If there are more than two parameters, then it is a multiple regression model </a:t>
            </a:r>
          </a:p>
          <a:p>
            <a:pPr eaLnBrk="1" hangingPunct="1">
              <a:spcBef>
                <a:spcPct val="40000"/>
              </a:spcBef>
              <a:buClrTx/>
              <a:buSzTx/>
              <a:buFontTx/>
              <a:buChar char="•"/>
            </a:pPr>
            <a:endParaRPr lang="en-US" altLang="zh-CN" sz="1800">
              <a:solidFill>
                <a:srgbClr val="000000"/>
              </a:solidFill>
              <a:latin typeface="Times New Roman" pitchFamily="18" charset="0"/>
              <a:cs typeface="Times New Roman" pitchFamily="18" charset="0"/>
            </a:endParaRPr>
          </a:p>
          <a:p>
            <a:pPr eaLnBrk="1" hangingPunct="1">
              <a:spcBef>
                <a:spcPct val="40000"/>
              </a:spcBef>
              <a:buClrTx/>
              <a:buSzTx/>
              <a:buFontTx/>
              <a:buNone/>
            </a:pPr>
            <a:r>
              <a:rPr lang="en-US" altLang="zh-CN" sz="2400">
                <a:solidFill>
                  <a:srgbClr val="000066"/>
                </a:solidFill>
                <a:latin typeface="Times New Roman" pitchFamily="18" charset="0"/>
                <a:cs typeface="Times New Roman" pitchFamily="18" charset="0"/>
              </a:rPr>
              <a:t>BINARY REGRESSION MODEL</a:t>
            </a:r>
            <a:r>
              <a:rPr lang="en-US" altLang="zh-CN" sz="1800">
                <a:solidFill>
                  <a:srgbClr val="000000"/>
                </a:solidFill>
                <a:latin typeface="Times New Roman" pitchFamily="18" charset="0"/>
                <a:cs typeface="Times New Roman" pitchFamily="18" charset="0"/>
              </a:rPr>
              <a:t> </a:t>
            </a: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A binary regression model takes the form: </a:t>
            </a: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y</a:t>
            </a:r>
            <a:r>
              <a:rPr lang="en-US" altLang="zh-CN" sz="1800" i="1" baseline="-25000">
                <a:solidFill>
                  <a:srgbClr val="000000"/>
                </a:solidFill>
                <a:latin typeface="Times New Roman" pitchFamily="18" charset="0"/>
                <a:cs typeface="Times New Roman" pitchFamily="18" charset="0"/>
              </a:rPr>
              <a:t>i</a:t>
            </a:r>
            <a:r>
              <a:rPr lang="en-US" altLang="zh-CN" sz="1800">
                <a:solidFill>
                  <a:srgbClr val="000000"/>
                </a:solidFill>
                <a:latin typeface="Times New Roman" pitchFamily="18" charset="0"/>
                <a:cs typeface="Times New Roman" pitchFamily="18" charset="0"/>
              </a:rPr>
              <a:t> = </a:t>
            </a:r>
            <a:r>
              <a:rPr lang="en-US" altLang="zh-CN" sz="1800">
                <a:solidFill>
                  <a:srgbClr val="000000"/>
                </a:solidFill>
                <a:latin typeface="Symbol" pitchFamily="18" charset="2"/>
                <a:cs typeface="Times New Roman" pitchFamily="18" charset="0"/>
              </a:rPr>
              <a:t>b</a:t>
            </a:r>
            <a:r>
              <a:rPr lang="en-US" altLang="zh-CN" sz="1800" baseline="-30000">
                <a:solidFill>
                  <a:srgbClr val="000000"/>
                </a:solidFill>
                <a:latin typeface="Times New Roman" pitchFamily="18" charset="0"/>
                <a:cs typeface="Times New Roman" pitchFamily="18" charset="0"/>
              </a:rPr>
              <a:t>o</a:t>
            </a:r>
            <a:r>
              <a:rPr lang="en-US" altLang="zh-CN" sz="1800">
                <a:solidFill>
                  <a:srgbClr val="000000"/>
                </a:solidFill>
                <a:latin typeface="Times New Roman" pitchFamily="18" charset="0"/>
                <a:cs typeface="Times New Roman" pitchFamily="18" charset="0"/>
              </a:rPr>
              <a:t> + </a:t>
            </a:r>
            <a:r>
              <a:rPr lang="en-US" altLang="zh-CN" sz="1800">
                <a:solidFill>
                  <a:srgbClr val="000000"/>
                </a:solidFill>
                <a:latin typeface="Symbol" pitchFamily="18" charset="2"/>
                <a:cs typeface="Times New Roman" pitchFamily="18" charset="0"/>
              </a:rPr>
              <a:t>b</a:t>
            </a:r>
            <a:r>
              <a:rPr lang="en-US" altLang="zh-CN" sz="1800" baseline="-30000">
                <a:solidFill>
                  <a:srgbClr val="000000"/>
                </a:solidFill>
                <a:latin typeface="Times New Roman" pitchFamily="18" charset="0"/>
                <a:cs typeface="Times New Roman" pitchFamily="18" charset="0"/>
              </a:rPr>
              <a:t>1</a:t>
            </a:r>
            <a:r>
              <a:rPr lang="en-US" altLang="zh-CN" sz="1800">
                <a:solidFill>
                  <a:srgbClr val="000000"/>
                </a:solidFill>
                <a:latin typeface="Times New Roman" pitchFamily="18" charset="0"/>
                <a:cs typeface="Times New Roman" pitchFamily="18" charset="0"/>
              </a:rPr>
              <a:t>x</a:t>
            </a:r>
            <a:r>
              <a:rPr lang="en-US" altLang="zh-CN" sz="1800" baseline="-25000">
                <a:solidFill>
                  <a:srgbClr val="000000"/>
                </a:solidFill>
                <a:latin typeface="Times New Roman" pitchFamily="18" charset="0"/>
                <a:cs typeface="Times New Roman" pitchFamily="18" charset="0"/>
              </a:rPr>
              <a:t>1</a:t>
            </a:r>
            <a:r>
              <a:rPr lang="en-US" altLang="zh-CN" sz="1800" i="1" baseline="-25000">
                <a:solidFill>
                  <a:srgbClr val="000000"/>
                </a:solidFill>
                <a:latin typeface="Times New Roman" pitchFamily="18" charset="0"/>
                <a:cs typeface="Times New Roman" pitchFamily="18" charset="0"/>
              </a:rPr>
              <a:t>i</a:t>
            </a:r>
            <a:r>
              <a:rPr lang="en-US" altLang="zh-CN" sz="1800">
                <a:solidFill>
                  <a:srgbClr val="000000"/>
                </a:solidFill>
                <a:latin typeface="Times New Roman" pitchFamily="18" charset="0"/>
                <a:cs typeface="Times New Roman" pitchFamily="18" charset="0"/>
              </a:rPr>
              <a:t> + </a:t>
            </a:r>
            <a:r>
              <a:rPr lang="en-US" altLang="zh-CN" sz="1800">
                <a:solidFill>
                  <a:srgbClr val="000000"/>
                </a:solidFill>
                <a:latin typeface="Symbol" pitchFamily="18" charset="2"/>
                <a:cs typeface="Times New Roman" pitchFamily="18" charset="0"/>
              </a:rPr>
              <a:t>e</a:t>
            </a:r>
            <a:r>
              <a:rPr lang="en-US" altLang="zh-CN" sz="1800" i="1" baseline="-25000">
                <a:solidFill>
                  <a:srgbClr val="000000"/>
                </a:solidFill>
                <a:latin typeface="Times New Roman" pitchFamily="18" charset="0"/>
                <a:cs typeface="Times New Roman" pitchFamily="18" charset="0"/>
              </a:rPr>
              <a:t>i</a:t>
            </a:r>
            <a:endParaRPr lang="en-US" altLang="zh-CN" sz="1800">
              <a:solidFill>
                <a:srgbClr val="000000"/>
              </a:solidFill>
              <a:latin typeface="Times New Roman" pitchFamily="18" charset="0"/>
              <a:cs typeface="Times New Roman" pitchFamily="18" charset="0"/>
            </a:endParaRP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where		y = dependent variable</a:t>
            </a: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x = one explanatory variable </a:t>
            </a: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a:t>
            </a:r>
            <a:r>
              <a:rPr lang="en-US" altLang="zh-CN" sz="1800">
                <a:solidFill>
                  <a:srgbClr val="000000"/>
                </a:solidFill>
                <a:latin typeface="Symbol" pitchFamily="18" charset="2"/>
                <a:cs typeface="Times New Roman" pitchFamily="18" charset="0"/>
              </a:rPr>
              <a:t>b</a:t>
            </a:r>
            <a:r>
              <a:rPr lang="en-US" altLang="zh-CN" sz="1800" baseline="-30000">
                <a:solidFill>
                  <a:srgbClr val="000000"/>
                </a:solidFill>
                <a:latin typeface="Times New Roman" pitchFamily="18" charset="0"/>
                <a:cs typeface="Times New Roman" pitchFamily="18" charset="0"/>
              </a:rPr>
              <a:t>o</a:t>
            </a:r>
            <a:r>
              <a:rPr lang="en-US" altLang="zh-CN" sz="1800">
                <a:solidFill>
                  <a:srgbClr val="000000"/>
                </a:solidFill>
                <a:latin typeface="Times New Roman" pitchFamily="18" charset="0"/>
                <a:cs typeface="Times New Roman" pitchFamily="18" charset="0"/>
              </a:rPr>
              <a:t> and </a:t>
            </a:r>
            <a:r>
              <a:rPr lang="en-US" altLang="zh-CN" sz="1800">
                <a:solidFill>
                  <a:srgbClr val="000000"/>
                </a:solidFill>
                <a:latin typeface="Symbol" pitchFamily="18" charset="2"/>
                <a:cs typeface="Times New Roman" pitchFamily="18" charset="0"/>
              </a:rPr>
              <a:t>b</a:t>
            </a:r>
            <a:r>
              <a:rPr lang="en-US" altLang="zh-CN" sz="1800" baseline="-30000">
                <a:solidFill>
                  <a:srgbClr val="000000"/>
                </a:solidFill>
                <a:latin typeface="Times New Roman" pitchFamily="18" charset="0"/>
                <a:cs typeface="Times New Roman" pitchFamily="18" charset="0"/>
              </a:rPr>
              <a:t>1</a:t>
            </a:r>
            <a:r>
              <a:rPr lang="en-US" altLang="zh-CN" sz="1800">
                <a:solidFill>
                  <a:srgbClr val="000000"/>
                </a:solidFill>
                <a:latin typeface="Times New Roman" pitchFamily="18" charset="0"/>
                <a:cs typeface="Times New Roman" pitchFamily="18" charset="0"/>
              </a:rPr>
              <a:t> = parameters to be estimated</a:t>
            </a: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a:t>
            </a:r>
            <a:r>
              <a:rPr lang="en-US" altLang="zh-CN" sz="1800">
                <a:solidFill>
                  <a:srgbClr val="000000"/>
                </a:solidFill>
                <a:latin typeface="Symbol" pitchFamily="18" charset="2"/>
                <a:cs typeface="Times New Roman" pitchFamily="18" charset="0"/>
              </a:rPr>
              <a:t>e</a:t>
            </a:r>
            <a:r>
              <a:rPr lang="en-US" altLang="zh-CN" sz="1800">
                <a:solidFill>
                  <a:srgbClr val="000000"/>
                </a:solidFill>
                <a:latin typeface="Times New Roman" pitchFamily="18" charset="0"/>
                <a:cs typeface="Times New Roman" pitchFamily="18" charset="0"/>
              </a:rPr>
              <a:t> = random error or disturbance</a:t>
            </a:r>
          </a:p>
          <a:p>
            <a:pPr eaLnBrk="1" hangingPunct="1">
              <a:spcBef>
                <a:spcPct val="40000"/>
              </a:spcBef>
              <a:buClrTx/>
              <a:buSzTx/>
              <a:buFontTx/>
              <a:buNone/>
            </a:pPr>
            <a:r>
              <a:rPr lang="en-US" altLang="zh-CN" sz="1800">
                <a:solidFill>
                  <a:srgbClr val="000000"/>
                </a:solidFill>
                <a:latin typeface="Times New Roman" pitchFamily="18" charset="0"/>
                <a:cs typeface="Times New Roman" pitchFamily="18" charset="0"/>
              </a:rPr>
              <a:t> 	In order to estimate parameters, specific assumptions regarding the probability distribution of </a:t>
            </a:r>
            <a:r>
              <a:rPr lang="en-US" altLang="zh-CN" sz="1800">
                <a:solidFill>
                  <a:srgbClr val="000000"/>
                </a:solidFill>
                <a:latin typeface="Symbol" pitchFamily="18" charset="2"/>
                <a:cs typeface="Times New Roman" pitchFamily="18" charset="0"/>
              </a:rPr>
              <a:t>e</a:t>
            </a:r>
            <a:r>
              <a:rPr lang="en-US" altLang="zh-CN" sz="1800">
                <a:solidFill>
                  <a:srgbClr val="000000"/>
                </a:solidFill>
                <a:latin typeface="Times New Roman" pitchFamily="18" charset="0"/>
                <a:cs typeface="Times New Roman" pitchFamily="18" charset="0"/>
              </a:rPr>
              <a:t> must be made.  These assumptions are very basic to any statistical regression analysis:</a:t>
            </a:r>
          </a:p>
        </p:txBody>
      </p:sp>
    </p:spTree>
    <p:extLst>
      <p:ext uri="{BB962C8B-B14F-4D97-AF65-F5344CB8AC3E}">
        <p14:creationId xmlns:p14="http://schemas.microsoft.com/office/powerpoint/2010/main" val="825169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612775" y="228600"/>
            <a:ext cx="8531225" cy="990600"/>
          </a:xfrm>
        </p:spPr>
        <p:txBody>
          <a:bodyPr/>
          <a:lstStyle/>
          <a:p>
            <a:pPr eaLnBrk="1" hangingPunct="1"/>
            <a:r>
              <a:rPr lang="en-US" altLang="zh-CN" sz="3600" b="1" smtClean="0">
                <a:solidFill>
                  <a:srgbClr val="FF0000"/>
                </a:solidFill>
                <a:latin typeface="Times New Roman" pitchFamily="18" charset="0"/>
                <a:cs typeface="Times New Roman" pitchFamily="18" charset="0"/>
              </a:rPr>
              <a:t>Assumptions </a:t>
            </a:r>
            <a:r>
              <a:rPr lang="en-US" altLang="zh-CN" sz="3600" b="1" smtClean="0">
                <a:latin typeface="Times New Roman" pitchFamily="18" charset="0"/>
                <a:cs typeface="Times New Roman" pitchFamily="18" charset="0"/>
              </a:rPr>
              <a:t>of Linear Regression models</a:t>
            </a:r>
            <a:endParaRPr lang="zh-CN" altLang="en-US" sz="3600" b="1" smtClean="0">
              <a:cs typeface="Times New Roman" pitchFamily="18" charset="0"/>
            </a:endParaRPr>
          </a:p>
        </p:txBody>
      </p:sp>
      <p:sp>
        <p:nvSpPr>
          <p:cNvPr id="8" name="Rectangle 2"/>
          <p:cNvSpPr txBox="1">
            <a:spLocks noChangeArrowheads="1"/>
          </p:cNvSpPr>
          <p:nvPr/>
        </p:nvSpPr>
        <p:spPr bwMode="auto">
          <a:xfrm>
            <a:off x="609600" y="1557338"/>
            <a:ext cx="8534400"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defRPr/>
            </a:pPr>
            <a:r>
              <a:rPr lang="en-US" altLang="zh-CN" sz="2400" b="1" dirty="0" smtClean="0">
                <a:solidFill>
                  <a:srgbClr val="FF0000"/>
                </a:solidFill>
                <a:latin typeface="Times New Roman" pitchFamily="18" charset="0"/>
                <a:cs typeface="Times New Roman" pitchFamily="18" charset="0"/>
              </a:rPr>
              <a:t>Assumptions 1: </a:t>
            </a:r>
          </a:p>
          <a:p>
            <a:pPr marL="0" indent="0" eaLnBrk="1" hangingPunct="1">
              <a:spcBef>
                <a:spcPts val="1200"/>
              </a:spcBef>
              <a:buFont typeface="Wingdings" pitchFamily="2" charset="2"/>
              <a:buNone/>
              <a:defRPr/>
            </a:pPr>
            <a:r>
              <a:rPr lang="en-US" altLang="zh-CN" sz="2400" dirty="0" smtClean="0">
                <a:solidFill>
                  <a:srgbClr val="FF0000"/>
                </a:solidFill>
                <a:latin typeface="Times New Roman" pitchFamily="18" charset="0"/>
                <a:cs typeface="Times New Roman" pitchFamily="18" charset="0"/>
              </a:rPr>
              <a:t>    Continuous</a:t>
            </a:r>
            <a:r>
              <a:rPr lang="en-US" altLang="zh-CN" sz="2400" dirty="0" smtClean="0">
                <a:latin typeface="Times New Roman" pitchFamily="18" charset="0"/>
                <a:cs typeface="Times New Roman" pitchFamily="18" charset="0"/>
              </a:rPr>
              <a:t> Dependent Variable Y</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Y -- Count variables: Poisson and negative binomial regression</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Y -- Nominal scale variables: Discrete outcome models</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Y -- Ordered scale variables: Ordered regression models</a:t>
            </a:r>
          </a:p>
          <a:p>
            <a:pPr eaLnBrk="1" hangingPunct="1">
              <a:buFontTx/>
              <a:buNone/>
              <a:defRPr/>
            </a:pPr>
            <a:endParaRPr lang="en-US" altLang="zh-CN" sz="2400" dirty="0" smtClean="0">
              <a:latin typeface="Times New Roman" pitchFamily="18" charset="0"/>
              <a:cs typeface="Times New Roman" pitchFamily="18" charset="0"/>
            </a:endParaRPr>
          </a:p>
        </p:txBody>
      </p:sp>
      <p:sp>
        <p:nvSpPr>
          <p:cNvPr id="24580" name="Rectangle 2"/>
          <p:cNvSpPr txBox="1">
            <a:spLocks noChangeArrowheads="1"/>
          </p:cNvSpPr>
          <p:nvPr/>
        </p:nvSpPr>
        <p:spPr bwMode="auto">
          <a:xfrm>
            <a:off x="625475" y="4267200"/>
            <a:ext cx="85185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b="1">
                <a:solidFill>
                  <a:srgbClr val="FF0000"/>
                </a:solidFill>
                <a:latin typeface="Times New Roman" pitchFamily="18" charset="0"/>
                <a:cs typeface="Times New Roman" pitchFamily="18" charset="0"/>
              </a:rPr>
              <a:t>Assumptions 2: </a:t>
            </a:r>
          </a:p>
          <a:p>
            <a:pPr eaLnBrk="1" hangingPunct="1">
              <a:buFontTx/>
              <a:buNone/>
            </a:pPr>
            <a:r>
              <a:rPr lang="en-US" altLang="zh-CN" sz="2400">
                <a:latin typeface="Times New Roman" pitchFamily="18" charset="0"/>
                <a:cs typeface="Times New Roman" pitchFamily="18" charset="0"/>
              </a:rPr>
              <a:t>    Linear-in-Parameters Relationship between Y and X</a:t>
            </a:r>
          </a:p>
          <a:p>
            <a:pPr eaLnBrk="1" hangingPunct="1">
              <a:buFont typeface="Wingdings" pitchFamily="2" charset="2"/>
              <a:buNone/>
            </a:pPr>
            <a:r>
              <a:rPr lang="en-US" altLang="zh-CN" sz="2400">
                <a:latin typeface="Times New Roman" pitchFamily="18" charset="0"/>
                <a:cs typeface="Times New Roman" pitchFamily="18" charset="0"/>
              </a:rPr>
              <a:t>		</a:t>
            </a:r>
            <a:r>
              <a:rPr lang="en-US" altLang="zh-CN" sz="2400">
                <a:solidFill>
                  <a:srgbClr val="000000"/>
                </a:solidFill>
                <a:latin typeface="Times New Roman" pitchFamily="18" charset="0"/>
                <a:cs typeface="Times New Roman" pitchFamily="18" charset="0"/>
              </a:rPr>
              <a:t>y</a:t>
            </a:r>
            <a:r>
              <a:rPr lang="en-US" altLang="zh-CN" sz="2400" i="1" baseline="-25000">
                <a:solidFill>
                  <a:srgbClr val="000000"/>
                </a:solidFill>
                <a:latin typeface="Times New Roman" pitchFamily="18" charset="0"/>
                <a:cs typeface="Times New Roman" pitchFamily="18" charset="0"/>
              </a:rPr>
              <a:t>i</a:t>
            </a:r>
            <a:r>
              <a:rPr lang="en-US" altLang="zh-CN" sz="2400">
                <a:solidFill>
                  <a:srgbClr val="000000"/>
                </a:solidFill>
                <a:cs typeface="Times New Roman" pitchFamily="18" charset="0"/>
              </a:rPr>
              <a:t>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0</a:t>
            </a:r>
            <a:r>
              <a:rPr lang="en-US" altLang="zh-CN" sz="2400">
                <a:solidFill>
                  <a:srgbClr val="000000"/>
                </a:solidFill>
                <a:cs typeface="Times New Roman" pitchFamily="18" charset="0"/>
              </a:rPr>
              <a:t>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1</a:t>
            </a:r>
            <a:r>
              <a:rPr lang="en-US" altLang="zh-CN" sz="2400">
                <a:solidFill>
                  <a:srgbClr val="000000"/>
                </a:solidFill>
                <a:latin typeface="Times New Roman" pitchFamily="18" charset="0"/>
                <a:cs typeface="Times New Roman" pitchFamily="18" charset="0"/>
              </a:rPr>
              <a:t>x</a:t>
            </a:r>
            <a:r>
              <a:rPr lang="en-US" altLang="zh-CN" sz="2400" baseline="-25000">
                <a:solidFill>
                  <a:srgbClr val="000000"/>
                </a:solidFill>
                <a:latin typeface="Times New Roman" pitchFamily="18" charset="0"/>
                <a:cs typeface="Times New Roman" pitchFamily="18" charset="0"/>
              </a:rPr>
              <a:t>1</a:t>
            </a:r>
            <a:r>
              <a:rPr lang="en-US" altLang="zh-CN" sz="2400" i="1" baseline="-25000">
                <a:solidFill>
                  <a:srgbClr val="000000"/>
                </a:solidFill>
                <a:latin typeface="Times New Roman" pitchFamily="18" charset="0"/>
                <a:cs typeface="Times New Roman" pitchFamily="18" charset="0"/>
              </a:rPr>
              <a:t>i</a:t>
            </a:r>
            <a:r>
              <a:rPr lang="en-US" altLang="zh-CN" sz="2400">
                <a:solidFill>
                  <a:srgbClr val="000000"/>
                </a:solidFill>
                <a:latin typeface="Times New Roman" pitchFamily="18" charset="0"/>
                <a:cs typeface="Times New Roman" pitchFamily="18" charset="0"/>
              </a:rPr>
              <a:t> </a:t>
            </a:r>
            <a:r>
              <a:rPr lang="en-US" altLang="zh-CN" sz="2400">
                <a:solidFill>
                  <a:srgbClr val="000000"/>
                </a:solidFill>
                <a:cs typeface="Times New Roman" pitchFamily="18" charset="0"/>
              </a:rPr>
              <a:t>+ </a:t>
            </a:r>
            <a:r>
              <a:rPr lang="en-US" altLang="zh-CN" sz="2400">
                <a:solidFill>
                  <a:srgbClr val="000000"/>
                </a:solidFill>
                <a:latin typeface="Symbol" pitchFamily="18" charset="2"/>
                <a:cs typeface="Times New Roman" pitchFamily="18" charset="0"/>
              </a:rPr>
              <a:t>e</a:t>
            </a:r>
            <a:r>
              <a:rPr lang="en-US" altLang="zh-CN" sz="2400" i="1" baseline="-25000">
                <a:solidFill>
                  <a:srgbClr val="000000"/>
                </a:solidFill>
                <a:latin typeface="Times New Roman" pitchFamily="18" charset="0"/>
                <a:cs typeface="Times New Roman" pitchFamily="18" charset="0"/>
              </a:rPr>
              <a:t>i</a:t>
            </a:r>
            <a:endParaRPr lang="en-US" altLang="zh-CN" sz="2400">
              <a:solidFill>
                <a:srgbClr val="000000"/>
              </a:solidFill>
              <a:latin typeface="Times New Roman" pitchFamily="18" charset="0"/>
              <a:cs typeface="Times New Roman" pitchFamily="18" charset="0"/>
            </a:endParaRPr>
          </a:p>
          <a:p>
            <a:pPr eaLnBrk="1" hangingPunct="1">
              <a:buFont typeface="Wingdings" pitchFamily="2" charset="2"/>
              <a:buNone/>
            </a:pPr>
            <a:endParaRPr lang="en-US" altLang="zh-CN" sz="2400">
              <a:latin typeface="Times New Roman" pitchFamily="18" charset="0"/>
              <a:cs typeface="Times New Roman" pitchFamily="18" charset="0"/>
            </a:endParaRPr>
          </a:p>
        </p:txBody>
      </p:sp>
      <p:pic>
        <p:nvPicPr>
          <p:cNvPr id="24581" name="Picture 8" descr="C:\Users\cheng\AppData\Roaming\Tencent\Users\394197411\QQ\WinTemp\RichOle\QDKT$]0R`FM`]MA]8290JNU.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791200"/>
            <a:ext cx="30956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4982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additive="base">
                                        <p:cTn id="13" dur="500" fill="hold"/>
                                        <p:tgtEl>
                                          <p:spTgt spid="24580"/>
                                        </p:tgtEl>
                                        <p:attrNameLst>
                                          <p:attrName>ppt_x</p:attrName>
                                        </p:attrNameLst>
                                      </p:cBhvr>
                                      <p:tavLst>
                                        <p:tav tm="0">
                                          <p:val>
                                            <p:strVal val="#ppt_x"/>
                                          </p:val>
                                        </p:tav>
                                        <p:tav tm="100000">
                                          <p:val>
                                            <p:strVal val="#ppt_x"/>
                                          </p:val>
                                        </p:tav>
                                      </p:tavLst>
                                    </p:anim>
                                    <p:anim calcmode="lin" valueType="num">
                                      <p:cBhvr additive="base">
                                        <p:cTn id="14" dur="500" fill="hold"/>
                                        <p:tgtEl>
                                          <p:spTgt spid="2458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4581"/>
                                        </p:tgtEl>
                                        <p:attrNameLst>
                                          <p:attrName>style.visibility</p:attrName>
                                        </p:attrNameLst>
                                      </p:cBhvr>
                                      <p:to>
                                        <p:strVal val="visible"/>
                                      </p:to>
                                    </p:set>
                                    <p:anim calcmode="lin" valueType="num">
                                      <p:cBhvr additive="base">
                                        <p:cTn id="17" dur="500" fill="hold"/>
                                        <p:tgtEl>
                                          <p:spTgt spid="24581"/>
                                        </p:tgtEl>
                                        <p:attrNameLst>
                                          <p:attrName>ppt_x</p:attrName>
                                        </p:attrNameLst>
                                      </p:cBhvr>
                                      <p:tavLst>
                                        <p:tav tm="0">
                                          <p:val>
                                            <p:strVal val="#ppt_x"/>
                                          </p:val>
                                        </p:tav>
                                        <p:tav tm="100000">
                                          <p:val>
                                            <p:strVal val="#ppt_x"/>
                                          </p:val>
                                        </p:tav>
                                      </p:tavLst>
                                    </p:anim>
                                    <p:anim calcmode="lin" valueType="num">
                                      <p:cBhvr additive="base">
                                        <p:cTn id="18" dur="500" fill="hold"/>
                                        <p:tgtEl>
                                          <p:spTgt spid="24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58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612775" y="228600"/>
            <a:ext cx="8531225" cy="990600"/>
          </a:xfrm>
        </p:spPr>
        <p:txBody>
          <a:bodyPr/>
          <a:lstStyle/>
          <a:p>
            <a:pPr eaLnBrk="1" hangingPunct="1"/>
            <a:r>
              <a:rPr lang="en-US" altLang="zh-CN" sz="3600" b="1" smtClean="0">
                <a:solidFill>
                  <a:srgbClr val="FF0000"/>
                </a:solidFill>
                <a:latin typeface="Times New Roman" pitchFamily="18" charset="0"/>
                <a:cs typeface="Times New Roman" pitchFamily="18" charset="0"/>
              </a:rPr>
              <a:t>Assumptions </a:t>
            </a:r>
            <a:r>
              <a:rPr lang="en-US" altLang="zh-CN" sz="3600" b="1" smtClean="0">
                <a:latin typeface="Times New Roman" pitchFamily="18" charset="0"/>
                <a:cs typeface="Times New Roman" pitchFamily="18" charset="0"/>
              </a:rPr>
              <a:t>of Linear Regression models</a:t>
            </a:r>
            <a:endParaRPr lang="zh-CN" altLang="en-US" sz="3600" b="1" smtClean="0">
              <a:cs typeface="Times New Roman" pitchFamily="18" charset="0"/>
            </a:endParaRPr>
          </a:p>
        </p:txBody>
      </p:sp>
      <p:sp>
        <p:nvSpPr>
          <p:cNvPr id="8" name="Rectangle 2"/>
          <p:cNvSpPr txBox="1">
            <a:spLocks noChangeArrowheads="1"/>
          </p:cNvSpPr>
          <p:nvPr/>
        </p:nvSpPr>
        <p:spPr bwMode="auto">
          <a:xfrm>
            <a:off x="609600" y="1557338"/>
            <a:ext cx="8534400" cy="370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defRPr/>
            </a:pPr>
            <a:r>
              <a:rPr lang="en-US" altLang="zh-CN" sz="2400" b="1" dirty="0" smtClean="0">
                <a:solidFill>
                  <a:srgbClr val="FF0000"/>
                </a:solidFill>
                <a:latin typeface="Times New Roman" pitchFamily="18" charset="0"/>
                <a:cs typeface="Times New Roman" pitchFamily="18" charset="0"/>
              </a:rPr>
              <a:t>Assumptions 3: </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Observations </a:t>
            </a:r>
            <a:r>
              <a:rPr lang="en-US" altLang="zh-CN" sz="2400" dirty="0" smtClean="0">
                <a:solidFill>
                  <a:srgbClr val="FF0000"/>
                </a:solidFill>
                <a:latin typeface="Times New Roman" pitchFamily="18" charset="0"/>
                <a:cs typeface="Times New Roman" pitchFamily="18" charset="0"/>
              </a:rPr>
              <a:t>Independently</a:t>
            </a:r>
            <a:r>
              <a:rPr lang="en-US" altLang="zh-CN" sz="2400" dirty="0" smtClean="0">
                <a:latin typeface="Times New Roman" pitchFamily="18" charset="0"/>
                <a:cs typeface="Times New Roman" pitchFamily="18" charset="0"/>
              </a:rPr>
              <a:t> and </a:t>
            </a:r>
            <a:r>
              <a:rPr lang="en-US" altLang="zh-CN" sz="2400" dirty="0" smtClean="0">
                <a:solidFill>
                  <a:srgbClr val="FF0000"/>
                </a:solidFill>
                <a:latin typeface="Times New Roman" pitchFamily="18" charset="0"/>
                <a:cs typeface="Times New Roman" pitchFamily="18" charset="0"/>
              </a:rPr>
              <a:t>Randomly</a:t>
            </a:r>
            <a:r>
              <a:rPr lang="en-US" altLang="zh-CN" sz="2400" dirty="0" smtClean="0">
                <a:latin typeface="Times New Roman" pitchFamily="18" charset="0"/>
                <a:cs typeface="Times New Roman" pitchFamily="18" charset="0"/>
              </a:rPr>
              <a:t> Sampled	</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a:t>
            </a:r>
            <a:r>
              <a:rPr lang="en-US" altLang="zh-CN" sz="2400" b="1" dirty="0" smtClean="0">
                <a:solidFill>
                  <a:srgbClr val="00B050"/>
                </a:solidFill>
                <a:latin typeface="Times New Roman" pitchFamily="18" charset="0"/>
                <a:cs typeface="Times New Roman" pitchFamily="18" charset="0"/>
              </a:rPr>
              <a:t>Independence</a:t>
            </a:r>
            <a:r>
              <a:rPr lang="en-US" altLang="zh-CN" sz="2400" dirty="0" smtClean="0">
                <a:latin typeface="Times New Roman" pitchFamily="18" charset="0"/>
                <a:cs typeface="Times New Roman" pitchFamily="18" charset="0"/>
              </a:rPr>
              <a:t> requires that the probability that an observation 	is selected is unaffected by other observations selected into the 	sample.</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Other sampling schemes such as stratified and cluster samples 	can be accommodated in the regression modeling framework 	with </a:t>
            </a:r>
            <a:r>
              <a:rPr lang="en-US" altLang="zh-CN" sz="2400" b="1" dirty="0" smtClean="0">
                <a:solidFill>
                  <a:srgbClr val="00B050"/>
                </a:solidFill>
                <a:latin typeface="Times New Roman" pitchFamily="18" charset="0"/>
                <a:cs typeface="Times New Roman" pitchFamily="18" charset="0"/>
              </a:rPr>
              <a:t>corrective measures</a:t>
            </a:r>
          </a:p>
        </p:txBody>
      </p:sp>
    </p:spTree>
    <p:extLst>
      <p:ext uri="{BB962C8B-B14F-4D97-AF65-F5344CB8AC3E}">
        <p14:creationId xmlns:p14="http://schemas.microsoft.com/office/powerpoint/2010/main" val="21376525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612775" y="228600"/>
            <a:ext cx="8531225" cy="990600"/>
          </a:xfrm>
        </p:spPr>
        <p:txBody>
          <a:bodyPr/>
          <a:lstStyle/>
          <a:p>
            <a:pPr eaLnBrk="1" hangingPunct="1"/>
            <a:r>
              <a:rPr lang="en-US" altLang="zh-CN" sz="3600" b="1" smtClean="0">
                <a:solidFill>
                  <a:srgbClr val="FF0000"/>
                </a:solidFill>
                <a:latin typeface="Times New Roman" pitchFamily="18" charset="0"/>
                <a:cs typeface="Times New Roman" pitchFamily="18" charset="0"/>
              </a:rPr>
              <a:t>Assumptions </a:t>
            </a:r>
            <a:r>
              <a:rPr lang="en-US" altLang="zh-CN" sz="3600" b="1" smtClean="0">
                <a:latin typeface="Times New Roman" pitchFamily="18" charset="0"/>
                <a:cs typeface="Times New Roman" pitchFamily="18" charset="0"/>
              </a:rPr>
              <a:t>of Linear Regression models</a:t>
            </a:r>
            <a:endParaRPr lang="zh-CN" altLang="en-US" sz="3600" b="1" smtClean="0">
              <a:cs typeface="Times New Roman" pitchFamily="18" charset="0"/>
            </a:endParaRPr>
          </a:p>
        </p:txBody>
      </p:sp>
      <p:sp>
        <p:nvSpPr>
          <p:cNvPr id="8" name="Rectangle 2"/>
          <p:cNvSpPr txBox="1">
            <a:spLocks noChangeArrowheads="1"/>
          </p:cNvSpPr>
          <p:nvPr/>
        </p:nvSpPr>
        <p:spPr bwMode="auto">
          <a:xfrm>
            <a:off x="609600" y="1557338"/>
            <a:ext cx="8534400" cy="370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defRPr/>
            </a:pPr>
            <a:r>
              <a:rPr lang="en-US" altLang="zh-CN" sz="2400" b="1" dirty="0" smtClean="0">
                <a:solidFill>
                  <a:srgbClr val="FF0000"/>
                </a:solidFill>
                <a:latin typeface="Times New Roman" pitchFamily="18" charset="0"/>
                <a:cs typeface="Times New Roman" pitchFamily="18" charset="0"/>
              </a:rPr>
              <a:t>Assumptions 4: </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a:t>
            </a:r>
            <a:r>
              <a:rPr lang="en-US" altLang="zh-CN" sz="2400" dirty="0" smtClean="0">
                <a:solidFill>
                  <a:srgbClr val="FF0000"/>
                </a:solidFill>
                <a:latin typeface="Times New Roman" pitchFamily="18" charset="0"/>
                <a:cs typeface="Times New Roman" pitchFamily="18" charset="0"/>
              </a:rPr>
              <a:t>Uncertain</a:t>
            </a:r>
            <a:r>
              <a:rPr lang="en-US" altLang="zh-CN" sz="2400" dirty="0" smtClean="0">
                <a:latin typeface="Times New Roman" pitchFamily="18" charset="0"/>
                <a:cs typeface="Times New Roman" pitchFamily="18" charset="0"/>
              </a:rPr>
              <a:t> Relationship between Variables</a:t>
            </a:r>
          </a:p>
          <a:p>
            <a:pPr marL="0" indent="0" eaLnBrk="1" hangingPunct="1">
              <a:spcBef>
                <a:spcPts val="1200"/>
              </a:spcBef>
              <a:buFont typeface="Wingdings" pitchFamily="2" charset="2"/>
              <a:buNone/>
              <a:defRPr/>
            </a:pPr>
            <a:endParaRPr lang="en-US" altLang="zh-CN" sz="2400" dirty="0" smtClean="0">
              <a:latin typeface="Times New Roman" pitchFamily="18" charset="0"/>
              <a:cs typeface="Times New Roman" pitchFamily="18" charset="0"/>
            </a:endParaRP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Variables that were </a:t>
            </a:r>
            <a:r>
              <a:rPr lang="en-US" altLang="zh-CN" sz="2400" b="1" dirty="0" smtClean="0">
                <a:solidFill>
                  <a:srgbClr val="00B050"/>
                </a:solidFill>
                <a:latin typeface="Times New Roman" pitchFamily="18" charset="0"/>
                <a:cs typeface="Times New Roman" pitchFamily="18" charset="0"/>
              </a:rPr>
              <a:t>omitted</a:t>
            </a:r>
            <a:r>
              <a:rPr lang="en-US" altLang="zh-CN" sz="2400" dirty="0" smtClean="0">
                <a:latin typeface="Times New Roman" pitchFamily="18" charset="0"/>
                <a:cs typeface="Times New Roman" pitchFamily="18" charset="0"/>
              </a:rPr>
              <a:t> from the model</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a:t>
            </a:r>
            <a:r>
              <a:rPr lang="en-US" altLang="zh-CN" sz="2400" b="1" dirty="0" smtClean="0">
                <a:solidFill>
                  <a:srgbClr val="00B050"/>
                </a:solidFill>
                <a:latin typeface="Times New Roman" pitchFamily="18" charset="0"/>
                <a:cs typeface="Times New Roman" pitchFamily="18" charset="0"/>
              </a:rPr>
              <a:t>Measurement errors</a:t>
            </a:r>
            <a:r>
              <a:rPr lang="en-US" altLang="zh-CN" sz="2400" dirty="0" smtClean="0">
                <a:solidFill>
                  <a:srgbClr val="00B050"/>
                </a:solidFill>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in the dependent variable, or the 	imprecision in measuring Y.</a:t>
            </a:r>
          </a:p>
          <a:p>
            <a:pPr marL="0" indent="0" eaLnBrk="1" hangingPunct="1">
              <a:spcBef>
                <a:spcPts val="1200"/>
              </a:spcBef>
              <a:buFont typeface="Wingdings" pitchFamily="2" charset="2"/>
              <a:buNone/>
              <a:defRPr/>
            </a:pPr>
            <a:r>
              <a:rPr lang="en-US" altLang="zh-CN" sz="2400" dirty="0" smtClean="0">
                <a:latin typeface="Times New Roman" pitchFamily="18" charset="0"/>
                <a:cs typeface="Times New Roman" pitchFamily="18" charset="0"/>
              </a:rPr>
              <a:t>	</a:t>
            </a:r>
            <a:r>
              <a:rPr lang="en-US" altLang="zh-CN" sz="2400" b="1" dirty="0" smtClean="0">
                <a:solidFill>
                  <a:srgbClr val="00B050"/>
                </a:solidFill>
                <a:latin typeface="Times New Roman" pitchFamily="18" charset="0"/>
                <a:cs typeface="Times New Roman" pitchFamily="18" charset="0"/>
              </a:rPr>
              <a:t>Random variation</a:t>
            </a:r>
            <a:r>
              <a:rPr lang="en-US" altLang="zh-CN" sz="2400" dirty="0" smtClean="0">
                <a:latin typeface="Times New Roman" pitchFamily="18" charset="0"/>
                <a:cs typeface="Times New Roman" pitchFamily="18" charset="0"/>
              </a:rPr>
              <a:t> inherent in the underlying data-generating 	process.	</a:t>
            </a:r>
          </a:p>
        </p:txBody>
      </p:sp>
      <p:pic>
        <p:nvPicPr>
          <p:cNvPr id="27652" name="Picture 1" descr="C:\Users\cheng\AppData\Roaming\Tencent\Users\394197411\QQ\WinTemp\RichOle\%$X[NS6L[]H6{T)WW]~RS}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0800"/>
            <a:ext cx="2514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819400" y="2590800"/>
            <a:ext cx="685800" cy="4953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17543321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sp>
        <p:nvSpPr>
          <p:cNvPr id="32771" name="Rectangle 2"/>
          <p:cNvSpPr txBox="1">
            <a:spLocks noChangeArrowheads="1"/>
          </p:cNvSpPr>
          <p:nvPr/>
        </p:nvSpPr>
        <p:spPr bwMode="auto">
          <a:xfrm>
            <a:off x="0" y="1524000"/>
            <a:ext cx="89916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buFont typeface="Wingdings" pitchFamily="2" charset="2"/>
              <a:buNone/>
            </a:pPr>
            <a:r>
              <a:rPr lang="en-US" altLang="zh-CN" sz="2400">
                <a:latin typeface="Times New Roman" pitchFamily="18" charset="0"/>
                <a:cs typeface="Times New Roman" pitchFamily="18" charset="0"/>
              </a:rPr>
              <a:t>In the figure, the vertical line segments represent deviations of the observation points from the line.  One can find many lines for the sum of deviations (errors) is equal to zero.  But it can be shown that there is one and only one line for which the SUM of SQUARED DEVIATIONS is a minimum.  This sum is called the sum of squared errors (SSE).  </a:t>
            </a:r>
          </a:p>
        </p:txBody>
      </p:sp>
      <p:sp>
        <p:nvSpPr>
          <p:cNvPr id="32772" name="Freeform 4"/>
          <p:cNvSpPr>
            <a:spLocks/>
          </p:cNvSpPr>
          <p:nvPr/>
        </p:nvSpPr>
        <p:spPr bwMode="auto">
          <a:xfrm>
            <a:off x="514350" y="3716338"/>
            <a:ext cx="3571875" cy="2705100"/>
          </a:xfrm>
          <a:custGeom>
            <a:avLst/>
            <a:gdLst>
              <a:gd name="T0" fmla="*/ 0 w 20000"/>
              <a:gd name="T1" fmla="*/ 0 h 20000"/>
              <a:gd name="T2" fmla="*/ 0 w 20000"/>
              <a:gd name="T3" fmla="*/ 2147483647 h 20000"/>
              <a:gd name="T4" fmla="*/ 2147483647 w 20000"/>
              <a:gd name="T5" fmla="*/ 2147483647 h 20000"/>
              <a:gd name="T6" fmla="*/ 0 60000 65536"/>
              <a:gd name="T7" fmla="*/ 0 60000 65536"/>
              <a:gd name="T8" fmla="*/ 0 60000 65536"/>
            </a:gdLst>
            <a:ahLst/>
            <a:cxnLst>
              <a:cxn ang="T6">
                <a:pos x="T0" y="T1"/>
              </a:cxn>
              <a:cxn ang="T7">
                <a:pos x="T2" y="T3"/>
              </a:cxn>
              <a:cxn ang="T8">
                <a:pos x="T4" y="T5"/>
              </a:cxn>
            </a:cxnLst>
            <a:rect l="0" t="0" r="r" b="b"/>
            <a:pathLst>
              <a:path w="20000" h="20000">
                <a:moveTo>
                  <a:pt x="0" y="0"/>
                </a:moveTo>
                <a:lnTo>
                  <a:pt x="0" y="19995"/>
                </a:lnTo>
                <a:lnTo>
                  <a:pt x="19996" y="19995"/>
                </a:lnTo>
              </a:path>
            </a:pathLst>
          </a:custGeom>
          <a:noFill/>
          <a:ln w="12700" cap="flat">
            <a:solidFill>
              <a:srgbClr val="000000"/>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73" name="Rectangle 5"/>
          <p:cNvSpPr>
            <a:spLocks noChangeArrowheads="1"/>
          </p:cNvSpPr>
          <p:nvPr/>
        </p:nvSpPr>
        <p:spPr bwMode="auto">
          <a:xfrm>
            <a:off x="304800" y="3521075"/>
            <a:ext cx="31432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y</a:t>
            </a:r>
          </a:p>
        </p:txBody>
      </p:sp>
      <p:sp>
        <p:nvSpPr>
          <p:cNvPr id="32774" name="Rectangle 6"/>
          <p:cNvSpPr>
            <a:spLocks noChangeArrowheads="1"/>
          </p:cNvSpPr>
          <p:nvPr/>
        </p:nvSpPr>
        <p:spPr bwMode="auto">
          <a:xfrm>
            <a:off x="4105275" y="6361113"/>
            <a:ext cx="314325"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x</a:t>
            </a:r>
          </a:p>
        </p:txBody>
      </p:sp>
      <p:sp>
        <p:nvSpPr>
          <p:cNvPr id="32775" name="Oval 7"/>
          <p:cNvSpPr>
            <a:spLocks noChangeArrowheads="1"/>
          </p:cNvSpPr>
          <p:nvPr/>
        </p:nvSpPr>
        <p:spPr bwMode="auto">
          <a:xfrm>
            <a:off x="3267075" y="4108450"/>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2776" name="Oval 8"/>
          <p:cNvSpPr>
            <a:spLocks noChangeArrowheads="1"/>
          </p:cNvSpPr>
          <p:nvPr/>
        </p:nvSpPr>
        <p:spPr bwMode="auto">
          <a:xfrm>
            <a:off x="2695575" y="5264150"/>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2777" name="Oval 9"/>
          <p:cNvSpPr>
            <a:spLocks noChangeArrowheads="1"/>
          </p:cNvSpPr>
          <p:nvPr/>
        </p:nvSpPr>
        <p:spPr bwMode="auto">
          <a:xfrm>
            <a:off x="2105025" y="5245100"/>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2778" name="Oval 10"/>
          <p:cNvSpPr>
            <a:spLocks noChangeArrowheads="1"/>
          </p:cNvSpPr>
          <p:nvPr/>
        </p:nvSpPr>
        <p:spPr bwMode="auto">
          <a:xfrm>
            <a:off x="1438275" y="5873750"/>
            <a:ext cx="57150" cy="68263"/>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2779" name="Oval 11"/>
          <p:cNvSpPr>
            <a:spLocks noChangeArrowheads="1"/>
          </p:cNvSpPr>
          <p:nvPr/>
        </p:nvSpPr>
        <p:spPr bwMode="auto">
          <a:xfrm>
            <a:off x="904875" y="5568950"/>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2780" name="Line 12"/>
          <p:cNvSpPr>
            <a:spLocks noChangeShapeType="1"/>
          </p:cNvSpPr>
          <p:nvPr/>
        </p:nvSpPr>
        <p:spPr bwMode="auto">
          <a:xfrm flipV="1">
            <a:off x="828675" y="4279900"/>
            <a:ext cx="2790825" cy="187642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81" name="Line 13"/>
          <p:cNvSpPr>
            <a:spLocks noChangeShapeType="1"/>
          </p:cNvSpPr>
          <p:nvPr/>
        </p:nvSpPr>
        <p:spPr bwMode="auto">
          <a:xfrm>
            <a:off x="933450" y="5635625"/>
            <a:ext cx="0" cy="45720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82" name="Line 14"/>
          <p:cNvSpPr>
            <a:spLocks noChangeShapeType="1"/>
          </p:cNvSpPr>
          <p:nvPr/>
        </p:nvSpPr>
        <p:spPr bwMode="auto">
          <a:xfrm flipV="1">
            <a:off x="1466850" y="5721350"/>
            <a:ext cx="0" cy="15398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83" name="Line 15"/>
          <p:cNvSpPr>
            <a:spLocks noChangeShapeType="1"/>
          </p:cNvSpPr>
          <p:nvPr/>
        </p:nvSpPr>
        <p:spPr bwMode="auto">
          <a:xfrm>
            <a:off x="3295650" y="4175125"/>
            <a:ext cx="0" cy="33337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84" name="Line 16"/>
          <p:cNvSpPr>
            <a:spLocks noChangeShapeType="1"/>
          </p:cNvSpPr>
          <p:nvPr/>
        </p:nvSpPr>
        <p:spPr bwMode="auto">
          <a:xfrm flipV="1">
            <a:off x="2724150" y="4881563"/>
            <a:ext cx="0" cy="37306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85" name="AutoShape 17"/>
          <p:cNvSpPr>
            <a:spLocks/>
          </p:cNvSpPr>
          <p:nvPr/>
        </p:nvSpPr>
        <p:spPr bwMode="auto">
          <a:xfrm>
            <a:off x="3324225" y="5021263"/>
            <a:ext cx="1271588" cy="555625"/>
          </a:xfrm>
          <a:prstGeom prst="callout2">
            <a:avLst>
              <a:gd name="adj1" fmla="val 22856"/>
              <a:gd name="adj2" fmla="val -5991"/>
              <a:gd name="adj3" fmla="val 22856"/>
              <a:gd name="adj4" fmla="val -26593"/>
              <a:gd name="adj5" fmla="val 9144"/>
              <a:gd name="adj6" fmla="val -47190"/>
            </a:avLst>
          </a:prstGeom>
          <a:noFill/>
          <a:ln w="9525">
            <a:solidFill>
              <a:srgbClr val="000000"/>
            </a:solidFill>
            <a:miter lim="800000"/>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Deviations (errors)</a:t>
            </a:r>
          </a:p>
        </p:txBody>
      </p:sp>
      <p:graphicFrame>
        <p:nvGraphicFramePr>
          <p:cNvPr id="32786" name="对象 1"/>
          <p:cNvGraphicFramePr>
            <a:graphicFrameLocks noChangeAspect="1"/>
          </p:cNvGraphicFramePr>
          <p:nvPr/>
        </p:nvGraphicFramePr>
        <p:xfrm>
          <a:off x="4953000" y="4754563"/>
          <a:ext cx="1211263" cy="463550"/>
        </p:xfrm>
        <a:graphic>
          <a:graphicData uri="http://schemas.openxmlformats.org/presentationml/2006/ole">
            <mc:AlternateContent xmlns:mc="http://schemas.openxmlformats.org/markup-compatibility/2006">
              <mc:Choice xmlns:v="urn:schemas-microsoft-com:vml" Requires="v">
                <p:oleObj spid="_x0000_s27653" r:id="rId3" imgW="1091726" imgH="418918" progId="Equation.3">
                  <p:embed/>
                </p:oleObj>
              </mc:Choice>
              <mc:Fallback>
                <p:oleObj r:id="rId3" imgW="1091726" imgH="41891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754563"/>
                        <a:ext cx="12112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7" name="矩形 2"/>
          <p:cNvSpPr>
            <a:spLocks noChangeArrowheads="1"/>
          </p:cNvSpPr>
          <p:nvPr/>
        </p:nvSpPr>
        <p:spPr bwMode="auto">
          <a:xfrm>
            <a:off x="4876800" y="3944938"/>
            <a:ext cx="23034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40000"/>
              </a:spcBef>
              <a:buClrTx/>
              <a:buSzTx/>
              <a:buFontTx/>
              <a:buNone/>
            </a:pPr>
            <a:r>
              <a:rPr lang="en-US" altLang="zh-CN" sz="2400">
                <a:solidFill>
                  <a:srgbClr val="000000"/>
                </a:solidFill>
                <a:latin typeface="Times New Roman" pitchFamily="18" charset="0"/>
                <a:cs typeface="Times New Roman" pitchFamily="18" charset="0"/>
              </a:rPr>
              <a:t>y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o</a:t>
            </a:r>
            <a:r>
              <a:rPr lang="en-US" altLang="zh-CN" sz="2400">
                <a:solidFill>
                  <a:srgbClr val="000000"/>
                </a:solidFill>
                <a:latin typeface="Times New Roman" pitchFamily="18" charset="0"/>
                <a:cs typeface="Times New Roman" pitchFamily="18" charset="0"/>
              </a:rPr>
              <a:t>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1</a:t>
            </a:r>
            <a:r>
              <a:rPr lang="en-US" altLang="zh-CN" sz="2400">
                <a:solidFill>
                  <a:srgbClr val="000000"/>
                </a:solidFill>
                <a:latin typeface="Times New Roman" pitchFamily="18" charset="0"/>
                <a:cs typeface="Times New Roman" pitchFamily="18" charset="0"/>
              </a:rPr>
              <a:t> x + </a:t>
            </a:r>
            <a:r>
              <a:rPr lang="en-US" altLang="zh-CN" sz="2400">
                <a:solidFill>
                  <a:srgbClr val="000000"/>
                </a:solidFill>
                <a:latin typeface="Symbol" pitchFamily="18" charset="2"/>
                <a:cs typeface="Times New Roman" pitchFamily="18" charset="0"/>
              </a:rPr>
              <a:t>e</a:t>
            </a:r>
            <a:r>
              <a:rPr lang="en-US" altLang="zh-CN" sz="2400">
                <a:solidFill>
                  <a:srgbClr val="00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19402296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sp>
        <p:nvSpPr>
          <p:cNvPr id="33795" name="Freeform 4"/>
          <p:cNvSpPr>
            <a:spLocks/>
          </p:cNvSpPr>
          <p:nvPr/>
        </p:nvSpPr>
        <p:spPr bwMode="auto">
          <a:xfrm>
            <a:off x="490538" y="1643063"/>
            <a:ext cx="3571875" cy="2705100"/>
          </a:xfrm>
          <a:custGeom>
            <a:avLst/>
            <a:gdLst>
              <a:gd name="T0" fmla="*/ 0 w 20000"/>
              <a:gd name="T1" fmla="*/ 0 h 20000"/>
              <a:gd name="T2" fmla="*/ 0 w 20000"/>
              <a:gd name="T3" fmla="*/ 2147483647 h 20000"/>
              <a:gd name="T4" fmla="*/ 2147483647 w 20000"/>
              <a:gd name="T5" fmla="*/ 2147483647 h 20000"/>
              <a:gd name="T6" fmla="*/ 0 60000 65536"/>
              <a:gd name="T7" fmla="*/ 0 60000 65536"/>
              <a:gd name="T8" fmla="*/ 0 60000 65536"/>
            </a:gdLst>
            <a:ahLst/>
            <a:cxnLst>
              <a:cxn ang="T6">
                <a:pos x="T0" y="T1"/>
              </a:cxn>
              <a:cxn ang="T7">
                <a:pos x="T2" y="T3"/>
              </a:cxn>
              <a:cxn ang="T8">
                <a:pos x="T4" y="T5"/>
              </a:cxn>
            </a:cxnLst>
            <a:rect l="0" t="0" r="r" b="b"/>
            <a:pathLst>
              <a:path w="20000" h="20000">
                <a:moveTo>
                  <a:pt x="0" y="0"/>
                </a:moveTo>
                <a:lnTo>
                  <a:pt x="0" y="19995"/>
                </a:lnTo>
                <a:lnTo>
                  <a:pt x="19996" y="19995"/>
                </a:lnTo>
              </a:path>
            </a:pathLst>
          </a:custGeom>
          <a:noFill/>
          <a:ln w="12700" cap="flat">
            <a:solidFill>
              <a:srgbClr val="000000"/>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6" name="Rectangle 5"/>
          <p:cNvSpPr>
            <a:spLocks noChangeArrowheads="1"/>
          </p:cNvSpPr>
          <p:nvPr/>
        </p:nvSpPr>
        <p:spPr bwMode="auto">
          <a:xfrm>
            <a:off x="280988" y="1447800"/>
            <a:ext cx="31432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y</a:t>
            </a:r>
          </a:p>
        </p:txBody>
      </p:sp>
      <p:sp>
        <p:nvSpPr>
          <p:cNvPr id="33797" name="Rectangle 6"/>
          <p:cNvSpPr>
            <a:spLocks noChangeArrowheads="1"/>
          </p:cNvSpPr>
          <p:nvPr/>
        </p:nvSpPr>
        <p:spPr bwMode="auto">
          <a:xfrm>
            <a:off x="4081463" y="4287838"/>
            <a:ext cx="314325"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x</a:t>
            </a:r>
          </a:p>
        </p:txBody>
      </p:sp>
      <p:sp>
        <p:nvSpPr>
          <p:cNvPr id="33798" name="Oval 7"/>
          <p:cNvSpPr>
            <a:spLocks noChangeArrowheads="1"/>
          </p:cNvSpPr>
          <p:nvPr/>
        </p:nvSpPr>
        <p:spPr bwMode="auto">
          <a:xfrm>
            <a:off x="3243263" y="203517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3799" name="Oval 8"/>
          <p:cNvSpPr>
            <a:spLocks noChangeArrowheads="1"/>
          </p:cNvSpPr>
          <p:nvPr/>
        </p:nvSpPr>
        <p:spPr bwMode="auto">
          <a:xfrm>
            <a:off x="2671763" y="319087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3800" name="Oval 9"/>
          <p:cNvSpPr>
            <a:spLocks noChangeArrowheads="1"/>
          </p:cNvSpPr>
          <p:nvPr/>
        </p:nvSpPr>
        <p:spPr bwMode="auto">
          <a:xfrm>
            <a:off x="2081213" y="317182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3801" name="Oval 10"/>
          <p:cNvSpPr>
            <a:spLocks noChangeArrowheads="1"/>
          </p:cNvSpPr>
          <p:nvPr/>
        </p:nvSpPr>
        <p:spPr bwMode="auto">
          <a:xfrm>
            <a:off x="1414463" y="3800475"/>
            <a:ext cx="57150" cy="68263"/>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3802" name="Oval 11"/>
          <p:cNvSpPr>
            <a:spLocks noChangeArrowheads="1"/>
          </p:cNvSpPr>
          <p:nvPr/>
        </p:nvSpPr>
        <p:spPr bwMode="auto">
          <a:xfrm>
            <a:off x="881063" y="349567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3803" name="Line 12"/>
          <p:cNvSpPr>
            <a:spLocks noChangeShapeType="1"/>
          </p:cNvSpPr>
          <p:nvPr/>
        </p:nvSpPr>
        <p:spPr bwMode="auto">
          <a:xfrm flipV="1">
            <a:off x="804863" y="2206625"/>
            <a:ext cx="2790825" cy="187642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4" name="Line 13"/>
          <p:cNvSpPr>
            <a:spLocks noChangeShapeType="1"/>
          </p:cNvSpPr>
          <p:nvPr/>
        </p:nvSpPr>
        <p:spPr bwMode="auto">
          <a:xfrm>
            <a:off x="909638" y="3562350"/>
            <a:ext cx="0" cy="45720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5" name="Line 14"/>
          <p:cNvSpPr>
            <a:spLocks noChangeShapeType="1"/>
          </p:cNvSpPr>
          <p:nvPr/>
        </p:nvSpPr>
        <p:spPr bwMode="auto">
          <a:xfrm flipV="1">
            <a:off x="1443038" y="3648075"/>
            <a:ext cx="0" cy="15398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6" name="Line 15"/>
          <p:cNvSpPr>
            <a:spLocks noChangeShapeType="1"/>
          </p:cNvSpPr>
          <p:nvPr/>
        </p:nvSpPr>
        <p:spPr bwMode="auto">
          <a:xfrm>
            <a:off x="3271838" y="2101850"/>
            <a:ext cx="0" cy="33337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7" name="Line 16"/>
          <p:cNvSpPr>
            <a:spLocks noChangeShapeType="1"/>
          </p:cNvSpPr>
          <p:nvPr/>
        </p:nvSpPr>
        <p:spPr bwMode="auto">
          <a:xfrm flipV="1">
            <a:off x="2700338" y="2808288"/>
            <a:ext cx="0" cy="37306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8" name="AutoShape 17"/>
          <p:cNvSpPr>
            <a:spLocks/>
          </p:cNvSpPr>
          <p:nvPr/>
        </p:nvSpPr>
        <p:spPr bwMode="auto">
          <a:xfrm>
            <a:off x="3300413" y="2947988"/>
            <a:ext cx="1271587" cy="555625"/>
          </a:xfrm>
          <a:prstGeom prst="callout2">
            <a:avLst>
              <a:gd name="adj1" fmla="val 22856"/>
              <a:gd name="adj2" fmla="val -5991"/>
              <a:gd name="adj3" fmla="val 22856"/>
              <a:gd name="adj4" fmla="val -26593"/>
              <a:gd name="adj5" fmla="val 9144"/>
              <a:gd name="adj6" fmla="val -47190"/>
            </a:avLst>
          </a:prstGeom>
          <a:noFill/>
          <a:ln w="9525">
            <a:solidFill>
              <a:srgbClr val="000000"/>
            </a:solidFill>
            <a:miter lim="800000"/>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Deviations (errors)</a:t>
            </a:r>
          </a:p>
        </p:txBody>
      </p:sp>
      <p:graphicFrame>
        <p:nvGraphicFramePr>
          <p:cNvPr id="33809" name="对象 1"/>
          <p:cNvGraphicFramePr>
            <a:graphicFrameLocks noChangeAspect="1"/>
          </p:cNvGraphicFramePr>
          <p:nvPr/>
        </p:nvGraphicFramePr>
        <p:xfrm>
          <a:off x="4648200" y="2124075"/>
          <a:ext cx="1211263" cy="463550"/>
        </p:xfrm>
        <a:graphic>
          <a:graphicData uri="http://schemas.openxmlformats.org/presentationml/2006/ole">
            <mc:AlternateContent xmlns:mc="http://schemas.openxmlformats.org/markup-compatibility/2006">
              <mc:Choice xmlns:v="urn:schemas-microsoft-com:vml" Requires="v">
                <p:oleObj spid="_x0000_s28686" r:id="rId3" imgW="1091726" imgH="418918" progId="Equation.3">
                  <p:embed/>
                </p:oleObj>
              </mc:Choice>
              <mc:Fallback>
                <p:oleObj r:id="rId3" imgW="1091726" imgH="41891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124075"/>
                        <a:ext cx="12112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10" name="矩形 2"/>
          <p:cNvSpPr>
            <a:spLocks noChangeArrowheads="1"/>
          </p:cNvSpPr>
          <p:nvPr/>
        </p:nvSpPr>
        <p:spPr bwMode="auto">
          <a:xfrm>
            <a:off x="4595813" y="1604963"/>
            <a:ext cx="23034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40000"/>
              </a:spcBef>
              <a:buClrTx/>
              <a:buSzTx/>
              <a:buFontTx/>
              <a:buNone/>
            </a:pPr>
            <a:r>
              <a:rPr lang="en-US" altLang="zh-CN" sz="2400">
                <a:solidFill>
                  <a:srgbClr val="000000"/>
                </a:solidFill>
                <a:latin typeface="Times New Roman" pitchFamily="18" charset="0"/>
                <a:cs typeface="Times New Roman" pitchFamily="18" charset="0"/>
              </a:rPr>
              <a:t>y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o</a:t>
            </a:r>
            <a:r>
              <a:rPr lang="en-US" altLang="zh-CN" sz="2400">
                <a:solidFill>
                  <a:srgbClr val="000000"/>
                </a:solidFill>
                <a:latin typeface="Times New Roman" pitchFamily="18" charset="0"/>
                <a:cs typeface="Times New Roman" pitchFamily="18" charset="0"/>
              </a:rPr>
              <a:t>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1</a:t>
            </a:r>
            <a:r>
              <a:rPr lang="en-US" altLang="zh-CN" sz="2400">
                <a:solidFill>
                  <a:srgbClr val="000000"/>
                </a:solidFill>
                <a:latin typeface="Times New Roman" pitchFamily="18" charset="0"/>
                <a:cs typeface="Times New Roman" pitchFamily="18" charset="0"/>
              </a:rPr>
              <a:t> x + </a:t>
            </a:r>
            <a:r>
              <a:rPr lang="en-US" altLang="zh-CN" sz="2400">
                <a:solidFill>
                  <a:srgbClr val="000000"/>
                </a:solidFill>
                <a:latin typeface="Symbol" pitchFamily="18" charset="2"/>
                <a:cs typeface="Times New Roman" pitchFamily="18" charset="0"/>
              </a:rPr>
              <a:t>e</a:t>
            </a:r>
            <a:r>
              <a:rPr lang="en-US" altLang="zh-CN" sz="2400">
                <a:solidFill>
                  <a:srgbClr val="000000"/>
                </a:solidFill>
                <a:latin typeface="Times New Roman" pitchFamily="18" charset="0"/>
                <a:cs typeface="Times New Roman" pitchFamily="18" charset="0"/>
              </a:rPr>
              <a:t> </a:t>
            </a:r>
          </a:p>
        </p:txBody>
      </p:sp>
      <p:sp>
        <p:nvSpPr>
          <p:cNvPr id="33811" name="Text Box 11"/>
          <p:cNvSpPr txBox="1">
            <a:spLocks noChangeArrowheads="1"/>
          </p:cNvSpPr>
          <p:nvPr/>
        </p:nvSpPr>
        <p:spPr bwMode="auto">
          <a:xfrm>
            <a:off x="131763" y="4632325"/>
            <a:ext cx="8878887"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indent="-34290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lvl="1" eaLnBrk="1" hangingPunct="1">
              <a:spcBef>
                <a:spcPct val="0"/>
              </a:spcBef>
              <a:buClrTx/>
              <a:buSzTx/>
              <a:buFontTx/>
              <a:buNone/>
            </a:pPr>
            <a:r>
              <a:rPr lang="en-US" altLang="zh-CN" sz="1800">
                <a:solidFill>
                  <a:srgbClr val="000000"/>
                </a:solidFill>
                <a:latin typeface="Times New Roman" pitchFamily="18" charset="0"/>
                <a:cs typeface="Times New Roman" pitchFamily="18" charset="0"/>
              </a:rPr>
              <a:t>	Thus,      is an estimator of the mean value of y, E(y), and a predictor of some future value of y.                  are least squares estimators of </a:t>
            </a:r>
            <a:r>
              <a:rPr lang="en-US" altLang="zh-CN" sz="1800">
                <a:solidFill>
                  <a:srgbClr val="000000"/>
                </a:solidFill>
                <a:latin typeface="Symbol" pitchFamily="18" charset="2"/>
                <a:cs typeface="Times New Roman" pitchFamily="18" charset="0"/>
              </a:rPr>
              <a:t>b</a:t>
            </a:r>
            <a:r>
              <a:rPr lang="en-US" altLang="zh-CN" sz="1800" baseline="-30000">
                <a:solidFill>
                  <a:srgbClr val="000000"/>
                </a:solidFill>
                <a:latin typeface="Times New Roman" pitchFamily="18" charset="0"/>
                <a:cs typeface="Times New Roman" pitchFamily="18" charset="0"/>
              </a:rPr>
              <a:t>o</a:t>
            </a:r>
            <a:r>
              <a:rPr lang="en-US" altLang="zh-CN" sz="1800">
                <a:solidFill>
                  <a:srgbClr val="000000"/>
                </a:solidFill>
                <a:latin typeface="Times New Roman" pitchFamily="18" charset="0"/>
                <a:cs typeface="Times New Roman" pitchFamily="18" charset="0"/>
              </a:rPr>
              <a:t> and </a:t>
            </a:r>
            <a:r>
              <a:rPr lang="en-US" altLang="zh-CN" sz="1800">
                <a:solidFill>
                  <a:srgbClr val="000000"/>
                </a:solidFill>
                <a:latin typeface="Symbol" pitchFamily="18" charset="2"/>
                <a:cs typeface="Times New Roman" pitchFamily="18" charset="0"/>
              </a:rPr>
              <a:t>b</a:t>
            </a:r>
            <a:r>
              <a:rPr lang="en-US" altLang="zh-CN" sz="1800" baseline="-30000">
                <a:solidFill>
                  <a:srgbClr val="000000"/>
                </a:solidFill>
                <a:latin typeface="Times New Roman" pitchFamily="18" charset="0"/>
                <a:cs typeface="Times New Roman" pitchFamily="18" charset="0"/>
              </a:rPr>
              <a:t>1</a:t>
            </a:r>
            <a:r>
              <a:rPr lang="en-US" altLang="zh-CN" sz="1800">
                <a:solidFill>
                  <a:srgbClr val="000000"/>
                </a:solidFill>
                <a:latin typeface="Times New Roman" pitchFamily="18" charset="0"/>
                <a:cs typeface="Times New Roman" pitchFamily="18" charset="0"/>
              </a:rPr>
              <a:t> respectively.</a:t>
            </a:r>
          </a:p>
          <a:p>
            <a:pPr lvl="1" eaLnBrk="1" hangingPunct="1">
              <a:spcBef>
                <a:spcPct val="0"/>
              </a:spcBef>
              <a:buClrTx/>
              <a:buSzTx/>
              <a:buFontTx/>
              <a:buNone/>
            </a:pPr>
            <a:endParaRPr lang="en-US" altLang="zh-CN" sz="1800">
              <a:solidFill>
                <a:srgbClr val="000000"/>
              </a:solidFill>
              <a:latin typeface="Times New Roman" pitchFamily="18" charset="0"/>
              <a:cs typeface="Times New Roman" pitchFamily="18" charset="0"/>
            </a:endParaRPr>
          </a:p>
          <a:p>
            <a:pPr lvl="1" eaLnBrk="1" hangingPunct="1">
              <a:spcBef>
                <a:spcPct val="0"/>
              </a:spcBef>
              <a:buClrTx/>
              <a:buSzTx/>
              <a:buFontTx/>
              <a:buNone/>
            </a:pPr>
            <a:r>
              <a:rPr lang="en-US" altLang="zh-CN" sz="1800">
                <a:solidFill>
                  <a:srgbClr val="000000"/>
                </a:solidFill>
                <a:latin typeface="Times New Roman" pitchFamily="18" charset="0"/>
                <a:cs typeface="Times New Roman" pitchFamily="18" charset="0"/>
              </a:rPr>
              <a:t>	For a given data point, (x</a:t>
            </a:r>
            <a:r>
              <a:rPr lang="en-US" altLang="zh-CN" sz="1800" baseline="-30000">
                <a:solidFill>
                  <a:srgbClr val="000000"/>
                </a:solidFill>
                <a:latin typeface="Times New Roman" pitchFamily="18" charset="0"/>
                <a:cs typeface="Times New Roman" pitchFamily="18" charset="0"/>
              </a:rPr>
              <a:t>i</a:t>
            </a:r>
            <a:r>
              <a:rPr lang="en-US" altLang="zh-CN" sz="1800">
                <a:solidFill>
                  <a:srgbClr val="000000"/>
                </a:solidFill>
                <a:latin typeface="Times New Roman" pitchFamily="18" charset="0"/>
                <a:cs typeface="Times New Roman" pitchFamily="18" charset="0"/>
              </a:rPr>
              <a:t>, y</a:t>
            </a:r>
            <a:r>
              <a:rPr lang="en-US" altLang="zh-CN" sz="1800" baseline="-30000">
                <a:solidFill>
                  <a:srgbClr val="000000"/>
                </a:solidFill>
                <a:latin typeface="Times New Roman" pitchFamily="18" charset="0"/>
                <a:cs typeface="Times New Roman" pitchFamily="18" charset="0"/>
              </a:rPr>
              <a:t>i</a:t>
            </a:r>
            <a:r>
              <a:rPr lang="en-US" altLang="zh-CN" sz="1800">
                <a:solidFill>
                  <a:srgbClr val="000000"/>
                </a:solidFill>
                <a:latin typeface="Times New Roman" pitchFamily="18" charset="0"/>
                <a:cs typeface="Times New Roman" pitchFamily="18" charset="0"/>
              </a:rPr>
              <a:t>), the observed value of y is y</a:t>
            </a:r>
            <a:r>
              <a:rPr lang="en-US" altLang="zh-CN" sz="1800" baseline="-30000">
                <a:solidFill>
                  <a:srgbClr val="000000"/>
                </a:solidFill>
                <a:latin typeface="Times New Roman" pitchFamily="18" charset="0"/>
                <a:cs typeface="Times New Roman" pitchFamily="18" charset="0"/>
              </a:rPr>
              <a:t>i</a:t>
            </a:r>
            <a:r>
              <a:rPr lang="en-US" altLang="zh-CN" sz="1800">
                <a:solidFill>
                  <a:srgbClr val="000000"/>
                </a:solidFill>
                <a:latin typeface="Times New Roman" pitchFamily="18" charset="0"/>
                <a:cs typeface="Times New Roman" pitchFamily="18" charset="0"/>
              </a:rPr>
              <a:t> and the predicted value of y would be obtained by substituting x</a:t>
            </a:r>
            <a:r>
              <a:rPr lang="en-US" altLang="zh-CN" sz="1800" baseline="-30000">
                <a:solidFill>
                  <a:srgbClr val="000000"/>
                </a:solidFill>
                <a:latin typeface="Times New Roman" pitchFamily="18" charset="0"/>
                <a:cs typeface="Times New Roman" pitchFamily="18" charset="0"/>
              </a:rPr>
              <a:t>i</a:t>
            </a:r>
            <a:r>
              <a:rPr lang="en-US" altLang="zh-CN" sz="1800">
                <a:solidFill>
                  <a:srgbClr val="000000"/>
                </a:solidFill>
                <a:latin typeface="Times New Roman" pitchFamily="18" charset="0"/>
                <a:cs typeface="Times New Roman" pitchFamily="18" charset="0"/>
              </a:rPr>
              <a:t> into the prediction equation:  </a:t>
            </a:r>
          </a:p>
        </p:txBody>
      </p:sp>
      <p:graphicFrame>
        <p:nvGraphicFramePr>
          <p:cNvPr id="33812" name="对象 3"/>
          <p:cNvGraphicFramePr>
            <a:graphicFrameLocks noChangeAspect="1"/>
          </p:cNvGraphicFramePr>
          <p:nvPr/>
        </p:nvGraphicFramePr>
        <p:xfrm>
          <a:off x="1333500" y="4673600"/>
          <a:ext cx="161925" cy="279400"/>
        </p:xfrm>
        <a:graphic>
          <a:graphicData uri="http://schemas.openxmlformats.org/presentationml/2006/ole">
            <mc:AlternateContent xmlns:mc="http://schemas.openxmlformats.org/markup-compatibility/2006">
              <mc:Choice xmlns:v="urn:schemas-microsoft-com:vml" Requires="v">
                <p:oleObj spid="_x0000_s28687" name="Equation" r:id="rId5" imgW="165028" imgH="279279" progId="Equation.3">
                  <p:embed/>
                </p:oleObj>
              </mc:Choice>
              <mc:Fallback>
                <p:oleObj name="Equation" r:id="rId5" imgW="165028" imgH="27927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500" y="4673600"/>
                        <a:ext cx="1619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3" name="对象 4"/>
          <p:cNvGraphicFramePr>
            <a:graphicFrameLocks noChangeAspect="1"/>
          </p:cNvGraphicFramePr>
          <p:nvPr/>
        </p:nvGraphicFramePr>
        <p:xfrm>
          <a:off x="1171575" y="4914900"/>
          <a:ext cx="942975" cy="419100"/>
        </p:xfrm>
        <a:graphic>
          <a:graphicData uri="http://schemas.openxmlformats.org/presentationml/2006/ole">
            <mc:AlternateContent xmlns:mc="http://schemas.openxmlformats.org/markup-compatibility/2006">
              <mc:Choice xmlns:v="urn:schemas-microsoft-com:vml" Requires="v">
                <p:oleObj spid="_x0000_s28688" r:id="rId7" imgW="939800" imgH="419100" progId="Equation.3">
                  <p:embed/>
                </p:oleObj>
              </mc:Choice>
              <mc:Fallback>
                <p:oleObj r:id="rId7" imgW="9398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1575" y="4914900"/>
                        <a:ext cx="9429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4" name="对象 5"/>
          <p:cNvGraphicFramePr>
            <a:graphicFrameLocks noChangeAspect="1"/>
          </p:cNvGraphicFramePr>
          <p:nvPr/>
        </p:nvGraphicFramePr>
        <p:xfrm>
          <a:off x="842963" y="6149975"/>
          <a:ext cx="1211262" cy="463550"/>
        </p:xfrm>
        <a:graphic>
          <a:graphicData uri="http://schemas.openxmlformats.org/presentationml/2006/ole">
            <mc:AlternateContent xmlns:mc="http://schemas.openxmlformats.org/markup-compatibility/2006">
              <mc:Choice xmlns:v="urn:schemas-microsoft-com:vml" Requires="v">
                <p:oleObj spid="_x0000_s28689" r:id="rId9" imgW="1091726" imgH="418918" progId="Equation.3">
                  <p:embed/>
                </p:oleObj>
              </mc:Choice>
              <mc:Fallback>
                <p:oleObj r:id="rId9" imgW="1091726" imgH="41891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963" y="6149975"/>
                        <a:ext cx="12112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606602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sp>
        <p:nvSpPr>
          <p:cNvPr id="34819" name="Freeform 4"/>
          <p:cNvSpPr>
            <a:spLocks/>
          </p:cNvSpPr>
          <p:nvPr/>
        </p:nvSpPr>
        <p:spPr bwMode="auto">
          <a:xfrm>
            <a:off x="490538" y="1643063"/>
            <a:ext cx="3571875" cy="2705100"/>
          </a:xfrm>
          <a:custGeom>
            <a:avLst/>
            <a:gdLst>
              <a:gd name="T0" fmla="*/ 0 w 20000"/>
              <a:gd name="T1" fmla="*/ 0 h 20000"/>
              <a:gd name="T2" fmla="*/ 0 w 20000"/>
              <a:gd name="T3" fmla="*/ 2147483647 h 20000"/>
              <a:gd name="T4" fmla="*/ 2147483647 w 20000"/>
              <a:gd name="T5" fmla="*/ 2147483647 h 20000"/>
              <a:gd name="T6" fmla="*/ 0 60000 65536"/>
              <a:gd name="T7" fmla="*/ 0 60000 65536"/>
              <a:gd name="T8" fmla="*/ 0 60000 65536"/>
            </a:gdLst>
            <a:ahLst/>
            <a:cxnLst>
              <a:cxn ang="T6">
                <a:pos x="T0" y="T1"/>
              </a:cxn>
              <a:cxn ang="T7">
                <a:pos x="T2" y="T3"/>
              </a:cxn>
              <a:cxn ang="T8">
                <a:pos x="T4" y="T5"/>
              </a:cxn>
            </a:cxnLst>
            <a:rect l="0" t="0" r="r" b="b"/>
            <a:pathLst>
              <a:path w="20000" h="20000">
                <a:moveTo>
                  <a:pt x="0" y="0"/>
                </a:moveTo>
                <a:lnTo>
                  <a:pt x="0" y="19995"/>
                </a:lnTo>
                <a:lnTo>
                  <a:pt x="19996" y="19995"/>
                </a:lnTo>
              </a:path>
            </a:pathLst>
          </a:custGeom>
          <a:noFill/>
          <a:ln w="12700" cap="flat">
            <a:solidFill>
              <a:srgbClr val="000000"/>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20" name="Rectangle 5"/>
          <p:cNvSpPr>
            <a:spLocks noChangeArrowheads="1"/>
          </p:cNvSpPr>
          <p:nvPr/>
        </p:nvSpPr>
        <p:spPr bwMode="auto">
          <a:xfrm>
            <a:off x="280988" y="1447800"/>
            <a:ext cx="31432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y</a:t>
            </a:r>
          </a:p>
        </p:txBody>
      </p:sp>
      <p:sp>
        <p:nvSpPr>
          <p:cNvPr id="34821" name="Rectangle 6"/>
          <p:cNvSpPr>
            <a:spLocks noChangeArrowheads="1"/>
          </p:cNvSpPr>
          <p:nvPr/>
        </p:nvSpPr>
        <p:spPr bwMode="auto">
          <a:xfrm>
            <a:off x="4081463" y="4287838"/>
            <a:ext cx="314325"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x</a:t>
            </a:r>
          </a:p>
        </p:txBody>
      </p:sp>
      <p:sp>
        <p:nvSpPr>
          <p:cNvPr id="34822" name="Oval 7"/>
          <p:cNvSpPr>
            <a:spLocks noChangeArrowheads="1"/>
          </p:cNvSpPr>
          <p:nvPr/>
        </p:nvSpPr>
        <p:spPr bwMode="auto">
          <a:xfrm>
            <a:off x="3243263" y="203517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4823" name="Oval 8"/>
          <p:cNvSpPr>
            <a:spLocks noChangeArrowheads="1"/>
          </p:cNvSpPr>
          <p:nvPr/>
        </p:nvSpPr>
        <p:spPr bwMode="auto">
          <a:xfrm>
            <a:off x="2671763" y="319087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4824" name="Oval 9"/>
          <p:cNvSpPr>
            <a:spLocks noChangeArrowheads="1"/>
          </p:cNvSpPr>
          <p:nvPr/>
        </p:nvSpPr>
        <p:spPr bwMode="auto">
          <a:xfrm>
            <a:off x="2081213" y="317182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4825" name="Oval 10"/>
          <p:cNvSpPr>
            <a:spLocks noChangeArrowheads="1"/>
          </p:cNvSpPr>
          <p:nvPr/>
        </p:nvSpPr>
        <p:spPr bwMode="auto">
          <a:xfrm>
            <a:off x="1414463" y="3800475"/>
            <a:ext cx="57150" cy="68263"/>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4826" name="Oval 11"/>
          <p:cNvSpPr>
            <a:spLocks noChangeArrowheads="1"/>
          </p:cNvSpPr>
          <p:nvPr/>
        </p:nvSpPr>
        <p:spPr bwMode="auto">
          <a:xfrm>
            <a:off x="881063" y="3495675"/>
            <a:ext cx="57150" cy="666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34827" name="Line 12"/>
          <p:cNvSpPr>
            <a:spLocks noChangeShapeType="1"/>
          </p:cNvSpPr>
          <p:nvPr/>
        </p:nvSpPr>
        <p:spPr bwMode="auto">
          <a:xfrm flipV="1">
            <a:off x="804863" y="2206625"/>
            <a:ext cx="2790825" cy="187642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28" name="Line 13"/>
          <p:cNvSpPr>
            <a:spLocks noChangeShapeType="1"/>
          </p:cNvSpPr>
          <p:nvPr/>
        </p:nvSpPr>
        <p:spPr bwMode="auto">
          <a:xfrm>
            <a:off x="909638" y="3562350"/>
            <a:ext cx="0" cy="45720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29" name="Line 14"/>
          <p:cNvSpPr>
            <a:spLocks noChangeShapeType="1"/>
          </p:cNvSpPr>
          <p:nvPr/>
        </p:nvSpPr>
        <p:spPr bwMode="auto">
          <a:xfrm flipV="1">
            <a:off x="1443038" y="3648075"/>
            <a:ext cx="0" cy="15398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30" name="Line 15"/>
          <p:cNvSpPr>
            <a:spLocks noChangeShapeType="1"/>
          </p:cNvSpPr>
          <p:nvPr/>
        </p:nvSpPr>
        <p:spPr bwMode="auto">
          <a:xfrm>
            <a:off x="3271838" y="2101850"/>
            <a:ext cx="0" cy="33337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31" name="Line 16"/>
          <p:cNvSpPr>
            <a:spLocks noChangeShapeType="1"/>
          </p:cNvSpPr>
          <p:nvPr/>
        </p:nvSpPr>
        <p:spPr bwMode="auto">
          <a:xfrm flipV="1">
            <a:off x="2700338" y="2808288"/>
            <a:ext cx="0" cy="37306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832" name="AutoShape 17"/>
          <p:cNvSpPr>
            <a:spLocks/>
          </p:cNvSpPr>
          <p:nvPr/>
        </p:nvSpPr>
        <p:spPr bwMode="auto">
          <a:xfrm>
            <a:off x="3300413" y="2947988"/>
            <a:ext cx="1271587" cy="555625"/>
          </a:xfrm>
          <a:prstGeom prst="callout2">
            <a:avLst>
              <a:gd name="adj1" fmla="val 22856"/>
              <a:gd name="adj2" fmla="val -5991"/>
              <a:gd name="adj3" fmla="val 22856"/>
              <a:gd name="adj4" fmla="val -26593"/>
              <a:gd name="adj5" fmla="val 9144"/>
              <a:gd name="adj6" fmla="val -47190"/>
            </a:avLst>
          </a:prstGeom>
          <a:noFill/>
          <a:ln w="9525">
            <a:solidFill>
              <a:srgbClr val="000000"/>
            </a:solidFill>
            <a:miter lim="800000"/>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a:spcBef>
                <a:spcPct val="0"/>
              </a:spcBef>
              <a:buClrTx/>
              <a:buSzTx/>
              <a:buFontTx/>
              <a:buNone/>
            </a:pPr>
            <a:r>
              <a:rPr lang="en-US" altLang="zh-CN" sz="1800">
                <a:solidFill>
                  <a:srgbClr val="000000"/>
                </a:solidFill>
                <a:latin typeface="Times New Roman" pitchFamily="18" charset="0"/>
              </a:rPr>
              <a:t>Deviations (errors)</a:t>
            </a:r>
          </a:p>
        </p:txBody>
      </p:sp>
      <p:graphicFrame>
        <p:nvGraphicFramePr>
          <p:cNvPr id="34833" name="对象 1"/>
          <p:cNvGraphicFramePr>
            <a:graphicFrameLocks noChangeAspect="1"/>
          </p:cNvGraphicFramePr>
          <p:nvPr/>
        </p:nvGraphicFramePr>
        <p:xfrm>
          <a:off x="4648200" y="2124075"/>
          <a:ext cx="1211263" cy="463550"/>
        </p:xfrm>
        <a:graphic>
          <a:graphicData uri="http://schemas.openxmlformats.org/presentationml/2006/ole">
            <mc:AlternateContent xmlns:mc="http://schemas.openxmlformats.org/markup-compatibility/2006">
              <mc:Choice xmlns:v="urn:schemas-microsoft-com:vml" Requires="v">
                <p:oleObj spid="_x0000_s29707" r:id="rId3" imgW="1091726" imgH="418918" progId="Equation.3">
                  <p:embed/>
                </p:oleObj>
              </mc:Choice>
              <mc:Fallback>
                <p:oleObj r:id="rId3" imgW="1091726" imgH="41891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124075"/>
                        <a:ext cx="12112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4" name="矩形 2"/>
          <p:cNvSpPr>
            <a:spLocks noChangeArrowheads="1"/>
          </p:cNvSpPr>
          <p:nvPr/>
        </p:nvSpPr>
        <p:spPr bwMode="auto">
          <a:xfrm>
            <a:off x="4595813" y="1604963"/>
            <a:ext cx="23034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40000"/>
              </a:spcBef>
              <a:buClrTx/>
              <a:buSzTx/>
              <a:buFontTx/>
              <a:buNone/>
            </a:pPr>
            <a:r>
              <a:rPr lang="en-US" altLang="zh-CN" sz="2400">
                <a:solidFill>
                  <a:srgbClr val="000000"/>
                </a:solidFill>
                <a:latin typeface="Times New Roman" pitchFamily="18" charset="0"/>
                <a:cs typeface="Times New Roman" pitchFamily="18" charset="0"/>
              </a:rPr>
              <a:t>y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o</a:t>
            </a:r>
            <a:r>
              <a:rPr lang="en-US" altLang="zh-CN" sz="2400">
                <a:solidFill>
                  <a:srgbClr val="000000"/>
                </a:solidFill>
                <a:latin typeface="Times New Roman" pitchFamily="18" charset="0"/>
                <a:cs typeface="Times New Roman" pitchFamily="18" charset="0"/>
              </a:rPr>
              <a:t> +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1</a:t>
            </a:r>
            <a:r>
              <a:rPr lang="en-US" altLang="zh-CN" sz="2400">
                <a:solidFill>
                  <a:srgbClr val="000000"/>
                </a:solidFill>
                <a:latin typeface="Times New Roman" pitchFamily="18" charset="0"/>
                <a:cs typeface="Times New Roman" pitchFamily="18" charset="0"/>
              </a:rPr>
              <a:t> x + </a:t>
            </a:r>
            <a:r>
              <a:rPr lang="en-US" altLang="zh-CN" sz="2400">
                <a:solidFill>
                  <a:srgbClr val="000000"/>
                </a:solidFill>
                <a:latin typeface="Symbol" pitchFamily="18" charset="2"/>
                <a:cs typeface="Times New Roman" pitchFamily="18" charset="0"/>
              </a:rPr>
              <a:t>e</a:t>
            </a:r>
            <a:r>
              <a:rPr lang="en-US" altLang="zh-CN" sz="2400">
                <a:solidFill>
                  <a:srgbClr val="000000"/>
                </a:solidFill>
                <a:latin typeface="Times New Roman" pitchFamily="18" charset="0"/>
                <a:cs typeface="Times New Roman" pitchFamily="18" charset="0"/>
              </a:rPr>
              <a:t> </a:t>
            </a:r>
          </a:p>
        </p:txBody>
      </p:sp>
      <p:sp>
        <p:nvSpPr>
          <p:cNvPr id="34835" name="Text Box 19"/>
          <p:cNvSpPr txBox="1">
            <a:spLocks noChangeArrowheads="1"/>
          </p:cNvSpPr>
          <p:nvPr/>
        </p:nvSpPr>
        <p:spPr bwMode="auto">
          <a:xfrm>
            <a:off x="417513" y="4533900"/>
            <a:ext cx="88788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indent="-34290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lvl="1" eaLnBrk="1" hangingPunct="1">
              <a:spcBef>
                <a:spcPct val="0"/>
              </a:spcBef>
              <a:buClrTx/>
              <a:buSzTx/>
              <a:buFontTx/>
              <a:buNone/>
            </a:pPr>
            <a:r>
              <a:rPr lang="en-US" altLang="zh-CN" sz="1800">
                <a:solidFill>
                  <a:srgbClr val="000000"/>
                </a:solidFill>
                <a:latin typeface="Times New Roman" pitchFamily="18" charset="0"/>
                <a:cs typeface="Times New Roman" pitchFamily="18" charset="0"/>
              </a:rPr>
              <a:t>The deviation of the ith value of y from its predicted value is: </a:t>
            </a:r>
          </a:p>
        </p:txBody>
      </p:sp>
      <p:graphicFrame>
        <p:nvGraphicFramePr>
          <p:cNvPr id="34836" name="对象 6"/>
          <p:cNvGraphicFramePr>
            <a:graphicFrameLocks noChangeAspect="1"/>
          </p:cNvGraphicFramePr>
          <p:nvPr/>
        </p:nvGraphicFramePr>
        <p:xfrm>
          <a:off x="585788" y="4914900"/>
          <a:ext cx="2600325" cy="457200"/>
        </p:xfrm>
        <a:graphic>
          <a:graphicData uri="http://schemas.openxmlformats.org/presentationml/2006/ole">
            <mc:AlternateContent xmlns:mc="http://schemas.openxmlformats.org/markup-compatibility/2006">
              <mc:Choice xmlns:v="urn:schemas-microsoft-com:vml" Requires="v">
                <p:oleObj spid="_x0000_s29708" r:id="rId5" imgW="2438400" imgH="431800" progId="Equation.3">
                  <p:embed/>
                </p:oleObj>
              </mc:Choice>
              <mc:Fallback>
                <p:oleObj r:id="rId5" imgW="24384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788" y="4914900"/>
                        <a:ext cx="2600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7" name="Text Box 22"/>
          <p:cNvSpPr txBox="1">
            <a:spLocks noChangeArrowheads="1"/>
          </p:cNvSpPr>
          <p:nvPr/>
        </p:nvSpPr>
        <p:spPr bwMode="auto">
          <a:xfrm>
            <a:off x="26988" y="5410200"/>
            <a:ext cx="8583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indent="-34290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lvl="1" eaLnBrk="1" hangingPunct="1">
              <a:spcBef>
                <a:spcPct val="0"/>
              </a:spcBef>
              <a:buClrTx/>
              <a:buSzTx/>
              <a:buFontTx/>
              <a:buNone/>
            </a:pPr>
            <a:r>
              <a:rPr lang="en-US" altLang="zh-CN" sz="1800">
                <a:solidFill>
                  <a:srgbClr val="000000"/>
                </a:solidFill>
                <a:latin typeface="Times New Roman" pitchFamily="18" charset="0"/>
                <a:cs typeface="Times New Roman" pitchFamily="18" charset="0"/>
              </a:rPr>
              <a:t>	Then, the sum of squares of the deviations of the y values about their predicted values for all of the observations (n data points): </a:t>
            </a:r>
          </a:p>
        </p:txBody>
      </p:sp>
      <p:graphicFrame>
        <p:nvGraphicFramePr>
          <p:cNvPr id="34838" name="对象 7"/>
          <p:cNvGraphicFramePr>
            <a:graphicFrameLocks noChangeAspect="1"/>
          </p:cNvGraphicFramePr>
          <p:nvPr/>
        </p:nvGraphicFramePr>
        <p:xfrm>
          <a:off x="612775" y="6051550"/>
          <a:ext cx="2619375" cy="676275"/>
        </p:xfrm>
        <a:graphic>
          <a:graphicData uri="http://schemas.openxmlformats.org/presentationml/2006/ole">
            <mc:AlternateContent xmlns:mc="http://schemas.openxmlformats.org/markup-compatibility/2006">
              <mc:Choice xmlns:v="urn:schemas-microsoft-com:vml" Requires="v">
                <p:oleObj spid="_x0000_s29709" r:id="rId7" imgW="2616200" imgH="673100" progId="Equation.3">
                  <p:embed/>
                </p:oleObj>
              </mc:Choice>
              <mc:Fallback>
                <p:oleObj r:id="rId7" imgW="2616200" imgH="673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775" y="6051550"/>
                        <a:ext cx="26193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182572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sp>
        <p:nvSpPr>
          <p:cNvPr id="35843" name="矩形 23"/>
          <p:cNvSpPr>
            <a:spLocks noChangeArrowheads="1"/>
          </p:cNvSpPr>
          <p:nvPr/>
        </p:nvSpPr>
        <p:spPr bwMode="auto">
          <a:xfrm>
            <a:off x="76200" y="1600200"/>
            <a:ext cx="876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r>
              <a:rPr lang="en-US" altLang="zh-CN" sz="2400">
                <a:latin typeface="Times New Roman" pitchFamily="18" charset="0"/>
              </a:rPr>
              <a:t>OLS seeks a solution that minimizes the function </a:t>
            </a:r>
            <a:r>
              <a:rPr lang="en-US" altLang="zh-CN" sz="2400" i="1">
                <a:latin typeface="Times New Roman" pitchFamily="18" charset="0"/>
              </a:rPr>
              <a:t>Q:</a:t>
            </a:r>
            <a:endParaRPr lang="zh-CN" altLang="en-US" sz="2400">
              <a:latin typeface="Times New Roman" pitchFamily="18" charset="0"/>
            </a:endParaRPr>
          </a:p>
        </p:txBody>
      </p:sp>
      <p:pic>
        <p:nvPicPr>
          <p:cNvPr id="35844" name="Picture 1" descr="C:\Users\cheng\AppData\Roaming\Tencent\Users\394197411\QQ\WinTemp\RichOle\%N]W$U)[[0S@]@_)~RHVPH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38" y="2230438"/>
            <a:ext cx="56388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2" descr="C:\Users\cheng\AppData\Roaming\Tencent\Users\394197411\QQ\WinTemp\RichOle\VG}15~Y62HNP_`QU)UG1KO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25" y="2268538"/>
            <a:ext cx="30003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矩形 40"/>
          <p:cNvSpPr>
            <a:spLocks noChangeArrowheads="1"/>
          </p:cNvSpPr>
          <p:nvPr/>
        </p:nvSpPr>
        <p:spPr bwMode="auto">
          <a:xfrm>
            <a:off x="76200" y="3352800"/>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r>
              <a:rPr lang="en-US" altLang="zh-CN" sz="2400">
                <a:latin typeface="Times New Roman" pitchFamily="18" charset="0"/>
              </a:rPr>
              <a:t>By setting the partial derivatives of </a:t>
            </a:r>
            <a:r>
              <a:rPr lang="en-US" altLang="zh-CN" sz="2400" i="1">
                <a:latin typeface="Times New Roman" pitchFamily="18" charset="0"/>
              </a:rPr>
              <a:t>Q</a:t>
            </a:r>
            <a:r>
              <a:rPr lang="en-US" altLang="zh-CN" sz="2400">
                <a:latin typeface="Times New Roman" pitchFamily="18" charset="0"/>
              </a:rPr>
              <a:t> with respect to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o</a:t>
            </a:r>
            <a:r>
              <a:rPr lang="zh-CN" altLang="en-US" sz="2400">
                <a:latin typeface="Times New Roman" pitchFamily="18" charset="0"/>
              </a:rPr>
              <a:t> </a:t>
            </a:r>
            <a:r>
              <a:rPr lang="en-US" altLang="zh-CN" sz="2400">
                <a:latin typeface="Times New Roman" pitchFamily="18" charset="0"/>
              </a:rPr>
              <a:t>and </a:t>
            </a:r>
            <a:r>
              <a:rPr lang="en-US" altLang="zh-CN" sz="2400">
                <a:solidFill>
                  <a:srgbClr val="000000"/>
                </a:solidFill>
                <a:latin typeface="Symbol" pitchFamily="18" charset="2"/>
              </a:rPr>
              <a:t>b</a:t>
            </a:r>
            <a:r>
              <a:rPr lang="en-US" altLang="zh-CN" sz="2400" baseline="-30000">
                <a:solidFill>
                  <a:srgbClr val="000000"/>
                </a:solidFill>
                <a:latin typeface="Times New Roman" pitchFamily="18" charset="0"/>
              </a:rPr>
              <a:t>1</a:t>
            </a:r>
            <a:r>
              <a:rPr lang="en-US" altLang="zh-CN" sz="2400">
                <a:solidFill>
                  <a:srgbClr val="000000"/>
                </a:solidFill>
                <a:latin typeface="Times New Roman" pitchFamily="18" charset="0"/>
              </a:rPr>
              <a:t> </a:t>
            </a:r>
            <a:r>
              <a:rPr lang="zh-CN" altLang="en-US" sz="2400">
                <a:latin typeface="Times New Roman" pitchFamily="18" charset="0"/>
              </a:rPr>
              <a:t>􀀕 </a:t>
            </a:r>
            <a:r>
              <a:rPr lang="en-US" altLang="zh-CN" sz="2400">
                <a:latin typeface="Times New Roman" pitchFamily="18" charset="0"/>
              </a:rPr>
              <a:t>equal to zero, the least squares estimated parameters </a:t>
            </a:r>
            <a:r>
              <a:rPr lang="en-US" altLang="zh-CN" sz="2400">
                <a:solidFill>
                  <a:srgbClr val="000000"/>
                </a:solidFill>
                <a:latin typeface="Symbol" pitchFamily="18" charset="2"/>
              </a:rPr>
              <a:t>b</a:t>
            </a:r>
            <a:r>
              <a:rPr lang="en-US" altLang="zh-CN" sz="2400" baseline="-30000">
                <a:solidFill>
                  <a:srgbClr val="000000"/>
                </a:solidFill>
                <a:latin typeface="Times New Roman" pitchFamily="18" charset="0"/>
              </a:rPr>
              <a:t>o  </a:t>
            </a:r>
            <a:r>
              <a:rPr lang="en-US" altLang="zh-CN" sz="2400">
                <a:latin typeface="Times New Roman" pitchFamily="18" charset="0"/>
              </a:rPr>
              <a:t>and </a:t>
            </a:r>
            <a:r>
              <a:rPr lang="en-US" altLang="zh-CN" sz="2400">
                <a:solidFill>
                  <a:srgbClr val="000000"/>
                </a:solidFill>
                <a:latin typeface="Symbol" pitchFamily="18" charset="2"/>
              </a:rPr>
              <a:t>b</a:t>
            </a:r>
            <a:r>
              <a:rPr lang="en-US" altLang="zh-CN" sz="2400" baseline="-30000">
                <a:solidFill>
                  <a:srgbClr val="000000"/>
                </a:solidFill>
                <a:latin typeface="Times New Roman" pitchFamily="18" charset="0"/>
              </a:rPr>
              <a:t>1</a:t>
            </a:r>
            <a:r>
              <a:rPr lang="en-US" altLang="zh-CN" sz="2400">
                <a:solidFill>
                  <a:srgbClr val="000000"/>
                </a:solidFill>
                <a:latin typeface="Times New Roman" pitchFamily="18" charset="0"/>
              </a:rPr>
              <a:t> </a:t>
            </a:r>
            <a:r>
              <a:rPr lang="en-US" altLang="zh-CN" sz="2400">
                <a:latin typeface="Times New Roman" pitchFamily="18" charset="0"/>
              </a:rPr>
              <a:t>are obtained:</a:t>
            </a:r>
            <a:endParaRPr lang="zh-CN" altLang="en-US" sz="2400">
              <a:latin typeface="Times New Roman" pitchFamily="18" charset="0"/>
            </a:endParaRPr>
          </a:p>
        </p:txBody>
      </p:sp>
      <p:pic>
        <p:nvPicPr>
          <p:cNvPr id="35847" name="Picture 3" descr="C:\Users\cheng\AppData\Roaming\Tencent\Users\394197411\QQ\WinTemp\RichOle\C]0{Q0`956BH81Z8PQX@FG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4495800"/>
            <a:ext cx="417195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4" descr="C:\Users\cheng\AppData\Roaming\Tencent\Users\394197411\QQ\WinTemp\RichOle\@JA95N4~)V`FWUO{W(15PG4.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5638800"/>
            <a:ext cx="42481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45758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sp>
        <p:nvSpPr>
          <p:cNvPr id="36867" name="矩形 8"/>
          <p:cNvSpPr>
            <a:spLocks noChangeArrowheads="1"/>
          </p:cNvSpPr>
          <p:nvPr/>
        </p:nvSpPr>
        <p:spPr bwMode="auto">
          <a:xfrm>
            <a:off x="76200" y="1600200"/>
            <a:ext cx="8763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r>
              <a:rPr lang="en-US" altLang="zh-CN" sz="2400">
                <a:latin typeface="Times New Roman" pitchFamily="18" charset="0"/>
              </a:rPr>
              <a:t>Solving these equations using B</a:t>
            </a:r>
            <a:r>
              <a:rPr lang="en-US" altLang="zh-CN" sz="2400" baseline="-25000">
                <a:latin typeface="Times New Roman" pitchFamily="18" charset="0"/>
              </a:rPr>
              <a:t>0</a:t>
            </a:r>
            <a:r>
              <a:rPr lang="zh-CN" altLang="en-US" sz="2400">
                <a:latin typeface="Times New Roman" pitchFamily="18" charset="0"/>
              </a:rPr>
              <a:t> </a:t>
            </a:r>
            <a:r>
              <a:rPr lang="en-US" altLang="zh-CN" sz="2400">
                <a:latin typeface="Times New Roman" pitchFamily="18" charset="0"/>
              </a:rPr>
              <a:t>and B</a:t>
            </a:r>
            <a:r>
              <a:rPr lang="en-US" altLang="zh-CN" sz="2400" baseline="-25000">
                <a:latin typeface="Times New Roman" pitchFamily="18" charset="0"/>
              </a:rPr>
              <a:t>1</a:t>
            </a:r>
            <a:r>
              <a:rPr lang="zh-CN" altLang="en-US" sz="2400">
                <a:latin typeface="Times New Roman" pitchFamily="18" charset="0"/>
              </a:rPr>
              <a:t> </a:t>
            </a:r>
            <a:r>
              <a:rPr lang="en-US" altLang="zh-CN" sz="2400">
                <a:latin typeface="Times New Roman" pitchFamily="18" charset="0"/>
              </a:rPr>
              <a:t>to denote the estimates of </a:t>
            </a:r>
            <a:r>
              <a:rPr lang="en-US" altLang="zh-CN" sz="2400">
                <a:solidFill>
                  <a:srgbClr val="000000"/>
                </a:solidFill>
                <a:latin typeface="Symbol" pitchFamily="18" charset="2"/>
                <a:cs typeface="Times New Roman" pitchFamily="18" charset="0"/>
              </a:rPr>
              <a:t>b</a:t>
            </a:r>
            <a:r>
              <a:rPr lang="en-US" altLang="zh-CN" sz="2400" baseline="-30000">
                <a:solidFill>
                  <a:srgbClr val="000000"/>
                </a:solidFill>
                <a:latin typeface="Times New Roman" pitchFamily="18" charset="0"/>
                <a:cs typeface="Times New Roman" pitchFamily="18" charset="0"/>
              </a:rPr>
              <a:t>o</a:t>
            </a:r>
            <a:r>
              <a:rPr lang="zh-CN" altLang="en-US" sz="2400">
                <a:latin typeface="Times New Roman" pitchFamily="18" charset="0"/>
              </a:rPr>
              <a:t> </a:t>
            </a:r>
            <a:r>
              <a:rPr lang="en-US" altLang="zh-CN" sz="2400">
                <a:latin typeface="Times New Roman" pitchFamily="18" charset="0"/>
              </a:rPr>
              <a:t>and </a:t>
            </a:r>
            <a:r>
              <a:rPr lang="en-US" altLang="zh-CN" sz="2400">
                <a:solidFill>
                  <a:srgbClr val="000000"/>
                </a:solidFill>
                <a:latin typeface="Symbol" pitchFamily="18" charset="2"/>
              </a:rPr>
              <a:t>b</a:t>
            </a:r>
            <a:r>
              <a:rPr lang="en-US" altLang="zh-CN" sz="2400" baseline="-30000">
                <a:solidFill>
                  <a:srgbClr val="000000"/>
                </a:solidFill>
                <a:latin typeface="Times New Roman" pitchFamily="18" charset="0"/>
              </a:rPr>
              <a:t>1</a:t>
            </a:r>
            <a:r>
              <a:rPr lang="en-US" altLang="zh-CN" sz="2400">
                <a:solidFill>
                  <a:srgbClr val="000000"/>
                </a:solidFill>
                <a:latin typeface="Times New Roman" pitchFamily="18" charset="0"/>
              </a:rPr>
              <a:t> </a:t>
            </a:r>
            <a:r>
              <a:rPr lang="en-US" altLang="zh-CN" sz="2400">
                <a:latin typeface="Times New Roman" pitchFamily="18" charset="0"/>
              </a:rPr>
              <a:t>, respectively, and rearranging terms yields:</a:t>
            </a:r>
            <a:endParaRPr lang="zh-CN" altLang="en-US" sz="2400">
              <a:latin typeface="Times New Roman" pitchFamily="18" charset="0"/>
            </a:endParaRPr>
          </a:p>
        </p:txBody>
      </p:sp>
      <p:pic>
        <p:nvPicPr>
          <p:cNvPr id="36868" name="Picture 2" descr="C:\Users\cheng\AppData\Roaming\Tencent\Users\394197411\QQ\WinTemp\RichOle\0A)TQTMIHQTZ)X8M%7GOMK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2598738"/>
            <a:ext cx="3724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3" descr="C:\Users\cheng\AppData\Roaming\Tencent\Users\394197411\QQ\WinTemp\RichOle\]U0S[Y}Y%)639VB2Q[OUL8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225" y="2590800"/>
            <a:ext cx="30003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矩形 12"/>
          <p:cNvSpPr>
            <a:spLocks noChangeArrowheads="1"/>
          </p:cNvSpPr>
          <p:nvPr/>
        </p:nvSpPr>
        <p:spPr bwMode="auto">
          <a:xfrm>
            <a:off x="76200" y="3810000"/>
            <a:ext cx="876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r>
              <a:rPr lang="en-US" altLang="zh-CN" sz="2400">
                <a:latin typeface="Times New Roman" pitchFamily="18" charset="0"/>
              </a:rPr>
              <a:t>Solving simultaneously for the betas yields:</a:t>
            </a:r>
            <a:endParaRPr lang="zh-CN" altLang="en-US" sz="2400">
              <a:latin typeface="Times New Roman" pitchFamily="18" charset="0"/>
            </a:endParaRPr>
          </a:p>
        </p:txBody>
      </p:sp>
      <p:pic>
        <p:nvPicPr>
          <p:cNvPr id="36871" name="Picture 4" descr="C:\Users\cheng\AppData\Roaming\Tencent\Users\394197411\QQ\WinTemp\RichOle\Q34TM7D0BVBYBSJN%]SQ@4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 y="4514850"/>
            <a:ext cx="37242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5" descr="C:\Users\cheng\AppData\Roaming\Tencent\Users\394197411\QQ\WinTemp\RichOle\2E{T`KGEIV]A_N0ZBX)KMFW.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0075" y="4953000"/>
            <a:ext cx="465772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96836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pic>
        <p:nvPicPr>
          <p:cNvPr id="37891" name="Picture 1" descr="C:\Users\cheng\AppData\Roaming\Tencent\Users\394197411\QQ\WinTemp\RichOle\~W)4(4CU@XXN[O`UDW@94U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89088"/>
            <a:ext cx="6629400" cy="199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2" descr="C:\Users\cheng\AppData\Roaming\Tencent\Users\394197411\QQ\WinTemp\RichOle\$BPJUK%{BRPIITCQ6])4I)V.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689350"/>
            <a:ext cx="58674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22652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Least Squares Estimation</a:t>
            </a:r>
            <a:endParaRPr lang="zh-CN" altLang="en-US" sz="3600" b="1" smtClean="0">
              <a:latin typeface="Times New Roman" pitchFamily="18" charset="0"/>
              <a:cs typeface="Times New Roman" pitchFamily="18" charset="0"/>
            </a:endParaRPr>
          </a:p>
        </p:txBody>
      </p:sp>
      <p:pic>
        <p:nvPicPr>
          <p:cNvPr id="38915" name="Picture 1" descr="C:\Users\cheng\AppData\Roaming\Tencent\Users\394197411\QQ\WinTemp\RichOle\TAOCS$H78NG63}9P%CHI@0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0"/>
            <a:ext cx="6048375"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Rectangle 2"/>
          <p:cNvSpPr txBox="1">
            <a:spLocks noChangeArrowheads="1"/>
          </p:cNvSpPr>
          <p:nvPr/>
        </p:nvSpPr>
        <p:spPr bwMode="auto">
          <a:xfrm>
            <a:off x="52388" y="4267200"/>
            <a:ext cx="8991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For each additional 1000 people in the local county population, there is an estimated 29 additional AADT.</a:t>
            </a:r>
          </a:p>
        </p:txBody>
      </p:sp>
      <p:sp>
        <p:nvSpPr>
          <p:cNvPr id="38917" name="Rectangle 2"/>
          <p:cNvSpPr txBox="1">
            <a:spLocks noChangeArrowheads="1"/>
          </p:cNvSpPr>
          <p:nvPr/>
        </p:nvSpPr>
        <p:spPr bwMode="auto">
          <a:xfrm>
            <a:off x="52388" y="5029200"/>
            <a:ext cx="899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For each lane there is an estimated 9954 AADT.</a:t>
            </a:r>
          </a:p>
        </p:txBody>
      </p:sp>
      <p:sp>
        <p:nvSpPr>
          <p:cNvPr id="38918" name="Rectangle 2"/>
          <p:cNvSpPr txBox="1">
            <a:spLocks noChangeArrowheads="1"/>
          </p:cNvSpPr>
          <p:nvPr/>
        </p:nvSpPr>
        <p:spPr bwMode="auto">
          <a:xfrm>
            <a:off x="76200" y="5486400"/>
            <a:ext cx="899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Urban interstates are associated with an estimated 35,454 AADT more than non-interstates</a:t>
            </a:r>
          </a:p>
        </p:txBody>
      </p:sp>
    </p:spTree>
    <p:extLst>
      <p:ext uri="{BB962C8B-B14F-4D97-AF65-F5344CB8AC3E}">
        <p14:creationId xmlns:p14="http://schemas.microsoft.com/office/powerpoint/2010/main" val="17723332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Maximum Likelihood Estimation</a:t>
            </a:r>
            <a:endParaRPr lang="zh-CN" altLang="en-US" sz="3600" b="1" smtClean="0">
              <a:latin typeface="Times New Roman" pitchFamily="18" charset="0"/>
              <a:cs typeface="Times New Roman" pitchFamily="18" charset="0"/>
            </a:endParaRPr>
          </a:p>
        </p:txBody>
      </p:sp>
      <p:graphicFrame>
        <p:nvGraphicFramePr>
          <p:cNvPr id="39939" name="对象 1"/>
          <p:cNvGraphicFramePr>
            <a:graphicFrameLocks noChangeAspect="1"/>
          </p:cNvGraphicFramePr>
          <p:nvPr/>
        </p:nvGraphicFramePr>
        <p:xfrm>
          <a:off x="2998788" y="3124200"/>
          <a:ext cx="5535612" cy="1054100"/>
        </p:xfrm>
        <a:graphic>
          <a:graphicData uri="http://schemas.openxmlformats.org/presentationml/2006/ole">
            <mc:AlternateContent xmlns:mc="http://schemas.openxmlformats.org/markup-compatibility/2006">
              <mc:Choice xmlns:v="urn:schemas-microsoft-com:vml" Requires="v">
                <p:oleObj spid="_x0000_s30725" name="Equation" r:id="rId3" imgW="2844800" imgH="533400" progId="Equation.DSMT4">
                  <p:embed/>
                </p:oleObj>
              </mc:Choice>
              <mc:Fallback>
                <p:oleObj name="Equation" r:id="rId3" imgW="2844800" imgH="533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8788" y="3124200"/>
                        <a:ext cx="5535612"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9940" name="Picture 4" descr="C:\Users\cheng\AppData\Roaming\Tencent\Users\394197411\QQ\WinTemp\RichOle\F37A9IZC7AE`DQXZ9XEOUG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413125"/>
            <a:ext cx="1905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2"/>
          <p:cNvSpPr txBox="1">
            <a:spLocks noChangeArrowheads="1"/>
          </p:cNvSpPr>
          <p:nvPr/>
        </p:nvSpPr>
        <p:spPr bwMode="auto">
          <a:xfrm>
            <a:off x="0" y="1676400"/>
            <a:ext cx="9144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Another popular and sometimes useful statistical estimation method is called maximum likelihood estimation, which results in the maximum likelihood estimates, or </a:t>
            </a:r>
            <a:r>
              <a:rPr lang="en-US" altLang="zh-CN" sz="2400" b="1">
                <a:solidFill>
                  <a:srgbClr val="FF0000"/>
                </a:solidFill>
                <a:latin typeface="Times New Roman" pitchFamily="18" charset="0"/>
                <a:cs typeface="Times New Roman" pitchFamily="18" charset="0"/>
              </a:rPr>
              <a:t>MLEs</a:t>
            </a:r>
            <a:r>
              <a:rPr lang="en-US" altLang="zh-CN" sz="2400">
                <a:latin typeface="Times New Roman" pitchFamily="18" charset="0"/>
                <a:cs typeface="Times New Roman" pitchFamily="18" charset="0"/>
              </a:rPr>
              <a:t>. The probability of each observation is given as:</a:t>
            </a:r>
          </a:p>
        </p:txBody>
      </p:sp>
      <p:sp>
        <p:nvSpPr>
          <p:cNvPr id="39942" name="Rectangle 2"/>
          <p:cNvSpPr txBox="1">
            <a:spLocks noChangeArrowheads="1"/>
          </p:cNvSpPr>
          <p:nvPr/>
        </p:nvSpPr>
        <p:spPr bwMode="auto">
          <a:xfrm>
            <a:off x="0" y="41910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Likelihood function is the joint density of observing the sample data from a statistical distribution with parameter vector</a:t>
            </a:r>
          </a:p>
        </p:txBody>
      </p:sp>
      <p:pic>
        <p:nvPicPr>
          <p:cNvPr id="39943" name="Picture 3" descr="C:\Users\cheng\AppData\Roaming\Tencent\Users\394197411\QQ\WinTemp\RichOle\IQPK[B98YR9I`)NA_KQU%8F.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3113" y="5181600"/>
            <a:ext cx="50577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42089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Maximum Likelihood Estimation</a:t>
            </a:r>
            <a:endParaRPr lang="zh-CN" altLang="en-US" sz="3600" b="1" smtClean="0">
              <a:latin typeface="Times New Roman" pitchFamily="18" charset="0"/>
              <a:cs typeface="Times New Roman" pitchFamily="18" charset="0"/>
            </a:endParaRPr>
          </a:p>
        </p:txBody>
      </p:sp>
      <p:sp>
        <p:nvSpPr>
          <p:cNvPr id="40963" name="Rectangle 2"/>
          <p:cNvSpPr txBox="1">
            <a:spLocks noChangeArrowheads="1"/>
          </p:cNvSpPr>
          <p:nvPr/>
        </p:nvSpPr>
        <p:spPr bwMode="auto">
          <a:xfrm>
            <a:off x="0" y="16764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For the regression model, the likelihood function for a sample of n independent, identically, and normally distributed disturbances is given by:</a:t>
            </a:r>
          </a:p>
        </p:txBody>
      </p:sp>
      <p:sp>
        <p:nvSpPr>
          <p:cNvPr id="40964"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0965"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0966" name="AutoShape 3" descr="C:\Users\cheng\AppData\Roaming\Tencent\Users\394197411\QQ\WinTemp\RichOle\N_RR%G}Q]~SO4B6W1_Xj2.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0967" name="AutoShape 4" descr="C:\Users\cheng\AppData\Roaming\Tencent\Users\394197411\QQ\WinTemp\RichOle\N_RR%G}Q]~SO4B6W1_Xj2.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0968"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409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048000"/>
            <a:ext cx="3914775"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70" name="Picture 7" descr="C:\Users\cheng\AppData\Roaming\Tencent\Users\394197411\QQ\WinTemp\RichOle\ULDAKVW1VIR%8LE$5DK7FVQ.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0575" y="3038475"/>
            <a:ext cx="38576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Rectangle 2"/>
          <p:cNvSpPr txBox="1">
            <a:spLocks noChangeArrowheads="1"/>
          </p:cNvSpPr>
          <p:nvPr/>
        </p:nvSpPr>
        <p:spPr bwMode="auto">
          <a:xfrm>
            <a:off x="0" y="4086225"/>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As is usually the case, the logarithm of Equation, or the log likelihood, is simpler to solve than the likelihood function itself, so taking the log of L yields:</a:t>
            </a:r>
          </a:p>
        </p:txBody>
      </p:sp>
      <p:pic>
        <p:nvPicPr>
          <p:cNvPr id="40972" name="Picture 8" descr="C:\Users\cheng\AppData\Roaming\Tencent\Users\394197411\QQ\WinTemp\RichOle\ENS0X66%GH_F%5HOS_CJO{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534025"/>
            <a:ext cx="78200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30154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Inference in Regression Analysis</a:t>
            </a:r>
            <a:endParaRPr lang="zh-CN" altLang="en-US" sz="3600" b="1" smtClean="0">
              <a:latin typeface="Times New Roman" pitchFamily="18" charset="0"/>
              <a:cs typeface="Times New Roman" pitchFamily="18" charset="0"/>
            </a:endParaRPr>
          </a:p>
        </p:txBody>
      </p:sp>
      <p:sp>
        <p:nvSpPr>
          <p:cNvPr id="46083"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6084"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6085" name="AutoShape 3" descr="C:\Users\cheng\AppData\Roaming\Tencent\Users\394197411\QQ\WinTemp\RichOle\N_RR%G}Q]~SO4B6W1_Xj2.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6086" name="AutoShape 4" descr="C:\Users\cheng\AppData\Roaming\Tencent\Users\394197411\QQ\WinTemp\RichOle\N_RR%G}Q]~SO4B6W1_Xj2.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6087"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6088" name="Rectangle 2"/>
          <p:cNvSpPr txBox="1">
            <a:spLocks noChangeArrowheads="1"/>
          </p:cNvSpPr>
          <p:nvPr/>
        </p:nvSpPr>
        <p:spPr bwMode="auto">
          <a:xfrm>
            <a:off x="0" y="1774825"/>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Consider again the study of AADT in Minnesota. Interest centers on the development of confidence intervals and hypothesis tests on some of the parameters estimated in Example 3.1</a:t>
            </a:r>
            <a:endParaRPr lang="zh-CN" altLang="en-US" sz="2400">
              <a:cs typeface="Times New Roman" pitchFamily="18" charset="0"/>
            </a:endParaRPr>
          </a:p>
        </p:txBody>
      </p:sp>
      <p:pic>
        <p:nvPicPr>
          <p:cNvPr id="46089" name="Picture 1" descr="C:\Users\cheng\AppData\Roaming\Tencent\Users\394197411\QQ\WinTemp\RichOle\033ZRG2@SKDJ{VA$8K}URO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38" y="3276600"/>
            <a:ext cx="8656637"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8799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47107"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7108"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7109"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7110"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7111" name="Rectangle 2"/>
          <p:cNvSpPr txBox="1">
            <a:spLocks noChangeArrowheads="1"/>
          </p:cNvSpPr>
          <p:nvPr/>
        </p:nvSpPr>
        <p:spPr bwMode="auto">
          <a:xfrm>
            <a:off x="-4763" y="1524000"/>
            <a:ext cx="9144001"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b="1">
                <a:solidFill>
                  <a:srgbClr val="FF0000"/>
                </a:solidFill>
                <a:latin typeface="Times New Roman" pitchFamily="18" charset="0"/>
                <a:cs typeface="Times New Roman" pitchFamily="18" charset="0"/>
              </a:rPr>
              <a:t>Standardized</a:t>
            </a:r>
            <a:r>
              <a:rPr lang="en-US" altLang="zh-CN" sz="2400">
                <a:latin typeface="Times New Roman" pitchFamily="18" charset="0"/>
                <a:cs typeface="Times New Roman" pitchFamily="18" charset="0"/>
              </a:rPr>
              <a:t> regression models allow for direct comparison of the relative importance of independent variables</a:t>
            </a:r>
            <a:endParaRPr lang="zh-CN" altLang="en-US" sz="2400">
              <a:cs typeface="Times New Roman" pitchFamily="18" charset="0"/>
            </a:endParaRPr>
          </a:p>
        </p:txBody>
      </p:sp>
      <p:sp>
        <p:nvSpPr>
          <p:cNvPr id="47112" name="Rectangle 2"/>
          <p:cNvSpPr txBox="1">
            <a:spLocks noChangeArrowheads="1"/>
          </p:cNvSpPr>
          <p:nvPr/>
        </p:nvSpPr>
        <p:spPr bwMode="auto">
          <a:xfrm>
            <a:off x="-30163" y="2667000"/>
            <a:ext cx="9144001"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Often interest is focused on the </a:t>
            </a:r>
            <a:r>
              <a:rPr lang="en-US" altLang="zh-CN" sz="2400" b="1">
                <a:solidFill>
                  <a:srgbClr val="FF0000"/>
                </a:solidFill>
                <a:latin typeface="Times New Roman" pitchFamily="18" charset="0"/>
                <a:cs typeface="Times New Roman" pitchFamily="18" charset="0"/>
              </a:rPr>
              <a:t>relative impacts </a:t>
            </a:r>
            <a:r>
              <a:rPr lang="en-US" altLang="zh-CN" sz="2400">
                <a:latin typeface="Times New Roman" pitchFamily="18" charset="0"/>
                <a:cs typeface="Times New Roman" pitchFamily="18" charset="0"/>
              </a:rPr>
              <a:t>of independent variables on the response variable Y</a:t>
            </a:r>
            <a:endParaRPr lang="zh-CN" altLang="en-US" sz="2400">
              <a:cs typeface="Times New Roman" pitchFamily="18" charset="0"/>
            </a:endParaRPr>
          </a:p>
        </p:txBody>
      </p:sp>
      <p:sp>
        <p:nvSpPr>
          <p:cNvPr id="47113" name="Rectangle 2"/>
          <p:cNvSpPr txBox="1">
            <a:spLocks noChangeArrowheads="1"/>
          </p:cNvSpPr>
          <p:nvPr/>
        </p:nvSpPr>
        <p:spPr bwMode="auto">
          <a:xfrm>
            <a:off x="-30163" y="3962400"/>
            <a:ext cx="9144001"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Two independent variables in a model describing the </a:t>
            </a:r>
            <a:r>
              <a:rPr lang="en-US" altLang="zh-CN" sz="2400" i="1">
                <a:solidFill>
                  <a:srgbClr val="FF0000"/>
                </a:solidFill>
                <a:latin typeface="Times New Roman" pitchFamily="18" charset="0"/>
                <a:cs typeface="Times New Roman" pitchFamily="18" charset="0"/>
              </a:rPr>
              <a:t>expected number of daily trip-chains</a:t>
            </a:r>
            <a:r>
              <a:rPr lang="en-US" altLang="zh-CN" sz="2400">
                <a:latin typeface="Times New Roman" pitchFamily="18" charset="0"/>
                <a:cs typeface="Times New Roman" pitchFamily="18" charset="0"/>
              </a:rPr>
              <a:t> were </a:t>
            </a:r>
            <a:r>
              <a:rPr lang="en-US" altLang="zh-CN" sz="2400" i="1">
                <a:solidFill>
                  <a:srgbClr val="FF0000"/>
                </a:solidFill>
                <a:latin typeface="Times New Roman" pitchFamily="18" charset="0"/>
                <a:cs typeface="Times New Roman" pitchFamily="18" charset="0"/>
              </a:rPr>
              <a:t>number of children</a:t>
            </a:r>
            <a:r>
              <a:rPr lang="en-US" altLang="zh-CN" sz="2400" i="1">
                <a:latin typeface="Times New Roman" pitchFamily="18" charset="0"/>
                <a:cs typeface="Times New Roman" pitchFamily="18" charset="0"/>
              </a:rPr>
              <a:t> </a:t>
            </a:r>
            <a:r>
              <a:rPr lang="en-US" altLang="zh-CN" sz="2400">
                <a:latin typeface="Times New Roman" pitchFamily="18" charset="0"/>
                <a:cs typeface="Times New Roman" pitchFamily="18" charset="0"/>
              </a:rPr>
              <a:t>and </a:t>
            </a:r>
            <a:r>
              <a:rPr lang="en-US" altLang="zh-CN" sz="2400" i="1">
                <a:solidFill>
                  <a:srgbClr val="FF0000"/>
                </a:solidFill>
                <a:latin typeface="Times New Roman" pitchFamily="18" charset="0"/>
                <a:cs typeface="Times New Roman" pitchFamily="18" charset="0"/>
              </a:rPr>
              <a:t>household income</a:t>
            </a:r>
            <a:endParaRPr lang="zh-CN" altLang="en-US" sz="2400" i="1">
              <a:solidFill>
                <a:srgbClr val="FF0000"/>
              </a:solidFill>
              <a:cs typeface="Times New Roman" pitchFamily="18" charset="0"/>
            </a:endParaRPr>
          </a:p>
        </p:txBody>
      </p:sp>
      <p:sp>
        <p:nvSpPr>
          <p:cNvPr id="47114" name="Rectangle 2"/>
          <p:cNvSpPr txBox="1">
            <a:spLocks noChangeArrowheads="1"/>
          </p:cNvSpPr>
          <p:nvPr/>
        </p:nvSpPr>
        <p:spPr bwMode="auto">
          <a:xfrm>
            <a:off x="-4763" y="5181600"/>
            <a:ext cx="914400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Households may have children ranging from 0 to 8, while income may range from $5000 to $500,000, making it difficult to make a useful comparison between the relative impact of these variables</a:t>
            </a:r>
            <a:endParaRPr lang="zh-CN" altLang="en-US" sz="2400" i="1">
              <a:solidFill>
                <a:srgbClr val="FF0000"/>
              </a:solidFill>
              <a:cs typeface="Times New Roman" pitchFamily="18" charset="0"/>
            </a:endParaRPr>
          </a:p>
        </p:txBody>
      </p:sp>
    </p:spTree>
    <p:extLst>
      <p:ext uri="{BB962C8B-B14F-4D97-AF65-F5344CB8AC3E}">
        <p14:creationId xmlns:p14="http://schemas.microsoft.com/office/powerpoint/2010/main" val="7431251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48131"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8132"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8133"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8134"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8135" name="Rectangle 2"/>
          <p:cNvSpPr txBox="1">
            <a:spLocks noChangeArrowheads="1"/>
          </p:cNvSpPr>
          <p:nvPr/>
        </p:nvSpPr>
        <p:spPr bwMode="auto">
          <a:xfrm>
            <a:off x="-4763" y="1524000"/>
            <a:ext cx="9144001"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The standardized regression model is obtained by </a:t>
            </a:r>
            <a:r>
              <a:rPr lang="en-US" altLang="zh-CN" sz="2400" b="1">
                <a:solidFill>
                  <a:srgbClr val="FF0000"/>
                </a:solidFill>
                <a:latin typeface="Times New Roman" pitchFamily="18" charset="0"/>
                <a:cs typeface="Times New Roman" pitchFamily="18" charset="0"/>
              </a:rPr>
              <a:t>standardizing</a:t>
            </a:r>
            <a:r>
              <a:rPr lang="en-US" altLang="zh-CN" sz="2400">
                <a:latin typeface="Times New Roman" pitchFamily="18" charset="0"/>
                <a:cs typeface="Times New Roman" pitchFamily="18" charset="0"/>
              </a:rPr>
              <a:t> all </a:t>
            </a:r>
            <a:r>
              <a:rPr lang="en-US" altLang="zh-CN" sz="2400" b="1">
                <a:solidFill>
                  <a:srgbClr val="FF0000"/>
                </a:solidFill>
                <a:latin typeface="Times New Roman" pitchFamily="18" charset="0"/>
                <a:cs typeface="Times New Roman" pitchFamily="18" charset="0"/>
              </a:rPr>
              <a:t>independent variables</a:t>
            </a:r>
            <a:r>
              <a:rPr lang="en-US" altLang="zh-CN" sz="2400">
                <a:latin typeface="Times New Roman" pitchFamily="18" charset="0"/>
                <a:cs typeface="Times New Roman" pitchFamily="18" charset="0"/>
              </a:rPr>
              <a:t>.</a:t>
            </a:r>
            <a:endParaRPr lang="zh-CN" altLang="en-US" sz="2400">
              <a:cs typeface="Times New Roman" pitchFamily="18" charset="0"/>
            </a:endParaRPr>
          </a:p>
        </p:txBody>
      </p:sp>
      <p:pic>
        <p:nvPicPr>
          <p:cNvPr id="48136" name="Picture 1" descr="C:\Users\cheng\AppData\Roaming\Tencent\Users\394197411\QQ\WinTemp\RichOle\U)$V%4YN)XAOMQ3VI$$S%L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362200"/>
            <a:ext cx="17907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Rectangle 2"/>
          <p:cNvSpPr txBox="1">
            <a:spLocks noChangeArrowheads="1"/>
          </p:cNvSpPr>
          <p:nvPr/>
        </p:nvSpPr>
        <p:spPr bwMode="auto">
          <a:xfrm>
            <a:off x="-4763" y="3352800"/>
            <a:ext cx="9144001"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The standardized variables are created with expected values equal to 0 and variances equal to 1.</a:t>
            </a:r>
            <a:endParaRPr lang="zh-CN" altLang="en-US" sz="2400">
              <a:cs typeface="Times New Roman" pitchFamily="18" charset="0"/>
            </a:endParaRPr>
          </a:p>
        </p:txBody>
      </p:sp>
    </p:spTree>
    <p:extLst>
      <p:ext uri="{BB962C8B-B14F-4D97-AF65-F5344CB8AC3E}">
        <p14:creationId xmlns:p14="http://schemas.microsoft.com/office/powerpoint/2010/main" val="30037254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49155"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9156"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9157"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9158"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49159" name="Rectangle 2"/>
          <p:cNvSpPr txBox="1">
            <a:spLocks noChangeArrowheads="1"/>
          </p:cNvSpPr>
          <p:nvPr/>
        </p:nvSpPr>
        <p:spPr bwMode="auto">
          <a:xfrm>
            <a:off x="0" y="16002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b="1">
                <a:solidFill>
                  <a:srgbClr val="FF0000"/>
                </a:solidFill>
                <a:latin typeface="Times New Roman" pitchFamily="18" charset="0"/>
                <a:cs typeface="Times New Roman" pitchFamily="18" charset="0"/>
              </a:rPr>
              <a:t>Nonlinear relationships </a:t>
            </a:r>
            <a:r>
              <a:rPr lang="en-US" altLang="zh-CN" sz="2400">
                <a:latin typeface="Times New Roman" pitchFamily="18" charset="0"/>
                <a:cs typeface="Times New Roman" pitchFamily="18" charset="0"/>
              </a:rPr>
              <a:t>can be accommodated within the linear regression framework by </a:t>
            </a:r>
            <a:r>
              <a:rPr lang="en-US" altLang="zh-CN" sz="2400" b="1">
                <a:solidFill>
                  <a:srgbClr val="FF0000"/>
                </a:solidFill>
                <a:latin typeface="Times New Roman" pitchFamily="18" charset="0"/>
                <a:cs typeface="Times New Roman" pitchFamily="18" charset="0"/>
              </a:rPr>
              <a:t>Transformations</a:t>
            </a:r>
            <a:endParaRPr lang="zh-CN" altLang="en-US" sz="2400" b="1">
              <a:solidFill>
                <a:srgbClr val="FF0000"/>
              </a:solidFill>
              <a:cs typeface="Times New Roman" pitchFamily="18" charset="0"/>
            </a:endParaRPr>
          </a:p>
        </p:txBody>
      </p:sp>
      <p:pic>
        <p:nvPicPr>
          <p:cNvPr id="491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698750"/>
            <a:ext cx="4248150"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161" name="Picture 3" descr="C:\Users\cheng\AppData\Roaming\Tencent\Users\394197411\QQ\WinTemp\RichOle\{U0D(]9O91`_1WM}KCS1DW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038" y="2651125"/>
            <a:ext cx="27336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2" name="Picture 4" descr="C:\Users\cheng\AppData\Roaming\Tencent\Users\394197411\QQ\WinTemp\RichOle\T{GCA90(ZCV8{VA{FKW$6M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9713" y="4343400"/>
            <a:ext cx="26003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038" y="4391025"/>
            <a:ext cx="29432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164" name="Picture 6" descr="C:\Users\cheng\AppData\Roaming\Tencent\Users\394197411\QQ\WinTemp\RichOle\_EF6LIFMJ9RO$2V{PO36(BV.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5475" y="4624388"/>
            <a:ext cx="4095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5" name="Picture 6" descr="C:\Users\cheng\AppData\Roaming\Tencent\Users\394197411\QQ\WinTemp\RichOle\_EF6LIFMJ9RO$2V{PO36(BV.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3463" y="2979738"/>
            <a:ext cx="4095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49880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0179"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0180"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0181"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0182"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50183" name="Picture 1" descr="C:\Users\cheng\AppData\Roaming\Tencent\Users\394197411\QQ\WinTemp\RichOle\LE[`YLUSCS5HX9~2VS_8VX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8" y="1600200"/>
            <a:ext cx="4614862"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2" descr="C:\Users\cheng\AppData\Roaming\Tencent\Users\394197411\QQ\WinTemp\RichOle\0RX)C@P5R9%O564RWQGI1H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351213"/>
            <a:ext cx="43164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5"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0186"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0187"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5018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8350" y="1554163"/>
            <a:ext cx="4549775" cy="180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189" name="Picture 7" descr="C:\Users\cheng\AppData\Roaming\Tencent\Users\394197411\QQ\WinTemp\RichOle\7W731IJX8IL4H((WLA74[0Z.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421063"/>
            <a:ext cx="42862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0" name="Picture 8" descr="C:\Users\cheng\AppData\Roaming\Tencent\Users\394197411\QQ\WinTemp\RichOle\EU}EFCZ40D6ZB5{XTYS}G8V.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238" y="4191000"/>
            <a:ext cx="447675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1" name="Picture 9" descr="C:\Users\cheng\AppData\Roaming\Tencent\Users\394197411\QQ\WinTemp\RichOle\]BTQ~H){GGQBZ[AF5G{`C$2.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9638" y="6086475"/>
            <a:ext cx="30670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2" name="Picture 10" descr="C:\Users\cheng\AppData\Roaming\Tencent\Users\394197411\QQ\WinTemp\RichOle\}PRSZRBE1CH5ECH5UDT06@S.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4216400"/>
            <a:ext cx="4438650"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3" name="Picture 11" descr="C:\Users\cheng\AppData\Roaming\Tencent\Users\394197411\QQ\WinTemp\RichOle\78Z2@PRR5}P@N$XI}M6WG%N.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14963" y="6110288"/>
            <a:ext cx="3057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18069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1203"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1204"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1205"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1206"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1207"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1208"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1209"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512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76388"/>
            <a:ext cx="9067800"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4191000"/>
            <a:ext cx="8945562" cy="2273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92740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2227"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2228"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2229"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2230"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2231"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2232"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2233"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52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8" y="2711450"/>
            <a:ext cx="8763000" cy="2109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17716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3251"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2"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3"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4"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5"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6"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7"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3258" name="Rectangle 2"/>
          <p:cNvSpPr txBox="1">
            <a:spLocks noChangeArrowheads="1"/>
          </p:cNvSpPr>
          <p:nvPr/>
        </p:nvSpPr>
        <p:spPr bwMode="auto">
          <a:xfrm>
            <a:off x="0" y="1524000"/>
            <a:ext cx="9144000" cy="284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dirty="0" smtClean="0">
                <a:solidFill>
                  <a:srgbClr val="FF0000"/>
                </a:solidFill>
                <a:latin typeface="Times New Roman" pitchFamily="18" charset="0"/>
                <a:cs typeface="Times New Roman" pitchFamily="18" charset="0"/>
              </a:rPr>
              <a:t>Nominal</a:t>
            </a:r>
            <a:r>
              <a:rPr lang="en-US" altLang="zh-CN" sz="2400" dirty="0" smtClean="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scale</a:t>
            </a:r>
            <a:r>
              <a:rPr lang="en-US" altLang="zh-CN" sz="2400" dirty="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variables</a:t>
            </a:r>
            <a:r>
              <a:rPr lang="en-US" altLang="zh-CN" sz="2400" dirty="0">
                <a:latin typeface="Times New Roman" pitchFamily="18" charset="0"/>
                <a:cs typeface="Times New Roman" pitchFamily="18" charset="0"/>
              </a:rPr>
              <a:t> need transformed into </a:t>
            </a:r>
            <a:r>
              <a:rPr lang="en-US" altLang="zh-CN" sz="2400" dirty="0">
                <a:solidFill>
                  <a:srgbClr val="FF0000"/>
                </a:solidFill>
                <a:latin typeface="Times New Roman" pitchFamily="18" charset="0"/>
                <a:cs typeface="Times New Roman" pitchFamily="18" charset="0"/>
              </a:rPr>
              <a:t>indicator</a:t>
            </a:r>
            <a:r>
              <a:rPr lang="en-US" altLang="zh-CN" sz="2400" dirty="0">
                <a:latin typeface="Times New Roman" pitchFamily="18" charset="0"/>
                <a:cs typeface="Times New Roman" pitchFamily="18" charset="0"/>
              </a:rPr>
              <a:t> Variables</a:t>
            </a:r>
          </a:p>
          <a:p>
            <a:pPr eaLnBrk="1" hangingPunct="1">
              <a:spcBef>
                <a:spcPts val="1200"/>
              </a:spcBef>
            </a:pPr>
            <a:r>
              <a:rPr lang="en-US" altLang="zh-CN" sz="2400" dirty="0">
                <a:latin typeface="Times New Roman" pitchFamily="18" charset="0"/>
                <a:cs typeface="Times New Roman" pitchFamily="18" charset="0"/>
              </a:rPr>
              <a:t>Qualitative variables such as </a:t>
            </a:r>
            <a:r>
              <a:rPr lang="en-US" altLang="zh-CN" sz="2400" i="1" dirty="0">
                <a:latin typeface="Times New Roman" pitchFamily="18" charset="0"/>
                <a:cs typeface="Times New Roman" pitchFamily="18" charset="0"/>
              </a:rPr>
              <a:t>roadway functional class</a:t>
            </a:r>
            <a:r>
              <a:rPr lang="en-US" altLang="zh-CN" sz="2400" dirty="0">
                <a:latin typeface="Times New Roman" pitchFamily="18" charset="0"/>
                <a:cs typeface="Times New Roman" pitchFamily="18" charset="0"/>
              </a:rPr>
              <a:t>, </a:t>
            </a:r>
            <a:r>
              <a:rPr lang="en-US" altLang="zh-CN" sz="2400" i="1" dirty="0">
                <a:latin typeface="Times New Roman" pitchFamily="18" charset="0"/>
                <a:cs typeface="Times New Roman" pitchFamily="18" charset="0"/>
              </a:rPr>
              <a:t>gender</a:t>
            </a:r>
            <a:r>
              <a:rPr lang="en-US" altLang="zh-CN" sz="2400" dirty="0">
                <a:latin typeface="Times New Roman" pitchFamily="18" charset="0"/>
                <a:cs typeface="Times New Roman" pitchFamily="18" charset="0"/>
              </a:rPr>
              <a:t>, </a:t>
            </a:r>
            <a:r>
              <a:rPr lang="en-US" altLang="zh-CN" sz="2400" i="1" dirty="0">
                <a:latin typeface="Times New Roman" pitchFamily="18" charset="0"/>
                <a:cs typeface="Times New Roman" pitchFamily="18" charset="0"/>
              </a:rPr>
              <a:t>attitude toward transit</a:t>
            </a:r>
            <a:r>
              <a:rPr lang="en-US" altLang="zh-CN" sz="2400" dirty="0">
                <a:latin typeface="Times New Roman" pitchFamily="18" charset="0"/>
                <a:cs typeface="Times New Roman" pitchFamily="18" charset="0"/>
              </a:rPr>
              <a:t>, and </a:t>
            </a:r>
            <a:r>
              <a:rPr lang="en-US" altLang="zh-CN" sz="2400" i="1" dirty="0">
                <a:latin typeface="Times New Roman" pitchFamily="18" charset="0"/>
                <a:cs typeface="Times New Roman" pitchFamily="18" charset="0"/>
              </a:rPr>
              <a:t>trip purpose</a:t>
            </a:r>
          </a:p>
          <a:p>
            <a:pPr eaLnBrk="1" hangingPunct="1">
              <a:spcBef>
                <a:spcPts val="1200"/>
              </a:spcBef>
            </a:pPr>
            <a:r>
              <a:rPr lang="en-US" altLang="zh-CN" sz="2400" dirty="0">
                <a:latin typeface="Times New Roman" pitchFamily="18" charset="0"/>
                <a:cs typeface="Times New Roman" pitchFamily="18" charset="0"/>
              </a:rPr>
              <a:t>For </a:t>
            </a:r>
            <a:r>
              <a:rPr lang="en-US" altLang="zh-CN" sz="2400" b="1" dirty="0">
                <a:solidFill>
                  <a:srgbClr val="FF0000"/>
                </a:solidFill>
                <a:latin typeface="Times New Roman" pitchFamily="18" charset="0"/>
                <a:cs typeface="Times New Roman" pitchFamily="18" charset="0"/>
              </a:rPr>
              <a:t>nominal scale variables</a:t>
            </a:r>
            <a:r>
              <a:rPr lang="en-US" altLang="zh-CN" sz="2400" dirty="0">
                <a:solidFill>
                  <a:srgbClr val="00B050"/>
                </a:solidFill>
                <a:latin typeface="Times New Roman" pitchFamily="18" charset="0"/>
                <a:cs typeface="Times New Roman" pitchFamily="18" charset="0"/>
              </a:rPr>
              <a:t>, </a:t>
            </a:r>
            <a:r>
              <a:rPr lang="en-US" altLang="zh-CN" sz="2400" b="1" dirty="0">
                <a:solidFill>
                  <a:srgbClr val="00B050"/>
                </a:solidFill>
                <a:latin typeface="Times New Roman" pitchFamily="18" charset="0"/>
                <a:cs typeface="Times New Roman" pitchFamily="18" charset="0"/>
              </a:rPr>
              <a:t>m-1</a:t>
            </a:r>
            <a:r>
              <a:rPr lang="en-US" altLang="zh-CN" sz="2400" dirty="0">
                <a:solidFill>
                  <a:srgbClr val="00B050"/>
                </a:solidFill>
                <a:latin typeface="Times New Roman" pitchFamily="18" charset="0"/>
                <a:cs typeface="Times New Roman" pitchFamily="18" charset="0"/>
              </a:rPr>
              <a:t> </a:t>
            </a:r>
            <a:r>
              <a:rPr lang="en-US" altLang="zh-CN" sz="2400" b="1" dirty="0">
                <a:solidFill>
                  <a:srgbClr val="00B050"/>
                </a:solidFill>
                <a:latin typeface="Times New Roman" pitchFamily="18" charset="0"/>
                <a:cs typeface="Times New Roman" pitchFamily="18" charset="0"/>
              </a:rPr>
              <a:t>indicator variables </a:t>
            </a:r>
            <a:r>
              <a:rPr lang="en-US" altLang="zh-CN" sz="2400" dirty="0">
                <a:latin typeface="Times New Roman" pitchFamily="18" charset="0"/>
                <a:cs typeface="Times New Roman" pitchFamily="18" charset="0"/>
              </a:rPr>
              <a:t>must be created to represent all </a:t>
            </a:r>
            <a:r>
              <a:rPr lang="en-US" altLang="zh-CN" sz="2400" b="1" dirty="0">
                <a:solidFill>
                  <a:srgbClr val="00B050"/>
                </a:solidFill>
                <a:latin typeface="Times New Roman" pitchFamily="18" charset="0"/>
                <a:cs typeface="Times New Roman" pitchFamily="18" charset="0"/>
              </a:rPr>
              <a:t>m</a:t>
            </a:r>
            <a:r>
              <a:rPr lang="en-US" altLang="zh-CN" sz="2400" dirty="0">
                <a:solidFill>
                  <a:srgbClr val="00B050"/>
                </a:solidFill>
                <a:latin typeface="Times New Roman" pitchFamily="18" charset="0"/>
                <a:cs typeface="Times New Roman" pitchFamily="18" charset="0"/>
              </a:rPr>
              <a:t> </a:t>
            </a:r>
            <a:r>
              <a:rPr lang="en-US" altLang="zh-CN" sz="2400" b="1" dirty="0">
                <a:solidFill>
                  <a:srgbClr val="00B050"/>
                </a:solidFill>
                <a:latin typeface="Times New Roman" pitchFamily="18" charset="0"/>
                <a:cs typeface="Times New Roman" pitchFamily="18" charset="0"/>
              </a:rPr>
              <a:t>levels</a:t>
            </a:r>
            <a:r>
              <a:rPr lang="en-US" altLang="zh-CN" sz="2400" dirty="0">
                <a:solidFill>
                  <a:srgbClr val="00B050"/>
                </a:solidFill>
                <a:latin typeface="Times New Roman" pitchFamily="18" charset="0"/>
                <a:cs typeface="Times New Roman" pitchFamily="18" charset="0"/>
              </a:rPr>
              <a:t> </a:t>
            </a:r>
            <a:r>
              <a:rPr lang="en-US" altLang="zh-CN" sz="2400" dirty="0">
                <a:latin typeface="Times New Roman" pitchFamily="18" charset="0"/>
                <a:cs typeface="Times New Roman" pitchFamily="18" charset="0"/>
              </a:rPr>
              <a:t>of the variable in the regression model</a:t>
            </a:r>
            <a:r>
              <a:rPr lang="en-US" altLang="zh-CN" sz="2400" dirty="0" smtClean="0">
                <a:latin typeface="Times New Roman" pitchFamily="18" charset="0"/>
                <a:cs typeface="Times New Roman" pitchFamily="18" charset="0"/>
              </a:rPr>
              <a:t>.</a:t>
            </a:r>
            <a:endParaRPr lang="en-US" altLang="zh-CN" sz="2400" dirty="0">
              <a:latin typeface="Times New Roman" pitchFamily="18" charset="0"/>
              <a:cs typeface="Times New Roman" pitchFamily="18" charset="0"/>
            </a:endParaRPr>
          </a:p>
        </p:txBody>
      </p:sp>
    </p:spTree>
    <p:extLst>
      <p:ext uri="{BB962C8B-B14F-4D97-AF65-F5344CB8AC3E}">
        <p14:creationId xmlns:p14="http://schemas.microsoft.com/office/powerpoint/2010/main" val="31903261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4275"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76"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77"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78"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79"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80"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81"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4282" name="Rectangle 2"/>
          <p:cNvSpPr txBox="1">
            <a:spLocks noChangeArrowheads="1"/>
          </p:cNvSpPr>
          <p:nvPr/>
        </p:nvSpPr>
        <p:spPr bwMode="auto">
          <a:xfrm>
            <a:off x="0" y="15240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Estimate a Single Beta Parameter: The assumption in this approach is that </a:t>
            </a:r>
            <a:r>
              <a:rPr lang="en-US" altLang="zh-CN" sz="2400">
                <a:solidFill>
                  <a:srgbClr val="FF0000"/>
                </a:solidFill>
                <a:latin typeface="Times New Roman" pitchFamily="18" charset="0"/>
                <a:cs typeface="Times New Roman" pitchFamily="18" charset="0"/>
              </a:rPr>
              <a:t>the marginal effect is equivalent </a:t>
            </a:r>
            <a:r>
              <a:rPr lang="en-US" altLang="zh-CN" sz="2400">
                <a:latin typeface="Times New Roman" pitchFamily="18" charset="0"/>
                <a:cs typeface="Times New Roman" pitchFamily="18" charset="0"/>
              </a:rPr>
              <a:t>across increasing levels of the variable</a:t>
            </a:r>
          </a:p>
        </p:txBody>
      </p:sp>
      <p:sp>
        <p:nvSpPr>
          <p:cNvPr id="54283" name="Rectangle 2"/>
          <p:cNvSpPr txBox="1">
            <a:spLocks noChangeArrowheads="1"/>
          </p:cNvSpPr>
          <p:nvPr/>
        </p:nvSpPr>
        <p:spPr bwMode="auto">
          <a:xfrm>
            <a:off x="-4763" y="2743200"/>
            <a:ext cx="9144001"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Estimate Beta Parameter for Ranges of the Variable: Consider the variable NUMLANES used in previous chapter examples. Although the intervals between levels of this variable are equivalent, it may be believed that a fundamentally different effect on AADT exists for different levels of NUMLANES.</a:t>
            </a:r>
          </a:p>
        </p:txBody>
      </p:sp>
      <p:pic>
        <p:nvPicPr>
          <p:cNvPr id="54284" name="Picture 1" descr="C:\Users\cheng\AppData\Roaming\Tencent\Users\394197411\QQ\WinTemp\RichOle\RB1%9DI(KR`YVXFQ2S92M0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794250"/>
            <a:ext cx="41910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5" name="Picture 2" descr="C:\Users\cheng\AppData\Roaming\Tencent\Users\394197411\QQ\WinTemp\RichOle\MBC2HQ64YE({_07K[~3[K1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4757738"/>
            <a:ext cx="4343400"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6" name="Rectangle 2"/>
          <p:cNvSpPr txBox="1">
            <a:spLocks noChangeArrowheads="1"/>
          </p:cNvSpPr>
          <p:nvPr/>
        </p:nvSpPr>
        <p:spPr bwMode="auto">
          <a:xfrm>
            <a:off x="76200" y="56388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These two indicator variables would allow the estimation of two parameters, one for the lower range of the variable NUMLANES and one for the upper range</a:t>
            </a:r>
          </a:p>
        </p:txBody>
      </p:sp>
    </p:spTree>
    <p:extLst>
      <p:ext uri="{BB962C8B-B14F-4D97-AF65-F5344CB8AC3E}">
        <p14:creationId xmlns:p14="http://schemas.microsoft.com/office/powerpoint/2010/main" val="4887069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5299"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0"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1"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2"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3"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4"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5"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5306" name="Rectangle 2"/>
          <p:cNvSpPr txBox="1">
            <a:spLocks noChangeArrowheads="1"/>
          </p:cNvSpPr>
          <p:nvPr/>
        </p:nvSpPr>
        <p:spPr bwMode="auto">
          <a:xfrm>
            <a:off x="0" y="15240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Estimate a Single Beta Parameter for </a:t>
            </a:r>
            <a:r>
              <a:rPr lang="en-US" altLang="zh-CN" sz="2400" b="1">
                <a:solidFill>
                  <a:srgbClr val="FF0000"/>
                </a:solidFill>
                <a:latin typeface="Times New Roman" pitchFamily="18" charset="0"/>
                <a:cs typeface="Times New Roman" pitchFamily="18" charset="0"/>
              </a:rPr>
              <a:t>m-1 </a:t>
            </a:r>
            <a:r>
              <a:rPr lang="en-US" altLang="zh-CN" sz="2400">
                <a:latin typeface="Times New Roman" pitchFamily="18" charset="0"/>
                <a:cs typeface="Times New Roman" pitchFamily="18" charset="0"/>
              </a:rPr>
              <a:t>of the </a:t>
            </a:r>
            <a:r>
              <a:rPr lang="en-US" altLang="zh-CN" sz="2400" b="1">
                <a:solidFill>
                  <a:srgbClr val="FF0000"/>
                </a:solidFill>
                <a:latin typeface="Times New Roman" pitchFamily="18" charset="0"/>
                <a:cs typeface="Times New Roman" pitchFamily="18" charset="0"/>
              </a:rPr>
              <a:t>m Levels </a:t>
            </a:r>
            <a:r>
              <a:rPr lang="en-US" altLang="zh-CN" sz="2400">
                <a:latin typeface="Times New Roman" pitchFamily="18" charset="0"/>
                <a:cs typeface="Times New Roman" pitchFamily="18" charset="0"/>
              </a:rPr>
              <a:t>of the Variable: The justification for this approach is that each level of the variable has a unique marginal effect on the response</a:t>
            </a:r>
            <a:endParaRPr lang="zh-CN" altLang="en-US" sz="2400">
              <a:cs typeface="Times New Roman" pitchFamily="18" charset="0"/>
            </a:endParaRPr>
          </a:p>
        </p:txBody>
      </p:sp>
      <p:pic>
        <p:nvPicPr>
          <p:cNvPr id="55307" name="Picture 1" descr="C:\Users\cheng\AppData\Roaming\Tencent\Users\394197411\QQ\WinTemp\RichOle\}D[PZGC30L%KI3F%HG($NF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600" y="2895600"/>
            <a:ext cx="3933825"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223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6323"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24"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25"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26"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27"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28"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29"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6330" name="Rectangle 2"/>
          <p:cNvSpPr txBox="1">
            <a:spLocks noChangeArrowheads="1"/>
          </p:cNvSpPr>
          <p:nvPr/>
        </p:nvSpPr>
        <p:spPr bwMode="auto">
          <a:xfrm>
            <a:off x="0" y="15240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b="1" dirty="0">
                <a:solidFill>
                  <a:srgbClr val="FF0000"/>
                </a:solidFill>
                <a:latin typeface="Times New Roman" pitchFamily="18" charset="0"/>
                <a:cs typeface="Times New Roman" pitchFamily="18" charset="0"/>
              </a:rPr>
              <a:t>Interactions</a:t>
            </a:r>
            <a:r>
              <a:rPr lang="en-US" altLang="zh-CN" sz="2400" dirty="0">
                <a:solidFill>
                  <a:srgbClr val="FF0000"/>
                </a:solidFill>
                <a:latin typeface="Times New Roman" pitchFamily="18" charset="0"/>
                <a:cs typeface="Times New Roman" pitchFamily="18" charset="0"/>
              </a:rPr>
              <a:t> </a:t>
            </a:r>
            <a:r>
              <a:rPr lang="en-US" altLang="zh-CN" sz="2400" dirty="0">
                <a:latin typeface="Times New Roman" pitchFamily="18" charset="0"/>
                <a:cs typeface="Times New Roman" pitchFamily="18" charset="0"/>
              </a:rPr>
              <a:t>in regression models represent a </a:t>
            </a:r>
            <a:r>
              <a:rPr lang="en-US" altLang="zh-CN" sz="2400" b="1" dirty="0">
                <a:solidFill>
                  <a:srgbClr val="FF0000"/>
                </a:solidFill>
                <a:latin typeface="Times New Roman" pitchFamily="18" charset="0"/>
                <a:cs typeface="Times New Roman" pitchFamily="18" charset="0"/>
              </a:rPr>
              <a:t>combined</a:t>
            </a:r>
            <a:r>
              <a:rPr lang="en-US" altLang="zh-CN" sz="2400" dirty="0">
                <a:latin typeface="Times New Roman" pitchFamily="18" charset="0"/>
                <a:cs typeface="Times New Roman" pitchFamily="18" charset="0"/>
              </a:rPr>
              <a:t> or </a:t>
            </a:r>
            <a:r>
              <a:rPr lang="en-US" altLang="zh-CN" sz="2400" b="1" dirty="0">
                <a:solidFill>
                  <a:srgbClr val="FF0000"/>
                </a:solidFill>
                <a:latin typeface="Times New Roman" pitchFamily="18" charset="0"/>
                <a:cs typeface="Times New Roman" pitchFamily="18" charset="0"/>
              </a:rPr>
              <a:t>synergistic</a:t>
            </a:r>
            <a:r>
              <a:rPr lang="en-US" altLang="zh-CN" sz="2400" dirty="0">
                <a:latin typeface="Times New Roman" pitchFamily="18" charset="0"/>
                <a:cs typeface="Times New Roman" pitchFamily="18" charset="0"/>
              </a:rPr>
              <a:t> effect of two or more variables. That is, the response variable depends on the joint values of two or more variables.</a:t>
            </a:r>
            <a:endParaRPr lang="zh-CN" altLang="en-US" sz="2400" dirty="0">
              <a:cs typeface="Times New Roman" pitchFamily="18" charset="0"/>
            </a:endParaRPr>
          </a:p>
        </p:txBody>
      </p:sp>
      <p:pic>
        <p:nvPicPr>
          <p:cNvPr id="121857" name="Picture 1" descr="C:\Users\cheng\AppData\Roaming\Tencent\Users\394197411\QQ\WinTemp\RichOle\@E8MA8KI7AQ{0T%3{K6DGD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0" y="2667000"/>
            <a:ext cx="48482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763" y="3352800"/>
            <a:ext cx="60864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186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013200"/>
            <a:ext cx="7724775"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186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475" y="4800600"/>
            <a:ext cx="748665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186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3113" y="5562600"/>
            <a:ext cx="762000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9375042" y="778008"/>
            <a:ext cx="4572000" cy="1200329"/>
          </a:xfrm>
          <a:prstGeom prst="rect">
            <a:avLst/>
          </a:prstGeom>
        </p:spPr>
        <p:txBody>
          <a:bodyPr>
            <a:spAutoFit/>
          </a:bodyPr>
          <a:lstStyle/>
          <a:p>
            <a:pPr algn="just">
              <a:spcAft>
                <a:spcPts val="0"/>
              </a:spcAft>
            </a:pPr>
            <a:r>
              <a:rPr lang="zh-CN"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汽车</a:t>
            </a:r>
            <a:r>
              <a:rPr lang="en-US"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=1         —  </a:t>
            </a:r>
            <a:r>
              <a:rPr lang="zh-CN" altLang="en-US"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参考等级</a:t>
            </a:r>
            <a:endParaRPr lang="zh-CN" altLang="zh-CN" sz="1000"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X2 </a:t>
            </a:r>
            <a:r>
              <a:rPr lang="zh-CN"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步行</a:t>
            </a:r>
            <a:r>
              <a:rPr lang="en-US"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=2</a:t>
            </a:r>
            <a:endParaRPr lang="zh-CN" altLang="zh-CN" sz="1000"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X3 </a:t>
            </a:r>
            <a:r>
              <a:rPr lang="zh-CN"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自</a:t>
            </a:r>
            <a:r>
              <a:rPr lang="zh-CN" altLang="zh-CN"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行车</a:t>
            </a:r>
            <a:r>
              <a:rPr lang="en-US" altLang="zh-CN"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=3</a:t>
            </a:r>
            <a:endParaRPr lang="zh-CN" altLang="zh-CN" sz="10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X4 </a:t>
            </a:r>
            <a:r>
              <a:rPr lang="zh-CN" altLang="zh-CN" kern="100" dirty="0" smtClean="0">
                <a:solidFill>
                  <a:srgbClr val="FF0000"/>
                </a:solidFill>
                <a:latin typeface="等线" panose="02010600030101010101" pitchFamily="2" charset="-122"/>
                <a:ea typeface="等线" panose="02010600030101010101" pitchFamily="2" charset="-122"/>
                <a:cs typeface="Times New Roman" panose="02020603050405020304" pitchFamily="18" charset="0"/>
              </a:rPr>
              <a:t>公</a:t>
            </a:r>
            <a:r>
              <a:rPr lang="zh-CN" altLang="zh-CN"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交</a:t>
            </a:r>
            <a:r>
              <a:rPr lang="en-US" altLang="zh-CN"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=4</a:t>
            </a:r>
            <a:endParaRPr lang="zh-CN" altLang="zh-CN" sz="1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76619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1857"/>
                                        </p:tgtEl>
                                        <p:attrNameLst>
                                          <p:attrName>style.visibility</p:attrName>
                                        </p:attrNameLst>
                                      </p:cBhvr>
                                      <p:to>
                                        <p:strVal val="visible"/>
                                      </p:to>
                                    </p:set>
                                    <p:anim calcmode="lin" valueType="num">
                                      <p:cBhvr additive="base">
                                        <p:cTn id="7" dur="500" fill="hold"/>
                                        <p:tgtEl>
                                          <p:spTgt spid="121857"/>
                                        </p:tgtEl>
                                        <p:attrNameLst>
                                          <p:attrName>ppt_x</p:attrName>
                                        </p:attrNameLst>
                                      </p:cBhvr>
                                      <p:tavLst>
                                        <p:tav tm="0">
                                          <p:val>
                                            <p:strVal val="#ppt_x"/>
                                          </p:val>
                                        </p:tav>
                                        <p:tav tm="100000">
                                          <p:val>
                                            <p:strVal val="#ppt_x"/>
                                          </p:val>
                                        </p:tav>
                                      </p:tavLst>
                                    </p:anim>
                                    <p:anim calcmode="lin" valueType="num">
                                      <p:cBhvr additive="base">
                                        <p:cTn id="8" dur="500" fill="hold"/>
                                        <p:tgtEl>
                                          <p:spTgt spid="12185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1860"/>
                                        </p:tgtEl>
                                        <p:attrNameLst>
                                          <p:attrName>style.visibility</p:attrName>
                                        </p:attrNameLst>
                                      </p:cBhvr>
                                      <p:to>
                                        <p:strVal val="visible"/>
                                      </p:to>
                                    </p:set>
                                    <p:anim calcmode="lin" valueType="num">
                                      <p:cBhvr additive="base">
                                        <p:cTn id="13" dur="500" fill="hold"/>
                                        <p:tgtEl>
                                          <p:spTgt spid="121860"/>
                                        </p:tgtEl>
                                        <p:attrNameLst>
                                          <p:attrName>ppt_x</p:attrName>
                                        </p:attrNameLst>
                                      </p:cBhvr>
                                      <p:tavLst>
                                        <p:tav tm="0">
                                          <p:val>
                                            <p:strVal val="#ppt_x"/>
                                          </p:val>
                                        </p:tav>
                                        <p:tav tm="100000">
                                          <p:val>
                                            <p:strVal val="#ppt_x"/>
                                          </p:val>
                                        </p:tav>
                                      </p:tavLst>
                                    </p:anim>
                                    <p:anim calcmode="lin" valueType="num">
                                      <p:cBhvr additive="base">
                                        <p:cTn id="14" dur="500" fill="hold"/>
                                        <p:tgtEl>
                                          <p:spTgt spid="12186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1861"/>
                                        </p:tgtEl>
                                        <p:attrNameLst>
                                          <p:attrName>style.visibility</p:attrName>
                                        </p:attrNameLst>
                                      </p:cBhvr>
                                      <p:to>
                                        <p:strVal val="visible"/>
                                      </p:to>
                                    </p:set>
                                    <p:anim calcmode="lin" valueType="num">
                                      <p:cBhvr additive="base">
                                        <p:cTn id="19" dur="500" fill="hold"/>
                                        <p:tgtEl>
                                          <p:spTgt spid="121861"/>
                                        </p:tgtEl>
                                        <p:attrNameLst>
                                          <p:attrName>ppt_x</p:attrName>
                                        </p:attrNameLst>
                                      </p:cBhvr>
                                      <p:tavLst>
                                        <p:tav tm="0">
                                          <p:val>
                                            <p:strVal val="#ppt_x"/>
                                          </p:val>
                                        </p:tav>
                                        <p:tav tm="100000">
                                          <p:val>
                                            <p:strVal val="#ppt_x"/>
                                          </p:val>
                                        </p:tav>
                                      </p:tavLst>
                                    </p:anim>
                                    <p:anim calcmode="lin" valueType="num">
                                      <p:cBhvr additive="base">
                                        <p:cTn id="20" dur="500" fill="hold"/>
                                        <p:tgtEl>
                                          <p:spTgt spid="12186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1862"/>
                                        </p:tgtEl>
                                        <p:attrNameLst>
                                          <p:attrName>style.visibility</p:attrName>
                                        </p:attrNameLst>
                                      </p:cBhvr>
                                      <p:to>
                                        <p:strVal val="visible"/>
                                      </p:to>
                                    </p:set>
                                    <p:anim calcmode="lin" valueType="num">
                                      <p:cBhvr additive="base">
                                        <p:cTn id="25" dur="500" fill="hold"/>
                                        <p:tgtEl>
                                          <p:spTgt spid="121862"/>
                                        </p:tgtEl>
                                        <p:attrNameLst>
                                          <p:attrName>ppt_x</p:attrName>
                                        </p:attrNameLst>
                                      </p:cBhvr>
                                      <p:tavLst>
                                        <p:tav tm="0">
                                          <p:val>
                                            <p:strVal val="#ppt_x"/>
                                          </p:val>
                                        </p:tav>
                                        <p:tav tm="100000">
                                          <p:val>
                                            <p:strVal val="#ppt_x"/>
                                          </p:val>
                                        </p:tav>
                                      </p:tavLst>
                                    </p:anim>
                                    <p:anim calcmode="lin" valueType="num">
                                      <p:cBhvr additive="base">
                                        <p:cTn id="26" dur="500" fill="hold"/>
                                        <p:tgtEl>
                                          <p:spTgt spid="12186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1863"/>
                                        </p:tgtEl>
                                        <p:attrNameLst>
                                          <p:attrName>style.visibility</p:attrName>
                                        </p:attrNameLst>
                                      </p:cBhvr>
                                      <p:to>
                                        <p:strVal val="visible"/>
                                      </p:to>
                                    </p:set>
                                    <p:anim calcmode="lin" valueType="num">
                                      <p:cBhvr additive="base">
                                        <p:cTn id="31" dur="500" fill="hold"/>
                                        <p:tgtEl>
                                          <p:spTgt spid="121863"/>
                                        </p:tgtEl>
                                        <p:attrNameLst>
                                          <p:attrName>ppt_x</p:attrName>
                                        </p:attrNameLst>
                                      </p:cBhvr>
                                      <p:tavLst>
                                        <p:tav tm="0">
                                          <p:val>
                                            <p:strVal val="#ppt_x"/>
                                          </p:val>
                                        </p:tav>
                                        <p:tav tm="100000">
                                          <p:val>
                                            <p:strVal val="#ppt_x"/>
                                          </p:val>
                                        </p:tav>
                                      </p:tavLst>
                                    </p:anim>
                                    <p:anim calcmode="lin" valueType="num">
                                      <p:cBhvr additive="base">
                                        <p:cTn id="32" dur="500" fill="hold"/>
                                        <p:tgtEl>
                                          <p:spTgt spid="1218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7347"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7348"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7349"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7350"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7351"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7352"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7353"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57354" name="Picture 1" descr="C:\Users\cheng\AppData\Roaming\Tencent\Users\394197411\QQ\WinTemp\RichOle\@E8MA8KI7AQ{0T%3{K6DGD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0275" y="1524000"/>
            <a:ext cx="48482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4638" y="2057400"/>
            <a:ext cx="60864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35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75" y="2514600"/>
            <a:ext cx="7724775"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35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063" y="3027363"/>
            <a:ext cx="748665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358"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875" y="3484563"/>
            <a:ext cx="762000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359" name="Rectangle 2"/>
          <p:cNvSpPr txBox="1">
            <a:spLocks noChangeArrowheads="1"/>
          </p:cNvSpPr>
          <p:nvPr/>
        </p:nvSpPr>
        <p:spPr bwMode="auto">
          <a:xfrm>
            <a:off x="15875" y="4191000"/>
            <a:ext cx="9144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dirty="0">
                <a:latin typeface="Times New Roman" pitchFamily="18" charset="0"/>
                <a:cs typeface="Times New Roman" pitchFamily="18" charset="0"/>
              </a:rPr>
              <a:t>Depending on which of the indicator variables is coded as 1, the slope of the regression line with respect to </a:t>
            </a:r>
            <a:r>
              <a:rPr lang="en-US" altLang="zh-CN" sz="2400" b="1" dirty="0">
                <a:solidFill>
                  <a:srgbClr val="FF0000"/>
                </a:solidFill>
                <a:latin typeface="Times New Roman" pitchFamily="18" charset="0"/>
                <a:cs typeface="Times New Roman" pitchFamily="18" charset="0"/>
              </a:rPr>
              <a:t>X1 remains fixed</a:t>
            </a:r>
            <a:r>
              <a:rPr lang="en-US" altLang="zh-CN" sz="2400" dirty="0">
                <a:latin typeface="Times New Roman" pitchFamily="18" charset="0"/>
                <a:cs typeface="Times New Roman" pitchFamily="18" charset="0"/>
              </a:rPr>
              <a:t>, while the </a:t>
            </a:r>
            <a:r>
              <a:rPr lang="en-US" altLang="zh-CN" sz="2400" b="1" dirty="0">
                <a:solidFill>
                  <a:srgbClr val="FF0000"/>
                </a:solidFill>
                <a:latin typeface="Times New Roman" pitchFamily="18" charset="0"/>
                <a:cs typeface="Times New Roman" pitchFamily="18" charset="0"/>
              </a:rPr>
              <a:t>Y-intercept</a:t>
            </a:r>
            <a:r>
              <a:rPr lang="en-US" altLang="zh-CN" sz="2400" dirty="0">
                <a:latin typeface="Times New Roman" pitchFamily="18" charset="0"/>
                <a:cs typeface="Times New Roman" pitchFamily="18" charset="0"/>
              </a:rPr>
              <a:t> parameter changes by the amount of the parameter of the indicator variable.</a:t>
            </a:r>
            <a:endParaRPr lang="zh-CN" altLang="en-US" sz="2400" dirty="0">
              <a:cs typeface="Times New Roman" pitchFamily="18" charset="0"/>
            </a:endParaRPr>
          </a:p>
        </p:txBody>
      </p:sp>
    </p:spTree>
    <p:extLst>
      <p:ext uri="{BB962C8B-B14F-4D97-AF65-F5344CB8AC3E}">
        <p14:creationId xmlns:p14="http://schemas.microsoft.com/office/powerpoint/2010/main" val="15171008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8371"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2"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3"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4"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5"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6"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7"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8378" name="Rectangle 2"/>
          <p:cNvSpPr txBox="1">
            <a:spLocks noChangeArrowheads="1"/>
          </p:cNvSpPr>
          <p:nvPr/>
        </p:nvSpPr>
        <p:spPr bwMode="auto">
          <a:xfrm>
            <a:off x="0" y="15240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Suppose that each indicator variable is thought to interact with the variable X1. That is, each level of the indicator variable has a unique effect on Y when interacted with X1.</a:t>
            </a:r>
            <a:endParaRPr lang="zh-CN" altLang="en-US" sz="2400">
              <a:cs typeface="Times New Roman" pitchFamily="18" charset="0"/>
            </a:endParaRPr>
          </a:p>
        </p:txBody>
      </p:sp>
      <p:pic>
        <p:nvPicPr>
          <p:cNvPr id="122881" name="Picture 1" descr="C:\Users\cheng\AppData\Roaming\Tencent\Users\394197411\QQ\WinTemp\RichOle\L6$2%B10{C(7@55)B$HZ1M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8" y="2747963"/>
            <a:ext cx="80581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52800"/>
            <a:ext cx="65436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8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951288"/>
            <a:ext cx="9086850"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88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622800"/>
            <a:ext cx="902970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88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5" y="5257800"/>
            <a:ext cx="9058275"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8412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881"/>
                                        </p:tgtEl>
                                        <p:attrNameLst>
                                          <p:attrName>style.visibility</p:attrName>
                                        </p:attrNameLst>
                                      </p:cBhvr>
                                      <p:to>
                                        <p:strVal val="visible"/>
                                      </p:to>
                                    </p:set>
                                    <p:anim calcmode="lin" valueType="num">
                                      <p:cBhvr additive="base">
                                        <p:cTn id="7" dur="500" fill="hold"/>
                                        <p:tgtEl>
                                          <p:spTgt spid="122881"/>
                                        </p:tgtEl>
                                        <p:attrNameLst>
                                          <p:attrName>ppt_x</p:attrName>
                                        </p:attrNameLst>
                                      </p:cBhvr>
                                      <p:tavLst>
                                        <p:tav tm="0">
                                          <p:val>
                                            <p:strVal val="#ppt_x"/>
                                          </p:val>
                                        </p:tav>
                                        <p:tav tm="100000">
                                          <p:val>
                                            <p:strVal val="#ppt_x"/>
                                          </p:val>
                                        </p:tav>
                                      </p:tavLst>
                                    </p:anim>
                                    <p:anim calcmode="lin" valueType="num">
                                      <p:cBhvr additive="base">
                                        <p:cTn id="8" dur="500" fill="hold"/>
                                        <p:tgtEl>
                                          <p:spTgt spid="1228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2882"/>
                                        </p:tgtEl>
                                        <p:attrNameLst>
                                          <p:attrName>style.visibility</p:attrName>
                                        </p:attrNameLst>
                                      </p:cBhvr>
                                      <p:to>
                                        <p:strVal val="visible"/>
                                      </p:to>
                                    </p:set>
                                    <p:anim calcmode="lin" valueType="num">
                                      <p:cBhvr additive="base">
                                        <p:cTn id="13" dur="500" fill="hold"/>
                                        <p:tgtEl>
                                          <p:spTgt spid="122882"/>
                                        </p:tgtEl>
                                        <p:attrNameLst>
                                          <p:attrName>ppt_x</p:attrName>
                                        </p:attrNameLst>
                                      </p:cBhvr>
                                      <p:tavLst>
                                        <p:tav tm="0">
                                          <p:val>
                                            <p:strVal val="#ppt_x"/>
                                          </p:val>
                                        </p:tav>
                                        <p:tav tm="100000">
                                          <p:val>
                                            <p:strVal val="#ppt_x"/>
                                          </p:val>
                                        </p:tav>
                                      </p:tavLst>
                                    </p:anim>
                                    <p:anim calcmode="lin" valueType="num">
                                      <p:cBhvr additive="base">
                                        <p:cTn id="14" dur="500" fill="hold"/>
                                        <p:tgtEl>
                                          <p:spTgt spid="12288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2883"/>
                                        </p:tgtEl>
                                        <p:attrNameLst>
                                          <p:attrName>style.visibility</p:attrName>
                                        </p:attrNameLst>
                                      </p:cBhvr>
                                      <p:to>
                                        <p:strVal val="visible"/>
                                      </p:to>
                                    </p:set>
                                    <p:anim calcmode="lin" valueType="num">
                                      <p:cBhvr additive="base">
                                        <p:cTn id="19" dur="500" fill="hold"/>
                                        <p:tgtEl>
                                          <p:spTgt spid="122883"/>
                                        </p:tgtEl>
                                        <p:attrNameLst>
                                          <p:attrName>ppt_x</p:attrName>
                                        </p:attrNameLst>
                                      </p:cBhvr>
                                      <p:tavLst>
                                        <p:tav tm="0">
                                          <p:val>
                                            <p:strVal val="#ppt_x"/>
                                          </p:val>
                                        </p:tav>
                                        <p:tav tm="100000">
                                          <p:val>
                                            <p:strVal val="#ppt_x"/>
                                          </p:val>
                                        </p:tav>
                                      </p:tavLst>
                                    </p:anim>
                                    <p:anim calcmode="lin" valueType="num">
                                      <p:cBhvr additive="base">
                                        <p:cTn id="20" dur="500" fill="hold"/>
                                        <p:tgtEl>
                                          <p:spTgt spid="12288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2884"/>
                                        </p:tgtEl>
                                        <p:attrNameLst>
                                          <p:attrName>style.visibility</p:attrName>
                                        </p:attrNameLst>
                                      </p:cBhvr>
                                      <p:to>
                                        <p:strVal val="visible"/>
                                      </p:to>
                                    </p:set>
                                    <p:anim calcmode="lin" valueType="num">
                                      <p:cBhvr additive="base">
                                        <p:cTn id="25" dur="500" fill="hold"/>
                                        <p:tgtEl>
                                          <p:spTgt spid="122884"/>
                                        </p:tgtEl>
                                        <p:attrNameLst>
                                          <p:attrName>ppt_x</p:attrName>
                                        </p:attrNameLst>
                                      </p:cBhvr>
                                      <p:tavLst>
                                        <p:tav tm="0">
                                          <p:val>
                                            <p:strVal val="#ppt_x"/>
                                          </p:val>
                                        </p:tav>
                                        <p:tav tm="100000">
                                          <p:val>
                                            <p:strVal val="#ppt_x"/>
                                          </p:val>
                                        </p:tav>
                                      </p:tavLst>
                                    </p:anim>
                                    <p:anim calcmode="lin" valueType="num">
                                      <p:cBhvr additive="base">
                                        <p:cTn id="26" dur="500" fill="hold"/>
                                        <p:tgtEl>
                                          <p:spTgt spid="12288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2885"/>
                                        </p:tgtEl>
                                        <p:attrNameLst>
                                          <p:attrName>style.visibility</p:attrName>
                                        </p:attrNameLst>
                                      </p:cBhvr>
                                      <p:to>
                                        <p:strVal val="visible"/>
                                      </p:to>
                                    </p:set>
                                    <p:anim calcmode="lin" valueType="num">
                                      <p:cBhvr additive="base">
                                        <p:cTn id="31" dur="500" fill="hold"/>
                                        <p:tgtEl>
                                          <p:spTgt spid="122885"/>
                                        </p:tgtEl>
                                        <p:attrNameLst>
                                          <p:attrName>ppt_x</p:attrName>
                                        </p:attrNameLst>
                                      </p:cBhvr>
                                      <p:tavLst>
                                        <p:tav tm="0">
                                          <p:val>
                                            <p:strVal val="#ppt_x"/>
                                          </p:val>
                                        </p:tav>
                                        <p:tav tm="100000">
                                          <p:val>
                                            <p:strVal val="#ppt_x"/>
                                          </p:val>
                                        </p:tav>
                                      </p:tavLst>
                                    </p:anim>
                                    <p:anim calcmode="lin" valueType="num">
                                      <p:cBhvr additive="base">
                                        <p:cTn id="32" dur="500" fill="hold"/>
                                        <p:tgtEl>
                                          <p:spTgt spid="122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59395"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9396"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9397"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9398"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9399"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9400"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59401"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59402" name="Picture 1" descr="C:\Users\cheng\AppData\Roaming\Tencent\Users\394197411\QQ\WinTemp\RichOle\L6$2%B10{C(7@55)B$HZ1M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8" y="1600200"/>
            <a:ext cx="80581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2114550"/>
            <a:ext cx="65436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40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 y="2557463"/>
            <a:ext cx="9086850"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40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 y="3021013"/>
            <a:ext cx="902970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40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 y="3481388"/>
            <a:ext cx="9058275"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9407" name="Rectangle 2"/>
          <p:cNvSpPr txBox="1">
            <a:spLocks noChangeArrowheads="1"/>
          </p:cNvSpPr>
          <p:nvPr/>
        </p:nvSpPr>
        <p:spPr bwMode="auto">
          <a:xfrm>
            <a:off x="15875" y="41910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Each level of the indicator variable now has an effect on both the </a:t>
            </a:r>
            <a:r>
              <a:rPr lang="en-US" altLang="zh-CN" sz="2400" b="1">
                <a:solidFill>
                  <a:srgbClr val="FF0000"/>
                </a:solidFill>
                <a:latin typeface="Times New Roman" pitchFamily="18" charset="0"/>
                <a:cs typeface="Times New Roman" pitchFamily="18" charset="0"/>
              </a:rPr>
              <a:t>Y-intercept</a:t>
            </a:r>
            <a:r>
              <a:rPr lang="en-US" altLang="zh-CN" sz="2400">
                <a:latin typeface="Times New Roman" pitchFamily="18" charset="0"/>
                <a:cs typeface="Times New Roman" pitchFamily="18" charset="0"/>
              </a:rPr>
              <a:t> and </a:t>
            </a:r>
            <a:r>
              <a:rPr lang="en-US" altLang="zh-CN" sz="2400" b="1">
                <a:solidFill>
                  <a:srgbClr val="FF0000"/>
                </a:solidFill>
                <a:latin typeface="Times New Roman" pitchFamily="18" charset="0"/>
                <a:cs typeface="Times New Roman" pitchFamily="18" charset="0"/>
              </a:rPr>
              <a:t>slope</a:t>
            </a:r>
            <a:r>
              <a:rPr lang="en-US" altLang="zh-CN" sz="2400">
                <a:solidFill>
                  <a:srgbClr val="FF0000"/>
                </a:solidFill>
                <a:latin typeface="Times New Roman" pitchFamily="18" charset="0"/>
                <a:cs typeface="Times New Roman" pitchFamily="18" charset="0"/>
              </a:rPr>
              <a:t> </a:t>
            </a:r>
            <a:r>
              <a:rPr lang="en-US" altLang="zh-CN" sz="2400">
                <a:latin typeface="Times New Roman" pitchFamily="18" charset="0"/>
                <a:cs typeface="Times New Roman" pitchFamily="18" charset="0"/>
              </a:rPr>
              <a:t>of the regression function with respect to the variable X1.</a:t>
            </a:r>
            <a:endParaRPr lang="zh-CN" altLang="en-US" sz="2400">
              <a:cs typeface="Times New Roman" pitchFamily="18" charset="0"/>
            </a:endParaRPr>
          </a:p>
        </p:txBody>
      </p:sp>
    </p:spTree>
    <p:extLst>
      <p:ext uri="{BB962C8B-B14F-4D97-AF65-F5344CB8AC3E}">
        <p14:creationId xmlns:p14="http://schemas.microsoft.com/office/powerpoint/2010/main" val="36465525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60419"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0420"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0421"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0422"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0423"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0424"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0425"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pic>
        <p:nvPicPr>
          <p:cNvPr id="60426" name="Picture 1" descr="C:\Users\cheng\AppData\Roaming\Tencent\Users\394197411\QQ\WinTemp\RichOle\L6$2%B10{C(7@55)B$HZ1M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8" y="1600200"/>
            <a:ext cx="80581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7" name="Picture 1" descr="C:\Users\cheng\AppData\Roaming\Tencent\Users\394197411\QQ\WinTemp\RichOle\9C$K[LP8(P)Y@ZE79N@$XA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249488"/>
            <a:ext cx="53340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9"/>
          <p:cNvCxnSpPr/>
          <p:nvPr/>
        </p:nvCxnSpPr>
        <p:spPr>
          <a:xfrm flipV="1">
            <a:off x="2743200" y="3048000"/>
            <a:ext cx="3657600" cy="167640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flipV="1">
            <a:off x="2743200" y="3810000"/>
            <a:ext cx="3657600" cy="24384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2705100" y="2362200"/>
            <a:ext cx="3695700" cy="53340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705100" y="4572000"/>
            <a:ext cx="3695700" cy="99060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247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down)">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Manipulating Variables in Regression</a:t>
            </a:r>
            <a:endParaRPr lang="zh-CN" altLang="en-US" sz="3600" b="1" smtClean="0">
              <a:latin typeface="Times New Roman" pitchFamily="18" charset="0"/>
              <a:cs typeface="Times New Roman" pitchFamily="18" charset="0"/>
            </a:endParaRPr>
          </a:p>
        </p:txBody>
      </p:sp>
      <p:sp>
        <p:nvSpPr>
          <p:cNvPr id="61443"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44"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45"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46"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47"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48" name="AutoShape 4" descr="C:\Users\cheng\AppData\Roaming\Tencent\Users\394197411\QQ\WinTemp\RichOle\OZ`YDT)})NGDZSPAXC6X.jpg"/>
          <p:cNvSpPr>
            <a:spLocks noChangeAspect="1" noChangeArrowheads="1"/>
          </p:cNvSpPr>
          <p:nvPr/>
        </p:nvSpPr>
        <p:spPr bwMode="auto">
          <a:xfrm>
            <a:off x="4572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49" name="AutoShape 5" descr="C:\Users\cheng\AppData\Roaming\Tencent\Users\394197411\QQ\WinTemp\RichOle\OZ`YDT)})NGDZSPAXC6X.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61450" name="Rectangle 2"/>
          <p:cNvSpPr txBox="1">
            <a:spLocks noChangeArrowheads="1"/>
          </p:cNvSpPr>
          <p:nvPr/>
        </p:nvSpPr>
        <p:spPr bwMode="auto">
          <a:xfrm>
            <a:off x="-20638" y="1524000"/>
            <a:ext cx="9144001"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When interactions are between two or more continuous variables the regression equation becomes more complicated.</a:t>
            </a:r>
            <a:endParaRPr lang="zh-CN" altLang="en-US" sz="2400">
              <a:cs typeface="Times New Roman" pitchFamily="18" charset="0"/>
            </a:endParaRPr>
          </a:p>
        </p:txBody>
      </p:sp>
      <p:pic>
        <p:nvPicPr>
          <p:cNvPr id="61451" name="Picture 1" descr="C:\Users\cheng\AppData\Roaming\Tencent\Users\394197411\QQ\WinTemp\RichOle\Z]1X9]}NH}04L3]4S37Y`(V.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3025" y="2438400"/>
            <a:ext cx="38766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2" name="Rectangle 2"/>
          <p:cNvSpPr txBox="1">
            <a:spLocks noChangeArrowheads="1"/>
          </p:cNvSpPr>
          <p:nvPr/>
        </p:nvSpPr>
        <p:spPr bwMode="auto">
          <a:xfrm>
            <a:off x="-34925" y="3048000"/>
            <a:ext cx="9144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The regression function indicates that the </a:t>
            </a:r>
            <a:r>
              <a:rPr lang="en-US" altLang="zh-CN" sz="2400" b="1">
                <a:solidFill>
                  <a:srgbClr val="FF0000"/>
                </a:solidFill>
                <a:latin typeface="Times New Roman" pitchFamily="18" charset="0"/>
                <a:cs typeface="Times New Roman" pitchFamily="18" charset="0"/>
              </a:rPr>
              <a:t>relationship between X</a:t>
            </a:r>
            <a:r>
              <a:rPr lang="en-US" altLang="zh-CN" sz="2400" b="1" baseline="-25000">
                <a:solidFill>
                  <a:srgbClr val="FF0000"/>
                </a:solidFill>
                <a:latin typeface="Times New Roman" pitchFamily="18" charset="0"/>
                <a:cs typeface="Times New Roman" pitchFamily="18" charset="0"/>
              </a:rPr>
              <a:t>1</a:t>
            </a:r>
            <a:r>
              <a:rPr lang="en-US" altLang="zh-CN" sz="2400" b="1">
                <a:solidFill>
                  <a:srgbClr val="FF0000"/>
                </a:solidFill>
                <a:latin typeface="Times New Roman" pitchFamily="18" charset="0"/>
                <a:cs typeface="Times New Roman" pitchFamily="18" charset="0"/>
              </a:rPr>
              <a:t> and Y </a:t>
            </a:r>
            <a:r>
              <a:rPr lang="en-US" altLang="zh-CN" sz="2400">
                <a:latin typeface="Times New Roman" pitchFamily="18" charset="0"/>
                <a:cs typeface="Times New Roman" pitchFamily="18" charset="0"/>
              </a:rPr>
              <a:t>is dependent on the value of </a:t>
            </a:r>
            <a:r>
              <a:rPr lang="en-US" altLang="zh-CN" sz="2400" b="1">
                <a:solidFill>
                  <a:srgbClr val="FF0000"/>
                </a:solidFill>
                <a:latin typeface="Times New Roman" pitchFamily="18" charset="0"/>
                <a:cs typeface="Times New Roman" pitchFamily="18" charset="0"/>
              </a:rPr>
              <a:t>X</a:t>
            </a:r>
            <a:r>
              <a:rPr lang="en-US" altLang="zh-CN" sz="2400" b="1" baseline="-25000">
                <a:solidFill>
                  <a:srgbClr val="FF0000"/>
                </a:solidFill>
                <a:latin typeface="Times New Roman" pitchFamily="18" charset="0"/>
                <a:cs typeface="Times New Roman" pitchFamily="18" charset="0"/>
              </a:rPr>
              <a:t>2</a:t>
            </a:r>
            <a:r>
              <a:rPr lang="en-US" altLang="zh-CN" sz="2400">
                <a:latin typeface="Times New Roman" pitchFamily="18" charset="0"/>
                <a:cs typeface="Times New Roman" pitchFamily="18" charset="0"/>
              </a:rPr>
              <a:t>, and conversely, that the </a:t>
            </a:r>
            <a:r>
              <a:rPr lang="en-US" altLang="zh-CN" sz="2400" b="1">
                <a:solidFill>
                  <a:srgbClr val="FF0000"/>
                </a:solidFill>
                <a:latin typeface="Times New Roman" pitchFamily="18" charset="0"/>
                <a:cs typeface="Times New Roman" pitchFamily="18" charset="0"/>
              </a:rPr>
              <a:t>relation between X</a:t>
            </a:r>
            <a:r>
              <a:rPr lang="en-US" altLang="zh-CN" sz="2400" b="1" baseline="-25000">
                <a:solidFill>
                  <a:srgbClr val="FF0000"/>
                </a:solidFill>
                <a:latin typeface="Times New Roman" pitchFamily="18" charset="0"/>
                <a:cs typeface="Times New Roman" pitchFamily="18" charset="0"/>
              </a:rPr>
              <a:t>2</a:t>
            </a:r>
            <a:r>
              <a:rPr lang="en-US" altLang="zh-CN" sz="2400" b="1">
                <a:solidFill>
                  <a:srgbClr val="FF0000"/>
                </a:solidFill>
                <a:latin typeface="Times New Roman" pitchFamily="18" charset="0"/>
                <a:cs typeface="Times New Roman" pitchFamily="18" charset="0"/>
              </a:rPr>
              <a:t> and Y </a:t>
            </a:r>
            <a:r>
              <a:rPr lang="en-US" altLang="zh-CN" sz="2400">
                <a:latin typeface="Times New Roman" pitchFamily="18" charset="0"/>
                <a:cs typeface="Times New Roman" pitchFamily="18" charset="0"/>
              </a:rPr>
              <a:t>is dependent on the value of </a:t>
            </a:r>
            <a:r>
              <a:rPr lang="en-US" altLang="zh-CN" sz="2400" b="1">
                <a:solidFill>
                  <a:srgbClr val="FF0000"/>
                </a:solidFill>
                <a:latin typeface="Times New Roman" pitchFamily="18" charset="0"/>
                <a:cs typeface="Times New Roman" pitchFamily="18" charset="0"/>
              </a:rPr>
              <a:t>X</a:t>
            </a:r>
            <a:r>
              <a:rPr lang="en-US" altLang="zh-CN" sz="2400" b="1" baseline="-25000">
                <a:solidFill>
                  <a:srgbClr val="FF0000"/>
                </a:solidFill>
                <a:latin typeface="Times New Roman" pitchFamily="18" charset="0"/>
                <a:cs typeface="Times New Roman" pitchFamily="18" charset="0"/>
              </a:rPr>
              <a:t>1</a:t>
            </a:r>
            <a:r>
              <a:rPr lang="en-US" altLang="zh-CN" sz="2400">
                <a:latin typeface="Times New Roman" pitchFamily="18" charset="0"/>
                <a:cs typeface="Times New Roman" pitchFamily="18" charset="0"/>
              </a:rPr>
              <a:t>.</a:t>
            </a:r>
            <a:endParaRPr lang="zh-CN" altLang="en-US" sz="2400">
              <a:cs typeface="Times New Roman" pitchFamily="18" charset="0"/>
            </a:endParaRPr>
          </a:p>
        </p:txBody>
      </p:sp>
      <p:sp>
        <p:nvSpPr>
          <p:cNvPr id="61453" name="Rectangle 2"/>
          <p:cNvSpPr txBox="1">
            <a:spLocks noChangeArrowheads="1"/>
          </p:cNvSpPr>
          <p:nvPr/>
        </p:nvSpPr>
        <p:spPr bwMode="auto">
          <a:xfrm>
            <a:off x="-34925" y="44196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There are </a:t>
            </a:r>
            <a:r>
              <a:rPr lang="en-US" altLang="zh-CN" sz="2400" b="1">
                <a:solidFill>
                  <a:srgbClr val="FF0000"/>
                </a:solidFill>
                <a:latin typeface="Times New Roman" pitchFamily="18" charset="0"/>
                <a:cs typeface="Times New Roman" pitchFamily="18" charset="0"/>
              </a:rPr>
              <a:t>numerous cases </a:t>
            </a:r>
            <a:r>
              <a:rPr lang="en-US" altLang="zh-CN" sz="2400">
                <a:latin typeface="Times New Roman" pitchFamily="18" charset="0"/>
                <a:cs typeface="Times New Roman" pitchFamily="18" charset="0"/>
              </a:rPr>
              <a:t>when the effect of one variable on Y depends on the value of one or more independent variables.</a:t>
            </a:r>
            <a:endParaRPr lang="zh-CN" altLang="en-US" sz="2400">
              <a:cs typeface="Times New Roman" pitchFamily="18" charset="0"/>
            </a:endParaRPr>
          </a:p>
        </p:txBody>
      </p:sp>
      <p:sp>
        <p:nvSpPr>
          <p:cNvPr id="61454" name="Rectangle 2"/>
          <p:cNvSpPr txBox="1">
            <a:spLocks noChangeArrowheads="1"/>
          </p:cNvSpPr>
          <p:nvPr/>
        </p:nvSpPr>
        <p:spPr bwMode="auto">
          <a:xfrm>
            <a:off x="0" y="541020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pPr eaLnBrk="1" hangingPunct="1">
              <a:spcBef>
                <a:spcPts val="1200"/>
              </a:spcBef>
            </a:pPr>
            <a:r>
              <a:rPr lang="en-US" altLang="zh-CN" sz="2400">
                <a:latin typeface="Times New Roman" pitchFamily="18" charset="0"/>
                <a:cs typeface="Times New Roman" pitchFamily="18" charset="0"/>
              </a:rPr>
              <a:t>Although they </a:t>
            </a:r>
            <a:r>
              <a:rPr lang="en-US" altLang="zh-CN" sz="2400" b="1">
                <a:solidFill>
                  <a:srgbClr val="FF0000"/>
                </a:solidFill>
                <a:latin typeface="Times New Roman" pitchFamily="18" charset="0"/>
                <a:cs typeface="Times New Roman" pitchFamily="18" charset="0"/>
              </a:rPr>
              <a:t>may not explain</a:t>
            </a:r>
            <a:r>
              <a:rPr lang="en-US" altLang="zh-CN" sz="2400">
                <a:solidFill>
                  <a:srgbClr val="FF0000"/>
                </a:solidFill>
                <a:latin typeface="Times New Roman" pitchFamily="18" charset="0"/>
                <a:cs typeface="Times New Roman" pitchFamily="18" charset="0"/>
              </a:rPr>
              <a:t> </a:t>
            </a:r>
            <a:r>
              <a:rPr lang="en-US" altLang="zh-CN" sz="2400">
                <a:latin typeface="Times New Roman" pitchFamily="18" charset="0"/>
                <a:cs typeface="Times New Roman" pitchFamily="18" charset="0"/>
              </a:rPr>
              <a:t>a great deal of the </a:t>
            </a:r>
            <a:r>
              <a:rPr lang="en-US" altLang="zh-CN" sz="2400" b="1">
                <a:solidFill>
                  <a:srgbClr val="FF0000"/>
                </a:solidFill>
                <a:latin typeface="Times New Roman" pitchFamily="18" charset="0"/>
                <a:cs typeface="Times New Roman" pitchFamily="18" charset="0"/>
              </a:rPr>
              <a:t>variability</a:t>
            </a:r>
            <a:r>
              <a:rPr lang="en-US" altLang="zh-CN" sz="2400">
                <a:latin typeface="Times New Roman" pitchFamily="18" charset="0"/>
                <a:cs typeface="Times New Roman" pitchFamily="18" charset="0"/>
              </a:rPr>
              <a:t> in the response, they may represent </a:t>
            </a:r>
            <a:r>
              <a:rPr lang="en-US" altLang="zh-CN" sz="2400" b="1">
                <a:solidFill>
                  <a:srgbClr val="FF0000"/>
                </a:solidFill>
                <a:latin typeface="Times New Roman" pitchFamily="18" charset="0"/>
                <a:cs typeface="Times New Roman" pitchFamily="18" charset="0"/>
              </a:rPr>
              <a:t>important theoretical </a:t>
            </a:r>
            <a:r>
              <a:rPr lang="en-US" altLang="zh-CN" sz="2400">
                <a:latin typeface="Times New Roman" pitchFamily="18" charset="0"/>
                <a:cs typeface="Times New Roman" pitchFamily="18" charset="0"/>
              </a:rPr>
              <a:t>aspects of the relation and should be </a:t>
            </a:r>
            <a:r>
              <a:rPr lang="en-US" altLang="zh-CN" sz="2400" b="1">
                <a:solidFill>
                  <a:srgbClr val="FF0000"/>
                </a:solidFill>
                <a:latin typeface="Times New Roman" pitchFamily="18" charset="0"/>
                <a:cs typeface="Times New Roman" pitchFamily="18" charset="0"/>
              </a:rPr>
              <a:t>included</a:t>
            </a:r>
            <a:r>
              <a:rPr lang="en-US" altLang="zh-CN" sz="2400">
                <a:latin typeface="Times New Roman" pitchFamily="18" charset="0"/>
                <a:cs typeface="Times New Roman" pitchFamily="18" charset="0"/>
              </a:rPr>
              <a:t> in the regression.</a:t>
            </a:r>
            <a:endParaRPr lang="zh-CN" altLang="en-US" sz="2400">
              <a:cs typeface="Times New Roman" pitchFamily="18" charset="0"/>
            </a:endParaRPr>
          </a:p>
        </p:txBody>
      </p:sp>
    </p:spTree>
    <p:extLst>
      <p:ext uri="{BB962C8B-B14F-4D97-AF65-F5344CB8AC3E}">
        <p14:creationId xmlns:p14="http://schemas.microsoft.com/office/powerpoint/2010/main" val="7822967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Model Goodness-of-Fit Measures</a:t>
            </a:r>
            <a:endParaRPr lang="zh-CN" altLang="en-US" sz="3600" b="1" smtClean="0">
              <a:latin typeface="Times New Roman" pitchFamily="18" charset="0"/>
              <a:cs typeface="Times New Roman" pitchFamily="18" charset="0"/>
            </a:endParaRPr>
          </a:p>
        </p:txBody>
      </p:sp>
      <p:sp>
        <p:nvSpPr>
          <p:cNvPr id="86019"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6020"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6021"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6022"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6023"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6024" name="Rectangle 2"/>
          <p:cNvSpPr txBox="1">
            <a:spLocks noChangeArrowheads="1"/>
          </p:cNvSpPr>
          <p:nvPr/>
        </p:nvSpPr>
        <p:spPr bwMode="auto">
          <a:xfrm>
            <a:off x="-20638" y="1524000"/>
            <a:ext cx="9144001"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GOF: </a:t>
            </a:r>
            <a:r>
              <a:rPr lang="en-US" altLang="zh-CN" sz="2400" b="1">
                <a:solidFill>
                  <a:srgbClr val="FF0000"/>
                </a:solidFill>
                <a:latin typeface="Times New Roman" pitchFamily="18" charset="0"/>
                <a:cs typeface="Times New Roman" pitchFamily="18" charset="0"/>
              </a:rPr>
              <a:t>R-squared</a:t>
            </a:r>
            <a:r>
              <a:rPr lang="en-US" altLang="zh-CN" sz="2400">
                <a:latin typeface="Times New Roman" pitchFamily="18" charset="0"/>
                <a:cs typeface="Times New Roman" pitchFamily="18" charset="0"/>
              </a:rPr>
              <a:t>, and  </a:t>
            </a:r>
            <a:r>
              <a:rPr lang="en-US" altLang="zh-CN" sz="2400" b="1">
                <a:solidFill>
                  <a:srgbClr val="FF0000"/>
                </a:solidFill>
                <a:latin typeface="Times New Roman" pitchFamily="18" charset="0"/>
                <a:cs typeface="Times New Roman" pitchFamily="18" charset="0"/>
              </a:rPr>
              <a:t>adjusted R-squared</a:t>
            </a:r>
            <a:r>
              <a:rPr lang="en-US" altLang="zh-CN" sz="2400">
                <a:latin typeface="Times New Roman" pitchFamily="18" charset="0"/>
                <a:cs typeface="Times New Roman" pitchFamily="18" charset="0"/>
              </a:rPr>
              <a:t>.</a:t>
            </a:r>
          </a:p>
        </p:txBody>
      </p:sp>
      <p:sp>
        <p:nvSpPr>
          <p:cNvPr id="86025" name="Rectangle 2"/>
          <p:cNvSpPr txBox="1">
            <a:spLocks noChangeArrowheads="1"/>
          </p:cNvSpPr>
          <p:nvPr/>
        </p:nvSpPr>
        <p:spPr bwMode="auto">
          <a:xfrm>
            <a:off x="-20638" y="2286000"/>
            <a:ext cx="9144001"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To develop the R-squared GOF statistic, some basic notions are required:</a:t>
            </a:r>
          </a:p>
        </p:txBody>
      </p:sp>
      <p:sp>
        <p:nvSpPr>
          <p:cNvPr id="86026" name="Rectangle 2"/>
          <p:cNvSpPr txBox="1">
            <a:spLocks noChangeArrowheads="1"/>
          </p:cNvSpPr>
          <p:nvPr/>
        </p:nvSpPr>
        <p:spPr bwMode="auto">
          <a:xfrm>
            <a:off x="0" y="3505200"/>
            <a:ext cx="914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sum of square errors (disturbances) is given by:</a:t>
            </a:r>
          </a:p>
        </p:txBody>
      </p:sp>
      <p:pic>
        <p:nvPicPr>
          <p:cNvPr id="86027" name="Picture 1" descr="C:\Users\cheng\AppData\Roaming\Tencent\Users\394197411\QQ\WinTemp\RichOle\$Z3TS7Q7BI48Y3]8G5VAFF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3952875"/>
            <a:ext cx="2447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8" name="Rectangle 2"/>
          <p:cNvSpPr txBox="1">
            <a:spLocks noChangeArrowheads="1"/>
          </p:cNvSpPr>
          <p:nvPr/>
        </p:nvSpPr>
        <p:spPr bwMode="auto">
          <a:xfrm>
            <a:off x="-20638" y="5029200"/>
            <a:ext cx="91440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regression sum of squares is given by</a:t>
            </a:r>
          </a:p>
        </p:txBody>
      </p:sp>
      <p:pic>
        <p:nvPicPr>
          <p:cNvPr id="86029" name="Picture 2" descr="C:\Users\cheng\AppData\Roaming\Tencent\Users\394197411\QQ\WinTemp\RichOle\8@LAX$$2CG6V3[7BQFLN%{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3275" y="5495925"/>
            <a:ext cx="250507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59058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Model Goodness-of-Fit Measures</a:t>
            </a:r>
            <a:endParaRPr lang="zh-CN" altLang="en-US" sz="3600" b="1" smtClean="0">
              <a:latin typeface="Times New Roman" pitchFamily="18" charset="0"/>
              <a:cs typeface="Times New Roman" pitchFamily="18" charset="0"/>
            </a:endParaRPr>
          </a:p>
        </p:txBody>
      </p:sp>
      <p:sp>
        <p:nvSpPr>
          <p:cNvPr id="87043"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7044"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7045"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7046"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7047"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7048" name="Rectangle 2"/>
          <p:cNvSpPr txBox="1">
            <a:spLocks noChangeArrowheads="1"/>
          </p:cNvSpPr>
          <p:nvPr/>
        </p:nvSpPr>
        <p:spPr bwMode="auto">
          <a:xfrm>
            <a:off x="-20638" y="1524000"/>
            <a:ext cx="91440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total sum of squares is given by</a:t>
            </a:r>
          </a:p>
        </p:txBody>
      </p:sp>
      <p:pic>
        <p:nvPicPr>
          <p:cNvPr id="87049" name="Picture 1" descr="C:\Users\cheng\AppData\Roaming\Tencent\Users\394197411\QQ\WinTemp\RichOle\ZTS`Y9P@Y$N}$Q)]SNFS%$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75" y="2052638"/>
            <a:ext cx="24669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50" name="Rectangle 2"/>
          <p:cNvSpPr txBox="1">
            <a:spLocks noChangeArrowheads="1"/>
          </p:cNvSpPr>
          <p:nvPr/>
        </p:nvSpPr>
        <p:spPr bwMode="auto">
          <a:xfrm>
            <a:off x="0" y="3505200"/>
            <a:ext cx="914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coefficient of determination, R-squared, is defined as</a:t>
            </a:r>
          </a:p>
        </p:txBody>
      </p:sp>
      <p:pic>
        <p:nvPicPr>
          <p:cNvPr id="87051" name="Picture 2" descr="C:\Users\cheng\AppData\Roaming\Tencent\Users\394197411\QQ\WinTemp\RichOle\C~D08$)11)BLJN6TH{E4JJ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25" y="3886200"/>
            <a:ext cx="54959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52" name="Rectangle 2"/>
          <p:cNvSpPr txBox="1">
            <a:spLocks noChangeArrowheads="1"/>
          </p:cNvSpPr>
          <p:nvPr/>
        </p:nvSpPr>
        <p:spPr bwMode="auto">
          <a:xfrm>
            <a:off x="0" y="2971800"/>
            <a:ext cx="914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It also can be shown algebraically that </a:t>
            </a:r>
            <a:r>
              <a:rPr lang="en-US" altLang="zh-CN" sz="2400" b="1">
                <a:solidFill>
                  <a:srgbClr val="FF0000"/>
                </a:solidFill>
                <a:latin typeface="Times New Roman" pitchFamily="18" charset="0"/>
                <a:cs typeface="Times New Roman" pitchFamily="18" charset="0"/>
              </a:rPr>
              <a:t>SST = SSR + SSE.</a:t>
            </a:r>
          </a:p>
        </p:txBody>
      </p:sp>
      <p:sp>
        <p:nvSpPr>
          <p:cNvPr id="87053" name="Rectangle 2"/>
          <p:cNvSpPr txBox="1">
            <a:spLocks noChangeArrowheads="1"/>
          </p:cNvSpPr>
          <p:nvPr/>
        </p:nvSpPr>
        <p:spPr bwMode="auto">
          <a:xfrm>
            <a:off x="-20638" y="4800600"/>
            <a:ext cx="91440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coefficient of determination, R-squared, is defined as</a:t>
            </a:r>
          </a:p>
        </p:txBody>
      </p:sp>
      <p:pic>
        <p:nvPicPr>
          <p:cNvPr id="87054" name="Picture 3" descr="C:\Users\cheng\AppData\Roaming\Tencent\Users\394197411\QQ\WinTemp\RichOle\2GAL~NQIF[OO~6J%B4NZD9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2463" y="5372100"/>
            <a:ext cx="52578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1184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612775" y="228600"/>
            <a:ext cx="8531225" cy="990600"/>
          </a:xfrm>
        </p:spPr>
        <p:txBody>
          <a:bodyPr/>
          <a:lstStyle/>
          <a:p>
            <a:pPr eaLnBrk="1" hangingPunct="1"/>
            <a:r>
              <a:rPr lang="en-US" altLang="zh-CN" sz="3600" b="1" smtClean="0">
                <a:latin typeface="Times New Roman" pitchFamily="18" charset="0"/>
                <a:cs typeface="Times New Roman" pitchFamily="18" charset="0"/>
              </a:rPr>
              <a:t>Model Goodness-of-Fit Measures</a:t>
            </a:r>
            <a:endParaRPr lang="zh-CN" altLang="en-US" sz="3600" b="1" smtClean="0">
              <a:latin typeface="Times New Roman" pitchFamily="18" charset="0"/>
              <a:cs typeface="Times New Roman" pitchFamily="18" charset="0"/>
            </a:endParaRPr>
          </a:p>
        </p:txBody>
      </p:sp>
      <p:sp>
        <p:nvSpPr>
          <p:cNvPr id="88067" name="AutoShape 1" descr="C:\Users\cheng\AppData\Roaming\Tencent\Users\394197411\QQ\WinTemp\RichOle\N_RR%G}Q]~SO4B6W1_Xj2.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8068" name="AutoShape 2" descr="C:\Users\cheng\AppData\Roaming\Tencent\Users\394197411\QQ\WinTemp\RichOle\N_RR%G}Q]~SO4B6W1_Xj2.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8069" name="AutoShape 4" descr="C:\Users\cheng\AppData\Roaming\Tencent\Users\394197411\QQ\WinTemp\RichOle\N_RR%G}Q]~SO4B6W1_Xj2.jpg"/>
          <p:cNvSpPr>
            <a:spLocks noChangeAspect="1" noChangeArrowheads="1"/>
          </p:cNvSpPr>
          <p:nvPr/>
        </p:nvSpPr>
        <p:spPr bwMode="auto">
          <a:xfrm>
            <a:off x="1828800"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8070" name="AutoShape 5" descr="C:\Users\cheng\AppData\Roaming\Tencent\Users\394197411\QQ\WinTemp\RichOle\N_RR%G}Q]~SO4B6W1_Xj2.jpg"/>
          <p:cNvSpPr>
            <a:spLocks noChangeAspect="1" noChangeArrowheads="1"/>
          </p:cNvSpPr>
          <p:nvPr/>
        </p:nvSpPr>
        <p:spPr bwMode="auto">
          <a:xfrm>
            <a:off x="609600" y="60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8071" name="AutoShape 3" descr="C:\Users\cheng\AppData\Roaming\Tencent\Users\394197411\QQ\WinTemp\RichOle\OZ`YDT)})NGDZSPAXC6X.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itchFamily="2" charset="2"/>
              <a:buChar char=""/>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itchFamily="34" charset="0"/>
              </a:defRPr>
            </a:lvl9pPr>
          </a:lstStyle>
          <a:p>
            <a:pPr eaLnBrk="1" hangingPunct="1">
              <a:spcBef>
                <a:spcPct val="0"/>
              </a:spcBef>
              <a:buClrTx/>
              <a:buSzTx/>
              <a:buFontTx/>
              <a:buNone/>
            </a:pPr>
            <a:endParaRPr lang="zh-CN" altLang="en-US" sz="2400">
              <a:latin typeface="Times New Roman" pitchFamily="18" charset="0"/>
            </a:endParaRPr>
          </a:p>
        </p:txBody>
      </p:sp>
      <p:sp>
        <p:nvSpPr>
          <p:cNvPr id="88072" name="Rectangle 2"/>
          <p:cNvSpPr txBox="1">
            <a:spLocks noChangeArrowheads="1"/>
          </p:cNvSpPr>
          <p:nvPr/>
        </p:nvSpPr>
        <p:spPr bwMode="auto">
          <a:xfrm>
            <a:off x="-20638" y="1524000"/>
            <a:ext cx="9144001"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a:t>
            </a:r>
            <a:r>
              <a:rPr lang="en-US" altLang="zh-CN" sz="2400" i="1">
                <a:latin typeface="Times New Roman" pitchFamily="18" charset="0"/>
                <a:cs typeface="Times New Roman" pitchFamily="18" charset="0"/>
              </a:rPr>
              <a:t>R</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and </a:t>
            </a:r>
            <a:r>
              <a:rPr lang="en-US" altLang="zh-CN" sz="2400" i="1">
                <a:latin typeface="Times New Roman" pitchFamily="18" charset="0"/>
                <a:cs typeface="Times New Roman" pitchFamily="18" charset="0"/>
              </a:rPr>
              <a:t>R</a:t>
            </a:r>
            <a:r>
              <a:rPr lang="en-US" altLang="zh-CN" sz="2400" baseline="30000">
                <a:latin typeface="Times New Roman" pitchFamily="18" charset="0"/>
                <a:cs typeface="Times New Roman" pitchFamily="18" charset="0"/>
              </a:rPr>
              <a:t>2</a:t>
            </a:r>
            <a:r>
              <a:rPr lang="en-US" altLang="zh-CN" sz="2400" baseline="-25000">
                <a:latin typeface="Times New Roman" pitchFamily="18" charset="0"/>
                <a:cs typeface="Times New Roman" pitchFamily="18" charset="0"/>
              </a:rPr>
              <a:t>adjusted</a:t>
            </a:r>
            <a:r>
              <a:rPr lang="en-US" altLang="zh-CN" sz="2400">
                <a:latin typeface="Times New Roman" pitchFamily="18" charset="0"/>
                <a:cs typeface="Times New Roman" pitchFamily="18" charset="0"/>
              </a:rPr>
              <a:t> measures provide only </a:t>
            </a:r>
            <a:r>
              <a:rPr lang="en-US" altLang="zh-CN" sz="2400" b="1">
                <a:solidFill>
                  <a:srgbClr val="FF0000"/>
                </a:solidFill>
                <a:latin typeface="Times New Roman" pitchFamily="18" charset="0"/>
                <a:cs typeface="Times New Roman" pitchFamily="18" charset="0"/>
              </a:rPr>
              <a:t>relevant comparisons </a:t>
            </a:r>
            <a:r>
              <a:rPr lang="en-US" altLang="zh-CN" sz="2400">
                <a:latin typeface="Times New Roman" pitchFamily="18" charset="0"/>
                <a:cs typeface="Times New Roman" pitchFamily="18" charset="0"/>
              </a:rPr>
              <a:t>with previous models that have been estimated on the phenomenon under investigation</a:t>
            </a:r>
          </a:p>
          <a:p>
            <a:r>
              <a:rPr lang="en-US" altLang="zh-CN" sz="2400">
                <a:latin typeface="Times New Roman" pitchFamily="18" charset="0"/>
                <a:cs typeface="Times New Roman" pitchFamily="18" charset="0"/>
              </a:rPr>
              <a:t>The absolute values of </a:t>
            </a:r>
            <a:r>
              <a:rPr lang="en-US" altLang="zh-CN" sz="2400" i="1">
                <a:latin typeface="Times New Roman" pitchFamily="18" charset="0"/>
                <a:cs typeface="Times New Roman" pitchFamily="18" charset="0"/>
              </a:rPr>
              <a:t>R</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and </a:t>
            </a:r>
            <a:r>
              <a:rPr lang="en-US" altLang="zh-CN" sz="2400" i="1">
                <a:latin typeface="Times New Roman" pitchFamily="18" charset="0"/>
                <a:cs typeface="Times New Roman" pitchFamily="18" charset="0"/>
              </a:rPr>
              <a:t>R</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adjusted measures </a:t>
            </a:r>
            <a:r>
              <a:rPr lang="en-US" altLang="zh-CN" sz="2400" b="1">
                <a:solidFill>
                  <a:srgbClr val="FF0000"/>
                </a:solidFill>
                <a:latin typeface="Times New Roman" pitchFamily="18" charset="0"/>
                <a:cs typeface="Times New Roman" pitchFamily="18" charset="0"/>
              </a:rPr>
              <a:t>are not sufficient </a:t>
            </a:r>
            <a:r>
              <a:rPr lang="en-US" altLang="zh-CN" sz="2400">
                <a:latin typeface="Times New Roman" pitchFamily="18" charset="0"/>
                <a:cs typeface="Times New Roman" pitchFamily="18" charset="0"/>
              </a:rPr>
              <a:t>measures to judge the quality of a model.</a:t>
            </a:r>
          </a:p>
          <a:p>
            <a:r>
              <a:rPr lang="en-US" altLang="zh-CN" sz="2400">
                <a:latin typeface="Times New Roman" pitchFamily="18" charset="0"/>
                <a:cs typeface="Times New Roman" pitchFamily="18" charset="0"/>
              </a:rPr>
              <a:t>Relatively large values of </a:t>
            </a:r>
            <a:r>
              <a:rPr lang="en-US" altLang="zh-CN" sz="2400" i="1">
                <a:latin typeface="Times New Roman" pitchFamily="18" charset="0"/>
                <a:cs typeface="Times New Roman" pitchFamily="18" charset="0"/>
              </a:rPr>
              <a:t>R</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and </a:t>
            </a:r>
            <a:r>
              <a:rPr lang="en-US" altLang="zh-CN" sz="2400" i="1">
                <a:latin typeface="Times New Roman" pitchFamily="18" charset="0"/>
                <a:cs typeface="Times New Roman" pitchFamily="18" charset="0"/>
              </a:rPr>
              <a:t>R</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adjusted can be caused by data artifacts.</a:t>
            </a:r>
          </a:p>
        </p:txBody>
      </p:sp>
      <p:sp>
        <p:nvSpPr>
          <p:cNvPr id="88073" name="Rectangle 2"/>
          <p:cNvSpPr txBox="1">
            <a:spLocks noChangeArrowheads="1"/>
          </p:cNvSpPr>
          <p:nvPr/>
        </p:nvSpPr>
        <p:spPr bwMode="auto">
          <a:xfrm>
            <a:off x="4763" y="43434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The R</a:t>
            </a:r>
            <a:r>
              <a:rPr lang="en-US" altLang="zh-CN" sz="2400" baseline="30000">
                <a:latin typeface="Times New Roman" pitchFamily="18" charset="0"/>
                <a:cs typeface="Times New Roman" pitchFamily="18" charset="0"/>
              </a:rPr>
              <a:t>2</a:t>
            </a:r>
            <a:r>
              <a:rPr lang="en-US" altLang="zh-CN" sz="2400">
                <a:latin typeface="Times New Roman" pitchFamily="18" charset="0"/>
                <a:cs typeface="Times New Roman" pitchFamily="18" charset="0"/>
              </a:rPr>
              <a:t> value is 0.8947. The collection of independent variables accounts for about 89% of the uncertainty or variation in AADT.</a:t>
            </a:r>
          </a:p>
        </p:txBody>
      </p:sp>
      <p:sp>
        <p:nvSpPr>
          <p:cNvPr id="88074" name="Rectangle 2"/>
          <p:cNvSpPr txBox="1">
            <a:spLocks noChangeArrowheads="1"/>
          </p:cNvSpPr>
          <p:nvPr/>
        </p:nvSpPr>
        <p:spPr bwMode="auto">
          <a:xfrm>
            <a:off x="-25400" y="5216525"/>
            <a:ext cx="91440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spcBef>
                <a:spcPts val="700"/>
              </a:spcBef>
              <a:buClr>
                <a:schemeClr val="accent2"/>
              </a:buClr>
              <a:buSzPct val="60000"/>
              <a:buFont typeface="Wingdings" pitchFamily="2" charset="2"/>
              <a:buChar char=""/>
              <a:tabLst>
                <a:tab pos="633413" algn="l"/>
              </a:tabLst>
              <a:defRPr sz="2900">
                <a:solidFill>
                  <a:schemeClr val="tx1"/>
                </a:solidFill>
                <a:latin typeface="Tw Cen MT" pitchFamily="34" charset="0"/>
              </a:defRPr>
            </a:lvl1pPr>
            <a:lvl2pPr marL="742950" indent="-285750" eaLnBrk="0" hangingPunct="0">
              <a:spcBef>
                <a:spcPts val="550"/>
              </a:spcBef>
              <a:buClr>
                <a:schemeClr val="accent1"/>
              </a:buClr>
              <a:buSzPct val="70000"/>
              <a:buFont typeface="Wingdings 2" pitchFamily="18" charset="2"/>
              <a:buChar char=""/>
              <a:tabLst>
                <a:tab pos="633413" algn="l"/>
              </a:tabLst>
              <a:defRPr sz="2600">
                <a:solidFill>
                  <a:schemeClr val="tx1"/>
                </a:solidFill>
                <a:latin typeface="Tw Cen MT" pitchFamily="34" charset="0"/>
              </a:defRPr>
            </a:lvl2pPr>
            <a:lvl3pPr marL="1143000" indent="-228600" eaLnBrk="0" hangingPunct="0">
              <a:spcBef>
                <a:spcPts val="500"/>
              </a:spcBef>
              <a:buClr>
                <a:schemeClr val="accent2"/>
              </a:buClr>
              <a:buSzPct val="75000"/>
              <a:buFont typeface="Wingdings" pitchFamily="2" charset="2"/>
              <a:buChar char=""/>
              <a:tabLst>
                <a:tab pos="633413" algn="l"/>
              </a:tabLst>
              <a:defRPr sz="2300">
                <a:solidFill>
                  <a:schemeClr val="tx1"/>
                </a:solidFill>
                <a:latin typeface="Tw Cen MT" pitchFamily="34" charset="0"/>
              </a:defRPr>
            </a:lvl3pPr>
            <a:lvl4pPr marL="1600200" indent="-228600" eaLnBrk="0" hangingPunct="0">
              <a:spcBef>
                <a:spcPts val="400"/>
              </a:spcBef>
              <a:buClr>
                <a:srgbClr val="A5AB81"/>
              </a:buClr>
              <a:buSzPct val="75000"/>
              <a:buFont typeface="Wingdings" pitchFamily="2" charset="2"/>
              <a:buChar char=""/>
              <a:tabLst>
                <a:tab pos="633413" algn="l"/>
              </a:tabLst>
              <a:defRPr sz="2000">
                <a:solidFill>
                  <a:schemeClr val="tx1"/>
                </a:solidFill>
                <a:latin typeface="Tw Cen MT" pitchFamily="34" charset="0"/>
              </a:defRPr>
            </a:lvl4pPr>
            <a:lvl5pPr marL="2057400" indent="-228600" eaLnBrk="0" hangingPunct="0">
              <a:spcBef>
                <a:spcPts val="400"/>
              </a:spcBef>
              <a:buClr>
                <a:srgbClr val="D8B25C"/>
              </a:buClr>
              <a:buSzPct val="65000"/>
              <a:buFont typeface="Wingdings" pitchFamily="2" charset="2"/>
              <a:buChar char=""/>
              <a:tabLst>
                <a:tab pos="633413" algn="l"/>
              </a:tabLst>
              <a:defRPr sz="2000">
                <a:solidFill>
                  <a:schemeClr val="tx1"/>
                </a:solidFill>
                <a:latin typeface="Tw Cen MT"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tabLst>
                <a:tab pos="633413" algn="l"/>
              </a:tabLst>
              <a:defRPr sz="2000">
                <a:solidFill>
                  <a:schemeClr val="tx1"/>
                </a:solidFill>
                <a:latin typeface="Tw Cen MT" pitchFamily="34" charset="0"/>
              </a:defRPr>
            </a:lvl9pPr>
          </a:lstStyle>
          <a:p>
            <a:r>
              <a:rPr lang="en-US" altLang="zh-CN" sz="2400">
                <a:latin typeface="Times New Roman" pitchFamily="18" charset="0"/>
                <a:cs typeface="Times New Roman" pitchFamily="18" charset="0"/>
              </a:rPr>
              <a:t>This is considered to be a good result because previous studies have achieved R-squared values of around 70%. It is only with respect to other models on the same phenomenon that R-squared comparisons are meaningful.</a:t>
            </a:r>
          </a:p>
        </p:txBody>
      </p:sp>
    </p:spTree>
    <p:extLst>
      <p:ext uri="{BB962C8B-B14F-4D97-AF65-F5344CB8AC3E}">
        <p14:creationId xmlns:p14="http://schemas.microsoft.com/office/powerpoint/2010/main" val="407643018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890</TotalTime>
  <Words>1669</Words>
  <Application>Microsoft Office PowerPoint</Application>
  <PresentationFormat>全屏显示(4:3)</PresentationFormat>
  <Paragraphs>133</Paragraphs>
  <Slides>34</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34</vt:i4>
      </vt:variant>
    </vt:vector>
  </HeadingPairs>
  <TitlesOfParts>
    <vt:vector size="47" baseType="lpstr">
      <vt:lpstr>等线</vt:lpstr>
      <vt:lpstr>宋体</vt:lpstr>
      <vt:lpstr>微软雅黑</vt:lpstr>
      <vt:lpstr>Arial</vt:lpstr>
      <vt:lpstr>Calibri</vt:lpstr>
      <vt:lpstr>Calibri Light</vt:lpstr>
      <vt:lpstr>Symbol</vt:lpstr>
      <vt:lpstr>Times New Roman</vt:lpstr>
      <vt:lpstr>Tw Cen MT</vt:lpstr>
      <vt:lpstr>Wingdings</vt:lpstr>
      <vt:lpstr>1_Office 主题</vt:lpstr>
      <vt:lpstr>Equation</vt:lpstr>
      <vt:lpstr>Equation.3</vt:lpstr>
      <vt:lpstr>第二章 线性回归 </vt:lpstr>
      <vt:lpstr>Linear Regression model</vt:lpstr>
      <vt:lpstr>Linear Regression model</vt:lpstr>
      <vt:lpstr>Assumptions of Linear Regression models</vt:lpstr>
      <vt:lpstr>Assumptions of Linear Regression models</vt:lpstr>
      <vt:lpstr>Assumptions of Linear Regression models</vt:lpstr>
      <vt:lpstr>Least Squares Estimation</vt:lpstr>
      <vt:lpstr>Least Squares Estimation</vt:lpstr>
      <vt:lpstr>Least Squares Estimation</vt:lpstr>
      <vt:lpstr>Least Squares Estimation</vt:lpstr>
      <vt:lpstr>Least Squares Estimation</vt:lpstr>
      <vt:lpstr>Least Squares Estimation</vt:lpstr>
      <vt:lpstr>Least Squares Estimation</vt:lpstr>
      <vt:lpstr>Maximum Likelihood Estimation</vt:lpstr>
      <vt:lpstr>Maximum Likelihood Estimation</vt:lpstr>
      <vt:lpstr>Inference in Regression Analysis</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Manipulating Variables in Regression</vt:lpstr>
      <vt:lpstr>Model Goodness-of-Fit Measures</vt:lpstr>
      <vt:lpstr>Model Goodness-of-Fit Measures</vt:lpstr>
      <vt:lpstr>Model Goodness-of-Fit Measures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交通数据分析</dc:title>
  <dc:creator>Lily</dc:creator>
  <cp:lastModifiedBy>徐铖铖</cp:lastModifiedBy>
  <cp:revision>93</cp:revision>
  <dcterms:created xsi:type="dcterms:W3CDTF">2016-02-16T08:28:56Z</dcterms:created>
  <dcterms:modified xsi:type="dcterms:W3CDTF">2023-03-20T03:59:46Z</dcterms:modified>
</cp:coreProperties>
</file>