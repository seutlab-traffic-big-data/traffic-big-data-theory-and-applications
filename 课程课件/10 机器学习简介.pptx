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68"/>
  </p:notesMasterIdLst>
  <p:sldIdLst>
    <p:sldId id="310" r:id="rId2"/>
    <p:sldId id="313" r:id="rId3"/>
    <p:sldId id="314" r:id="rId4"/>
    <p:sldId id="436" r:id="rId5"/>
    <p:sldId id="437" r:id="rId6"/>
    <p:sldId id="438" r:id="rId7"/>
    <p:sldId id="349" r:id="rId8"/>
    <p:sldId id="348" r:id="rId9"/>
    <p:sldId id="347" r:id="rId10"/>
    <p:sldId id="350" r:id="rId11"/>
    <p:sldId id="351" r:id="rId12"/>
    <p:sldId id="355" r:id="rId13"/>
    <p:sldId id="419" r:id="rId14"/>
    <p:sldId id="426" r:id="rId15"/>
    <p:sldId id="356" r:id="rId16"/>
    <p:sldId id="418" r:id="rId17"/>
    <p:sldId id="357" r:id="rId18"/>
    <p:sldId id="358" r:id="rId19"/>
    <p:sldId id="359" r:id="rId20"/>
    <p:sldId id="360" r:id="rId21"/>
    <p:sldId id="361" r:id="rId22"/>
    <p:sldId id="397" r:id="rId23"/>
    <p:sldId id="396" r:id="rId24"/>
    <p:sldId id="353" r:id="rId25"/>
    <p:sldId id="421" r:id="rId26"/>
    <p:sldId id="362" r:id="rId27"/>
    <p:sldId id="420" r:id="rId28"/>
    <p:sldId id="364" r:id="rId29"/>
    <p:sldId id="365" r:id="rId30"/>
    <p:sldId id="399" r:id="rId31"/>
    <p:sldId id="366" r:id="rId32"/>
    <p:sldId id="400" r:id="rId33"/>
    <p:sldId id="368" r:id="rId34"/>
    <p:sldId id="369" r:id="rId35"/>
    <p:sldId id="401" r:id="rId36"/>
    <p:sldId id="403" r:id="rId37"/>
    <p:sldId id="370" r:id="rId38"/>
    <p:sldId id="371" r:id="rId39"/>
    <p:sldId id="372" r:id="rId40"/>
    <p:sldId id="374" r:id="rId41"/>
    <p:sldId id="404" r:id="rId42"/>
    <p:sldId id="375" r:id="rId43"/>
    <p:sldId id="430" r:id="rId44"/>
    <p:sldId id="429" r:id="rId45"/>
    <p:sldId id="435" r:id="rId46"/>
    <p:sldId id="431" r:id="rId47"/>
    <p:sldId id="376" r:id="rId48"/>
    <p:sldId id="378" r:id="rId49"/>
    <p:sldId id="405" r:id="rId50"/>
    <p:sldId id="406" r:id="rId51"/>
    <p:sldId id="425" r:id="rId52"/>
    <p:sldId id="427" r:id="rId53"/>
    <p:sldId id="379" r:id="rId54"/>
    <p:sldId id="380" r:id="rId55"/>
    <p:sldId id="381" r:id="rId56"/>
    <p:sldId id="428" r:id="rId57"/>
    <p:sldId id="422" r:id="rId58"/>
    <p:sldId id="382" r:id="rId59"/>
    <p:sldId id="423" r:id="rId60"/>
    <p:sldId id="383" r:id="rId61"/>
    <p:sldId id="392" r:id="rId62"/>
    <p:sldId id="432" r:id="rId63"/>
    <p:sldId id="433" r:id="rId64"/>
    <p:sldId id="424" r:id="rId65"/>
    <p:sldId id="434" r:id="rId66"/>
    <p:sldId id="384" r:id="rId6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锦彪 霍" initials="锦彪" lastIdx="2" clrIdx="0">
    <p:extLst>
      <p:ext uri="{19B8F6BF-5375-455C-9EA6-DF929625EA0E}">
        <p15:presenceInfo xmlns:p15="http://schemas.microsoft.com/office/powerpoint/2012/main" userId="747d344fe7e6b04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F5ED"/>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中度样式 3 - 强调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89" autoAdjust="0"/>
    <p:restoredTop sz="77717" autoAdjust="0"/>
  </p:normalViewPr>
  <p:slideViewPr>
    <p:cSldViewPr snapToGrid="0" showGuides="1">
      <p:cViewPr varScale="1">
        <p:scale>
          <a:sx n="64" d="100"/>
          <a:sy n="64" d="100"/>
        </p:scale>
        <p:origin x="1728"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26BBA7-2751-4186-92D7-BAFE14A83317}" type="datetimeFigureOut">
              <a:rPr lang="zh-CN" altLang="en-US" smtClean="0"/>
              <a:pPr/>
              <a:t>2025/3/30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A12F08-2C51-4761-8379-7BF5B777E402}" type="slidenum">
              <a:rPr lang="zh-CN" altLang="en-US" smtClean="0"/>
              <a:pPr/>
              <a:t>‹#›</a:t>
            </a:fld>
            <a:endParaRPr lang="zh-CN" altLang="en-US"/>
          </a:p>
        </p:txBody>
      </p:sp>
    </p:spTree>
    <p:extLst>
      <p:ext uri="{BB962C8B-B14F-4D97-AF65-F5344CB8AC3E}">
        <p14:creationId xmlns:p14="http://schemas.microsoft.com/office/powerpoint/2010/main" val="1614525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D0A12F08-2C51-4761-8379-7BF5B777E402}" type="slidenum">
              <a:rPr lang="zh-CN" altLang="en-US" smtClean="0"/>
              <a:pPr/>
              <a:t>4</a:t>
            </a:fld>
            <a:endParaRPr lang="zh-CN" altLang="en-US"/>
          </a:p>
        </p:txBody>
      </p:sp>
    </p:spTree>
    <p:extLst>
      <p:ext uri="{BB962C8B-B14F-4D97-AF65-F5344CB8AC3E}">
        <p14:creationId xmlns:p14="http://schemas.microsoft.com/office/powerpoint/2010/main" val="21397703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D0A12F08-2C51-4761-8379-7BF5B777E402}" type="slidenum">
              <a:rPr lang="zh-CN" altLang="en-US" smtClean="0"/>
              <a:pPr/>
              <a:t>5</a:t>
            </a:fld>
            <a:endParaRPr lang="zh-CN" altLang="en-US"/>
          </a:p>
        </p:txBody>
      </p:sp>
    </p:spTree>
    <p:extLst>
      <p:ext uri="{BB962C8B-B14F-4D97-AF65-F5344CB8AC3E}">
        <p14:creationId xmlns:p14="http://schemas.microsoft.com/office/powerpoint/2010/main" val="6979560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0A12F08-2C51-4761-8379-7BF5B777E402}" type="slidenum">
              <a:rPr lang="zh-CN" altLang="en-US" smtClean="0"/>
              <a:pPr/>
              <a:t>6</a:t>
            </a:fld>
            <a:endParaRPr lang="zh-CN" altLang="en-US"/>
          </a:p>
        </p:txBody>
      </p:sp>
    </p:spTree>
    <p:extLst>
      <p:ext uri="{BB962C8B-B14F-4D97-AF65-F5344CB8AC3E}">
        <p14:creationId xmlns:p14="http://schemas.microsoft.com/office/powerpoint/2010/main" val="9705198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0A12F08-2C51-4761-8379-7BF5B777E402}" type="slidenum">
              <a:rPr lang="zh-CN" altLang="en-US" smtClean="0"/>
              <a:pPr/>
              <a:t>7</a:t>
            </a:fld>
            <a:endParaRPr lang="zh-CN" altLang="en-US"/>
          </a:p>
        </p:txBody>
      </p:sp>
    </p:spTree>
    <p:extLst>
      <p:ext uri="{BB962C8B-B14F-4D97-AF65-F5344CB8AC3E}">
        <p14:creationId xmlns:p14="http://schemas.microsoft.com/office/powerpoint/2010/main" val="16256337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0A12F08-2C51-4761-8379-7BF5B777E402}" type="slidenum">
              <a:rPr lang="zh-CN" altLang="en-US" smtClean="0"/>
              <a:pPr/>
              <a:t>8</a:t>
            </a:fld>
            <a:endParaRPr lang="zh-CN" altLang="en-US"/>
          </a:p>
        </p:txBody>
      </p:sp>
    </p:spTree>
    <p:extLst>
      <p:ext uri="{BB962C8B-B14F-4D97-AF65-F5344CB8AC3E}">
        <p14:creationId xmlns:p14="http://schemas.microsoft.com/office/powerpoint/2010/main" val="2657403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回归问题与分类问题处理的变量类型不一样（回归是连续变量，分类是离散变量），一般而言，不建议互相转化，因为不能保证将分类标签与连续变量转化的合理性（例如，晴天，阴天）。当然，为了处理问题的方便，这种处理手段是存在的，例如将年龄预测问题转化为年龄段分类问题</a:t>
            </a:r>
          </a:p>
        </p:txBody>
      </p:sp>
      <p:sp>
        <p:nvSpPr>
          <p:cNvPr id="4" name="灯片编号占位符 3"/>
          <p:cNvSpPr>
            <a:spLocks noGrp="1"/>
          </p:cNvSpPr>
          <p:nvPr>
            <p:ph type="sldNum" sz="quarter" idx="5"/>
          </p:nvPr>
        </p:nvSpPr>
        <p:spPr/>
        <p:txBody>
          <a:bodyPr/>
          <a:lstStyle/>
          <a:p>
            <a:fld id="{D0A12F08-2C51-4761-8379-7BF5B777E402}" type="slidenum">
              <a:rPr lang="zh-CN" altLang="en-US" smtClean="0"/>
              <a:pPr/>
              <a:t>14</a:t>
            </a:fld>
            <a:endParaRPr lang="zh-CN" altLang="en-US"/>
          </a:p>
        </p:txBody>
      </p:sp>
    </p:spTree>
    <p:extLst>
      <p:ext uri="{BB962C8B-B14F-4D97-AF65-F5344CB8AC3E}">
        <p14:creationId xmlns:p14="http://schemas.microsoft.com/office/powerpoint/2010/main" val="2249092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0A12F08-2C51-4761-8379-7BF5B777E402}" type="slidenum">
              <a:rPr lang="zh-CN" altLang="en-US" smtClean="0"/>
              <a:pPr/>
              <a:t>18</a:t>
            </a:fld>
            <a:endParaRPr lang="zh-CN" altLang="en-US"/>
          </a:p>
        </p:txBody>
      </p:sp>
    </p:spTree>
    <p:extLst>
      <p:ext uri="{BB962C8B-B14F-4D97-AF65-F5344CB8AC3E}">
        <p14:creationId xmlns:p14="http://schemas.microsoft.com/office/powerpoint/2010/main" val="18814613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26</a:t>
            </a:fld>
            <a:endParaRPr lang="zh-CN" altLang="en-US"/>
          </a:p>
        </p:txBody>
      </p:sp>
    </p:spTree>
    <p:extLst>
      <p:ext uri="{BB962C8B-B14F-4D97-AF65-F5344CB8AC3E}">
        <p14:creationId xmlns:p14="http://schemas.microsoft.com/office/powerpoint/2010/main" val="29472486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0A12F08-2C51-4761-8379-7BF5B777E402}" type="slidenum">
              <a:rPr lang="zh-CN" altLang="en-US" smtClean="0"/>
              <a:pPr/>
              <a:t>27</a:t>
            </a:fld>
            <a:endParaRPr lang="zh-CN" altLang="en-US"/>
          </a:p>
        </p:txBody>
      </p:sp>
    </p:spTree>
    <p:extLst>
      <p:ext uri="{BB962C8B-B14F-4D97-AF65-F5344CB8AC3E}">
        <p14:creationId xmlns:p14="http://schemas.microsoft.com/office/powerpoint/2010/main" val="4941815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1000-8=992</a:t>
            </a:r>
            <a:r>
              <a:rPr lang="zh-CN" altLang="en-US" dirty="0"/>
              <a:t>个标注为通畅的样本</a:t>
            </a:r>
            <a:r>
              <a:rPr lang="en-US" altLang="zh-CN" dirty="0"/>
              <a:t>,    992-5</a:t>
            </a:r>
            <a:r>
              <a:rPr lang="zh-CN" altLang="en-US" dirty="0"/>
              <a:t>（被错误标注为通畅的）</a:t>
            </a:r>
            <a:r>
              <a:rPr lang="en-US" altLang="zh-CN" dirty="0"/>
              <a:t>=987 </a:t>
            </a:r>
            <a:r>
              <a:rPr lang="zh-CN" altLang="en-US" dirty="0"/>
              <a:t>个真正通畅的样本</a:t>
            </a:r>
          </a:p>
        </p:txBody>
      </p:sp>
      <p:sp>
        <p:nvSpPr>
          <p:cNvPr id="4" name="灯片编号占位符 3"/>
          <p:cNvSpPr>
            <a:spLocks noGrp="1"/>
          </p:cNvSpPr>
          <p:nvPr>
            <p:ph type="sldNum" sz="quarter" idx="5"/>
          </p:nvPr>
        </p:nvSpPr>
        <p:spPr/>
        <p:txBody>
          <a:bodyPr/>
          <a:lstStyle/>
          <a:p>
            <a:fld id="{D0A12F08-2C51-4761-8379-7BF5B777E402}" type="slidenum">
              <a:rPr lang="zh-CN" altLang="en-US" smtClean="0"/>
              <a:pPr/>
              <a:t>30</a:t>
            </a:fld>
            <a:endParaRPr lang="zh-CN" altLang="en-US"/>
          </a:p>
        </p:txBody>
      </p:sp>
    </p:spTree>
    <p:extLst>
      <p:ext uri="{BB962C8B-B14F-4D97-AF65-F5344CB8AC3E}">
        <p14:creationId xmlns:p14="http://schemas.microsoft.com/office/powerpoint/2010/main" val="17236347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一个开放问题。我们一般认为一场交通事故的影响是极其恶劣的，因此，我们想要竭力避免交通事故的产生，将所有有风险的点都尽量找出，因此，我们就需要放宽分类标准，提高召回率；对于交通拥堵来说，每天的不同时刻都有城市的不同地方在产生着拥堵，而拥堵识别一般是为了采取某些措施避免拥堵，考虑到基础设施建设的经费制约，我们可以进行较为“严格”的分类，筛选出真正拥堵的路段或交叉口，因此可以适当提高“精确率”</a:t>
            </a:r>
          </a:p>
        </p:txBody>
      </p:sp>
      <p:sp>
        <p:nvSpPr>
          <p:cNvPr id="4" name="灯片编号占位符 3"/>
          <p:cNvSpPr>
            <a:spLocks noGrp="1"/>
          </p:cNvSpPr>
          <p:nvPr>
            <p:ph type="sldNum" sz="quarter" idx="5"/>
          </p:nvPr>
        </p:nvSpPr>
        <p:spPr/>
        <p:txBody>
          <a:bodyPr/>
          <a:lstStyle/>
          <a:p>
            <a:fld id="{D0A12F08-2C51-4761-8379-7BF5B777E402}" type="slidenum">
              <a:rPr lang="zh-CN" altLang="en-US" smtClean="0"/>
              <a:pPr/>
              <a:t>31</a:t>
            </a:fld>
            <a:endParaRPr lang="zh-CN" altLang="en-US"/>
          </a:p>
        </p:txBody>
      </p:sp>
    </p:spTree>
    <p:extLst>
      <p:ext uri="{BB962C8B-B14F-4D97-AF65-F5344CB8AC3E}">
        <p14:creationId xmlns:p14="http://schemas.microsoft.com/office/powerpoint/2010/main" val="32914221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1\</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P-R</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图与</a:t>
            </a:r>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ROC</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图都是为了衡量分类器的优劣而产生的。</a:t>
            </a:r>
            <a:r>
              <a:rPr lang="zh-CN" altLang="zh-CN" sz="1800" b="1" i="1" kern="100" dirty="0">
                <a:effectLst/>
                <a:latin typeface="等线" panose="02010600030101010101" pitchFamily="2" charset="-122"/>
                <a:ea typeface="宋体" panose="02010600030101010101" pitchFamily="2" charset="-122"/>
                <a:cs typeface="Times New Roman" panose="02020603050405020304" pitchFamily="18" charset="0"/>
              </a:rPr>
              <a:t>从数学上来说，如果一个分类器（</a:t>
            </a:r>
            <a:r>
              <a:rPr lang="en-US" altLang="zh-CN" sz="1800" b="1" i="1" kern="100" dirty="0">
                <a:effectLst/>
                <a:latin typeface="等线" panose="02010600030101010101" pitchFamily="2" charset="-122"/>
                <a:ea typeface="宋体" panose="02010600030101010101" pitchFamily="2" charset="-122"/>
                <a:cs typeface="Times New Roman" panose="02020603050405020304" pitchFamily="18" charset="0"/>
              </a:rPr>
              <a:t>A</a:t>
            </a:r>
            <a:r>
              <a:rPr lang="zh-CN" altLang="zh-CN" sz="1800" b="1" i="1" kern="100" dirty="0">
                <a:effectLst/>
                <a:latin typeface="等线" panose="02010600030101010101" pitchFamily="2" charset="-122"/>
                <a:ea typeface="宋体" panose="02010600030101010101" pitchFamily="2" charset="-122"/>
                <a:cs typeface="Times New Roman" panose="02020603050405020304" pitchFamily="18" charset="0"/>
              </a:rPr>
              <a:t>）的</a:t>
            </a:r>
            <a:r>
              <a:rPr lang="en-US" altLang="zh-CN" sz="1800" b="1" i="1" kern="100" dirty="0">
                <a:effectLst/>
                <a:latin typeface="等线" panose="02010600030101010101" pitchFamily="2" charset="-122"/>
                <a:ea typeface="宋体" panose="02010600030101010101" pitchFamily="2" charset="-122"/>
                <a:cs typeface="Times New Roman" panose="02020603050405020304" pitchFamily="18" charset="0"/>
              </a:rPr>
              <a:t>P-R</a:t>
            </a:r>
            <a:r>
              <a:rPr lang="zh-CN" altLang="zh-CN" sz="1800" b="1" i="1" kern="100" dirty="0">
                <a:effectLst/>
                <a:latin typeface="等线" panose="02010600030101010101" pitchFamily="2" charset="-122"/>
                <a:ea typeface="宋体" panose="02010600030101010101" pitchFamily="2" charset="-122"/>
                <a:cs typeface="Times New Roman" panose="02020603050405020304" pitchFamily="18" charset="0"/>
              </a:rPr>
              <a:t>曲线完全包围另一个分类器（</a:t>
            </a:r>
            <a:r>
              <a:rPr lang="en-US" altLang="zh-CN" sz="1800" b="1" i="1" kern="100" dirty="0">
                <a:effectLst/>
                <a:latin typeface="等线" panose="02010600030101010101" pitchFamily="2" charset="-122"/>
                <a:ea typeface="宋体" panose="02010600030101010101" pitchFamily="2" charset="-122"/>
                <a:cs typeface="Times New Roman" panose="02020603050405020304" pitchFamily="18" charset="0"/>
              </a:rPr>
              <a:t>B</a:t>
            </a:r>
            <a:r>
              <a:rPr lang="zh-CN" altLang="zh-CN" sz="1800" b="1" i="1" kern="100" dirty="0">
                <a:effectLst/>
                <a:latin typeface="等线" panose="02010600030101010101" pitchFamily="2" charset="-122"/>
                <a:ea typeface="宋体" panose="02010600030101010101" pitchFamily="2" charset="-122"/>
                <a:cs typeface="Times New Roman" panose="02020603050405020304" pitchFamily="18" charset="0"/>
              </a:rPr>
              <a:t>）的</a:t>
            </a:r>
            <a:r>
              <a:rPr lang="en-US" altLang="zh-CN" sz="1800" b="1" i="1" kern="100" dirty="0">
                <a:effectLst/>
                <a:latin typeface="等线" panose="02010600030101010101" pitchFamily="2" charset="-122"/>
                <a:ea typeface="宋体" panose="02010600030101010101" pitchFamily="2" charset="-122"/>
                <a:cs typeface="Times New Roman" panose="02020603050405020304" pitchFamily="18" charset="0"/>
              </a:rPr>
              <a:t>P-R</a:t>
            </a:r>
            <a:r>
              <a:rPr lang="zh-CN" altLang="zh-CN" sz="1800" b="1" i="1" kern="100" dirty="0">
                <a:effectLst/>
                <a:latin typeface="等线" panose="02010600030101010101" pitchFamily="2" charset="-122"/>
                <a:ea typeface="宋体" panose="02010600030101010101" pitchFamily="2" charset="-122"/>
                <a:cs typeface="Times New Roman" panose="02020603050405020304" pitchFamily="18" charset="0"/>
              </a:rPr>
              <a:t>曲线，那么分类器</a:t>
            </a:r>
            <a:r>
              <a:rPr lang="en-US" altLang="zh-CN" sz="1800" b="1" i="1" kern="100" dirty="0">
                <a:effectLst/>
                <a:latin typeface="等线" panose="02010600030101010101" pitchFamily="2" charset="-122"/>
                <a:ea typeface="宋体" panose="02010600030101010101" pitchFamily="2" charset="-122"/>
                <a:cs typeface="Times New Roman" panose="02020603050405020304" pitchFamily="18" charset="0"/>
              </a:rPr>
              <a:t>A</a:t>
            </a:r>
            <a:r>
              <a:rPr lang="zh-CN" altLang="zh-CN" sz="1800" b="1" i="1" kern="100" dirty="0">
                <a:effectLst/>
                <a:latin typeface="等线" panose="02010600030101010101" pitchFamily="2" charset="-122"/>
                <a:ea typeface="宋体" panose="02010600030101010101" pitchFamily="2" charset="-122"/>
                <a:cs typeface="Times New Roman" panose="02020603050405020304" pitchFamily="18" charset="0"/>
              </a:rPr>
              <a:t>的</a:t>
            </a:r>
            <a:r>
              <a:rPr lang="en-US" altLang="zh-CN" sz="1800" b="1" i="1" kern="100" dirty="0">
                <a:effectLst/>
                <a:latin typeface="等线" panose="02010600030101010101" pitchFamily="2" charset="-122"/>
                <a:ea typeface="宋体" panose="02010600030101010101" pitchFamily="2" charset="-122"/>
                <a:cs typeface="Times New Roman" panose="02020603050405020304" pitchFamily="18" charset="0"/>
              </a:rPr>
              <a:t>ROC</a:t>
            </a:r>
            <a:r>
              <a:rPr lang="zh-CN" altLang="zh-CN" sz="1800" b="1" i="1" kern="100" dirty="0">
                <a:effectLst/>
                <a:latin typeface="等线" panose="02010600030101010101" pitchFamily="2" charset="-122"/>
                <a:ea typeface="宋体" panose="02010600030101010101" pitchFamily="2" charset="-122"/>
                <a:cs typeface="Times New Roman" panose="02020603050405020304" pitchFamily="18" charset="0"/>
              </a:rPr>
              <a:t>曲线也一定包含分类器</a:t>
            </a:r>
            <a:r>
              <a:rPr lang="en-US" altLang="zh-CN" sz="1800" b="1" i="1" kern="100" dirty="0">
                <a:effectLst/>
                <a:latin typeface="等线" panose="02010600030101010101" pitchFamily="2" charset="-122"/>
                <a:ea typeface="宋体" panose="02010600030101010101" pitchFamily="2" charset="-122"/>
                <a:cs typeface="Times New Roman" panose="02020603050405020304" pitchFamily="18" charset="0"/>
              </a:rPr>
              <a:t>B</a:t>
            </a:r>
            <a:r>
              <a:rPr lang="zh-CN" altLang="zh-CN" sz="1800" b="1" i="1" kern="100" dirty="0">
                <a:effectLst/>
                <a:latin typeface="等线" panose="02010600030101010101" pitchFamily="2" charset="-122"/>
                <a:ea typeface="宋体" panose="02010600030101010101" pitchFamily="2" charset="-122"/>
                <a:cs typeface="Times New Roman" panose="02020603050405020304" pitchFamily="18" charset="0"/>
              </a:rPr>
              <a:t>的</a:t>
            </a:r>
            <a:r>
              <a:rPr lang="en-US" altLang="zh-CN" sz="1800" b="1" i="1" kern="100" dirty="0">
                <a:effectLst/>
                <a:latin typeface="等线" panose="02010600030101010101" pitchFamily="2" charset="-122"/>
                <a:ea typeface="宋体" panose="02010600030101010101" pitchFamily="2" charset="-122"/>
                <a:cs typeface="Times New Roman" panose="02020603050405020304" pitchFamily="18" charset="0"/>
              </a:rPr>
              <a:t>ROC</a:t>
            </a:r>
            <a:r>
              <a:rPr lang="zh-CN" altLang="zh-CN" sz="1800" b="1" i="1" kern="100" dirty="0">
                <a:effectLst/>
                <a:latin typeface="等线" panose="02010600030101010101" pitchFamily="2" charset="-122"/>
                <a:ea typeface="宋体" panose="02010600030101010101" pitchFamily="2" charset="-122"/>
                <a:cs typeface="Times New Roman" panose="02020603050405020304" pitchFamily="18" charset="0"/>
              </a:rPr>
              <a:t>曲线</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2\</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是可以的，</a:t>
            </a:r>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ROC</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曲线的横轴是假正类率，纵轴是真正类率，当样本中的正样本数增加</a:t>
            </a:r>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10</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倍，可以看出，若分类器不变，那么假正类率与真正类率两个值的大小也不会变，因此，</a:t>
            </a:r>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ROC</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曲线对于样本集中正负样本分布的变化并不敏感</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D0A12F08-2C51-4761-8379-7BF5B777E402}" type="slidenum">
              <a:rPr lang="zh-CN" altLang="en-US" smtClean="0"/>
              <a:pPr/>
              <a:t>36</a:t>
            </a:fld>
            <a:endParaRPr lang="zh-CN" altLang="en-US"/>
          </a:p>
        </p:txBody>
      </p:sp>
    </p:spTree>
    <p:extLst>
      <p:ext uri="{BB962C8B-B14F-4D97-AF65-F5344CB8AC3E}">
        <p14:creationId xmlns:p14="http://schemas.microsoft.com/office/powerpoint/2010/main" val="35681819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0A12F08-2C51-4761-8379-7BF5B777E402}" type="slidenum">
              <a:rPr lang="zh-CN" altLang="en-US" smtClean="0"/>
              <a:pPr/>
              <a:t>41</a:t>
            </a:fld>
            <a:endParaRPr lang="zh-CN" altLang="en-US"/>
          </a:p>
        </p:txBody>
      </p:sp>
    </p:spTree>
    <p:extLst>
      <p:ext uri="{BB962C8B-B14F-4D97-AF65-F5344CB8AC3E}">
        <p14:creationId xmlns:p14="http://schemas.microsoft.com/office/powerpoint/2010/main" val="2517648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这里新增了最下面的一个公式，损失函数</a:t>
            </a:r>
          </a:p>
        </p:txBody>
      </p:sp>
      <p:sp>
        <p:nvSpPr>
          <p:cNvPr id="4" name="灯片编号占位符 3"/>
          <p:cNvSpPr>
            <a:spLocks noGrp="1"/>
          </p:cNvSpPr>
          <p:nvPr>
            <p:ph type="sldNum" sz="quarter" idx="5"/>
          </p:nvPr>
        </p:nvSpPr>
        <p:spPr/>
        <p:txBody>
          <a:bodyPr/>
          <a:lstStyle/>
          <a:p>
            <a:fld id="{D0A12F08-2C51-4761-8379-7BF5B777E402}" type="slidenum">
              <a:rPr lang="zh-CN" altLang="en-US" smtClean="0"/>
              <a:pPr/>
              <a:t>43</a:t>
            </a:fld>
            <a:endParaRPr lang="zh-CN" altLang="en-US"/>
          </a:p>
        </p:txBody>
      </p:sp>
    </p:spTree>
    <p:extLst>
      <p:ext uri="{BB962C8B-B14F-4D97-AF65-F5344CB8AC3E}">
        <p14:creationId xmlns:p14="http://schemas.microsoft.com/office/powerpoint/2010/main" val="41169903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这里将“损失函数”和“拟合函数”进行了区分，修改了原来的公式</a:t>
            </a:r>
          </a:p>
        </p:txBody>
      </p:sp>
      <p:sp>
        <p:nvSpPr>
          <p:cNvPr id="4" name="灯片编号占位符 3"/>
          <p:cNvSpPr>
            <a:spLocks noGrp="1"/>
          </p:cNvSpPr>
          <p:nvPr>
            <p:ph type="sldNum" sz="quarter" idx="5"/>
          </p:nvPr>
        </p:nvSpPr>
        <p:spPr/>
        <p:txBody>
          <a:bodyPr/>
          <a:lstStyle/>
          <a:p>
            <a:fld id="{D0A12F08-2C51-4761-8379-7BF5B777E402}" type="slidenum">
              <a:rPr lang="zh-CN" altLang="en-US" smtClean="0"/>
              <a:pPr/>
              <a:t>44</a:t>
            </a:fld>
            <a:endParaRPr lang="zh-CN" altLang="en-US"/>
          </a:p>
        </p:txBody>
      </p:sp>
    </p:spTree>
    <p:extLst>
      <p:ext uri="{BB962C8B-B14F-4D97-AF65-F5344CB8AC3E}">
        <p14:creationId xmlns:p14="http://schemas.microsoft.com/office/powerpoint/2010/main" val="31098998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这里将“损失函数”和“拟合函数”进行了区分，修改了原来的公式</a:t>
            </a:r>
          </a:p>
          <a:p>
            <a:endParaRPr lang="zh-CN" altLang="en-US" dirty="0"/>
          </a:p>
        </p:txBody>
      </p:sp>
      <p:sp>
        <p:nvSpPr>
          <p:cNvPr id="4" name="灯片编号占位符 3"/>
          <p:cNvSpPr>
            <a:spLocks noGrp="1"/>
          </p:cNvSpPr>
          <p:nvPr>
            <p:ph type="sldNum" sz="quarter" idx="5"/>
          </p:nvPr>
        </p:nvSpPr>
        <p:spPr/>
        <p:txBody>
          <a:bodyPr/>
          <a:lstStyle/>
          <a:p>
            <a:fld id="{D0A12F08-2C51-4761-8379-7BF5B777E402}" type="slidenum">
              <a:rPr lang="zh-CN" altLang="en-US" smtClean="0"/>
              <a:pPr/>
              <a:t>45</a:t>
            </a:fld>
            <a:endParaRPr lang="zh-CN" altLang="en-US"/>
          </a:p>
        </p:txBody>
      </p:sp>
    </p:spTree>
    <p:extLst>
      <p:ext uri="{BB962C8B-B14F-4D97-AF65-F5344CB8AC3E}">
        <p14:creationId xmlns:p14="http://schemas.microsoft.com/office/powerpoint/2010/main" val="39946790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这里将“损失函数”和“拟合函数”进行了区分，修改了原来的公式</a:t>
            </a:r>
          </a:p>
          <a:p>
            <a:endParaRPr lang="zh-CN" altLang="en-US" dirty="0"/>
          </a:p>
        </p:txBody>
      </p:sp>
      <p:sp>
        <p:nvSpPr>
          <p:cNvPr id="4" name="灯片编号占位符 3"/>
          <p:cNvSpPr>
            <a:spLocks noGrp="1"/>
          </p:cNvSpPr>
          <p:nvPr>
            <p:ph type="sldNum" sz="quarter" idx="5"/>
          </p:nvPr>
        </p:nvSpPr>
        <p:spPr/>
        <p:txBody>
          <a:bodyPr/>
          <a:lstStyle/>
          <a:p>
            <a:fld id="{D0A12F08-2C51-4761-8379-7BF5B777E402}" type="slidenum">
              <a:rPr lang="zh-CN" altLang="en-US" smtClean="0"/>
              <a:pPr/>
              <a:t>46</a:t>
            </a:fld>
            <a:endParaRPr lang="zh-CN" altLang="en-US"/>
          </a:p>
        </p:txBody>
      </p:sp>
    </p:spTree>
    <p:extLst>
      <p:ext uri="{BB962C8B-B14F-4D97-AF65-F5344CB8AC3E}">
        <p14:creationId xmlns:p14="http://schemas.microsoft.com/office/powerpoint/2010/main" val="33765759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做一个最简单的形式，参考吴恩达，下面的作为阅读材料</a:t>
            </a:r>
          </a:p>
        </p:txBody>
      </p:sp>
      <p:sp>
        <p:nvSpPr>
          <p:cNvPr id="4" name="灯片编号占位符 3"/>
          <p:cNvSpPr>
            <a:spLocks noGrp="1"/>
          </p:cNvSpPr>
          <p:nvPr>
            <p:ph type="sldNum" sz="quarter" idx="5"/>
          </p:nvPr>
        </p:nvSpPr>
        <p:spPr/>
        <p:txBody>
          <a:bodyPr/>
          <a:lstStyle/>
          <a:p>
            <a:fld id="{D0A12F08-2C51-4761-8379-7BF5B777E402}" type="slidenum">
              <a:rPr lang="zh-CN" altLang="en-US" smtClean="0"/>
              <a:pPr/>
              <a:t>47</a:t>
            </a:fld>
            <a:endParaRPr lang="zh-CN" altLang="en-US"/>
          </a:p>
        </p:txBody>
      </p:sp>
    </p:spTree>
    <p:extLst>
      <p:ext uri="{BB962C8B-B14F-4D97-AF65-F5344CB8AC3E}">
        <p14:creationId xmlns:p14="http://schemas.microsoft.com/office/powerpoint/2010/main" val="4494436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滑动窗；如何讲</a:t>
            </a:r>
          </a:p>
        </p:txBody>
      </p:sp>
      <p:sp>
        <p:nvSpPr>
          <p:cNvPr id="4" name="灯片编号占位符 3"/>
          <p:cNvSpPr>
            <a:spLocks noGrp="1"/>
          </p:cNvSpPr>
          <p:nvPr>
            <p:ph type="sldNum" sz="quarter" idx="5"/>
          </p:nvPr>
        </p:nvSpPr>
        <p:spPr/>
        <p:txBody>
          <a:bodyPr/>
          <a:lstStyle/>
          <a:p>
            <a:fld id="{D0A12F08-2C51-4761-8379-7BF5B777E402}" type="slidenum">
              <a:rPr lang="zh-CN" altLang="en-US" smtClean="0"/>
              <a:pPr/>
              <a:t>59</a:t>
            </a:fld>
            <a:endParaRPr lang="zh-CN" altLang="en-US"/>
          </a:p>
        </p:txBody>
      </p:sp>
    </p:spTree>
    <p:extLst>
      <p:ext uri="{BB962C8B-B14F-4D97-AF65-F5344CB8AC3E}">
        <p14:creationId xmlns:p14="http://schemas.microsoft.com/office/powerpoint/2010/main" val="36364364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有放回采样</a:t>
            </a:r>
          </a:p>
        </p:txBody>
      </p:sp>
      <p:sp>
        <p:nvSpPr>
          <p:cNvPr id="4" name="灯片编号占位符 3"/>
          <p:cNvSpPr>
            <a:spLocks noGrp="1"/>
          </p:cNvSpPr>
          <p:nvPr>
            <p:ph type="sldNum" sz="quarter" idx="5"/>
          </p:nvPr>
        </p:nvSpPr>
        <p:spPr/>
        <p:txBody>
          <a:bodyPr/>
          <a:lstStyle/>
          <a:p>
            <a:fld id="{D0A12F08-2C51-4761-8379-7BF5B777E402}" type="slidenum">
              <a:rPr lang="zh-CN" altLang="en-US" smtClean="0"/>
              <a:pPr/>
              <a:t>60</a:t>
            </a:fld>
            <a:endParaRPr lang="zh-CN" altLang="en-US"/>
          </a:p>
        </p:txBody>
      </p:sp>
    </p:spTree>
    <p:extLst>
      <p:ext uri="{BB962C8B-B14F-4D97-AF65-F5344CB8AC3E}">
        <p14:creationId xmlns:p14="http://schemas.microsoft.com/office/powerpoint/2010/main" val="10627421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机器学习领域中，不同评价指标（即特征向量中的不同特征就是所述的不同评价指标）往往具有不同的量纲和量纲单位，这样的情况会影响到数据分析的结果，为了消除指标之间的量纲影响，需要进行数据标准化处理，以解决数据指标之间的可比性。原始数据经过数据标准化处理后，各指标处于同一数量级，适合进行综合对比评价。</a:t>
            </a:r>
            <a:endParaRPr lang="en-US" altLang="zh-CN" dirty="0"/>
          </a:p>
          <a:p>
            <a:r>
              <a:rPr lang="en-US" altLang="zh-CN" dirty="0"/>
              <a:t>----------------------------------------------------------------------</a:t>
            </a:r>
          </a:p>
          <a:p>
            <a:r>
              <a:rPr lang="zh-CN" altLang="en-US" b="0" i="0" dirty="0">
                <a:solidFill>
                  <a:srgbClr val="4D4D4D"/>
                </a:solidFill>
                <a:effectLst/>
                <a:latin typeface="SimSun" panose="02010600030101010101" pitchFamily="2" charset="-122"/>
                <a:ea typeface="SimSun" panose="02010600030101010101" pitchFamily="2" charset="-122"/>
              </a:rPr>
              <a:t>如果不进行归一化，那么由于特征向量中不同特征的取值相差较大，会导致目标函数变“扁”。这样</a:t>
            </a:r>
            <a:r>
              <a:rPr lang="zh-CN" altLang="en-US" b="0" i="0" dirty="0">
                <a:solidFill>
                  <a:srgbClr val="262626"/>
                </a:solidFill>
                <a:effectLst/>
                <a:latin typeface="SimSun" panose="02010600030101010101" pitchFamily="2" charset="-122"/>
                <a:ea typeface="SimSun" panose="02010600030101010101" pitchFamily="2" charset="-122"/>
              </a:rPr>
              <a:t>在进行梯度下降的时候，梯度的方向就会偏离最小值的方向，走很多弯路，即训练时间过长。</a:t>
            </a:r>
            <a:endParaRPr lang="en-US" altLang="zh-CN" b="0" i="0" dirty="0">
              <a:solidFill>
                <a:srgbClr val="262626"/>
              </a:solidFill>
              <a:effectLst/>
              <a:latin typeface="SimSun" panose="02010600030101010101" pitchFamily="2" charset="-122"/>
              <a:ea typeface="SimSun" panose="02010600030101010101" pitchFamily="2" charset="-122"/>
            </a:endParaRPr>
          </a:p>
          <a:p>
            <a:r>
              <a:rPr lang="zh-CN" altLang="en-US" b="0" i="0" dirty="0">
                <a:solidFill>
                  <a:srgbClr val="4D4D4D"/>
                </a:solidFill>
                <a:effectLst/>
                <a:latin typeface="-apple-system"/>
              </a:rPr>
              <a:t>如果进行归一化以后，目标函数会呈现比较“圆”，这样训练速度大大加快，少走很多弯路。</a:t>
            </a:r>
            <a:endParaRPr lang="zh-CN" altLang="en-US" dirty="0"/>
          </a:p>
        </p:txBody>
      </p:sp>
      <p:sp>
        <p:nvSpPr>
          <p:cNvPr id="4" name="灯片编号占位符 3"/>
          <p:cNvSpPr>
            <a:spLocks noGrp="1"/>
          </p:cNvSpPr>
          <p:nvPr>
            <p:ph type="sldNum" sz="quarter" idx="5"/>
          </p:nvPr>
        </p:nvSpPr>
        <p:spPr/>
        <p:txBody>
          <a:bodyPr/>
          <a:lstStyle/>
          <a:p>
            <a:fld id="{D0A12F08-2C51-4761-8379-7BF5B777E402}" type="slidenum">
              <a:rPr lang="zh-CN" altLang="en-US" smtClean="0"/>
              <a:pPr/>
              <a:t>61</a:t>
            </a:fld>
            <a:endParaRPr lang="zh-CN" altLang="en-US"/>
          </a:p>
        </p:txBody>
      </p:sp>
    </p:spTree>
    <p:extLst>
      <p:ext uri="{BB962C8B-B14F-4D97-AF65-F5344CB8AC3E}">
        <p14:creationId xmlns:p14="http://schemas.microsoft.com/office/powerpoint/2010/main" val="24435564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编程</a:t>
            </a:r>
          </a:p>
        </p:txBody>
      </p:sp>
      <p:sp>
        <p:nvSpPr>
          <p:cNvPr id="4" name="灯片编号占位符 3"/>
          <p:cNvSpPr>
            <a:spLocks noGrp="1"/>
          </p:cNvSpPr>
          <p:nvPr>
            <p:ph type="sldNum" sz="quarter" idx="5"/>
          </p:nvPr>
        </p:nvSpPr>
        <p:spPr/>
        <p:txBody>
          <a:bodyPr/>
          <a:lstStyle/>
          <a:p>
            <a:fld id="{D0A12F08-2C51-4761-8379-7BF5B777E402}" type="slidenum">
              <a:rPr lang="zh-CN" altLang="en-US" smtClean="0"/>
              <a:pPr/>
              <a:t>62</a:t>
            </a:fld>
            <a:endParaRPr lang="zh-CN" altLang="en-US"/>
          </a:p>
        </p:txBody>
      </p:sp>
    </p:spTree>
    <p:extLst>
      <p:ext uri="{BB962C8B-B14F-4D97-AF65-F5344CB8AC3E}">
        <p14:creationId xmlns:p14="http://schemas.microsoft.com/office/powerpoint/2010/main" val="18842413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编程</a:t>
            </a:r>
          </a:p>
        </p:txBody>
      </p:sp>
      <p:sp>
        <p:nvSpPr>
          <p:cNvPr id="4" name="灯片编号占位符 3"/>
          <p:cNvSpPr>
            <a:spLocks noGrp="1"/>
          </p:cNvSpPr>
          <p:nvPr>
            <p:ph type="sldNum" sz="quarter" idx="5"/>
          </p:nvPr>
        </p:nvSpPr>
        <p:spPr/>
        <p:txBody>
          <a:bodyPr/>
          <a:lstStyle/>
          <a:p>
            <a:fld id="{D0A12F08-2C51-4761-8379-7BF5B777E402}" type="slidenum">
              <a:rPr lang="zh-CN" altLang="en-US" smtClean="0"/>
              <a:pPr/>
              <a:t>63</a:t>
            </a:fld>
            <a:endParaRPr lang="zh-CN" altLang="en-US"/>
          </a:p>
        </p:txBody>
      </p:sp>
    </p:spTree>
    <p:extLst>
      <p:ext uri="{BB962C8B-B14F-4D97-AF65-F5344CB8AC3E}">
        <p14:creationId xmlns:p14="http://schemas.microsoft.com/office/powerpoint/2010/main" val="20078359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不要迷信，从问题本身出发</a:t>
            </a:r>
          </a:p>
        </p:txBody>
      </p:sp>
      <p:sp>
        <p:nvSpPr>
          <p:cNvPr id="4" name="灯片编号占位符 3"/>
          <p:cNvSpPr>
            <a:spLocks noGrp="1"/>
          </p:cNvSpPr>
          <p:nvPr>
            <p:ph type="sldNum" sz="quarter" idx="5"/>
          </p:nvPr>
        </p:nvSpPr>
        <p:spPr/>
        <p:txBody>
          <a:bodyPr/>
          <a:lstStyle/>
          <a:p>
            <a:fld id="{D0A12F08-2C51-4761-8379-7BF5B777E402}" type="slidenum">
              <a:rPr lang="zh-CN" altLang="en-US" smtClean="0"/>
              <a:pPr/>
              <a:t>65</a:t>
            </a:fld>
            <a:endParaRPr lang="zh-CN" altLang="en-US"/>
          </a:p>
        </p:txBody>
      </p:sp>
    </p:spTree>
    <p:extLst>
      <p:ext uri="{BB962C8B-B14F-4D97-AF65-F5344CB8AC3E}">
        <p14:creationId xmlns:p14="http://schemas.microsoft.com/office/powerpoint/2010/main" val="6877160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不要迷信，从问题本身出发</a:t>
            </a:r>
          </a:p>
        </p:txBody>
      </p:sp>
      <p:sp>
        <p:nvSpPr>
          <p:cNvPr id="4" name="灯片编号占位符 3"/>
          <p:cNvSpPr>
            <a:spLocks noGrp="1"/>
          </p:cNvSpPr>
          <p:nvPr>
            <p:ph type="sldNum" sz="quarter" idx="5"/>
          </p:nvPr>
        </p:nvSpPr>
        <p:spPr/>
        <p:txBody>
          <a:bodyPr/>
          <a:lstStyle/>
          <a:p>
            <a:fld id="{D0A12F08-2C51-4761-8379-7BF5B777E402}" type="slidenum">
              <a:rPr lang="zh-CN" altLang="en-US" smtClean="0"/>
              <a:pPr/>
              <a:t>66</a:t>
            </a:fld>
            <a:endParaRPr lang="zh-CN" altLang="en-US"/>
          </a:p>
        </p:txBody>
      </p:sp>
    </p:spTree>
    <p:extLst>
      <p:ext uri="{BB962C8B-B14F-4D97-AF65-F5344CB8AC3E}">
        <p14:creationId xmlns:p14="http://schemas.microsoft.com/office/powerpoint/2010/main" val="37117333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a:defRPr/>
            </a:pPr>
            <a:fld id="{32ABD749-4B3D-4BF3-B12A-B61FA89A7D20}" type="datetime1">
              <a:rPr lang="en-US" altLang="zh-CN" smtClean="0"/>
              <a:t>3/30/2025</a:t>
            </a:fld>
            <a:endParaRPr lang="en-US" altLang="zh-CN" dirty="0"/>
          </a:p>
        </p:txBody>
      </p:sp>
      <p:sp>
        <p:nvSpPr>
          <p:cNvPr id="6" name="Slide Number Placeholder 5"/>
          <p:cNvSpPr>
            <a:spLocks noGrp="1"/>
          </p:cNvSpPr>
          <p:nvPr>
            <p:ph type="sldNum" sz="quarter" idx="12"/>
          </p:nvPr>
        </p:nvSpPr>
        <p:spPr>
          <a:ln/>
        </p:spPr>
        <p:txBody>
          <a:bodyPr/>
          <a:lstStyle>
            <a:lvl1pPr>
              <a:defRPr/>
            </a:lvl1pPr>
          </a:lstStyle>
          <a:p>
            <a:pPr>
              <a:defRPr/>
            </a:pPr>
            <a:fld id="{A8A04E82-56C5-473E-AB74-E41CD95FB2B4}" type="slidenum">
              <a:rPr lang="zh-CN" altLang="en-US"/>
              <a:pPr>
                <a:defRPr/>
              </a:pPr>
              <a:t>‹#›</a:t>
            </a:fld>
            <a:endParaRPr lang="en-US" altLang="zh-CN" dirty="0"/>
          </a:p>
        </p:txBody>
      </p:sp>
      <p:sp>
        <p:nvSpPr>
          <p:cNvPr id="8" name="Footer Placeholder 4">
            <a:extLst>
              <a:ext uri="{FF2B5EF4-FFF2-40B4-BE49-F238E27FC236}">
                <a16:creationId xmlns:a16="http://schemas.microsoft.com/office/drawing/2014/main" id="{52D18F24-9FC4-496B-8BC6-7809B5E580A1}"/>
              </a:ext>
            </a:extLst>
          </p:cNvPr>
          <p:cNvSpPr>
            <a:spLocks noGrp="1"/>
          </p:cNvSpPr>
          <p:nvPr>
            <p:ph type="ftr" sz="quarter" idx="11"/>
          </p:nvPr>
        </p:nvSpPr>
        <p:spPr>
          <a:xfrm>
            <a:off x="5454826" y="10038"/>
            <a:ext cx="4831731" cy="328613"/>
          </a:xfrm>
          <a:ln/>
        </p:spPr>
        <p:txBody>
          <a:bodyPr/>
          <a:lstStyle>
            <a:lvl1pPr>
              <a:defRPr/>
            </a:lvl1pPr>
          </a:lstStyle>
          <a:p>
            <a:pPr>
              <a:defRPr/>
            </a:pPr>
            <a:r>
              <a:rPr lang="zh-CN" altLang="en-US" dirty="0"/>
              <a:t>交通大数据</a:t>
            </a:r>
            <a:r>
              <a:rPr lang="en-US" altLang="zh-CN" dirty="0"/>
              <a:t> ·</a:t>
            </a:r>
            <a:r>
              <a:rPr lang="zh-CN" altLang="en-US" dirty="0"/>
              <a:t>刘志远 教授</a:t>
            </a:r>
            <a:endParaRPr lang="en-US" altLang="zh-CN" dirty="0"/>
          </a:p>
        </p:txBody>
      </p:sp>
      <p:pic>
        <p:nvPicPr>
          <p:cNvPr id="9" name="图片 8">
            <a:extLst>
              <a:ext uri="{FF2B5EF4-FFF2-40B4-BE49-F238E27FC236}">
                <a16:creationId xmlns:a16="http://schemas.microsoft.com/office/drawing/2014/main" id="{95AC9484-63E0-439F-8F12-8E609683F5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39863" y="6150864"/>
            <a:ext cx="632774" cy="627888"/>
          </a:xfrm>
          <a:prstGeom prst="rect">
            <a:avLst/>
          </a:prstGeom>
        </p:spPr>
      </p:pic>
    </p:spTree>
    <p:extLst>
      <p:ext uri="{BB962C8B-B14F-4D97-AF65-F5344CB8AC3E}">
        <p14:creationId xmlns:p14="http://schemas.microsoft.com/office/powerpoint/2010/main" val="3053399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Date Placeholder 3"/>
          <p:cNvSpPr>
            <a:spLocks noGrp="1"/>
          </p:cNvSpPr>
          <p:nvPr>
            <p:ph type="dt" sz="half" idx="10"/>
          </p:nvPr>
        </p:nvSpPr>
        <p:spPr>
          <a:ln/>
        </p:spPr>
        <p:txBody>
          <a:bodyPr/>
          <a:lstStyle>
            <a:lvl1pPr>
              <a:defRPr/>
            </a:lvl1pPr>
          </a:lstStyle>
          <a:p>
            <a:pPr>
              <a:defRPr/>
            </a:pPr>
            <a:fld id="{A10E55C9-70B6-49A9-B285-7B6B9329A27F}" type="datetime1">
              <a:rPr lang="en-US" altLang="zh-CN" smtClean="0"/>
              <a:t>3/30/2025</a:t>
            </a:fld>
            <a:endParaRPr lang="en-US" altLang="zh-CN"/>
          </a:p>
        </p:txBody>
      </p:sp>
      <p:sp>
        <p:nvSpPr>
          <p:cNvPr id="5" name="Footer Placeholder 4"/>
          <p:cNvSpPr>
            <a:spLocks noGrp="1"/>
          </p:cNvSpPr>
          <p:nvPr>
            <p:ph type="ftr" sz="quarter" idx="11"/>
          </p:nvPr>
        </p:nvSpPr>
        <p:spPr>
          <a:ln/>
        </p:spPr>
        <p:txBody>
          <a:bodyPr/>
          <a:lstStyle>
            <a:lvl1pPr>
              <a:defRPr/>
            </a:lvl1pPr>
          </a:lstStyle>
          <a:p>
            <a:pPr>
              <a:defRPr/>
            </a:pPr>
            <a:r>
              <a:rPr lang="en-US" altLang="zh-CN"/>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a:defRPr/>
            </a:pPr>
            <a:fld id="{5BF5E73D-1069-4824-94AF-7FF34A7BE33D}" type="slidenum">
              <a:rPr lang="zh-CN" altLang="en-US"/>
              <a:pPr>
                <a:defRPr/>
              </a:pPr>
              <a:t>‹#›</a:t>
            </a:fld>
            <a:endParaRPr lang="en-US" altLang="zh-CN"/>
          </a:p>
        </p:txBody>
      </p:sp>
    </p:spTree>
    <p:extLst>
      <p:ext uri="{BB962C8B-B14F-4D97-AF65-F5344CB8AC3E}">
        <p14:creationId xmlns:p14="http://schemas.microsoft.com/office/powerpoint/2010/main" val="54087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Date Placeholder 3"/>
          <p:cNvSpPr>
            <a:spLocks noGrp="1"/>
          </p:cNvSpPr>
          <p:nvPr>
            <p:ph type="dt" sz="half" idx="10"/>
          </p:nvPr>
        </p:nvSpPr>
        <p:spPr>
          <a:ln/>
        </p:spPr>
        <p:txBody>
          <a:bodyPr/>
          <a:lstStyle>
            <a:lvl1pPr>
              <a:defRPr/>
            </a:lvl1pPr>
          </a:lstStyle>
          <a:p>
            <a:pPr>
              <a:defRPr/>
            </a:pPr>
            <a:fld id="{0D7C70DC-E5E3-476E-B719-7C406A24E276}" type="datetime1">
              <a:rPr lang="en-US" altLang="zh-CN" smtClean="0"/>
              <a:t>3/30/2025</a:t>
            </a:fld>
            <a:endParaRPr lang="en-US" altLang="zh-CN"/>
          </a:p>
        </p:txBody>
      </p:sp>
      <p:sp>
        <p:nvSpPr>
          <p:cNvPr id="6" name="Footer Placeholder 4"/>
          <p:cNvSpPr>
            <a:spLocks noGrp="1"/>
          </p:cNvSpPr>
          <p:nvPr>
            <p:ph type="ftr" sz="quarter" idx="11"/>
          </p:nvPr>
        </p:nvSpPr>
        <p:spPr>
          <a:ln/>
        </p:spPr>
        <p:txBody>
          <a:bodyPr/>
          <a:lstStyle>
            <a:lvl1pPr>
              <a:defRPr/>
            </a:lvl1pPr>
          </a:lstStyle>
          <a:p>
            <a:pPr>
              <a:defRPr/>
            </a:pPr>
            <a:r>
              <a:rPr lang="en-US" altLang="zh-CN"/>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a:defRPr/>
            </a:pPr>
            <a:fld id="{11810F76-1A24-4AF4-8A91-362659113F1F}" type="slidenum">
              <a:rPr lang="zh-CN" altLang="en-US"/>
              <a:pPr>
                <a:defRPr/>
              </a:pPr>
              <a:t>‹#›</a:t>
            </a:fld>
            <a:endParaRPr lang="en-US" altLang="zh-CN"/>
          </a:p>
        </p:txBody>
      </p:sp>
    </p:spTree>
    <p:extLst>
      <p:ext uri="{BB962C8B-B14F-4D97-AF65-F5344CB8AC3E}">
        <p14:creationId xmlns:p14="http://schemas.microsoft.com/office/powerpoint/2010/main" val="1680367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4" name="内容占位符 3"/>
          <p:cNvSpPr>
            <a:spLocks noGrp="1"/>
          </p:cNvSpPr>
          <p:nvPr>
            <p:ph sz="half" idx="2"/>
          </p:nvPr>
        </p:nvSpPr>
        <p:spPr>
          <a:xfrm>
            <a:off x="629841" y="2505075"/>
            <a:ext cx="3868340"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Date Placeholder 3"/>
          <p:cNvSpPr>
            <a:spLocks noGrp="1"/>
          </p:cNvSpPr>
          <p:nvPr>
            <p:ph type="dt" sz="half" idx="10"/>
          </p:nvPr>
        </p:nvSpPr>
        <p:spPr>
          <a:ln/>
        </p:spPr>
        <p:txBody>
          <a:bodyPr/>
          <a:lstStyle>
            <a:lvl1pPr>
              <a:defRPr/>
            </a:lvl1pPr>
          </a:lstStyle>
          <a:p>
            <a:pPr>
              <a:defRPr/>
            </a:pPr>
            <a:fld id="{EAE8E72B-6C0E-4F25-B3EF-88ADA2D92673}" type="datetime1">
              <a:rPr lang="en-US" altLang="zh-CN" smtClean="0"/>
              <a:t>3/30/2025</a:t>
            </a:fld>
            <a:endParaRPr lang="en-US" altLang="zh-CN"/>
          </a:p>
        </p:txBody>
      </p:sp>
      <p:sp>
        <p:nvSpPr>
          <p:cNvPr id="8" name="Footer Placeholder 4"/>
          <p:cNvSpPr>
            <a:spLocks noGrp="1"/>
          </p:cNvSpPr>
          <p:nvPr>
            <p:ph type="ftr" sz="quarter" idx="11"/>
          </p:nvPr>
        </p:nvSpPr>
        <p:spPr>
          <a:ln/>
        </p:spPr>
        <p:txBody>
          <a:bodyPr/>
          <a:lstStyle>
            <a:lvl1pPr>
              <a:defRPr/>
            </a:lvl1pPr>
          </a:lstStyle>
          <a:p>
            <a:pPr>
              <a:defRPr/>
            </a:pPr>
            <a:r>
              <a:rPr lang="en-US" altLang="zh-CN"/>
              <a:t>Modelling Transportation Systems · Southeast University · Zhiyuan Liu</a:t>
            </a:r>
          </a:p>
        </p:txBody>
      </p:sp>
      <p:sp>
        <p:nvSpPr>
          <p:cNvPr id="9" name="Slide Number Placeholder 5"/>
          <p:cNvSpPr>
            <a:spLocks noGrp="1"/>
          </p:cNvSpPr>
          <p:nvPr>
            <p:ph type="sldNum" sz="quarter" idx="12"/>
          </p:nvPr>
        </p:nvSpPr>
        <p:spPr>
          <a:ln/>
        </p:spPr>
        <p:txBody>
          <a:bodyPr/>
          <a:lstStyle>
            <a:lvl1pPr>
              <a:defRPr/>
            </a:lvl1pPr>
          </a:lstStyle>
          <a:p>
            <a:pPr>
              <a:defRPr/>
            </a:pPr>
            <a:fld id="{3B8051D9-6CDB-4A19-9498-B1F31800CB75}" type="slidenum">
              <a:rPr lang="zh-CN" altLang="en-US"/>
              <a:pPr>
                <a:defRPr/>
              </a:pPr>
              <a:t>‹#›</a:t>
            </a:fld>
            <a:endParaRPr lang="en-US" altLang="zh-CN"/>
          </a:p>
        </p:txBody>
      </p:sp>
    </p:spTree>
    <p:extLst>
      <p:ext uri="{BB962C8B-B14F-4D97-AF65-F5344CB8AC3E}">
        <p14:creationId xmlns:p14="http://schemas.microsoft.com/office/powerpoint/2010/main" val="1528281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Date Placeholder 3"/>
          <p:cNvSpPr>
            <a:spLocks noGrp="1"/>
          </p:cNvSpPr>
          <p:nvPr>
            <p:ph type="dt" sz="half" idx="10"/>
          </p:nvPr>
        </p:nvSpPr>
        <p:spPr>
          <a:ln/>
        </p:spPr>
        <p:txBody>
          <a:bodyPr/>
          <a:lstStyle>
            <a:lvl1pPr>
              <a:defRPr/>
            </a:lvl1pPr>
          </a:lstStyle>
          <a:p>
            <a:pPr>
              <a:defRPr/>
            </a:pPr>
            <a:fld id="{4B0FD39B-8021-4531-8CE2-8D21302A74ED}" type="datetime1">
              <a:rPr lang="en-US" altLang="zh-CN" smtClean="0"/>
              <a:t>3/30/2025</a:t>
            </a:fld>
            <a:endParaRPr lang="en-US" altLang="zh-CN"/>
          </a:p>
        </p:txBody>
      </p:sp>
      <p:sp>
        <p:nvSpPr>
          <p:cNvPr id="4" name="Footer Placeholder 4"/>
          <p:cNvSpPr>
            <a:spLocks noGrp="1"/>
          </p:cNvSpPr>
          <p:nvPr>
            <p:ph type="ftr" sz="quarter" idx="11"/>
          </p:nvPr>
        </p:nvSpPr>
        <p:spPr>
          <a:ln/>
        </p:spPr>
        <p:txBody>
          <a:bodyPr/>
          <a:lstStyle>
            <a:lvl1pPr>
              <a:defRPr/>
            </a:lvl1pPr>
          </a:lstStyle>
          <a:p>
            <a:pPr>
              <a:defRPr/>
            </a:pPr>
            <a:r>
              <a:rPr lang="en-US" altLang="zh-CN"/>
              <a:t>Modelling Transportation Systems · Southeast University · Zhiyuan Liu</a:t>
            </a:r>
          </a:p>
        </p:txBody>
      </p:sp>
      <p:sp>
        <p:nvSpPr>
          <p:cNvPr id="5" name="Slide Number Placeholder 5"/>
          <p:cNvSpPr>
            <a:spLocks noGrp="1"/>
          </p:cNvSpPr>
          <p:nvPr>
            <p:ph type="sldNum" sz="quarter" idx="12"/>
          </p:nvPr>
        </p:nvSpPr>
        <p:spPr>
          <a:ln/>
        </p:spPr>
        <p:txBody>
          <a:bodyPr/>
          <a:lstStyle>
            <a:lvl1pPr>
              <a:defRPr/>
            </a:lvl1pPr>
          </a:lstStyle>
          <a:p>
            <a:pPr>
              <a:defRPr/>
            </a:pPr>
            <a:fld id="{65F2B37D-33B6-4C69-9BD0-32187E706945}" type="slidenum">
              <a:rPr lang="zh-CN" altLang="en-US"/>
              <a:pPr>
                <a:defRPr/>
              </a:pPr>
              <a:t>‹#›</a:t>
            </a:fld>
            <a:endParaRPr lang="en-US" altLang="zh-CN"/>
          </a:p>
        </p:txBody>
      </p:sp>
    </p:spTree>
    <p:extLst>
      <p:ext uri="{BB962C8B-B14F-4D97-AF65-F5344CB8AC3E}">
        <p14:creationId xmlns:p14="http://schemas.microsoft.com/office/powerpoint/2010/main" val="1499192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a:ln/>
        </p:spPr>
        <p:txBody>
          <a:bodyPr/>
          <a:lstStyle>
            <a:lvl1pPr>
              <a:defRPr/>
            </a:lvl1pPr>
          </a:lstStyle>
          <a:p>
            <a:pPr>
              <a:defRPr/>
            </a:pPr>
            <a:fld id="{ACF5701F-746E-469B-BDDA-F93B22D4DB72}" type="datetime1">
              <a:rPr lang="en-US" altLang="zh-CN" smtClean="0"/>
              <a:t>3/30/2025</a:t>
            </a:fld>
            <a:endParaRPr lang="en-US" altLang="zh-CN"/>
          </a:p>
        </p:txBody>
      </p:sp>
      <p:sp>
        <p:nvSpPr>
          <p:cNvPr id="3" name="Footer Placeholder 4"/>
          <p:cNvSpPr>
            <a:spLocks noGrp="1"/>
          </p:cNvSpPr>
          <p:nvPr>
            <p:ph type="ftr" sz="quarter" idx="11"/>
          </p:nvPr>
        </p:nvSpPr>
        <p:spPr>
          <a:ln/>
        </p:spPr>
        <p:txBody>
          <a:bodyPr/>
          <a:lstStyle>
            <a:lvl1pPr>
              <a:defRPr/>
            </a:lvl1pPr>
          </a:lstStyle>
          <a:p>
            <a:pPr>
              <a:defRPr/>
            </a:pPr>
            <a:r>
              <a:rPr lang="en-US" altLang="zh-CN"/>
              <a:t>Modelling Transportation Systems · Southeast University · Zhiyuan Liu</a:t>
            </a:r>
          </a:p>
        </p:txBody>
      </p:sp>
      <p:sp>
        <p:nvSpPr>
          <p:cNvPr id="4" name="Slide Number Placeholder 5"/>
          <p:cNvSpPr>
            <a:spLocks noGrp="1"/>
          </p:cNvSpPr>
          <p:nvPr>
            <p:ph type="sldNum" sz="quarter" idx="12"/>
          </p:nvPr>
        </p:nvSpPr>
        <p:spPr>
          <a:ln/>
        </p:spPr>
        <p:txBody>
          <a:bodyPr/>
          <a:lstStyle>
            <a:lvl1pPr>
              <a:defRPr/>
            </a:lvl1pPr>
          </a:lstStyle>
          <a:p>
            <a:pPr>
              <a:defRPr/>
            </a:pPr>
            <a:fld id="{D1009943-BA82-4F6A-BD7C-764069224CD2}" type="slidenum">
              <a:rPr lang="zh-CN" altLang="en-US"/>
              <a:pPr>
                <a:defRPr/>
              </a:pPr>
              <a:t>‹#›</a:t>
            </a:fld>
            <a:endParaRPr lang="en-US" altLang="zh-CN"/>
          </a:p>
        </p:txBody>
      </p:sp>
    </p:spTree>
    <p:extLst>
      <p:ext uri="{BB962C8B-B14F-4D97-AF65-F5344CB8AC3E}">
        <p14:creationId xmlns:p14="http://schemas.microsoft.com/office/powerpoint/2010/main" val="329065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a:defRPr/>
            </a:pPr>
            <a:fld id="{707B1553-8BA7-4889-BEC6-891C13E10B98}" type="datetime1">
              <a:rPr lang="en-US" altLang="zh-CN" smtClean="0"/>
              <a:t>3/30/2025</a:t>
            </a:fld>
            <a:endParaRPr lang="en-US" altLang="zh-CN"/>
          </a:p>
        </p:txBody>
      </p:sp>
      <p:sp>
        <p:nvSpPr>
          <p:cNvPr id="6" name="Footer Placeholder 4"/>
          <p:cNvSpPr>
            <a:spLocks noGrp="1"/>
          </p:cNvSpPr>
          <p:nvPr>
            <p:ph type="ftr" sz="quarter" idx="11"/>
          </p:nvPr>
        </p:nvSpPr>
        <p:spPr>
          <a:ln/>
        </p:spPr>
        <p:txBody>
          <a:bodyPr/>
          <a:lstStyle>
            <a:lvl1pPr>
              <a:defRPr/>
            </a:lvl1pPr>
          </a:lstStyle>
          <a:p>
            <a:pPr>
              <a:defRPr/>
            </a:pPr>
            <a:r>
              <a:rPr lang="en-US" altLang="zh-CN"/>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a:defRPr/>
            </a:pPr>
            <a:fld id="{E8CF26E5-2ED2-4F85-94A6-41EA43600B3E}" type="slidenum">
              <a:rPr lang="zh-CN" altLang="en-US"/>
              <a:pPr>
                <a:defRPr/>
              </a:pPr>
              <a:t>‹#›</a:t>
            </a:fld>
            <a:endParaRPr lang="en-US" altLang="zh-CN"/>
          </a:p>
        </p:txBody>
      </p:sp>
    </p:spTree>
    <p:extLst>
      <p:ext uri="{BB962C8B-B14F-4D97-AF65-F5344CB8AC3E}">
        <p14:creationId xmlns:p14="http://schemas.microsoft.com/office/powerpoint/2010/main" val="49183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sym typeface="Arial" panose="020B0604020202020204" pitchFamily="34" charset="0"/>
            </a:endParaRP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a:defRPr/>
            </a:pPr>
            <a:fld id="{7A62BEB2-F18B-4C21-9638-A76426A31BD0}" type="datetime1">
              <a:rPr lang="en-US" altLang="zh-CN" smtClean="0"/>
              <a:t>3/30/2025</a:t>
            </a:fld>
            <a:endParaRPr lang="en-US" altLang="zh-CN"/>
          </a:p>
        </p:txBody>
      </p:sp>
      <p:sp>
        <p:nvSpPr>
          <p:cNvPr id="6" name="Footer Placeholder 4"/>
          <p:cNvSpPr>
            <a:spLocks noGrp="1"/>
          </p:cNvSpPr>
          <p:nvPr>
            <p:ph type="ftr" sz="quarter" idx="11"/>
          </p:nvPr>
        </p:nvSpPr>
        <p:spPr>
          <a:ln/>
        </p:spPr>
        <p:txBody>
          <a:bodyPr/>
          <a:lstStyle>
            <a:lvl1pPr>
              <a:defRPr/>
            </a:lvl1pPr>
          </a:lstStyle>
          <a:p>
            <a:pPr>
              <a:defRPr/>
            </a:pPr>
            <a:r>
              <a:rPr lang="en-US" altLang="zh-CN"/>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a:defRPr/>
            </a:pPr>
            <a:fld id="{9F8C9128-8DD9-4172-A865-72B9B18E9A1F}" type="slidenum">
              <a:rPr lang="zh-CN" altLang="en-US"/>
              <a:pPr>
                <a:defRPr/>
              </a:pPr>
              <a:t>‹#›</a:t>
            </a:fld>
            <a:endParaRPr lang="en-US" altLang="zh-CN"/>
          </a:p>
        </p:txBody>
      </p:sp>
    </p:spTree>
    <p:extLst>
      <p:ext uri="{BB962C8B-B14F-4D97-AF65-F5344CB8AC3E}">
        <p14:creationId xmlns:p14="http://schemas.microsoft.com/office/powerpoint/2010/main" val="1973188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a:defRPr/>
            </a:pPr>
            <a:fld id="{7CF3C754-25BE-4F5C-AB68-D771A03BCC90}" type="datetime1">
              <a:rPr lang="en-US" altLang="zh-CN" smtClean="0"/>
              <a:t>3/30/2025</a:t>
            </a:fld>
            <a:endParaRPr lang="en-US" altLang="zh-CN"/>
          </a:p>
        </p:txBody>
      </p:sp>
      <p:sp>
        <p:nvSpPr>
          <p:cNvPr id="5" name="Footer Placeholder 4"/>
          <p:cNvSpPr>
            <a:spLocks noGrp="1"/>
          </p:cNvSpPr>
          <p:nvPr>
            <p:ph type="ftr" sz="quarter" idx="11"/>
          </p:nvPr>
        </p:nvSpPr>
        <p:spPr>
          <a:ln/>
        </p:spPr>
        <p:txBody>
          <a:bodyPr/>
          <a:lstStyle>
            <a:lvl1pPr>
              <a:defRPr/>
            </a:lvl1pPr>
          </a:lstStyle>
          <a:p>
            <a:pPr>
              <a:defRPr/>
            </a:pPr>
            <a:r>
              <a:rPr lang="en-US" altLang="zh-CN"/>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a:defRPr/>
            </a:pPr>
            <a:fld id="{D815748A-C05D-4102-BCCF-66D346F70087}" type="slidenum">
              <a:rPr lang="zh-CN" altLang="en-US"/>
              <a:pPr>
                <a:defRPr/>
              </a:pPr>
              <a:t>‹#›</a:t>
            </a:fld>
            <a:endParaRPr lang="en-US" altLang="zh-CN"/>
          </a:p>
        </p:txBody>
      </p:sp>
    </p:spTree>
    <p:extLst>
      <p:ext uri="{BB962C8B-B14F-4D97-AF65-F5344CB8AC3E}">
        <p14:creationId xmlns:p14="http://schemas.microsoft.com/office/powerpoint/2010/main" val="6859524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9436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533400"/>
            <a:ext cx="6052930" cy="59436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xfrm>
            <a:off x="162560" y="19050"/>
            <a:ext cx="929393" cy="328613"/>
          </a:xfrm>
          <a:ln/>
        </p:spPr>
        <p:txBody>
          <a:bodyPr/>
          <a:lstStyle>
            <a:lvl1pPr>
              <a:defRPr/>
            </a:lvl1pPr>
          </a:lstStyle>
          <a:p>
            <a:pPr>
              <a:defRPr/>
            </a:pPr>
            <a:fld id="{2343D20E-ACC7-4DDD-AC28-33869E6ABE9A}" type="datetime1">
              <a:rPr lang="en-US" altLang="zh-CN" smtClean="0"/>
              <a:t>3/30/2025</a:t>
            </a:fld>
            <a:endParaRPr lang="en-US" altLang="zh-CN" dirty="0"/>
          </a:p>
        </p:txBody>
      </p:sp>
      <p:sp>
        <p:nvSpPr>
          <p:cNvPr id="5" name="Footer Placeholder 4"/>
          <p:cNvSpPr>
            <a:spLocks noGrp="1"/>
          </p:cNvSpPr>
          <p:nvPr>
            <p:ph type="ftr" sz="quarter" idx="11"/>
          </p:nvPr>
        </p:nvSpPr>
        <p:spPr>
          <a:ln/>
        </p:spPr>
        <p:txBody>
          <a:bodyPr/>
          <a:lstStyle>
            <a:lvl1pPr>
              <a:defRPr/>
            </a:lvl1pPr>
          </a:lstStyle>
          <a:p>
            <a:pPr algn="r">
              <a:defRPr/>
            </a:pPr>
            <a:r>
              <a:rPr lang="en-US" altLang="zh-CN" dirty="0"/>
              <a:t>Modelling Transportation Systems · Southeast University · </a:t>
            </a:r>
            <a:r>
              <a:rPr lang="en-US" altLang="zh-CN" dirty="0" err="1"/>
              <a:t>Zhiyuan</a:t>
            </a:r>
            <a:r>
              <a:rPr lang="en-US" altLang="zh-CN" dirty="0"/>
              <a:t> Liu</a:t>
            </a:r>
          </a:p>
        </p:txBody>
      </p:sp>
      <p:sp>
        <p:nvSpPr>
          <p:cNvPr id="6" name="Slide Number Placeholder 5"/>
          <p:cNvSpPr>
            <a:spLocks noGrp="1"/>
          </p:cNvSpPr>
          <p:nvPr>
            <p:ph type="sldNum" sz="quarter" idx="12"/>
          </p:nvPr>
        </p:nvSpPr>
        <p:spPr>
          <a:xfrm>
            <a:off x="8720738" y="19050"/>
            <a:ext cx="416560" cy="328613"/>
          </a:xfrm>
          <a:ln/>
        </p:spPr>
        <p:txBody>
          <a:bodyPr/>
          <a:lstStyle>
            <a:lvl1pPr>
              <a:defRPr/>
            </a:lvl1pPr>
          </a:lstStyle>
          <a:p>
            <a:pPr>
              <a:defRPr/>
            </a:pPr>
            <a:fld id="{93D8EEBC-8FFF-48D5-BA20-8C9570EB2408}" type="slidenum">
              <a:rPr lang="zh-CN" altLang="en-US"/>
              <a:pPr>
                <a:defRPr/>
              </a:pPr>
              <a:t>‹#›</a:t>
            </a:fld>
            <a:endParaRPr lang="en-US" altLang="zh-CN" dirty="0"/>
          </a:p>
        </p:txBody>
      </p:sp>
    </p:spTree>
    <p:extLst>
      <p:ext uri="{BB962C8B-B14F-4D97-AF65-F5344CB8AC3E}">
        <p14:creationId xmlns:p14="http://schemas.microsoft.com/office/powerpoint/2010/main" val="1321025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9"/>
          <p:cNvSpPr>
            <a:spLocks noChangeArrowheads="1"/>
          </p:cNvSpPr>
          <p:nvPr/>
        </p:nvSpPr>
        <p:spPr bwMode="auto">
          <a:xfrm>
            <a:off x="0" y="220663"/>
            <a:ext cx="9144000" cy="228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a:solidFill>
                <a:srgbClr val="FFFFFF"/>
              </a:solidFill>
              <a:sym typeface="Arial" panose="020B0604020202020204" pitchFamily="34" charset="0"/>
            </a:endParaRPr>
          </a:p>
        </p:txBody>
      </p:sp>
      <p:sp>
        <p:nvSpPr>
          <p:cNvPr id="1027" name="Title Placeholder 1"/>
          <p:cNvSpPr>
            <a:spLocks noGrp="1" noChangeArrowheads="1"/>
          </p:cNvSpPr>
          <p:nvPr>
            <p:ph type="title" idx="4294967295"/>
          </p:nvPr>
        </p:nvSpPr>
        <p:spPr bwMode="auto">
          <a:xfrm>
            <a:off x="457200" y="5334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sym typeface="Arial" panose="020B0604020202020204" pitchFamily="34" charset="0"/>
              </a:rPr>
              <a:t>Click to edit Master title style</a:t>
            </a:r>
          </a:p>
        </p:txBody>
      </p:sp>
      <p:sp>
        <p:nvSpPr>
          <p:cNvPr id="1028" name="Text Placeholder 2"/>
          <p:cNvSpPr>
            <a:spLocks noGrp="1" noChangeArrowheads="1"/>
          </p:cNvSpPr>
          <p:nvPr>
            <p:ph type="body" idx="4294967295"/>
          </p:nvPr>
        </p:nvSpPr>
        <p:spPr bwMode="auto">
          <a:xfrm>
            <a:off x="457200" y="1600200"/>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sym typeface="Arial" panose="020B0604020202020204" pitchFamily="34" charset="0"/>
              </a:rPr>
              <a:t>Click to edit Master text styles</a:t>
            </a:r>
          </a:p>
          <a:p>
            <a:pPr lvl="1"/>
            <a:r>
              <a:rPr lang="en-US" altLang="zh-CN">
                <a:sym typeface="Arial" panose="020B0604020202020204" pitchFamily="34" charset="0"/>
              </a:rPr>
              <a:t>Second level</a:t>
            </a:r>
          </a:p>
          <a:p>
            <a:pPr lvl="2"/>
            <a:r>
              <a:rPr lang="en-US" altLang="zh-CN">
                <a:sym typeface="Arial" panose="020B0604020202020204" pitchFamily="34" charset="0"/>
              </a:rPr>
              <a:t>Third level</a:t>
            </a:r>
          </a:p>
          <a:p>
            <a:pPr lvl="3"/>
            <a:r>
              <a:rPr lang="en-US" altLang="zh-CN">
                <a:sym typeface="Arial" panose="020B0604020202020204" pitchFamily="34" charset="0"/>
              </a:rPr>
              <a:t>Fourth level</a:t>
            </a:r>
          </a:p>
          <a:p>
            <a:pPr lvl="4"/>
            <a:r>
              <a:rPr lang="en-US" altLang="zh-CN">
                <a:sym typeface="Arial" panose="020B0604020202020204" pitchFamily="34" charset="0"/>
              </a:rPr>
              <a:t>Fifth level</a:t>
            </a:r>
          </a:p>
        </p:txBody>
      </p:sp>
      <p:sp>
        <p:nvSpPr>
          <p:cNvPr id="1029" name="Rectangle 6"/>
          <p:cNvSpPr>
            <a:spLocks noChangeArrowheads="1"/>
          </p:cNvSpPr>
          <p:nvPr/>
        </p:nvSpPr>
        <p:spPr bwMode="auto">
          <a:xfrm>
            <a:off x="0" y="0"/>
            <a:ext cx="9144000" cy="3651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a:solidFill>
                <a:srgbClr val="FFFFFF"/>
              </a:solidFill>
              <a:sym typeface="Arial" panose="020B0604020202020204" pitchFamily="34" charset="0"/>
            </a:endParaRPr>
          </a:p>
        </p:txBody>
      </p:sp>
      <p:sp>
        <p:nvSpPr>
          <p:cNvPr id="6" name="Date Placeholder 3"/>
          <p:cNvSpPr>
            <a:spLocks noGrp="1"/>
          </p:cNvSpPr>
          <p:nvPr>
            <p:ph type="dt" sz="half" idx="2"/>
          </p:nvPr>
        </p:nvSpPr>
        <p:spPr>
          <a:xfrm>
            <a:off x="162560" y="19050"/>
            <a:ext cx="289560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a:defRPr/>
            </a:pPr>
            <a:fld id="{6E2D4AB0-441C-42B1-813F-D0D36EDB80B8}" type="datetime1">
              <a:rPr lang="en-US" altLang="zh-CN" smtClean="0"/>
              <a:t>3/30/2025</a:t>
            </a:fld>
            <a:endParaRPr lang="en-US" altLang="zh-CN" dirty="0"/>
          </a:p>
        </p:txBody>
      </p:sp>
      <p:sp>
        <p:nvSpPr>
          <p:cNvPr id="7" name="Footer Placeholder 4"/>
          <p:cNvSpPr>
            <a:spLocks noGrp="1"/>
          </p:cNvSpPr>
          <p:nvPr>
            <p:ph type="ftr" sz="quarter" idx="3"/>
          </p:nvPr>
        </p:nvSpPr>
        <p:spPr>
          <a:xfrm>
            <a:off x="3946407" y="19050"/>
            <a:ext cx="4831731"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algn="ctr" eaLnBrk="1" hangingPunct="1">
              <a:buFont typeface="Arial" panose="020B0604020202020204" pitchFamily="34" charset="0"/>
              <a:buNone/>
              <a:defRPr sz="1000" b="1">
                <a:solidFill>
                  <a:srgbClr val="FFFFFF"/>
                </a:solidFill>
              </a:defRPr>
            </a:lvl1pPr>
          </a:lstStyle>
          <a:p>
            <a:pPr algn="r">
              <a:defRPr/>
            </a:pPr>
            <a:r>
              <a:rPr lang="en-US" altLang="zh-CN" dirty="0"/>
              <a:t>Modelling Transportation Systems · Southeast University · </a:t>
            </a:r>
            <a:r>
              <a:rPr lang="en-US" altLang="zh-CN" dirty="0" err="1"/>
              <a:t>Zhiyuan</a:t>
            </a:r>
            <a:r>
              <a:rPr lang="en-US" altLang="zh-CN" dirty="0"/>
              <a:t> Liu</a:t>
            </a:r>
          </a:p>
        </p:txBody>
      </p:sp>
      <p:sp>
        <p:nvSpPr>
          <p:cNvPr id="8" name="Slide Number Placeholder 5"/>
          <p:cNvSpPr>
            <a:spLocks noGrp="1"/>
          </p:cNvSpPr>
          <p:nvPr>
            <p:ph type="sldNum" sz="quarter" idx="4"/>
          </p:nvPr>
        </p:nvSpPr>
        <p:spPr>
          <a:xfrm>
            <a:off x="8756250" y="19050"/>
            <a:ext cx="38775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a:defRPr/>
            </a:pPr>
            <a:fld id="{B637DA7A-EB76-4203-8E69-29EB9F37D3B8}" type="slidenum">
              <a:rPr lang="zh-CN" altLang="en-US" smtClean="0"/>
              <a:pPr>
                <a:defRPr/>
              </a:pPr>
              <a:t>‹#›</a:t>
            </a:fld>
            <a:endParaRPr lang="en-US" altLang="zh-CN" dirty="0"/>
          </a:p>
        </p:txBody>
      </p:sp>
    </p:spTree>
    <p:extLst>
      <p:ext uri="{BB962C8B-B14F-4D97-AF65-F5344CB8AC3E}">
        <p14:creationId xmlns:p14="http://schemas.microsoft.com/office/powerpoint/2010/main" val="4047073764"/>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Lst>
  <p:hf hdr="0"/>
  <p:txStyles>
    <p:title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p:titleStyle>
    <p:body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p:bodyStyle>
    <p:otherStyle>
      <a:lvl1pPr marL="0" lvl="0"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0.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7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200.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21.png"/><Relationship Id="rId4" Type="http://schemas.openxmlformats.org/officeDocument/2006/relationships/image" Target="../media/image211.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0.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44.xml.rels><?xml version="1.0" encoding="UTF-8" standalone="yes"?>
<Relationships xmlns="http://schemas.openxmlformats.org/package/2006/relationships"><Relationship Id="rId3" Type="http://schemas.openxmlformats.org/officeDocument/2006/relationships/image" Target="../media/image360.png"/><Relationship Id="rId7"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0.png"/><Relationship Id="rId4" Type="http://schemas.openxmlformats.org/officeDocument/2006/relationships/image" Target="../media/image371.png"/></Relationships>
</file>

<file path=ppt/slides/_rels/slide45.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3.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4.png"/><Relationship Id="rId4" Type="http://schemas.openxmlformats.org/officeDocument/2006/relationships/image" Target="../media/image42.png"/></Relationships>
</file>

<file path=ppt/slides/_rels/slide4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0.png"/></Relationships>
</file>

<file path=ppt/slides/_rels/slide47.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40.png"/><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4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56.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62.xml.rels><?xml version="1.0" encoding="UTF-8" standalone="yes"?>
<Relationships xmlns="http://schemas.openxmlformats.org/package/2006/relationships"><Relationship Id="rId3" Type="http://schemas.openxmlformats.org/officeDocument/2006/relationships/image" Target="../media/image570.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61.png"/><Relationship Id="rId4" Type="http://schemas.openxmlformats.org/officeDocument/2006/relationships/image" Target="../media/image590.png"/></Relationships>
</file>

<file path=ppt/slides/_rels/slide6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traight Connector 7">
            <a:extLst>
              <a:ext uri="{FF2B5EF4-FFF2-40B4-BE49-F238E27FC236}">
                <a16:creationId xmlns:a16="http://schemas.microsoft.com/office/drawing/2014/main" id="{C17F6176-C213-491E-8CC1-D44957BF5CB4}"/>
              </a:ext>
            </a:extLst>
          </p:cNvPr>
          <p:cNvSpPr>
            <a:spLocks noChangeShapeType="1"/>
          </p:cNvSpPr>
          <p:nvPr/>
        </p:nvSpPr>
        <p:spPr bwMode="auto">
          <a:xfrm>
            <a:off x="685800" y="1827213"/>
            <a:ext cx="7848600" cy="1587"/>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8" name="TextBox 8">
            <a:extLst>
              <a:ext uri="{FF2B5EF4-FFF2-40B4-BE49-F238E27FC236}">
                <a16:creationId xmlns:a16="http://schemas.microsoft.com/office/drawing/2014/main" id="{C3EFEED2-EE03-4B30-B2BC-D665F99E95E8}"/>
              </a:ext>
            </a:extLst>
          </p:cNvPr>
          <p:cNvSpPr>
            <a:spLocks noChangeArrowheads="1"/>
          </p:cNvSpPr>
          <p:nvPr/>
        </p:nvSpPr>
        <p:spPr bwMode="auto">
          <a:xfrm>
            <a:off x="838200" y="990600"/>
            <a:ext cx="7543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4000" b="1" i="0" u="none" strike="noStrike" kern="0" cap="none" spc="0" normalizeH="0" baseline="0" noProof="0">
                <a:ln>
                  <a:noFill/>
                </a:ln>
                <a:solidFill>
                  <a:schemeClr val="tx2"/>
                </a:solidFill>
                <a:effectLst/>
                <a:uLnTx/>
                <a:uFillTx/>
                <a:latin typeface="Arial (Headings)" charset="0"/>
                <a:ea typeface="宋体" panose="02010600030101010101" pitchFamily="2" charset="-122"/>
                <a:sym typeface="Arial (Headings)" charset="0"/>
              </a:rPr>
              <a:t> </a:t>
            </a:r>
          </a:p>
        </p:txBody>
      </p:sp>
      <p:sp>
        <p:nvSpPr>
          <p:cNvPr id="9" name="Subtitle 2">
            <a:extLst>
              <a:ext uri="{FF2B5EF4-FFF2-40B4-BE49-F238E27FC236}">
                <a16:creationId xmlns:a16="http://schemas.microsoft.com/office/drawing/2014/main" id="{B8586538-A238-44BD-9D3A-BB30FC3069BF}"/>
              </a:ext>
            </a:extLst>
          </p:cNvPr>
          <p:cNvSpPr txBox="1">
            <a:spLocks noChangeArrowheads="1"/>
          </p:cNvSpPr>
          <p:nvPr/>
        </p:nvSpPr>
        <p:spPr bwMode="auto">
          <a:xfrm>
            <a:off x="1524000" y="4572000"/>
            <a:ext cx="64008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eaLnBrk="1" hangingPunct="1"/>
            <a:r>
              <a:rPr lang="zh-CN" altLang="en-US" dirty="0">
                <a:latin typeface="+mj-ea"/>
                <a:ea typeface="+mj-ea"/>
                <a:sym typeface="Times New Roman" panose="02020603050405020304" pitchFamily="18" charset="0"/>
              </a:rPr>
              <a:t>刘志远教授</a:t>
            </a:r>
          </a:p>
          <a:p>
            <a:pPr defTabSz="914400" eaLnBrk="1" hangingPunct="1"/>
            <a:r>
              <a:rPr lang="zh-CN" altLang="en-US" dirty="0">
                <a:latin typeface="Times New Roman" panose="02020603050405020304" pitchFamily="18" charset="0"/>
                <a:ea typeface="方正舒体" panose="02010601030101010101" pitchFamily="2" charset="-122"/>
                <a:sym typeface="Times New Roman" panose="02020603050405020304" pitchFamily="18" charset="0"/>
              </a:rPr>
              <a:t>Email: </a:t>
            </a:r>
            <a:r>
              <a:rPr lang="en-US" altLang="zh-CN" dirty="0">
                <a:latin typeface="Times New Roman" panose="02020603050405020304" pitchFamily="18" charset="0"/>
                <a:ea typeface="方正舒体" panose="02010601030101010101" pitchFamily="2" charset="-122"/>
                <a:sym typeface="Times New Roman" panose="02020603050405020304" pitchFamily="18" charset="0"/>
              </a:rPr>
              <a:t>zhiyuanl@seu.edu.cn</a:t>
            </a:r>
            <a:endParaRPr lang="zh-CN" altLang="en-US" dirty="0">
              <a:latin typeface="Times New Roman" panose="02020603050405020304" pitchFamily="18" charset="0"/>
              <a:ea typeface="方正舒体" panose="02010601030101010101" pitchFamily="2" charset="-122"/>
              <a:sym typeface="Times New Roman" panose="02020603050405020304" pitchFamily="18" charset="0"/>
            </a:endParaRPr>
          </a:p>
        </p:txBody>
      </p:sp>
      <p:sp>
        <p:nvSpPr>
          <p:cNvPr id="10" name="TextBox 3">
            <a:extLst>
              <a:ext uri="{FF2B5EF4-FFF2-40B4-BE49-F238E27FC236}">
                <a16:creationId xmlns:a16="http://schemas.microsoft.com/office/drawing/2014/main" id="{95B0603D-0726-4BB0-9614-E22A880D7948}"/>
              </a:ext>
            </a:extLst>
          </p:cNvPr>
          <p:cNvSpPr>
            <a:spLocks noChangeArrowheads="1"/>
          </p:cNvSpPr>
          <p:nvPr/>
        </p:nvSpPr>
        <p:spPr bwMode="auto">
          <a:xfrm>
            <a:off x="279400" y="990600"/>
            <a:ext cx="863092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4000" b="1" dirty="0">
                <a:solidFill>
                  <a:schemeClr val="tx2"/>
                </a:solidFill>
                <a:latin typeface="微软雅黑" panose="020B0503020204020204" pitchFamily="34" charset="-122"/>
                <a:ea typeface="微软雅黑" panose="020B0503020204020204" pitchFamily="34" charset="-122"/>
                <a:sym typeface="Arial (Headings)" charset="0"/>
              </a:rPr>
              <a:t>交通大数据</a:t>
            </a:r>
          </a:p>
        </p:txBody>
      </p:sp>
      <p:sp>
        <p:nvSpPr>
          <p:cNvPr id="11" name="文本框 1">
            <a:extLst>
              <a:ext uri="{FF2B5EF4-FFF2-40B4-BE49-F238E27FC236}">
                <a16:creationId xmlns:a16="http://schemas.microsoft.com/office/drawing/2014/main" id="{CE45150C-E3DA-480A-99C3-BCD0007952A8}"/>
              </a:ext>
            </a:extLst>
          </p:cNvPr>
          <p:cNvSpPr txBox="1">
            <a:spLocks noChangeArrowheads="1"/>
          </p:cNvSpPr>
          <p:nvPr/>
        </p:nvSpPr>
        <p:spPr bwMode="auto">
          <a:xfrm>
            <a:off x="1905000" y="2877344"/>
            <a:ext cx="533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gn="ctr" defTabSz="914400">
              <a:defRPr/>
            </a:pPr>
            <a:r>
              <a:rPr lang="zh-CN" altLang="en-US" sz="3600" b="1" kern="0"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rPr>
              <a:t>机器学习简介</a:t>
            </a:r>
            <a:endParaRPr kumimoji="0" lang="zh-CN" altLang="en-US" sz="3600" b="1" i="0" u="none" strike="noStrike" kern="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1</a:t>
            </a:fld>
            <a:endParaRPr lang="en-US" altLang="zh-CN" dirty="0"/>
          </a:p>
        </p:txBody>
      </p:sp>
      <p:sp>
        <p:nvSpPr>
          <p:cNvPr id="16" name="页脚占位符 2">
            <a:extLst>
              <a:ext uri="{FF2B5EF4-FFF2-40B4-BE49-F238E27FC236}">
                <a16:creationId xmlns:a16="http://schemas.microsoft.com/office/drawing/2014/main" id="{AE591DA7-150B-413B-9E1F-411E6BE92429}"/>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Tree>
    <p:extLst>
      <p:ext uri="{BB962C8B-B14F-4D97-AF65-F5344CB8AC3E}">
        <p14:creationId xmlns:p14="http://schemas.microsoft.com/office/powerpoint/2010/main" val="6486348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3" name="页脚占位符 2">
            <a:extLst>
              <a:ext uri="{FF2B5EF4-FFF2-40B4-BE49-F238E27FC236}">
                <a16:creationId xmlns:a16="http://schemas.microsoft.com/office/drawing/2014/main" id="{B9999C75-02FB-471A-9339-C2726F8C03A3}"/>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2</a:t>
            </a:fld>
            <a:endParaRPr lang="en-US" altLang="zh-CN"/>
          </a:p>
        </p:txBody>
      </p:sp>
      <p:sp>
        <p:nvSpPr>
          <p:cNvPr id="13" name="标题 1">
            <a:extLst>
              <a:ext uri="{FF2B5EF4-FFF2-40B4-BE49-F238E27FC236}">
                <a16:creationId xmlns:a16="http://schemas.microsoft.com/office/drawing/2014/main" id="{5607F18F-699A-4F7F-A2ED-BD80B7B267C8}"/>
              </a:ext>
            </a:extLst>
          </p:cNvPr>
          <p:cNvSpPr>
            <a:spLocks noGrp="1"/>
          </p:cNvSpPr>
          <p:nvPr>
            <p:ph type="title"/>
          </p:nvPr>
        </p:nvSpPr>
        <p:spPr>
          <a:xfrm>
            <a:off x="457200" y="462280"/>
            <a:ext cx="8229600" cy="990600"/>
          </a:xfrm>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机器学习简介</a:t>
            </a:r>
          </a:p>
        </p:txBody>
      </p:sp>
      <p:sp>
        <p:nvSpPr>
          <p:cNvPr id="14" name="内容占位符 2">
            <a:extLst>
              <a:ext uri="{FF2B5EF4-FFF2-40B4-BE49-F238E27FC236}">
                <a16:creationId xmlns:a16="http://schemas.microsoft.com/office/drawing/2014/main" id="{D53E8302-9586-421A-84F3-019752B5E77E}"/>
              </a:ext>
            </a:extLst>
          </p:cNvPr>
          <p:cNvSpPr>
            <a:spLocks noGrp="1"/>
          </p:cNvSpPr>
          <p:nvPr>
            <p:ph idx="1"/>
          </p:nvPr>
        </p:nvSpPr>
        <p:spPr>
          <a:xfrm>
            <a:off x="457200" y="1367883"/>
            <a:ext cx="8577470" cy="5334000"/>
          </a:xfrm>
        </p:spPr>
        <p:txBody>
          <a:bodyPr/>
          <a:lstStyle/>
          <a:p>
            <a:r>
              <a:rPr lang="en-US" altLang="zh-CN" sz="28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学习目标</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了解机器学习的基础概念、主要任务和基本流程</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掌握机器学习模型的评估与选择方法</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掌握改善模型性能的方法与技巧</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42733865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3</a:t>
            </a:fld>
            <a:endParaRPr lang="en-US" altLang="zh-CN"/>
          </a:p>
        </p:txBody>
      </p:sp>
      <p:sp>
        <p:nvSpPr>
          <p:cNvPr id="13" name="标题 1">
            <a:extLst>
              <a:ext uri="{FF2B5EF4-FFF2-40B4-BE49-F238E27FC236}">
                <a16:creationId xmlns:a16="http://schemas.microsoft.com/office/drawing/2014/main" id="{5607F18F-699A-4F7F-A2ED-BD80B7B267C8}"/>
              </a:ext>
            </a:extLst>
          </p:cNvPr>
          <p:cNvSpPr>
            <a:spLocks noGrp="1"/>
          </p:cNvSpPr>
          <p:nvPr>
            <p:ph type="title"/>
          </p:nvPr>
        </p:nvSpPr>
        <p:spPr>
          <a:xfrm>
            <a:off x="457200" y="462280"/>
            <a:ext cx="8229600" cy="990600"/>
          </a:xfrm>
        </p:spPr>
        <p:txBody>
          <a:bodyPr/>
          <a:lstStyle/>
          <a:p>
            <a:r>
              <a:rPr lang="en-US" altLang="zh-CN" dirty="0">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机器学习的基础概念</a:t>
            </a:r>
          </a:p>
        </p:txBody>
      </p:sp>
      <p:sp>
        <p:nvSpPr>
          <p:cNvPr id="14" name="内容占位符 2">
            <a:extLst>
              <a:ext uri="{FF2B5EF4-FFF2-40B4-BE49-F238E27FC236}">
                <a16:creationId xmlns:a16="http://schemas.microsoft.com/office/drawing/2014/main" id="{D53E8302-9586-421A-84F3-019752B5E77E}"/>
              </a:ext>
            </a:extLst>
          </p:cNvPr>
          <p:cNvSpPr>
            <a:spLocks noGrp="1"/>
          </p:cNvSpPr>
          <p:nvPr>
            <p:ph idx="1"/>
          </p:nvPr>
        </p:nvSpPr>
        <p:spPr>
          <a:xfrm>
            <a:off x="457200" y="1452878"/>
            <a:ext cx="8299050" cy="4942842"/>
          </a:xfrm>
        </p:spPr>
        <p:txBody>
          <a:bodyPr/>
          <a:lstStyle/>
          <a:p>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机器学习的定义与对象</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常用概念</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a:buNone/>
            </a:pP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机器学习的分类</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页脚占位符 2">
            <a:extLst>
              <a:ext uri="{FF2B5EF4-FFF2-40B4-BE49-F238E27FC236}">
                <a16:creationId xmlns:a16="http://schemas.microsoft.com/office/drawing/2014/main" id="{D587D2AD-241A-41DE-BAC5-9CF913617622}"/>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Tree>
    <p:extLst>
      <p:ext uri="{BB962C8B-B14F-4D97-AF65-F5344CB8AC3E}">
        <p14:creationId xmlns:p14="http://schemas.microsoft.com/office/powerpoint/2010/main" val="2797344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4</a:t>
            </a:fld>
            <a:endParaRPr lang="en-US" altLang="zh-CN"/>
          </a:p>
        </p:txBody>
      </p:sp>
      <p:sp>
        <p:nvSpPr>
          <p:cNvPr id="13"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机器学习的定义与对象</a:t>
            </a:r>
          </a:p>
        </p:txBody>
      </p:sp>
      <p:sp>
        <p:nvSpPr>
          <p:cNvPr id="7" name="文本框 6"/>
          <p:cNvSpPr txBox="1"/>
          <p:nvPr/>
        </p:nvSpPr>
        <p:spPr>
          <a:xfrm>
            <a:off x="217792" y="1763807"/>
            <a:ext cx="8595360" cy="4336893"/>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我们已经学习了交通大数据分析的数据预处理、探索性数据分析以及图表绘制的过程。通过这些工作，我们已经能够将杂乱的数据梳理清晰，并在</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统计维度上</a:t>
            </a:r>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对数据有了充分的认识。但是，</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面对复杂的大数据问题，我们更需要对这些数据进行深入的挖掘和探索，并在其基础上构建模型，对未知问题进行预测和分析</a:t>
            </a:r>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。致力于这一目标的，就是机器学习（</a:t>
            </a:r>
            <a:r>
              <a:rPr lang="en-US" altLang="zh-CN"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machine learning</a:t>
            </a:r>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nSpc>
                <a:spcPct val="150000"/>
              </a:lnSpc>
            </a:pPr>
            <a:endParaRPr lang="en-US" altLang="zh-CN"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nSpc>
                <a:spcPct val="150000"/>
              </a:lnSpc>
            </a:pPr>
            <a:endParaRPr lang="en-US" altLang="zh-CN" sz="600"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机器学习研究</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如何通过计算手段，利用经验来改善系统自身的性能</a:t>
            </a:r>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，而在计算机系统中， “经验”通常以“数据”的形式存在。因此，机器学习研究的主要内容，是关于</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从数据中产生“模型”的算法</a:t>
            </a:r>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，即“学习算法”，并通过运用这些算法，对未知数据进行预测和分析。</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Tree>
    <p:extLst>
      <p:ext uri="{BB962C8B-B14F-4D97-AF65-F5344CB8AC3E}">
        <p14:creationId xmlns:p14="http://schemas.microsoft.com/office/powerpoint/2010/main" val="431259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5</a:t>
            </a:fld>
            <a:endParaRPr lang="en-US" altLang="zh-CN"/>
          </a:p>
        </p:txBody>
      </p:sp>
      <p:sp>
        <p:nvSpPr>
          <p:cNvPr id="13"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机器学习的定义与对象</a:t>
            </a: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
        <p:nvSpPr>
          <p:cNvPr id="14" name="文本框 13">
            <a:extLst>
              <a:ext uri="{FF2B5EF4-FFF2-40B4-BE49-F238E27FC236}">
                <a16:creationId xmlns:a16="http://schemas.microsoft.com/office/drawing/2014/main" id="{77098A48-51A6-4C45-8320-99A08EE2FB40}"/>
              </a:ext>
            </a:extLst>
          </p:cNvPr>
          <p:cNvSpPr txBox="1"/>
          <p:nvPr/>
        </p:nvSpPr>
        <p:spPr>
          <a:xfrm>
            <a:off x="319290" y="1253213"/>
            <a:ext cx="8505420" cy="2813399"/>
          </a:xfrm>
          <a:prstGeom prst="rect">
            <a:avLst/>
          </a:prstGeom>
          <a:noFill/>
        </p:spPr>
        <p:txBody>
          <a:bodyPr wrap="square">
            <a:spAutoFit/>
          </a:bodyPr>
          <a:lstStyle/>
          <a:p>
            <a:pPr>
              <a:lnSpc>
                <a:spcPct val="150000"/>
              </a:lnSpc>
            </a:pPr>
            <a:r>
              <a:rPr lang="en-US" altLang="zh-CN" dirty="0">
                <a:latin typeface="微软雅黑" panose="020B0503020204020204" pitchFamily="34" charset="-122"/>
                <a:ea typeface="微软雅黑" panose="020B0503020204020204" pitchFamily="34" charset="-122"/>
              </a:rPr>
              <a:t>Herbert Simon </a:t>
            </a:r>
            <a:r>
              <a:rPr lang="zh-CN" altLang="en-US" dirty="0">
                <a:latin typeface="微软雅黑" panose="020B0503020204020204" pitchFamily="34" charset="-122"/>
                <a:ea typeface="微软雅黑" panose="020B0503020204020204" pitchFamily="34" charset="-122"/>
              </a:rPr>
              <a:t>曾对“学习”给出定义： “如果一个系统能够通过执行某个过程来根据经验改进它的性能，这就是学习。”按照这一观点，机器学习的过程可以表示成下图所示的形式：</a:t>
            </a:r>
            <a:endParaRPr lang="en-US" altLang="zh-CN" dirty="0">
              <a:latin typeface="微软雅黑" panose="020B0503020204020204" pitchFamily="34" charset="-122"/>
              <a:ea typeface="微软雅黑" panose="020B0503020204020204" pitchFamily="34" charset="-122"/>
            </a:endParaRPr>
          </a:p>
          <a:p>
            <a:pPr>
              <a:lnSpc>
                <a:spcPct val="150000"/>
              </a:lnSpc>
            </a:pPr>
            <a:endParaRPr lang="en-US" altLang="zh-CN" sz="1050"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在数据基础上，首先</a:t>
            </a:r>
            <a:r>
              <a:rPr lang="zh-CN" altLang="en-US" dirty="0">
                <a:solidFill>
                  <a:srgbClr val="C00000"/>
                </a:solidFill>
                <a:latin typeface="微软雅黑" panose="020B0503020204020204" pitchFamily="34" charset="-122"/>
                <a:ea typeface="微软雅黑" panose="020B0503020204020204" pitchFamily="34" charset="-122"/>
              </a:rPr>
              <a:t>选取合适的算法构建模型</a:t>
            </a:r>
            <a:r>
              <a:rPr lang="zh-CN" altLang="en-US" dirty="0">
                <a:latin typeface="微软雅黑" panose="020B0503020204020204" pitchFamily="34" charset="-122"/>
                <a:ea typeface="微软雅黑" panose="020B0503020204020204" pitchFamily="34" charset="-122"/>
              </a:rPr>
              <a:t>，并</a:t>
            </a:r>
            <a:r>
              <a:rPr lang="zh-CN" altLang="en-US" dirty="0">
                <a:solidFill>
                  <a:srgbClr val="C00000"/>
                </a:solidFill>
                <a:latin typeface="微软雅黑" panose="020B0503020204020204" pitchFamily="34" charset="-122"/>
                <a:ea typeface="微软雅黑" panose="020B0503020204020204" pitchFamily="34" charset="-122"/>
              </a:rPr>
              <a:t>对性能进行评估</a:t>
            </a:r>
            <a:r>
              <a:rPr lang="zh-CN" altLang="en-US" dirty="0">
                <a:latin typeface="微软雅黑" panose="020B0503020204020204" pitchFamily="34" charset="-122"/>
                <a:ea typeface="微软雅黑" panose="020B0503020204020204" pitchFamily="34" charset="-122"/>
              </a:rPr>
              <a:t>，如果性能达到要求则应用该模型</a:t>
            </a:r>
            <a:r>
              <a:rPr lang="zh-CN" altLang="en-US" dirty="0">
                <a:solidFill>
                  <a:srgbClr val="C00000"/>
                </a:solidFill>
                <a:latin typeface="微软雅黑" panose="020B0503020204020204" pitchFamily="34" charset="-122"/>
                <a:ea typeface="微软雅黑" panose="020B0503020204020204" pitchFamily="34" charset="-122"/>
              </a:rPr>
              <a:t>输出分类和预测的结果</a:t>
            </a:r>
            <a:r>
              <a:rPr lang="zh-CN" altLang="en-US" dirty="0">
                <a:latin typeface="微软雅黑" panose="020B0503020204020204" pitchFamily="34" charset="-122"/>
                <a:ea typeface="微软雅黑" panose="020B0503020204020204" pitchFamily="34" charset="-122"/>
              </a:rPr>
              <a:t>，若性能不理想，则</a:t>
            </a:r>
            <a:r>
              <a:rPr lang="zh-CN" altLang="en-US" dirty="0">
                <a:solidFill>
                  <a:srgbClr val="C00000"/>
                </a:solidFill>
                <a:latin typeface="微软雅黑" panose="020B0503020204020204" pitchFamily="34" charset="-122"/>
                <a:ea typeface="微软雅黑" panose="020B0503020204020204" pitchFamily="34" charset="-122"/>
              </a:rPr>
              <a:t>调整算法或模型参数等建立新模型，再次评估和验证</a:t>
            </a:r>
            <a:r>
              <a:rPr lang="zh-CN" altLang="en-US" dirty="0">
                <a:latin typeface="微软雅黑" panose="020B0503020204020204" pitchFamily="34" charset="-122"/>
                <a:ea typeface="微软雅黑" panose="020B0503020204020204" pitchFamily="34" charset="-122"/>
              </a:rPr>
              <a:t>，如此循环往复，最终确定最优模型。</a:t>
            </a:r>
            <a:endParaRPr lang="en-US" altLang="zh-CN"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7FB563E0-9C5B-4004-9DE4-47D77FFB9BC7}"/>
              </a:ext>
            </a:extLst>
          </p:cNvPr>
          <p:cNvPicPr>
            <a:picLocks noChangeAspect="1"/>
          </p:cNvPicPr>
          <p:nvPr/>
        </p:nvPicPr>
        <p:blipFill rotWithShape="1">
          <a:blip r:embed="rId3"/>
          <a:srcRect b="4278"/>
          <a:stretch/>
        </p:blipFill>
        <p:spPr>
          <a:xfrm>
            <a:off x="2295206" y="4066612"/>
            <a:ext cx="4737526" cy="2392070"/>
          </a:xfrm>
          <a:prstGeom prst="rect">
            <a:avLst/>
          </a:prstGeom>
        </p:spPr>
      </p:pic>
      <p:sp>
        <p:nvSpPr>
          <p:cNvPr id="5" name="文本框 4">
            <a:extLst>
              <a:ext uri="{FF2B5EF4-FFF2-40B4-BE49-F238E27FC236}">
                <a16:creationId xmlns:a16="http://schemas.microsoft.com/office/drawing/2014/main" id="{1E0A6C42-D9CE-420B-A87E-E2BD425B2540}"/>
              </a:ext>
            </a:extLst>
          </p:cNvPr>
          <p:cNvSpPr txBox="1"/>
          <p:nvPr/>
        </p:nvSpPr>
        <p:spPr>
          <a:xfrm>
            <a:off x="4038089" y="6501292"/>
            <a:ext cx="1864613"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图 机器学习过程</a:t>
            </a:r>
          </a:p>
        </p:txBody>
      </p:sp>
    </p:spTree>
    <p:extLst>
      <p:ext uri="{BB962C8B-B14F-4D97-AF65-F5344CB8AC3E}">
        <p14:creationId xmlns:p14="http://schemas.microsoft.com/office/powerpoint/2010/main" val="329238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6</a:t>
            </a:fld>
            <a:endParaRPr lang="en-US" altLang="zh-CN"/>
          </a:p>
        </p:txBody>
      </p:sp>
      <p:sp>
        <p:nvSpPr>
          <p:cNvPr id="13"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机器学习的定义与对象</a:t>
            </a: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
        <p:nvSpPr>
          <p:cNvPr id="14" name="文本框 13">
            <a:extLst>
              <a:ext uri="{FF2B5EF4-FFF2-40B4-BE49-F238E27FC236}">
                <a16:creationId xmlns:a16="http://schemas.microsoft.com/office/drawing/2014/main" id="{77098A48-51A6-4C45-8320-99A08EE2FB40}"/>
              </a:ext>
            </a:extLst>
          </p:cNvPr>
          <p:cNvSpPr txBox="1"/>
          <p:nvPr/>
        </p:nvSpPr>
        <p:spPr>
          <a:xfrm>
            <a:off x="250830" y="1569878"/>
            <a:ext cx="8505420" cy="2120902"/>
          </a:xfrm>
          <a:prstGeom prst="rect">
            <a:avLst/>
          </a:prstGeom>
          <a:noFill/>
        </p:spPr>
        <p:txBody>
          <a:bodyPr wrap="square">
            <a:spAutoFit/>
          </a:bodyPr>
          <a:lstStyle/>
          <a:p>
            <a:pPr>
              <a:lnSpc>
                <a:spcPct val="150000"/>
              </a:lnSpc>
            </a:pPr>
            <a:r>
              <a:rPr lang="zh-CN" altLang="en-US" dirty="0">
                <a:latin typeface="微软雅黑" panose="020B0503020204020204" pitchFamily="34" charset="-122"/>
                <a:ea typeface="微软雅黑" panose="020B0503020204020204" pitchFamily="34" charset="-122"/>
              </a:rPr>
              <a:t>机器学习的关键在于：计算机能否从数据中自行学习经验并产生满足需求的模型，即是否能实现“学习”的行为。我们以一个具有多年驾驶经验的司机开车为例，来加深对于“</a:t>
            </a:r>
            <a:r>
              <a:rPr lang="zh-CN" altLang="en-US" dirty="0">
                <a:solidFill>
                  <a:srgbClr val="C00000"/>
                </a:solidFill>
                <a:latin typeface="微软雅黑" panose="020B0503020204020204" pitchFamily="34" charset="-122"/>
                <a:ea typeface="微软雅黑" panose="020B0503020204020204" pitchFamily="34" charset="-122"/>
              </a:rPr>
              <a:t>学习</a:t>
            </a:r>
            <a:r>
              <a:rPr lang="zh-CN" altLang="en-US" dirty="0">
                <a:latin typeface="微软雅黑" panose="020B0503020204020204" pitchFamily="34" charset="-122"/>
                <a:ea typeface="微软雅黑" panose="020B0503020204020204" pitchFamily="34" charset="-122"/>
              </a:rPr>
              <a:t>”的理解。当他要在</a:t>
            </a:r>
            <a:r>
              <a:rPr lang="zh-CN" altLang="en-US" dirty="0">
                <a:solidFill>
                  <a:srgbClr val="C00000"/>
                </a:solidFill>
                <a:latin typeface="微软雅黑" panose="020B0503020204020204" pitchFamily="34" charset="-122"/>
                <a:ea typeface="微软雅黑" panose="020B0503020204020204" pitchFamily="34" charset="-122"/>
              </a:rPr>
              <a:t>陌生道路</a:t>
            </a:r>
            <a:r>
              <a:rPr lang="zh-CN" altLang="en-US" dirty="0">
                <a:latin typeface="微软雅黑" panose="020B0503020204020204" pitchFamily="34" charset="-122"/>
                <a:ea typeface="微软雅黑" panose="020B0503020204020204" pitchFamily="34" charset="-122"/>
              </a:rPr>
              <a:t>行驶，虽然不熟悉路况，但由于他在</a:t>
            </a:r>
            <a:r>
              <a:rPr lang="zh-CN" altLang="en-US" dirty="0">
                <a:solidFill>
                  <a:srgbClr val="C00000"/>
                </a:solidFill>
                <a:latin typeface="微软雅黑" panose="020B0503020204020204" pitchFamily="34" charset="-122"/>
                <a:ea typeface="微软雅黑" panose="020B0503020204020204" pitchFamily="34" charset="-122"/>
              </a:rPr>
              <a:t>各种路况下</a:t>
            </a:r>
            <a:r>
              <a:rPr lang="zh-CN" altLang="en-US" dirty="0">
                <a:latin typeface="微软雅黑" panose="020B0503020204020204" pitchFamily="34" charset="-122"/>
                <a:ea typeface="微软雅黑" panose="020B0503020204020204" pitchFamily="34" charset="-122"/>
              </a:rPr>
              <a:t>都驾驶过，积累了丰富的经验，因此面对陌生的道路也可以很快适应，这就是一个</a:t>
            </a:r>
            <a:r>
              <a:rPr lang="zh-CN" altLang="en-US" dirty="0">
                <a:solidFill>
                  <a:srgbClr val="C00000"/>
                </a:solidFill>
                <a:latin typeface="微软雅黑" panose="020B0503020204020204" pitchFamily="34" charset="-122"/>
                <a:ea typeface="微软雅黑" panose="020B0503020204020204" pitchFamily="34" charset="-122"/>
              </a:rPr>
              <a:t>自我学习</a:t>
            </a:r>
            <a:r>
              <a:rPr lang="zh-CN" altLang="en-US" dirty="0">
                <a:latin typeface="微软雅黑" panose="020B0503020204020204" pitchFamily="34" charset="-122"/>
                <a:ea typeface="微软雅黑" panose="020B0503020204020204" pitchFamily="34" charset="-122"/>
              </a:rPr>
              <a:t>并应用到</a:t>
            </a:r>
            <a:r>
              <a:rPr lang="zh-CN" altLang="en-US" dirty="0">
                <a:solidFill>
                  <a:srgbClr val="C00000"/>
                </a:solidFill>
                <a:latin typeface="微软雅黑" panose="020B0503020204020204" pitchFamily="34" charset="-122"/>
                <a:ea typeface="微软雅黑" panose="020B0503020204020204" pitchFamily="34" charset="-122"/>
              </a:rPr>
              <a:t>新场景</a:t>
            </a:r>
            <a:r>
              <a:rPr lang="zh-CN" altLang="en-US" dirty="0">
                <a:latin typeface="微软雅黑" panose="020B0503020204020204" pitchFamily="34" charset="-122"/>
                <a:ea typeface="微软雅黑" panose="020B0503020204020204" pitchFamily="34" charset="-122"/>
              </a:rPr>
              <a:t>中的过程</a:t>
            </a:r>
          </a:p>
        </p:txBody>
      </p:sp>
      <p:pic>
        <p:nvPicPr>
          <p:cNvPr id="15" name="图片 14">
            <a:extLst>
              <a:ext uri="{FF2B5EF4-FFF2-40B4-BE49-F238E27FC236}">
                <a16:creationId xmlns:a16="http://schemas.microsoft.com/office/drawing/2014/main" id="{E478C159-759C-4802-AC5D-990AD52A097E}"/>
              </a:ext>
            </a:extLst>
          </p:cNvPr>
          <p:cNvPicPr>
            <a:picLocks noChangeAspect="1"/>
          </p:cNvPicPr>
          <p:nvPr/>
        </p:nvPicPr>
        <p:blipFill>
          <a:blip r:embed="rId3"/>
          <a:stretch>
            <a:fillRect/>
          </a:stretch>
        </p:blipFill>
        <p:spPr>
          <a:xfrm>
            <a:off x="748706" y="4318878"/>
            <a:ext cx="2775828" cy="1887971"/>
          </a:xfrm>
          <a:prstGeom prst="rect">
            <a:avLst/>
          </a:prstGeom>
        </p:spPr>
      </p:pic>
      <p:sp>
        <p:nvSpPr>
          <p:cNvPr id="16" name="箭头: 右 15">
            <a:extLst>
              <a:ext uri="{FF2B5EF4-FFF2-40B4-BE49-F238E27FC236}">
                <a16:creationId xmlns:a16="http://schemas.microsoft.com/office/drawing/2014/main" id="{9223759D-53F6-45A7-A54B-D6EFF0DD82E4}"/>
              </a:ext>
            </a:extLst>
          </p:cNvPr>
          <p:cNvSpPr/>
          <p:nvPr/>
        </p:nvSpPr>
        <p:spPr>
          <a:xfrm>
            <a:off x="4108663" y="5042877"/>
            <a:ext cx="1000317" cy="39889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a:extLst>
              <a:ext uri="{FF2B5EF4-FFF2-40B4-BE49-F238E27FC236}">
                <a16:creationId xmlns:a16="http://schemas.microsoft.com/office/drawing/2014/main" id="{3211080B-B633-4975-B4C4-48B79BCF2E58}"/>
              </a:ext>
            </a:extLst>
          </p:cNvPr>
          <p:cNvPicPr>
            <a:picLocks noChangeAspect="1"/>
          </p:cNvPicPr>
          <p:nvPr/>
        </p:nvPicPr>
        <p:blipFill>
          <a:blip r:embed="rId4"/>
          <a:stretch>
            <a:fillRect/>
          </a:stretch>
        </p:blipFill>
        <p:spPr>
          <a:xfrm>
            <a:off x="5858808" y="4276814"/>
            <a:ext cx="1589707" cy="2117201"/>
          </a:xfrm>
          <a:prstGeom prst="rect">
            <a:avLst/>
          </a:prstGeom>
        </p:spPr>
      </p:pic>
    </p:spTree>
    <p:extLst>
      <p:ext uri="{BB962C8B-B14F-4D97-AF65-F5344CB8AC3E}">
        <p14:creationId xmlns:p14="http://schemas.microsoft.com/office/powerpoint/2010/main" val="2170554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7</a:t>
            </a:fld>
            <a:endParaRPr lang="en-US" altLang="zh-CN"/>
          </a:p>
        </p:txBody>
      </p:sp>
      <p:sp>
        <p:nvSpPr>
          <p:cNvPr id="13"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机器学习的定义与对象</a:t>
            </a:r>
          </a:p>
        </p:txBody>
      </p:sp>
      <p:sp>
        <p:nvSpPr>
          <p:cNvPr id="7" name="文本框 6"/>
          <p:cNvSpPr txBox="1"/>
          <p:nvPr/>
        </p:nvSpPr>
        <p:spPr>
          <a:xfrm>
            <a:off x="175974" y="1584255"/>
            <a:ext cx="8774151" cy="1705403"/>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机器学习的对象是数据。机器学习从</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原始数据</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出发，通过提取数据的特征组成</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结构化数据</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，抽象出</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结构化数据的模型</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，发现原始数据中的知识，最后将其应用到对</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新数据的分析与预测</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中。需要注意的是，这里的数据是广义且多样的，包括各类数字、文字、图形等等</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8" name="页脚占位符 2">
            <a:extLst>
              <a:ext uri="{FF2B5EF4-FFF2-40B4-BE49-F238E27FC236}">
                <a16:creationId xmlns:a16="http://schemas.microsoft.com/office/drawing/2014/main" id="{DBD81246-AD00-407F-AC3B-C11D29603D80}"/>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
        <p:nvSpPr>
          <p:cNvPr id="18" name="文本框 17">
            <a:extLst>
              <a:ext uri="{FF2B5EF4-FFF2-40B4-BE49-F238E27FC236}">
                <a16:creationId xmlns:a16="http://schemas.microsoft.com/office/drawing/2014/main" id="{E2E36EB5-1BEA-4651-AD77-148D1BE01FA0}"/>
              </a:ext>
            </a:extLst>
          </p:cNvPr>
          <p:cNvSpPr txBox="1"/>
          <p:nvPr/>
        </p:nvSpPr>
        <p:spPr>
          <a:xfrm>
            <a:off x="184924" y="3699024"/>
            <a:ext cx="8774151" cy="1705403"/>
          </a:xfrm>
          <a:prstGeom prst="rect">
            <a:avLst/>
          </a:prstGeom>
          <a:noFill/>
        </p:spPr>
        <p:txBody>
          <a:bodyPr wrap="square">
            <a:spAutoFit/>
          </a:bodyPr>
          <a:lstStyle/>
          <a:p>
            <a:pPr>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为了合理利用数据，机器学习也需要对数据进行一定的</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基本假设</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，要求同类数据具有</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规律性</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或者</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内部结构</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。例如，通常假设我们获得的样本都是</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“独立同分布”</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的，即每个样本都是独立、无差别地从整体中进行抽样的；此时，每个样本服从的概率分布 </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D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与总体（</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population</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）的概率分布是相同的。</a:t>
            </a:r>
          </a:p>
        </p:txBody>
      </p:sp>
    </p:spTree>
    <p:extLst>
      <p:ext uri="{BB962C8B-B14F-4D97-AF65-F5344CB8AC3E}">
        <p14:creationId xmlns:p14="http://schemas.microsoft.com/office/powerpoint/2010/main" val="11590934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8</a:t>
            </a:fld>
            <a:endParaRPr lang="en-US" altLang="zh-CN"/>
          </a:p>
        </p:txBody>
      </p:sp>
      <p:sp>
        <p:nvSpPr>
          <p:cNvPr id="13" name="标题 1">
            <a:extLst>
              <a:ext uri="{FF2B5EF4-FFF2-40B4-BE49-F238E27FC236}">
                <a16:creationId xmlns:a16="http://schemas.microsoft.com/office/drawing/2014/main" id="{5607F18F-699A-4F7F-A2ED-BD80B7B267C8}"/>
              </a:ext>
            </a:extLst>
          </p:cNvPr>
          <p:cNvSpPr>
            <a:spLocks noGrp="1"/>
          </p:cNvSpPr>
          <p:nvPr>
            <p:ph type="title"/>
          </p:nvPr>
        </p:nvSpPr>
        <p:spPr>
          <a:xfrm>
            <a:off x="160890" y="28653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机器学习的常用概念</a:t>
            </a:r>
          </a:p>
        </p:txBody>
      </p:sp>
      <mc:AlternateContent xmlns:mc="http://schemas.openxmlformats.org/markup-compatibility/2006" xmlns:a14="http://schemas.microsoft.com/office/drawing/2010/main">
        <mc:Choice Requires="a14">
          <p:sp>
            <p:nvSpPr>
              <p:cNvPr id="7" name="文本框 6"/>
              <p:cNvSpPr txBox="1"/>
              <p:nvPr/>
            </p:nvSpPr>
            <p:spPr>
              <a:xfrm>
                <a:off x="58965" y="1124099"/>
                <a:ext cx="9026069" cy="3877985"/>
              </a:xfrm>
              <a:prstGeom prst="rect">
                <a:avLst/>
              </a:prstGeom>
              <a:noFill/>
            </p:spPr>
            <p:txBody>
              <a:bodyPr wrap="square" rtlCol="0">
                <a:spAutoFit/>
              </a:bodyPr>
              <a:lstStyle/>
              <a:p>
                <a:pPr marL="285750" indent="-285750">
                  <a:buFont typeface="Wingdings" panose="05000000000000000000" pitchFamily="2" charset="2"/>
                  <a:buChar char="p"/>
                </a:pPr>
                <a:r>
                  <a:rPr lang="zh-CN" altLang="en-US" sz="2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样本与特征</a:t>
                </a:r>
                <a:endParaRPr lang="en-US" altLang="zh-CN" sz="2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机器学习所需数据实际上是对事件或研究对象的记录，每一条数据记录都可以被称作一个样本；样本包含的事件或研究对象的性质被称为特征。如一个城市道路的交通流数据样本会包含“路段编号”“平均车速”“车流量”等特征</a:t>
                </a:r>
                <a:endParaRPr lang="en-US" altLang="zh-CN" sz="1200"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endParaRPr lang="en-US" altLang="zh-CN" sz="1200"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285750" indent="-285750">
                  <a:buFont typeface="Wingdings" panose="05000000000000000000" pitchFamily="2" charset="2"/>
                  <a:buChar char="p"/>
                </a:pPr>
                <a:r>
                  <a:rPr lang="zh-CN" altLang="en-US" sz="2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数据集</a:t>
                </a:r>
                <a:endParaRPr lang="en-US" altLang="zh-CN" sz="2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数据集是由样本组成的集合。在机器学习中数据集一般被手动划分为三类：</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训练集，验证集和测试集</a:t>
                </a:r>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。三种数据集分别起到训练模型、选择模型和模型评估的作用</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endParaRPr lang="en-US" altLang="zh-CN" sz="1200"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285750" indent="-285750">
                  <a:buFont typeface="Wingdings" panose="05000000000000000000" pitchFamily="2" charset="2"/>
                  <a:buChar char="p"/>
                </a:pPr>
                <a:r>
                  <a:rPr lang="zh-CN" altLang="en-US" sz="2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特征向量与特征空间</a:t>
                </a:r>
                <a:endParaRPr lang="en-US" altLang="zh-CN" sz="2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以</a:t>
                </a:r>
                <a14:m>
                  <m:oMath xmlns:m="http://schemas.openxmlformats.org/officeDocument/2006/math">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𝐷</m:t>
                    </m:r>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d>
                      <m:dPr>
                        <m:begChr m:val="{"/>
                        <m:endChr m:val="}"/>
                        <m:ctrlP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sub>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sub>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b>
                        </m:sSub>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sub>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𝑚</m:t>
                            </m:r>
                          </m:sub>
                        </m:sSub>
                      </m:e>
                    </m:d>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表示包含</a:t>
                </a:r>
                <a14:m>
                  <m:oMath xmlns:m="http://schemas.openxmlformats.org/officeDocument/2006/math">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𝑚</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个样本的数据集，每个样本由</a:t>
                </a:r>
                <a14:m>
                  <m:oMath xmlns:m="http://schemas.openxmlformats.org/officeDocument/2006/math">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𝑑</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个特征描述，任意一个样本</a:t>
                </a:r>
                <a14:m>
                  <m:oMath xmlns:m="http://schemas.openxmlformats.org/officeDocument/2006/math">
                    <m:sSub>
                      <m:sSubPr>
                        <m:ctrlPr>
                          <a:rPr lang="en-US" altLang="zh-CN"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sub>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sub>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sub>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b>
                    </m:sSub>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sub>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𝑖𝑑</m:t>
                        </m:r>
                      </m:sub>
                    </m:sSub>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是</a:t>
                </a:r>
                <a14:m>
                  <m:oMath xmlns:m="http://schemas.openxmlformats.org/officeDocument/2006/math">
                    <m:r>
                      <a:rPr lang="en-US" altLang="zh-CN" b="0" i="1" dirty="0"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𝑑</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维空间</a:t>
                </a:r>
                <a14:m>
                  <m:oMath xmlns:m="http://schemas.openxmlformats.org/officeDocument/2006/math">
                    <m:r>
                      <a:rPr lang="zh-CN" altLang="en-US"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𝜒</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中的一个向量，所以</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sub>
                        <m:r>
                          <a:rPr lang="en-US" altLang="zh-CN" i="1">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a:rPr lang="en-US" altLang="zh-CN" i="1">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 </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也被成为</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特征向量</a:t>
                </a:r>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dirty="0">
                    <a:ea typeface="微软雅黑" panose="020B0503020204020204" pitchFamily="34" charset="-122"/>
                    <a:cs typeface="Times New Roman" panose="02020603050405020304" pitchFamily="18" charset="0"/>
                    <a:sym typeface="Arial" panose="020B0604020202020204" pitchFamily="34" charset="0"/>
                  </a:rPr>
                  <a:t> </a:t>
                </a:r>
                <a14:m>
                  <m:oMath xmlns:m="http://schemas.openxmlformats.org/officeDocument/2006/math">
                    <m:r>
                      <a:rPr lang="en-US" altLang="zh-CN" i="1">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𝑑</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被称为样本维度（</a:t>
                </a:r>
                <a:r>
                  <a:rPr lang="en-US" altLang="zh-CN"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dimensionality</a:t>
                </a:r>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）。样本在各个特征维度上的取值范围组成了</a:t>
                </a:r>
                <a14:m>
                  <m:oMath xmlns:m="http://schemas.openxmlformats.org/officeDocument/2006/math">
                    <m:r>
                      <a:rPr lang="zh-CN" altLang="en-US" i="1">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𝜒</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14:m>
                  <m:oMath xmlns:m="http://schemas.openxmlformats.org/officeDocument/2006/math">
                    <m:r>
                      <a:rPr lang="zh-CN" altLang="en-US" i="1">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𝜒</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被称为</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特征空间</a:t>
                </a:r>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（也称为属性空间、样本空间、输入空间）</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58965" y="1124099"/>
                <a:ext cx="9026069" cy="3877985"/>
              </a:xfrm>
              <a:prstGeom prst="rect">
                <a:avLst/>
              </a:prstGeom>
              <a:blipFill>
                <a:blip r:embed="rId3"/>
                <a:stretch>
                  <a:fillRect l="-608" t="-785" r="-405" b="-1413"/>
                </a:stretch>
              </a:blipFill>
            </p:spPr>
            <p:txBody>
              <a:bodyPr/>
              <a:lstStyle/>
              <a:p>
                <a:r>
                  <a:rPr lang="zh-CN" altLang="en-US">
                    <a:noFill/>
                  </a:rPr>
                  <a:t> </a:t>
                </a:r>
              </a:p>
            </p:txBody>
          </p:sp>
        </mc:Fallback>
      </mc:AlternateContent>
      <p:sp>
        <p:nvSpPr>
          <p:cNvPr id="8" name="页脚占位符 2">
            <a:extLst>
              <a:ext uri="{FF2B5EF4-FFF2-40B4-BE49-F238E27FC236}">
                <a16:creationId xmlns:a16="http://schemas.microsoft.com/office/drawing/2014/main" id="{62B60840-06CB-44D3-B796-13776F35BF34}"/>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grpSp>
        <p:nvGrpSpPr>
          <p:cNvPr id="3" name="组合 2">
            <a:extLst>
              <a:ext uri="{FF2B5EF4-FFF2-40B4-BE49-F238E27FC236}">
                <a16:creationId xmlns:a16="http://schemas.microsoft.com/office/drawing/2014/main" id="{59B4AE65-D670-5FCE-2C84-DA757A179C23}"/>
              </a:ext>
            </a:extLst>
          </p:cNvPr>
          <p:cNvGrpSpPr/>
          <p:nvPr/>
        </p:nvGrpSpPr>
        <p:grpSpPr>
          <a:xfrm>
            <a:off x="160890" y="5386197"/>
            <a:ext cx="8023347" cy="1148855"/>
            <a:chOff x="160890" y="5386197"/>
            <a:chExt cx="8023347" cy="1148855"/>
          </a:xfrm>
        </p:grpSpPr>
        <p:pic>
          <p:nvPicPr>
            <p:cNvPr id="4" name="图片 3">
              <a:extLst>
                <a:ext uri="{FF2B5EF4-FFF2-40B4-BE49-F238E27FC236}">
                  <a16:creationId xmlns:a16="http://schemas.microsoft.com/office/drawing/2014/main" id="{2D24EEF3-51FD-4157-B25B-80D0E9C4DF1B}"/>
                </a:ext>
              </a:extLst>
            </p:cNvPr>
            <p:cNvPicPr>
              <a:picLocks noChangeAspect="1"/>
            </p:cNvPicPr>
            <p:nvPr/>
          </p:nvPicPr>
          <p:blipFill>
            <a:blip r:embed="rId4"/>
            <a:stretch>
              <a:fillRect/>
            </a:stretch>
          </p:blipFill>
          <p:spPr>
            <a:xfrm>
              <a:off x="1343983" y="5386197"/>
              <a:ext cx="6840254" cy="1148855"/>
            </a:xfrm>
            <a:prstGeom prst="rect">
              <a:avLst/>
            </a:prstGeom>
          </p:spPr>
        </p:pic>
        <p:sp>
          <p:nvSpPr>
            <p:cNvPr id="5" name="矩形 4">
              <a:extLst>
                <a:ext uri="{FF2B5EF4-FFF2-40B4-BE49-F238E27FC236}">
                  <a16:creationId xmlns:a16="http://schemas.microsoft.com/office/drawing/2014/main" id="{A1428F86-ACF6-45EA-B610-14D139F8632D}"/>
                </a:ext>
              </a:extLst>
            </p:cNvPr>
            <p:cNvSpPr/>
            <p:nvPr/>
          </p:nvSpPr>
          <p:spPr>
            <a:xfrm>
              <a:off x="1343983" y="5664369"/>
              <a:ext cx="6840254" cy="28229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6FE1ACBA-3103-4EC9-906A-9CF1421237CC}"/>
                </a:ext>
              </a:extLst>
            </p:cNvPr>
            <p:cNvSpPr txBox="1"/>
            <p:nvPr/>
          </p:nvSpPr>
          <p:spPr>
            <a:xfrm>
              <a:off x="160890" y="5635709"/>
              <a:ext cx="1107996" cy="369332"/>
            </a:xfrm>
            <a:prstGeom prst="rect">
              <a:avLst/>
            </a:prstGeom>
            <a:noFill/>
          </p:spPr>
          <p:txBody>
            <a:bodyPr wrap="none" rtlCol="0">
              <a:spAutoFit/>
            </a:bodyPr>
            <a:lstStyle/>
            <a:p>
              <a:r>
                <a:rPr lang="zh-CN" altLang="en-US" dirty="0">
                  <a:solidFill>
                    <a:srgbClr val="C00000"/>
                  </a:solidFill>
                  <a:latin typeface="微软雅黑" panose="020B0503020204020204" pitchFamily="34" charset="-122"/>
                  <a:ea typeface="微软雅黑" panose="020B0503020204020204" pitchFamily="34" charset="-122"/>
                </a:rPr>
                <a:t>一条样本</a:t>
              </a:r>
            </a:p>
          </p:txBody>
        </p:sp>
      </p:grpSp>
    </p:spTree>
    <p:extLst>
      <p:ext uri="{BB962C8B-B14F-4D97-AF65-F5344CB8AC3E}">
        <p14:creationId xmlns:p14="http://schemas.microsoft.com/office/powerpoint/2010/main" val="2622929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9</a:t>
            </a:fld>
            <a:endParaRPr lang="en-US" altLang="zh-CN"/>
          </a:p>
        </p:txBody>
      </p:sp>
      <p:sp>
        <p:nvSpPr>
          <p:cNvPr id="13"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机器学习的常用概念</a:t>
            </a:r>
          </a:p>
        </p:txBody>
      </p:sp>
      <mc:AlternateContent xmlns:mc="http://schemas.openxmlformats.org/markup-compatibility/2006" xmlns:a14="http://schemas.microsoft.com/office/drawing/2010/main">
        <mc:Choice Requires="a14">
          <p:sp>
            <p:nvSpPr>
              <p:cNvPr id="7" name="文本框 6"/>
              <p:cNvSpPr txBox="1"/>
              <p:nvPr/>
            </p:nvSpPr>
            <p:spPr>
              <a:xfrm>
                <a:off x="317809" y="3059443"/>
                <a:ext cx="8595360" cy="3508653"/>
              </a:xfrm>
              <a:prstGeom prst="rect">
                <a:avLst/>
              </a:prstGeom>
              <a:noFill/>
            </p:spPr>
            <p:txBody>
              <a:bodyPr wrap="square" rtlCol="0">
                <a:spAutoFit/>
              </a:bodyPr>
              <a:lstStyle/>
              <a:p>
                <a:pPr marL="285750" indent="-285750">
                  <a:buFont typeface="Wingdings" panose="05000000000000000000" pitchFamily="2" charset="2"/>
                  <a:buChar char="p"/>
                </a:pPr>
                <a:r>
                  <a:rPr lang="zh-CN" altLang="en-US" sz="2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模型</a:t>
                </a:r>
                <a:endParaRPr lang="en-US" altLang="zh-CN" sz="2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模型是从输入空间</a:t>
                </a:r>
                <a14:m>
                  <m:oMath xmlns:m="http://schemas.openxmlformats.org/officeDocument/2006/math">
                    <m:r>
                      <a:rPr lang="zh-CN" altLang="en-US">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𝜒</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到输出空间</a:t>
                </a:r>
                <a14:m>
                  <m:oMath xmlns:m="http://schemas.openxmlformats.org/officeDocument/2006/math">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𝑌</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的一个映射函数</a:t>
                </a:r>
                <a14:m>
                  <m:oMath xmlns:m="http://schemas.openxmlformats.org/officeDocument/2006/math">
                    <m:r>
                      <a:rPr lang="en-US" altLang="zh-CN">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𝑓</m:t>
                    </m:r>
                    <m:r>
                      <a:rPr lang="zh-CN" altLang="en-US"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b="0" i="1" dirty="0"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r>
                      <a:rPr lang="en-US" altLang="zh-CN" b="0" i="1" dirty="0"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b="0" i="1" dirty="0"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𝑓</m:t>
                    </m:r>
                    <m:r>
                      <a:rPr lang="en-US" altLang="zh-CN" b="0" i="1" dirty="0"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b="0" i="1" dirty="0"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lang="en-US" altLang="zh-CN" b="0" i="1" dirty="0"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，模型</a:t>
                </a:r>
                <a14:m>
                  <m:oMath xmlns:m="http://schemas.openxmlformats.org/officeDocument/2006/math">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𝑓</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也被称为一个“</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假设</a:t>
                </a:r>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hypothesis</a:t>
                </a:r>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endParaRPr lang="en-US" altLang="zh-CN"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285750" indent="-285750">
                  <a:buFont typeface="Wingdings" panose="05000000000000000000" pitchFamily="2" charset="2"/>
                  <a:buChar char="p"/>
                </a:pPr>
                <a:r>
                  <a:rPr lang="zh-CN" altLang="en-US" sz="2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假设空间</a:t>
                </a:r>
                <a:endParaRPr lang="en-US" altLang="zh-CN" sz="2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所有模型的集合被称为</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假设空间</a:t>
                </a:r>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，例如，我们以</a:t>
                </a:r>
                <a14:m>
                  <m:oMath xmlns:m="http://schemas.openxmlformats.org/officeDocument/2006/math">
                    <m:r>
                      <a:rPr lang="en-US" altLang="zh-CN" dirty="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r>
                      <a:rPr lang="en-US" altLang="zh-CN" dirty="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dirty="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𝑓</m:t>
                    </m:r>
                    <m:d>
                      <m:dPr>
                        <m:ctrlPr>
                          <a:rPr lang="en-US" altLang="zh-CN" i="1" dirty="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dirty="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lang="en-US" altLang="zh-CN" dirty="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dirty="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dirty="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𝜃</m:t>
                        </m:r>
                      </m:e>
                      <m:sub>
                        <m:r>
                          <a:rPr lang="en-US" altLang="zh-CN" dirty="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m:t>
                        </m:r>
                      </m:sub>
                    </m:sSub>
                    <m:r>
                      <a:rPr lang="en-US" altLang="zh-CN" dirty="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dirty="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dirty="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𝜃</m:t>
                        </m:r>
                      </m:e>
                      <m:sub>
                        <m:r>
                          <a:rPr lang="en-US" altLang="zh-CN" dirty="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r>
                      <a:rPr lang="en-US" altLang="zh-CN" dirty="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分析平均速度和车流密度之间的关系，那么</a:t>
                </a:r>
                <a14:m>
                  <m:oMath xmlns:m="http://schemas.openxmlformats.org/officeDocument/2006/math">
                    <m:r>
                      <a:rPr lang="en-US" altLang="zh-CN" dirty="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dirty="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dirty="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𝜃</m:t>
                        </m:r>
                      </m:e>
                      <m:sub>
                        <m:r>
                          <a:rPr lang="en-US" altLang="zh-CN" dirty="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m:t>
                        </m:r>
                      </m:sub>
                    </m:sSub>
                    <m:r>
                      <a:rPr lang="en-US" altLang="zh-CN" dirty="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dirty="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dirty="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𝜃</m:t>
                        </m:r>
                      </m:e>
                      <m:sub>
                        <m:r>
                          <a:rPr lang="en-US" altLang="zh-CN" dirty="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r>
                      <a:rPr lang="en-US" altLang="zh-CN" dirty="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的所有可能取值就定义了假设空间。</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endParaRPr lang="en-US" altLang="zh-CN"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285750" indent="-285750">
                  <a:buFont typeface="Wingdings" panose="05000000000000000000" pitchFamily="2" charset="2"/>
                  <a:buChar char="p"/>
                </a:pPr>
                <a:r>
                  <a:rPr lang="zh-CN" altLang="en-US" sz="2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超参数</a:t>
                </a:r>
                <a:endParaRPr lang="en-US" altLang="zh-CN" sz="2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模型中的各个系数被称为参数，对于事先设定好的，在学习过程中保持不变的参数被称为“超参数”，例如线性回归模型中变量的个数、聚类中类的个数、神经网络的层数等。</a:t>
                </a:r>
              </a:p>
            </p:txBody>
          </p:sp>
        </mc:Choice>
        <mc:Fallback xmlns="">
          <p:sp>
            <p:nvSpPr>
              <p:cNvPr id="7" name="文本框 6"/>
              <p:cNvSpPr txBox="1">
                <a:spLocks noRot="1" noChangeAspect="1" noMove="1" noResize="1" noEditPoints="1" noAdjustHandles="1" noChangeArrowheads="1" noChangeShapeType="1" noTextEdit="1"/>
              </p:cNvSpPr>
              <p:nvPr/>
            </p:nvSpPr>
            <p:spPr>
              <a:xfrm>
                <a:off x="317809" y="3059443"/>
                <a:ext cx="8595360" cy="3508653"/>
              </a:xfrm>
              <a:prstGeom prst="rect">
                <a:avLst/>
              </a:prstGeom>
              <a:blipFill>
                <a:blip r:embed="rId2"/>
                <a:stretch>
                  <a:fillRect l="-638" t="-1043" b="-1913"/>
                </a:stretch>
              </a:blipFill>
            </p:spPr>
            <p:txBody>
              <a:bodyPr/>
              <a:lstStyle/>
              <a:p>
                <a:r>
                  <a:rPr lang="zh-CN" altLang="en-US">
                    <a:noFill/>
                  </a:rPr>
                  <a:t> </a:t>
                </a:r>
              </a:p>
            </p:txBody>
          </p:sp>
        </mc:Fallback>
      </mc:AlternateContent>
      <p:sp>
        <p:nvSpPr>
          <p:cNvPr id="9" name="页脚占位符 2">
            <a:extLst>
              <a:ext uri="{FF2B5EF4-FFF2-40B4-BE49-F238E27FC236}">
                <a16:creationId xmlns:a16="http://schemas.microsoft.com/office/drawing/2014/main" id="{FD836DA9-7111-43EF-9AAA-18D31F44BCA7}"/>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262CC7BE-892A-4FBE-9AF2-DF16E83018D2}"/>
                  </a:ext>
                </a:extLst>
              </p:cNvPr>
              <p:cNvSpPr txBox="1"/>
              <p:nvPr/>
            </p:nvSpPr>
            <p:spPr>
              <a:xfrm>
                <a:off x="317809" y="1144098"/>
                <a:ext cx="8385717" cy="1692771"/>
              </a:xfrm>
              <a:prstGeom prst="rect">
                <a:avLst/>
              </a:prstGeom>
              <a:noFill/>
            </p:spPr>
            <p:txBody>
              <a:bodyPr wrap="square">
                <a:spAutoFit/>
              </a:bodyPr>
              <a:lstStyle/>
              <a:p>
                <a:endParaRPr lang="en-US" altLang="zh-CN" sz="1200"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285750" indent="-285750">
                  <a:buFont typeface="Wingdings" panose="05000000000000000000" pitchFamily="2" charset="2"/>
                  <a:buChar char="p"/>
                </a:pPr>
                <a:r>
                  <a:rPr lang="zh-CN" altLang="en-US" sz="2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未标注数据与标注数据</a:t>
                </a:r>
                <a:endParaRPr lang="en-US" altLang="zh-CN" sz="2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含有标签的数据被称为</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标注数据</a:t>
                </a:r>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，反之，不含有标签的数据被称为</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未标注数据</a:t>
                </a:r>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。标签是对数据所描述状态的判断。例如，对于交通流数据，我们可以根据数据给定“畅通”或“拥堵”的判断。我们用</a:t>
                </a:r>
                <a14:m>
                  <m:oMath xmlns:m="http://schemas.openxmlformats.org/officeDocument/2006/math">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sub>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e>
                      <m:sub>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表示第</a:t>
                </a:r>
                <a14:m>
                  <m:oMath xmlns:m="http://schemas.openxmlformats.org/officeDocument/2006/math">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个样本，其中</a:t>
                </a:r>
                <a14:m>
                  <m:oMath xmlns:m="http://schemas.openxmlformats.org/officeDocument/2006/math">
                    <m:sSub>
                      <m:sSubPr>
                        <m:ctrlPr>
                          <a:rPr lang="en-US" altLang="zh-CN"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e>
                      <m:sub>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a:rPr lang="en-US" altLang="zh-CN" i="1" smtClean="0">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𝑌</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是样本</a:t>
                </a:r>
                <a14:m>
                  <m:oMath xmlns:m="http://schemas.openxmlformats.org/officeDocument/2006/math">
                    <m:sSub>
                      <m:sSubPr>
                        <m:ctrlPr>
                          <a:rPr lang="en-US" altLang="zh-CN"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sub>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a:rPr lang="en-US" altLang="zh-CN" i="1" smtClean="0">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zh-CN" altLang="en-US" i="1">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𝜒</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的标签。</a:t>
                </a:r>
                <a:r>
                  <a:rPr lang="en-US" altLang="zh-CN" dirty="0">
                    <a:ea typeface="Cambria Math" panose="02040503050406030204" pitchFamily="18" charset="0"/>
                    <a:cs typeface="Times New Roman" panose="02020603050405020304" pitchFamily="18" charset="0"/>
                    <a:sym typeface="Arial" panose="020B0604020202020204" pitchFamily="34" charset="0"/>
                  </a:rPr>
                  <a:t> </a:t>
                </a:r>
                <a14:m>
                  <m:oMath xmlns:m="http://schemas.openxmlformats.org/officeDocument/2006/math">
                    <m:r>
                      <a:rPr lang="en-US" altLang="zh-CN" b="0" i="1" smtClean="0">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𝑌</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是所有标签的集合，也被称为“标签空间”“输出空间”</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8" name="文本框 7">
                <a:extLst>
                  <a:ext uri="{FF2B5EF4-FFF2-40B4-BE49-F238E27FC236}">
                    <a16:creationId xmlns:a16="http://schemas.microsoft.com/office/drawing/2014/main" id="{262CC7BE-892A-4FBE-9AF2-DF16E83018D2}"/>
                  </a:ext>
                </a:extLst>
              </p:cNvPr>
              <p:cNvSpPr txBox="1">
                <a:spLocks noRot="1" noChangeAspect="1" noMove="1" noResize="1" noEditPoints="1" noAdjustHandles="1" noChangeArrowheads="1" noChangeShapeType="1" noTextEdit="1"/>
              </p:cNvSpPr>
              <p:nvPr/>
            </p:nvSpPr>
            <p:spPr>
              <a:xfrm>
                <a:off x="317809" y="1144098"/>
                <a:ext cx="8385717" cy="1692771"/>
              </a:xfrm>
              <a:prstGeom prst="rect">
                <a:avLst/>
              </a:prstGeom>
              <a:blipFill>
                <a:blip r:embed="rId3"/>
                <a:stretch>
                  <a:fillRect l="-654" b="-505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13108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10</a:t>
            </a:fld>
            <a:endParaRPr lang="en-US" altLang="zh-CN"/>
          </a:p>
        </p:txBody>
      </p:sp>
      <p:sp>
        <p:nvSpPr>
          <p:cNvPr id="13"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机器学习的分类</a:t>
            </a:r>
          </a:p>
        </p:txBody>
      </p:sp>
      <p:graphicFrame>
        <p:nvGraphicFramePr>
          <p:cNvPr id="4" name="表格 3"/>
          <p:cNvGraphicFramePr>
            <a:graphicFrameLocks noGrp="1"/>
          </p:cNvGraphicFramePr>
          <p:nvPr>
            <p:extLst>
              <p:ext uri="{D42A27DB-BD31-4B8C-83A1-F6EECF244321}">
                <p14:modId xmlns:p14="http://schemas.microsoft.com/office/powerpoint/2010/main" val="2849375109"/>
              </p:ext>
            </p:extLst>
          </p:nvPr>
        </p:nvGraphicFramePr>
        <p:xfrm>
          <a:off x="975656" y="2230004"/>
          <a:ext cx="7416504" cy="4110918"/>
        </p:xfrm>
        <a:graphic>
          <a:graphicData uri="http://schemas.openxmlformats.org/drawingml/2006/table">
            <a:tbl>
              <a:tblPr firstRow="1" bandRow="1">
                <a:tableStyleId>{5C22544A-7EE6-4342-B048-85BDC9FD1C3A}</a:tableStyleId>
              </a:tblPr>
              <a:tblGrid>
                <a:gridCol w="1799816">
                  <a:extLst>
                    <a:ext uri="{9D8B030D-6E8A-4147-A177-3AD203B41FA5}">
                      <a16:colId xmlns:a16="http://schemas.microsoft.com/office/drawing/2014/main" val="3365658272"/>
                    </a:ext>
                  </a:extLst>
                </a:gridCol>
                <a:gridCol w="2065468">
                  <a:extLst>
                    <a:ext uri="{9D8B030D-6E8A-4147-A177-3AD203B41FA5}">
                      <a16:colId xmlns:a16="http://schemas.microsoft.com/office/drawing/2014/main" val="1750089649"/>
                    </a:ext>
                  </a:extLst>
                </a:gridCol>
                <a:gridCol w="3551220">
                  <a:extLst>
                    <a:ext uri="{9D8B030D-6E8A-4147-A177-3AD203B41FA5}">
                      <a16:colId xmlns:a16="http://schemas.microsoft.com/office/drawing/2014/main" val="888952452"/>
                    </a:ext>
                  </a:extLst>
                </a:gridCol>
              </a:tblGrid>
              <a:tr h="544616">
                <a:tc>
                  <a:txBody>
                    <a:bodyPr/>
                    <a:lstStyle/>
                    <a:p>
                      <a:pPr algn="l"/>
                      <a:r>
                        <a:rPr lang="zh-CN" altLang="en-US" dirty="0">
                          <a:latin typeface="微软雅黑" panose="020B0503020204020204" pitchFamily="34" charset="-122"/>
                          <a:ea typeface="微软雅黑" panose="020B0503020204020204" pitchFamily="34" charset="-122"/>
                        </a:rPr>
                        <a:t>分类</a:t>
                      </a:r>
                    </a:p>
                  </a:txBody>
                  <a:tcPr anchor="ctr"/>
                </a:tc>
                <a:tc>
                  <a:txBody>
                    <a:bodyPr/>
                    <a:lstStyle/>
                    <a:p>
                      <a:pPr algn="l"/>
                      <a:r>
                        <a:rPr lang="zh-CN" altLang="en-US" dirty="0">
                          <a:latin typeface="微软雅黑" panose="020B0503020204020204" pitchFamily="34" charset="-122"/>
                          <a:ea typeface="微软雅黑" panose="020B0503020204020204" pitchFamily="34" charset="-122"/>
                        </a:rPr>
                        <a:t>主要任务</a:t>
                      </a:r>
                    </a:p>
                  </a:txBody>
                  <a:tcPr anchor="ctr"/>
                </a:tc>
                <a:tc>
                  <a:txBody>
                    <a:bodyPr/>
                    <a:lstStyle/>
                    <a:p>
                      <a:pPr algn="l"/>
                      <a:r>
                        <a:rPr lang="zh-CN" altLang="en-US" dirty="0">
                          <a:latin typeface="微软雅黑" panose="020B0503020204020204" pitchFamily="34" charset="-122"/>
                          <a:ea typeface="微软雅黑" panose="020B0503020204020204" pitchFamily="34" charset="-122"/>
                        </a:rPr>
                        <a:t>特点</a:t>
                      </a:r>
                    </a:p>
                  </a:txBody>
                  <a:tcPr anchor="ctr"/>
                </a:tc>
                <a:extLst>
                  <a:ext uri="{0D108BD9-81ED-4DB2-BD59-A6C34878D82A}">
                    <a16:rowId xmlns:a16="http://schemas.microsoft.com/office/drawing/2014/main" val="978769336"/>
                  </a:ext>
                </a:extLst>
              </a:tr>
              <a:tr h="674706">
                <a:tc>
                  <a:txBody>
                    <a:bodyPr/>
                    <a:lstStyle/>
                    <a:p>
                      <a:pPr algn="l"/>
                      <a:r>
                        <a:rPr lang="zh-CN" altLang="en-US" dirty="0">
                          <a:latin typeface="微软雅黑" panose="020B0503020204020204" pitchFamily="34" charset="-122"/>
                          <a:ea typeface="微软雅黑" panose="020B0503020204020204" pitchFamily="34" charset="-122"/>
                        </a:rPr>
                        <a:t>监督学习</a:t>
                      </a:r>
                    </a:p>
                  </a:txBody>
                  <a:tcPr anchor="ctr"/>
                </a:tc>
                <a:tc>
                  <a:txBody>
                    <a:bodyPr/>
                    <a:lstStyle/>
                    <a:p>
                      <a:pPr algn="l"/>
                      <a:r>
                        <a:rPr lang="zh-CN" altLang="en-US" dirty="0">
                          <a:latin typeface="微软雅黑" panose="020B0503020204020204" pitchFamily="34" charset="-122"/>
                          <a:ea typeface="微软雅黑" panose="020B0503020204020204" pitchFamily="34" charset="-122"/>
                        </a:rPr>
                        <a:t>分类；回归</a:t>
                      </a:r>
                    </a:p>
                  </a:txBody>
                  <a:tcPr anchor="ctr"/>
                </a:tc>
                <a:tc>
                  <a:txBody>
                    <a:bodyPr/>
                    <a:lstStyle/>
                    <a:p>
                      <a:pPr algn="l"/>
                      <a:r>
                        <a:rPr lang="zh-CN" altLang="en-US" dirty="0">
                          <a:latin typeface="微软雅黑" panose="020B0503020204020204" pitchFamily="34" charset="-122"/>
                          <a:ea typeface="微软雅黑" panose="020B0503020204020204" pitchFamily="34" charset="-122"/>
                        </a:rPr>
                        <a:t>有特征，有标签，即有标准答案</a:t>
                      </a:r>
                    </a:p>
                  </a:txBody>
                  <a:tcPr anchor="ctr"/>
                </a:tc>
                <a:extLst>
                  <a:ext uri="{0D108BD9-81ED-4DB2-BD59-A6C34878D82A}">
                    <a16:rowId xmlns:a16="http://schemas.microsoft.com/office/drawing/2014/main" val="3305809370"/>
                  </a:ext>
                </a:extLst>
              </a:tr>
              <a:tr h="674706">
                <a:tc>
                  <a:txBody>
                    <a:bodyPr/>
                    <a:lstStyle/>
                    <a:p>
                      <a:pPr algn="l"/>
                      <a:r>
                        <a:rPr lang="zh-CN" altLang="en-US" dirty="0">
                          <a:latin typeface="微软雅黑" panose="020B0503020204020204" pitchFamily="34" charset="-122"/>
                          <a:ea typeface="微软雅黑" panose="020B0503020204020204" pitchFamily="34" charset="-122"/>
                        </a:rPr>
                        <a:t>半监督学习</a:t>
                      </a:r>
                    </a:p>
                  </a:txBody>
                  <a:tcPr anchor="ctr"/>
                </a:tc>
                <a:tc>
                  <a:txBody>
                    <a:bodyPr/>
                    <a:lstStyle/>
                    <a:p>
                      <a:pPr algn="l"/>
                      <a:r>
                        <a:rPr lang="zh-CN" altLang="en-US" dirty="0">
                          <a:latin typeface="微软雅黑" panose="020B0503020204020204" pitchFamily="34" charset="-122"/>
                          <a:ea typeface="微软雅黑" panose="020B0503020204020204" pitchFamily="34" charset="-122"/>
                        </a:rPr>
                        <a:t>分类；回归；聚类</a:t>
                      </a:r>
                    </a:p>
                  </a:txBody>
                  <a:tcPr anchor="ctr"/>
                </a:tc>
                <a:tc>
                  <a:txBody>
                    <a:bodyPr/>
                    <a:lstStyle/>
                    <a:p>
                      <a:pPr algn="l"/>
                      <a:r>
                        <a:rPr lang="zh-CN" altLang="en-US" dirty="0">
                          <a:latin typeface="微软雅黑" panose="020B0503020204020204" pitchFamily="34" charset="-122"/>
                          <a:ea typeface="微软雅黑" panose="020B0503020204020204" pitchFamily="34" charset="-122"/>
                        </a:rPr>
                        <a:t>有特征，部分样本有标签</a:t>
                      </a:r>
                    </a:p>
                  </a:txBody>
                  <a:tcPr anchor="ctr"/>
                </a:tc>
                <a:extLst>
                  <a:ext uri="{0D108BD9-81ED-4DB2-BD59-A6C34878D82A}">
                    <a16:rowId xmlns:a16="http://schemas.microsoft.com/office/drawing/2014/main" val="1639083485"/>
                  </a:ext>
                </a:extLst>
              </a:tr>
              <a:tr h="674706">
                <a:tc>
                  <a:txBody>
                    <a:bodyPr/>
                    <a:lstStyle/>
                    <a:p>
                      <a:pPr algn="l"/>
                      <a:r>
                        <a:rPr lang="zh-CN" altLang="en-US" dirty="0">
                          <a:latin typeface="微软雅黑" panose="020B0503020204020204" pitchFamily="34" charset="-122"/>
                          <a:ea typeface="微软雅黑" panose="020B0503020204020204" pitchFamily="34" charset="-122"/>
                        </a:rPr>
                        <a:t>无监督学习</a:t>
                      </a:r>
                    </a:p>
                  </a:txBody>
                  <a:tcPr anchor="ctr"/>
                </a:tc>
                <a:tc>
                  <a:txBody>
                    <a:bodyPr/>
                    <a:lstStyle/>
                    <a:p>
                      <a:pPr algn="l"/>
                      <a:r>
                        <a:rPr lang="zh-CN" altLang="en-US" dirty="0">
                          <a:latin typeface="微软雅黑" panose="020B0503020204020204" pitchFamily="34" charset="-122"/>
                          <a:ea typeface="微软雅黑" panose="020B0503020204020204" pitchFamily="34" charset="-122"/>
                        </a:rPr>
                        <a:t>聚类；降维</a:t>
                      </a:r>
                    </a:p>
                  </a:txBody>
                  <a:tcPr anchor="ctr"/>
                </a:tc>
                <a:tc>
                  <a:txBody>
                    <a:bodyPr/>
                    <a:lstStyle/>
                    <a:p>
                      <a:pPr algn="l"/>
                      <a:r>
                        <a:rPr lang="zh-CN" altLang="en-US" dirty="0">
                          <a:latin typeface="微软雅黑" panose="020B0503020204020204" pitchFamily="34" charset="-122"/>
                          <a:ea typeface="微软雅黑" panose="020B0503020204020204" pitchFamily="34" charset="-122"/>
                        </a:rPr>
                        <a:t>有特征，无标签，即无标准答案</a:t>
                      </a:r>
                    </a:p>
                  </a:txBody>
                  <a:tcPr anchor="ctr"/>
                </a:tc>
                <a:extLst>
                  <a:ext uri="{0D108BD9-81ED-4DB2-BD59-A6C34878D82A}">
                    <a16:rowId xmlns:a16="http://schemas.microsoft.com/office/drawing/2014/main" val="3887220862"/>
                  </a:ext>
                </a:extLst>
              </a:tr>
              <a:tr h="1542184">
                <a:tc>
                  <a:txBody>
                    <a:bodyPr/>
                    <a:lstStyle/>
                    <a:p>
                      <a:pPr algn="l"/>
                      <a:r>
                        <a:rPr lang="zh-CN" altLang="en-US" dirty="0">
                          <a:latin typeface="微软雅黑" panose="020B0503020204020204" pitchFamily="34" charset="-122"/>
                          <a:ea typeface="微软雅黑" panose="020B0503020204020204" pitchFamily="34" charset="-122"/>
                        </a:rPr>
                        <a:t>强化学习</a:t>
                      </a:r>
                    </a:p>
                  </a:txBody>
                  <a:tcPr anchor="ctr"/>
                </a:tc>
                <a:tc>
                  <a:txBody>
                    <a:bodyPr/>
                    <a:lstStyle/>
                    <a:p>
                      <a:pPr algn="l"/>
                      <a:r>
                        <a:rPr lang="zh-CN" altLang="en-US" dirty="0">
                          <a:latin typeface="微软雅黑" panose="020B0503020204020204" pitchFamily="34" charset="-122"/>
                          <a:ea typeface="微软雅黑" panose="020B0503020204020204" pitchFamily="34" charset="-122"/>
                        </a:rPr>
                        <a:t>决策</a:t>
                      </a:r>
                    </a:p>
                  </a:txBody>
                  <a:tcPr anchor="ctr"/>
                </a:tc>
                <a:tc>
                  <a:txBody>
                    <a:bodyPr/>
                    <a:lstStyle/>
                    <a:p>
                      <a:pPr algn="l"/>
                      <a:r>
                        <a:rPr lang="zh-CN" altLang="en-US" dirty="0">
                          <a:latin typeface="微软雅黑" panose="020B0503020204020204" pitchFamily="34" charset="-122"/>
                          <a:ea typeface="微软雅黑" panose="020B0503020204020204" pitchFamily="34" charset="-122"/>
                        </a:rPr>
                        <a:t>无标签，有状态，有决策过程和奖励机制，学习一系列行为使学习目标最大化</a:t>
                      </a:r>
                    </a:p>
                  </a:txBody>
                  <a:tcPr anchor="ctr"/>
                </a:tc>
                <a:extLst>
                  <a:ext uri="{0D108BD9-81ED-4DB2-BD59-A6C34878D82A}">
                    <a16:rowId xmlns:a16="http://schemas.microsoft.com/office/drawing/2014/main" val="4225784182"/>
                  </a:ext>
                </a:extLst>
              </a:tr>
            </a:tbl>
          </a:graphicData>
        </a:graphic>
      </p:graphicFrame>
      <p:sp>
        <p:nvSpPr>
          <p:cNvPr id="5" name="矩形 4"/>
          <p:cNvSpPr/>
          <p:nvPr/>
        </p:nvSpPr>
        <p:spPr>
          <a:xfrm>
            <a:off x="162560" y="1239404"/>
            <a:ext cx="8680226" cy="923330"/>
          </a:xfrm>
          <a:prstGeom prst="rect">
            <a:avLst/>
          </a:prstGeom>
        </p:spPr>
        <p:txBody>
          <a:bodyPr wrap="square">
            <a:spAutoFit/>
          </a:bodyPr>
          <a:lstStyle/>
          <a:p>
            <a:r>
              <a:rPr lang="zh-CN" altLang="en-US" dirty="0">
                <a:latin typeface="微软雅黑" panose="020B0503020204020204" pitchFamily="34" charset="-122"/>
                <a:ea typeface="微软雅黑" panose="020B0503020204020204" pitchFamily="34" charset="-122"/>
              </a:rPr>
              <a:t>根据问题类别和建模方式的差异，机器学习中的模型与算法主要分为以下四类：监督 学习（</a:t>
            </a:r>
            <a:r>
              <a:rPr lang="en-US" altLang="zh-CN" dirty="0">
                <a:latin typeface="微软雅黑" panose="020B0503020204020204" pitchFamily="34" charset="-122"/>
                <a:ea typeface="微软雅黑" panose="020B0503020204020204" pitchFamily="34" charset="-122"/>
              </a:rPr>
              <a:t>supervised learning</a:t>
            </a:r>
            <a:r>
              <a:rPr lang="zh-CN" altLang="en-US" dirty="0">
                <a:latin typeface="微软雅黑" panose="020B0503020204020204" pitchFamily="34" charset="-122"/>
                <a:ea typeface="微软雅黑" panose="020B0503020204020204" pitchFamily="34" charset="-122"/>
              </a:rPr>
              <a:t>）、无监督学习（</a:t>
            </a:r>
            <a:r>
              <a:rPr lang="en-US" altLang="zh-CN" dirty="0">
                <a:latin typeface="微软雅黑" panose="020B0503020204020204" pitchFamily="34" charset="-122"/>
                <a:ea typeface="微软雅黑" panose="020B0503020204020204" pitchFamily="34" charset="-122"/>
              </a:rPr>
              <a:t>unsupervised learning</a:t>
            </a:r>
            <a:r>
              <a:rPr lang="zh-CN" altLang="en-US" dirty="0">
                <a:latin typeface="微软雅黑" panose="020B0503020204020204" pitchFamily="34" charset="-122"/>
                <a:ea typeface="微软雅黑" panose="020B0503020204020204" pitchFamily="34" charset="-122"/>
              </a:rPr>
              <a:t>）、半监督学习（</a:t>
            </a:r>
            <a:r>
              <a:rPr lang="en-US" altLang="zh-CN" dirty="0">
                <a:latin typeface="微软雅黑" panose="020B0503020204020204" pitchFamily="34" charset="-122"/>
                <a:ea typeface="微软雅黑" panose="020B0503020204020204" pitchFamily="34" charset="-122"/>
              </a:rPr>
              <a:t>semi-supervised learning</a:t>
            </a:r>
            <a:r>
              <a:rPr lang="zh-CN" altLang="en-US" dirty="0">
                <a:latin typeface="微软雅黑" panose="020B0503020204020204" pitchFamily="34" charset="-122"/>
                <a:ea typeface="微软雅黑" panose="020B0503020204020204" pitchFamily="34" charset="-122"/>
              </a:rPr>
              <a:t>）和强化学习（</a:t>
            </a:r>
            <a:r>
              <a:rPr lang="en-US" altLang="zh-CN" dirty="0">
                <a:latin typeface="微软雅黑" panose="020B0503020204020204" pitchFamily="34" charset="-122"/>
                <a:ea typeface="微软雅黑" panose="020B0503020204020204" pitchFamily="34" charset="-122"/>
              </a:rPr>
              <a:t>reinforcement learning</a:t>
            </a:r>
            <a:r>
              <a:rPr lang="zh-CN" altLang="en-US" dirty="0">
                <a:latin typeface="微软雅黑" panose="020B0503020204020204" pitchFamily="34" charset="-122"/>
                <a:ea typeface="微软雅黑" panose="020B0503020204020204" pitchFamily="34" charset="-122"/>
              </a:rPr>
              <a:t>）</a:t>
            </a:r>
          </a:p>
        </p:txBody>
      </p:sp>
      <p:sp>
        <p:nvSpPr>
          <p:cNvPr id="8" name="页脚占位符 2">
            <a:extLst>
              <a:ext uri="{FF2B5EF4-FFF2-40B4-BE49-F238E27FC236}">
                <a16:creationId xmlns:a16="http://schemas.microsoft.com/office/drawing/2014/main" id="{6B016646-6417-4DA2-93FF-4FB0861C1B0A}"/>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Tree>
    <p:extLst>
      <p:ext uri="{BB962C8B-B14F-4D97-AF65-F5344CB8AC3E}">
        <p14:creationId xmlns:p14="http://schemas.microsoft.com/office/powerpoint/2010/main" val="4122667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11</a:t>
            </a:fld>
            <a:endParaRPr lang="en-US" altLang="zh-CN"/>
          </a:p>
        </p:txBody>
      </p:sp>
      <p:sp>
        <p:nvSpPr>
          <p:cNvPr id="13" name="标题 1">
            <a:extLst>
              <a:ext uri="{FF2B5EF4-FFF2-40B4-BE49-F238E27FC236}">
                <a16:creationId xmlns:a16="http://schemas.microsoft.com/office/drawing/2014/main" id="{5607F18F-699A-4F7F-A2ED-BD80B7B267C8}"/>
              </a:ext>
            </a:extLst>
          </p:cNvPr>
          <p:cNvSpPr>
            <a:spLocks noGrp="1"/>
          </p:cNvSpPr>
          <p:nvPr>
            <p:ph type="title"/>
          </p:nvPr>
        </p:nvSpPr>
        <p:spPr>
          <a:xfrm>
            <a:off x="203253" y="376219"/>
            <a:ext cx="8229600" cy="990600"/>
          </a:xfrm>
        </p:spPr>
        <p:txBody>
          <a:bodyPr/>
          <a:lstStyle/>
          <a:p>
            <a:r>
              <a:rPr lang="en-US" altLang="zh-CN" dirty="0">
                <a:latin typeface="微软雅黑" panose="020B0503020204020204" pitchFamily="34" charset="-122"/>
                <a:ea typeface="微软雅黑" panose="020B0503020204020204" pitchFamily="34" charset="-122"/>
                <a:cs typeface="Times New Roman" panose="02020603050405020304" pitchFamily="18" charset="0"/>
              </a:rPr>
              <a:t>2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机器学习的主要任务</a:t>
            </a:r>
          </a:p>
        </p:txBody>
      </p:sp>
      <p:sp>
        <p:nvSpPr>
          <p:cNvPr id="14" name="内容占位符 2">
            <a:extLst>
              <a:ext uri="{FF2B5EF4-FFF2-40B4-BE49-F238E27FC236}">
                <a16:creationId xmlns:a16="http://schemas.microsoft.com/office/drawing/2014/main" id="{D53E8302-9586-421A-84F3-019752B5E77E}"/>
              </a:ext>
            </a:extLst>
          </p:cNvPr>
          <p:cNvSpPr>
            <a:spLocks noGrp="1"/>
          </p:cNvSpPr>
          <p:nvPr>
            <p:ph idx="1"/>
          </p:nvPr>
        </p:nvSpPr>
        <p:spPr>
          <a:xfrm>
            <a:off x="330226" y="4436770"/>
            <a:ext cx="8299050" cy="1802205"/>
          </a:xfrm>
        </p:spPr>
        <p:txBody>
          <a:bodyPr/>
          <a:lstStyle/>
          <a:p>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回归问题</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分类问题</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聚类问题</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降维问题</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文本框 3"/>
          <p:cNvSpPr txBox="1"/>
          <p:nvPr/>
        </p:nvSpPr>
        <p:spPr>
          <a:xfrm>
            <a:off x="203253" y="1366819"/>
            <a:ext cx="8552997" cy="2951898"/>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根据训练数据是否有标签，学习任务被大致划分为两类，监督学习和无监督学习。监督学习旨在分析输入变量和输出变量之间的关系，构建模型找出两者之间的变化规律，若输出变量是连续的，那么这类学习任务被称为回归（</a:t>
            </a:r>
            <a:r>
              <a:rPr lang="en-US" altLang="zh-CN" dirty="0">
                <a:latin typeface="微软雅黑" panose="020B0503020204020204" pitchFamily="34" charset="-122"/>
                <a:ea typeface="微软雅黑" panose="020B0503020204020204" pitchFamily="34" charset="-122"/>
              </a:rPr>
              <a:t>regression</a:t>
            </a:r>
            <a:r>
              <a:rPr lang="zh-CN" altLang="en-US" dirty="0">
                <a:latin typeface="微软雅黑" panose="020B0503020204020204" pitchFamily="34" charset="-122"/>
                <a:ea typeface="微软雅黑" panose="020B0503020204020204" pitchFamily="34" charset="-122"/>
              </a:rPr>
              <a:t>），如果输出变量为离散的，那么这一学习任务就是一个分类（</a:t>
            </a:r>
            <a:r>
              <a:rPr lang="en-US" altLang="zh-CN" dirty="0">
                <a:latin typeface="微软雅黑" panose="020B0503020204020204" pitchFamily="34" charset="-122"/>
                <a:ea typeface="微软雅黑" panose="020B0503020204020204" pitchFamily="34" charset="-122"/>
              </a:rPr>
              <a:t>classification</a:t>
            </a:r>
            <a:r>
              <a:rPr lang="zh-CN" altLang="en-US" dirty="0">
                <a:latin typeface="微软雅黑" panose="020B0503020204020204" pitchFamily="34" charset="-122"/>
                <a:ea typeface="微软雅黑" panose="020B0503020204020204" pitchFamily="34" charset="-122"/>
              </a:rPr>
              <a:t>）问题。</a:t>
            </a:r>
            <a:endParaRPr lang="en-US" altLang="zh-CN" dirty="0">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无监督学习通过未标注数据来揭示数据的内在规律和性质，无监督学习主要包括聚类（</a:t>
            </a:r>
            <a:r>
              <a:rPr lang="en-US" altLang="zh-CN" dirty="0">
                <a:latin typeface="微软雅黑" panose="020B0503020204020204" pitchFamily="34" charset="-122"/>
                <a:ea typeface="微软雅黑" panose="020B0503020204020204" pitchFamily="34" charset="-122"/>
              </a:rPr>
              <a:t>clustering</a:t>
            </a:r>
            <a:r>
              <a:rPr lang="zh-CN" altLang="en-US" dirty="0">
                <a:latin typeface="微软雅黑" panose="020B0503020204020204" pitchFamily="34" charset="-122"/>
                <a:ea typeface="微软雅黑" panose="020B0503020204020204" pitchFamily="34" charset="-122"/>
              </a:rPr>
              <a:t>）和降维（</a:t>
            </a:r>
            <a:r>
              <a:rPr lang="en-US" altLang="zh-CN" dirty="0">
                <a:latin typeface="微软雅黑" panose="020B0503020204020204" pitchFamily="34" charset="-122"/>
                <a:ea typeface="微软雅黑" panose="020B0503020204020204" pitchFamily="34" charset="-122"/>
              </a:rPr>
              <a:t>dimension reduction</a:t>
            </a:r>
            <a:r>
              <a:rPr lang="zh-CN" altLang="en-US" dirty="0">
                <a:latin typeface="微软雅黑" panose="020B0503020204020204" pitchFamily="34" charset="-122"/>
                <a:ea typeface="微软雅黑" panose="020B0503020204020204" pitchFamily="34" charset="-122"/>
              </a:rPr>
              <a:t>）问题</a:t>
            </a:r>
          </a:p>
        </p:txBody>
      </p:sp>
      <p:sp>
        <p:nvSpPr>
          <p:cNvPr id="8" name="页脚占位符 2">
            <a:extLst>
              <a:ext uri="{FF2B5EF4-FFF2-40B4-BE49-F238E27FC236}">
                <a16:creationId xmlns:a16="http://schemas.microsoft.com/office/drawing/2014/main" id="{D5AA75A4-28C6-4DE5-9D06-9C3D0F44F4BC}"/>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Tree>
    <p:extLst>
      <p:ext uri="{BB962C8B-B14F-4D97-AF65-F5344CB8AC3E}">
        <p14:creationId xmlns:p14="http://schemas.microsoft.com/office/powerpoint/2010/main" val="793985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12</a:t>
            </a:fld>
            <a:endParaRPr lang="en-US" altLang="zh-CN"/>
          </a:p>
        </p:txBody>
      </p:sp>
      <p:sp>
        <p:nvSpPr>
          <p:cNvPr id="10" name="矩形 9"/>
          <p:cNvSpPr/>
          <p:nvPr/>
        </p:nvSpPr>
        <p:spPr>
          <a:xfrm>
            <a:off x="311972" y="583479"/>
            <a:ext cx="5717689" cy="523220"/>
          </a:xfrm>
          <a:prstGeom prst="rect">
            <a:avLst/>
          </a:prstGeom>
        </p:spPr>
        <p:txBody>
          <a:bodyPr wrap="square">
            <a:spAutoFit/>
          </a:bodyPr>
          <a:lstStyle/>
          <a:p>
            <a:pPr marL="571500" indent="-571500">
              <a:buFont typeface="Wingdings" panose="05000000000000000000" pitchFamily="2" charset="2"/>
              <a:buChar char="p"/>
            </a:pPr>
            <a:r>
              <a:rPr lang="zh-CN" altLang="en-US" sz="2800" dirty="0">
                <a:solidFill>
                  <a:srgbClr val="1F497D"/>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回归问题</a:t>
            </a:r>
            <a:endParaRPr lang="zh-CN" altLang="en-US" sz="1200" dirty="0"/>
          </a:p>
        </p:txBody>
      </p:sp>
      <mc:AlternateContent xmlns:mc="http://schemas.openxmlformats.org/markup-compatibility/2006" xmlns:a14="http://schemas.microsoft.com/office/drawing/2010/main">
        <mc:Choice Requires="a14">
          <p:sp>
            <p:nvSpPr>
              <p:cNvPr id="11" name="矩形 10"/>
              <p:cNvSpPr/>
              <p:nvPr/>
            </p:nvSpPr>
            <p:spPr>
              <a:xfrm>
                <a:off x="311972" y="1179936"/>
                <a:ext cx="8670663" cy="1705403"/>
              </a:xfrm>
              <a:prstGeom prst="rect">
                <a:avLst/>
              </a:prstGeom>
            </p:spPr>
            <p:txBody>
              <a:bodyPr wrap="square">
                <a:spAutoFit/>
              </a:bodyPr>
              <a:lstStyle/>
              <a:p>
                <a:pPr>
                  <a:lnSpc>
                    <a:spcPct val="150000"/>
                  </a:lnSpc>
                </a:pPr>
                <a:r>
                  <a:rPr lang="zh-CN" altLang="en-US" dirty="0">
                    <a:latin typeface="微软雅黑" panose="020B0503020204020204" pitchFamily="34" charset="-122"/>
                    <a:ea typeface="微软雅黑" panose="020B0503020204020204" pitchFamily="34" charset="-122"/>
                  </a:rPr>
                  <a:t>回归问题旨在学习输入空间</a:t>
                </a:r>
                <a14:m>
                  <m:oMath xmlns:m="http://schemas.openxmlformats.org/officeDocument/2006/math">
                    <m:r>
                      <a:rPr lang="zh-CN" altLang="en-US" i="1" smtClean="0">
                        <a:latin typeface="Cambria Math" panose="02040503050406030204" pitchFamily="18" charset="0"/>
                        <a:ea typeface="微软雅黑" panose="020B0503020204020204" pitchFamily="34" charset="-122"/>
                      </a:rPr>
                      <m:t>𝜒</m:t>
                    </m:r>
                  </m:oMath>
                </a14:m>
                <a:r>
                  <a:rPr lang="zh-CN" altLang="en-US" dirty="0">
                    <a:latin typeface="微软雅黑" panose="020B0503020204020204" pitchFamily="34" charset="-122"/>
                    <a:ea typeface="微软雅黑" panose="020B0503020204020204" pitchFamily="34" charset="-122"/>
                  </a:rPr>
                  <a:t>到输出空间</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𝑌</m:t>
                    </m:r>
                  </m:oMath>
                </a14:m>
                <a:r>
                  <a:rPr lang="zh-CN" altLang="en-US" dirty="0">
                    <a:latin typeface="微软雅黑" panose="020B0503020204020204" pitchFamily="34" charset="-122"/>
                    <a:ea typeface="微软雅黑" panose="020B0503020204020204" pitchFamily="34" charset="-122"/>
                  </a:rPr>
                  <a:t>的映射函数 </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𝑓</m:t>
                    </m:r>
                    <m:r>
                      <a:rPr lang="en-US" altLang="zh-CN" b="0" i="1" smtClean="0">
                        <a:latin typeface="Cambria Math" panose="02040503050406030204" pitchFamily="18" charset="0"/>
                        <a:ea typeface="微软雅黑" panose="020B0503020204020204" pitchFamily="34" charset="-122"/>
                      </a:rPr>
                      <m:t>:</m:t>
                    </m:r>
                    <m:r>
                      <a:rPr lang="zh-CN" altLang="en-US" b="0" i="1" smtClean="0">
                        <a:latin typeface="Cambria Math" panose="02040503050406030204" pitchFamily="18" charset="0"/>
                        <a:ea typeface="微软雅黑" panose="020B0503020204020204" pitchFamily="34" charset="-122"/>
                      </a:rPr>
                      <m:t>𝜒</m:t>
                    </m:r>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𝑌</m:t>
                    </m:r>
                  </m:oMath>
                </a14:m>
                <a:r>
                  <a:rPr lang="zh-CN" altLang="en-US" dirty="0">
                    <a:latin typeface="微软雅黑" panose="020B0503020204020204" pitchFamily="34" charset="-122"/>
                    <a:ea typeface="微软雅黑" panose="020B0503020204020204" pitchFamily="34" charset="-122"/>
                  </a:rPr>
                  <a:t>。这个“学习”过程被称为“回归”或“拟合”，即选择一条直线或曲线</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𝑦</m:t>
                    </m:r>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𝑓</m:t>
                    </m:r>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𝑥</m:t>
                    </m:r>
                    <m:r>
                      <a:rPr lang="en-US" altLang="zh-CN" b="0" i="1" smtClean="0">
                        <a:latin typeface="Cambria Math" panose="02040503050406030204" pitchFamily="18" charset="0"/>
                        <a:ea typeface="微软雅黑" panose="020B0503020204020204" pitchFamily="34" charset="-122"/>
                      </a:rPr>
                      <m:t>)</m:t>
                    </m:r>
                  </m:oMath>
                </a14:m>
                <a:r>
                  <a:rPr lang="zh-CN" altLang="en-US" dirty="0">
                    <a:latin typeface="微软雅黑" panose="020B0503020204020204" pitchFamily="34" charset="-122"/>
                    <a:ea typeface="微软雅黑" panose="020B0503020204020204" pitchFamily="34" charset="-122"/>
                  </a:rPr>
                  <a:t>逼近已知数据，从而预测未知数据。按照输入变量的个数，回归问题可划分为一元回归和多元回归；而按照模型的类型，又可分为线性回归和非线性回归</a:t>
                </a:r>
              </a:p>
            </p:txBody>
          </p:sp>
        </mc:Choice>
        <mc:Fallback xmlns="">
          <p:sp>
            <p:nvSpPr>
              <p:cNvPr id="11" name="矩形 10"/>
              <p:cNvSpPr>
                <a:spLocks noRot="1" noChangeAspect="1" noMove="1" noResize="1" noEditPoints="1" noAdjustHandles="1" noChangeArrowheads="1" noChangeShapeType="1" noTextEdit="1"/>
              </p:cNvSpPr>
              <p:nvPr/>
            </p:nvSpPr>
            <p:spPr>
              <a:xfrm>
                <a:off x="311972" y="1179936"/>
                <a:ext cx="8670663" cy="1705403"/>
              </a:xfrm>
              <a:prstGeom prst="rect">
                <a:avLst/>
              </a:prstGeom>
              <a:blipFill>
                <a:blip r:embed="rId2"/>
                <a:stretch>
                  <a:fillRect l="-562" r="-492" b="-5018"/>
                </a:stretch>
              </a:blipFill>
            </p:spPr>
            <p:txBody>
              <a:bodyPr/>
              <a:lstStyle/>
              <a:p>
                <a:r>
                  <a:rPr lang="zh-CN" altLang="en-US">
                    <a:noFill/>
                  </a:rPr>
                  <a:t> </a:t>
                </a:r>
              </a:p>
            </p:txBody>
          </p:sp>
        </mc:Fallback>
      </mc:AlternateContent>
      <p:sp>
        <p:nvSpPr>
          <p:cNvPr id="9" name="页脚占位符 2">
            <a:extLst>
              <a:ext uri="{FF2B5EF4-FFF2-40B4-BE49-F238E27FC236}">
                <a16:creationId xmlns:a16="http://schemas.microsoft.com/office/drawing/2014/main" id="{0640474C-D343-4FFC-A3FE-CF4EB98D7BA9}"/>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
        <p:nvSpPr>
          <p:cNvPr id="3" name="文本框 2">
            <a:extLst>
              <a:ext uri="{FF2B5EF4-FFF2-40B4-BE49-F238E27FC236}">
                <a16:creationId xmlns:a16="http://schemas.microsoft.com/office/drawing/2014/main" id="{A1323BE1-EC90-4629-8188-14C718734D3D}"/>
              </a:ext>
            </a:extLst>
          </p:cNvPr>
          <p:cNvSpPr txBox="1"/>
          <p:nvPr/>
        </p:nvSpPr>
        <p:spPr>
          <a:xfrm>
            <a:off x="267498" y="3077691"/>
            <a:ext cx="8609004" cy="1289905"/>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在食品领域，一些红酒厂商根据红酒的酸性、含糖量、氯化物含量、</a:t>
            </a:r>
            <a:r>
              <a:rPr lang="en-US" altLang="zh-CN" dirty="0">
                <a:latin typeface="微软雅黑" panose="020B0503020204020204" pitchFamily="34" charset="-122"/>
                <a:ea typeface="微软雅黑" panose="020B0503020204020204" pitchFamily="34" charset="-122"/>
              </a:rPr>
              <a:t>PH</a:t>
            </a:r>
            <a:r>
              <a:rPr lang="zh-CN" altLang="en-US" dirty="0">
                <a:latin typeface="微软雅黑" panose="020B0503020204020204" pitchFamily="34" charset="-122"/>
                <a:ea typeface="微软雅黑" panose="020B0503020204020204" pitchFamily="34" charset="-122"/>
              </a:rPr>
              <a:t>值、密度等信息，建立回归算法，对红酒品质进行把控；在交通领域，回归算法可以用于预测交通流量</a:t>
            </a:r>
          </a:p>
        </p:txBody>
      </p:sp>
      <p:grpSp>
        <p:nvGrpSpPr>
          <p:cNvPr id="6" name="组合 5">
            <a:extLst>
              <a:ext uri="{FF2B5EF4-FFF2-40B4-BE49-F238E27FC236}">
                <a16:creationId xmlns:a16="http://schemas.microsoft.com/office/drawing/2014/main" id="{E8DD97A3-9CDD-4AF9-A047-E22FA9DEABC1}"/>
              </a:ext>
            </a:extLst>
          </p:cNvPr>
          <p:cNvGrpSpPr/>
          <p:nvPr/>
        </p:nvGrpSpPr>
        <p:grpSpPr>
          <a:xfrm>
            <a:off x="2893460" y="4081579"/>
            <a:ext cx="4233436" cy="2757371"/>
            <a:chOff x="1991334" y="3937688"/>
            <a:chExt cx="4233436" cy="2757371"/>
          </a:xfrm>
        </p:grpSpPr>
        <p:pic>
          <p:nvPicPr>
            <p:cNvPr id="4" name="图片 3">
              <a:extLst>
                <a:ext uri="{FF2B5EF4-FFF2-40B4-BE49-F238E27FC236}">
                  <a16:creationId xmlns:a16="http://schemas.microsoft.com/office/drawing/2014/main" id="{4D4D413F-DACD-4DA3-8C4D-D3D5F3D9253C}"/>
                </a:ext>
              </a:extLst>
            </p:cNvPr>
            <p:cNvPicPr>
              <a:picLocks noChangeAspect="1"/>
            </p:cNvPicPr>
            <p:nvPr/>
          </p:nvPicPr>
          <p:blipFill>
            <a:blip r:embed="rId3"/>
            <a:stretch>
              <a:fillRect/>
            </a:stretch>
          </p:blipFill>
          <p:spPr>
            <a:xfrm>
              <a:off x="1991334" y="3937688"/>
              <a:ext cx="4233436" cy="2757371"/>
            </a:xfrm>
            <a:prstGeom prst="rect">
              <a:avLst/>
            </a:prstGeom>
          </p:spPr>
        </p:pic>
        <p:sp>
          <p:nvSpPr>
            <p:cNvPr id="5" name="矩形 4">
              <a:extLst>
                <a:ext uri="{FF2B5EF4-FFF2-40B4-BE49-F238E27FC236}">
                  <a16:creationId xmlns:a16="http://schemas.microsoft.com/office/drawing/2014/main" id="{5920BC06-B7F7-4569-A94D-66DCFDAFFD95}"/>
                </a:ext>
              </a:extLst>
            </p:cNvPr>
            <p:cNvSpPr/>
            <p:nvPr/>
          </p:nvSpPr>
          <p:spPr>
            <a:xfrm rot="254167">
              <a:off x="5059441" y="5949552"/>
              <a:ext cx="1118649" cy="325236"/>
            </a:xfrm>
            <a:prstGeom prst="rect">
              <a:avLst/>
            </a:prstGeom>
            <a:solidFill>
              <a:srgbClr val="F4F5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8939722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13</a:t>
            </a:fld>
            <a:endParaRPr lang="en-US" altLang="zh-CN"/>
          </a:p>
        </p:txBody>
      </p:sp>
      <p:sp>
        <p:nvSpPr>
          <p:cNvPr id="15" name="矩形 14"/>
          <p:cNvSpPr/>
          <p:nvPr/>
        </p:nvSpPr>
        <p:spPr>
          <a:xfrm>
            <a:off x="267367" y="700702"/>
            <a:ext cx="5717689" cy="523220"/>
          </a:xfrm>
          <a:prstGeom prst="rect">
            <a:avLst/>
          </a:prstGeom>
        </p:spPr>
        <p:txBody>
          <a:bodyPr wrap="square">
            <a:spAutoFit/>
          </a:bodyPr>
          <a:lstStyle/>
          <a:p>
            <a:pPr marL="571500" indent="-571500">
              <a:buFont typeface="Wingdings" panose="05000000000000000000" pitchFamily="2" charset="2"/>
              <a:buChar char="p"/>
            </a:pPr>
            <a:r>
              <a:rPr lang="zh-CN" altLang="en-US" sz="2800" dirty="0">
                <a:solidFill>
                  <a:srgbClr val="1F497D"/>
                </a:solidFill>
                <a:latin typeface="微软雅黑" panose="020B0503020204020204" pitchFamily="34" charset="-122"/>
                <a:ea typeface="微软雅黑" panose="020B0503020204020204" pitchFamily="34" charset="-122"/>
                <a:cs typeface="Times New Roman" panose="02020603050405020304" pitchFamily="18" charset="0"/>
              </a:rPr>
              <a:t>分类问题</a:t>
            </a:r>
          </a:p>
        </p:txBody>
      </p:sp>
      <mc:AlternateContent xmlns:mc="http://schemas.openxmlformats.org/markup-compatibility/2006" xmlns:a14="http://schemas.microsoft.com/office/drawing/2010/main">
        <mc:Choice Requires="a14">
          <p:sp>
            <p:nvSpPr>
              <p:cNvPr id="16" name="矩形 15"/>
              <p:cNvSpPr/>
              <p:nvPr/>
            </p:nvSpPr>
            <p:spPr>
              <a:xfrm>
                <a:off x="85587" y="1377321"/>
                <a:ext cx="8670663" cy="874407"/>
              </a:xfrm>
              <a:prstGeom prst="rect">
                <a:avLst/>
              </a:prstGeom>
            </p:spPr>
            <p:txBody>
              <a:bodyPr wrap="square">
                <a:spAutoFit/>
              </a:bodyPr>
              <a:lstStyle/>
              <a:p>
                <a:pPr>
                  <a:lnSpc>
                    <a:spcPct val="150000"/>
                  </a:lnSpc>
                </a:pPr>
                <a:r>
                  <a:rPr lang="zh-CN" altLang="en-US" dirty="0">
                    <a:latin typeface="微软雅黑" panose="020B0503020204020204" pitchFamily="34" charset="-122"/>
                    <a:ea typeface="微软雅黑" panose="020B0503020204020204" pitchFamily="34" charset="-122"/>
                  </a:rPr>
                  <a:t>分类问题旨在通过已有数据</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𝑥</m:t>
                    </m:r>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𝑦</m:t>
                    </m:r>
                    <m:r>
                      <a:rPr lang="en-US" altLang="zh-CN" b="0" i="1" smtClean="0">
                        <a:latin typeface="Cambria Math" panose="02040503050406030204" pitchFamily="18" charset="0"/>
                        <a:ea typeface="微软雅黑" panose="020B0503020204020204" pitchFamily="34" charset="-122"/>
                      </a:rPr>
                      <m:t>)</m:t>
                    </m:r>
                  </m:oMath>
                </a14:m>
                <a:r>
                  <a:rPr lang="zh-CN" altLang="en-US" dirty="0">
                    <a:latin typeface="微软雅黑" panose="020B0503020204020204" pitchFamily="34" charset="-122"/>
                    <a:ea typeface="微软雅黑" panose="020B0503020204020204" pitchFamily="34" charset="-122"/>
                  </a:rPr>
                  <a:t>来构建学习器，从而能对新的输入数据</a:t>
                </a:r>
                <a14:m>
                  <m:oMath xmlns:m="http://schemas.openxmlformats.org/officeDocument/2006/math">
                    <m:acc>
                      <m:accPr>
                        <m:chr m:val="̅"/>
                        <m:ctrlPr>
                          <a:rPr lang="zh-CN" altLang="en-US"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𝑥</m:t>
                        </m:r>
                      </m:e>
                    </m:acc>
                  </m:oMath>
                </a14:m>
                <a:r>
                  <a:rPr lang="zh-CN" altLang="en-US" dirty="0">
                    <a:latin typeface="微软雅黑" panose="020B0503020204020204" pitchFamily="34" charset="-122"/>
                    <a:ea typeface="微软雅黑" panose="020B0503020204020204" pitchFamily="34" charset="-122"/>
                  </a:rPr>
                  <a:t>精准地预测出其正确的分类</a:t>
                </a:r>
                <a14:m>
                  <m:oMath xmlns:m="http://schemas.openxmlformats.org/officeDocument/2006/math">
                    <m:acc>
                      <m:accPr>
                        <m:chr m:val="̅"/>
                        <m:ctrlPr>
                          <a:rPr lang="zh-CN" altLang="en-US" i="1">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𝑦</m:t>
                        </m:r>
                      </m:e>
                    </m:acc>
                    <m:r>
                      <a:rPr lang="zh-CN" altLang="en-US" i="1" smtClean="0">
                        <a:latin typeface="Cambria Math" panose="02040503050406030204" pitchFamily="18" charset="0"/>
                        <a:ea typeface="微软雅黑" panose="020B0503020204020204" pitchFamily="34" charset="-122"/>
                      </a:rPr>
                      <m:t>。</m:t>
                    </m:r>
                  </m:oMath>
                </a14:m>
                <a:r>
                  <a:rPr lang="zh-CN" altLang="en-US" dirty="0">
                    <a:latin typeface="微软雅黑" panose="020B0503020204020204" pitchFamily="34" charset="-122"/>
                    <a:ea typeface="微软雅黑" panose="020B0503020204020204" pitchFamily="34" charset="-122"/>
                  </a:rPr>
                  <a:t>这里的学习器也被称为分类模型、分类决策模型、分类器。</a:t>
                </a:r>
              </a:p>
            </p:txBody>
          </p:sp>
        </mc:Choice>
        <mc:Fallback xmlns="">
          <p:sp>
            <p:nvSpPr>
              <p:cNvPr id="16" name="矩形 15"/>
              <p:cNvSpPr>
                <a:spLocks noRot="1" noChangeAspect="1" noMove="1" noResize="1" noEditPoints="1" noAdjustHandles="1" noChangeArrowheads="1" noChangeShapeType="1" noTextEdit="1"/>
              </p:cNvSpPr>
              <p:nvPr/>
            </p:nvSpPr>
            <p:spPr>
              <a:xfrm>
                <a:off x="85587" y="1377321"/>
                <a:ext cx="8670663" cy="874407"/>
              </a:xfrm>
              <a:prstGeom prst="rect">
                <a:avLst/>
              </a:prstGeom>
              <a:blipFill>
                <a:blip r:embed="rId2"/>
                <a:stretch>
                  <a:fillRect l="-563" r="-281" b="-10490"/>
                </a:stretch>
              </a:blipFill>
            </p:spPr>
            <p:txBody>
              <a:bodyPr/>
              <a:lstStyle/>
              <a:p>
                <a:r>
                  <a:rPr lang="zh-CN" altLang="en-US">
                    <a:noFill/>
                  </a:rPr>
                  <a:t> </a:t>
                </a:r>
              </a:p>
            </p:txBody>
          </p:sp>
        </mc:Fallback>
      </mc:AlternateContent>
      <p:sp>
        <p:nvSpPr>
          <p:cNvPr id="9" name="页脚占位符 2">
            <a:extLst>
              <a:ext uri="{FF2B5EF4-FFF2-40B4-BE49-F238E27FC236}">
                <a16:creationId xmlns:a16="http://schemas.microsoft.com/office/drawing/2014/main" id="{0640474C-D343-4FFC-A3FE-CF4EB98D7BA9}"/>
              </a:ext>
            </a:extLst>
          </p:cNvPr>
          <p:cNvSpPr>
            <a:spLocks noGrp="1"/>
          </p:cNvSpPr>
          <p:nvPr>
            <p:ph type="ftr" sz="quarter" idx="11"/>
          </p:nvPr>
        </p:nvSpPr>
        <p:spPr>
          <a:xfrm>
            <a:off x="3808905" y="19050"/>
            <a:ext cx="4831731" cy="328613"/>
          </a:xfrm>
        </p:spPr>
        <p:txBody>
          <a:bodyPr/>
          <a:lstStyle/>
          <a:p>
            <a:pPr algn="r">
              <a:defRPr/>
            </a:pPr>
            <a:r>
              <a:rPr lang="zh-CN" altLang="en-US" dirty="0"/>
              <a:t>交通大数据 东南大学 刘志远教授</a:t>
            </a:r>
            <a:endParaRPr lang="en-US" altLang="zh-CN" dirty="0"/>
          </a:p>
        </p:txBody>
      </p:sp>
      <p:sp>
        <p:nvSpPr>
          <p:cNvPr id="13" name="文本框 12">
            <a:extLst>
              <a:ext uri="{FF2B5EF4-FFF2-40B4-BE49-F238E27FC236}">
                <a16:creationId xmlns:a16="http://schemas.microsoft.com/office/drawing/2014/main" id="{68BC7B0D-E9BE-4815-BFEC-797832C6CC8C}"/>
              </a:ext>
            </a:extLst>
          </p:cNvPr>
          <p:cNvSpPr txBox="1"/>
          <p:nvPr/>
        </p:nvSpPr>
        <p:spPr>
          <a:xfrm>
            <a:off x="162560" y="2405127"/>
            <a:ext cx="8546542" cy="1289905"/>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交通领域分类算法常用于识别交通拥堵状态，识别交通风险点等；在电商平台，分类算法被应用于电商优惠券发放、客户分类、广告推送等；在医学上，分类算法越来越多地被应用于肿瘤识别、自动化疾病监测等方面</a:t>
            </a:r>
          </a:p>
        </p:txBody>
      </p:sp>
      <p:pic>
        <p:nvPicPr>
          <p:cNvPr id="3" name="图片 2">
            <a:extLst>
              <a:ext uri="{FF2B5EF4-FFF2-40B4-BE49-F238E27FC236}">
                <a16:creationId xmlns:a16="http://schemas.microsoft.com/office/drawing/2014/main" id="{6C527E65-BEC8-4C1E-BC87-09E87FB0B0B0}"/>
              </a:ext>
            </a:extLst>
          </p:cNvPr>
          <p:cNvPicPr>
            <a:picLocks noChangeAspect="1"/>
          </p:cNvPicPr>
          <p:nvPr/>
        </p:nvPicPr>
        <p:blipFill rotWithShape="1">
          <a:blip r:embed="rId3"/>
          <a:srcRect t="3280" b="28486"/>
          <a:stretch/>
        </p:blipFill>
        <p:spPr>
          <a:xfrm>
            <a:off x="5669281" y="3429000"/>
            <a:ext cx="2334863" cy="3316321"/>
          </a:xfrm>
          <a:prstGeom prst="rect">
            <a:avLst/>
          </a:prstGeom>
        </p:spPr>
      </p:pic>
      <p:pic>
        <p:nvPicPr>
          <p:cNvPr id="4" name="图片 3">
            <a:extLst>
              <a:ext uri="{FF2B5EF4-FFF2-40B4-BE49-F238E27FC236}">
                <a16:creationId xmlns:a16="http://schemas.microsoft.com/office/drawing/2014/main" id="{4A909C9D-7846-4E0E-965C-C0CF90209DE6}"/>
              </a:ext>
            </a:extLst>
          </p:cNvPr>
          <p:cNvPicPr>
            <a:picLocks noChangeAspect="1"/>
          </p:cNvPicPr>
          <p:nvPr/>
        </p:nvPicPr>
        <p:blipFill>
          <a:blip r:embed="rId4"/>
          <a:stretch>
            <a:fillRect/>
          </a:stretch>
        </p:blipFill>
        <p:spPr>
          <a:xfrm>
            <a:off x="960660" y="3773786"/>
            <a:ext cx="2975933" cy="2910384"/>
          </a:xfrm>
          <a:prstGeom prst="rect">
            <a:avLst/>
          </a:prstGeom>
        </p:spPr>
      </p:pic>
    </p:spTree>
    <p:extLst>
      <p:ext uri="{BB962C8B-B14F-4D97-AF65-F5344CB8AC3E}">
        <p14:creationId xmlns:p14="http://schemas.microsoft.com/office/powerpoint/2010/main" val="12276101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14</a:t>
            </a:fld>
            <a:endParaRPr lang="en-US" altLang="zh-CN"/>
          </a:p>
        </p:txBody>
      </p:sp>
      <p:sp>
        <p:nvSpPr>
          <p:cNvPr id="15" name="矩形 14"/>
          <p:cNvSpPr/>
          <p:nvPr/>
        </p:nvSpPr>
        <p:spPr>
          <a:xfrm>
            <a:off x="267367" y="700702"/>
            <a:ext cx="5717689" cy="523220"/>
          </a:xfrm>
          <a:prstGeom prst="rect">
            <a:avLst/>
          </a:prstGeom>
        </p:spPr>
        <p:txBody>
          <a:bodyPr wrap="square">
            <a:spAutoFit/>
          </a:bodyPr>
          <a:lstStyle/>
          <a:p>
            <a:r>
              <a:rPr lang="zh-CN" altLang="en-US" sz="2800" dirty="0">
                <a:solidFill>
                  <a:srgbClr val="1F497D"/>
                </a:solidFill>
                <a:latin typeface="微软雅黑" panose="020B0503020204020204" pitchFamily="34" charset="-122"/>
                <a:ea typeface="微软雅黑" panose="020B0503020204020204" pitchFamily="34" charset="-122"/>
                <a:cs typeface="Times New Roman" panose="02020603050405020304" pitchFamily="18" charset="0"/>
              </a:rPr>
              <a:t>回归问题 </a:t>
            </a:r>
            <a:r>
              <a:rPr lang="en-US" altLang="zh-CN" sz="2800" dirty="0">
                <a:solidFill>
                  <a:srgbClr val="1F497D"/>
                </a:solidFill>
                <a:latin typeface="微软雅黑" panose="020B0503020204020204" pitchFamily="34" charset="-122"/>
                <a:ea typeface="微软雅黑" panose="020B0503020204020204" pitchFamily="34" charset="-122"/>
                <a:cs typeface="Times New Roman" panose="02020603050405020304" pitchFamily="18" charset="0"/>
              </a:rPr>
              <a:t>VS </a:t>
            </a:r>
            <a:r>
              <a:rPr lang="zh-CN" altLang="en-US" sz="2800" dirty="0">
                <a:solidFill>
                  <a:srgbClr val="1F497D"/>
                </a:solidFill>
                <a:latin typeface="微软雅黑" panose="020B0503020204020204" pitchFamily="34" charset="-122"/>
                <a:ea typeface="微软雅黑" panose="020B0503020204020204" pitchFamily="34" charset="-122"/>
                <a:cs typeface="Times New Roman" panose="02020603050405020304" pitchFamily="18" charset="0"/>
              </a:rPr>
              <a:t>分类问题</a:t>
            </a:r>
          </a:p>
        </p:txBody>
      </p:sp>
      <p:sp>
        <p:nvSpPr>
          <p:cNvPr id="9" name="页脚占位符 2">
            <a:extLst>
              <a:ext uri="{FF2B5EF4-FFF2-40B4-BE49-F238E27FC236}">
                <a16:creationId xmlns:a16="http://schemas.microsoft.com/office/drawing/2014/main" id="{0640474C-D343-4FFC-A3FE-CF4EB98D7BA9}"/>
              </a:ext>
            </a:extLst>
          </p:cNvPr>
          <p:cNvSpPr>
            <a:spLocks noGrp="1"/>
          </p:cNvSpPr>
          <p:nvPr>
            <p:ph type="ftr" sz="quarter" idx="11"/>
          </p:nvPr>
        </p:nvSpPr>
        <p:spPr>
          <a:xfrm>
            <a:off x="3808905" y="19050"/>
            <a:ext cx="4831731" cy="328613"/>
          </a:xfrm>
        </p:spPr>
        <p:txBody>
          <a:bodyPr/>
          <a:lstStyle/>
          <a:p>
            <a:pPr algn="r">
              <a:defRPr/>
            </a:pPr>
            <a:r>
              <a:rPr lang="zh-CN" altLang="en-US" dirty="0"/>
              <a:t>交通大数据 东南大学 刘志远教授</a:t>
            </a:r>
            <a:endParaRPr lang="en-US" altLang="zh-CN" dirty="0"/>
          </a:p>
        </p:txBody>
      </p:sp>
      <p:sp>
        <p:nvSpPr>
          <p:cNvPr id="5" name="文本框 4">
            <a:extLst>
              <a:ext uri="{FF2B5EF4-FFF2-40B4-BE49-F238E27FC236}">
                <a16:creationId xmlns:a16="http://schemas.microsoft.com/office/drawing/2014/main" id="{0C37AA78-8AD3-4A96-9A30-38D15BADCE93}"/>
              </a:ext>
            </a:extLst>
          </p:cNvPr>
          <p:cNvSpPr txBox="1"/>
          <p:nvPr/>
        </p:nvSpPr>
        <p:spPr>
          <a:xfrm>
            <a:off x="224681" y="1551867"/>
            <a:ext cx="8531569" cy="1135054"/>
          </a:xfrm>
          <a:prstGeom prst="rect">
            <a:avLst/>
          </a:prstGeom>
          <a:noFill/>
        </p:spPr>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回归问题与分类问题本质区别在于哪里？我们能否将回归问题与分类问题相互转化？（例如回归方法结合阈值处理分类问题）</a:t>
            </a:r>
          </a:p>
        </p:txBody>
      </p:sp>
    </p:spTree>
    <p:extLst>
      <p:ext uri="{BB962C8B-B14F-4D97-AF65-F5344CB8AC3E}">
        <p14:creationId xmlns:p14="http://schemas.microsoft.com/office/powerpoint/2010/main" val="639207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15</a:t>
            </a:fld>
            <a:endParaRPr lang="en-US" altLang="zh-CN"/>
          </a:p>
        </p:txBody>
      </p:sp>
      <p:sp>
        <p:nvSpPr>
          <p:cNvPr id="9" name="矩形 8"/>
          <p:cNvSpPr/>
          <p:nvPr/>
        </p:nvSpPr>
        <p:spPr>
          <a:xfrm>
            <a:off x="311972" y="583479"/>
            <a:ext cx="5717689" cy="523220"/>
          </a:xfrm>
          <a:prstGeom prst="rect">
            <a:avLst/>
          </a:prstGeom>
        </p:spPr>
        <p:txBody>
          <a:bodyPr wrap="square">
            <a:spAutoFit/>
          </a:bodyPr>
          <a:lstStyle/>
          <a:p>
            <a:pPr marL="571500" indent="-571500">
              <a:buFont typeface="Wingdings" panose="05000000000000000000" pitchFamily="2" charset="2"/>
              <a:buChar char="p"/>
            </a:pPr>
            <a:r>
              <a:rPr lang="zh-CN" altLang="en-US" sz="2800" dirty="0">
                <a:solidFill>
                  <a:srgbClr val="1F497D"/>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聚类问题</a:t>
            </a:r>
            <a:endParaRPr lang="zh-CN" altLang="en-US" sz="1200" dirty="0"/>
          </a:p>
        </p:txBody>
      </p:sp>
      <p:sp>
        <p:nvSpPr>
          <p:cNvPr id="13" name="矩形 12"/>
          <p:cNvSpPr/>
          <p:nvPr/>
        </p:nvSpPr>
        <p:spPr>
          <a:xfrm>
            <a:off x="311972" y="1105872"/>
            <a:ext cx="8670663" cy="2885405"/>
          </a:xfrm>
          <a:prstGeom prst="rect">
            <a:avLst/>
          </a:prstGeom>
        </p:spPr>
        <p:txBody>
          <a:bodyPr wrap="square">
            <a:spAutoFit/>
          </a:bodyPr>
          <a:lstStyle/>
          <a:p>
            <a:pPr>
              <a:lnSpc>
                <a:spcPct val="150000"/>
              </a:lnSpc>
            </a:pPr>
            <a:r>
              <a:rPr lang="zh-CN" altLang="en-US" dirty="0">
                <a:latin typeface="微软雅黑" panose="020B0503020204020204" pitchFamily="34" charset="-122"/>
                <a:ea typeface="微软雅黑" panose="020B0503020204020204" pitchFamily="34" charset="-122"/>
              </a:rPr>
              <a:t>聚类是无监督学习中最典型的一类问题，它将样本集中相似的样本分配到同一类别中，从而得到了一些不同的类或簇。</a:t>
            </a:r>
            <a:r>
              <a:rPr lang="zh-CN" altLang="en-US" b="1" dirty="0">
                <a:latin typeface="微软雅黑" panose="020B0503020204020204" pitchFamily="34" charset="-122"/>
                <a:ea typeface="微软雅黑" panose="020B0503020204020204" pitchFamily="34" charset="-122"/>
              </a:rPr>
              <a:t>聚类并不要求事先给定类别，而是让模型从数据中自动学习类别划分</a:t>
            </a:r>
            <a:r>
              <a:rPr lang="zh-CN" altLang="en-US" dirty="0">
                <a:latin typeface="微软雅黑" panose="020B0503020204020204" pitchFamily="34" charset="-122"/>
                <a:ea typeface="微软雅黑" panose="020B0503020204020204" pitchFamily="34" charset="-122"/>
              </a:rPr>
              <a:t>。聚类问题可以被分为两类，硬聚类（</a:t>
            </a:r>
            <a:r>
              <a:rPr lang="en-US" altLang="zh-CN" dirty="0">
                <a:latin typeface="微软雅黑" panose="020B0503020204020204" pitchFamily="34" charset="-122"/>
                <a:ea typeface="微软雅黑" panose="020B0503020204020204" pitchFamily="34" charset="-122"/>
              </a:rPr>
              <a:t>hard clustering</a:t>
            </a:r>
            <a:r>
              <a:rPr lang="zh-CN" altLang="en-US" dirty="0">
                <a:latin typeface="微软雅黑" panose="020B0503020204020204" pitchFamily="34" charset="-122"/>
                <a:ea typeface="微软雅黑" panose="020B0503020204020204" pitchFamily="34" charset="-122"/>
              </a:rPr>
              <a:t>）和软聚类（</a:t>
            </a:r>
            <a:r>
              <a:rPr lang="en-US" altLang="zh-CN" dirty="0">
                <a:latin typeface="微软雅黑" panose="020B0503020204020204" pitchFamily="34" charset="-122"/>
                <a:ea typeface="微软雅黑" panose="020B0503020204020204" pitchFamily="34" charset="-122"/>
              </a:rPr>
              <a:t>soft clustering</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endParaRPr lang="en-US" altLang="zh-CN" sz="600" dirty="0">
              <a:latin typeface="微软雅黑" panose="020B0503020204020204" pitchFamily="34" charset="-122"/>
              <a:ea typeface="微软雅黑" panose="020B0503020204020204" pitchFamily="34" charset="-122"/>
            </a:endParaRPr>
          </a:p>
          <a:p>
            <a:r>
              <a:rPr lang="zh-CN" altLang="en-US" b="1" dirty="0">
                <a:solidFill>
                  <a:srgbClr val="1F497D"/>
                </a:solidFill>
                <a:latin typeface="微软雅黑" panose="020B0503020204020204" pitchFamily="34" charset="-122"/>
                <a:ea typeface="微软雅黑" panose="020B0503020204020204" pitchFamily="34" charset="-122"/>
                <a:cs typeface="Times New Roman" panose="02020603050405020304" pitchFamily="18" charset="0"/>
              </a:rPr>
              <a:t>硬聚类</a:t>
            </a:r>
            <a:r>
              <a:rPr lang="zh-CN" altLang="en-US" dirty="0">
                <a:latin typeface="微软雅黑" panose="020B0503020204020204" pitchFamily="34" charset="-122"/>
                <a:ea typeface="微软雅黑" panose="020B0503020204020204" pitchFamily="34" charset="-122"/>
              </a:rPr>
              <a:t>：把每一个样本确切分到某一个聚类中</a:t>
            </a:r>
            <a:endParaRPr lang="en-US" altLang="zh-CN" dirty="0">
              <a:latin typeface="微软雅黑" panose="020B0503020204020204" pitchFamily="34" charset="-122"/>
              <a:ea typeface="微软雅黑" panose="020B0503020204020204" pitchFamily="34" charset="-122"/>
            </a:endParaRPr>
          </a:p>
          <a:p>
            <a:endParaRPr lang="en-US" altLang="zh-CN" sz="1050" dirty="0">
              <a:latin typeface="微软雅黑" panose="020B0503020204020204" pitchFamily="34" charset="-122"/>
              <a:ea typeface="微软雅黑" panose="020B0503020204020204" pitchFamily="34" charset="-122"/>
            </a:endParaRPr>
          </a:p>
          <a:p>
            <a:r>
              <a:rPr lang="zh-CN" altLang="en-US" b="1" dirty="0">
                <a:solidFill>
                  <a:srgbClr val="1F497D"/>
                </a:solidFill>
                <a:latin typeface="微软雅黑" panose="020B0503020204020204" pitchFamily="34" charset="-122"/>
                <a:ea typeface="微软雅黑" panose="020B0503020204020204" pitchFamily="34" charset="-122"/>
                <a:cs typeface="Times New Roman" panose="02020603050405020304" pitchFamily="18" charset="0"/>
              </a:rPr>
              <a:t>软聚类</a:t>
            </a:r>
            <a:r>
              <a:rPr lang="zh-CN" altLang="en-US" dirty="0">
                <a:latin typeface="微软雅黑" panose="020B0503020204020204" pitchFamily="34" charset="-122"/>
                <a:ea typeface="微软雅黑" panose="020B0503020204020204" pitchFamily="34" charset="-122"/>
              </a:rPr>
              <a:t>：允许每个样本可以属于多个类，并定义数据点与各个聚类的成员水平（</a:t>
            </a:r>
            <a:r>
              <a:rPr lang="en-US" altLang="zh-CN" dirty="0">
                <a:latin typeface="微软雅黑" panose="020B0503020204020204" pitchFamily="34" charset="-122"/>
                <a:ea typeface="微软雅黑" panose="020B0503020204020204" pitchFamily="34" charset="-122"/>
              </a:rPr>
              <a:t>0-1</a:t>
            </a:r>
            <a:r>
              <a:rPr lang="zh-CN" altLang="en-US" dirty="0">
                <a:latin typeface="微软雅黑" panose="020B0503020204020204" pitchFamily="34" charset="-122"/>
                <a:ea typeface="微软雅黑" panose="020B0503020204020204" pitchFamily="34" charset="-122"/>
              </a:rPr>
              <a:t>之间的概率值，可以显示数据点与某一聚类之间联系的强弱）</a:t>
            </a:r>
          </a:p>
        </p:txBody>
      </p:sp>
      <p:pic>
        <p:nvPicPr>
          <p:cNvPr id="4" name="图片 3"/>
          <p:cNvPicPr>
            <a:picLocks noChangeAspect="1"/>
          </p:cNvPicPr>
          <p:nvPr/>
        </p:nvPicPr>
        <p:blipFill>
          <a:blip r:embed="rId2"/>
          <a:stretch>
            <a:fillRect/>
          </a:stretch>
        </p:blipFill>
        <p:spPr>
          <a:xfrm>
            <a:off x="2172680" y="3899687"/>
            <a:ext cx="4949246" cy="2958313"/>
          </a:xfrm>
          <a:prstGeom prst="rect">
            <a:avLst/>
          </a:prstGeom>
        </p:spPr>
      </p:pic>
      <p:sp>
        <p:nvSpPr>
          <p:cNvPr id="8" name="页脚占位符 2">
            <a:extLst>
              <a:ext uri="{FF2B5EF4-FFF2-40B4-BE49-F238E27FC236}">
                <a16:creationId xmlns:a16="http://schemas.microsoft.com/office/drawing/2014/main" id="{73A3CA6A-4C7F-4C2E-B08C-68C92FA9C506}"/>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Tree>
    <p:extLst>
      <p:ext uri="{BB962C8B-B14F-4D97-AF65-F5344CB8AC3E}">
        <p14:creationId xmlns:p14="http://schemas.microsoft.com/office/powerpoint/2010/main" val="33424879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9F466D0-3571-4552-AE92-CAA233D0AC42}"/>
              </a:ext>
            </a:extLst>
          </p:cNvPr>
          <p:cNvSpPr>
            <a:spLocks noGrp="1"/>
          </p:cNvSpPr>
          <p:nvPr>
            <p:ph type="dt" sz="half" idx="10"/>
          </p:nvPr>
        </p:nvSpPr>
        <p:spPr/>
        <p:txBody>
          <a:bodyPr/>
          <a:lstStyle/>
          <a:p>
            <a:pPr>
              <a:defRPr/>
            </a:pPr>
            <a:fld id="{ACF5701F-746E-469B-BDDA-F93B22D4DB72}" type="datetime1">
              <a:rPr lang="en-US" altLang="zh-CN" smtClean="0"/>
              <a:t>3/30/2025</a:t>
            </a:fld>
            <a:endParaRPr lang="en-US" altLang="zh-CN"/>
          </a:p>
        </p:txBody>
      </p:sp>
      <p:sp>
        <p:nvSpPr>
          <p:cNvPr id="4" name="灯片编号占位符 3">
            <a:extLst>
              <a:ext uri="{FF2B5EF4-FFF2-40B4-BE49-F238E27FC236}">
                <a16:creationId xmlns:a16="http://schemas.microsoft.com/office/drawing/2014/main" id="{63A2F83B-F7E7-4E4E-8602-82B65B244BB1}"/>
              </a:ext>
            </a:extLst>
          </p:cNvPr>
          <p:cNvSpPr>
            <a:spLocks noGrp="1"/>
          </p:cNvSpPr>
          <p:nvPr>
            <p:ph type="sldNum" sz="quarter" idx="12"/>
          </p:nvPr>
        </p:nvSpPr>
        <p:spPr/>
        <p:txBody>
          <a:bodyPr/>
          <a:lstStyle/>
          <a:p>
            <a:pPr>
              <a:defRPr/>
            </a:pPr>
            <a:fld id="{D1009943-BA82-4F6A-BD7C-764069224CD2}" type="slidenum">
              <a:rPr lang="zh-CN" altLang="en-US" smtClean="0"/>
              <a:pPr>
                <a:defRPr/>
              </a:pPr>
              <a:t>16</a:t>
            </a:fld>
            <a:endParaRPr lang="en-US" altLang="zh-CN"/>
          </a:p>
        </p:txBody>
      </p:sp>
      <p:pic>
        <p:nvPicPr>
          <p:cNvPr id="6" name="图片 5">
            <a:extLst>
              <a:ext uri="{FF2B5EF4-FFF2-40B4-BE49-F238E27FC236}">
                <a16:creationId xmlns:a16="http://schemas.microsoft.com/office/drawing/2014/main" id="{6E5D4868-2DE5-43D9-A5CD-3A50E3BB8810}"/>
              </a:ext>
            </a:extLst>
          </p:cNvPr>
          <p:cNvPicPr>
            <a:picLocks noChangeAspect="1"/>
          </p:cNvPicPr>
          <p:nvPr/>
        </p:nvPicPr>
        <p:blipFill>
          <a:blip r:embed="rId2"/>
          <a:stretch>
            <a:fillRect/>
          </a:stretch>
        </p:blipFill>
        <p:spPr>
          <a:xfrm>
            <a:off x="3066459" y="508249"/>
            <a:ext cx="5711679" cy="3945269"/>
          </a:xfrm>
          <a:prstGeom prst="rect">
            <a:avLst/>
          </a:prstGeom>
        </p:spPr>
      </p:pic>
      <p:sp>
        <p:nvSpPr>
          <p:cNvPr id="7" name="文本框 6">
            <a:extLst>
              <a:ext uri="{FF2B5EF4-FFF2-40B4-BE49-F238E27FC236}">
                <a16:creationId xmlns:a16="http://schemas.microsoft.com/office/drawing/2014/main" id="{A5F446F7-A552-4EB9-AE30-F3446554383D}"/>
              </a:ext>
            </a:extLst>
          </p:cNvPr>
          <p:cNvSpPr txBox="1"/>
          <p:nvPr/>
        </p:nvSpPr>
        <p:spPr>
          <a:xfrm>
            <a:off x="78926" y="1893146"/>
            <a:ext cx="2806834" cy="2807948"/>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聚类算法的一个典型应用是</a:t>
            </a:r>
            <a:r>
              <a:rPr lang="zh-CN" altLang="en-US" sz="2000" dirty="0">
                <a:solidFill>
                  <a:srgbClr val="FF0000"/>
                </a:solidFill>
                <a:latin typeface="微软雅黑" panose="020B0503020204020204" pitchFamily="34" charset="-122"/>
                <a:ea typeface="微软雅黑" panose="020B0503020204020204" pitchFamily="34" charset="-122"/>
              </a:rPr>
              <a:t>新闻编辑</a:t>
            </a:r>
            <a:r>
              <a:rPr lang="zh-CN" altLang="en-US" sz="2000" dirty="0">
                <a:latin typeface="微软雅黑" panose="020B0503020204020204" pitchFamily="34" charset="-122"/>
                <a:ea typeface="微软雅黑" panose="020B0503020204020204" pitchFamily="34" charset="-122"/>
              </a:rPr>
              <a:t>，新闻网站每天搜集上万条新闻（无标签），对新闻进行聚类，将有相关性的新闻放在同一板块中</a:t>
            </a:r>
          </a:p>
        </p:txBody>
      </p:sp>
      <p:pic>
        <p:nvPicPr>
          <p:cNvPr id="9" name="图片 8">
            <a:extLst>
              <a:ext uri="{FF2B5EF4-FFF2-40B4-BE49-F238E27FC236}">
                <a16:creationId xmlns:a16="http://schemas.microsoft.com/office/drawing/2014/main" id="{03B536C0-B697-4CD8-8275-22FF1A555571}"/>
              </a:ext>
            </a:extLst>
          </p:cNvPr>
          <p:cNvPicPr>
            <a:picLocks noChangeAspect="1"/>
          </p:cNvPicPr>
          <p:nvPr/>
        </p:nvPicPr>
        <p:blipFill>
          <a:blip r:embed="rId3"/>
          <a:stretch>
            <a:fillRect/>
          </a:stretch>
        </p:blipFill>
        <p:spPr>
          <a:xfrm>
            <a:off x="5026350" y="2932119"/>
            <a:ext cx="3640420" cy="3694644"/>
          </a:xfrm>
          <a:prstGeom prst="rect">
            <a:avLst/>
          </a:prstGeom>
        </p:spPr>
      </p:pic>
      <p:sp>
        <p:nvSpPr>
          <p:cNvPr id="8" name="页脚占位符 2">
            <a:extLst>
              <a:ext uri="{FF2B5EF4-FFF2-40B4-BE49-F238E27FC236}">
                <a16:creationId xmlns:a16="http://schemas.microsoft.com/office/drawing/2014/main" id="{501982BC-8D60-4BF2-B4EA-ABF47B5CAAA8}"/>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Tree>
    <p:extLst>
      <p:ext uri="{BB962C8B-B14F-4D97-AF65-F5344CB8AC3E}">
        <p14:creationId xmlns:p14="http://schemas.microsoft.com/office/powerpoint/2010/main" val="27334096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17</a:t>
            </a:fld>
            <a:endParaRPr lang="en-US" altLang="zh-CN"/>
          </a:p>
        </p:txBody>
      </p:sp>
      <p:sp>
        <p:nvSpPr>
          <p:cNvPr id="7" name="矩形 6"/>
          <p:cNvSpPr/>
          <p:nvPr/>
        </p:nvSpPr>
        <p:spPr>
          <a:xfrm>
            <a:off x="199315" y="475251"/>
            <a:ext cx="5717689" cy="523220"/>
          </a:xfrm>
          <a:prstGeom prst="rect">
            <a:avLst/>
          </a:prstGeom>
        </p:spPr>
        <p:txBody>
          <a:bodyPr wrap="square">
            <a:spAutoFit/>
          </a:bodyPr>
          <a:lstStyle/>
          <a:p>
            <a:pPr marL="571500" indent="-571500">
              <a:buFont typeface="Wingdings" panose="05000000000000000000" pitchFamily="2" charset="2"/>
              <a:buChar char="p"/>
            </a:pPr>
            <a:r>
              <a:rPr lang="zh-CN" altLang="en-US" sz="2800" dirty="0">
                <a:solidFill>
                  <a:srgbClr val="1F497D"/>
                </a:solidFill>
                <a:latin typeface="微软雅黑" panose="020B0503020204020204" pitchFamily="34" charset="-122"/>
                <a:ea typeface="微软雅黑" panose="020B0503020204020204" pitchFamily="34" charset="-122"/>
                <a:cs typeface="Times New Roman" panose="02020603050405020304" pitchFamily="18" charset="0"/>
              </a:rPr>
              <a:t>降维问题</a:t>
            </a:r>
          </a:p>
        </p:txBody>
      </p:sp>
      <p:sp>
        <p:nvSpPr>
          <p:cNvPr id="8" name="矩形 7"/>
          <p:cNvSpPr/>
          <p:nvPr/>
        </p:nvSpPr>
        <p:spPr>
          <a:xfrm>
            <a:off x="199315" y="1172739"/>
            <a:ext cx="8670663" cy="1289905"/>
          </a:xfrm>
          <a:prstGeom prst="rect">
            <a:avLst/>
          </a:prstGeom>
        </p:spPr>
        <p:txBody>
          <a:bodyPr wrap="square">
            <a:spAutoFit/>
          </a:bodyPr>
          <a:lstStyle/>
          <a:p>
            <a:pPr>
              <a:lnSpc>
                <a:spcPct val="150000"/>
              </a:lnSpc>
            </a:pPr>
            <a:r>
              <a:rPr lang="zh-CN" altLang="en-US" dirty="0">
                <a:latin typeface="微软雅黑" panose="020B0503020204020204" pitchFamily="34" charset="-122"/>
                <a:ea typeface="微软雅黑" panose="020B0503020204020204" pitchFamily="34" charset="-122"/>
              </a:rPr>
              <a:t>在大数据分析问题中，往往因为特征数量过多，导致了特征空间的维度过高，从而耗费大量存储空间，而且严重降低了机器学习算法的计算效率，因此在尽量多地保留数据所携带的重要信息的基础上对高维特征空间做低维近似，这是降维问题的核心目标。</a:t>
            </a:r>
          </a:p>
        </p:txBody>
      </p:sp>
      <p:pic>
        <p:nvPicPr>
          <p:cNvPr id="4" name="图片 3"/>
          <p:cNvPicPr>
            <a:picLocks noChangeAspect="1"/>
          </p:cNvPicPr>
          <p:nvPr/>
        </p:nvPicPr>
        <p:blipFill>
          <a:blip r:embed="rId2"/>
          <a:stretch>
            <a:fillRect/>
          </a:stretch>
        </p:blipFill>
        <p:spPr>
          <a:xfrm>
            <a:off x="1089939" y="2476611"/>
            <a:ext cx="7055143" cy="2740847"/>
          </a:xfrm>
          <a:prstGeom prst="rect">
            <a:avLst/>
          </a:prstGeom>
        </p:spPr>
      </p:pic>
      <p:sp>
        <p:nvSpPr>
          <p:cNvPr id="9" name="页脚占位符 2">
            <a:extLst>
              <a:ext uri="{FF2B5EF4-FFF2-40B4-BE49-F238E27FC236}">
                <a16:creationId xmlns:a16="http://schemas.microsoft.com/office/drawing/2014/main" id="{299EC374-6EB4-4D41-8FF8-B32E1E02553E}"/>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Tree>
    <p:extLst>
      <p:ext uri="{BB962C8B-B14F-4D97-AF65-F5344CB8AC3E}">
        <p14:creationId xmlns:p14="http://schemas.microsoft.com/office/powerpoint/2010/main" val="40329899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18</a:t>
            </a:fld>
            <a:endParaRPr lang="en-US" altLang="zh-CN"/>
          </a:p>
        </p:txBody>
      </p:sp>
      <p:sp>
        <p:nvSpPr>
          <p:cNvPr id="13" name="标题 1">
            <a:extLst>
              <a:ext uri="{FF2B5EF4-FFF2-40B4-BE49-F238E27FC236}">
                <a16:creationId xmlns:a16="http://schemas.microsoft.com/office/drawing/2014/main" id="{5607F18F-699A-4F7F-A2ED-BD80B7B267C8}"/>
              </a:ext>
            </a:extLst>
          </p:cNvPr>
          <p:cNvSpPr>
            <a:spLocks noGrp="1"/>
          </p:cNvSpPr>
          <p:nvPr>
            <p:ph type="title"/>
          </p:nvPr>
        </p:nvSpPr>
        <p:spPr>
          <a:xfrm>
            <a:off x="203253" y="376219"/>
            <a:ext cx="8229600" cy="990600"/>
          </a:xfrm>
        </p:spPr>
        <p:txBody>
          <a:bodyPr/>
          <a:lstStyle/>
          <a:p>
            <a:r>
              <a:rPr lang="en-US" altLang="zh-CN" dirty="0">
                <a:latin typeface="微软雅黑" panose="020B0503020204020204" pitchFamily="34" charset="-122"/>
                <a:ea typeface="微软雅黑" panose="020B0503020204020204" pitchFamily="34" charset="-122"/>
                <a:cs typeface="Times New Roman" panose="02020603050405020304" pitchFamily="18" charset="0"/>
              </a:rPr>
              <a:t>3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机器学习的基本流程</a:t>
            </a:r>
          </a:p>
        </p:txBody>
      </p:sp>
      <p:sp>
        <p:nvSpPr>
          <p:cNvPr id="5" name="内容占位符 4"/>
          <p:cNvSpPr>
            <a:spLocks noGrp="1"/>
          </p:cNvSpPr>
          <p:nvPr>
            <p:ph idx="1"/>
          </p:nvPr>
        </p:nvSpPr>
        <p:spPr>
          <a:xfrm>
            <a:off x="203253" y="1281075"/>
            <a:ext cx="8229600" cy="4876800"/>
          </a:xfrm>
        </p:spPr>
        <p:txBody>
          <a:bodyPr/>
          <a:lstStyle/>
          <a:p>
            <a:r>
              <a:rPr lang="zh-CN" altLang="en-US" sz="1800" dirty="0">
                <a:latin typeface="微软雅黑" panose="020B0503020204020204" pitchFamily="34" charset="-122"/>
                <a:ea typeface="微软雅黑" panose="020B0503020204020204" pitchFamily="34" charset="-122"/>
              </a:rPr>
              <a:t>在交通大数据问题中，机器学习的流程可以分为</a:t>
            </a:r>
            <a:r>
              <a:rPr lang="en-US" altLang="zh-CN" sz="1800" dirty="0">
                <a:latin typeface="微软雅黑" panose="020B0503020204020204" pitchFamily="34" charset="-122"/>
                <a:ea typeface="微软雅黑" panose="020B0503020204020204" pitchFamily="34" charset="-122"/>
              </a:rPr>
              <a:t>7</a:t>
            </a:r>
            <a:r>
              <a:rPr lang="zh-CN" altLang="en-US" sz="1800" dirty="0">
                <a:latin typeface="微软雅黑" panose="020B0503020204020204" pitchFamily="34" charset="-122"/>
                <a:ea typeface="微软雅黑" panose="020B0503020204020204" pitchFamily="34" charset="-122"/>
              </a:rPr>
              <a:t>个步骤，分别是应用场景解析、数据预处理、特征工程、设计模型、模型训练、模型评估、结果输出。他们之间的关系可以由下面的流程图来表示</a:t>
            </a:r>
          </a:p>
        </p:txBody>
      </p:sp>
      <p:sp>
        <p:nvSpPr>
          <p:cNvPr id="8" name="页脚占位符 2">
            <a:extLst>
              <a:ext uri="{FF2B5EF4-FFF2-40B4-BE49-F238E27FC236}">
                <a16:creationId xmlns:a16="http://schemas.microsoft.com/office/drawing/2014/main" id="{2B4C0365-42BC-415D-92FF-082CCC1F5313}"/>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
        <p:nvSpPr>
          <p:cNvPr id="3" name="右大括号 2">
            <a:extLst>
              <a:ext uri="{FF2B5EF4-FFF2-40B4-BE49-F238E27FC236}">
                <a16:creationId xmlns:a16="http://schemas.microsoft.com/office/drawing/2014/main" id="{5FC22189-5694-4264-8279-CBD15AC711BB}"/>
              </a:ext>
            </a:extLst>
          </p:cNvPr>
          <p:cNvSpPr/>
          <p:nvPr/>
        </p:nvSpPr>
        <p:spPr>
          <a:xfrm>
            <a:off x="1572016" y="2527657"/>
            <a:ext cx="2009921" cy="3559409"/>
          </a:xfrm>
          <a:prstGeom prst="rightBrace">
            <a:avLst>
              <a:gd name="adj1" fmla="val 8147"/>
              <a:gd name="adj2" fmla="val 50862"/>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CEE88B9-2A0F-43C0-9C42-54328A9FFC8B}"/>
              </a:ext>
            </a:extLst>
          </p:cNvPr>
          <p:cNvSpPr txBox="1"/>
          <p:nvPr/>
        </p:nvSpPr>
        <p:spPr>
          <a:xfrm>
            <a:off x="834571" y="2657282"/>
            <a:ext cx="1107996" cy="369332"/>
          </a:xfrm>
          <a:prstGeom prst="rect">
            <a:avLst/>
          </a:prstGeom>
          <a:noFill/>
        </p:spPr>
        <p:txBody>
          <a:bodyPr wrap="none" rtlCol="0">
            <a:spAutoFit/>
          </a:bodyPr>
          <a:lstStyle/>
          <a:p>
            <a:r>
              <a:rPr lang="zh-CN" altLang="en-US" dirty="0"/>
              <a:t>线性模型</a:t>
            </a:r>
          </a:p>
        </p:txBody>
      </p:sp>
      <p:sp>
        <p:nvSpPr>
          <p:cNvPr id="10" name="文本框 9">
            <a:extLst>
              <a:ext uri="{FF2B5EF4-FFF2-40B4-BE49-F238E27FC236}">
                <a16:creationId xmlns:a16="http://schemas.microsoft.com/office/drawing/2014/main" id="{786ED967-494A-44CC-A48A-CED0445D9DB2}"/>
              </a:ext>
            </a:extLst>
          </p:cNvPr>
          <p:cNvSpPr txBox="1"/>
          <p:nvPr/>
        </p:nvSpPr>
        <p:spPr>
          <a:xfrm>
            <a:off x="719155" y="2969149"/>
            <a:ext cx="1338828" cy="369332"/>
          </a:xfrm>
          <a:prstGeom prst="rect">
            <a:avLst/>
          </a:prstGeom>
          <a:noFill/>
        </p:spPr>
        <p:txBody>
          <a:bodyPr wrap="none" rtlCol="0">
            <a:spAutoFit/>
          </a:bodyPr>
          <a:lstStyle/>
          <a:p>
            <a:r>
              <a:rPr lang="zh-CN" altLang="en-US" dirty="0"/>
              <a:t>支持向量机</a:t>
            </a:r>
          </a:p>
        </p:txBody>
      </p:sp>
      <p:sp>
        <p:nvSpPr>
          <p:cNvPr id="11" name="文本框 10">
            <a:extLst>
              <a:ext uri="{FF2B5EF4-FFF2-40B4-BE49-F238E27FC236}">
                <a16:creationId xmlns:a16="http://schemas.microsoft.com/office/drawing/2014/main" id="{68539729-6AB7-401C-BF91-AECEAB7528F4}"/>
              </a:ext>
            </a:extLst>
          </p:cNvPr>
          <p:cNvSpPr txBox="1"/>
          <p:nvPr/>
        </p:nvSpPr>
        <p:spPr>
          <a:xfrm>
            <a:off x="985010" y="3283440"/>
            <a:ext cx="877163" cy="369332"/>
          </a:xfrm>
          <a:prstGeom prst="rect">
            <a:avLst/>
          </a:prstGeom>
          <a:noFill/>
        </p:spPr>
        <p:txBody>
          <a:bodyPr wrap="none" rtlCol="0">
            <a:spAutoFit/>
          </a:bodyPr>
          <a:lstStyle/>
          <a:p>
            <a:r>
              <a:rPr lang="zh-CN" altLang="en-US" dirty="0"/>
              <a:t>决策树</a:t>
            </a:r>
          </a:p>
        </p:txBody>
      </p:sp>
      <p:sp>
        <p:nvSpPr>
          <p:cNvPr id="14" name="文本框 13">
            <a:extLst>
              <a:ext uri="{FF2B5EF4-FFF2-40B4-BE49-F238E27FC236}">
                <a16:creationId xmlns:a16="http://schemas.microsoft.com/office/drawing/2014/main" id="{EECE81D9-F0E9-4E8C-8F72-B9582BDABF55}"/>
              </a:ext>
            </a:extLst>
          </p:cNvPr>
          <p:cNvSpPr txBox="1"/>
          <p:nvPr/>
        </p:nvSpPr>
        <p:spPr>
          <a:xfrm>
            <a:off x="808229" y="3578441"/>
            <a:ext cx="1338828" cy="369332"/>
          </a:xfrm>
          <a:prstGeom prst="rect">
            <a:avLst/>
          </a:prstGeom>
          <a:noFill/>
        </p:spPr>
        <p:txBody>
          <a:bodyPr wrap="none" rtlCol="0">
            <a:spAutoFit/>
          </a:bodyPr>
          <a:lstStyle/>
          <a:p>
            <a:r>
              <a:rPr lang="en-US" altLang="zh-CN" dirty="0"/>
              <a:t>K-</a:t>
            </a:r>
            <a:r>
              <a:rPr lang="zh-CN" altLang="en-US" dirty="0"/>
              <a:t>均值聚类</a:t>
            </a:r>
          </a:p>
        </p:txBody>
      </p:sp>
      <p:sp>
        <p:nvSpPr>
          <p:cNvPr id="15" name="文本框 14">
            <a:extLst>
              <a:ext uri="{FF2B5EF4-FFF2-40B4-BE49-F238E27FC236}">
                <a16:creationId xmlns:a16="http://schemas.microsoft.com/office/drawing/2014/main" id="{85D57C02-C746-4ACC-BE05-F9ADD950D855}"/>
              </a:ext>
            </a:extLst>
          </p:cNvPr>
          <p:cNvSpPr txBox="1"/>
          <p:nvPr/>
        </p:nvSpPr>
        <p:spPr>
          <a:xfrm>
            <a:off x="648369" y="3942236"/>
            <a:ext cx="1569660" cy="369332"/>
          </a:xfrm>
          <a:prstGeom prst="rect">
            <a:avLst/>
          </a:prstGeom>
          <a:noFill/>
        </p:spPr>
        <p:txBody>
          <a:bodyPr wrap="none" rtlCol="0">
            <a:spAutoFit/>
          </a:bodyPr>
          <a:lstStyle/>
          <a:p>
            <a:r>
              <a:rPr lang="zh-CN" altLang="en-US" dirty="0"/>
              <a:t>高斯混合聚类</a:t>
            </a:r>
          </a:p>
        </p:txBody>
      </p:sp>
      <p:sp>
        <p:nvSpPr>
          <p:cNvPr id="16" name="文本框 15">
            <a:extLst>
              <a:ext uri="{FF2B5EF4-FFF2-40B4-BE49-F238E27FC236}">
                <a16:creationId xmlns:a16="http://schemas.microsoft.com/office/drawing/2014/main" id="{B6BE4952-14D8-4A4F-AD40-4B01F1AC1B58}"/>
              </a:ext>
            </a:extLst>
          </p:cNvPr>
          <p:cNvSpPr txBox="1"/>
          <p:nvPr/>
        </p:nvSpPr>
        <p:spPr>
          <a:xfrm>
            <a:off x="834571" y="5078684"/>
            <a:ext cx="1107996" cy="369332"/>
          </a:xfrm>
          <a:prstGeom prst="rect">
            <a:avLst/>
          </a:prstGeom>
          <a:noFill/>
        </p:spPr>
        <p:txBody>
          <a:bodyPr wrap="none" rtlCol="0">
            <a:spAutoFit/>
          </a:bodyPr>
          <a:lstStyle/>
          <a:p>
            <a:r>
              <a:rPr lang="zh-CN" altLang="en-US" dirty="0"/>
              <a:t>神经网络</a:t>
            </a:r>
          </a:p>
        </p:txBody>
      </p:sp>
      <p:sp>
        <p:nvSpPr>
          <p:cNvPr id="17" name="文本框 16">
            <a:extLst>
              <a:ext uri="{FF2B5EF4-FFF2-40B4-BE49-F238E27FC236}">
                <a16:creationId xmlns:a16="http://schemas.microsoft.com/office/drawing/2014/main" id="{53FB8EEA-4A8A-4E2D-98CD-94477289DA62}"/>
              </a:ext>
            </a:extLst>
          </p:cNvPr>
          <p:cNvSpPr txBox="1"/>
          <p:nvPr/>
        </p:nvSpPr>
        <p:spPr>
          <a:xfrm>
            <a:off x="610730" y="5460707"/>
            <a:ext cx="1587294" cy="369332"/>
          </a:xfrm>
          <a:prstGeom prst="rect">
            <a:avLst/>
          </a:prstGeom>
          <a:noFill/>
        </p:spPr>
        <p:txBody>
          <a:bodyPr wrap="none" rtlCol="0">
            <a:spAutoFit/>
          </a:bodyPr>
          <a:lstStyle/>
          <a:p>
            <a:r>
              <a:rPr lang="zh-CN" altLang="en-US" dirty="0"/>
              <a:t>深度学习模型</a:t>
            </a:r>
          </a:p>
        </p:txBody>
      </p:sp>
      <p:sp>
        <p:nvSpPr>
          <p:cNvPr id="18" name="文本框 17">
            <a:extLst>
              <a:ext uri="{FF2B5EF4-FFF2-40B4-BE49-F238E27FC236}">
                <a16:creationId xmlns:a16="http://schemas.microsoft.com/office/drawing/2014/main" id="{E8DC3A93-1AF9-45BC-A0FF-9CCB1C41D57D}"/>
              </a:ext>
            </a:extLst>
          </p:cNvPr>
          <p:cNvSpPr txBox="1"/>
          <p:nvPr/>
        </p:nvSpPr>
        <p:spPr>
          <a:xfrm>
            <a:off x="923645" y="4306772"/>
            <a:ext cx="1107996" cy="369332"/>
          </a:xfrm>
          <a:prstGeom prst="rect">
            <a:avLst/>
          </a:prstGeom>
          <a:noFill/>
        </p:spPr>
        <p:txBody>
          <a:bodyPr wrap="none" rtlCol="0">
            <a:spAutoFit/>
          </a:bodyPr>
          <a:lstStyle/>
          <a:p>
            <a:r>
              <a:rPr lang="zh-CN" altLang="en-US" dirty="0"/>
              <a:t>层次聚类</a:t>
            </a:r>
          </a:p>
        </p:txBody>
      </p:sp>
      <p:sp>
        <p:nvSpPr>
          <p:cNvPr id="19" name="文本框 18">
            <a:extLst>
              <a:ext uri="{FF2B5EF4-FFF2-40B4-BE49-F238E27FC236}">
                <a16:creationId xmlns:a16="http://schemas.microsoft.com/office/drawing/2014/main" id="{B726590E-0EF5-4B5B-B552-04B6F8C9BF7A}"/>
              </a:ext>
            </a:extLst>
          </p:cNvPr>
          <p:cNvSpPr txBox="1"/>
          <p:nvPr/>
        </p:nvSpPr>
        <p:spPr>
          <a:xfrm>
            <a:off x="869593" y="4710681"/>
            <a:ext cx="1107996" cy="369332"/>
          </a:xfrm>
          <a:prstGeom prst="rect">
            <a:avLst/>
          </a:prstGeom>
          <a:noFill/>
        </p:spPr>
        <p:txBody>
          <a:bodyPr wrap="none" rtlCol="0">
            <a:spAutoFit/>
          </a:bodyPr>
          <a:lstStyle/>
          <a:p>
            <a:r>
              <a:rPr lang="zh-CN" altLang="en-US" dirty="0"/>
              <a:t>密度聚类</a:t>
            </a:r>
          </a:p>
        </p:txBody>
      </p:sp>
      <p:sp>
        <p:nvSpPr>
          <p:cNvPr id="6" name="矩形 5">
            <a:extLst>
              <a:ext uri="{FF2B5EF4-FFF2-40B4-BE49-F238E27FC236}">
                <a16:creationId xmlns:a16="http://schemas.microsoft.com/office/drawing/2014/main" id="{C92B555E-C413-007E-FE86-D7A8F83DD2DA}"/>
              </a:ext>
            </a:extLst>
          </p:cNvPr>
          <p:cNvSpPr/>
          <p:nvPr/>
        </p:nvSpPr>
        <p:spPr>
          <a:xfrm>
            <a:off x="5251648" y="2209916"/>
            <a:ext cx="1422400" cy="3357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t>应用场景解析</a:t>
            </a:r>
          </a:p>
        </p:txBody>
      </p:sp>
      <p:sp>
        <p:nvSpPr>
          <p:cNvPr id="9" name="矩形 8">
            <a:extLst>
              <a:ext uri="{FF2B5EF4-FFF2-40B4-BE49-F238E27FC236}">
                <a16:creationId xmlns:a16="http://schemas.microsoft.com/office/drawing/2014/main" id="{3298CD20-1699-93D9-6C48-32CFF802C49E}"/>
              </a:ext>
            </a:extLst>
          </p:cNvPr>
          <p:cNvSpPr/>
          <p:nvPr/>
        </p:nvSpPr>
        <p:spPr>
          <a:xfrm>
            <a:off x="5251648" y="2737454"/>
            <a:ext cx="1422400" cy="3435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t>数据预处理</a:t>
            </a:r>
          </a:p>
        </p:txBody>
      </p:sp>
      <p:sp>
        <p:nvSpPr>
          <p:cNvPr id="20" name="矩形 19">
            <a:extLst>
              <a:ext uri="{FF2B5EF4-FFF2-40B4-BE49-F238E27FC236}">
                <a16:creationId xmlns:a16="http://schemas.microsoft.com/office/drawing/2014/main" id="{7B8C7E97-789A-1DF5-7B76-32801843C6C3}"/>
              </a:ext>
            </a:extLst>
          </p:cNvPr>
          <p:cNvSpPr/>
          <p:nvPr/>
        </p:nvSpPr>
        <p:spPr>
          <a:xfrm>
            <a:off x="5251648" y="3272794"/>
            <a:ext cx="1422400" cy="3435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t>特征工程</a:t>
            </a:r>
          </a:p>
        </p:txBody>
      </p:sp>
      <p:sp>
        <p:nvSpPr>
          <p:cNvPr id="21" name="矩形 20">
            <a:extLst>
              <a:ext uri="{FF2B5EF4-FFF2-40B4-BE49-F238E27FC236}">
                <a16:creationId xmlns:a16="http://schemas.microsoft.com/office/drawing/2014/main" id="{F5854A3D-0961-9C9B-D478-B3171D999331}"/>
              </a:ext>
            </a:extLst>
          </p:cNvPr>
          <p:cNvSpPr/>
          <p:nvPr/>
        </p:nvSpPr>
        <p:spPr>
          <a:xfrm>
            <a:off x="5251648" y="3796284"/>
            <a:ext cx="1422400" cy="3435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t>模型设计</a:t>
            </a:r>
          </a:p>
        </p:txBody>
      </p:sp>
      <p:sp>
        <p:nvSpPr>
          <p:cNvPr id="22" name="矩形 21">
            <a:extLst>
              <a:ext uri="{FF2B5EF4-FFF2-40B4-BE49-F238E27FC236}">
                <a16:creationId xmlns:a16="http://schemas.microsoft.com/office/drawing/2014/main" id="{5FC47CD6-1009-66A5-732C-348FEB176342}"/>
              </a:ext>
            </a:extLst>
          </p:cNvPr>
          <p:cNvSpPr/>
          <p:nvPr/>
        </p:nvSpPr>
        <p:spPr>
          <a:xfrm>
            <a:off x="5251648" y="4319775"/>
            <a:ext cx="1422400" cy="3435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t>训练模型</a:t>
            </a:r>
          </a:p>
        </p:txBody>
      </p:sp>
      <p:cxnSp>
        <p:nvCxnSpPr>
          <p:cNvPr id="24" name="直接箭头连接符 23">
            <a:extLst>
              <a:ext uri="{FF2B5EF4-FFF2-40B4-BE49-F238E27FC236}">
                <a16:creationId xmlns:a16="http://schemas.microsoft.com/office/drawing/2014/main" id="{1634B7B1-6E57-988C-3D50-AD44BCBA44A8}"/>
              </a:ext>
            </a:extLst>
          </p:cNvPr>
          <p:cNvCxnSpPr>
            <a:cxnSpLocks/>
            <a:stCxn id="6" idx="2"/>
            <a:endCxn id="9" idx="0"/>
          </p:cNvCxnSpPr>
          <p:nvPr/>
        </p:nvCxnSpPr>
        <p:spPr>
          <a:xfrm>
            <a:off x="5962848" y="2545630"/>
            <a:ext cx="0" cy="1918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直接箭头连接符 24">
            <a:extLst>
              <a:ext uri="{FF2B5EF4-FFF2-40B4-BE49-F238E27FC236}">
                <a16:creationId xmlns:a16="http://schemas.microsoft.com/office/drawing/2014/main" id="{CE2A72CB-162E-35FB-89A0-72FEFD06665A}"/>
              </a:ext>
            </a:extLst>
          </p:cNvPr>
          <p:cNvCxnSpPr>
            <a:cxnSpLocks/>
            <a:stCxn id="9" idx="2"/>
            <a:endCxn id="20" idx="0"/>
          </p:cNvCxnSpPr>
          <p:nvPr/>
        </p:nvCxnSpPr>
        <p:spPr>
          <a:xfrm>
            <a:off x="5962848" y="3080970"/>
            <a:ext cx="0" cy="1918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接箭头连接符 27">
            <a:extLst>
              <a:ext uri="{FF2B5EF4-FFF2-40B4-BE49-F238E27FC236}">
                <a16:creationId xmlns:a16="http://schemas.microsoft.com/office/drawing/2014/main" id="{ABD559CB-624E-1F61-58DE-F3759A77DD08}"/>
              </a:ext>
            </a:extLst>
          </p:cNvPr>
          <p:cNvCxnSpPr>
            <a:cxnSpLocks/>
            <a:stCxn id="20" idx="2"/>
            <a:endCxn id="21" idx="0"/>
          </p:cNvCxnSpPr>
          <p:nvPr/>
        </p:nvCxnSpPr>
        <p:spPr>
          <a:xfrm>
            <a:off x="5962848" y="3616310"/>
            <a:ext cx="0" cy="17997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直接箭头连接符 30">
            <a:extLst>
              <a:ext uri="{FF2B5EF4-FFF2-40B4-BE49-F238E27FC236}">
                <a16:creationId xmlns:a16="http://schemas.microsoft.com/office/drawing/2014/main" id="{7B504022-30BC-D8D4-4BFD-9332FB49749E}"/>
              </a:ext>
            </a:extLst>
          </p:cNvPr>
          <p:cNvCxnSpPr>
            <a:cxnSpLocks/>
            <a:stCxn id="21" idx="2"/>
            <a:endCxn id="22" idx="0"/>
          </p:cNvCxnSpPr>
          <p:nvPr/>
        </p:nvCxnSpPr>
        <p:spPr>
          <a:xfrm>
            <a:off x="5962848" y="4139800"/>
            <a:ext cx="0" cy="17997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流程图: 决策 33">
            <a:extLst>
              <a:ext uri="{FF2B5EF4-FFF2-40B4-BE49-F238E27FC236}">
                <a16:creationId xmlns:a16="http://schemas.microsoft.com/office/drawing/2014/main" id="{1A938E0C-C5B9-2491-A55D-213B544AF750}"/>
              </a:ext>
            </a:extLst>
          </p:cNvPr>
          <p:cNvSpPr/>
          <p:nvPr/>
        </p:nvSpPr>
        <p:spPr>
          <a:xfrm>
            <a:off x="5031816" y="4916640"/>
            <a:ext cx="1862064" cy="651507"/>
          </a:xfrm>
          <a:prstGeom prst="flowChartDecisi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评估是否达到最优</a:t>
            </a:r>
          </a:p>
        </p:txBody>
      </p:sp>
      <p:cxnSp>
        <p:nvCxnSpPr>
          <p:cNvPr id="35" name="直接箭头连接符 34">
            <a:extLst>
              <a:ext uri="{FF2B5EF4-FFF2-40B4-BE49-F238E27FC236}">
                <a16:creationId xmlns:a16="http://schemas.microsoft.com/office/drawing/2014/main" id="{42309BB5-A2EC-05E5-B3EA-1C4AA1BE4757}"/>
              </a:ext>
            </a:extLst>
          </p:cNvPr>
          <p:cNvCxnSpPr>
            <a:cxnSpLocks/>
            <a:stCxn id="22" idx="2"/>
            <a:endCxn id="34" idx="0"/>
          </p:cNvCxnSpPr>
          <p:nvPr/>
        </p:nvCxnSpPr>
        <p:spPr>
          <a:xfrm>
            <a:off x="5962848" y="4663291"/>
            <a:ext cx="0" cy="2533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矩形 37">
            <a:extLst>
              <a:ext uri="{FF2B5EF4-FFF2-40B4-BE49-F238E27FC236}">
                <a16:creationId xmlns:a16="http://schemas.microsoft.com/office/drawing/2014/main" id="{47FD0363-7FBB-B151-5EAB-92924C68951F}"/>
              </a:ext>
            </a:extLst>
          </p:cNvPr>
          <p:cNvSpPr/>
          <p:nvPr/>
        </p:nvSpPr>
        <p:spPr>
          <a:xfrm>
            <a:off x="4274220" y="5963621"/>
            <a:ext cx="1060769" cy="43438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t>分类任务</a:t>
            </a:r>
          </a:p>
        </p:txBody>
      </p:sp>
      <p:sp>
        <p:nvSpPr>
          <p:cNvPr id="58" name="矩形 57">
            <a:extLst>
              <a:ext uri="{FF2B5EF4-FFF2-40B4-BE49-F238E27FC236}">
                <a16:creationId xmlns:a16="http://schemas.microsoft.com/office/drawing/2014/main" id="{4D17E91B-41A9-55B8-4F04-E6D62DA207A3}"/>
              </a:ext>
            </a:extLst>
          </p:cNvPr>
          <p:cNvSpPr/>
          <p:nvPr/>
        </p:nvSpPr>
        <p:spPr>
          <a:xfrm>
            <a:off x="5432463" y="5963621"/>
            <a:ext cx="1060769" cy="43438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t>预测任务</a:t>
            </a:r>
          </a:p>
        </p:txBody>
      </p:sp>
      <p:sp>
        <p:nvSpPr>
          <p:cNvPr id="59" name="矩形 58">
            <a:extLst>
              <a:ext uri="{FF2B5EF4-FFF2-40B4-BE49-F238E27FC236}">
                <a16:creationId xmlns:a16="http://schemas.microsoft.com/office/drawing/2014/main" id="{68290CF0-5559-F7D5-E189-6063EAEB2044}"/>
              </a:ext>
            </a:extLst>
          </p:cNvPr>
          <p:cNvSpPr/>
          <p:nvPr/>
        </p:nvSpPr>
        <p:spPr>
          <a:xfrm>
            <a:off x="6584675" y="5961630"/>
            <a:ext cx="1060769" cy="43438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t>其他任务</a:t>
            </a:r>
          </a:p>
        </p:txBody>
      </p:sp>
      <p:cxnSp>
        <p:nvCxnSpPr>
          <p:cNvPr id="60" name="直接箭头连接符 59">
            <a:extLst>
              <a:ext uri="{FF2B5EF4-FFF2-40B4-BE49-F238E27FC236}">
                <a16:creationId xmlns:a16="http://schemas.microsoft.com/office/drawing/2014/main" id="{C5911254-4C25-08ED-3ACA-C60FCAB0CE5D}"/>
              </a:ext>
            </a:extLst>
          </p:cNvPr>
          <p:cNvCxnSpPr>
            <a:cxnSpLocks/>
            <a:stCxn id="34" idx="2"/>
            <a:endCxn id="58" idx="0"/>
          </p:cNvCxnSpPr>
          <p:nvPr/>
        </p:nvCxnSpPr>
        <p:spPr>
          <a:xfrm>
            <a:off x="5962848" y="5568147"/>
            <a:ext cx="0" cy="39547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8" name="连接符: 肘形 67">
            <a:extLst>
              <a:ext uri="{FF2B5EF4-FFF2-40B4-BE49-F238E27FC236}">
                <a16:creationId xmlns:a16="http://schemas.microsoft.com/office/drawing/2014/main" id="{2039718E-9029-26EA-49DB-342B3140D1E3}"/>
              </a:ext>
            </a:extLst>
          </p:cNvPr>
          <p:cNvCxnSpPr>
            <a:stCxn id="34" idx="2"/>
            <a:endCxn id="38" idx="0"/>
          </p:cNvCxnSpPr>
          <p:nvPr/>
        </p:nvCxnSpPr>
        <p:spPr>
          <a:xfrm rot="5400000">
            <a:off x="5185990" y="5186763"/>
            <a:ext cx="395474" cy="1158243"/>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69" name="连接符: 肘形 68">
            <a:extLst>
              <a:ext uri="{FF2B5EF4-FFF2-40B4-BE49-F238E27FC236}">
                <a16:creationId xmlns:a16="http://schemas.microsoft.com/office/drawing/2014/main" id="{07594FC0-3590-2373-B9A8-2EC4FE79A765}"/>
              </a:ext>
            </a:extLst>
          </p:cNvPr>
          <p:cNvCxnSpPr>
            <a:cxnSpLocks/>
            <a:stCxn id="34" idx="2"/>
            <a:endCxn id="59" idx="0"/>
          </p:cNvCxnSpPr>
          <p:nvPr/>
        </p:nvCxnSpPr>
        <p:spPr>
          <a:xfrm rot="16200000" flipH="1">
            <a:off x="6342213" y="5188782"/>
            <a:ext cx="393483" cy="115221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72" name="连接符: 肘形 71">
            <a:extLst>
              <a:ext uri="{FF2B5EF4-FFF2-40B4-BE49-F238E27FC236}">
                <a16:creationId xmlns:a16="http://schemas.microsoft.com/office/drawing/2014/main" id="{D0305062-6EAC-A7B3-2AFE-724373362DF2}"/>
              </a:ext>
            </a:extLst>
          </p:cNvPr>
          <p:cNvCxnSpPr>
            <a:cxnSpLocks/>
            <a:stCxn id="34" idx="3"/>
            <a:endCxn id="20" idx="3"/>
          </p:cNvCxnSpPr>
          <p:nvPr/>
        </p:nvCxnSpPr>
        <p:spPr>
          <a:xfrm flipH="1" flipV="1">
            <a:off x="6674048" y="3444552"/>
            <a:ext cx="219832" cy="1797842"/>
          </a:xfrm>
          <a:prstGeom prst="bentConnector3">
            <a:avLst>
              <a:gd name="adj1" fmla="val -348940"/>
            </a:avLst>
          </a:prstGeom>
          <a:ln>
            <a:tailEnd type="triangle"/>
          </a:ln>
        </p:spPr>
        <p:style>
          <a:lnRef idx="1">
            <a:schemeClr val="dk1"/>
          </a:lnRef>
          <a:fillRef idx="0">
            <a:schemeClr val="dk1"/>
          </a:fillRef>
          <a:effectRef idx="0">
            <a:schemeClr val="dk1"/>
          </a:effectRef>
          <a:fontRef idx="minor">
            <a:schemeClr val="tx1"/>
          </a:fontRef>
        </p:style>
      </p:cxnSp>
      <p:sp>
        <p:nvSpPr>
          <p:cNvPr id="77" name="文本框 76">
            <a:extLst>
              <a:ext uri="{FF2B5EF4-FFF2-40B4-BE49-F238E27FC236}">
                <a16:creationId xmlns:a16="http://schemas.microsoft.com/office/drawing/2014/main" id="{6A0BA7E4-E461-B730-98D1-3772C6C7A63D}"/>
              </a:ext>
            </a:extLst>
          </p:cNvPr>
          <p:cNvSpPr txBox="1"/>
          <p:nvPr/>
        </p:nvSpPr>
        <p:spPr>
          <a:xfrm>
            <a:off x="6808898" y="3507269"/>
            <a:ext cx="873830" cy="830997"/>
          </a:xfrm>
          <a:prstGeom prst="rect">
            <a:avLst/>
          </a:prstGeom>
          <a:noFill/>
        </p:spPr>
        <p:txBody>
          <a:bodyPr wrap="square" rtlCol="0">
            <a:spAutoFit/>
          </a:bodyPr>
          <a:lstStyle/>
          <a:p>
            <a:r>
              <a:rPr lang="zh-CN" altLang="en-US" sz="1200" dirty="0"/>
              <a:t>重新选择特征输入或调整学习参数</a:t>
            </a:r>
          </a:p>
        </p:txBody>
      </p:sp>
      <p:sp>
        <p:nvSpPr>
          <p:cNvPr id="78" name="文本框 77">
            <a:extLst>
              <a:ext uri="{FF2B5EF4-FFF2-40B4-BE49-F238E27FC236}">
                <a16:creationId xmlns:a16="http://schemas.microsoft.com/office/drawing/2014/main" id="{02C6FAE0-DC9E-33FB-3921-09FE37C37763}"/>
              </a:ext>
            </a:extLst>
          </p:cNvPr>
          <p:cNvSpPr txBox="1"/>
          <p:nvPr/>
        </p:nvSpPr>
        <p:spPr>
          <a:xfrm>
            <a:off x="5621396" y="5496966"/>
            <a:ext cx="332994" cy="276999"/>
          </a:xfrm>
          <a:prstGeom prst="rect">
            <a:avLst/>
          </a:prstGeom>
          <a:noFill/>
        </p:spPr>
        <p:txBody>
          <a:bodyPr wrap="square" rtlCol="0">
            <a:spAutoFit/>
          </a:bodyPr>
          <a:lstStyle/>
          <a:p>
            <a:r>
              <a:rPr lang="zh-CN" altLang="en-US" sz="1200" dirty="0"/>
              <a:t>是</a:t>
            </a:r>
          </a:p>
        </p:txBody>
      </p:sp>
      <p:sp>
        <p:nvSpPr>
          <p:cNvPr id="79" name="文本框 78">
            <a:extLst>
              <a:ext uri="{FF2B5EF4-FFF2-40B4-BE49-F238E27FC236}">
                <a16:creationId xmlns:a16="http://schemas.microsoft.com/office/drawing/2014/main" id="{33F2FD5F-DF04-E5EF-5901-BC9F1F77E6F2}"/>
              </a:ext>
            </a:extLst>
          </p:cNvPr>
          <p:cNvSpPr txBox="1"/>
          <p:nvPr/>
        </p:nvSpPr>
        <p:spPr>
          <a:xfrm>
            <a:off x="6924681" y="4965394"/>
            <a:ext cx="332994" cy="276999"/>
          </a:xfrm>
          <a:prstGeom prst="rect">
            <a:avLst/>
          </a:prstGeom>
          <a:noFill/>
        </p:spPr>
        <p:txBody>
          <a:bodyPr wrap="square" rtlCol="0">
            <a:spAutoFit/>
          </a:bodyPr>
          <a:lstStyle/>
          <a:p>
            <a:r>
              <a:rPr lang="zh-CN" altLang="en-US" sz="1200" dirty="0"/>
              <a:t>否</a:t>
            </a:r>
          </a:p>
        </p:txBody>
      </p:sp>
    </p:spTree>
    <p:extLst>
      <p:ext uri="{BB962C8B-B14F-4D97-AF65-F5344CB8AC3E}">
        <p14:creationId xmlns:p14="http://schemas.microsoft.com/office/powerpoint/2010/main" val="41212276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19</a:t>
            </a:fld>
            <a:endParaRPr lang="en-US" altLang="zh-CN"/>
          </a:p>
        </p:txBody>
      </p:sp>
      <p:sp>
        <p:nvSpPr>
          <p:cNvPr id="13" name="标题 1">
            <a:extLst>
              <a:ext uri="{FF2B5EF4-FFF2-40B4-BE49-F238E27FC236}">
                <a16:creationId xmlns:a16="http://schemas.microsoft.com/office/drawing/2014/main" id="{5607F18F-699A-4F7F-A2ED-BD80B7B267C8}"/>
              </a:ext>
            </a:extLst>
          </p:cNvPr>
          <p:cNvSpPr>
            <a:spLocks noGrp="1"/>
          </p:cNvSpPr>
          <p:nvPr>
            <p:ph type="title"/>
          </p:nvPr>
        </p:nvSpPr>
        <p:spPr>
          <a:xfrm>
            <a:off x="203253" y="376219"/>
            <a:ext cx="8229600" cy="990600"/>
          </a:xfrm>
        </p:spPr>
        <p:txBody>
          <a:bodyPr/>
          <a:lstStyle/>
          <a:p>
            <a:r>
              <a:rPr lang="en-US" altLang="zh-CN" dirty="0">
                <a:latin typeface="微软雅黑" panose="020B0503020204020204" pitchFamily="34" charset="-122"/>
                <a:ea typeface="微软雅黑" panose="020B0503020204020204" pitchFamily="34" charset="-122"/>
                <a:cs typeface="Times New Roman" panose="02020603050405020304" pitchFamily="18" charset="0"/>
              </a:rPr>
              <a:t>4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机器学习模型的评估与选择</a:t>
            </a:r>
          </a:p>
        </p:txBody>
      </p:sp>
      <p:sp>
        <p:nvSpPr>
          <p:cNvPr id="6" name="文本框 5"/>
          <p:cNvSpPr txBox="1"/>
          <p:nvPr/>
        </p:nvSpPr>
        <p:spPr>
          <a:xfrm>
            <a:off x="341376" y="1560576"/>
            <a:ext cx="8091477" cy="2523768"/>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dirty="0">
                <a:solidFill>
                  <a:srgbClr val="1F497D"/>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误差与损失函数</a:t>
            </a:r>
            <a:endParaRPr lang="en-US" altLang="zh-CN" sz="2800" dirty="0">
              <a:solidFill>
                <a:srgbClr val="1F497D"/>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endParaRPr lang="en-US" altLang="zh-CN" sz="2800" dirty="0">
              <a:solidFill>
                <a:srgbClr val="1F497D"/>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342900" indent="-342900">
              <a:buFont typeface="Wingdings" panose="05000000000000000000" pitchFamily="2" charset="2"/>
              <a:buChar char="p"/>
            </a:pPr>
            <a:r>
              <a:rPr lang="zh-CN" altLang="en-US" sz="2800" dirty="0">
                <a:solidFill>
                  <a:srgbClr val="1F497D"/>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分类问题的性能度量</a:t>
            </a:r>
            <a:endParaRPr lang="en-US" altLang="zh-CN" sz="2800" dirty="0">
              <a:solidFill>
                <a:srgbClr val="1F497D"/>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endParaRPr lang="en-US" altLang="zh-CN" sz="2800" dirty="0">
              <a:solidFill>
                <a:srgbClr val="1F497D"/>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342900" indent="-342900">
              <a:buFont typeface="Wingdings" panose="05000000000000000000" pitchFamily="2" charset="2"/>
              <a:buChar char="p"/>
            </a:pPr>
            <a:r>
              <a:rPr lang="zh-CN" altLang="en-US" sz="2800" dirty="0">
                <a:solidFill>
                  <a:srgbClr val="1F497D"/>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欠拟合与过拟合</a:t>
            </a:r>
            <a:endParaRPr lang="en-US" altLang="zh-CN" sz="2800" dirty="0">
              <a:solidFill>
                <a:srgbClr val="1F497D"/>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endParaRPr lang="zh-CN" altLang="en-US" dirty="0"/>
          </a:p>
        </p:txBody>
      </p:sp>
      <p:sp>
        <p:nvSpPr>
          <p:cNvPr id="7" name="页脚占位符 2">
            <a:extLst>
              <a:ext uri="{FF2B5EF4-FFF2-40B4-BE49-F238E27FC236}">
                <a16:creationId xmlns:a16="http://schemas.microsoft.com/office/drawing/2014/main" id="{FF5E43D3-160D-4AAF-BFAC-16A254D29756}"/>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Tree>
    <p:extLst>
      <p:ext uri="{BB962C8B-B14F-4D97-AF65-F5344CB8AC3E}">
        <p14:creationId xmlns:p14="http://schemas.microsoft.com/office/powerpoint/2010/main" val="31173841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20</a:t>
            </a:fld>
            <a:endParaRPr lang="en-US" altLang="zh-CN"/>
          </a:p>
        </p:txBody>
      </p:sp>
      <p:sp>
        <p:nvSpPr>
          <p:cNvPr id="9"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731974"/>
          </a:xfrm>
        </p:spPr>
        <p:txBody>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误差与损失函数</a:t>
            </a:r>
          </a:p>
        </p:txBody>
      </p:sp>
      <mc:AlternateContent xmlns:mc="http://schemas.openxmlformats.org/markup-compatibility/2006" xmlns:a14="http://schemas.microsoft.com/office/drawing/2010/main">
        <mc:Choice Requires="a14">
          <p:sp>
            <p:nvSpPr>
              <p:cNvPr id="5" name="文本框 4"/>
              <p:cNvSpPr txBox="1"/>
              <p:nvPr/>
            </p:nvSpPr>
            <p:spPr>
              <a:xfrm>
                <a:off x="467360" y="1265841"/>
                <a:ext cx="8371840" cy="3847207"/>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误差</a:t>
                </a:r>
                <a:endParaRPr lang="en-US" altLang="zh-CN" sz="2800"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nSpc>
                    <a:spcPct val="150000"/>
                  </a:lnSpc>
                </a:pPr>
                <a:endParaRPr lang="en-US" altLang="zh-CN" sz="1200"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nSpc>
                    <a:spcPct val="150000"/>
                  </a:lnSpc>
                </a:pPr>
                <a:r>
                  <a:rPr lang="zh-CN" altLang="en-US" sz="2000" dirty="0">
                    <a:latin typeface="微软雅黑" panose="020B0503020204020204" pitchFamily="34" charset="-122"/>
                    <a:ea typeface="微软雅黑" panose="020B0503020204020204" pitchFamily="34" charset="-122"/>
                    <a:sym typeface="Arial" panose="020B0604020202020204" pitchFamily="34" charset="0"/>
                  </a:rPr>
                  <a:t>对于数据集</a:t>
                </a:r>
                <a14:m>
                  <m:oMath xmlns:m="http://schemas.openxmlformats.org/officeDocument/2006/math">
                    <m:r>
                      <a:rPr lang="en-US" altLang="zh-CN" sz="2000">
                        <a:latin typeface="Cambria Math" panose="02040503050406030204" pitchFamily="18" charset="0"/>
                        <a:ea typeface="微软雅黑" panose="020B0503020204020204" pitchFamily="34" charset="-122"/>
                        <a:sym typeface="Arial" panose="020B0604020202020204" pitchFamily="34" charset="0"/>
                      </a:rPr>
                      <m:t>(</m:t>
                    </m:r>
                    <m:r>
                      <a:rPr lang="en-US" altLang="zh-CN" sz="2000">
                        <a:latin typeface="Cambria Math" panose="02040503050406030204" pitchFamily="18" charset="0"/>
                        <a:ea typeface="微软雅黑" panose="020B0503020204020204" pitchFamily="34" charset="-122"/>
                        <a:sym typeface="Arial" panose="020B0604020202020204" pitchFamily="34" charset="0"/>
                      </a:rPr>
                      <m:t>𝒙</m:t>
                    </m:r>
                    <m:r>
                      <a:rPr lang="en-US" altLang="zh-CN" sz="2000">
                        <a:latin typeface="Cambria Math" panose="02040503050406030204" pitchFamily="18" charset="0"/>
                        <a:ea typeface="微软雅黑" panose="020B0503020204020204" pitchFamily="34" charset="-122"/>
                        <a:sym typeface="Arial" panose="020B0604020202020204" pitchFamily="34" charset="0"/>
                      </a:rPr>
                      <m:t>,</m:t>
                    </m:r>
                    <m:r>
                      <a:rPr lang="en-US" altLang="zh-CN" sz="2000">
                        <a:latin typeface="Cambria Math" panose="02040503050406030204" pitchFamily="18" charset="0"/>
                        <a:ea typeface="微软雅黑" panose="020B0503020204020204" pitchFamily="34" charset="-122"/>
                        <a:sym typeface="Arial" panose="020B0604020202020204" pitchFamily="34" charset="0"/>
                      </a:rPr>
                      <m:t>𝒚</m:t>
                    </m:r>
                    <m:r>
                      <a:rPr lang="en-US" altLang="zh-CN" sz="2000">
                        <a:latin typeface="Cambria Math" panose="02040503050406030204" pitchFamily="18" charset="0"/>
                        <a:ea typeface="微软雅黑" panose="020B0503020204020204" pitchFamily="34" charset="-122"/>
                        <a:sym typeface="Arial" panose="020B0604020202020204" pitchFamily="34" charset="0"/>
                      </a:rPr>
                      <m:t>)</m:t>
                    </m:r>
                    <m:r>
                      <a:rPr lang="zh-CN" altLang="en-US" sz="2000">
                        <a:latin typeface="Cambria Math" panose="02040503050406030204" pitchFamily="18" charset="0"/>
                        <a:ea typeface="微软雅黑" panose="020B0503020204020204" pitchFamily="34" charset="-122"/>
                        <a:sym typeface="Arial" panose="020B0604020202020204" pitchFamily="34" charset="0"/>
                      </a:rPr>
                      <m:t>，</m:t>
                    </m:r>
                  </m:oMath>
                </a14:m>
                <a:r>
                  <a:rPr lang="zh-CN" altLang="en-US" sz="2000" dirty="0">
                    <a:latin typeface="微软雅黑" panose="020B0503020204020204" pitchFamily="34" charset="-122"/>
                    <a:ea typeface="微软雅黑" panose="020B0503020204020204" pitchFamily="34" charset="-122"/>
                    <a:sym typeface="Arial" panose="020B0604020202020204" pitchFamily="34" charset="0"/>
                  </a:rPr>
                  <a:t>误差是指</a:t>
                </a:r>
                <a:r>
                  <a:rPr lang="zh-CN" altLang="en-US" sz="2000" dirty="0">
                    <a:solidFill>
                      <a:srgbClr val="C00000"/>
                    </a:solidFill>
                    <a:latin typeface="微软雅黑" panose="020B0503020204020204" pitchFamily="34" charset="-122"/>
                    <a:ea typeface="微软雅黑" panose="020B0503020204020204" pitchFamily="34" charset="-122"/>
                    <a:sym typeface="Arial" panose="020B0604020202020204" pitchFamily="34" charset="0"/>
                  </a:rPr>
                  <a:t>模型的输出结果</a:t>
                </a:r>
                <a14:m>
                  <m:oMath xmlns:m="http://schemas.openxmlformats.org/officeDocument/2006/math">
                    <m:acc>
                      <m:accPr>
                        <m:chr m:val="̂"/>
                        <m:ctrlPr>
                          <a:rPr lang="zh-CN" altLang="en-US" sz="2000" i="1">
                            <a:solidFill>
                              <a:srgbClr val="C00000"/>
                            </a:solidFill>
                            <a:latin typeface="Cambria Math" panose="02040503050406030204" pitchFamily="18" charset="0"/>
                            <a:ea typeface="微软雅黑" panose="020B0503020204020204" pitchFamily="34" charset="-122"/>
                            <a:sym typeface="Arial" panose="020B0604020202020204" pitchFamily="34" charset="0"/>
                          </a:rPr>
                        </m:ctrlPr>
                      </m:accPr>
                      <m:e>
                        <m:r>
                          <a:rPr lang="en-US" altLang="zh-CN" sz="2000">
                            <a:solidFill>
                              <a:srgbClr val="C00000"/>
                            </a:solidFill>
                            <a:latin typeface="Cambria Math" panose="02040503050406030204" pitchFamily="18" charset="0"/>
                            <a:ea typeface="微软雅黑" panose="020B0503020204020204" pitchFamily="34" charset="-122"/>
                            <a:sym typeface="Arial" panose="020B0604020202020204" pitchFamily="34" charset="0"/>
                          </a:rPr>
                          <m:t>𝒚</m:t>
                        </m:r>
                      </m:e>
                    </m:acc>
                    <m:r>
                      <a:rPr lang="en-US" altLang="zh-CN" sz="2000">
                        <a:solidFill>
                          <a:srgbClr val="C00000"/>
                        </a:solidFill>
                        <a:latin typeface="Cambria Math" panose="02040503050406030204" pitchFamily="18" charset="0"/>
                        <a:ea typeface="微软雅黑" panose="020B0503020204020204" pitchFamily="34" charset="-122"/>
                        <a:sym typeface="Arial" panose="020B0604020202020204" pitchFamily="34" charset="0"/>
                      </a:rPr>
                      <m:t>=</m:t>
                    </m:r>
                    <m:r>
                      <a:rPr lang="en-US" altLang="zh-CN" sz="2000">
                        <a:solidFill>
                          <a:srgbClr val="C00000"/>
                        </a:solidFill>
                        <a:latin typeface="Cambria Math" panose="02040503050406030204" pitchFamily="18" charset="0"/>
                        <a:ea typeface="微软雅黑" panose="020B0503020204020204" pitchFamily="34" charset="-122"/>
                        <a:sym typeface="Arial" panose="020B0604020202020204" pitchFamily="34" charset="0"/>
                      </a:rPr>
                      <m:t>𝑓</m:t>
                    </m:r>
                    <m:r>
                      <a:rPr lang="en-US" altLang="zh-CN" sz="2000">
                        <a:solidFill>
                          <a:srgbClr val="C00000"/>
                        </a:solidFill>
                        <a:latin typeface="Cambria Math" panose="02040503050406030204" pitchFamily="18" charset="0"/>
                        <a:ea typeface="微软雅黑" panose="020B0503020204020204" pitchFamily="34" charset="-122"/>
                        <a:sym typeface="Arial" panose="020B0604020202020204" pitchFamily="34" charset="0"/>
                      </a:rPr>
                      <m:t>(</m:t>
                    </m:r>
                    <m:r>
                      <a:rPr lang="en-US" altLang="zh-CN" sz="2000">
                        <a:solidFill>
                          <a:srgbClr val="C00000"/>
                        </a:solidFill>
                        <a:latin typeface="Cambria Math" panose="02040503050406030204" pitchFamily="18" charset="0"/>
                        <a:ea typeface="微软雅黑" panose="020B0503020204020204" pitchFamily="34" charset="-122"/>
                        <a:sym typeface="Arial" panose="020B0604020202020204" pitchFamily="34" charset="0"/>
                      </a:rPr>
                      <m:t>𝒙</m:t>
                    </m:r>
                    <m:r>
                      <a:rPr lang="en-US" altLang="zh-CN" sz="2000">
                        <a:solidFill>
                          <a:srgbClr val="C00000"/>
                        </a:solidFill>
                        <a:latin typeface="Cambria Math" panose="02040503050406030204" pitchFamily="18" charset="0"/>
                        <a:ea typeface="微软雅黑" panose="020B0503020204020204" pitchFamily="34" charset="-122"/>
                        <a:sym typeface="Arial" panose="020B0604020202020204" pitchFamily="34" charset="0"/>
                      </a:rPr>
                      <m:t>)</m:t>
                    </m:r>
                  </m:oMath>
                </a14:m>
                <a:r>
                  <a:rPr lang="zh-CN" altLang="en-US" sz="2000" dirty="0">
                    <a:solidFill>
                      <a:srgbClr val="C00000"/>
                    </a:solidFill>
                    <a:latin typeface="微软雅黑" panose="020B0503020204020204" pitchFamily="34" charset="-122"/>
                    <a:ea typeface="微软雅黑" panose="020B0503020204020204" pitchFamily="34" charset="-122"/>
                    <a:sym typeface="Arial" panose="020B0604020202020204" pitchFamily="34" charset="0"/>
                  </a:rPr>
                  <a:t>与真实值</a:t>
                </a:r>
                <a14:m>
                  <m:oMath xmlns:m="http://schemas.openxmlformats.org/officeDocument/2006/math">
                    <m:r>
                      <a:rPr lang="en-US" altLang="zh-CN" sz="2000">
                        <a:solidFill>
                          <a:srgbClr val="C00000"/>
                        </a:solidFill>
                        <a:latin typeface="Cambria Math" panose="02040503050406030204" pitchFamily="18" charset="0"/>
                        <a:ea typeface="微软雅黑" panose="020B0503020204020204" pitchFamily="34" charset="-122"/>
                        <a:sym typeface="Arial" panose="020B0604020202020204" pitchFamily="34" charset="0"/>
                      </a:rPr>
                      <m:t>𝒚</m:t>
                    </m:r>
                  </m:oMath>
                </a14:m>
                <a:r>
                  <a:rPr lang="zh-CN" altLang="en-US" sz="2000" dirty="0">
                    <a:solidFill>
                      <a:srgbClr val="C00000"/>
                    </a:solidFill>
                    <a:latin typeface="微软雅黑" panose="020B0503020204020204" pitchFamily="34" charset="-122"/>
                    <a:ea typeface="微软雅黑" panose="020B0503020204020204" pitchFamily="34" charset="-122"/>
                    <a:sym typeface="Arial" panose="020B0604020202020204" pitchFamily="34" charset="0"/>
                  </a:rPr>
                  <a:t>之间的差异</a:t>
                </a:r>
                <a:r>
                  <a:rPr lang="zh-CN" altLang="en-US" sz="2000" dirty="0">
                    <a:latin typeface="微软雅黑" panose="020B0503020204020204" pitchFamily="34" charset="-122"/>
                    <a:ea typeface="微软雅黑" panose="020B0503020204020204" pitchFamily="34" charset="-122"/>
                    <a:sym typeface="Arial" panose="020B0604020202020204" pitchFamily="34" charset="0"/>
                  </a:rPr>
                  <a:t>。误差是评估模型优劣的重要标准之一。</a:t>
                </a:r>
                <a:endParaRPr lang="en-US" altLang="zh-CN" sz="20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en-US" altLang="zh-CN" sz="20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a:latin typeface="微软雅黑" panose="020B0503020204020204" pitchFamily="34" charset="-122"/>
                    <a:ea typeface="微软雅黑" panose="020B0503020204020204" pitchFamily="34" charset="-122"/>
                    <a:sym typeface="Arial" panose="020B0604020202020204" pitchFamily="34" charset="0"/>
                  </a:rPr>
                  <a:t>模型在训练集上的误差被称为“训练误差”（</a:t>
                </a:r>
                <a:r>
                  <a:rPr lang="en-US" altLang="zh-CN" sz="2000" dirty="0">
                    <a:latin typeface="微软雅黑" panose="020B0503020204020204" pitchFamily="34" charset="-122"/>
                    <a:ea typeface="微软雅黑" panose="020B0503020204020204" pitchFamily="34" charset="-122"/>
                    <a:sym typeface="Arial" panose="020B0604020202020204" pitchFamily="34" charset="0"/>
                  </a:rPr>
                  <a:t>training error</a:t>
                </a:r>
                <a:r>
                  <a:rPr lang="zh-CN" altLang="en-US" sz="2000" dirty="0">
                    <a:latin typeface="微软雅黑" panose="020B0503020204020204" pitchFamily="34" charset="-122"/>
                    <a:ea typeface="微软雅黑" panose="020B0503020204020204" pitchFamily="34" charset="-122"/>
                    <a:sym typeface="Arial" panose="020B0604020202020204" pitchFamily="34" charset="0"/>
                  </a:rPr>
                  <a:t>）或“经验误差”（</a:t>
                </a:r>
                <a:r>
                  <a:rPr lang="en-US" altLang="zh-CN" sz="2000" dirty="0">
                    <a:latin typeface="微软雅黑" panose="020B0503020204020204" pitchFamily="34" charset="-122"/>
                    <a:ea typeface="微软雅黑" panose="020B0503020204020204" pitchFamily="34" charset="-122"/>
                    <a:sym typeface="Arial" panose="020B0604020202020204" pitchFamily="34" charset="0"/>
                  </a:rPr>
                  <a:t>empirical error</a:t>
                </a:r>
                <a:r>
                  <a:rPr lang="zh-CN" altLang="en-US" sz="2000" dirty="0">
                    <a:latin typeface="微软雅黑" panose="020B0503020204020204" pitchFamily="34" charset="-122"/>
                    <a:ea typeface="微软雅黑" panose="020B0503020204020204" pitchFamily="34" charset="-122"/>
                    <a:sym typeface="Arial" panose="020B0604020202020204" pitchFamily="34" charset="0"/>
                  </a:rPr>
                  <a:t>）。在验证集上的误差被称为“验证误差”（</a:t>
                </a:r>
                <a:r>
                  <a:rPr lang="en-US" altLang="zh-CN" sz="2000" dirty="0">
                    <a:latin typeface="微软雅黑" panose="020B0503020204020204" pitchFamily="34" charset="-122"/>
                    <a:ea typeface="微软雅黑" panose="020B0503020204020204" pitchFamily="34" charset="-122"/>
                    <a:sym typeface="Arial" panose="020B0604020202020204" pitchFamily="34" charset="0"/>
                  </a:rPr>
                  <a:t>validation error</a:t>
                </a:r>
                <a:r>
                  <a:rPr lang="zh-CN" altLang="en-US" sz="2000" dirty="0">
                    <a:latin typeface="微软雅黑" panose="020B0503020204020204" pitchFamily="34" charset="-122"/>
                    <a:ea typeface="微软雅黑" panose="020B0503020204020204" pitchFamily="34" charset="-122"/>
                    <a:sym typeface="Arial" panose="020B0604020202020204" pitchFamily="34" charset="0"/>
                  </a:rPr>
                  <a:t>），测试集上的误差被称为“测试误差”（</a:t>
                </a:r>
                <a:r>
                  <a:rPr lang="en-US" altLang="zh-CN" sz="2000" dirty="0">
                    <a:latin typeface="微软雅黑" panose="020B0503020204020204" pitchFamily="34" charset="-122"/>
                    <a:ea typeface="微软雅黑" panose="020B0503020204020204" pitchFamily="34" charset="-122"/>
                    <a:sym typeface="Arial" panose="020B0604020202020204" pitchFamily="34" charset="0"/>
                  </a:rPr>
                  <a:t>test error</a:t>
                </a:r>
                <a:r>
                  <a:rPr lang="zh-CN" altLang="en-US" sz="2000" dirty="0">
                    <a:latin typeface="微软雅黑" panose="020B0503020204020204" pitchFamily="34" charset="-122"/>
                    <a:ea typeface="微软雅黑" panose="020B0503020204020204" pitchFamily="34" charset="-122"/>
                    <a:sym typeface="Arial" panose="020B0604020202020204" pitchFamily="34" charset="0"/>
                  </a:rPr>
                  <a:t>）</a:t>
                </a:r>
                <a:endParaRPr lang="en-US" altLang="zh-CN" sz="2000" dirty="0">
                  <a:latin typeface="微软雅黑" panose="020B0503020204020204" pitchFamily="34" charset="-122"/>
                  <a:ea typeface="微软雅黑" panose="020B0503020204020204" pitchFamily="34" charset="-122"/>
                  <a:sym typeface="Arial" panose="020B0604020202020204" pitchFamily="34" charset="0"/>
                </a:endParaRPr>
              </a:p>
              <a:p>
                <a:endParaRPr lang="en-US" altLang="zh-CN" sz="2000" dirty="0">
                  <a:latin typeface="微软雅黑" panose="020B0503020204020204" pitchFamily="34" charset="-122"/>
                  <a:ea typeface="微软雅黑" panose="020B0503020204020204" pitchFamily="34" charset="-122"/>
                  <a:sym typeface="Arial" panose="020B0604020202020204" pitchFamily="34"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467360" y="1265841"/>
                <a:ext cx="8371840" cy="3847207"/>
              </a:xfrm>
              <a:prstGeom prst="rect">
                <a:avLst/>
              </a:prstGeom>
              <a:blipFill>
                <a:blip r:embed="rId2"/>
                <a:stretch>
                  <a:fillRect l="-1311" t="-1743" r="-2185"/>
                </a:stretch>
              </a:blipFill>
            </p:spPr>
            <p:txBody>
              <a:bodyPr/>
              <a:lstStyle/>
              <a:p>
                <a:r>
                  <a:rPr lang="zh-CN" altLang="en-US">
                    <a:noFill/>
                  </a:rPr>
                  <a:t> </a:t>
                </a:r>
              </a:p>
            </p:txBody>
          </p:sp>
        </mc:Fallback>
      </mc:AlternateContent>
      <p:sp>
        <p:nvSpPr>
          <p:cNvPr id="7" name="页脚占位符 2">
            <a:extLst>
              <a:ext uri="{FF2B5EF4-FFF2-40B4-BE49-F238E27FC236}">
                <a16:creationId xmlns:a16="http://schemas.microsoft.com/office/drawing/2014/main" id="{0F25B0EC-7CED-4A9B-9B98-7192A58941EC}"/>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Tree>
    <p:extLst>
      <p:ext uri="{BB962C8B-B14F-4D97-AF65-F5344CB8AC3E}">
        <p14:creationId xmlns:p14="http://schemas.microsoft.com/office/powerpoint/2010/main" val="38417362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21</a:t>
            </a:fld>
            <a:endParaRPr lang="en-US" altLang="zh-CN"/>
          </a:p>
        </p:txBody>
      </p:sp>
      <p:sp>
        <p:nvSpPr>
          <p:cNvPr id="9"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731974"/>
          </a:xfrm>
        </p:spPr>
        <p:txBody>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误差与损失函数</a:t>
            </a:r>
          </a:p>
        </p:txBody>
      </p:sp>
      <mc:AlternateContent xmlns:mc="http://schemas.openxmlformats.org/markup-compatibility/2006" xmlns:a14="http://schemas.microsoft.com/office/drawing/2010/main">
        <mc:Choice Requires="a14">
          <p:sp>
            <p:nvSpPr>
              <p:cNvPr id="5" name="文本框 4"/>
              <p:cNvSpPr txBox="1"/>
              <p:nvPr/>
            </p:nvSpPr>
            <p:spPr>
              <a:xfrm>
                <a:off x="162560" y="1265841"/>
                <a:ext cx="8371840" cy="3736729"/>
              </a:xfrm>
              <a:prstGeom prst="rect">
                <a:avLst/>
              </a:prstGeom>
              <a:noFill/>
            </p:spPr>
            <p:txBody>
              <a:bodyPr wrap="square" rtlCol="0">
                <a:spAutoFit/>
              </a:bodyPr>
              <a:lstStyle/>
              <a:p>
                <a:pPr marL="342900" indent="-342900">
                  <a:buFont typeface="Wingdings" panose="05000000000000000000" pitchFamily="2" charset="2"/>
                  <a:buChar char="p"/>
                </a:pPr>
                <a:r>
                  <a:rPr lang="zh-CN" altLang="en-US" sz="2400"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损失函数</a:t>
                </a:r>
                <a:endParaRPr lang="en-US" altLang="zh-CN" sz="2400"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nSpc>
                    <a:spcPct val="150000"/>
                  </a:lnSpc>
                </a:pPr>
                <a:r>
                  <a:rPr lang="zh-CN" altLang="en-US" dirty="0">
                    <a:latin typeface="微软雅黑" panose="020B0503020204020204" pitchFamily="34" charset="-122"/>
                    <a:ea typeface="微软雅黑" panose="020B0503020204020204" pitchFamily="34" charset="-122"/>
                    <a:sym typeface="Arial" panose="020B0604020202020204" pitchFamily="34" charset="0"/>
                  </a:rPr>
                  <a:t>为了合理地量化误差，来度量出模型在数据集上的表现，我们可以</a:t>
                </a:r>
                <a:r>
                  <a:rPr lang="zh-CN" altLang="en-US" dirty="0">
                    <a:solidFill>
                      <a:srgbClr val="C00000"/>
                    </a:solidFill>
                    <a:latin typeface="微软雅黑" panose="020B0503020204020204" pitchFamily="34" charset="-122"/>
                    <a:ea typeface="微软雅黑" panose="020B0503020204020204" pitchFamily="34" charset="-122"/>
                    <a:sym typeface="Arial" panose="020B0604020202020204" pitchFamily="34" charset="0"/>
                  </a:rPr>
                  <a:t>构造</a:t>
                </a:r>
                <a:r>
                  <a:rPr lang="zh-CN" altLang="en-US" b="1" dirty="0">
                    <a:solidFill>
                      <a:srgbClr val="C00000"/>
                    </a:solidFill>
                    <a:latin typeface="微软雅黑" panose="020B0503020204020204" pitchFamily="34" charset="-122"/>
                    <a:ea typeface="微软雅黑" panose="020B0503020204020204" pitchFamily="34" charset="-122"/>
                    <a:sym typeface="Arial" panose="020B0604020202020204" pitchFamily="34" charset="0"/>
                  </a:rPr>
                  <a:t>衡量误差</a:t>
                </a:r>
                <a:r>
                  <a:rPr lang="zh-CN" altLang="en-US" dirty="0">
                    <a:solidFill>
                      <a:srgbClr val="C00000"/>
                    </a:solidFill>
                    <a:latin typeface="微软雅黑" panose="020B0503020204020204" pitchFamily="34" charset="-122"/>
                    <a:ea typeface="微软雅黑" panose="020B0503020204020204" pitchFamily="34" charset="-122"/>
                    <a:sym typeface="Arial" panose="020B0604020202020204" pitchFamily="34" charset="0"/>
                  </a:rPr>
                  <a:t>的函数</a:t>
                </a:r>
                <a:r>
                  <a:rPr lang="zh-CN" altLang="en-US" dirty="0">
                    <a:latin typeface="微软雅黑" panose="020B0503020204020204" pitchFamily="34" charset="-122"/>
                    <a:ea typeface="微软雅黑" panose="020B0503020204020204" pitchFamily="34" charset="-122"/>
                    <a:sym typeface="Arial" panose="020B0604020202020204" pitchFamily="34" charset="0"/>
                  </a:rPr>
                  <a:t>，这种函数统称为损失函数（</a:t>
                </a:r>
                <a:r>
                  <a:rPr lang="en-US" altLang="zh-CN" dirty="0">
                    <a:latin typeface="微软雅黑" panose="020B0503020204020204" pitchFamily="34" charset="-122"/>
                    <a:ea typeface="微软雅黑" panose="020B0503020204020204" pitchFamily="34" charset="-122"/>
                    <a:sym typeface="Arial" panose="020B0604020202020204" pitchFamily="34" charset="0"/>
                  </a:rPr>
                  <a:t>loss function</a:t>
                </a:r>
                <a:r>
                  <a:rPr lang="zh-CN" altLang="en-US" dirty="0">
                    <a:latin typeface="微软雅黑" panose="020B0503020204020204" pitchFamily="34" charset="-122"/>
                    <a:ea typeface="微软雅黑" panose="020B0503020204020204" pitchFamily="34" charset="-122"/>
                    <a:sym typeface="Arial" panose="020B0604020202020204" pitchFamily="34" charset="0"/>
                  </a:rPr>
                  <a:t>）或代价函数（</a:t>
                </a:r>
                <a:r>
                  <a:rPr lang="en-US" altLang="zh-CN" dirty="0">
                    <a:latin typeface="微软雅黑" panose="020B0503020204020204" pitchFamily="34" charset="-122"/>
                    <a:ea typeface="微软雅黑" panose="020B0503020204020204" pitchFamily="34" charset="-122"/>
                    <a:sym typeface="Arial" panose="020B0604020202020204" pitchFamily="34" charset="0"/>
                  </a:rPr>
                  <a:t>cost function</a:t>
                </a:r>
                <a:r>
                  <a:rPr lang="zh-CN" altLang="en-US" dirty="0">
                    <a:latin typeface="微软雅黑" panose="020B0503020204020204" pitchFamily="34" charset="-122"/>
                    <a:ea typeface="微软雅黑" panose="020B0503020204020204" pitchFamily="34" charset="-122"/>
                    <a:sym typeface="Arial" panose="020B0604020202020204" pitchFamily="34" charset="0"/>
                  </a:rPr>
                  <a:t>）。</a:t>
                </a:r>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dirty="0">
                    <a:latin typeface="微软雅黑" panose="020B0503020204020204" pitchFamily="34" charset="-122"/>
                    <a:ea typeface="微软雅黑" panose="020B0503020204020204" pitchFamily="34" charset="-122"/>
                    <a:sym typeface="Arial" panose="020B0604020202020204" pitchFamily="34" charset="0"/>
                  </a:rPr>
                  <a:t>假设数据集</a:t>
                </a:r>
                <a14:m>
                  <m:oMath xmlns:m="http://schemas.openxmlformats.org/officeDocument/2006/math">
                    <m:r>
                      <a:rPr lang="en-US" altLang="zh-CN" b="0" i="1" smtClean="0">
                        <a:latin typeface="Cambria Math" panose="02040503050406030204" pitchFamily="18" charset="0"/>
                        <a:ea typeface="微软雅黑" panose="020B0503020204020204" pitchFamily="34" charset="-122"/>
                        <a:sym typeface="Arial" panose="020B0604020202020204" pitchFamily="34" charset="0"/>
                      </a:rPr>
                      <m:t>𝐷</m:t>
                    </m:r>
                    <m:r>
                      <a:rPr lang="en-US" altLang="zh-CN" b="0" i="1" smtClean="0">
                        <a:latin typeface="Cambria Math" panose="02040503050406030204" pitchFamily="18" charset="0"/>
                        <a:ea typeface="微软雅黑" panose="020B0503020204020204" pitchFamily="34" charset="-122"/>
                        <a:sym typeface="Arial" panose="020B0604020202020204" pitchFamily="34" charset="0"/>
                      </a:rPr>
                      <m:t>={</m:t>
                    </m:r>
                    <m:d>
                      <m:dPr>
                        <m:ctrlPr>
                          <a:rPr lang="en-US" altLang="zh-CN" b="0" i="1" smtClean="0">
                            <a:latin typeface="Cambria Math" panose="02040503050406030204" pitchFamily="18" charset="0"/>
                            <a:ea typeface="微软雅黑" panose="020B0503020204020204" pitchFamily="34" charset="-122"/>
                            <a:sym typeface="Arial" panose="020B0604020202020204" pitchFamily="34" charset="0"/>
                          </a:rPr>
                        </m:ctrlPr>
                      </m:dPr>
                      <m:e>
                        <m:sSub>
                          <m:sSubPr>
                            <m:ctrlPr>
                              <a:rPr lang="en-US" altLang="zh-CN" b="1" i="1" smtClean="0">
                                <a:latin typeface="Cambria Math" panose="02040503050406030204" pitchFamily="18" charset="0"/>
                                <a:ea typeface="微软雅黑" panose="020B0503020204020204" pitchFamily="34" charset="-122"/>
                                <a:sym typeface="Arial" panose="020B0604020202020204" pitchFamily="34" charset="0"/>
                              </a:rPr>
                            </m:ctrlPr>
                          </m:sSubPr>
                          <m:e>
                            <m:r>
                              <a:rPr lang="en-US" altLang="zh-CN" b="1" i="1" smtClean="0">
                                <a:latin typeface="Cambria Math" panose="02040503050406030204" pitchFamily="18" charset="0"/>
                                <a:ea typeface="微软雅黑" panose="020B0503020204020204" pitchFamily="34" charset="-122"/>
                                <a:sym typeface="Arial" panose="020B0604020202020204" pitchFamily="34" charset="0"/>
                              </a:rPr>
                              <m:t>𝒙</m:t>
                            </m:r>
                          </m:e>
                          <m:sub>
                            <m:r>
                              <a:rPr lang="en-US" altLang="zh-CN" b="1" i="1" smtClean="0">
                                <a:latin typeface="Cambria Math" panose="02040503050406030204" pitchFamily="18" charset="0"/>
                                <a:ea typeface="微软雅黑" panose="020B0503020204020204" pitchFamily="34" charset="-122"/>
                                <a:sym typeface="Arial" panose="020B0604020202020204" pitchFamily="34" charset="0"/>
                              </a:rPr>
                              <m:t>𝟏</m:t>
                            </m:r>
                          </m:sub>
                        </m:sSub>
                        <m:r>
                          <a:rPr lang="en-US" altLang="zh-CN" b="0" i="1" smtClean="0">
                            <a:latin typeface="Cambria Math" panose="02040503050406030204" pitchFamily="18" charset="0"/>
                            <a:ea typeface="微软雅黑" panose="020B0503020204020204" pitchFamily="34" charset="-122"/>
                            <a:sym typeface="Arial" panose="020B0604020202020204" pitchFamily="34" charset="0"/>
                          </a:rPr>
                          <m:t>,</m:t>
                        </m:r>
                        <m:sSub>
                          <m:sSubPr>
                            <m:ctrlPr>
                              <a:rPr lang="en-US" altLang="zh-CN" b="0" i="1" smtClean="0">
                                <a:latin typeface="Cambria Math" panose="02040503050406030204" pitchFamily="18" charset="0"/>
                                <a:ea typeface="微软雅黑" panose="020B0503020204020204" pitchFamily="34" charset="-122"/>
                                <a:sym typeface="Arial" panose="020B0604020202020204" pitchFamily="34" charset="0"/>
                              </a:rPr>
                            </m:ctrlPr>
                          </m:sSubPr>
                          <m:e>
                            <m:r>
                              <a:rPr lang="en-US" altLang="zh-CN" b="0" i="1" smtClean="0">
                                <a:latin typeface="Cambria Math" panose="02040503050406030204" pitchFamily="18" charset="0"/>
                                <a:ea typeface="微软雅黑" panose="020B0503020204020204" pitchFamily="34" charset="-122"/>
                                <a:sym typeface="Arial" panose="020B0604020202020204" pitchFamily="34" charset="0"/>
                              </a:rPr>
                              <m:t>𝑦</m:t>
                            </m:r>
                          </m:e>
                          <m:sub>
                            <m:r>
                              <a:rPr lang="en-US" altLang="zh-CN" b="0" i="1" smtClean="0">
                                <a:latin typeface="Cambria Math" panose="02040503050406030204" pitchFamily="18" charset="0"/>
                                <a:ea typeface="微软雅黑" panose="020B0503020204020204" pitchFamily="34" charset="-122"/>
                                <a:sym typeface="Arial" panose="020B0604020202020204" pitchFamily="34" charset="0"/>
                              </a:rPr>
                              <m:t>1</m:t>
                            </m:r>
                          </m:sub>
                        </m:sSub>
                      </m:e>
                    </m:d>
                    <m:r>
                      <a:rPr lang="en-US" altLang="zh-CN" b="0" i="1" smtClean="0">
                        <a:latin typeface="Cambria Math" panose="02040503050406030204" pitchFamily="18" charset="0"/>
                        <a:ea typeface="微软雅黑" panose="020B0503020204020204" pitchFamily="34" charset="-122"/>
                        <a:sym typeface="Arial" panose="020B0604020202020204" pitchFamily="34" charset="0"/>
                      </a:rPr>
                      <m:t>,</m:t>
                    </m:r>
                    <m:d>
                      <m:dPr>
                        <m:ctrlPr>
                          <a:rPr lang="en-US" altLang="zh-CN" i="1">
                            <a:latin typeface="Cambria Math" panose="02040503050406030204" pitchFamily="18" charset="0"/>
                            <a:ea typeface="微软雅黑" panose="020B0503020204020204" pitchFamily="34" charset="-122"/>
                            <a:sym typeface="Arial" panose="020B0604020202020204" pitchFamily="34" charset="0"/>
                          </a:rPr>
                        </m:ctrlPr>
                      </m:dPr>
                      <m:e>
                        <m:sSub>
                          <m:sSubPr>
                            <m:ctrlPr>
                              <a:rPr lang="en-US" altLang="zh-CN" b="1" i="1">
                                <a:latin typeface="Cambria Math" panose="02040503050406030204" pitchFamily="18" charset="0"/>
                                <a:ea typeface="微软雅黑" panose="020B0503020204020204" pitchFamily="34" charset="-122"/>
                                <a:sym typeface="Arial" panose="020B0604020202020204" pitchFamily="34" charset="0"/>
                              </a:rPr>
                            </m:ctrlPr>
                          </m:sSubPr>
                          <m:e>
                            <m:r>
                              <a:rPr lang="en-US" altLang="zh-CN" b="1" i="1">
                                <a:latin typeface="Cambria Math" panose="02040503050406030204" pitchFamily="18" charset="0"/>
                                <a:ea typeface="微软雅黑" panose="020B0503020204020204" pitchFamily="34" charset="-122"/>
                                <a:sym typeface="Arial" panose="020B0604020202020204" pitchFamily="34" charset="0"/>
                              </a:rPr>
                              <m:t>𝒙</m:t>
                            </m:r>
                          </m:e>
                          <m:sub>
                            <m:r>
                              <a:rPr lang="en-US" altLang="zh-CN" b="1" i="1" smtClean="0">
                                <a:latin typeface="Cambria Math" panose="02040503050406030204" pitchFamily="18" charset="0"/>
                                <a:ea typeface="微软雅黑" panose="020B0503020204020204" pitchFamily="34" charset="-122"/>
                                <a:sym typeface="Arial" panose="020B0604020202020204" pitchFamily="34" charset="0"/>
                              </a:rPr>
                              <m:t>𝟐</m:t>
                            </m:r>
                          </m:sub>
                        </m:sSub>
                        <m:r>
                          <a:rPr lang="en-US" altLang="zh-CN" i="1">
                            <a:latin typeface="Cambria Math" panose="02040503050406030204" pitchFamily="18" charset="0"/>
                            <a:ea typeface="微软雅黑" panose="020B0503020204020204" pitchFamily="34" charset="-122"/>
                            <a:sym typeface="Arial" panose="020B0604020202020204" pitchFamily="34" charset="0"/>
                          </a:rPr>
                          <m:t>,</m:t>
                        </m:r>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r>
                              <a:rPr lang="en-US" altLang="zh-CN" i="1">
                                <a:latin typeface="Cambria Math" panose="02040503050406030204" pitchFamily="18" charset="0"/>
                                <a:ea typeface="微软雅黑" panose="020B0503020204020204" pitchFamily="34" charset="-122"/>
                                <a:sym typeface="Arial" panose="020B0604020202020204" pitchFamily="34" charset="0"/>
                              </a:rPr>
                              <m:t>𝑦</m:t>
                            </m:r>
                          </m:e>
                          <m:sub>
                            <m:r>
                              <a:rPr lang="en-US" altLang="zh-CN" b="0" i="1" smtClean="0">
                                <a:latin typeface="Cambria Math" panose="02040503050406030204" pitchFamily="18" charset="0"/>
                                <a:ea typeface="微软雅黑" panose="020B0503020204020204" pitchFamily="34" charset="-122"/>
                                <a:sym typeface="Arial" panose="020B0604020202020204" pitchFamily="34" charset="0"/>
                              </a:rPr>
                              <m:t>2</m:t>
                            </m:r>
                          </m:sub>
                        </m:sSub>
                      </m:e>
                    </m:d>
                    <m:r>
                      <a:rPr lang="en-US" altLang="zh-CN" b="0" i="1" smtClean="0">
                        <a:latin typeface="Cambria Math" panose="02040503050406030204" pitchFamily="18" charset="0"/>
                        <a:ea typeface="微软雅黑" panose="020B0503020204020204" pitchFamily="34" charset="-122"/>
                        <a:sym typeface="Arial" panose="020B0604020202020204" pitchFamily="34" charset="0"/>
                      </a:rPr>
                      <m:t>,…,</m:t>
                    </m:r>
                    <m:d>
                      <m:dPr>
                        <m:ctrlPr>
                          <a:rPr lang="en-US" altLang="zh-CN" i="1">
                            <a:latin typeface="Cambria Math" panose="02040503050406030204" pitchFamily="18" charset="0"/>
                            <a:ea typeface="微软雅黑" panose="020B0503020204020204" pitchFamily="34" charset="-122"/>
                            <a:sym typeface="Arial" panose="020B0604020202020204" pitchFamily="34" charset="0"/>
                          </a:rPr>
                        </m:ctrlPr>
                      </m:dPr>
                      <m:e>
                        <m:sSub>
                          <m:sSubPr>
                            <m:ctrlPr>
                              <a:rPr lang="en-US" altLang="zh-CN" b="1" i="1">
                                <a:latin typeface="Cambria Math" panose="02040503050406030204" pitchFamily="18" charset="0"/>
                                <a:ea typeface="微软雅黑" panose="020B0503020204020204" pitchFamily="34" charset="-122"/>
                                <a:sym typeface="Arial" panose="020B0604020202020204" pitchFamily="34" charset="0"/>
                              </a:rPr>
                            </m:ctrlPr>
                          </m:sSubPr>
                          <m:e>
                            <m:r>
                              <a:rPr lang="en-US" altLang="zh-CN" b="1" i="1">
                                <a:latin typeface="Cambria Math" panose="02040503050406030204" pitchFamily="18" charset="0"/>
                                <a:ea typeface="微软雅黑" panose="020B0503020204020204" pitchFamily="34" charset="-122"/>
                                <a:sym typeface="Arial" panose="020B0604020202020204" pitchFamily="34" charset="0"/>
                              </a:rPr>
                              <m:t>𝒙</m:t>
                            </m:r>
                          </m:e>
                          <m:sub>
                            <m:r>
                              <a:rPr lang="en-US" altLang="zh-CN" b="1" i="1" smtClean="0">
                                <a:latin typeface="Cambria Math" panose="02040503050406030204" pitchFamily="18" charset="0"/>
                                <a:ea typeface="微软雅黑" panose="020B0503020204020204" pitchFamily="34" charset="-122"/>
                                <a:sym typeface="Arial" panose="020B0604020202020204" pitchFamily="34" charset="0"/>
                              </a:rPr>
                              <m:t>𝒎</m:t>
                            </m:r>
                          </m:sub>
                        </m:sSub>
                        <m:r>
                          <a:rPr lang="en-US" altLang="zh-CN" i="1">
                            <a:latin typeface="Cambria Math" panose="02040503050406030204" pitchFamily="18" charset="0"/>
                            <a:ea typeface="微软雅黑" panose="020B0503020204020204" pitchFamily="34" charset="-122"/>
                            <a:sym typeface="Arial" panose="020B0604020202020204" pitchFamily="34" charset="0"/>
                          </a:rPr>
                          <m:t>,</m:t>
                        </m:r>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r>
                              <a:rPr lang="en-US" altLang="zh-CN" i="1">
                                <a:latin typeface="Cambria Math" panose="02040503050406030204" pitchFamily="18" charset="0"/>
                                <a:ea typeface="微软雅黑" panose="020B0503020204020204" pitchFamily="34" charset="-122"/>
                                <a:sym typeface="Arial" panose="020B0604020202020204" pitchFamily="34" charset="0"/>
                              </a:rPr>
                              <m:t>𝑦</m:t>
                            </m:r>
                          </m:e>
                          <m:sub>
                            <m:r>
                              <a:rPr lang="en-US" altLang="zh-CN" b="0" i="1" smtClean="0">
                                <a:latin typeface="Cambria Math" panose="02040503050406030204" pitchFamily="18" charset="0"/>
                                <a:ea typeface="微软雅黑" panose="020B0503020204020204" pitchFamily="34" charset="-122"/>
                                <a:sym typeface="Arial" panose="020B0604020202020204" pitchFamily="34" charset="0"/>
                              </a:rPr>
                              <m:t>𝑚</m:t>
                            </m:r>
                          </m:sub>
                        </m:sSub>
                      </m:e>
                    </m:d>
                    <m:r>
                      <a:rPr lang="en-US" altLang="zh-CN" b="0" i="1" smtClean="0">
                        <a:latin typeface="Cambria Math" panose="02040503050406030204" pitchFamily="18" charset="0"/>
                        <a:ea typeface="微软雅黑" panose="020B0503020204020204" pitchFamily="34" charset="-122"/>
                        <a:sym typeface="Arial" panose="020B0604020202020204" pitchFamily="34" charset="0"/>
                      </a:rPr>
                      <m:t>}</m:t>
                    </m:r>
                  </m:oMath>
                </a14:m>
                <a:r>
                  <a:rPr lang="zh-CN" altLang="en-US" dirty="0">
                    <a:latin typeface="微软雅黑" panose="020B0503020204020204" pitchFamily="34" charset="-122"/>
                    <a:ea typeface="微软雅黑" panose="020B0503020204020204" pitchFamily="34" charset="-122"/>
                    <a:sym typeface="Arial" panose="020B0604020202020204" pitchFamily="34" charset="0"/>
                  </a:rPr>
                  <a:t>包含</a:t>
                </a:r>
                <a14:m>
                  <m:oMath xmlns:m="http://schemas.openxmlformats.org/officeDocument/2006/math">
                    <m:r>
                      <a:rPr lang="en-US" altLang="zh-CN" b="0" i="1" dirty="0" smtClean="0">
                        <a:latin typeface="Cambria Math" panose="02040503050406030204" pitchFamily="18" charset="0"/>
                        <a:ea typeface="微软雅黑" panose="020B0503020204020204" pitchFamily="34" charset="-122"/>
                        <a:sym typeface="Arial" panose="020B0604020202020204" pitchFamily="34" charset="0"/>
                      </a:rPr>
                      <m:t>𝑚</m:t>
                    </m:r>
                  </m:oMath>
                </a14:m>
                <a:r>
                  <a:rPr lang="zh-CN" altLang="en-US" dirty="0">
                    <a:latin typeface="微软雅黑" panose="020B0503020204020204" pitchFamily="34" charset="-122"/>
                    <a:ea typeface="微软雅黑" panose="020B0503020204020204" pitchFamily="34" charset="-122"/>
                    <a:sym typeface="Arial" panose="020B0604020202020204" pitchFamily="34" charset="0"/>
                  </a:rPr>
                  <a:t>个样本，每个样本包含</a:t>
                </a:r>
                <a14:m>
                  <m:oMath xmlns:m="http://schemas.openxmlformats.org/officeDocument/2006/math">
                    <m:r>
                      <a:rPr lang="en-US" altLang="zh-CN" b="0" i="1" smtClean="0">
                        <a:latin typeface="Cambria Math" panose="02040503050406030204" pitchFamily="18" charset="0"/>
                        <a:ea typeface="微软雅黑" panose="020B0503020204020204" pitchFamily="34" charset="-122"/>
                        <a:sym typeface="Arial" panose="020B0604020202020204" pitchFamily="34" charset="0"/>
                      </a:rPr>
                      <m:t>𝑑</m:t>
                    </m:r>
                  </m:oMath>
                </a14:m>
                <a:r>
                  <a:rPr lang="zh-CN" altLang="en-US" dirty="0">
                    <a:latin typeface="微软雅黑" panose="020B0503020204020204" pitchFamily="34" charset="-122"/>
                    <a:ea typeface="微软雅黑" panose="020B0503020204020204" pitchFamily="34" charset="-122"/>
                    <a:sym typeface="Arial" panose="020B0604020202020204" pitchFamily="34" charset="0"/>
                  </a:rPr>
                  <a:t>个特征，即</a:t>
                </a:r>
                <a14:m>
                  <m:oMath xmlns:m="http://schemas.openxmlformats.org/officeDocument/2006/math">
                    <m:sSub>
                      <m:sSubPr>
                        <m:ctrlPr>
                          <a:rPr lang="en-US" altLang="zh-CN" b="1" i="1" smtClean="0">
                            <a:latin typeface="Cambria Math" panose="02040503050406030204" pitchFamily="18" charset="0"/>
                            <a:ea typeface="微软雅黑" panose="020B0503020204020204" pitchFamily="34" charset="-122"/>
                            <a:sym typeface="Arial" panose="020B0604020202020204" pitchFamily="34" charset="0"/>
                          </a:rPr>
                        </m:ctrlPr>
                      </m:sSubPr>
                      <m:e>
                        <m:r>
                          <a:rPr lang="en-US" altLang="zh-CN" b="1" i="1" smtClean="0">
                            <a:latin typeface="Cambria Math" panose="02040503050406030204" pitchFamily="18" charset="0"/>
                            <a:ea typeface="微软雅黑" panose="020B0503020204020204" pitchFamily="34" charset="-122"/>
                            <a:sym typeface="Arial" panose="020B0604020202020204" pitchFamily="34" charset="0"/>
                          </a:rPr>
                          <m:t>𝒙</m:t>
                        </m:r>
                      </m:e>
                      <m:sub>
                        <m:r>
                          <a:rPr lang="en-US" altLang="zh-CN" b="1" i="1" smtClean="0">
                            <a:latin typeface="Cambria Math" panose="02040503050406030204" pitchFamily="18" charset="0"/>
                            <a:ea typeface="微软雅黑" panose="020B0503020204020204" pitchFamily="34" charset="-122"/>
                            <a:sym typeface="Arial" panose="020B0604020202020204" pitchFamily="34" charset="0"/>
                          </a:rPr>
                          <m:t>𝒊</m:t>
                        </m:r>
                      </m:sub>
                    </m:sSub>
                    <m:sSup>
                      <m:sSupPr>
                        <m:ctrlPr>
                          <a:rPr lang="en-US" altLang="zh-CN" b="0" i="1" smtClean="0">
                            <a:latin typeface="Cambria Math" panose="02040503050406030204" pitchFamily="18" charset="0"/>
                            <a:ea typeface="微软雅黑" panose="020B0503020204020204" pitchFamily="34" charset="-122"/>
                            <a:sym typeface="Arial" panose="020B0604020202020204" pitchFamily="34" charset="0"/>
                          </a:rPr>
                        </m:ctrlPr>
                      </m:sSupPr>
                      <m:e>
                        <m:r>
                          <a:rPr lang="en-US" altLang="zh-CN" i="1">
                            <a:latin typeface="Cambria Math" panose="02040503050406030204" pitchFamily="18" charset="0"/>
                            <a:ea typeface="微软雅黑" panose="020B0503020204020204" pitchFamily="34" charset="-122"/>
                            <a:sym typeface="Arial" panose="020B0604020202020204" pitchFamily="34" charset="0"/>
                          </a:rPr>
                          <m:t>=(</m:t>
                        </m:r>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r>
                              <a:rPr lang="en-US" altLang="zh-CN" i="1">
                                <a:latin typeface="Cambria Math" panose="02040503050406030204" pitchFamily="18" charset="0"/>
                                <a:ea typeface="微软雅黑" panose="020B0503020204020204" pitchFamily="34" charset="-122"/>
                                <a:sym typeface="Arial" panose="020B0604020202020204" pitchFamily="34" charset="0"/>
                              </a:rPr>
                              <m:t>𝑥</m:t>
                            </m:r>
                          </m:e>
                          <m:sub>
                            <m:r>
                              <a:rPr lang="en-US" altLang="zh-CN" i="1">
                                <a:latin typeface="Cambria Math" panose="02040503050406030204" pitchFamily="18" charset="0"/>
                                <a:ea typeface="微软雅黑" panose="020B0503020204020204" pitchFamily="34" charset="-122"/>
                                <a:sym typeface="Arial" panose="020B0604020202020204" pitchFamily="34" charset="0"/>
                              </a:rPr>
                              <m:t>𝑖</m:t>
                            </m:r>
                            <m:r>
                              <a:rPr lang="en-US" altLang="zh-CN" i="1">
                                <a:latin typeface="Cambria Math" panose="02040503050406030204" pitchFamily="18" charset="0"/>
                                <a:ea typeface="微软雅黑" panose="020B0503020204020204" pitchFamily="34" charset="-122"/>
                                <a:sym typeface="Arial" panose="020B0604020202020204" pitchFamily="34" charset="0"/>
                              </a:rPr>
                              <m:t>1</m:t>
                            </m:r>
                          </m:sub>
                        </m:sSub>
                        <m:r>
                          <a:rPr lang="en-US" altLang="zh-CN" i="1">
                            <a:latin typeface="Cambria Math" panose="02040503050406030204" pitchFamily="18" charset="0"/>
                            <a:ea typeface="微软雅黑" panose="020B0503020204020204" pitchFamily="34" charset="-122"/>
                            <a:sym typeface="Arial" panose="020B0604020202020204" pitchFamily="34" charset="0"/>
                          </a:rPr>
                          <m:t>,</m:t>
                        </m:r>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r>
                              <a:rPr lang="en-US" altLang="zh-CN" i="1">
                                <a:latin typeface="Cambria Math" panose="02040503050406030204" pitchFamily="18" charset="0"/>
                                <a:ea typeface="微软雅黑" panose="020B0503020204020204" pitchFamily="34" charset="-122"/>
                                <a:sym typeface="Arial" panose="020B0604020202020204" pitchFamily="34" charset="0"/>
                              </a:rPr>
                              <m:t>𝑥</m:t>
                            </m:r>
                          </m:e>
                          <m:sub>
                            <m:r>
                              <a:rPr lang="en-US" altLang="zh-CN" i="1">
                                <a:latin typeface="Cambria Math" panose="02040503050406030204" pitchFamily="18" charset="0"/>
                                <a:ea typeface="微软雅黑" panose="020B0503020204020204" pitchFamily="34" charset="-122"/>
                                <a:sym typeface="Arial" panose="020B0604020202020204" pitchFamily="34" charset="0"/>
                              </a:rPr>
                              <m:t>𝑖</m:t>
                            </m:r>
                            <m:r>
                              <a:rPr lang="en-US" altLang="zh-CN" i="1">
                                <a:latin typeface="Cambria Math" panose="02040503050406030204" pitchFamily="18" charset="0"/>
                                <a:ea typeface="微软雅黑" panose="020B0503020204020204" pitchFamily="34" charset="-122"/>
                                <a:sym typeface="Arial" panose="020B0604020202020204" pitchFamily="34" charset="0"/>
                              </a:rPr>
                              <m:t>2</m:t>
                            </m:r>
                          </m:sub>
                        </m:sSub>
                        <m:r>
                          <a:rPr lang="en-US" altLang="zh-CN" i="1">
                            <a:latin typeface="Cambria Math" panose="02040503050406030204" pitchFamily="18" charset="0"/>
                            <a:ea typeface="微软雅黑" panose="020B0503020204020204" pitchFamily="34" charset="-122"/>
                            <a:sym typeface="Arial" panose="020B0604020202020204" pitchFamily="34" charset="0"/>
                          </a:rPr>
                          <m:t>,…,</m:t>
                        </m:r>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r>
                              <a:rPr lang="en-US" altLang="zh-CN" i="1">
                                <a:latin typeface="Cambria Math" panose="02040503050406030204" pitchFamily="18" charset="0"/>
                                <a:ea typeface="微软雅黑" panose="020B0503020204020204" pitchFamily="34" charset="-122"/>
                                <a:sym typeface="Arial" panose="020B0604020202020204" pitchFamily="34" charset="0"/>
                              </a:rPr>
                              <m:t>𝑥</m:t>
                            </m:r>
                          </m:e>
                          <m:sub>
                            <m:r>
                              <a:rPr lang="en-US" altLang="zh-CN" i="1">
                                <a:latin typeface="Cambria Math" panose="02040503050406030204" pitchFamily="18" charset="0"/>
                                <a:ea typeface="微软雅黑" panose="020B0503020204020204" pitchFamily="34" charset="-122"/>
                                <a:sym typeface="Arial" panose="020B0604020202020204" pitchFamily="34" charset="0"/>
                              </a:rPr>
                              <m:t>𝑖𝑑</m:t>
                            </m:r>
                          </m:sub>
                        </m:sSub>
                        <m:r>
                          <a:rPr lang="en-US" altLang="zh-CN" i="1">
                            <a:latin typeface="Cambria Math" panose="02040503050406030204" pitchFamily="18" charset="0"/>
                            <a:ea typeface="微软雅黑" panose="020B0503020204020204" pitchFamily="34" charset="-122"/>
                            <a:sym typeface="Arial" panose="020B0604020202020204" pitchFamily="34" charset="0"/>
                          </a:rPr>
                          <m:t>)</m:t>
                        </m:r>
                      </m:e>
                      <m:sup>
                        <m:r>
                          <a:rPr lang="en-US" altLang="zh-CN" b="0" i="1" smtClean="0">
                            <a:latin typeface="Cambria Math" panose="02040503050406030204" pitchFamily="18" charset="0"/>
                            <a:ea typeface="微软雅黑" panose="020B0503020204020204" pitchFamily="34" charset="-122"/>
                            <a:sym typeface="Arial" panose="020B0604020202020204" pitchFamily="34" charset="0"/>
                          </a:rPr>
                          <m:t>𝑇</m:t>
                        </m:r>
                      </m:sup>
                    </m:sSup>
                  </m:oMath>
                </a14:m>
                <a:r>
                  <a:rPr lang="zh-CN" altLang="en-US" dirty="0">
                    <a:latin typeface="微软雅黑" panose="020B0503020204020204" pitchFamily="34" charset="-122"/>
                    <a:ea typeface="微软雅黑" panose="020B0503020204020204" pitchFamily="34" charset="-122"/>
                    <a:sym typeface="Arial" panose="020B0604020202020204" pitchFamily="34" charset="0"/>
                  </a:rPr>
                  <a:t>，那么基于机器学习模型</a:t>
                </a:r>
                <a14:m>
                  <m:oMath xmlns:m="http://schemas.openxmlformats.org/officeDocument/2006/math">
                    <m:acc>
                      <m:accPr>
                        <m:chr m:val="̂"/>
                        <m:ctrlPr>
                          <a:rPr lang="en-US" altLang="zh-CN" b="0" i="1" smtClean="0">
                            <a:latin typeface="Cambria Math" panose="02040503050406030204" pitchFamily="18" charset="0"/>
                            <a:ea typeface="微软雅黑" panose="020B0503020204020204" pitchFamily="34" charset="-122"/>
                            <a:sym typeface="Arial" panose="020B0604020202020204" pitchFamily="34" charset="0"/>
                          </a:rPr>
                        </m:ctrlPr>
                      </m:accPr>
                      <m:e>
                        <m:r>
                          <a:rPr lang="en-US" altLang="zh-CN" b="0" i="1" smtClean="0">
                            <a:latin typeface="Cambria Math" panose="02040503050406030204" pitchFamily="18" charset="0"/>
                            <a:ea typeface="微软雅黑" panose="020B0503020204020204" pitchFamily="34" charset="-122"/>
                            <a:sym typeface="Arial" panose="020B0604020202020204" pitchFamily="34" charset="0"/>
                          </a:rPr>
                          <m:t>𝑦</m:t>
                        </m:r>
                      </m:e>
                    </m:acc>
                    <m:r>
                      <a:rPr lang="en-US" altLang="zh-CN" b="0" i="1" smtClean="0">
                        <a:latin typeface="Cambria Math" panose="02040503050406030204" pitchFamily="18" charset="0"/>
                        <a:ea typeface="微软雅黑" panose="020B0503020204020204" pitchFamily="34" charset="-122"/>
                        <a:sym typeface="Arial" panose="020B0604020202020204" pitchFamily="34" charset="0"/>
                      </a:rPr>
                      <m:t>=</m:t>
                    </m:r>
                    <m:r>
                      <a:rPr lang="en-US" altLang="zh-CN" b="0" i="1" smtClean="0">
                        <a:latin typeface="Cambria Math" panose="02040503050406030204" pitchFamily="18" charset="0"/>
                        <a:ea typeface="微软雅黑" panose="020B0503020204020204" pitchFamily="34" charset="-122"/>
                        <a:sym typeface="Arial" panose="020B0604020202020204" pitchFamily="34" charset="0"/>
                      </a:rPr>
                      <m:t>𝑓</m:t>
                    </m:r>
                    <m:r>
                      <a:rPr lang="en-US" altLang="zh-CN" b="0" i="1" smtClean="0">
                        <a:latin typeface="Cambria Math" panose="02040503050406030204" pitchFamily="18" charset="0"/>
                        <a:ea typeface="微软雅黑" panose="020B0503020204020204" pitchFamily="34" charset="-122"/>
                        <a:sym typeface="Arial" panose="020B0604020202020204" pitchFamily="34" charset="0"/>
                      </a:rPr>
                      <m:t>(</m:t>
                    </m:r>
                    <m:r>
                      <a:rPr lang="en-US" altLang="zh-CN" b="1" i="1" smtClean="0">
                        <a:latin typeface="Cambria Math" panose="02040503050406030204" pitchFamily="18" charset="0"/>
                        <a:ea typeface="微软雅黑" panose="020B0503020204020204" pitchFamily="34" charset="-122"/>
                        <a:sym typeface="Arial" panose="020B0604020202020204" pitchFamily="34" charset="0"/>
                      </a:rPr>
                      <m:t>𝒙</m:t>
                    </m:r>
                    <m:r>
                      <a:rPr lang="en-US" altLang="zh-CN" b="0" i="1" smtClean="0">
                        <a:latin typeface="Cambria Math" panose="02040503050406030204" pitchFamily="18" charset="0"/>
                        <a:ea typeface="微软雅黑" panose="020B0503020204020204" pitchFamily="34" charset="-122"/>
                        <a:sym typeface="Arial" panose="020B0604020202020204" pitchFamily="34" charset="0"/>
                      </a:rPr>
                      <m:t>)</m:t>
                    </m:r>
                    <m:r>
                      <a:rPr lang="zh-CN" altLang="en-US" i="1">
                        <a:latin typeface="Cambria Math" panose="02040503050406030204" pitchFamily="18" charset="0"/>
                        <a:ea typeface="微软雅黑" panose="020B0503020204020204" pitchFamily="34" charset="-122"/>
                        <a:sym typeface="Arial" panose="020B0604020202020204" pitchFamily="34" charset="0"/>
                      </a:rPr>
                      <m:t>，</m:t>
                    </m:r>
                  </m:oMath>
                </a14:m>
                <a:r>
                  <a:rPr lang="zh-CN" altLang="en-US" dirty="0">
                    <a:latin typeface="微软雅黑" panose="020B0503020204020204" pitchFamily="34" charset="-122"/>
                    <a:ea typeface="微软雅黑" panose="020B0503020204020204" pitchFamily="34" charset="-122"/>
                    <a:sym typeface="Arial" panose="020B0604020202020204" pitchFamily="34" charset="0"/>
                  </a:rPr>
                  <a:t>可以得到第</a:t>
                </a:r>
                <a14:m>
                  <m:oMath xmlns:m="http://schemas.openxmlformats.org/officeDocument/2006/math">
                    <m:r>
                      <a:rPr lang="en-US" altLang="zh-CN" b="0" i="1" smtClean="0">
                        <a:latin typeface="Cambria Math" panose="02040503050406030204" pitchFamily="18" charset="0"/>
                        <a:ea typeface="微软雅黑" panose="020B0503020204020204" pitchFamily="34" charset="-122"/>
                        <a:sym typeface="Arial" panose="020B0604020202020204" pitchFamily="34" charset="0"/>
                      </a:rPr>
                      <m:t>𝑖</m:t>
                    </m:r>
                  </m:oMath>
                </a14:m>
                <a:r>
                  <a:rPr lang="zh-CN" altLang="en-US" dirty="0">
                    <a:latin typeface="微软雅黑" panose="020B0503020204020204" pitchFamily="34" charset="-122"/>
                    <a:ea typeface="微软雅黑" panose="020B0503020204020204" pitchFamily="34" charset="-122"/>
                    <a:sym typeface="Arial" panose="020B0604020202020204" pitchFamily="34" charset="0"/>
                  </a:rPr>
                  <a:t>个样本对应的模型输出结果</a:t>
                </a:r>
                <a14:m>
                  <m:oMath xmlns:m="http://schemas.openxmlformats.org/officeDocument/2006/math">
                    <m:acc>
                      <m:accPr>
                        <m:chr m:val="̂"/>
                        <m:ctrlPr>
                          <a:rPr lang="zh-CN" altLang="en-US" i="1" smtClean="0">
                            <a:latin typeface="Cambria Math" panose="02040503050406030204" pitchFamily="18" charset="0"/>
                            <a:ea typeface="微软雅黑" panose="020B0503020204020204" pitchFamily="34" charset="-122"/>
                            <a:sym typeface="Arial" panose="020B0604020202020204" pitchFamily="34" charset="0"/>
                          </a:rPr>
                        </m:ctrlPr>
                      </m:accPr>
                      <m:e>
                        <m:sSub>
                          <m:sSubPr>
                            <m:ctrlPr>
                              <a:rPr lang="en-US" altLang="zh-CN" i="1" smtClean="0">
                                <a:latin typeface="Cambria Math" panose="02040503050406030204" pitchFamily="18" charset="0"/>
                                <a:ea typeface="微软雅黑" panose="020B0503020204020204" pitchFamily="34" charset="-122"/>
                                <a:sym typeface="Arial" panose="020B0604020202020204" pitchFamily="34" charset="0"/>
                              </a:rPr>
                            </m:ctrlPr>
                          </m:sSubPr>
                          <m:e>
                            <m:r>
                              <a:rPr lang="en-US" altLang="zh-CN" b="0" i="1" smtClean="0">
                                <a:latin typeface="Cambria Math" panose="02040503050406030204" pitchFamily="18" charset="0"/>
                                <a:ea typeface="微软雅黑" panose="020B0503020204020204" pitchFamily="34" charset="-122"/>
                                <a:sym typeface="Arial" panose="020B0604020202020204" pitchFamily="34" charset="0"/>
                              </a:rPr>
                              <m:t>𝑦</m:t>
                            </m:r>
                          </m:e>
                          <m:sub>
                            <m:r>
                              <a:rPr lang="en-US" altLang="zh-CN" b="0" i="1" smtClean="0">
                                <a:latin typeface="Cambria Math" panose="02040503050406030204" pitchFamily="18" charset="0"/>
                                <a:ea typeface="微软雅黑" panose="020B0503020204020204" pitchFamily="34" charset="-122"/>
                                <a:sym typeface="Arial" panose="020B0604020202020204" pitchFamily="34" charset="0"/>
                              </a:rPr>
                              <m:t>𝑖</m:t>
                            </m:r>
                          </m:sub>
                        </m:sSub>
                      </m:e>
                    </m:acc>
                  </m:oMath>
                </a14:m>
                <a:r>
                  <a:rPr lang="zh-CN" altLang="en-US" dirty="0">
                    <a:latin typeface="微软雅黑" panose="020B0503020204020204" pitchFamily="34" charset="-122"/>
                    <a:ea typeface="微软雅黑" panose="020B0503020204020204" pitchFamily="34" charset="-122"/>
                    <a:sym typeface="Arial" panose="020B0604020202020204" pitchFamily="34" charset="0"/>
                  </a:rPr>
                  <a:t>。我们用符号</a:t>
                </a:r>
                <a14:m>
                  <m:oMath xmlns:m="http://schemas.openxmlformats.org/officeDocument/2006/math">
                    <m:r>
                      <a:rPr lang="en-US" altLang="zh-CN" i="1" smtClean="0">
                        <a:latin typeface="Cambria Math" panose="02040503050406030204" pitchFamily="18" charset="0"/>
                        <a:ea typeface="Cambria Math" panose="02040503050406030204" pitchFamily="18" charset="0"/>
                        <a:sym typeface="Arial" panose="020B0604020202020204" pitchFamily="34" charset="0"/>
                      </a:rPr>
                      <m:t>ℒ</m:t>
                    </m:r>
                    <m:r>
                      <a:rPr lang="en-US" altLang="zh-CN" b="0" i="1" smtClean="0">
                        <a:latin typeface="Cambria Math" panose="02040503050406030204" pitchFamily="18" charset="0"/>
                        <a:ea typeface="Cambria Math" panose="02040503050406030204" pitchFamily="18" charset="0"/>
                        <a:sym typeface="Arial" panose="020B0604020202020204" pitchFamily="34" charset="0"/>
                      </a:rPr>
                      <m:t>(</m:t>
                    </m:r>
                    <m:r>
                      <a:rPr lang="en-US" altLang="zh-CN" b="1" i="1" smtClean="0">
                        <a:latin typeface="Cambria Math" panose="02040503050406030204" pitchFamily="18" charset="0"/>
                        <a:ea typeface="Cambria Math" panose="02040503050406030204" pitchFamily="18" charset="0"/>
                        <a:sym typeface="Arial" panose="020B0604020202020204" pitchFamily="34" charset="0"/>
                      </a:rPr>
                      <m:t>𝒚</m:t>
                    </m:r>
                    <m:r>
                      <a:rPr lang="en-US" altLang="zh-CN" b="0" i="1" smtClean="0">
                        <a:latin typeface="Cambria Math" panose="02040503050406030204" pitchFamily="18" charset="0"/>
                        <a:ea typeface="Cambria Math" panose="02040503050406030204" pitchFamily="18" charset="0"/>
                        <a:sym typeface="Arial" panose="020B0604020202020204" pitchFamily="34" charset="0"/>
                      </a:rPr>
                      <m:t>,</m:t>
                    </m:r>
                    <m:acc>
                      <m:accPr>
                        <m:chr m:val="̂"/>
                        <m:ctrlPr>
                          <a:rPr lang="en-US" altLang="zh-CN" b="0" i="1" smtClean="0">
                            <a:latin typeface="Cambria Math" panose="02040503050406030204" pitchFamily="18" charset="0"/>
                            <a:ea typeface="Cambria Math" panose="02040503050406030204" pitchFamily="18" charset="0"/>
                            <a:sym typeface="Arial" panose="020B0604020202020204" pitchFamily="34" charset="0"/>
                          </a:rPr>
                        </m:ctrlPr>
                      </m:accPr>
                      <m:e>
                        <m:r>
                          <a:rPr lang="en-US" altLang="zh-CN" b="1" i="1" smtClean="0">
                            <a:latin typeface="Cambria Math" panose="02040503050406030204" pitchFamily="18" charset="0"/>
                            <a:ea typeface="Cambria Math" panose="02040503050406030204" pitchFamily="18" charset="0"/>
                            <a:sym typeface="Arial" panose="020B0604020202020204" pitchFamily="34" charset="0"/>
                          </a:rPr>
                          <m:t>𝒚</m:t>
                        </m:r>
                      </m:e>
                    </m:acc>
                    <m:r>
                      <a:rPr lang="en-US" altLang="zh-CN" b="0" i="1" smtClean="0">
                        <a:latin typeface="Cambria Math" panose="02040503050406030204" pitchFamily="18" charset="0"/>
                        <a:ea typeface="Cambria Math" panose="02040503050406030204" pitchFamily="18" charset="0"/>
                        <a:sym typeface="Arial" panose="020B0604020202020204" pitchFamily="34" charset="0"/>
                      </a:rPr>
                      <m:t>)</m:t>
                    </m:r>
                  </m:oMath>
                </a14:m>
                <a:r>
                  <a:rPr lang="zh-CN" altLang="en-US" dirty="0">
                    <a:latin typeface="微软雅黑" panose="020B0503020204020204" pitchFamily="34" charset="-122"/>
                    <a:ea typeface="微软雅黑" panose="020B0503020204020204" pitchFamily="34" charset="-122"/>
                    <a:sym typeface="Arial" panose="020B0604020202020204" pitchFamily="34" charset="0"/>
                  </a:rPr>
                  <a:t>来表示损失函数，接下来介绍几类常用的损失函数。</a:t>
                </a:r>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162560" y="1265841"/>
                <a:ext cx="8371840" cy="3736729"/>
              </a:xfrm>
              <a:prstGeom prst="rect">
                <a:avLst/>
              </a:prstGeom>
              <a:blipFill>
                <a:blip r:embed="rId2"/>
                <a:stretch>
                  <a:fillRect l="-1020" t="-1305" r="-218" b="-1631"/>
                </a:stretch>
              </a:blipFill>
            </p:spPr>
            <p:txBody>
              <a:bodyPr/>
              <a:lstStyle/>
              <a:p>
                <a:r>
                  <a:rPr lang="zh-CN" altLang="en-US">
                    <a:noFill/>
                  </a:rPr>
                  <a:t> </a:t>
                </a:r>
              </a:p>
            </p:txBody>
          </p:sp>
        </mc:Fallback>
      </mc:AlternateContent>
      <p:sp>
        <p:nvSpPr>
          <p:cNvPr id="7" name="页脚占位符 2">
            <a:extLst>
              <a:ext uri="{FF2B5EF4-FFF2-40B4-BE49-F238E27FC236}">
                <a16:creationId xmlns:a16="http://schemas.microsoft.com/office/drawing/2014/main" id="{128A0905-EA79-4BB5-84AB-08C069147516}"/>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Tree>
    <p:extLst>
      <p:ext uri="{BB962C8B-B14F-4D97-AF65-F5344CB8AC3E}">
        <p14:creationId xmlns:p14="http://schemas.microsoft.com/office/powerpoint/2010/main" val="10572675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22</a:t>
            </a:fld>
            <a:endParaRPr lang="en-US" altLang="zh-CN"/>
          </a:p>
        </p:txBody>
      </p:sp>
      <p:sp>
        <p:nvSpPr>
          <p:cNvPr id="9"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731974"/>
          </a:xfrm>
        </p:spPr>
        <p:txBody>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误差与损失函数</a:t>
            </a:r>
          </a:p>
        </p:txBody>
      </p:sp>
      <mc:AlternateContent xmlns:mc="http://schemas.openxmlformats.org/markup-compatibility/2006" xmlns:a14="http://schemas.microsoft.com/office/drawing/2010/main">
        <mc:Choice Requires="a14">
          <p:sp>
            <p:nvSpPr>
              <p:cNvPr id="5" name="文本框 4"/>
              <p:cNvSpPr txBox="1"/>
              <p:nvPr/>
            </p:nvSpPr>
            <p:spPr>
              <a:xfrm>
                <a:off x="162560" y="1265841"/>
                <a:ext cx="8371840" cy="3769302"/>
              </a:xfrm>
              <a:prstGeom prst="rect">
                <a:avLst/>
              </a:prstGeom>
              <a:noFill/>
            </p:spPr>
            <p:txBody>
              <a:bodyPr wrap="square" rtlCol="0">
                <a:spAutoFit/>
              </a:bodyPr>
              <a:lstStyle/>
              <a:p>
                <a:pPr marL="342900" indent="-342900">
                  <a:buFont typeface="Wingdings" panose="05000000000000000000" pitchFamily="2" charset="2"/>
                  <a:buChar char="p"/>
                </a:pPr>
                <a:r>
                  <a:rPr lang="zh-CN" altLang="en-US" sz="2400"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损失函数</a:t>
                </a:r>
                <a:endParaRPr lang="en-US" altLang="zh-CN" sz="2400"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nSpc>
                    <a:spcPct val="150000"/>
                  </a:lnSpc>
                </a:pPr>
                <a:r>
                  <a:rPr lang="zh-CN" altLang="en-US" b="1" dirty="0">
                    <a:latin typeface="微软雅黑" panose="020B0503020204020204" pitchFamily="34" charset="-122"/>
                    <a:ea typeface="微软雅黑" panose="020B0503020204020204" pitchFamily="34" charset="-122"/>
                    <a:sym typeface="Arial" panose="020B0604020202020204" pitchFamily="34" charset="0"/>
                  </a:rPr>
                  <a:t>（</a:t>
                </a:r>
                <a:r>
                  <a:rPr lang="en-US" altLang="zh-CN" b="1" dirty="0">
                    <a:latin typeface="微软雅黑" panose="020B0503020204020204" pitchFamily="34" charset="-122"/>
                    <a:ea typeface="微软雅黑" panose="020B0503020204020204" pitchFamily="34" charset="-122"/>
                    <a:sym typeface="Arial" panose="020B0604020202020204" pitchFamily="34" charset="0"/>
                  </a:rPr>
                  <a:t>1</a:t>
                </a:r>
                <a:r>
                  <a:rPr lang="zh-CN" altLang="en-US" b="1" dirty="0">
                    <a:latin typeface="微软雅黑" panose="020B0503020204020204" pitchFamily="34" charset="-122"/>
                    <a:ea typeface="微软雅黑" panose="020B0503020204020204" pitchFamily="34" charset="-122"/>
                    <a:sym typeface="Arial" panose="020B0604020202020204" pitchFamily="34" charset="0"/>
                  </a:rPr>
                  <a:t>）</a:t>
                </a:r>
                <a:r>
                  <a:rPr lang="en-US" altLang="zh-CN" b="1" dirty="0">
                    <a:latin typeface="微软雅黑" panose="020B0503020204020204" pitchFamily="34" charset="-122"/>
                    <a:ea typeface="微软雅黑" panose="020B0503020204020204" pitchFamily="34" charset="-122"/>
                    <a:sym typeface="Arial" panose="020B0604020202020204" pitchFamily="34" charset="0"/>
                  </a:rPr>
                  <a:t>0-1</a:t>
                </a:r>
                <a:r>
                  <a:rPr lang="zh-CN" altLang="en-US" b="1" dirty="0">
                    <a:latin typeface="微软雅黑" panose="020B0503020204020204" pitchFamily="34" charset="-122"/>
                    <a:ea typeface="微软雅黑" panose="020B0503020204020204" pitchFamily="34" charset="-122"/>
                    <a:sym typeface="Arial" panose="020B0604020202020204" pitchFamily="34" charset="0"/>
                  </a:rPr>
                  <a:t>损失函数</a:t>
                </a:r>
                <a:r>
                  <a:rPr lang="en-US" altLang="zh-CN" b="1" dirty="0">
                    <a:latin typeface="微软雅黑" panose="020B0503020204020204" pitchFamily="34" charset="-122"/>
                    <a:ea typeface="微软雅黑" panose="020B0503020204020204" pitchFamily="34" charset="-122"/>
                    <a:sym typeface="Arial" panose="020B0604020202020204" pitchFamily="34" charset="0"/>
                  </a:rPr>
                  <a:t>(0-1 Loss Function)</a:t>
                </a:r>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dirty="0">
                    <a:latin typeface="微软雅黑" panose="020B0503020204020204" pitchFamily="34" charset="-122"/>
                    <a:ea typeface="微软雅黑" panose="020B0503020204020204" pitchFamily="34" charset="-122"/>
                    <a:sym typeface="Arial" panose="020B0604020202020204" pitchFamily="34" charset="0"/>
                  </a:rPr>
                  <a:t>对于分类，为了表征分类结果的准确性，我们可以用</a:t>
                </a:r>
                <a:r>
                  <a:rPr lang="en-US" altLang="zh-CN" dirty="0">
                    <a:latin typeface="微软雅黑" panose="020B0503020204020204" pitchFamily="34" charset="-122"/>
                    <a:ea typeface="微软雅黑" panose="020B0503020204020204" pitchFamily="34" charset="-122"/>
                    <a:sym typeface="Arial" panose="020B0604020202020204" pitchFamily="34" charset="0"/>
                  </a:rPr>
                  <a:t>0-1</a:t>
                </a:r>
                <a:r>
                  <a:rPr lang="zh-CN" altLang="en-US" dirty="0">
                    <a:latin typeface="微软雅黑" panose="020B0503020204020204" pitchFamily="34" charset="-122"/>
                    <a:ea typeface="微软雅黑" panose="020B0503020204020204" pitchFamily="34" charset="-122"/>
                    <a:sym typeface="Arial" panose="020B0604020202020204" pitchFamily="34" charset="0"/>
                  </a:rPr>
                  <a:t>函数来直观判断样本的分析结果，需要注意的是</a:t>
                </a:r>
                <a:r>
                  <a:rPr lang="en-US" altLang="zh-CN" b="1" dirty="0">
                    <a:latin typeface="微软雅黑" panose="020B0503020204020204" pitchFamily="34" charset="-122"/>
                    <a:ea typeface="微软雅黑" panose="020B0503020204020204" pitchFamily="34" charset="-122"/>
                    <a:sym typeface="Arial" panose="020B0604020202020204" pitchFamily="34" charset="0"/>
                  </a:rPr>
                  <a:t>0-1</a:t>
                </a:r>
                <a:r>
                  <a:rPr lang="zh-CN" altLang="en-US" b="1" dirty="0">
                    <a:latin typeface="微软雅黑" panose="020B0503020204020204" pitchFamily="34" charset="-122"/>
                    <a:ea typeface="微软雅黑" panose="020B0503020204020204" pitchFamily="34" charset="-122"/>
                    <a:sym typeface="Arial" panose="020B0604020202020204" pitchFamily="34" charset="0"/>
                  </a:rPr>
                  <a:t>损失函数仅适用于二分类问题，应用范围较小</a:t>
                </a:r>
                <a:endParaRPr lang="en-US" altLang="zh-CN" b="1"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ea typeface="微软雅黑" panose="020B0503020204020204" pitchFamily="34" charset="-122"/>
                              <a:sym typeface="Arial" panose="020B0604020202020204" pitchFamily="34" charset="0"/>
                            </a:rPr>
                          </m:ctrlPr>
                        </m:sSubSupPr>
                        <m:e>
                          <m:r>
                            <a:rPr lang="en-US" altLang="zh-CN" i="1" smtClean="0">
                              <a:latin typeface="Cambria Math" panose="02040503050406030204" pitchFamily="18" charset="0"/>
                              <a:ea typeface="Cambria Math" panose="02040503050406030204" pitchFamily="18" charset="0"/>
                              <a:sym typeface="Arial" panose="020B0604020202020204" pitchFamily="34" charset="0"/>
                            </a:rPr>
                            <m:t>ℒ</m:t>
                          </m:r>
                        </m:e>
                        <m:sub>
                          <m:r>
                            <a:rPr lang="en-US" altLang="zh-CN" b="0" i="1" smtClean="0">
                              <a:latin typeface="Cambria Math" panose="02040503050406030204" pitchFamily="18" charset="0"/>
                              <a:ea typeface="微软雅黑" panose="020B0503020204020204" pitchFamily="34" charset="-122"/>
                              <a:sym typeface="Arial" panose="020B0604020202020204" pitchFamily="34" charset="0"/>
                            </a:rPr>
                            <m:t>𝑖</m:t>
                          </m:r>
                        </m:sub>
                        <m:sup>
                          <m:r>
                            <a:rPr lang="en-US" altLang="zh-CN" b="0" i="1" smtClean="0">
                              <a:latin typeface="Cambria Math" panose="02040503050406030204" pitchFamily="18" charset="0"/>
                              <a:ea typeface="微软雅黑" panose="020B0503020204020204" pitchFamily="34" charset="-122"/>
                              <a:sym typeface="Arial" panose="020B0604020202020204" pitchFamily="34" charset="0"/>
                            </a:rPr>
                            <m:t>0−1</m:t>
                          </m:r>
                        </m:sup>
                      </m:sSubSup>
                      <m:r>
                        <a:rPr lang="en-US" altLang="zh-CN" b="0" i="1" smtClean="0">
                          <a:latin typeface="Cambria Math" panose="02040503050406030204" pitchFamily="18" charset="0"/>
                          <a:ea typeface="微软雅黑" panose="020B0503020204020204" pitchFamily="34" charset="-122"/>
                          <a:sym typeface="Arial" panose="020B0604020202020204" pitchFamily="34" charset="0"/>
                        </a:rPr>
                        <m:t>(</m:t>
                      </m:r>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r>
                            <a:rPr lang="en-US" altLang="zh-CN" i="1">
                              <a:latin typeface="Cambria Math" panose="02040503050406030204" pitchFamily="18" charset="0"/>
                              <a:ea typeface="微软雅黑" panose="020B0503020204020204" pitchFamily="34" charset="-122"/>
                              <a:sym typeface="Arial" panose="020B0604020202020204" pitchFamily="34" charset="0"/>
                            </a:rPr>
                            <m:t>𝑦</m:t>
                          </m:r>
                        </m:e>
                        <m:sub>
                          <m:r>
                            <a:rPr lang="en-US" altLang="zh-CN" i="1">
                              <a:latin typeface="Cambria Math" panose="02040503050406030204" pitchFamily="18" charset="0"/>
                              <a:ea typeface="微软雅黑" panose="020B0503020204020204" pitchFamily="34" charset="-122"/>
                              <a:sym typeface="Arial" panose="020B0604020202020204" pitchFamily="34" charset="0"/>
                            </a:rPr>
                            <m:t>𝑖</m:t>
                          </m:r>
                        </m:sub>
                      </m:sSub>
                      <m:r>
                        <a:rPr lang="en-US" altLang="zh-CN" b="0" i="1" smtClean="0">
                          <a:latin typeface="Cambria Math" panose="02040503050406030204" pitchFamily="18" charset="0"/>
                          <a:ea typeface="微软雅黑" panose="020B0503020204020204" pitchFamily="34" charset="-122"/>
                          <a:sym typeface="Arial" panose="020B0604020202020204" pitchFamily="34" charset="0"/>
                        </a:rPr>
                        <m:t>,</m:t>
                      </m:r>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acc>
                            <m:accPr>
                              <m:chr m:val="̂"/>
                              <m:ctrlPr>
                                <a:rPr lang="en-US" altLang="zh-CN" i="1">
                                  <a:latin typeface="Cambria Math" panose="02040503050406030204" pitchFamily="18" charset="0"/>
                                  <a:ea typeface="微软雅黑" panose="020B0503020204020204" pitchFamily="34" charset="-122"/>
                                  <a:sym typeface="Arial" panose="020B0604020202020204" pitchFamily="34" charset="0"/>
                                </a:rPr>
                              </m:ctrlPr>
                            </m:accPr>
                            <m:e>
                              <m:r>
                                <a:rPr lang="en-US" altLang="zh-CN" i="1">
                                  <a:latin typeface="Cambria Math" panose="02040503050406030204" pitchFamily="18" charset="0"/>
                                  <a:ea typeface="微软雅黑" panose="020B0503020204020204" pitchFamily="34" charset="-122"/>
                                  <a:sym typeface="Arial" panose="020B0604020202020204" pitchFamily="34" charset="0"/>
                                </a:rPr>
                                <m:t>𝑦</m:t>
                              </m:r>
                            </m:e>
                          </m:acc>
                        </m:e>
                        <m:sub>
                          <m:r>
                            <a:rPr lang="en-US" altLang="zh-CN" i="1">
                              <a:latin typeface="Cambria Math" panose="02040503050406030204" pitchFamily="18" charset="0"/>
                              <a:ea typeface="微软雅黑" panose="020B0503020204020204" pitchFamily="34" charset="-122"/>
                              <a:sym typeface="Arial" panose="020B0604020202020204" pitchFamily="34" charset="0"/>
                            </a:rPr>
                            <m:t>𝑖</m:t>
                          </m:r>
                        </m:sub>
                      </m:sSub>
                      <m:r>
                        <a:rPr lang="en-US" altLang="zh-CN" b="0" i="1" smtClean="0">
                          <a:latin typeface="Cambria Math" panose="02040503050406030204" pitchFamily="18" charset="0"/>
                          <a:ea typeface="微软雅黑" panose="020B0503020204020204" pitchFamily="34" charset="-122"/>
                          <a:sym typeface="Arial" panose="020B0604020202020204" pitchFamily="34" charset="0"/>
                        </a:rPr>
                        <m:t>)=</m:t>
                      </m:r>
                      <m:d>
                        <m:dPr>
                          <m:begChr m:val="{"/>
                          <m:endChr m:val=""/>
                          <m:ctrlPr>
                            <a:rPr lang="en-US" altLang="zh-CN" b="0" i="1" smtClean="0">
                              <a:latin typeface="Cambria Math" panose="02040503050406030204" pitchFamily="18" charset="0"/>
                              <a:ea typeface="微软雅黑" panose="020B0503020204020204" pitchFamily="34" charset="-122"/>
                              <a:sym typeface="Arial" panose="020B0604020202020204" pitchFamily="34" charset="0"/>
                            </a:rPr>
                          </m:ctrlPr>
                        </m:dPr>
                        <m:e>
                          <m:eqArr>
                            <m:eqArrPr>
                              <m:ctrlPr>
                                <a:rPr lang="en-US" altLang="zh-CN" b="0" i="1" smtClean="0">
                                  <a:latin typeface="Cambria Math" panose="02040503050406030204" pitchFamily="18" charset="0"/>
                                  <a:ea typeface="微软雅黑" panose="020B0503020204020204" pitchFamily="34" charset="-122"/>
                                  <a:sym typeface="Arial" panose="020B0604020202020204" pitchFamily="34" charset="0"/>
                                </a:rPr>
                              </m:ctrlPr>
                            </m:eqArrPr>
                            <m:e>
                              <m:r>
                                <a:rPr lang="en-US" altLang="zh-CN" b="0" i="1" smtClean="0">
                                  <a:latin typeface="Cambria Math" panose="02040503050406030204" pitchFamily="18" charset="0"/>
                                  <a:ea typeface="微软雅黑" panose="020B0503020204020204" pitchFamily="34" charset="-122"/>
                                  <a:sym typeface="Arial" panose="020B0604020202020204" pitchFamily="34" charset="0"/>
                                </a:rPr>
                                <m:t>1   </m:t>
                              </m:r>
                              <m:sSub>
                                <m:sSubPr>
                                  <m:ctrlPr>
                                    <a:rPr lang="en-US" altLang="zh-CN" b="0" i="1" smtClean="0">
                                      <a:latin typeface="Cambria Math" panose="02040503050406030204" pitchFamily="18" charset="0"/>
                                      <a:ea typeface="微软雅黑" panose="020B0503020204020204" pitchFamily="34" charset="-122"/>
                                      <a:sym typeface="Arial" panose="020B0604020202020204" pitchFamily="34" charset="0"/>
                                    </a:rPr>
                                  </m:ctrlPr>
                                </m:sSubPr>
                                <m:e>
                                  <m:r>
                                    <a:rPr lang="en-US" altLang="zh-CN" b="0" i="1" smtClean="0">
                                      <a:latin typeface="Cambria Math" panose="02040503050406030204" pitchFamily="18" charset="0"/>
                                      <a:ea typeface="微软雅黑" panose="020B0503020204020204" pitchFamily="34" charset="-122"/>
                                      <a:sym typeface="Arial" panose="020B0604020202020204" pitchFamily="34" charset="0"/>
                                    </a:rPr>
                                    <m:t>𝑦</m:t>
                                  </m:r>
                                </m:e>
                                <m:sub>
                                  <m:r>
                                    <a:rPr lang="en-US" altLang="zh-CN" b="0" i="1" smtClean="0">
                                      <a:latin typeface="Cambria Math" panose="02040503050406030204" pitchFamily="18" charset="0"/>
                                      <a:ea typeface="微软雅黑" panose="020B0503020204020204" pitchFamily="34" charset="-122"/>
                                      <a:sym typeface="Arial" panose="020B0604020202020204" pitchFamily="34" charset="0"/>
                                    </a:rPr>
                                    <m:t>𝑖</m:t>
                                  </m:r>
                                </m:sub>
                              </m:sSub>
                              <m:r>
                                <a:rPr lang="en-US" altLang="zh-CN" i="1">
                                  <a:latin typeface="Cambria Math" panose="02040503050406030204" pitchFamily="18" charset="0"/>
                                  <a:ea typeface="微软雅黑" panose="020B0503020204020204" pitchFamily="34" charset="-122"/>
                                  <a:sym typeface="Arial" panose="020B0604020202020204" pitchFamily="34" charset="0"/>
                                </a:rPr>
                                <m:t>≠</m:t>
                              </m:r>
                              <m:sSub>
                                <m:sSubPr>
                                  <m:ctrlPr>
                                    <a:rPr lang="en-US" altLang="zh-CN" b="0" i="1" smtClean="0">
                                      <a:latin typeface="Cambria Math" panose="02040503050406030204" pitchFamily="18" charset="0"/>
                                      <a:ea typeface="微软雅黑" panose="020B0503020204020204" pitchFamily="34" charset="-122"/>
                                      <a:sym typeface="Arial" panose="020B0604020202020204" pitchFamily="34" charset="0"/>
                                    </a:rPr>
                                  </m:ctrlPr>
                                </m:sSubPr>
                                <m:e>
                                  <m:acc>
                                    <m:accPr>
                                      <m:chr m:val="̂"/>
                                      <m:ctrlPr>
                                        <a:rPr lang="en-US" altLang="zh-CN" b="0" i="1" smtClean="0">
                                          <a:latin typeface="Cambria Math" panose="02040503050406030204" pitchFamily="18" charset="0"/>
                                          <a:ea typeface="微软雅黑" panose="020B0503020204020204" pitchFamily="34" charset="-122"/>
                                          <a:sym typeface="Arial" panose="020B0604020202020204" pitchFamily="34" charset="0"/>
                                        </a:rPr>
                                      </m:ctrlPr>
                                    </m:accPr>
                                    <m:e>
                                      <m:r>
                                        <a:rPr lang="en-US" altLang="zh-CN" b="0" i="1" smtClean="0">
                                          <a:latin typeface="Cambria Math" panose="02040503050406030204" pitchFamily="18" charset="0"/>
                                          <a:ea typeface="微软雅黑" panose="020B0503020204020204" pitchFamily="34" charset="-122"/>
                                          <a:sym typeface="Arial" panose="020B0604020202020204" pitchFamily="34" charset="0"/>
                                        </a:rPr>
                                        <m:t>𝑦</m:t>
                                      </m:r>
                                    </m:e>
                                  </m:acc>
                                </m:e>
                                <m:sub>
                                  <m:r>
                                    <a:rPr lang="en-US" altLang="zh-CN" b="0" i="1" smtClean="0">
                                      <a:latin typeface="Cambria Math" panose="02040503050406030204" pitchFamily="18" charset="0"/>
                                      <a:ea typeface="微软雅黑" panose="020B0503020204020204" pitchFamily="34" charset="-122"/>
                                      <a:sym typeface="Arial" panose="020B0604020202020204" pitchFamily="34" charset="0"/>
                                    </a:rPr>
                                    <m:t>𝑖</m:t>
                                  </m:r>
                                </m:sub>
                              </m:sSub>
                            </m:e>
                            <m:e>
                              <m:r>
                                <a:rPr lang="en-US" altLang="zh-CN" b="0" i="1" smtClean="0">
                                  <a:latin typeface="Cambria Math" panose="02040503050406030204" pitchFamily="18" charset="0"/>
                                  <a:ea typeface="微软雅黑" panose="020B0503020204020204" pitchFamily="34" charset="-122"/>
                                  <a:sym typeface="Arial" panose="020B0604020202020204" pitchFamily="34" charset="0"/>
                                </a:rPr>
                                <m:t>0   </m:t>
                              </m:r>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r>
                                    <a:rPr lang="en-US" altLang="zh-CN" i="1">
                                      <a:latin typeface="Cambria Math" panose="02040503050406030204" pitchFamily="18" charset="0"/>
                                      <a:ea typeface="微软雅黑" panose="020B0503020204020204" pitchFamily="34" charset="-122"/>
                                      <a:sym typeface="Arial" panose="020B0604020202020204" pitchFamily="34" charset="0"/>
                                    </a:rPr>
                                    <m:t>𝑦</m:t>
                                  </m:r>
                                </m:e>
                                <m:sub>
                                  <m:r>
                                    <a:rPr lang="en-US" altLang="zh-CN" i="1">
                                      <a:latin typeface="Cambria Math" panose="02040503050406030204" pitchFamily="18" charset="0"/>
                                      <a:ea typeface="微软雅黑" panose="020B0503020204020204" pitchFamily="34" charset="-122"/>
                                      <a:sym typeface="Arial" panose="020B0604020202020204" pitchFamily="34" charset="0"/>
                                    </a:rPr>
                                    <m:t>𝑖</m:t>
                                  </m:r>
                                </m:sub>
                              </m:sSub>
                              <m:r>
                                <a:rPr lang="en-US" altLang="zh-CN" i="1">
                                  <a:latin typeface="Cambria Math" panose="02040503050406030204" pitchFamily="18" charset="0"/>
                                  <a:ea typeface="微软雅黑" panose="020B0503020204020204" pitchFamily="34" charset="-122"/>
                                  <a:sym typeface="Arial" panose="020B0604020202020204" pitchFamily="34" charset="0"/>
                                </a:rPr>
                                <m:t>=</m:t>
                              </m:r>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acc>
                                    <m:accPr>
                                      <m:chr m:val="̂"/>
                                      <m:ctrlPr>
                                        <a:rPr lang="en-US" altLang="zh-CN" i="1">
                                          <a:latin typeface="Cambria Math" panose="02040503050406030204" pitchFamily="18" charset="0"/>
                                          <a:ea typeface="微软雅黑" panose="020B0503020204020204" pitchFamily="34" charset="-122"/>
                                          <a:sym typeface="Arial" panose="020B0604020202020204" pitchFamily="34" charset="0"/>
                                        </a:rPr>
                                      </m:ctrlPr>
                                    </m:accPr>
                                    <m:e>
                                      <m:r>
                                        <a:rPr lang="en-US" altLang="zh-CN" i="1">
                                          <a:latin typeface="Cambria Math" panose="02040503050406030204" pitchFamily="18" charset="0"/>
                                          <a:ea typeface="微软雅黑" panose="020B0503020204020204" pitchFamily="34" charset="-122"/>
                                          <a:sym typeface="Arial" panose="020B0604020202020204" pitchFamily="34" charset="0"/>
                                        </a:rPr>
                                        <m:t>𝑦</m:t>
                                      </m:r>
                                    </m:e>
                                  </m:acc>
                                </m:e>
                                <m:sub>
                                  <m:r>
                                    <a:rPr lang="en-US" altLang="zh-CN" i="1">
                                      <a:latin typeface="Cambria Math" panose="02040503050406030204" pitchFamily="18" charset="0"/>
                                      <a:ea typeface="微软雅黑" panose="020B0503020204020204" pitchFamily="34" charset="-122"/>
                                      <a:sym typeface="Arial" panose="020B0604020202020204" pitchFamily="34" charset="0"/>
                                    </a:rPr>
                                    <m:t>𝑖</m:t>
                                  </m:r>
                                </m:sub>
                              </m:sSub>
                            </m:e>
                          </m:eqArr>
                        </m:e>
                      </m:d>
                    </m:oMath>
                  </m:oMathPara>
                </a14:m>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ea typeface="微软雅黑" panose="020B0503020204020204" pitchFamily="34" charset="-122"/>
                              <a:sym typeface="Arial" panose="020B0604020202020204" pitchFamily="34" charset="0"/>
                            </a:rPr>
                          </m:ctrlPr>
                        </m:sSupPr>
                        <m:e>
                          <m:r>
                            <a:rPr lang="en-US" altLang="zh-CN" i="1" smtClean="0">
                              <a:latin typeface="Cambria Math" panose="02040503050406030204" pitchFamily="18" charset="0"/>
                              <a:ea typeface="Cambria Math" panose="02040503050406030204" pitchFamily="18" charset="0"/>
                              <a:sym typeface="Arial" panose="020B0604020202020204" pitchFamily="34" charset="0"/>
                            </a:rPr>
                            <m:t>ℒ</m:t>
                          </m:r>
                        </m:e>
                        <m:sup>
                          <m:r>
                            <a:rPr lang="en-US" altLang="zh-CN" b="0" i="1" smtClean="0">
                              <a:latin typeface="Cambria Math" panose="02040503050406030204" pitchFamily="18" charset="0"/>
                              <a:ea typeface="微软雅黑" panose="020B0503020204020204" pitchFamily="34" charset="-122"/>
                              <a:sym typeface="Arial" panose="020B0604020202020204" pitchFamily="34" charset="0"/>
                            </a:rPr>
                            <m:t>0−1</m:t>
                          </m:r>
                        </m:sup>
                      </m:sSup>
                      <m:r>
                        <a:rPr lang="en-US" altLang="zh-CN" b="0" i="1" smtClean="0">
                          <a:latin typeface="Cambria Math" panose="02040503050406030204" pitchFamily="18" charset="0"/>
                          <a:ea typeface="微软雅黑" panose="020B0503020204020204" pitchFamily="34" charset="-122"/>
                          <a:sym typeface="Arial" panose="020B0604020202020204" pitchFamily="34" charset="0"/>
                        </a:rPr>
                        <m:t>(</m:t>
                      </m:r>
                      <m:r>
                        <a:rPr lang="en-US" altLang="zh-CN" b="1" i="1">
                          <a:latin typeface="Cambria Math" panose="02040503050406030204" pitchFamily="18" charset="0"/>
                          <a:ea typeface="Cambria Math" panose="02040503050406030204" pitchFamily="18" charset="0"/>
                          <a:sym typeface="Arial" panose="020B0604020202020204" pitchFamily="34" charset="0"/>
                        </a:rPr>
                        <m:t>𝒚</m:t>
                      </m:r>
                      <m:r>
                        <a:rPr lang="en-US" altLang="zh-CN" i="1">
                          <a:latin typeface="Cambria Math" panose="02040503050406030204" pitchFamily="18" charset="0"/>
                          <a:ea typeface="Cambria Math" panose="02040503050406030204" pitchFamily="18" charset="0"/>
                          <a:sym typeface="Arial" panose="020B0604020202020204" pitchFamily="34" charset="0"/>
                        </a:rPr>
                        <m:t>,</m:t>
                      </m:r>
                      <m:acc>
                        <m:accPr>
                          <m:chr m:val="̂"/>
                          <m:ctrlPr>
                            <a:rPr lang="en-US" altLang="zh-CN" i="1">
                              <a:latin typeface="Cambria Math" panose="02040503050406030204" pitchFamily="18" charset="0"/>
                              <a:ea typeface="Cambria Math" panose="02040503050406030204" pitchFamily="18" charset="0"/>
                              <a:sym typeface="Arial" panose="020B0604020202020204" pitchFamily="34" charset="0"/>
                            </a:rPr>
                          </m:ctrlPr>
                        </m:accPr>
                        <m:e>
                          <m:r>
                            <a:rPr lang="en-US" altLang="zh-CN" b="1" i="1">
                              <a:latin typeface="Cambria Math" panose="02040503050406030204" pitchFamily="18" charset="0"/>
                              <a:ea typeface="Cambria Math" panose="02040503050406030204" pitchFamily="18" charset="0"/>
                              <a:sym typeface="Arial" panose="020B0604020202020204" pitchFamily="34" charset="0"/>
                            </a:rPr>
                            <m:t>𝒚</m:t>
                          </m:r>
                        </m:e>
                      </m:acc>
                      <m:r>
                        <a:rPr lang="en-US" altLang="zh-CN" b="0" i="1" smtClean="0">
                          <a:latin typeface="Cambria Math" panose="02040503050406030204" pitchFamily="18" charset="0"/>
                          <a:ea typeface="微软雅黑" panose="020B0503020204020204" pitchFamily="34" charset="-122"/>
                          <a:sym typeface="Arial" panose="020B0604020202020204" pitchFamily="34" charset="0"/>
                        </a:rPr>
                        <m:t>)=</m:t>
                      </m:r>
                      <m:f>
                        <m:fPr>
                          <m:ctrlPr>
                            <a:rPr lang="en-US" altLang="zh-CN" b="0" i="1" smtClean="0">
                              <a:latin typeface="Cambria Math" panose="02040503050406030204" pitchFamily="18" charset="0"/>
                              <a:ea typeface="微软雅黑" panose="020B0503020204020204" pitchFamily="34" charset="-122"/>
                              <a:sym typeface="Arial" panose="020B0604020202020204" pitchFamily="34" charset="0"/>
                            </a:rPr>
                          </m:ctrlPr>
                        </m:fPr>
                        <m:num>
                          <m:r>
                            <a:rPr lang="en-US" altLang="zh-CN" b="0" i="1" smtClean="0">
                              <a:latin typeface="Cambria Math" panose="02040503050406030204" pitchFamily="18" charset="0"/>
                              <a:ea typeface="微软雅黑" panose="020B0503020204020204" pitchFamily="34" charset="-122"/>
                              <a:sym typeface="Arial" panose="020B0604020202020204" pitchFamily="34" charset="0"/>
                            </a:rPr>
                            <m:t>1</m:t>
                          </m:r>
                        </m:num>
                        <m:den>
                          <m:r>
                            <a:rPr lang="en-US" altLang="zh-CN" b="0" i="1" smtClean="0">
                              <a:latin typeface="Cambria Math" panose="02040503050406030204" pitchFamily="18" charset="0"/>
                              <a:ea typeface="微软雅黑" panose="020B0503020204020204" pitchFamily="34" charset="-122"/>
                              <a:sym typeface="Arial" panose="020B0604020202020204" pitchFamily="34" charset="0"/>
                            </a:rPr>
                            <m:t>𝑚</m:t>
                          </m:r>
                        </m:den>
                      </m:f>
                      <m:nary>
                        <m:naryPr>
                          <m:chr m:val="∑"/>
                          <m:ctrlPr>
                            <a:rPr lang="en-US" altLang="zh-CN" b="0" i="1" smtClean="0">
                              <a:latin typeface="Cambria Math" panose="02040503050406030204" pitchFamily="18" charset="0"/>
                              <a:ea typeface="微软雅黑" panose="020B0503020204020204" pitchFamily="34" charset="-122"/>
                              <a:sym typeface="Arial" panose="020B0604020202020204" pitchFamily="34" charset="0"/>
                            </a:rPr>
                          </m:ctrlPr>
                        </m:naryPr>
                        <m:sub>
                          <m:r>
                            <m:rPr>
                              <m:brk m:alnAt="23"/>
                            </m:rPr>
                            <a:rPr lang="en-US" altLang="zh-CN" b="0" i="1" smtClean="0">
                              <a:latin typeface="Cambria Math" panose="02040503050406030204" pitchFamily="18" charset="0"/>
                              <a:ea typeface="微软雅黑" panose="020B0503020204020204" pitchFamily="34" charset="-122"/>
                              <a:sym typeface="Arial" panose="020B0604020202020204" pitchFamily="34" charset="0"/>
                            </a:rPr>
                            <m:t>𝑖</m:t>
                          </m:r>
                          <m:r>
                            <a:rPr lang="en-US" altLang="zh-CN" b="0" i="1" smtClean="0">
                              <a:latin typeface="Cambria Math" panose="02040503050406030204" pitchFamily="18" charset="0"/>
                              <a:ea typeface="微软雅黑" panose="020B0503020204020204" pitchFamily="34" charset="-122"/>
                              <a:sym typeface="Arial" panose="020B0604020202020204" pitchFamily="34" charset="0"/>
                            </a:rPr>
                            <m:t>=1</m:t>
                          </m:r>
                        </m:sub>
                        <m:sup>
                          <m:r>
                            <a:rPr lang="en-US" altLang="zh-CN" b="0" i="1" smtClean="0">
                              <a:latin typeface="Cambria Math" panose="02040503050406030204" pitchFamily="18" charset="0"/>
                              <a:ea typeface="微软雅黑" panose="020B0503020204020204" pitchFamily="34" charset="-122"/>
                              <a:sym typeface="Arial" panose="020B0604020202020204" pitchFamily="34" charset="0"/>
                            </a:rPr>
                            <m:t>𝑚</m:t>
                          </m:r>
                        </m:sup>
                        <m:e>
                          <m:sSubSup>
                            <m:sSubSup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SupPr>
                            <m:e>
                              <m:r>
                                <a:rPr lang="en-US" altLang="zh-CN" i="1">
                                  <a:latin typeface="Cambria Math" panose="02040503050406030204" pitchFamily="18" charset="0"/>
                                  <a:ea typeface="Cambria Math" panose="02040503050406030204" pitchFamily="18" charset="0"/>
                                  <a:sym typeface="Arial" panose="020B0604020202020204" pitchFamily="34" charset="0"/>
                                </a:rPr>
                                <m:t>ℒ</m:t>
                              </m:r>
                            </m:e>
                            <m:sub>
                              <m:r>
                                <a:rPr lang="en-US" altLang="zh-CN" i="1">
                                  <a:latin typeface="Cambria Math" panose="02040503050406030204" pitchFamily="18" charset="0"/>
                                  <a:ea typeface="微软雅黑" panose="020B0503020204020204" pitchFamily="34" charset="-122"/>
                                  <a:sym typeface="Arial" panose="020B0604020202020204" pitchFamily="34" charset="0"/>
                                </a:rPr>
                                <m:t>𝑖</m:t>
                              </m:r>
                            </m:sub>
                            <m:sup>
                              <m:r>
                                <a:rPr lang="en-US" altLang="zh-CN" i="1">
                                  <a:latin typeface="Cambria Math" panose="02040503050406030204" pitchFamily="18" charset="0"/>
                                  <a:ea typeface="微软雅黑" panose="020B0503020204020204" pitchFamily="34" charset="-122"/>
                                  <a:sym typeface="Arial" panose="020B0604020202020204" pitchFamily="34" charset="0"/>
                                </a:rPr>
                                <m:t>0−1</m:t>
                              </m:r>
                            </m:sup>
                          </m:sSubSup>
                          <m:r>
                            <a:rPr lang="en-US" altLang="zh-CN" i="1">
                              <a:latin typeface="Cambria Math" panose="02040503050406030204" pitchFamily="18" charset="0"/>
                              <a:ea typeface="微软雅黑" panose="020B0503020204020204" pitchFamily="34" charset="-122"/>
                              <a:sym typeface="Arial" panose="020B0604020202020204" pitchFamily="34" charset="0"/>
                            </a:rPr>
                            <m:t>(</m:t>
                          </m:r>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r>
                                <a:rPr lang="en-US" altLang="zh-CN" i="1">
                                  <a:latin typeface="Cambria Math" panose="02040503050406030204" pitchFamily="18" charset="0"/>
                                  <a:ea typeface="微软雅黑" panose="020B0503020204020204" pitchFamily="34" charset="-122"/>
                                  <a:sym typeface="Arial" panose="020B0604020202020204" pitchFamily="34" charset="0"/>
                                </a:rPr>
                                <m:t>𝑦</m:t>
                              </m:r>
                            </m:e>
                            <m:sub>
                              <m:r>
                                <a:rPr lang="en-US" altLang="zh-CN" i="1">
                                  <a:latin typeface="Cambria Math" panose="02040503050406030204" pitchFamily="18" charset="0"/>
                                  <a:ea typeface="微软雅黑" panose="020B0503020204020204" pitchFamily="34" charset="-122"/>
                                  <a:sym typeface="Arial" panose="020B0604020202020204" pitchFamily="34" charset="0"/>
                                </a:rPr>
                                <m:t>𝑖</m:t>
                              </m:r>
                            </m:sub>
                          </m:sSub>
                          <m:r>
                            <a:rPr lang="en-US" altLang="zh-CN" i="1">
                              <a:latin typeface="Cambria Math" panose="02040503050406030204" pitchFamily="18" charset="0"/>
                              <a:ea typeface="微软雅黑" panose="020B0503020204020204" pitchFamily="34" charset="-122"/>
                              <a:sym typeface="Arial" panose="020B0604020202020204" pitchFamily="34" charset="0"/>
                            </a:rPr>
                            <m:t>,</m:t>
                          </m:r>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acc>
                                <m:accPr>
                                  <m:chr m:val="̂"/>
                                  <m:ctrlPr>
                                    <a:rPr lang="en-US" altLang="zh-CN" i="1">
                                      <a:latin typeface="Cambria Math" panose="02040503050406030204" pitchFamily="18" charset="0"/>
                                      <a:ea typeface="微软雅黑" panose="020B0503020204020204" pitchFamily="34" charset="-122"/>
                                      <a:sym typeface="Arial" panose="020B0604020202020204" pitchFamily="34" charset="0"/>
                                    </a:rPr>
                                  </m:ctrlPr>
                                </m:accPr>
                                <m:e>
                                  <m:r>
                                    <a:rPr lang="en-US" altLang="zh-CN" i="1">
                                      <a:latin typeface="Cambria Math" panose="02040503050406030204" pitchFamily="18" charset="0"/>
                                      <a:ea typeface="微软雅黑" panose="020B0503020204020204" pitchFamily="34" charset="-122"/>
                                      <a:sym typeface="Arial" panose="020B0604020202020204" pitchFamily="34" charset="0"/>
                                    </a:rPr>
                                    <m:t>𝑦</m:t>
                                  </m:r>
                                </m:e>
                              </m:acc>
                            </m:e>
                            <m:sub>
                              <m:r>
                                <a:rPr lang="en-US" altLang="zh-CN" i="1">
                                  <a:latin typeface="Cambria Math" panose="02040503050406030204" pitchFamily="18" charset="0"/>
                                  <a:ea typeface="微软雅黑" panose="020B0503020204020204" pitchFamily="34" charset="-122"/>
                                  <a:sym typeface="Arial" panose="020B0604020202020204" pitchFamily="34" charset="0"/>
                                </a:rPr>
                                <m:t>𝑖</m:t>
                              </m:r>
                            </m:sub>
                          </m:sSub>
                          <m:r>
                            <a:rPr lang="en-US" altLang="zh-CN" i="1">
                              <a:latin typeface="Cambria Math" panose="02040503050406030204" pitchFamily="18" charset="0"/>
                              <a:ea typeface="微软雅黑" panose="020B0503020204020204" pitchFamily="34" charset="-122"/>
                              <a:sym typeface="Arial" panose="020B0604020202020204" pitchFamily="34" charset="0"/>
                            </a:rPr>
                            <m:t>)</m:t>
                          </m:r>
                        </m:e>
                      </m:nary>
                    </m:oMath>
                  </m:oMathPara>
                </a14:m>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162560" y="1265841"/>
                <a:ext cx="8371840" cy="3769302"/>
              </a:xfrm>
              <a:prstGeom prst="rect">
                <a:avLst/>
              </a:prstGeom>
              <a:blipFill>
                <a:blip r:embed="rId2"/>
                <a:stretch>
                  <a:fillRect l="-1020" t="-1294" r="-218"/>
                </a:stretch>
              </a:blipFill>
            </p:spPr>
            <p:txBody>
              <a:bodyPr/>
              <a:lstStyle/>
              <a:p>
                <a:r>
                  <a:rPr lang="zh-CN" altLang="en-US">
                    <a:noFill/>
                  </a:rPr>
                  <a:t> </a:t>
                </a:r>
              </a:p>
            </p:txBody>
          </p:sp>
        </mc:Fallback>
      </mc:AlternateContent>
      <p:sp>
        <p:nvSpPr>
          <p:cNvPr id="7" name="页脚占位符 2">
            <a:extLst>
              <a:ext uri="{FF2B5EF4-FFF2-40B4-BE49-F238E27FC236}">
                <a16:creationId xmlns:a16="http://schemas.microsoft.com/office/drawing/2014/main" id="{F709F432-035D-415B-806E-3B2A83982888}"/>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Tree>
    <p:extLst>
      <p:ext uri="{BB962C8B-B14F-4D97-AF65-F5344CB8AC3E}">
        <p14:creationId xmlns:p14="http://schemas.microsoft.com/office/powerpoint/2010/main" val="24660697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23</a:t>
            </a:fld>
            <a:endParaRPr lang="en-US" altLang="zh-CN"/>
          </a:p>
        </p:txBody>
      </p:sp>
      <p:sp>
        <p:nvSpPr>
          <p:cNvPr id="9"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731974"/>
          </a:xfrm>
        </p:spPr>
        <p:txBody>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误差与损失函数</a:t>
            </a:r>
          </a:p>
        </p:txBody>
      </p:sp>
      <mc:AlternateContent xmlns:mc="http://schemas.openxmlformats.org/markup-compatibility/2006" xmlns:a14="http://schemas.microsoft.com/office/drawing/2010/main">
        <mc:Choice Requires="a14">
          <p:sp>
            <p:nvSpPr>
              <p:cNvPr id="5" name="文本框 4"/>
              <p:cNvSpPr txBox="1"/>
              <p:nvPr/>
            </p:nvSpPr>
            <p:spPr>
              <a:xfrm>
                <a:off x="444862" y="1265841"/>
                <a:ext cx="8371840" cy="4619919"/>
              </a:xfrm>
              <a:prstGeom prst="rect">
                <a:avLst/>
              </a:prstGeom>
              <a:noFill/>
            </p:spPr>
            <p:txBody>
              <a:bodyPr wrap="square" rtlCol="0">
                <a:spAutoFit/>
              </a:bodyPr>
              <a:lstStyle/>
              <a:p>
                <a:pPr marL="342900" indent="-342900">
                  <a:buFont typeface="Wingdings" panose="05000000000000000000" pitchFamily="2" charset="2"/>
                  <a:buChar char="p"/>
                </a:pPr>
                <a:r>
                  <a:rPr lang="zh-CN" altLang="en-US" sz="2400"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损失函数</a:t>
                </a:r>
                <a:endParaRPr lang="en-US" altLang="zh-CN" sz="2400"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nSpc>
                    <a:spcPct val="150000"/>
                  </a:lnSpc>
                </a:pPr>
                <a:r>
                  <a:rPr lang="zh-CN" altLang="en-US" b="1" dirty="0">
                    <a:latin typeface="微软雅黑" panose="020B0503020204020204" pitchFamily="34" charset="-122"/>
                    <a:ea typeface="微软雅黑" panose="020B0503020204020204" pitchFamily="34" charset="-122"/>
                    <a:sym typeface="Arial" panose="020B0604020202020204" pitchFamily="34" charset="0"/>
                  </a:rPr>
                  <a:t>（</a:t>
                </a:r>
                <a:r>
                  <a:rPr lang="en-US" altLang="zh-CN" b="1" dirty="0">
                    <a:latin typeface="微软雅黑" panose="020B0503020204020204" pitchFamily="34" charset="-122"/>
                    <a:ea typeface="微软雅黑" panose="020B0503020204020204" pitchFamily="34" charset="-122"/>
                    <a:sym typeface="Arial" panose="020B0604020202020204" pitchFamily="34" charset="0"/>
                  </a:rPr>
                  <a:t>2</a:t>
                </a:r>
                <a:r>
                  <a:rPr lang="zh-CN" altLang="en-US" b="1" dirty="0">
                    <a:latin typeface="微软雅黑" panose="020B0503020204020204" pitchFamily="34" charset="-122"/>
                    <a:ea typeface="微软雅黑" panose="020B0503020204020204" pitchFamily="34" charset="-122"/>
                    <a:sym typeface="Arial" panose="020B0604020202020204" pitchFamily="34" charset="0"/>
                  </a:rPr>
                  <a:t>）均方误差（</a:t>
                </a:r>
                <a:r>
                  <a:rPr lang="en-US" altLang="zh-CN" b="1" dirty="0">
                    <a:latin typeface="微软雅黑" panose="020B0503020204020204" pitchFamily="34" charset="-122"/>
                    <a:ea typeface="微软雅黑" panose="020B0503020204020204" pitchFamily="34" charset="-122"/>
                    <a:sym typeface="Arial" panose="020B0604020202020204" pitchFamily="34" charset="0"/>
                  </a:rPr>
                  <a:t>Mean Square Error, MSE</a:t>
                </a:r>
                <a:r>
                  <a:rPr lang="zh-CN" altLang="en-US" b="1" dirty="0">
                    <a:latin typeface="微软雅黑" panose="020B0503020204020204" pitchFamily="34" charset="-122"/>
                    <a:ea typeface="微软雅黑" panose="020B0503020204020204" pitchFamily="34" charset="-122"/>
                    <a:sym typeface="Arial" panose="020B0604020202020204" pitchFamily="34" charset="0"/>
                  </a:rPr>
                  <a:t>）</a:t>
                </a:r>
                <a:endParaRPr lang="en-US" altLang="zh-CN" b="1"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en-US" altLang="zh-CN" sz="11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dirty="0">
                    <a:latin typeface="微软雅黑" panose="020B0503020204020204" pitchFamily="34" charset="-122"/>
                    <a:ea typeface="微软雅黑" panose="020B0503020204020204" pitchFamily="34" charset="-122"/>
                    <a:sym typeface="Arial" panose="020B0604020202020204" pitchFamily="34" charset="0"/>
                  </a:rPr>
                  <a:t>均方误差的定义如下：</a:t>
                </a:r>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pPr>
                        <m:e>
                          <m:r>
                            <a:rPr lang="en-US" altLang="zh-CN" i="1">
                              <a:latin typeface="Cambria Math" panose="02040503050406030204" pitchFamily="18" charset="0"/>
                              <a:ea typeface="Cambria Math" panose="02040503050406030204" pitchFamily="18" charset="0"/>
                              <a:sym typeface="Arial" panose="020B0604020202020204" pitchFamily="34" charset="0"/>
                            </a:rPr>
                            <m:t>ℒ</m:t>
                          </m:r>
                        </m:e>
                        <m:sup>
                          <m:r>
                            <a:rPr lang="en-US" altLang="zh-CN" i="1">
                              <a:latin typeface="Cambria Math" panose="02040503050406030204" pitchFamily="18" charset="0"/>
                              <a:ea typeface="微软雅黑" panose="020B0503020204020204" pitchFamily="34" charset="-122"/>
                              <a:sym typeface="Arial" panose="020B0604020202020204" pitchFamily="34" charset="0"/>
                            </a:rPr>
                            <m:t>𝑀𝑆𝐸</m:t>
                          </m:r>
                        </m:sup>
                      </m:sSup>
                      <m:r>
                        <a:rPr lang="en-US" altLang="zh-CN" i="1">
                          <a:latin typeface="Cambria Math" panose="02040503050406030204" pitchFamily="18" charset="0"/>
                          <a:ea typeface="微软雅黑" panose="020B0503020204020204" pitchFamily="34" charset="-122"/>
                          <a:sym typeface="Arial" panose="020B0604020202020204" pitchFamily="34" charset="0"/>
                        </a:rPr>
                        <m:t>(</m:t>
                      </m:r>
                      <m:r>
                        <a:rPr lang="en-US" altLang="zh-CN" b="1" i="1">
                          <a:latin typeface="Cambria Math" panose="02040503050406030204" pitchFamily="18" charset="0"/>
                          <a:ea typeface="Cambria Math" panose="02040503050406030204" pitchFamily="18" charset="0"/>
                          <a:sym typeface="Arial" panose="020B0604020202020204" pitchFamily="34" charset="0"/>
                        </a:rPr>
                        <m:t>𝒚</m:t>
                      </m:r>
                      <m:r>
                        <a:rPr lang="en-US" altLang="zh-CN" i="1">
                          <a:latin typeface="Cambria Math" panose="02040503050406030204" pitchFamily="18" charset="0"/>
                          <a:ea typeface="Cambria Math" panose="02040503050406030204" pitchFamily="18" charset="0"/>
                          <a:sym typeface="Arial" panose="020B0604020202020204" pitchFamily="34" charset="0"/>
                        </a:rPr>
                        <m:t>,</m:t>
                      </m:r>
                      <m:acc>
                        <m:accPr>
                          <m:chr m:val="̂"/>
                          <m:ctrlPr>
                            <a:rPr lang="en-US" altLang="zh-CN" i="1">
                              <a:latin typeface="Cambria Math" panose="02040503050406030204" pitchFamily="18" charset="0"/>
                              <a:ea typeface="Cambria Math" panose="02040503050406030204" pitchFamily="18" charset="0"/>
                              <a:sym typeface="Arial" panose="020B0604020202020204" pitchFamily="34" charset="0"/>
                            </a:rPr>
                          </m:ctrlPr>
                        </m:accPr>
                        <m:e>
                          <m:r>
                            <a:rPr lang="en-US" altLang="zh-CN" b="1" i="1">
                              <a:latin typeface="Cambria Math" panose="02040503050406030204" pitchFamily="18" charset="0"/>
                              <a:ea typeface="Cambria Math" panose="02040503050406030204" pitchFamily="18" charset="0"/>
                              <a:sym typeface="Arial" panose="020B0604020202020204" pitchFamily="34" charset="0"/>
                            </a:rPr>
                            <m:t>𝒚</m:t>
                          </m:r>
                        </m:e>
                      </m:acc>
                      <m:r>
                        <a:rPr lang="en-US" altLang="zh-CN" i="1">
                          <a:latin typeface="Cambria Math" panose="02040503050406030204" pitchFamily="18" charset="0"/>
                          <a:ea typeface="微软雅黑" panose="020B0503020204020204" pitchFamily="34" charset="-122"/>
                          <a:sym typeface="Arial" panose="020B0604020202020204" pitchFamily="34" charset="0"/>
                        </a:rPr>
                        <m:t>)=</m:t>
                      </m:r>
                      <m:f>
                        <m:fPr>
                          <m:ctrlPr>
                            <a:rPr lang="en-US" altLang="zh-CN" i="1">
                              <a:latin typeface="Cambria Math" panose="02040503050406030204" pitchFamily="18" charset="0"/>
                              <a:ea typeface="微软雅黑" panose="020B0503020204020204" pitchFamily="34" charset="-122"/>
                              <a:sym typeface="Arial" panose="020B0604020202020204" pitchFamily="34" charset="0"/>
                            </a:rPr>
                          </m:ctrlPr>
                        </m:fPr>
                        <m:num>
                          <m:r>
                            <a:rPr lang="en-US" altLang="zh-CN" i="1">
                              <a:latin typeface="Cambria Math" panose="02040503050406030204" pitchFamily="18" charset="0"/>
                              <a:ea typeface="微软雅黑" panose="020B0503020204020204" pitchFamily="34" charset="-122"/>
                              <a:sym typeface="Arial" panose="020B0604020202020204" pitchFamily="34" charset="0"/>
                            </a:rPr>
                            <m:t>1</m:t>
                          </m:r>
                        </m:num>
                        <m:den>
                          <m:r>
                            <a:rPr lang="en-US" altLang="zh-CN" i="1">
                              <a:latin typeface="Cambria Math" panose="02040503050406030204" pitchFamily="18" charset="0"/>
                              <a:ea typeface="微软雅黑" panose="020B0503020204020204" pitchFamily="34" charset="-122"/>
                              <a:sym typeface="Arial" panose="020B0604020202020204" pitchFamily="34" charset="0"/>
                            </a:rPr>
                            <m:t>𝑚</m:t>
                          </m:r>
                        </m:den>
                      </m:f>
                      <m:nary>
                        <m:naryPr>
                          <m:chr m:val="∑"/>
                          <m:ctrlPr>
                            <a:rPr lang="en-US" altLang="zh-CN" i="1">
                              <a:latin typeface="Cambria Math" panose="02040503050406030204" pitchFamily="18" charset="0"/>
                              <a:ea typeface="微软雅黑" panose="020B0503020204020204" pitchFamily="34" charset="-122"/>
                              <a:sym typeface="Arial" panose="020B0604020202020204" pitchFamily="34" charset="0"/>
                            </a:rPr>
                          </m:ctrlPr>
                        </m:naryPr>
                        <m:sub>
                          <m:r>
                            <m:rPr>
                              <m:brk m:alnAt="23"/>
                            </m:rPr>
                            <a:rPr lang="en-US" altLang="zh-CN" i="1">
                              <a:latin typeface="Cambria Math" panose="02040503050406030204" pitchFamily="18" charset="0"/>
                              <a:ea typeface="微软雅黑" panose="020B0503020204020204" pitchFamily="34" charset="-122"/>
                              <a:sym typeface="Arial" panose="020B0604020202020204" pitchFamily="34" charset="0"/>
                            </a:rPr>
                            <m:t>𝑖</m:t>
                          </m:r>
                          <m:r>
                            <a:rPr lang="en-US" altLang="zh-CN" i="1">
                              <a:latin typeface="Cambria Math" panose="02040503050406030204" pitchFamily="18" charset="0"/>
                              <a:ea typeface="微软雅黑" panose="020B0503020204020204" pitchFamily="34" charset="-122"/>
                              <a:sym typeface="Arial" panose="020B0604020202020204" pitchFamily="34" charset="0"/>
                            </a:rPr>
                            <m:t>=1</m:t>
                          </m:r>
                        </m:sub>
                        <m:sup>
                          <m:r>
                            <a:rPr lang="en-US" altLang="zh-CN" i="1">
                              <a:latin typeface="Cambria Math" panose="02040503050406030204" pitchFamily="18" charset="0"/>
                              <a:ea typeface="微软雅黑" panose="020B0503020204020204" pitchFamily="34" charset="-122"/>
                              <a:sym typeface="Arial" panose="020B0604020202020204" pitchFamily="34" charset="0"/>
                            </a:rPr>
                            <m:t>𝑚</m:t>
                          </m:r>
                        </m:sup>
                        <m:e>
                          <m:sSup>
                            <m:sSup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pPr>
                            <m:e>
                              <m:r>
                                <a:rPr lang="en-US" altLang="zh-CN" i="1">
                                  <a:latin typeface="Cambria Math" panose="02040503050406030204" pitchFamily="18" charset="0"/>
                                  <a:ea typeface="微软雅黑" panose="020B0503020204020204" pitchFamily="34" charset="-122"/>
                                  <a:sym typeface="Arial" panose="020B0604020202020204" pitchFamily="34" charset="0"/>
                                </a:rPr>
                                <m:t>(</m:t>
                              </m:r>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r>
                                    <a:rPr lang="en-US" altLang="zh-CN" i="1">
                                      <a:latin typeface="Cambria Math" panose="02040503050406030204" pitchFamily="18" charset="0"/>
                                      <a:ea typeface="微软雅黑" panose="020B0503020204020204" pitchFamily="34" charset="-122"/>
                                      <a:sym typeface="Arial" panose="020B0604020202020204" pitchFamily="34" charset="0"/>
                                    </a:rPr>
                                    <m:t>𝑦</m:t>
                                  </m:r>
                                </m:e>
                                <m:sub>
                                  <m:r>
                                    <a:rPr lang="en-US" altLang="zh-CN" i="1">
                                      <a:latin typeface="Cambria Math" panose="02040503050406030204" pitchFamily="18" charset="0"/>
                                      <a:ea typeface="微软雅黑" panose="020B0503020204020204" pitchFamily="34" charset="-122"/>
                                      <a:sym typeface="Arial" panose="020B0604020202020204" pitchFamily="34" charset="0"/>
                                    </a:rPr>
                                    <m:t>𝑖</m:t>
                                  </m:r>
                                </m:sub>
                              </m:sSub>
                              <m:r>
                                <a:rPr lang="en-US" altLang="zh-CN" i="1">
                                  <a:latin typeface="Cambria Math" panose="02040503050406030204" pitchFamily="18" charset="0"/>
                                  <a:ea typeface="微软雅黑" panose="020B0503020204020204" pitchFamily="34" charset="-122"/>
                                  <a:sym typeface="Arial" panose="020B0604020202020204" pitchFamily="34" charset="0"/>
                                </a:rPr>
                                <m:t>−</m:t>
                              </m:r>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acc>
                                    <m:accPr>
                                      <m:chr m:val="̂"/>
                                      <m:ctrlPr>
                                        <a:rPr lang="en-US" altLang="zh-CN" i="1">
                                          <a:latin typeface="Cambria Math" panose="02040503050406030204" pitchFamily="18" charset="0"/>
                                          <a:ea typeface="微软雅黑" panose="020B0503020204020204" pitchFamily="34" charset="-122"/>
                                          <a:sym typeface="Arial" panose="020B0604020202020204" pitchFamily="34" charset="0"/>
                                        </a:rPr>
                                      </m:ctrlPr>
                                    </m:accPr>
                                    <m:e>
                                      <m:r>
                                        <a:rPr lang="en-US" altLang="zh-CN" i="1">
                                          <a:latin typeface="Cambria Math" panose="02040503050406030204" pitchFamily="18" charset="0"/>
                                          <a:ea typeface="微软雅黑" panose="020B0503020204020204" pitchFamily="34" charset="-122"/>
                                          <a:sym typeface="Arial" panose="020B0604020202020204" pitchFamily="34" charset="0"/>
                                        </a:rPr>
                                        <m:t>𝑦</m:t>
                                      </m:r>
                                    </m:e>
                                  </m:acc>
                                </m:e>
                                <m:sub>
                                  <m:r>
                                    <a:rPr lang="en-US" altLang="zh-CN" i="1">
                                      <a:latin typeface="Cambria Math" panose="02040503050406030204" pitchFamily="18" charset="0"/>
                                      <a:ea typeface="微软雅黑" panose="020B0503020204020204" pitchFamily="34" charset="-122"/>
                                      <a:sym typeface="Arial" panose="020B0604020202020204" pitchFamily="34" charset="0"/>
                                    </a:rPr>
                                    <m:t>𝑖</m:t>
                                  </m:r>
                                </m:sub>
                              </m:sSub>
                              <m:r>
                                <a:rPr lang="en-US" altLang="zh-CN" i="1">
                                  <a:latin typeface="Cambria Math" panose="02040503050406030204" pitchFamily="18" charset="0"/>
                                  <a:ea typeface="微软雅黑" panose="020B0503020204020204" pitchFamily="34" charset="-122"/>
                                  <a:sym typeface="Arial" panose="020B0604020202020204" pitchFamily="34" charset="0"/>
                                </a:rPr>
                                <m:t>)</m:t>
                              </m:r>
                            </m:e>
                            <m:sup>
                              <m:r>
                                <a:rPr lang="en-US" altLang="zh-CN" i="1">
                                  <a:latin typeface="Cambria Math" panose="02040503050406030204" pitchFamily="18" charset="0"/>
                                  <a:ea typeface="微软雅黑" panose="020B0503020204020204" pitchFamily="34" charset="-122"/>
                                  <a:sym typeface="Arial" panose="020B0604020202020204" pitchFamily="34" charset="0"/>
                                </a:rPr>
                                <m:t>2</m:t>
                              </m:r>
                            </m:sup>
                          </m:sSup>
                        </m:e>
                      </m:nary>
                    </m:oMath>
                  </m:oMathPara>
                </a14:m>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dirty="0">
                    <a:latin typeface="微软雅黑" panose="020B0503020204020204" pitchFamily="34" charset="-122"/>
                    <a:ea typeface="微软雅黑" panose="020B0503020204020204" pitchFamily="34" charset="-122"/>
                    <a:sym typeface="Arial" panose="020B0604020202020204" pitchFamily="34" charset="0"/>
                  </a:rPr>
                  <a:t>均方误差通过平方相加的形式避免了正负误差的相互抵消。均方误差函数有很多优势</a:t>
                </a:r>
                <a:r>
                  <a:rPr lang="zh-CN" altLang="en-US" dirty="0">
                    <a:latin typeface="微软雅黑" panose="020B0503020204020204" pitchFamily="34" charset="-122"/>
                    <a:ea typeface="微软雅黑" panose="020B0503020204020204" pitchFamily="34" charset="-122"/>
                    <a:sym typeface="Wingdings" panose="05000000000000000000" pitchFamily="2" charset="2"/>
                  </a:rPr>
                  <a:t>（</a:t>
                </a:r>
                <a:r>
                  <a:rPr lang="en-US" altLang="zh-CN" dirty="0">
                    <a:latin typeface="微软雅黑" panose="020B0503020204020204" pitchFamily="34" charset="-122"/>
                    <a:ea typeface="微软雅黑" panose="020B0503020204020204" pitchFamily="34" charset="-122"/>
                    <a:sym typeface="Wingdings" panose="05000000000000000000" pitchFamily="2" charset="2"/>
                  </a:rPr>
                  <a:t>1</a:t>
                </a:r>
                <a:r>
                  <a:rPr lang="zh-CN" altLang="en-US" dirty="0">
                    <a:latin typeface="微软雅黑" panose="020B0503020204020204" pitchFamily="34" charset="-122"/>
                    <a:ea typeface="微软雅黑" panose="020B0503020204020204" pitchFamily="34" charset="-122"/>
                    <a:sym typeface="Wingdings" panose="05000000000000000000" pitchFamily="2" charset="2"/>
                  </a:rPr>
                  <a:t>）没有约束条件；（</a:t>
                </a:r>
                <a:r>
                  <a:rPr lang="en-US" altLang="zh-CN" dirty="0">
                    <a:latin typeface="微软雅黑" panose="020B0503020204020204" pitchFamily="34" charset="-122"/>
                    <a:ea typeface="微软雅黑" panose="020B0503020204020204" pitchFamily="34" charset="-122"/>
                    <a:sym typeface="Wingdings" panose="05000000000000000000" pitchFamily="2" charset="2"/>
                  </a:rPr>
                  <a:t>2</a:t>
                </a:r>
                <a:r>
                  <a:rPr lang="zh-CN" altLang="en-US" dirty="0">
                    <a:latin typeface="微软雅黑" panose="020B0503020204020204" pitchFamily="34" charset="-122"/>
                    <a:ea typeface="微软雅黑" panose="020B0503020204020204" pitchFamily="34" charset="-122"/>
                    <a:sym typeface="Wingdings" panose="05000000000000000000" pitchFamily="2" charset="2"/>
                  </a:rPr>
                  <a:t>）连续可微；（</a:t>
                </a:r>
                <a:r>
                  <a:rPr lang="en-US" altLang="zh-CN" dirty="0">
                    <a:latin typeface="微软雅黑" panose="020B0503020204020204" pitchFamily="34" charset="-122"/>
                    <a:ea typeface="微软雅黑" panose="020B0503020204020204" pitchFamily="34" charset="-122"/>
                    <a:sym typeface="Wingdings" panose="05000000000000000000" pitchFamily="2" charset="2"/>
                  </a:rPr>
                  <a:t>3</a:t>
                </a:r>
                <a:r>
                  <a:rPr lang="zh-CN" altLang="en-US" dirty="0">
                    <a:latin typeface="微软雅黑" panose="020B0503020204020204" pitchFamily="34" charset="-122"/>
                    <a:ea typeface="微软雅黑" panose="020B0503020204020204" pitchFamily="34" charset="-122"/>
                    <a:sym typeface="Wingdings" panose="05000000000000000000" pitchFamily="2" charset="2"/>
                  </a:rPr>
                  <a:t>）目标方程是凸函数。因此均方误差最小化问题可以通过求函数的“驻点”来解决</a:t>
                </a:r>
                <a:endParaRPr lang="en-US" altLang="zh-CN" dirty="0">
                  <a:latin typeface="微软雅黑" panose="020B0503020204020204" pitchFamily="34" charset="-122"/>
                  <a:ea typeface="微软雅黑" panose="020B0503020204020204" pitchFamily="34" charset="-122"/>
                  <a:sym typeface="Wingdings" panose="05000000000000000000" pitchFamily="2" charset="2"/>
                </a:endParaRPr>
              </a:p>
              <a:p>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444862" y="1265841"/>
                <a:ext cx="8371840" cy="4619919"/>
              </a:xfrm>
              <a:prstGeom prst="rect">
                <a:avLst/>
              </a:prstGeom>
              <a:blipFill>
                <a:blip r:embed="rId2"/>
                <a:stretch>
                  <a:fillRect l="-1020" t="-1055" r="-583"/>
                </a:stretch>
              </a:blipFill>
            </p:spPr>
            <p:txBody>
              <a:bodyPr/>
              <a:lstStyle/>
              <a:p>
                <a:r>
                  <a:rPr lang="zh-CN" altLang="en-US">
                    <a:noFill/>
                  </a:rPr>
                  <a:t> </a:t>
                </a:r>
              </a:p>
            </p:txBody>
          </p:sp>
        </mc:Fallback>
      </mc:AlternateContent>
      <p:sp>
        <p:nvSpPr>
          <p:cNvPr id="7" name="页脚占位符 2">
            <a:extLst>
              <a:ext uri="{FF2B5EF4-FFF2-40B4-BE49-F238E27FC236}">
                <a16:creationId xmlns:a16="http://schemas.microsoft.com/office/drawing/2014/main" id="{ECD93FB7-8D36-42CA-83E5-5911A4AA7FCA}"/>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Tree>
    <p:extLst>
      <p:ext uri="{BB962C8B-B14F-4D97-AF65-F5344CB8AC3E}">
        <p14:creationId xmlns:p14="http://schemas.microsoft.com/office/powerpoint/2010/main" val="39179205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24</a:t>
            </a:fld>
            <a:endParaRPr lang="en-US" altLang="zh-CN"/>
          </a:p>
        </p:txBody>
      </p:sp>
      <mc:AlternateContent xmlns:mc="http://schemas.openxmlformats.org/markup-compatibility/2006" xmlns:a14="http://schemas.microsoft.com/office/drawing/2010/main">
        <mc:Choice Requires="a14">
          <p:sp>
            <p:nvSpPr>
              <p:cNvPr id="6" name="矩形 5"/>
              <p:cNvSpPr/>
              <p:nvPr/>
            </p:nvSpPr>
            <p:spPr>
              <a:xfrm>
                <a:off x="88500" y="1305044"/>
                <a:ext cx="8667750" cy="5477269"/>
              </a:xfrm>
              <a:prstGeom prst="rect">
                <a:avLst/>
              </a:prstGeom>
            </p:spPr>
            <p:txBody>
              <a:bodyPr wrap="square">
                <a:spAutoFit/>
              </a:bodyPr>
              <a:lstStyle/>
              <a:p>
                <a:pPr marL="342900" lvl="0" indent="-342900">
                  <a:buFont typeface="Wingdings" panose="05000000000000000000" pitchFamily="2" charset="2"/>
                  <a:buChar char="p"/>
                </a:pPr>
                <a:r>
                  <a:rPr lang="zh-CN" altLang="en-US" sz="2400" dirty="0">
                    <a:solidFill>
                      <a:srgbClr val="1F497D"/>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损失函数</a:t>
                </a:r>
                <a:endParaRPr lang="en-US" altLang="zh-CN" sz="2400" dirty="0">
                  <a:solidFill>
                    <a:srgbClr val="1F497D"/>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endParaRPr lang="en-US" altLang="zh-CN" dirty="0">
                  <a:latin typeface="微软雅黑" panose="020B0503020204020204" pitchFamily="34" charset="-122"/>
                  <a:ea typeface="微软雅黑" panose="020B0503020204020204" pitchFamily="34" charset="-122"/>
                  <a:sym typeface="Wingdings" panose="05000000000000000000" pitchFamily="2" charset="2"/>
                </a:endParaRPr>
              </a:p>
              <a:p>
                <a:pPr>
                  <a:lnSpc>
                    <a:spcPct val="150000"/>
                  </a:lnSpc>
                </a:pPr>
                <a:r>
                  <a:rPr lang="zh-CN" altLang="en-US" b="1" dirty="0">
                    <a:latin typeface="微软雅黑" panose="020B0503020204020204" pitchFamily="34" charset="-122"/>
                    <a:ea typeface="微软雅黑" panose="020B0503020204020204" pitchFamily="34" charset="-122"/>
                    <a:sym typeface="Arial" panose="020B0604020202020204" pitchFamily="34" charset="0"/>
                  </a:rPr>
                  <a:t>（</a:t>
                </a:r>
                <a:r>
                  <a:rPr lang="en-US" altLang="zh-CN" b="1" dirty="0">
                    <a:latin typeface="微软雅黑" panose="020B0503020204020204" pitchFamily="34" charset="-122"/>
                    <a:ea typeface="微软雅黑" panose="020B0503020204020204" pitchFamily="34" charset="-122"/>
                    <a:sym typeface="Arial" panose="020B0604020202020204" pitchFamily="34" charset="0"/>
                  </a:rPr>
                  <a:t>3</a:t>
                </a:r>
                <a:r>
                  <a:rPr lang="zh-CN" altLang="en-US" b="1" dirty="0">
                    <a:latin typeface="微软雅黑" panose="020B0503020204020204" pitchFamily="34" charset="-122"/>
                    <a:ea typeface="微软雅黑" panose="020B0503020204020204" pitchFamily="34" charset="-122"/>
                    <a:sym typeface="Arial" panose="020B0604020202020204" pitchFamily="34" charset="0"/>
                  </a:rPr>
                  <a:t>）平均绝对误差（</a:t>
                </a:r>
                <a:r>
                  <a:rPr lang="en-US" altLang="zh-CN" b="1" dirty="0">
                    <a:latin typeface="微软雅黑" panose="020B0503020204020204" pitchFamily="34" charset="-122"/>
                    <a:ea typeface="微软雅黑" panose="020B0503020204020204" pitchFamily="34" charset="-122"/>
                    <a:sym typeface="Arial" panose="020B0604020202020204" pitchFamily="34" charset="0"/>
                  </a:rPr>
                  <a:t>Mean Absolute Error, MAE</a:t>
                </a:r>
                <a:r>
                  <a:rPr lang="zh-CN" altLang="en-US" b="1" dirty="0">
                    <a:latin typeface="微软雅黑" panose="020B0503020204020204" pitchFamily="34" charset="-122"/>
                    <a:ea typeface="微软雅黑" panose="020B0503020204020204" pitchFamily="34" charset="-122"/>
                    <a:sym typeface="Arial" panose="020B0604020202020204" pitchFamily="34" charset="0"/>
                  </a:rPr>
                  <a:t>）</a:t>
                </a:r>
                <a:endParaRPr lang="en-US" altLang="zh-CN" b="1"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en-US" altLang="zh-CN" sz="11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dirty="0">
                    <a:latin typeface="微软雅黑" panose="020B0503020204020204" pitchFamily="34" charset="-122"/>
                    <a:ea typeface="微软雅黑" panose="020B0503020204020204" pitchFamily="34" charset="-122"/>
                    <a:sym typeface="Arial" panose="020B0604020202020204" pitchFamily="34" charset="0"/>
                  </a:rPr>
                  <a:t>         平均绝对误差的定义如下：</a:t>
                </a:r>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ea typeface="微软雅黑" panose="020B0503020204020204" pitchFamily="34" charset="-122"/>
                              <a:sym typeface="Arial" panose="020B0604020202020204" pitchFamily="34" charset="0"/>
                            </a:rPr>
                          </m:ctrlPr>
                        </m:sSupPr>
                        <m:e>
                          <m:r>
                            <a:rPr lang="en-US" altLang="zh-CN" i="1">
                              <a:latin typeface="Cambria Math" panose="02040503050406030204" pitchFamily="18" charset="0"/>
                              <a:ea typeface="Cambria Math" panose="02040503050406030204" pitchFamily="18" charset="0"/>
                              <a:sym typeface="Arial" panose="020B0604020202020204" pitchFamily="34" charset="0"/>
                            </a:rPr>
                            <m:t>ℒ</m:t>
                          </m:r>
                        </m:e>
                        <m:sup>
                          <m:r>
                            <a:rPr lang="en-US" altLang="zh-CN" b="0" i="1" smtClean="0">
                              <a:latin typeface="Cambria Math" panose="02040503050406030204" pitchFamily="18" charset="0"/>
                              <a:ea typeface="微软雅黑" panose="020B0503020204020204" pitchFamily="34" charset="-122"/>
                              <a:sym typeface="Arial" panose="020B0604020202020204" pitchFamily="34" charset="0"/>
                            </a:rPr>
                            <m:t>𝑀𝐴𝐸</m:t>
                          </m:r>
                        </m:sup>
                      </m:sSup>
                      <m:r>
                        <a:rPr lang="en-US" altLang="zh-CN" i="1">
                          <a:latin typeface="Cambria Math" panose="02040503050406030204" pitchFamily="18" charset="0"/>
                          <a:ea typeface="微软雅黑" panose="020B0503020204020204" pitchFamily="34" charset="-122"/>
                          <a:sym typeface="Arial" panose="020B0604020202020204" pitchFamily="34" charset="0"/>
                        </a:rPr>
                        <m:t>(</m:t>
                      </m:r>
                      <m:r>
                        <a:rPr lang="en-US" altLang="zh-CN" b="1" i="1">
                          <a:latin typeface="Cambria Math" panose="02040503050406030204" pitchFamily="18" charset="0"/>
                          <a:ea typeface="Cambria Math" panose="02040503050406030204" pitchFamily="18" charset="0"/>
                          <a:sym typeface="Arial" panose="020B0604020202020204" pitchFamily="34" charset="0"/>
                        </a:rPr>
                        <m:t>𝒚</m:t>
                      </m:r>
                      <m:r>
                        <a:rPr lang="en-US" altLang="zh-CN" i="1">
                          <a:latin typeface="Cambria Math" panose="02040503050406030204" pitchFamily="18" charset="0"/>
                          <a:ea typeface="Cambria Math" panose="02040503050406030204" pitchFamily="18" charset="0"/>
                          <a:sym typeface="Arial" panose="020B0604020202020204" pitchFamily="34" charset="0"/>
                        </a:rPr>
                        <m:t>,</m:t>
                      </m:r>
                      <m:acc>
                        <m:accPr>
                          <m:chr m:val="̂"/>
                          <m:ctrlPr>
                            <a:rPr lang="en-US" altLang="zh-CN" i="1">
                              <a:latin typeface="Cambria Math" panose="02040503050406030204" pitchFamily="18" charset="0"/>
                              <a:ea typeface="Cambria Math" panose="02040503050406030204" pitchFamily="18" charset="0"/>
                              <a:sym typeface="Arial" panose="020B0604020202020204" pitchFamily="34" charset="0"/>
                            </a:rPr>
                          </m:ctrlPr>
                        </m:accPr>
                        <m:e>
                          <m:r>
                            <a:rPr lang="en-US" altLang="zh-CN" b="1" i="1">
                              <a:latin typeface="Cambria Math" panose="02040503050406030204" pitchFamily="18" charset="0"/>
                              <a:ea typeface="Cambria Math" panose="02040503050406030204" pitchFamily="18" charset="0"/>
                              <a:sym typeface="Arial" panose="020B0604020202020204" pitchFamily="34" charset="0"/>
                            </a:rPr>
                            <m:t>𝒚</m:t>
                          </m:r>
                        </m:e>
                      </m:acc>
                      <m:r>
                        <a:rPr lang="en-US" altLang="zh-CN" i="1">
                          <a:latin typeface="Cambria Math" panose="02040503050406030204" pitchFamily="18" charset="0"/>
                          <a:ea typeface="微软雅黑" panose="020B0503020204020204" pitchFamily="34" charset="-122"/>
                          <a:sym typeface="Arial" panose="020B0604020202020204" pitchFamily="34" charset="0"/>
                        </a:rPr>
                        <m:t>)=</m:t>
                      </m:r>
                      <m:f>
                        <m:fPr>
                          <m:ctrlPr>
                            <a:rPr lang="en-US" altLang="zh-CN" i="1">
                              <a:latin typeface="Cambria Math" panose="02040503050406030204" pitchFamily="18" charset="0"/>
                              <a:ea typeface="微软雅黑" panose="020B0503020204020204" pitchFamily="34" charset="-122"/>
                              <a:sym typeface="Arial" panose="020B0604020202020204" pitchFamily="34" charset="0"/>
                            </a:rPr>
                          </m:ctrlPr>
                        </m:fPr>
                        <m:num>
                          <m:r>
                            <a:rPr lang="en-US" altLang="zh-CN" i="1">
                              <a:latin typeface="Cambria Math" panose="02040503050406030204" pitchFamily="18" charset="0"/>
                              <a:ea typeface="微软雅黑" panose="020B0503020204020204" pitchFamily="34" charset="-122"/>
                              <a:sym typeface="Arial" panose="020B0604020202020204" pitchFamily="34" charset="0"/>
                            </a:rPr>
                            <m:t>1</m:t>
                          </m:r>
                        </m:num>
                        <m:den>
                          <m:r>
                            <a:rPr lang="en-US" altLang="zh-CN" i="1">
                              <a:latin typeface="Cambria Math" panose="02040503050406030204" pitchFamily="18" charset="0"/>
                              <a:ea typeface="微软雅黑" panose="020B0503020204020204" pitchFamily="34" charset="-122"/>
                              <a:sym typeface="Arial" panose="020B0604020202020204" pitchFamily="34" charset="0"/>
                            </a:rPr>
                            <m:t>𝑚</m:t>
                          </m:r>
                        </m:den>
                      </m:f>
                      <m:nary>
                        <m:naryPr>
                          <m:chr m:val="∑"/>
                          <m:ctrlPr>
                            <a:rPr lang="en-US" altLang="zh-CN" i="1">
                              <a:latin typeface="Cambria Math" panose="02040503050406030204" pitchFamily="18" charset="0"/>
                              <a:ea typeface="微软雅黑" panose="020B0503020204020204" pitchFamily="34" charset="-122"/>
                              <a:sym typeface="Arial" panose="020B0604020202020204" pitchFamily="34" charset="0"/>
                            </a:rPr>
                          </m:ctrlPr>
                        </m:naryPr>
                        <m:sub>
                          <m:r>
                            <m:rPr>
                              <m:brk m:alnAt="23"/>
                            </m:rPr>
                            <a:rPr lang="en-US" altLang="zh-CN" i="1">
                              <a:latin typeface="Cambria Math" panose="02040503050406030204" pitchFamily="18" charset="0"/>
                              <a:ea typeface="微软雅黑" panose="020B0503020204020204" pitchFamily="34" charset="-122"/>
                              <a:sym typeface="Arial" panose="020B0604020202020204" pitchFamily="34" charset="0"/>
                            </a:rPr>
                            <m:t>𝑖</m:t>
                          </m:r>
                          <m:r>
                            <a:rPr lang="en-US" altLang="zh-CN" i="1">
                              <a:latin typeface="Cambria Math" panose="02040503050406030204" pitchFamily="18" charset="0"/>
                              <a:ea typeface="微软雅黑" panose="020B0503020204020204" pitchFamily="34" charset="-122"/>
                              <a:sym typeface="Arial" panose="020B0604020202020204" pitchFamily="34" charset="0"/>
                            </a:rPr>
                            <m:t>=1</m:t>
                          </m:r>
                        </m:sub>
                        <m:sup>
                          <m:r>
                            <a:rPr lang="en-US" altLang="zh-CN" i="1">
                              <a:latin typeface="Cambria Math" panose="02040503050406030204" pitchFamily="18" charset="0"/>
                              <a:ea typeface="微软雅黑" panose="020B0503020204020204" pitchFamily="34" charset="-122"/>
                              <a:sym typeface="Arial" panose="020B0604020202020204" pitchFamily="34" charset="0"/>
                            </a:rPr>
                            <m:t>𝑚</m:t>
                          </m:r>
                        </m:sup>
                        <m:e>
                          <m:r>
                            <a:rPr lang="en-US" altLang="zh-CN" i="1">
                              <a:latin typeface="Cambria Math" panose="02040503050406030204" pitchFamily="18" charset="0"/>
                              <a:ea typeface="微软雅黑" panose="020B0503020204020204" pitchFamily="34" charset="-122"/>
                              <a:sym typeface="Arial" panose="020B0604020202020204" pitchFamily="34" charset="0"/>
                            </a:rPr>
                            <m:t>|(</m:t>
                          </m:r>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r>
                                <a:rPr lang="en-US" altLang="zh-CN" i="1">
                                  <a:latin typeface="Cambria Math" panose="02040503050406030204" pitchFamily="18" charset="0"/>
                                  <a:ea typeface="微软雅黑" panose="020B0503020204020204" pitchFamily="34" charset="-122"/>
                                  <a:sym typeface="Arial" panose="020B0604020202020204" pitchFamily="34" charset="0"/>
                                </a:rPr>
                                <m:t>𝑦</m:t>
                              </m:r>
                            </m:e>
                            <m:sub>
                              <m:r>
                                <a:rPr lang="en-US" altLang="zh-CN" i="1">
                                  <a:latin typeface="Cambria Math" panose="02040503050406030204" pitchFamily="18" charset="0"/>
                                  <a:ea typeface="微软雅黑" panose="020B0503020204020204" pitchFamily="34" charset="-122"/>
                                  <a:sym typeface="Arial" panose="020B0604020202020204" pitchFamily="34" charset="0"/>
                                </a:rPr>
                                <m:t>𝑖</m:t>
                              </m:r>
                            </m:sub>
                          </m:sSub>
                          <m:r>
                            <a:rPr lang="en-US" altLang="zh-CN" i="1">
                              <a:latin typeface="Cambria Math" panose="02040503050406030204" pitchFamily="18" charset="0"/>
                              <a:ea typeface="微软雅黑" panose="020B0503020204020204" pitchFamily="34" charset="-122"/>
                              <a:sym typeface="Arial" panose="020B0604020202020204" pitchFamily="34" charset="0"/>
                            </a:rPr>
                            <m:t>−</m:t>
                          </m:r>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acc>
                                <m:accPr>
                                  <m:chr m:val="̂"/>
                                  <m:ctrlPr>
                                    <a:rPr lang="en-US" altLang="zh-CN" i="1">
                                      <a:latin typeface="Cambria Math" panose="02040503050406030204" pitchFamily="18" charset="0"/>
                                      <a:ea typeface="微软雅黑" panose="020B0503020204020204" pitchFamily="34" charset="-122"/>
                                      <a:sym typeface="Arial" panose="020B0604020202020204" pitchFamily="34" charset="0"/>
                                    </a:rPr>
                                  </m:ctrlPr>
                                </m:accPr>
                                <m:e>
                                  <m:r>
                                    <a:rPr lang="en-US" altLang="zh-CN" i="1">
                                      <a:latin typeface="Cambria Math" panose="02040503050406030204" pitchFamily="18" charset="0"/>
                                      <a:ea typeface="微软雅黑" panose="020B0503020204020204" pitchFamily="34" charset="-122"/>
                                      <a:sym typeface="Arial" panose="020B0604020202020204" pitchFamily="34" charset="0"/>
                                    </a:rPr>
                                    <m:t>𝑦</m:t>
                                  </m:r>
                                </m:e>
                              </m:acc>
                            </m:e>
                            <m:sub>
                              <m:r>
                                <a:rPr lang="en-US" altLang="zh-CN" i="1">
                                  <a:latin typeface="Cambria Math" panose="02040503050406030204" pitchFamily="18" charset="0"/>
                                  <a:ea typeface="微软雅黑" panose="020B0503020204020204" pitchFamily="34" charset="-122"/>
                                  <a:sym typeface="Arial" panose="020B0604020202020204" pitchFamily="34" charset="0"/>
                                </a:rPr>
                                <m:t>𝑖</m:t>
                              </m:r>
                            </m:sub>
                          </m:sSub>
                          <m:r>
                            <a:rPr lang="en-US" altLang="zh-CN" i="1">
                              <a:latin typeface="Cambria Math" panose="02040503050406030204" pitchFamily="18" charset="0"/>
                              <a:ea typeface="微软雅黑" panose="020B0503020204020204" pitchFamily="34" charset="-122"/>
                              <a:sym typeface="Arial" panose="020B0604020202020204" pitchFamily="34" charset="0"/>
                            </a:rPr>
                            <m:t>)|</m:t>
                          </m:r>
                        </m:e>
                      </m:nary>
                    </m:oMath>
                  </m:oMathPara>
                </a14:m>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b="1" dirty="0">
                    <a:latin typeface="微软雅黑" panose="020B0503020204020204" pitchFamily="34" charset="-122"/>
                    <a:ea typeface="微软雅黑" panose="020B0503020204020204" pitchFamily="34" charset="-122"/>
                    <a:sym typeface="Arial" panose="020B0604020202020204" pitchFamily="34" charset="0"/>
                  </a:rPr>
                  <a:t>（</a:t>
                </a:r>
                <a:r>
                  <a:rPr lang="en-US" altLang="zh-CN" b="1" dirty="0">
                    <a:latin typeface="微软雅黑" panose="020B0503020204020204" pitchFamily="34" charset="-122"/>
                    <a:ea typeface="微软雅黑" panose="020B0503020204020204" pitchFamily="34" charset="-122"/>
                    <a:sym typeface="Arial" panose="020B0604020202020204" pitchFamily="34" charset="0"/>
                  </a:rPr>
                  <a:t>4</a:t>
                </a:r>
                <a:r>
                  <a:rPr lang="zh-CN" altLang="en-US" b="1" dirty="0">
                    <a:latin typeface="微软雅黑" panose="020B0503020204020204" pitchFamily="34" charset="-122"/>
                    <a:ea typeface="微软雅黑" panose="020B0503020204020204" pitchFamily="34" charset="-122"/>
                    <a:sym typeface="Arial" panose="020B0604020202020204" pitchFamily="34" charset="0"/>
                  </a:rPr>
                  <a:t>）平均绝对百分比误差（</a:t>
                </a:r>
                <a:r>
                  <a:rPr lang="en-US" altLang="zh-CN" b="1" dirty="0">
                    <a:latin typeface="微软雅黑" panose="020B0503020204020204" pitchFamily="34" charset="-122"/>
                    <a:ea typeface="微软雅黑" panose="020B0503020204020204" pitchFamily="34" charset="-122"/>
                    <a:sym typeface="Arial" panose="020B0604020202020204" pitchFamily="34" charset="0"/>
                  </a:rPr>
                  <a:t>Mean Absolute Percentage Error, MAPE</a:t>
                </a:r>
                <a:r>
                  <a:rPr lang="zh-CN" altLang="en-US" b="1" dirty="0">
                    <a:latin typeface="微软雅黑" panose="020B0503020204020204" pitchFamily="34" charset="-122"/>
                    <a:ea typeface="微软雅黑" panose="020B0503020204020204" pitchFamily="34" charset="-122"/>
                    <a:sym typeface="Arial" panose="020B0604020202020204" pitchFamily="34" charset="0"/>
                  </a:rPr>
                  <a:t>）</a:t>
                </a:r>
                <a:endParaRPr lang="en-US" altLang="zh-CN" b="1"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en-US" altLang="zh-CN" b="1"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pPr>
                        <m:e>
                          <m:r>
                            <a:rPr lang="en-US" altLang="zh-CN" i="1">
                              <a:latin typeface="Cambria Math" panose="02040503050406030204" pitchFamily="18" charset="0"/>
                              <a:ea typeface="Cambria Math" panose="02040503050406030204" pitchFamily="18" charset="0"/>
                              <a:sym typeface="Arial" panose="020B0604020202020204" pitchFamily="34" charset="0"/>
                            </a:rPr>
                            <m:t>ℒ</m:t>
                          </m:r>
                        </m:e>
                        <m:sup>
                          <m:r>
                            <a:rPr lang="en-US" altLang="zh-CN" i="1">
                              <a:latin typeface="Cambria Math" panose="02040503050406030204" pitchFamily="18" charset="0"/>
                              <a:ea typeface="微软雅黑" panose="020B0503020204020204" pitchFamily="34" charset="-122"/>
                              <a:sym typeface="Arial" panose="020B0604020202020204" pitchFamily="34" charset="0"/>
                            </a:rPr>
                            <m:t>𝑀𝐴</m:t>
                          </m:r>
                          <m:r>
                            <a:rPr lang="en-US" altLang="zh-CN" b="0" i="1" smtClean="0">
                              <a:latin typeface="Cambria Math" panose="02040503050406030204" pitchFamily="18" charset="0"/>
                              <a:ea typeface="微软雅黑" panose="020B0503020204020204" pitchFamily="34" charset="-122"/>
                              <a:sym typeface="Arial" panose="020B0604020202020204" pitchFamily="34" charset="0"/>
                            </a:rPr>
                            <m:t>𝑃</m:t>
                          </m:r>
                          <m:r>
                            <a:rPr lang="en-US" altLang="zh-CN" i="1">
                              <a:latin typeface="Cambria Math" panose="02040503050406030204" pitchFamily="18" charset="0"/>
                              <a:ea typeface="微软雅黑" panose="020B0503020204020204" pitchFamily="34" charset="-122"/>
                              <a:sym typeface="Arial" panose="020B0604020202020204" pitchFamily="34" charset="0"/>
                            </a:rPr>
                            <m:t>𝐸</m:t>
                          </m:r>
                        </m:sup>
                      </m:sSup>
                      <m:r>
                        <a:rPr lang="en-US" altLang="zh-CN" i="1">
                          <a:latin typeface="Cambria Math" panose="02040503050406030204" pitchFamily="18" charset="0"/>
                          <a:ea typeface="微软雅黑" panose="020B0503020204020204" pitchFamily="34" charset="-122"/>
                          <a:sym typeface="Arial" panose="020B0604020202020204" pitchFamily="34" charset="0"/>
                        </a:rPr>
                        <m:t>(</m:t>
                      </m:r>
                      <m:r>
                        <a:rPr lang="en-US" altLang="zh-CN" b="1" i="1">
                          <a:latin typeface="Cambria Math" panose="02040503050406030204" pitchFamily="18" charset="0"/>
                          <a:ea typeface="Cambria Math" panose="02040503050406030204" pitchFamily="18" charset="0"/>
                          <a:sym typeface="Arial" panose="020B0604020202020204" pitchFamily="34" charset="0"/>
                        </a:rPr>
                        <m:t>𝒚</m:t>
                      </m:r>
                      <m:r>
                        <a:rPr lang="en-US" altLang="zh-CN" i="1">
                          <a:latin typeface="Cambria Math" panose="02040503050406030204" pitchFamily="18" charset="0"/>
                          <a:ea typeface="Cambria Math" panose="02040503050406030204" pitchFamily="18" charset="0"/>
                          <a:sym typeface="Arial" panose="020B0604020202020204" pitchFamily="34" charset="0"/>
                        </a:rPr>
                        <m:t>,</m:t>
                      </m:r>
                      <m:acc>
                        <m:accPr>
                          <m:chr m:val="̂"/>
                          <m:ctrlPr>
                            <a:rPr lang="en-US" altLang="zh-CN" i="1">
                              <a:latin typeface="Cambria Math" panose="02040503050406030204" pitchFamily="18" charset="0"/>
                              <a:ea typeface="Cambria Math" panose="02040503050406030204" pitchFamily="18" charset="0"/>
                              <a:sym typeface="Arial" panose="020B0604020202020204" pitchFamily="34" charset="0"/>
                            </a:rPr>
                          </m:ctrlPr>
                        </m:accPr>
                        <m:e>
                          <m:r>
                            <a:rPr lang="en-US" altLang="zh-CN" b="1" i="1">
                              <a:latin typeface="Cambria Math" panose="02040503050406030204" pitchFamily="18" charset="0"/>
                              <a:ea typeface="Cambria Math" panose="02040503050406030204" pitchFamily="18" charset="0"/>
                              <a:sym typeface="Arial" panose="020B0604020202020204" pitchFamily="34" charset="0"/>
                            </a:rPr>
                            <m:t>𝒚</m:t>
                          </m:r>
                        </m:e>
                      </m:acc>
                      <m:r>
                        <a:rPr lang="en-US" altLang="zh-CN" i="1">
                          <a:latin typeface="Cambria Math" panose="02040503050406030204" pitchFamily="18" charset="0"/>
                          <a:ea typeface="微软雅黑" panose="020B0503020204020204" pitchFamily="34" charset="-122"/>
                          <a:sym typeface="Arial" panose="020B0604020202020204" pitchFamily="34" charset="0"/>
                        </a:rPr>
                        <m:t>)=</m:t>
                      </m:r>
                      <m:f>
                        <m:fPr>
                          <m:ctrlPr>
                            <a:rPr lang="en-US" altLang="zh-CN" i="1">
                              <a:latin typeface="Cambria Math" panose="02040503050406030204" pitchFamily="18" charset="0"/>
                              <a:ea typeface="微软雅黑" panose="020B0503020204020204" pitchFamily="34" charset="-122"/>
                              <a:sym typeface="Arial" panose="020B0604020202020204" pitchFamily="34" charset="0"/>
                            </a:rPr>
                          </m:ctrlPr>
                        </m:fPr>
                        <m:num>
                          <m:r>
                            <a:rPr lang="en-US" altLang="zh-CN" i="1">
                              <a:latin typeface="Cambria Math" panose="02040503050406030204" pitchFamily="18" charset="0"/>
                              <a:ea typeface="微软雅黑" panose="020B0503020204020204" pitchFamily="34" charset="-122"/>
                              <a:sym typeface="Arial" panose="020B0604020202020204" pitchFamily="34" charset="0"/>
                            </a:rPr>
                            <m:t>1</m:t>
                          </m:r>
                        </m:num>
                        <m:den>
                          <m:r>
                            <a:rPr lang="en-US" altLang="zh-CN" i="1">
                              <a:latin typeface="Cambria Math" panose="02040503050406030204" pitchFamily="18" charset="0"/>
                              <a:ea typeface="微软雅黑" panose="020B0503020204020204" pitchFamily="34" charset="-122"/>
                              <a:sym typeface="Arial" panose="020B0604020202020204" pitchFamily="34" charset="0"/>
                            </a:rPr>
                            <m:t>𝑚</m:t>
                          </m:r>
                        </m:den>
                      </m:f>
                      <m:nary>
                        <m:naryPr>
                          <m:chr m:val="∑"/>
                          <m:ctrlPr>
                            <a:rPr lang="en-US" altLang="zh-CN" i="1">
                              <a:latin typeface="Cambria Math" panose="02040503050406030204" pitchFamily="18" charset="0"/>
                              <a:ea typeface="微软雅黑" panose="020B0503020204020204" pitchFamily="34" charset="-122"/>
                              <a:sym typeface="Arial" panose="020B0604020202020204" pitchFamily="34" charset="0"/>
                            </a:rPr>
                          </m:ctrlPr>
                        </m:naryPr>
                        <m:sub>
                          <m:r>
                            <m:rPr>
                              <m:brk m:alnAt="23"/>
                            </m:rPr>
                            <a:rPr lang="en-US" altLang="zh-CN" i="1">
                              <a:latin typeface="Cambria Math" panose="02040503050406030204" pitchFamily="18" charset="0"/>
                              <a:ea typeface="微软雅黑" panose="020B0503020204020204" pitchFamily="34" charset="-122"/>
                              <a:sym typeface="Arial" panose="020B0604020202020204" pitchFamily="34" charset="0"/>
                            </a:rPr>
                            <m:t>𝑖</m:t>
                          </m:r>
                          <m:r>
                            <a:rPr lang="en-US" altLang="zh-CN" i="1">
                              <a:latin typeface="Cambria Math" panose="02040503050406030204" pitchFamily="18" charset="0"/>
                              <a:ea typeface="微软雅黑" panose="020B0503020204020204" pitchFamily="34" charset="-122"/>
                              <a:sym typeface="Arial" panose="020B0604020202020204" pitchFamily="34" charset="0"/>
                            </a:rPr>
                            <m:t>=1</m:t>
                          </m:r>
                        </m:sub>
                        <m:sup>
                          <m:r>
                            <a:rPr lang="en-US" altLang="zh-CN" i="1">
                              <a:latin typeface="Cambria Math" panose="02040503050406030204" pitchFamily="18" charset="0"/>
                              <a:ea typeface="微软雅黑" panose="020B0503020204020204" pitchFamily="34" charset="-122"/>
                              <a:sym typeface="Arial" panose="020B0604020202020204" pitchFamily="34" charset="0"/>
                            </a:rPr>
                            <m:t>𝑚</m:t>
                          </m:r>
                        </m:sup>
                        <m:e>
                          <m:r>
                            <a:rPr lang="en-US" altLang="zh-CN" i="1">
                              <a:latin typeface="Cambria Math" panose="02040503050406030204" pitchFamily="18" charset="0"/>
                              <a:ea typeface="微软雅黑" panose="020B0503020204020204" pitchFamily="34" charset="-122"/>
                              <a:sym typeface="Arial" panose="020B0604020202020204" pitchFamily="34" charset="0"/>
                            </a:rPr>
                            <m:t>|</m:t>
                          </m:r>
                          <m:f>
                            <m:fPr>
                              <m:ctrlPr>
                                <a:rPr lang="en-US" altLang="zh-CN" i="1" smtClean="0">
                                  <a:latin typeface="Cambria Math" panose="02040503050406030204" pitchFamily="18" charset="0"/>
                                  <a:ea typeface="微软雅黑" panose="020B0503020204020204" pitchFamily="34" charset="-122"/>
                                  <a:sym typeface="Arial" panose="020B0604020202020204" pitchFamily="34" charset="0"/>
                                </a:rPr>
                              </m:ctrlPr>
                            </m:fPr>
                            <m:num>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r>
                                    <a:rPr lang="en-US" altLang="zh-CN" i="1">
                                      <a:latin typeface="Cambria Math" panose="02040503050406030204" pitchFamily="18" charset="0"/>
                                      <a:ea typeface="微软雅黑" panose="020B0503020204020204" pitchFamily="34" charset="-122"/>
                                      <a:sym typeface="Arial" panose="020B0604020202020204" pitchFamily="34" charset="0"/>
                                    </a:rPr>
                                    <m:t>𝑦</m:t>
                                  </m:r>
                                </m:e>
                                <m:sub>
                                  <m:r>
                                    <a:rPr lang="en-US" altLang="zh-CN" i="1">
                                      <a:latin typeface="Cambria Math" panose="02040503050406030204" pitchFamily="18" charset="0"/>
                                      <a:ea typeface="微软雅黑" panose="020B0503020204020204" pitchFamily="34" charset="-122"/>
                                      <a:sym typeface="Arial" panose="020B0604020202020204" pitchFamily="34" charset="0"/>
                                    </a:rPr>
                                    <m:t>𝑖</m:t>
                                  </m:r>
                                </m:sub>
                              </m:sSub>
                              <m:r>
                                <a:rPr lang="en-US" altLang="zh-CN" i="1">
                                  <a:latin typeface="Cambria Math" panose="02040503050406030204" pitchFamily="18" charset="0"/>
                                  <a:ea typeface="微软雅黑" panose="020B0503020204020204" pitchFamily="34" charset="-122"/>
                                  <a:sym typeface="Arial" panose="020B0604020202020204" pitchFamily="34" charset="0"/>
                                </a:rPr>
                                <m:t>−</m:t>
                              </m:r>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acc>
                                    <m:accPr>
                                      <m:chr m:val="̂"/>
                                      <m:ctrlPr>
                                        <a:rPr lang="en-US" altLang="zh-CN" i="1">
                                          <a:latin typeface="Cambria Math" panose="02040503050406030204" pitchFamily="18" charset="0"/>
                                          <a:ea typeface="微软雅黑" panose="020B0503020204020204" pitchFamily="34" charset="-122"/>
                                          <a:sym typeface="Arial" panose="020B0604020202020204" pitchFamily="34" charset="0"/>
                                        </a:rPr>
                                      </m:ctrlPr>
                                    </m:accPr>
                                    <m:e>
                                      <m:r>
                                        <a:rPr lang="en-US" altLang="zh-CN" i="1">
                                          <a:latin typeface="Cambria Math" panose="02040503050406030204" pitchFamily="18" charset="0"/>
                                          <a:ea typeface="微软雅黑" panose="020B0503020204020204" pitchFamily="34" charset="-122"/>
                                          <a:sym typeface="Arial" panose="020B0604020202020204" pitchFamily="34" charset="0"/>
                                        </a:rPr>
                                        <m:t>𝑦</m:t>
                                      </m:r>
                                    </m:e>
                                  </m:acc>
                                </m:e>
                                <m:sub>
                                  <m:r>
                                    <a:rPr lang="en-US" altLang="zh-CN" i="1">
                                      <a:latin typeface="Cambria Math" panose="02040503050406030204" pitchFamily="18" charset="0"/>
                                      <a:ea typeface="微软雅黑" panose="020B0503020204020204" pitchFamily="34" charset="-122"/>
                                      <a:sym typeface="Arial" panose="020B0604020202020204" pitchFamily="34" charset="0"/>
                                    </a:rPr>
                                    <m:t>𝑖</m:t>
                                  </m:r>
                                </m:sub>
                              </m:sSub>
                            </m:num>
                            <m:den>
                              <m:sSub>
                                <m:sSubPr>
                                  <m:ctrlPr>
                                    <a:rPr lang="en-US" altLang="zh-CN" i="1" smtClean="0">
                                      <a:latin typeface="Cambria Math" panose="02040503050406030204" pitchFamily="18" charset="0"/>
                                      <a:ea typeface="微软雅黑" panose="020B0503020204020204" pitchFamily="34" charset="-122"/>
                                      <a:sym typeface="Arial" panose="020B0604020202020204" pitchFamily="34" charset="0"/>
                                    </a:rPr>
                                  </m:ctrlPr>
                                </m:sSubPr>
                                <m:e>
                                  <m:r>
                                    <a:rPr lang="en-US" altLang="zh-CN" b="0" i="1" smtClean="0">
                                      <a:latin typeface="Cambria Math" panose="02040503050406030204" pitchFamily="18" charset="0"/>
                                      <a:ea typeface="微软雅黑" panose="020B0503020204020204" pitchFamily="34" charset="-122"/>
                                      <a:sym typeface="Arial" panose="020B0604020202020204" pitchFamily="34" charset="0"/>
                                    </a:rPr>
                                    <m:t>𝑦</m:t>
                                  </m:r>
                                </m:e>
                                <m:sub>
                                  <m:r>
                                    <a:rPr lang="en-US" altLang="zh-CN" b="0" i="1" smtClean="0">
                                      <a:latin typeface="Cambria Math" panose="02040503050406030204" pitchFamily="18" charset="0"/>
                                      <a:ea typeface="微软雅黑" panose="020B0503020204020204" pitchFamily="34" charset="-122"/>
                                      <a:sym typeface="Arial" panose="020B0604020202020204" pitchFamily="34" charset="0"/>
                                    </a:rPr>
                                    <m:t>𝑖</m:t>
                                  </m:r>
                                </m:sub>
                              </m:sSub>
                            </m:den>
                          </m:f>
                          <m:r>
                            <a:rPr lang="en-US" altLang="zh-CN" i="1">
                              <a:latin typeface="Cambria Math" panose="02040503050406030204" pitchFamily="18" charset="0"/>
                              <a:ea typeface="微软雅黑" panose="020B0503020204020204" pitchFamily="34" charset="-122"/>
                              <a:sym typeface="Arial" panose="020B0604020202020204" pitchFamily="34" charset="0"/>
                            </a:rPr>
                            <m:t>|</m:t>
                          </m:r>
                        </m:e>
                      </m:nary>
                    </m:oMath>
                  </m:oMathPara>
                </a14:m>
                <a:endParaRPr lang="en-US" altLang="zh-CN" b="1" dirty="0">
                  <a:latin typeface="微软雅黑" panose="020B0503020204020204" pitchFamily="34" charset="-122"/>
                  <a:ea typeface="微软雅黑" panose="020B0503020204020204" pitchFamily="34" charset="-122"/>
                  <a:sym typeface="Arial" panose="020B0604020202020204" pitchFamily="34" charset="0"/>
                </a:endParaRPr>
              </a:p>
              <a:p>
                <a:endParaRPr lang="en-US" altLang="zh-CN" b="1" dirty="0">
                  <a:latin typeface="微软雅黑" panose="020B0503020204020204" pitchFamily="34" charset="-122"/>
                  <a:ea typeface="微软雅黑" panose="020B0503020204020204" pitchFamily="34" charset="-122"/>
                  <a:sym typeface="Arial" panose="020B0604020202020204" pitchFamily="34" charset="0"/>
                </a:endParaRPr>
              </a:p>
              <a:p>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p:txBody>
          </p:sp>
        </mc:Choice>
        <mc:Fallback xmlns="">
          <p:sp>
            <p:nvSpPr>
              <p:cNvPr id="6" name="矩形 5"/>
              <p:cNvSpPr>
                <a:spLocks noRot="1" noChangeAspect="1" noMove="1" noResize="1" noEditPoints="1" noAdjustHandles="1" noChangeArrowheads="1" noChangeShapeType="1" noTextEdit="1"/>
              </p:cNvSpPr>
              <p:nvPr/>
            </p:nvSpPr>
            <p:spPr>
              <a:xfrm>
                <a:off x="88500" y="1305044"/>
                <a:ext cx="8667750" cy="5477269"/>
              </a:xfrm>
              <a:prstGeom prst="rect">
                <a:avLst/>
              </a:prstGeom>
              <a:blipFill>
                <a:blip r:embed="rId2"/>
                <a:stretch>
                  <a:fillRect l="-985" t="-890"/>
                </a:stretch>
              </a:blipFill>
            </p:spPr>
            <p:txBody>
              <a:bodyPr/>
              <a:lstStyle/>
              <a:p>
                <a:r>
                  <a:rPr lang="zh-CN" altLang="en-US">
                    <a:noFill/>
                  </a:rPr>
                  <a:t> </a:t>
                </a:r>
              </a:p>
            </p:txBody>
          </p:sp>
        </mc:Fallback>
      </mc:AlternateContent>
      <p:sp>
        <p:nvSpPr>
          <p:cNvPr id="5" name="矩形 4"/>
          <p:cNvSpPr/>
          <p:nvPr/>
        </p:nvSpPr>
        <p:spPr>
          <a:xfrm>
            <a:off x="0" y="490865"/>
            <a:ext cx="2698175" cy="523220"/>
          </a:xfrm>
          <a:prstGeom prst="rect">
            <a:avLst/>
          </a:prstGeom>
        </p:spPr>
        <p:txBody>
          <a:bodyPr wrap="none">
            <a:spAutoFit/>
          </a:bodyPr>
          <a:lstStyle/>
          <a:p>
            <a:r>
              <a:rPr lang="zh-CN" altLang="en-US" sz="2800" dirty="0">
                <a:solidFill>
                  <a:srgbClr val="1F497D"/>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误差与损失函数</a:t>
            </a:r>
            <a:endParaRPr lang="zh-CN" altLang="en-US" dirty="0"/>
          </a:p>
        </p:txBody>
      </p:sp>
      <p:sp>
        <p:nvSpPr>
          <p:cNvPr id="8" name="页脚占位符 2">
            <a:extLst>
              <a:ext uri="{FF2B5EF4-FFF2-40B4-BE49-F238E27FC236}">
                <a16:creationId xmlns:a16="http://schemas.microsoft.com/office/drawing/2014/main" id="{EAD02D9B-1F9B-40D0-8977-50083D9ACEAC}"/>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Tree>
    <p:extLst>
      <p:ext uri="{BB962C8B-B14F-4D97-AF65-F5344CB8AC3E}">
        <p14:creationId xmlns:p14="http://schemas.microsoft.com/office/powerpoint/2010/main" val="21253554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25</a:t>
            </a:fld>
            <a:endParaRPr lang="en-US" altLang="zh-CN"/>
          </a:p>
        </p:txBody>
      </p:sp>
      <p:sp>
        <p:nvSpPr>
          <p:cNvPr id="5" name="文本框 4"/>
          <p:cNvSpPr txBox="1"/>
          <p:nvPr/>
        </p:nvSpPr>
        <p:spPr>
          <a:xfrm>
            <a:off x="162560" y="553516"/>
            <a:ext cx="8371840" cy="738664"/>
          </a:xfrm>
          <a:prstGeom prst="rect">
            <a:avLst/>
          </a:prstGeom>
          <a:noFill/>
        </p:spPr>
        <p:txBody>
          <a:bodyPr wrap="square" rtlCol="0">
            <a:spAutoFit/>
          </a:bodyPr>
          <a:lstStyle/>
          <a:p>
            <a:r>
              <a:rPr lang="zh-CN" altLang="en-US" sz="2400"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试一试</a:t>
            </a:r>
            <a:endParaRPr lang="en-US" altLang="zh-CN" sz="2400"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页脚占位符 2">
            <a:extLst>
              <a:ext uri="{FF2B5EF4-FFF2-40B4-BE49-F238E27FC236}">
                <a16:creationId xmlns:a16="http://schemas.microsoft.com/office/drawing/2014/main" id="{ECD93FB7-8D36-42CA-83E5-5911A4AA7FCA}"/>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
        <p:nvSpPr>
          <p:cNvPr id="4" name="文本框 3">
            <a:extLst>
              <a:ext uri="{FF2B5EF4-FFF2-40B4-BE49-F238E27FC236}">
                <a16:creationId xmlns:a16="http://schemas.microsoft.com/office/drawing/2014/main" id="{C29AE8AF-D807-4392-A359-825DD64C7E4A}"/>
              </a:ext>
            </a:extLst>
          </p:cNvPr>
          <p:cNvSpPr txBox="1"/>
          <p:nvPr/>
        </p:nvSpPr>
        <p:spPr>
          <a:xfrm>
            <a:off x="162560" y="1017388"/>
            <a:ext cx="8478076" cy="961289"/>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利用</a:t>
            </a:r>
            <a:r>
              <a:rPr lang="en-US" altLang="zh-CN" sz="2000" dirty="0">
                <a:latin typeface="微软雅黑" panose="020B0503020204020204" pitchFamily="34" charset="-122"/>
                <a:ea typeface="微软雅黑" panose="020B0503020204020204" pitchFamily="34" charset="-122"/>
              </a:rPr>
              <a:t>python</a:t>
            </a:r>
            <a:r>
              <a:rPr lang="zh-CN" altLang="en-US" sz="2000" dirty="0">
                <a:latin typeface="微软雅黑" panose="020B0503020204020204" pitchFamily="34" charset="-122"/>
                <a:ea typeface="微软雅黑" panose="020B0503020204020204" pitchFamily="34" charset="-122"/>
              </a:rPr>
              <a:t>在计算机中随机生成一组训练数据与模型输出结果，计算均方误差，平均绝对误差与平均绝对百分比误差</a:t>
            </a:r>
          </a:p>
        </p:txBody>
      </p:sp>
      <p:pic>
        <p:nvPicPr>
          <p:cNvPr id="3" name="图片 2">
            <a:extLst>
              <a:ext uri="{FF2B5EF4-FFF2-40B4-BE49-F238E27FC236}">
                <a16:creationId xmlns:a16="http://schemas.microsoft.com/office/drawing/2014/main" id="{A450CDB8-E32C-4674-9C1F-F8E09E80F18D}"/>
              </a:ext>
            </a:extLst>
          </p:cNvPr>
          <p:cNvPicPr>
            <a:picLocks noChangeAspect="1"/>
          </p:cNvPicPr>
          <p:nvPr/>
        </p:nvPicPr>
        <p:blipFill>
          <a:blip r:embed="rId2"/>
          <a:stretch>
            <a:fillRect/>
          </a:stretch>
        </p:blipFill>
        <p:spPr>
          <a:xfrm>
            <a:off x="2933804" y="2028781"/>
            <a:ext cx="4934299" cy="4734838"/>
          </a:xfrm>
          <a:prstGeom prst="rect">
            <a:avLst/>
          </a:prstGeom>
        </p:spPr>
      </p:pic>
      <p:sp>
        <p:nvSpPr>
          <p:cNvPr id="6" name="文本框 5">
            <a:extLst>
              <a:ext uri="{FF2B5EF4-FFF2-40B4-BE49-F238E27FC236}">
                <a16:creationId xmlns:a16="http://schemas.microsoft.com/office/drawing/2014/main" id="{1EE1CD82-F097-475E-B816-00D9E7DD3743}"/>
              </a:ext>
            </a:extLst>
          </p:cNvPr>
          <p:cNvSpPr txBox="1"/>
          <p:nvPr/>
        </p:nvSpPr>
        <p:spPr>
          <a:xfrm>
            <a:off x="245477" y="3585328"/>
            <a:ext cx="2278517" cy="707886"/>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例：计算线性回归的均方误差</a:t>
            </a:r>
          </a:p>
        </p:txBody>
      </p:sp>
    </p:spTree>
    <p:extLst>
      <p:ext uri="{BB962C8B-B14F-4D97-AF65-F5344CB8AC3E}">
        <p14:creationId xmlns:p14="http://schemas.microsoft.com/office/powerpoint/2010/main" val="23588458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26</a:t>
            </a:fld>
            <a:endParaRPr lang="en-US" altLang="zh-CN"/>
          </a:p>
        </p:txBody>
      </p:sp>
      <mc:AlternateContent xmlns:mc="http://schemas.openxmlformats.org/markup-compatibility/2006" xmlns:a14="http://schemas.microsoft.com/office/drawing/2010/main">
        <mc:Choice Requires="a14">
          <p:sp>
            <p:nvSpPr>
              <p:cNvPr id="6" name="矩形 5"/>
              <p:cNvSpPr/>
              <p:nvPr/>
            </p:nvSpPr>
            <p:spPr>
              <a:xfrm>
                <a:off x="207132" y="287039"/>
                <a:ext cx="8667750" cy="7894341"/>
              </a:xfrm>
              <a:prstGeom prst="rect">
                <a:avLst/>
              </a:prstGeom>
            </p:spPr>
            <p:txBody>
              <a:bodyPr wrap="square">
                <a:spAutoFit/>
              </a:bodyPr>
              <a:lstStyle/>
              <a:p>
                <a:pPr>
                  <a:lnSpc>
                    <a:spcPct val="150000"/>
                  </a:lnSpc>
                </a:pPr>
                <a:r>
                  <a:rPr lang="zh-CN" altLang="en-US" b="1" dirty="0">
                    <a:latin typeface="微软雅黑" panose="020B0503020204020204" pitchFamily="34" charset="-122"/>
                    <a:ea typeface="微软雅黑" panose="020B0503020204020204" pitchFamily="34" charset="-122"/>
                    <a:sym typeface="Arial" panose="020B0604020202020204" pitchFamily="34" charset="0"/>
                  </a:rPr>
                  <a:t>（</a:t>
                </a:r>
                <a:r>
                  <a:rPr lang="en-US" altLang="zh-CN" b="1" dirty="0">
                    <a:latin typeface="微软雅黑" panose="020B0503020204020204" pitchFamily="34" charset="-122"/>
                    <a:ea typeface="微软雅黑" panose="020B0503020204020204" pitchFamily="34" charset="-122"/>
                    <a:sym typeface="Arial" panose="020B0604020202020204" pitchFamily="34" charset="0"/>
                  </a:rPr>
                  <a:t>5</a:t>
                </a:r>
                <a:r>
                  <a:rPr lang="zh-CN" altLang="en-US" b="1" dirty="0">
                    <a:latin typeface="微软雅黑" panose="020B0503020204020204" pitchFamily="34" charset="-122"/>
                    <a:ea typeface="微软雅黑" panose="020B0503020204020204" pitchFamily="34" charset="-122"/>
                    <a:sym typeface="Arial" panose="020B0604020202020204" pitchFamily="34" charset="0"/>
                  </a:rPr>
                  <a:t>）交叉熵损失函数（</a:t>
                </a:r>
                <a:r>
                  <a:rPr lang="en-US" altLang="zh-CN" b="1" dirty="0">
                    <a:latin typeface="微软雅黑" panose="020B0503020204020204" pitchFamily="34" charset="-122"/>
                    <a:ea typeface="微软雅黑" panose="020B0503020204020204" pitchFamily="34" charset="-122"/>
                    <a:sym typeface="Arial" panose="020B0604020202020204" pitchFamily="34" charset="0"/>
                  </a:rPr>
                  <a:t>Cross Entropy Loss Function</a:t>
                </a:r>
                <a:r>
                  <a:rPr lang="zh-CN" altLang="en-US" b="1" dirty="0">
                    <a:latin typeface="微软雅黑" panose="020B0503020204020204" pitchFamily="34" charset="-122"/>
                    <a:ea typeface="微软雅黑" panose="020B0503020204020204" pitchFamily="34" charset="-122"/>
                    <a:sym typeface="Arial" panose="020B0604020202020204" pitchFamily="34" charset="0"/>
                  </a:rPr>
                  <a:t>）</a:t>
                </a:r>
                <a:endParaRPr lang="en-US" altLang="zh-CN" b="1"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dirty="0">
                    <a:latin typeface="微软雅黑" panose="020B0503020204020204" pitchFamily="34" charset="-122"/>
                    <a:ea typeface="微软雅黑" panose="020B0503020204020204" pitchFamily="34" charset="-122"/>
                    <a:sym typeface="Arial" panose="020B0604020202020204" pitchFamily="34" charset="0"/>
                  </a:rPr>
                  <a:t>交叉熵（</a:t>
                </a:r>
                <a:r>
                  <a:rPr lang="en-US" altLang="zh-CN" dirty="0">
                    <a:latin typeface="微软雅黑" panose="020B0503020204020204" pitchFamily="34" charset="-122"/>
                    <a:ea typeface="微软雅黑" panose="020B0503020204020204" pitchFamily="34" charset="-122"/>
                    <a:sym typeface="Arial" panose="020B0604020202020204" pitchFamily="34" charset="0"/>
                  </a:rPr>
                  <a:t>cross entropy</a:t>
                </a:r>
                <a:r>
                  <a:rPr lang="zh-CN" altLang="en-US" dirty="0">
                    <a:latin typeface="微软雅黑" panose="020B0503020204020204" pitchFamily="34" charset="-122"/>
                    <a:ea typeface="微软雅黑" panose="020B0503020204020204" pitchFamily="34" charset="-122"/>
                    <a:sym typeface="Arial" panose="020B0604020202020204" pitchFamily="34" charset="0"/>
                  </a:rPr>
                  <a:t>）是由信息熵（</a:t>
                </a:r>
                <a:r>
                  <a:rPr lang="en-US" altLang="zh-CN" dirty="0">
                    <a:latin typeface="微软雅黑" panose="020B0503020204020204" pitchFamily="34" charset="-122"/>
                    <a:ea typeface="微软雅黑" panose="020B0503020204020204" pitchFamily="34" charset="-122"/>
                    <a:sym typeface="Arial" panose="020B0604020202020204" pitchFamily="34" charset="0"/>
                  </a:rPr>
                  <a:t>information entropy</a:t>
                </a:r>
                <a:r>
                  <a:rPr lang="zh-CN" altLang="en-US" dirty="0">
                    <a:latin typeface="微软雅黑" panose="020B0503020204020204" pitchFamily="34" charset="-122"/>
                    <a:ea typeface="微软雅黑" panose="020B0503020204020204" pitchFamily="34" charset="-122"/>
                    <a:sym typeface="Arial" panose="020B0604020202020204" pitchFamily="34" charset="0"/>
                  </a:rPr>
                  <a:t>）概念衍生未来的一个概念。对于一个分类问题，我们用</a:t>
                </a:r>
                <a14:m>
                  <m:oMath xmlns:m="http://schemas.openxmlformats.org/officeDocument/2006/math">
                    <m:acc>
                      <m:accPr>
                        <m:chr m:val="̅"/>
                        <m:ctrlPr>
                          <a:rPr lang="en-US" altLang="zh-CN" i="1" smtClean="0">
                            <a:latin typeface="Cambria Math" panose="02040503050406030204" pitchFamily="18" charset="0"/>
                            <a:ea typeface="微软雅黑" panose="020B0503020204020204" pitchFamily="34" charset="-122"/>
                            <a:sym typeface="Arial" panose="020B0604020202020204" pitchFamily="34" charset="0"/>
                          </a:rPr>
                        </m:ctrlPr>
                      </m:accPr>
                      <m:e>
                        <m:r>
                          <a:rPr lang="en-US" altLang="zh-CN" b="0" i="1" smtClean="0">
                            <a:latin typeface="Cambria Math" panose="02040503050406030204" pitchFamily="18" charset="0"/>
                            <a:ea typeface="微软雅黑" panose="020B0503020204020204" pitchFamily="34" charset="-122"/>
                            <a:sym typeface="Arial" panose="020B0604020202020204" pitchFamily="34" charset="0"/>
                          </a:rPr>
                          <m:t>𝐷</m:t>
                        </m:r>
                      </m:e>
                    </m:acc>
                    <m:r>
                      <a:rPr lang="en-US" altLang="zh-CN" i="1">
                        <a:latin typeface="Cambria Math" panose="02040503050406030204" pitchFamily="18" charset="0"/>
                        <a:ea typeface="微软雅黑" panose="020B0503020204020204" pitchFamily="34" charset="-122"/>
                        <a:sym typeface="Arial" panose="020B0604020202020204" pitchFamily="34" charset="0"/>
                      </a:rPr>
                      <m:t>={</m:t>
                    </m:r>
                    <m:d>
                      <m:dPr>
                        <m:ctrlPr>
                          <a:rPr lang="en-US" altLang="zh-CN" i="1">
                            <a:latin typeface="Cambria Math" panose="02040503050406030204" pitchFamily="18" charset="0"/>
                            <a:ea typeface="微软雅黑" panose="020B0503020204020204" pitchFamily="34" charset="-122"/>
                            <a:sym typeface="Arial" panose="020B0604020202020204" pitchFamily="34" charset="0"/>
                          </a:rPr>
                        </m:ctrlPr>
                      </m:dPr>
                      <m:e>
                        <m:sSub>
                          <m:sSubPr>
                            <m:ctrlPr>
                              <a:rPr lang="en-US" altLang="zh-CN" b="1" i="1">
                                <a:latin typeface="Cambria Math" panose="02040503050406030204" pitchFamily="18" charset="0"/>
                                <a:ea typeface="微软雅黑" panose="020B0503020204020204" pitchFamily="34" charset="-122"/>
                                <a:sym typeface="Arial" panose="020B0604020202020204" pitchFamily="34" charset="0"/>
                              </a:rPr>
                            </m:ctrlPr>
                          </m:sSubPr>
                          <m:e>
                            <m:r>
                              <a:rPr lang="en-US" altLang="zh-CN" b="1" i="1">
                                <a:latin typeface="Cambria Math" panose="02040503050406030204" pitchFamily="18" charset="0"/>
                                <a:ea typeface="微软雅黑" panose="020B0503020204020204" pitchFamily="34" charset="-122"/>
                                <a:sym typeface="Arial" panose="020B0604020202020204" pitchFamily="34" charset="0"/>
                              </a:rPr>
                              <m:t>𝒙</m:t>
                            </m:r>
                          </m:e>
                          <m:sub>
                            <m:r>
                              <a:rPr lang="en-US" altLang="zh-CN" b="1" i="1">
                                <a:latin typeface="Cambria Math" panose="02040503050406030204" pitchFamily="18" charset="0"/>
                                <a:ea typeface="微软雅黑" panose="020B0503020204020204" pitchFamily="34" charset="-122"/>
                                <a:sym typeface="Arial" panose="020B0604020202020204" pitchFamily="34" charset="0"/>
                              </a:rPr>
                              <m:t>𝟏</m:t>
                            </m:r>
                          </m:sub>
                        </m:sSub>
                        <m:r>
                          <a:rPr lang="en-US" altLang="zh-CN" i="1">
                            <a:latin typeface="Cambria Math" panose="02040503050406030204" pitchFamily="18" charset="0"/>
                            <a:ea typeface="微软雅黑" panose="020B0503020204020204" pitchFamily="34" charset="-122"/>
                            <a:sym typeface="Arial" panose="020B0604020202020204" pitchFamily="34" charset="0"/>
                          </a:rPr>
                          <m:t>,</m:t>
                        </m:r>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r>
                              <a:rPr lang="en-US" altLang="zh-CN" i="1">
                                <a:latin typeface="Cambria Math" panose="02040503050406030204" pitchFamily="18" charset="0"/>
                                <a:ea typeface="微软雅黑" panose="020B0503020204020204" pitchFamily="34" charset="-122"/>
                                <a:sym typeface="Arial" panose="020B0604020202020204" pitchFamily="34" charset="0"/>
                              </a:rPr>
                              <m:t>𝑦</m:t>
                            </m:r>
                          </m:e>
                          <m:sub>
                            <m:r>
                              <a:rPr lang="en-US" altLang="zh-CN" i="1">
                                <a:latin typeface="Cambria Math" panose="02040503050406030204" pitchFamily="18" charset="0"/>
                                <a:ea typeface="微软雅黑" panose="020B0503020204020204" pitchFamily="34" charset="-122"/>
                                <a:sym typeface="Arial" panose="020B0604020202020204" pitchFamily="34" charset="0"/>
                              </a:rPr>
                              <m:t>1</m:t>
                            </m:r>
                          </m:sub>
                        </m:sSub>
                      </m:e>
                    </m:d>
                    <m:r>
                      <a:rPr lang="en-US" altLang="zh-CN" i="1">
                        <a:latin typeface="Cambria Math" panose="02040503050406030204" pitchFamily="18" charset="0"/>
                        <a:ea typeface="微软雅黑" panose="020B0503020204020204" pitchFamily="34" charset="-122"/>
                        <a:sym typeface="Arial" panose="020B0604020202020204" pitchFamily="34" charset="0"/>
                      </a:rPr>
                      <m:t>,</m:t>
                    </m:r>
                    <m:d>
                      <m:dPr>
                        <m:ctrlPr>
                          <a:rPr lang="en-US" altLang="zh-CN" i="1">
                            <a:latin typeface="Cambria Math" panose="02040503050406030204" pitchFamily="18" charset="0"/>
                            <a:ea typeface="微软雅黑" panose="020B0503020204020204" pitchFamily="34" charset="-122"/>
                            <a:sym typeface="Arial" panose="020B0604020202020204" pitchFamily="34" charset="0"/>
                          </a:rPr>
                        </m:ctrlPr>
                      </m:dPr>
                      <m:e>
                        <m:sSub>
                          <m:sSubPr>
                            <m:ctrlPr>
                              <a:rPr lang="en-US" altLang="zh-CN" b="1" i="1">
                                <a:latin typeface="Cambria Math" panose="02040503050406030204" pitchFamily="18" charset="0"/>
                                <a:ea typeface="微软雅黑" panose="020B0503020204020204" pitchFamily="34" charset="-122"/>
                                <a:sym typeface="Arial" panose="020B0604020202020204" pitchFamily="34" charset="0"/>
                              </a:rPr>
                            </m:ctrlPr>
                          </m:sSubPr>
                          <m:e>
                            <m:r>
                              <a:rPr lang="en-US" altLang="zh-CN" b="1" i="1">
                                <a:latin typeface="Cambria Math" panose="02040503050406030204" pitchFamily="18" charset="0"/>
                                <a:ea typeface="微软雅黑" panose="020B0503020204020204" pitchFamily="34" charset="-122"/>
                                <a:sym typeface="Arial" panose="020B0604020202020204" pitchFamily="34" charset="0"/>
                              </a:rPr>
                              <m:t>𝒙</m:t>
                            </m:r>
                          </m:e>
                          <m:sub>
                            <m:r>
                              <a:rPr lang="en-US" altLang="zh-CN" b="1" i="1">
                                <a:latin typeface="Cambria Math" panose="02040503050406030204" pitchFamily="18" charset="0"/>
                                <a:ea typeface="微软雅黑" panose="020B0503020204020204" pitchFamily="34" charset="-122"/>
                                <a:sym typeface="Arial" panose="020B0604020202020204" pitchFamily="34" charset="0"/>
                              </a:rPr>
                              <m:t>𝟐</m:t>
                            </m:r>
                          </m:sub>
                        </m:sSub>
                        <m:r>
                          <a:rPr lang="en-US" altLang="zh-CN" i="1">
                            <a:latin typeface="Cambria Math" panose="02040503050406030204" pitchFamily="18" charset="0"/>
                            <a:ea typeface="微软雅黑" panose="020B0503020204020204" pitchFamily="34" charset="-122"/>
                            <a:sym typeface="Arial" panose="020B0604020202020204" pitchFamily="34" charset="0"/>
                          </a:rPr>
                          <m:t>,</m:t>
                        </m:r>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r>
                              <a:rPr lang="en-US" altLang="zh-CN" i="1">
                                <a:latin typeface="Cambria Math" panose="02040503050406030204" pitchFamily="18" charset="0"/>
                                <a:ea typeface="微软雅黑" panose="020B0503020204020204" pitchFamily="34" charset="-122"/>
                                <a:sym typeface="Arial" panose="020B0604020202020204" pitchFamily="34" charset="0"/>
                              </a:rPr>
                              <m:t>𝑦</m:t>
                            </m:r>
                          </m:e>
                          <m:sub>
                            <m:r>
                              <a:rPr lang="en-US" altLang="zh-CN" i="1">
                                <a:latin typeface="Cambria Math" panose="02040503050406030204" pitchFamily="18" charset="0"/>
                                <a:ea typeface="微软雅黑" panose="020B0503020204020204" pitchFamily="34" charset="-122"/>
                                <a:sym typeface="Arial" panose="020B0604020202020204" pitchFamily="34" charset="0"/>
                              </a:rPr>
                              <m:t>2</m:t>
                            </m:r>
                          </m:sub>
                        </m:sSub>
                      </m:e>
                    </m:d>
                    <m:r>
                      <a:rPr lang="en-US" altLang="zh-CN" i="1">
                        <a:latin typeface="Cambria Math" panose="02040503050406030204" pitchFamily="18" charset="0"/>
                        <a:ea typeface="微软雅黑" panose="020B0503020204020204" pitchFamily="34" charset="-122"/>
                        <a:sym typeface="Arial" panose="020B0604020202020204" pitchFamily="34" charset="0"/>
                      </a:rPr>
                      <m:t>,…,</m:t>
                    </m:r>
                    <m:d>
                      <m:dPr>
                        <m:ctrlPr>
                          <a:rPr lang="en-US" altLang="zh-CN" i="1">
                            <a:latin typeface="Cambria Math" panose="02040503050406030204" pitchFamily="18" charset="0"/>
                            <a:ea typeface="微软雅黑" panose="020B0503020204020204" pitchFamily="34" charset="-122"/>
                            <a:sym typeface="Arial" panose="020B0604020202020204" pitchFamily="34" charset="0"/>
                          </a:rPr>
                        </m:ctrlPr>
                      </m:dPr>
                      <m:e>
                        <m:sSub>
                          <m:sSubPr>
                            <m:ctrlPr>
                              <a:rPr lang="en-US" altLang="zh-CN" b="1" i="1">
                                <a:latin typeface="Cambria Math" panose="02040503050406030204" pitchFamily="18" charset="0"/>
                                <a:ea typeface="微软雅黑" panose="020B0503020204020204" pitchFamily="34" charset="-122"/>
                                <a:sym typeface="Arial" panose="020B0604020202020204" pitchFamily="34" charset="0"/>
                              </a:rPr>
                            </m:ctrlPr>
                          </m:sSubPr>
                          <m:e>
                            <m:r>
                              <a:rPr lang="en-US" altLang="zh-CN" b="1" i="1">
                                <a:latin typeface="Cambria Math" panose="02040503050406030204" pitchFamily="18" charset="0"/>
                                <a:ea typeface="微软雅黑" panose="020B0503020204020204" pitchFamily="34" charset="-122"/>
                                <a:sym typeface="Arial" panose="020B0604020202020204" pitchFamily="34" charset="0"/>
                              </a:rPr>
                              <m:t>𝒙</m:t>
                            </m:r>
                          </m:e>
                          <m:sub>
                            <m:r>
                              <a:rPr lang="en-US" altLang="zh-CN" b="1" i="1">
                                <a:latin typeface="Cambria Math" panose="02040503050406030204" pitchFamily="18" charset="0"/>
                                <a:ea typeface="微软雅黑" panose="020B0503020204020204" pitchFamily="34" charset="-122"/>
                                <a:sym typeface="Arial" panose="020B0604020202020204" pitchFamily="34" charset="0"/>
                              </a:rPr>
                              <m:t>𝒎</m:t>
                            </m:r>
                          </m:sub>
                        </m:sSub>
                        <m:r>
                          <a:rPr lang="en-US" altLang="zh-CN" i="1">
                            <a:latin typeface="Cambria Math" panose="02040503050406030204" pitchFamily="18" charset="0"/>
                            <a:ea typeface="微软雅黑" panose="020B0503020204020204" pitchFamily="34" charset="-122"/>
                            <a:sym typeface="Arial" panose="020B0604020202020204" pitchFamily="34" charset="0"/>
                          </a:rPr>
                          <m:t>,</m:t>
                        </m:r>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r>
                              <a:rPr lang="en-US" altLang="zh-CN" i="1">
                                <a:latin typeface="Cambria Math" panose="02040503050406030204" pitchFamily="18" charset="0"/>
                                <a:ea typeface="微软雅黑" panose="020B0503020204020204" pitchFamily="34" charset="-122"/>
                                <a:sym typeface="Arial" panose="020B0604020202020204" pitchFamily="34" charset="0"/>
                              </a:rPr>
                              <m:t>𝑦</m:t>
                            </m:r>
                          </m:e>
                          <m:sub>
                            <m:r>
                              <a:rPr lang="en-US" altLang="zh-CN" i="1">
                                <a:latin typeface="Cambria Math" panose="02040503050406030204" pitchFamily="18" charset="0"/>
                                <a:ea typeface="微软雅黑" panose="020B0503020204020204" pitchFamily="34" charset="-122"/>
                                <a:sym typeface="Arial" panose="020B0604020202020204" pitchFamily="34" charset="0"/>
                              </a:rPr>
                              <m:t>𝑚</m:t>
                            </m:r>
                          </m:sub>
                        </m:sSub>
                      </m:e>
                    </m:d>
                    <m:r>
                      <a:rPr lang="en-US" altLang="zh-CN" i="1">
                        <a:latin typeface="Cambria Math" panose="02040503050406030204" pitchFamily="18" charset="0"/>
                        <a:ea typeface="微软雅黑" panose="020B0503020204020204" pitchFamily="34" charset="-122"/>
                        <a:sym typeface="Arial" panose="020B0604020202020204" pitchFamily="34" charset="0"/>
                      </a:rPr>
                      <m:t>}</m:t>
                    </m:r>
                  </m:oMath>
                </a14:m>
                <a:r>
                  <a:rPr lang="zh-CN" altLang="en-US" dirty="0">
                    <a:latin typeface="微软雅黑" panose="020B0503020204020204" pitchFamily="34" charset="-122"/>
                    <a:ea typeface="微软雅黑" panose="020B0503020204020204" pitchFamily="34" charset="-122"/>
                    <a:sym typeface="Arial" panose="020B0604020202020204" pitchFamily="34" charset="0"/>
                  </a:rPr>
                  <a:t>表示测试集的数据其输出空间</a:t>
                </a:r>
                <a14:m>
                  <m:oMath xmlns:m="http://schemas.openxmlformats.org/officeDocument/2006/math">
                    <m:r>
                      <a:rPr lang="en-US" altLang="zh-CN" b="1" i="1" smtClean="0">
                        <a:latin typeface="Cambria Math" panose="02040503050406030204" pitchFamily="18" charset="0"/>
                        <a:ea typeface="微软雅黑" panose="020B0503020204020204" pitchFamily="34" charset="-122"/>
                        <a:sym typeface="Arial" panose="020B0604020202020204" pitchFamily="34" charset="0"/>
                      </a:rPr>
                      <m:t>𝒚</m:t>
                    </m:r>
                  </m:oMath>
                </a14:m>
                <a:r>
                  <a:rPr lang="zh-CN" altLang="en-US" dirty="0">
                    <a:latin typeface="微软雅黑" panose="020B0503020204020204" pitchFamily="34" charset="-122"/>
                    <a:ea typeface="微软雅黑" panose="020B0503020204020204" pitchFamily="34" charset="-122"/>
                    <a:sym typeface="Arial" panose="020B0604020202020204" pitchFamily="34" charset="0"/>
                  </a:rPr>
                  <a:t>的可能取值包括</a:t>
                </a:r>
                <a14:m>
                  <m:oMath xmlns:m="http://schemas.openxmlformats.org/officeDocument/2006/math">
                    <m:r>
                      <m:rPr>
                        <m:sty m:val="p"/>
                      </m:rPr>
                      <a:rPr lang="en-US" altLang="zh-CN" b="0" i="0" smtClean="0">
                        <a:latin typeface="Cambria Math" panose="02040503050406030204" pitchFamily="18" charset="0"/>
                        <a:ea typeface="微软雅黑" panose="020B0503020204020204" pitchFamily="34" charset="-122"/>
                        <a:sym typeface="Arial" panose="020B0604020202020204" pitchFamily="34" charset="0"/>
                      </a:rPr>
                      <m:t>k</m:t>
                    </m:r>
                    <m:r>
                      <a:rPr lang="en-US" altLang="zh-CN" b="0" i="0" smtClean="0">
                        <a:latin typeface="Cambria Math" panose="02040503050406030204" pitchFamily="18" charset="0"/>
                        <a:ea typeface="微软雅黑" panose="020B0503020204020204" pitchFamily="34" charset="-122"/>
                        <a:sym typeface="Arial" panose="020B0604020202020204" pitchFamily="34" charset="0"/>
                      </a:rPr>
                      <m:t>=</m:t>
                    </m:r>
                    <m:r>
                      <a:rPr lang="en-US" altLang="zh-CN" b="0" i="1" smtClean="0">
                        <a:latin typeface="Cambria Math" panose="02040503050406030204" pitchFamily="18" charset="0"/>
                        <a:ea typeface="微软雅黑" panose="020B0503020204020204" pitchFamily="34" charset="-122"/>
                        <a:sym typeface="Arial" panose="020B0604020202020204" pitchFamily="34" charset="0"/>
                      </a:rPr>
                      <m:t>1,2,3,…,|</m:t>
                    </m:r>
                    <m:r>
                      <a:rPr lang="en-US" altLang="zh-CN" b="0" i="1" smtClean="0">
                        <a:latin typeface="Cambria Math" panose="02040503050406030204" pitchFamily="18" charset="0"/>
                        <a:ea typeface="微软雅黑" panose="020B0503020204020204" pitchFamily="34" charset="-122"/>
                        <a:sym typeface="Arial" panose="020B0604020202020204" pitchFamily="34" charset="0"/>
                      </a:rPr>
                      <m:t>𝑦</m:t>
                    </m:r>
                    <m:r>
                      <a:rPr lang="en-US" altLang="zh-CN" b="0" i="1" smtClean="0">
                        <a:latin typeface="Cambria Math" panose="02040503050406030204" pitchFamily="18" charset="0"/>
                        <a:ea typeface="微软雅黑" panose="020B0503020204020204" pitchFamily="34" charset="-122"/>
                        <a:sym typeface="Arial" panose="020B0604020202020204" pitchFamily="34" charset="0"/>
                      </a:rPr>
                      <m:t>|</m:t>
                    </m:r>
                  </m:oMath>
                </a14:m>
                <a:r>
                  <a:rPr lang="zh-CN" altLang="en-US" dirty="0">
                    <a:latin typeface="微软雅黑" panose="020B0503020204020204" pitchFamily="34" charset="-122"/>
                    <a:ea typeface="微软雅黑" panose="020B0503020204020204" pitchFamily="34" charset="-122"/>
                    <a:sym typeface="Arial" panose="020B0604020202020204" pitchFamily="34" charset="0"/>
                  </a:rPr>
                  <a:t>，如果第</a:t>
                </a:r>
                <a:r>
                  <a:rPr lang="en-US" altLang="zh-CN" dirty="0">
                    <a:latin typeface="微软雅黑" panose="020B0503020204020204" pitchFamily="34" charset="-122"/>
                    <a:ea typeface="微软雅黑" panose="020B0503020204020204" pitchFamily="34" charset="-122"/>
                    <a:sym typeface="Arial" panose="020B0604020202020204" pitchFamily="34" charset="0"/>
                  </a:rPr>
                  <a:t>k</a:t>
                </a:r>
                <a:r>
                  <a:rPr lang="zh-CN" altLang="en-US" dirty="0">
                    <a:latin typeface="微软雅黑" panose="020B0503020204020204" pitchFamily="34" charset="-122"/>
                    <a:ea typeface="微软雅黑" panose="020B0503020204020204" pitchFamily="34" charset="-122"/>
                    <a:sym typeface="Arial" panose="020B0604020202020204" pitchFamily="34" charset="0"/>
                  </a:rPr>
                  <a:t>类样本所占比例为</a:t>
                </a:r>
                <a14:m>
                  <m:oMath xmlns:m="http://schemas.openxmlformats.org/officeDocument/2006/math">
                    <m:sSub>
                      <m:sSubPr>
                        <m:ctrlPr>
                          <a:rPr lang="en-US" altLang="zh-CN" i="1" smtClean="0">
                            <a:latin typeface="Cambria Math" panose="02040503050406030204" pitchFamily="18" charset="0"/>
                            <a:ea typeface="微软雅黑" panose="020B0503020204020204" pitchFamily="34" charset="-122"/>
                            <a:sym typeface="Arial" panose="020B0604020202020204" pitchFamily="34" charset="0"/>
                          </a:rPr>
                        </m:ctrlPr>
                      </m:sSubPr>
                      <m:e>
                        <m:r>
                          <a:rPr lang="en-US" altLang="zh-CN" b="0" i="1" smtClean="0">
                            <a:latin typeface="Cambria Math" panose="02040503050406030204" pitchFamily="18" charset="0"/>
                            <a:ea typeface="微软雅黑" panose="020B0503020204020204" pitchFamily="34" charset="-122"/>
                            <a:sym typeface="Arial" panose="020B0604020202020204" pitchFamily="34" charset="0"/>
                          </a:rPr>
                          <m:t>𝑝</m:t>
                        </m:r>
                      </m:e>
                      <m:sub>
                        <m:r>
                          <a:rPr lang="en-US" altLang="zh-CN" b="0" i="1" smtClean="0">
                            <a:latin typeface="Cambria Math" panose="02040503050406030204" pitchFamily="18" charset="0"/>
                            <a:ea typeface="微软雅黑" panose="020B0503020204020204" pitchFamily="34" charset="-122"/>
                            <a:sym typeface="Arial" panose="020B0604020202020204" pitchFamily="34" charset="0"/>
                          </a:rPr>
                          <m:t>𝑘</m:t>
                        </m:r>
                      </m:sub>
                    </m:sSub>
                  </m:oMath>
                </a14:m>
                <a:r>
                  <a:rPr lang="en-US" altLang="zh-CN" dirty="0">
                    <a:latin typeface="微软雅黑" panose="020B0503020204020204" pitchFamily="34" charset="-122"/>
                    <a:ea typeface="微软雅黑" panose="020B0503020204020204" pitchFamily="34" charset="-122"/>
                    <a:sym typeface="Arial" panose="020B0604020202020204" pitchFamily="34" charset="0"/>
                  </a:rPr>
                  <a:t>,</a:t>
                </a:r>
                <a:r>
                  <a:rPr lang="zh-CN" altLang="en-US" dirty="0">
                    <a:latin typeface="微软雅黑" panose="020B0503020204020204" pitchFamily="34" charset="-122"/>
                    <a:ea typeface="微软雅黑" panose="020B0503020204020204" pitchFamily="34" charset="-122"/>
                    <a:sym typeface="Arial" panose="020B0604020202020204" pitchFamily="34" charset="0"/>
                  </a:rPr>
                  <a:t>那么样本标签在集合</a:t>
                </a:r>
                <a14:m>
                  <m:oMath xmlns:m="http://schemas.openxmlformats.org/officeDocument/2006/math">
                    <m:acc>
                      <m:accPr>
                        <m:chr m:val="̅"/>
                        <m:ctrlPr>
                          <a:rPr lang="en-US" altLang="zh-CN" i="1">
                            <a:latin typeface="Cambria Math" panose="02040503050406030204" pitchFamily="18" charset="0"/>
                            <a:ea typeface="微软雅黑" panose="020B0503020204020204" pitchFamily="34" charset="-122"/>
                            <a:sym typeface="Arial" panose="020B0604020202020204" pitchFamily="34" charset="0"/>
                          </a:rPr>
                        </m:ctrlPr>
                      </m:accPr>
                      <m:e>
                        <m:r>
                          <a:rPr lang="en-US" altLang="zh-CN" i="1">
                            <a:latin typeface="Cambria Math" panose="02040503050406030204" pitchFamily="18" charset="0"/>
                            <a:ea typeface="微软雅黑" panose="020B0503020204020204" pitchFamily="34" charset="-122"/>
                            <a:sym typeface="Arial" panose="020B0604020202020204" pitchFamily="34" charset="0"/>
                          </a:rPr>
                          <m:t>𝐷</m:t>
                        </m:r>
                      </m:e>
                    </m:acc>
                  </m:oMath>
                </a14:m>
                <a:r>
                  <a:rPr lang="zh-CN" altLang="en-US" dirty="0">
                    <a:latin typeface="微软雅黑" panose="020B0503020204020204" pitchFamily="34" charset="-122"/>
                    <a:ea typeface="微软雅黑" panose="020B0503020204020204" pitchFamily="34" charset="-122"/>
                    <a:sym typeface="Arial" panose="020B0604020202020204" pitchFamily="34" charset="0"/>
                  </a:rPr>
                  <a:t>中的信息熵定义为：</a:t>
                </a:r>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微软雅黑" panose="020B0503020204020204" pitchFamily="34" charset="-122"/>
                          <a:sym typeface="Arial" panose="020B0604020202020204" pitchFamily="34" charset="0"/>
                        </a:rPr>
                        <m:t>𝐸𝑛𝑡</m:t>
                      </m:r>
                      <m:d>
                        <m:dPr>
                          <m:ctrlPr>
                            <a:rPr lang="en-US" altLang="zh-CN" b="0" i="1" smtClean="0">
                              <a:latin typeface="Cambria Math" panose="02040503050406030204" pitchFamily="18" charset="0"/>
                              <a:ea typeface="微软雅黑" panose="020B0503020204020204" pitchFamily="34" charset="-122"/>
                              <a:sym typeface="Arial" panose="020B0604020202020204" pitchFamily="34" charset="0"/>
                            </a:rPr>
                          </m:ctrlPr>
                        </m:dPr>
                        <m:e>
                          <m:acc>
                            <m:accPr>
                              <m:chr m:val="̅"/>
                              <m:ctrlPr>
                                <a:rPr lang="en-US" altLang="zh-CN" i="1">
                                  <a:latin typeface="Cambria Math" panose="02040503050406030204" pitchFamily="18" charset="0"/>
                                  <a:ea typeface="微软雅黑" panose="020B0503020204020204" pitchFamily="34" charset="-122"/>
                                  <a:sym typeface="Arial" panose="020B0604020202020204" pitchFamily="34" charset="0"/>
                                </a:rPr>
                              </m:ctrlPr>
                            </m:accPr>
                            <m:e>
                              <m:r>
                                <a:rPr lang="en-US" altLang="zh-CN" i="1">
                                  <a:latin typeface="Cambria Math" panose="02040503050406030204" pitchFamily="18" charset="0"/>
                                  <a:ea typeface="微软雅黑" panose="020B0503020204020204" pitchFamily="34" charset="-122"/>
                                  <a:sym typeface="Arial" panose="020B0604020202020204" pitchFamily="34" charset="0"/>
                                </a:rPr>
                                <m:t>𝐷</m:t>
                              </m:r>
                            </m:e>
                          </m:acc>
                        </m:e>
                      </m:d>
                      <m:r>
                        <a:rPr lang="en-US" altLang="zh-CN" b="0" i="1" smtClean="0">
                          <a:latin typeface="Cambria Math" panose="02040503050406030204" pitchFamily="18" charset="0"/>
                          <a:ea typeface="微软雅黑" panose="020B0503020204020204" pitchFamily="34" charset="-122"/>
                          <a:sym typeface="Arial" panose="020B0604020202020204" pitchFamily="34" charset="0"/>
                        </a:rPr>
                        <m:t>=−</m:t>
                      </m:r>
                      <m:nary>
                        <m:naryPr>
                          <m:chr m:val="∑"/>
                          <m:ctrlPr>
                            <a:rPr lang="en-US" altLang="zh-CN" b="0" i="1" smtClean="0">
                              <a:latin typeface="Cambria Math" panose="02040503050406030204" pitchFamily="18" charset="0"/>
                              <a:ea typeface="微软雅黑" panose="020B0503020204020204" pitchFamily="34" charset="-122"/>
                              <a:sym typeface="Arial" panose="020B0604020202020204" pitchFamily="34" charset="0"/>
                            </a:rPr>
                          </m:ctrlPr>
                        </m:naryPr>
                        <m:sub>
                          <m:r>
                            <m:rPr>
                              <m:brk m:alnAt="23"/>
                            </m:rPr>
                            <a:rPr lang="en-US" altLang="zh-CN" b="0" i="1" smtClean="0">
                              <a:latin typeface="Cambria Math" panose="02040503050406030204" pitchFamily="18" charset="0"/>
                              <a:ea typeface="微软雅黑" panose="020B0503020204020204" pitchFamily="34" charset="-122"/>
                              <a:sym typeface="Arial" panose="020B0604020202020204" pitchFamily="34" charset="0"/>
                            </a:rPr>
                            <m:t>𝑘</m:t>
                          </m:r>
                          <m:r>
                            <a:rPr lang="en-US" altLang="zh-CN" b="0" i="1" smtClean="0">
                              <a:latin typeface="Cambria Math" panose="02040503050406030204" pitchFamily="18" charset="0"/>
                              <a:ea typeface="微软雅黑" panose="020B0503020204020204" pitchFamily="34" charset="-122"/>
                              <a:sym typeface="Arial" panose="020B0604020202020204" pitchFamily="34" charset="0"/>
                            </a:rPr>
                            <m:t>=1</m:t>
                          </m:r>
                        </m:sub>
                        <m:sup>
                          <m:r>
                            <a:rPr lang="en-US" altLang="zh-CN" b="0" i="1" smtClean="0">
                              <a:latin typeface="Cambria Math" panose="02040503050406030204" pitchFamily="18" charset="0"/>
                              <a:ea typeface="微软雅黑" panose="020B0503020204020204" pitchFamily="34" charset="-122"/>
                              <a:sym typeface="Arial" panose="020B0604020202020204" pitchFamily="34" charset="0"/>
                            </a:rPr>
                            <m:t>|</m:t>
                          </m:r>
                          <m:r>
                            <a:rPr lang="en-US" altLang="zh-CN" b="0" i="1" smtClean="0">
                              <a:latin typeface="Cambria Math" panose="02040503050406030204" pitchFamily="18" charset="0"/>
                              <a:ea typeface="微软雅黑" panose="020B0503020204020204" pitchFamily="34" charset="-122"/>
                              <a:sym typeface="Arial" panose="020B0604020202020204" pitchFamily="34" charset="0"/>
                            </a:rPr>
                            <m:t>𝑦</m:t>
                          </m:r>
                          <m:r>
                            <a:rPr lang="en-US" altLang="zh-CN" b="0" i="1" smtClean="0">
                              <a:latin typeface="Cambria Math" panose="02040503050406030204" pitchFamily="18" charset="0"/>
                              <a:ea typeface="微软雅黑" panose="020B0503020204020204" pitchFamily="34" charset="-122"/>
                              <a:sym typeface="Arial" panose="020B0604020202020204" pitchFamily="34" charset="0"/>
                            </a:rPr>
                            <m:t>|</m:t>
                          </m:r>
                        </m:sup>
                        <m:e>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r>
                                <a:rPr lang="en-US" altLang="zh-CN" i="1">
                                  <a:latin typeface="Cambria Math" panose="02040503050406030204" pitchFamily="18" charset="0"/>
                                  <a:ea typeface="微软雅黑" panose="020B0503020204020204" pitchFamily="34" charset="-122"/>
                                  <a:sym typeface="Arial" panose="020B0604020202020204" pitchFamily="34" charset="0"/>
                                </a:rPr>
                                <m:t>𝑝</m:t>
                              </m:r>
                            </m:e>
                            <m:sub>
                              <m:r>
                                <a:rPr lang="en-US" altLang="zh-CN" i="1">
                                  <a:latin typeface="Cambria Math" panose="02040503050406030204" pitchFamily="18" charset="0"/>
                                  <a:ea typeface="微软雅黑" panose="020B0503020204020204" pitchFamily="34" charset="-122"/>
                                  <a:sym typeface="Arial" panose="020B0604020202020204" pitchFamily="34" charset="0"/>
                                </a:rPr>
                                <m:t>𝑘</m:t>
                              </m:r>
                            </m:sub>
                          </m:sSub>
                          <m:sSub>
                            <m:sSubPr>
                              <m:ctrlPr>
                                <a:rPr lang="en-US" altLang="zh-CN" i="1" smtClean="0">
                                  <a:latin typeface="Cambria Math" panose="02040503050406030204" pitchFamily="18" charset="0"/>
                                  <a:ea typeface="微软雅黑" panose="020B0503020204020204" pitchFamily="34" charset="-122"/>
                                  <a:sym typeface="Arial" panose="020B0604020202020204" pitchFamily="34" charset="0"/>
                                </a:rPr>
                              </m:ctrlPr>
                            </m:sSubPr>
                            <m:e>
                              <m:r>
                                <a:rPr lang="en-US" altLang="zh-CN" b="0" i="1" smtClean="0">
                                  <a:latin typeface="Cambria Math" panose="02040503050406030204" pitchFamily="18" charset="0"/>
                                  <a:ea typeface="微软雅黑" panose="020B0503020204020204" pitchFamily="34" charset="-122"/>
                                  <a:sym typeface="Arial" panose="020B0604020202020204" pitchFamily="34" charset="0"/>
                                </a:rPr>
                                <m:t>𝑙𝑜𝑔</m:t>
                              </m:r>
                            </m:e>
                            <m:sub>
                              <m:r>
                                <a:rPr lang="en-US" altLang="zh-CN" b="0" i="1" smtClean="0">
                                  <a:latin typeface="Cambria Math" panose="02040503050406030204" pitchFamily="18" charset="0"/>
                                  <a:ea typeface="微软雅黑" panose="020B0503020204020204" pitchFamily="34" charset="-122"/>
                                  <a:sym typeface="Arial" panose="020B0604020202020204" pitchFamily="34" charset="0"/>
                                </a:rPr>
                                <m:t>2</m:t>
                              </m:r>
                            </m:sub>
                          </m:sSub>
                          <m:r>
                            <a:rPr lang="en-US" altLang="zh-CN" b="0" i="1" smtClean="0">
                              <a:latin typeface="Cambria Math" panose="02040503050406030204" pitchFamily="18" charset="0"/>
                              <a:ea typeface="微软雅黑" panose="020B0503020204020204" pitchFamily="34" charset="-122"/>
                              <a:sym typeface="Arial" panose="020B0604020202020204" pitchFamily="34" charset="0"/>
                            </a:rPr>
                            <m:t>(</m:t>
                          </m:r>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r>
                                <a:rPr lang="en-US" altLang="zh-CN" i="1">
                                  <a:latin typeface="Cambria Math" panose="02040503050406030204" pitchFamily="18" charset="0"/>
                                  <a:ea typeface="微软雅黑" panose="020B0503020204020204" pitchFamily="34" charset="-122"/>
                                  <a:sym typeface="Arial" panose="020B0604020202020204" pitchFamily="34" charset="0"/>
                                </a:rPr>
                                <m:t>𝑝</m:t>
                              </m:r>
                            </m:e>
                            <m:sub>
                              <m:r>
                                <a:rPr lang="en-US" altLang="zh-CN" i="1">
                                  <a:latin typeface="Cambria Math" panose="02040503050406030204" pitchFamily="18" charset="0"/>
                                  <a:ea typeface="微软雅黑" panose="020B0503020204020204" pitchFamily="34" charset="-122"/>
                                  <a:sym typeface="Arial" panose="020B0604020202020204" pitchFamily="34" charset="0"/>
                                </a:rPr>
                                <m:t>𝑘</m:t>
                              </m:r>
                            </m:sub>
                          </m:sSub>
                          <m:r>
                            <a:rPr lang="en-US" altLang="zh-CN" b="0" i="1" smtClean="0">
                              <a:latin typeface="Cambria Math" panose="02040503050406030204" pitchFamily="18" charset="0"/>
                              <a:ea typeface="微软雅黑" panose="020B0503020204020204" pitchFamily="34" charset="-122"/>
                              <a:sym typeface="Arial" panose="020B0604020202020204" pitchFamily="34" charset="0"/>
                            </a:rPr>
                            <m:t>)</m:t>
                          </m:r>
                        </m:e>
                      </m:nary>
                    </m:oMath>
                  </m:oMathPara>
                </a14:m>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dirty="0">
                    <a:latin typeface="微软雅黑" panose="020B0503020204020204" pitchFamily="34" charset="-122"/>
                    <a:ea typeface="微软雅黑" panose="020B0503020204020204" pitchFamily="34" charset="-122"/>
                  </a:rPr>
                  <a:t>信息熵是</a:t>
                </a:r>
                <a:r>
                  <a:rPr lang="zh-CN" altLang="en-US" b="1" dirty="0">
                    <a:latin typeface="微软雅黑" panose="020B0503020204020204" pitchFamily="34" charset="-122"/>
                    <a:ea typeface="微软雅黑" panose="020B0503020204020204" pitchFamily="34" charset="-122"/>
                  </a:rPr>
                  <a:t>随机变量不确定的度量</a:t>
                </a:r>
                <a:r>
                  <a:rPr lang="zh-CN" altLang="en-US"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是对所有可能发生的事件产生的信息量的期望</a:t>
                </a:r>
                <a:r>
                  <a:rPr lang="zh-CN" altLang="en-US" dirty="0">
                    <a:latin typeface="微软雅黑" panose="020B0503020204020204" pitchFamily="34" charset="-122"/>
                    <a:ea typeface="微软雅黑" panose="020B0503020204020204" pitchFamily="34" charset="-122"/>
                  </a:rPr>
                  <a:t>。而</a:t>
                </a:r>
                <a:r>
                  <a:rPr lang="zh-CN" altLang="en-US" b="1" dirty="0">
                    <a:latin typeface="微软雅黑" panose="020B0503020204020204" pitchFamily="34" charset="-122"/>
                    <a:ea typeface="微软雅黑" panose="020B0503020204020204" pitchFamily="34" charset="-122"/>
                  </a:rPr>
                  <a:t>交叉熵常被用来度量同一个随机变量</a:t>
                </a:r>
                <a14:m>
                  <m:oMath xmlns:m="http://schemas.openxmlformats.org/officeDocument/2006/math">
                    <m:r>
                      <a:rPr lang="en-US" altLang="zh-CN" b="1" i="1" smtClean="0">
                        <a:latin typeface="Cambria Math" panose="02040503050406030204" pitchFamily="18" charset="0"/>
                        <a:ea typeface="微软雅黑" panose="020B0503020204020204" pitchFamily="34" charset="-122"/>
                      </a:rPr>
                      <m:t>𝒙</m:t>
                    </m:r>
                  </m:oMath>
                </a14:m>
                <a:r>
                  <a:rPr lang="zh-CN" altLang="en-US" b="1" dirty="0">
                    <a:latin typeface="微软雅黑" panose="020B0503020204020204" pitchFamily="34" charset="-122"/>
                    <a:ea typeface="微软雅黑" panose="020B0503020204020204" pitchFamily="34" charset="-122"/>
                    <a:sym typeface="Arial" panose="020B0604020202020204" pitchFamily="34" charset="0"/>
                  </a:rPr>
                  <a:t>的两个概率分布</a:t>
                </a:r>
                <a14:m>
                  <m:oMath xmlns:m="http://schemas.openxmlformats.org/officeDocument/2006/math">
                    <m:r>
                      <a:rPr lang="en-US" altLang="zh-CN" b="1" i="1" smtClean="0">
                        <a:latin typeface="Cambria Math" panose="02040503050406030204" pitchFamily="18" charset="0"/>
                        <a:ea typeface="微软雅黑" panose="020B0503020204020204" pitchFamily="34" charset="-122"/>
                        <a:sym typeface="Arial" panose="020B0604020202020204" pitchFamily="34" charset="0"/>
                      </a:rPr>
                      <m:t>𝒑</m:t>
                    </m:r>
                    <m:r>
                      <a:rPr lang="zh-CN" altLang="en-US" b="1" i="1">
                        <a:latin typeface="Cambria Math" panose="02040503050406030204" pitchFamily="18" charset="0"/>
                        <a:ea typeface="微软雅黑" panose="020B0503020204020204" pitchFamily="34" charset="-122"/>
                        <a:sym typeface="Arial" panose="020B0604020202020204" pitchFamily="34" charset="0"/>
                      </a:rPr>
                      <m:t>和</m:t>
                    </m:r>
                    <m:r>
                      <a:rPr lang="en-US" altLang="zh-CN" b="1" i="1" smtClean="0">
                        <a:latin typeface="Cambria Math" panose="02040503050406030204" pitchFamily="18" charset="0"/>
                        <a:ea typeface="微软雅黑" panose="020B0503020204020204" pitchFamily="34" charset="-122"/>
                        <a:sym typeface="Arial" panose="020B0604020202020204" pitchFamily="34" charset="0"/>
                      </a:rPr>
                      <m:t>𝒒</m:t>
                    </m:r>
                  </m:oMath>
                </a14:m>
                <a:r>
                  <a:rPr lang="zh-CN" altLang="en-US" b="1" dirty="0">
                    <a:latin typeface="微软雅黑" panose="020B0503020204020204" pitchFamily="34" charset="-122"/>
                    <a:ea typeface="微软雅黑" panose="020B0503020204020204" pitchFamily="34" charset="-122"/>
                    <a:sym typeface="Arial" panose="020B0604020202020204" pitchFamily="34" charset="0"/>
                  </a:rPr>
                  <a:t>之间的差异</a:t>
                </a:r>
                <a:r>
                  <a:rPr lang="zh-CN" altLang="en-US" dirty="0">
                    <a:latin typeface="微软雅黑" panose="020B0503020204020204" pitchFamily="34" charset="-122"/>
                    <a:ea typeface="微软雅黑" panose="020B0503020204020204" pitchFamily="34" charset="-122"/>
                    <a:sym typeface="Arial" panose="020B0604020202020204" pitchFamily="34" charset="0"/>
                  </a:rPr>
                  <a:t>。在测试集</a:t>
                </a:r>
                <a14:m>
                  <m:oMath xmlns:m="http://schemas.openxmlformats.org/officeDocument/2006/math">
                    <m:acc>
                      <m:accPr>
                        <m:chr m:val="̅"/>
                        <m:ctrlPr>
                          <a:rPr lang="en-US" altLang="zh-CN" i="1">
                            <a:latin typeface="Cambria Math" panose="02040503050406030204" pitchFamily="18" charset="0"/>
                            <a:ea typeface="微软雅黑" panose="020B0503020204020204" pitchFamily="34" charset="-122"/>
                            <a:sym typeface="Arial" panose="020B0604020202020204" pitchFamily="34" charset="0"/>
                          </a:rPr>
                        </m:ctrlPr>
                      </m:accPr>
                      <m:e>
                        <m:r>
                          <a:rPr lang="en-US" altLang="zh-CN" i="1">
                            <a:latin typeface="Cambria Math" panose="02040503050406030204" pitchFamily="18" charset="0"/>
                            <a:ea typeface="微软雅黑" panose="020B0503020204020204" pitchFamily="34" charset="-122"/>
                            <a:sym typeface="Arial" panose="020B0604020202020204" pitchFamily="34" charset="0"/>
                          </a:rPr>
                          <m:t>𝐷</m:t>
                        </m:r>
                      </m:e>
                    </m:acc>
                  </m:oMath>
                </a14:m>
                <a:r>
                  <a:rPr lang="zh-CN" altLang="en-US" dirty="0">
                    <a:latin typeface="微软雅黑" panose="020B0503020204020204" pitchFamily="34" charset="-122"/>
                    <a:ea typeface="微软雅黑" panose="020B0503020204020204" pitchFamily="34" charset="-122"/>
                    <a:sym typeface="Arial" panose="020B0604020202020204" pitchFamily="34" charset="0"/>
                  </a:rPr>
                  <a:t>中我们可以得到模型的预测值</a:t>
                </a:r>
                <a14:m>
                  <m:oMath xmlns:m="http://schemas.openxmlformats.org/officeDocument/2006/math">
                    <m:acc>
                      <m:accPr>
                        <m:chr m:val="̂"/>
                        <m:ctrlPr>
                          <a:rPr lang="en-US" altLang="zh-CN" b="1" i="1">
                            <a:latin typeface="Cambria Math" panose="02040503050406030204" pitchFamily="18" charset="0"/>
                            <a:ea typeface="微软雅黑" panose="020B0503020204020204" pitchFamily="34" charset="-122"/>
                            <a:sym typeface="Arial" panose="020B0604020202020204" pitchFamily="34" charset="0"/>
                          </a:rPr>
                        </m:ctrlPr>
                      </m:accPr>
                      <m:e>
                        <m:r>
                          <a:rPr lang="en-US" altLang="zh-CN" b="1" i="1">
                            <a:latin typeface="Cambria Math" panose="02040503050406030204" pitchFamily="18" charset="0"/>
                            <a:ea typeface="微软雅黑" panose="020B0503020204020204" pitchFamily="34" charset="-122"/>
                            <a:sym typeface="Arial" panose="020B0604020202020204" pitchFamily="34" charset="0"/>
                          </a:rPr>
                          <m:t>𝒚</m:t>
                        </m:r>
                      </m:e>
                    </m:acc>
                    <m:r>
                      <a:rPr lang="en-US" altLang="zh-CN" i="1">
                        <a:latin typeface="Cambria Math" panose="02040503050406030204" pitchFamily="18" charset="0"/>
                        <a:ea typeface="微软雅黑" panose="020B0503020204020204" pitchFamily="34" charset="-122"/>
                        <a:sym typeface="Arial" panose="020B0604020202020204" pitchFamily="34" charset="0"/>
                      </a:rPr>
                      <m:t>=</m:t>
                    </m:r>
                    <m:r>
                      <a:rPr lang="en-US" altLang="zh-CN" i="1">
                        <a:latin typeface="Cambria Math" panose="02040503050406030204" pitchFamily="18" charset="0"/>
                        <a:ea typeface="微软雅黑" panose="020B0503020204020204" pitchFamily="34" charset="-122"/>
                        <a:sym typeface="Arial" panose="020B0604020202020204" pitchFamily="34" charset="0"/>
                      </a:rPr>
                      <m:t>𝑓</m:t>
                    </m:r>
                    <m:r>
                      <a:rPr lang="en-US" altLang="zh-CN" i="1">
                        <a:latin typeface="Cambria Math" panose="02040503050406030204" pitchFamily="18" charset="0"/>
                        <a:ea typeface="微软雅黑" panose="020B0503020204020204" pitchFamily="34" charset="-122"/>
                        <a:sym typeface="Arial" panose="020B0604020202020204" pitchFamily="34" charset="0"/>
                      </a:rPr>
                      <m:t>(</m:t>
                    </m:r>
                    <m:r>
                      <a:rPr lang="en-US" altLang="zh-CN" b="1" i="1">
                        <a:latin typeface="Cambria Math" panose="02040503050406030204" pitchFamily="18" charset="0"/>
                        <a:ea typeface="微软雅黑" panose="020B0503020204020204" pitchFamily="34" charset="-122"/>
                        <a:sym typeface="Arial" panose="020B0604020202020204" pitchFamily="34" charset="0"/>
                      </a:rPr>
                      <m:t>𝒙</m:t>
                    </m:r>
                    <m:r>
                      <a:rPr lang="en-US" altLang="zh-CN" i="1">
                        <a:latin typeface="Cambria Math" panose="02040503050406030204" pitchFamily="18" charset="0"/>
                        <a:ea typeface="微软雅黑" panose="020B0503020204020204" pitchFamily="34" charset="-122"/>
                        <a:sym typeface="Arial" panose="020B0604020202020204" pitchFamily="34" charset="0"/>
                      </a:rPr>
                      <m:t>)</m:t>
                    </m:r>
                  </m:oMath>
                </a14:m>
                <a:r>
                  <a:rPr lang="zh-CN" altLang="en-US" dirty="0">
                    <a:latin typeface="微软雅黑" panose="020B0503020204020204" pitchFamily="34" charset="-122"/>
                    <a:ea typeface="微软雅黑" panose="020B0503020204020204" pitchFamily="34" charset="-122"/>
                    <a:sym typeface="Arial" panose="020B0604020202020204" pitchFamily="34" charset="0"/>
                  </a:rPr>
                  <a:t>，用</a:t>
                </a:r>
                <a14:m>
                  <m:oMath xmlns:m="http://schemas.openxmlformats.org/officeDocument/2006/math">
                    <m:sSub>
                      <m:sSubPr>
                        <m:ctrlPr>
                          <a:rPr lang="en-US" altLang="zh-CN" i="1" smtClean="0">
                            <a:latin typeface="Cambria Math" panose="02040503050406030204" pitchFamily="18" charset="0"/>
                            <a:ea typeface="微软雅黑" panose="020B0503020204020204" pitchFamily="34" charset="-122"/>
                            <a:sym typeface="Arial" panose="020B0604020202020204" pitchFamily="34" charset="0"/>
                          </a:rPr>
                        </m:ctrlPr>
                      </m:sSubPr>
                      <m:e>
                        <m:r>
                          <a:rPr lang="en-US" altLang="zh-CN" b="0" i="1" smtClean="0">
                            <a:latin typeface="Cambria Math" panose="02040503050406030204" pitchFamily="18" charset="0"/>
                            <a:ea typeface="微软雅黑" panose="020B0503020204020204" pitchFamily="34" charset="-122"/>
                            <a:sym typeface="Arial" panose="020B0604020202020204" pitchFamily="34" charset="0"/>
                          </a:rPr>
                          <m:t>𝑞</m:t>
                        </m:r>
                      </m:e>
                      <m:sub>
                        <m:r>
                          <a:rPr lang="en-US" altLang="zh-CN" b="0" i="1" smtClean="0">
                            <a:latin typeface="Cambria Math" panose="02040503050406030204" pitchFamily="18" charset="0"/>
                            <a:ea typeface="微软雅黑" panose="020B0503020204020204" pitchFamily="34" charset="-122"/>
                            <a:sym typeface="Arial" panose="020B0604020202020204" pitchFamily="34" charset="0"/>
                          </a:rPr>
                          <m:t>𝑘</m:t>
                        </m:r>
                      </m:sub>
                    </m:sSub>
                  </m:oMath>
                </a14:m>
                <a:r>
                  <a:rPr lang="zh-CN" altLang="en-US" dirty="0">
                    <a:latin typeface="微软雅黑" panose="020B0503020204020204" pitchFamily="34" charset="-122"/>
                    <a:ea typeface="微软雅黑" panose="020B0503020204020204" pitchFamily="34" charset="-122"/>
                    <a:sym typeface="Arial" panose="020B0604020202020204" pitchFamily="34" charset="0"/>
                  </a:rPr>
                  <a:t>来表示</a:t>
                </a:r>
                <a14:m>
                  <m:oMath xmlns:m="http://schemas.openxmlformats.org/officeDocument/2006/math">
                    <m:acc>
                      <m:accPr>
                        <m:chr m:val="̂"/>
                        <m:ctrlPr>
                          <a:rPr lang="en-US" altLang="zh-CN" i="1">
                            <a:latin typeface="Cambria Math" panose="02040503050406030204" pitchFamily="18" charset="0"/>
                            <a:ea typeface="微软雅黑" panose="020B0503020204020204" pitchFamily="34" charset="-122"/>
                            <a:sym typeface="Arial" panose="020B0604020202020204" pitchFamily="34" charset="0"/>
                          </a:rPr>
                        </m:ctrlPr>
                      </m:accPr>
                      <m:e>
                        <m:r>
                          <a:rPr lang="en-US" altLang="zh-CN" i="1">
                            <a:latin typeface="Cambria Math" panose="02040503050406030204" pitchFamily="18" charset="0"/>
                            <a:ea typeface="微软雅黑" panose="020B0503020204020204" pitchFamily="34" charset="-122"/>
                            <a:sym typeface="Arial" panose="020B0604020202020204" pitchFamily="34" charset="0"/>
                          </a:rPr>
                          <m:t>𝑦</m:t>
                        </m:r>
                      </m:e>
                    </m:acc>
                  </m:oMath>
                </a14:m>
                <a:r>
                  <a:rPr lang="zh-CN" altLang="en-US" dirty="0">
                    <a:latin typeface="微软雅黑" panose="020B0503020204020204" pitchFamily="34" charset="-122"/>
                    <a:ea typeface="微软雅黑" panose="020B0503020204020204" pitchFamily="34" charset="-122"/>
                    <a:sym typeface="Arial" panose="020B0604020202020204" pitchFamily="34" charset="0"/>
                  </a:rPr>
                  <a:t>的第</a:t>
                </a:r>
                <a:r>
                  <a:rPr lang="en-US" altLang="zh-CN" dirty="0">
                    <a:latin typeface="微软雅黑" panose="020B0503020204020204" pitchFamily="34" charset="-122"/>
                    <a:ea typeface="微软雅黑" panose="020B0503020204020204" pitchFamily="34" charset="-122"/>
                    <a:sym typeface="Arial" panose="020B0604020202020204" pitchFamily="34" charset="0"/>
                  </a:rPr>
                  <a:t>k</a:t>
                </a:r>
                <a:r>
                  <a:rPr lang="zh-CN" altLang="en-US" dirty="0">
                    <a:latin typeface="微软雅黑" panose="020B0503020204020204" pitchFamily="34" charset="-122"/>
                    <a:ea typeface="微软雅黑" panose="020B0503020204020204" pitchFamily="34" charset="-122"/>
                    <a:sym typeface="Arial" panose="020B0604020202020204" pitchFamily="34" charset="0"/>
                  </a:rPr>
                  <a:t>类所占的比例，那么真实值</a:t>
                </a:r>
                <a14:m>
                  <m:oMath xmlns:m="http://schemas.openxmlformats.org/officeDocument/2006/math">
                    <m:r>
                      <a:rPr lang="en-US" altLang="zh-CN" b="1" i="1">
                        <a:latin typeface="Cambria Math" panose="02040503050406030204" pitchFamily="18" charset="0"/>
                        <a:ea typeface="微软雅黑" panose="020B0503020204020204" pitchFamily="34" charset="-122"/>
                        <a:sym typeface="Arial" panose="020B0604020202020204" pitchFamily="34" charset="0"/>
                      </a:rPr>
                      <m:t>𝒚</m:t>
                    </m:r>
                  </m:oMath>
                </a14:m>
                <a:r>
                  <a:rPr lang="zh-CN" altLang="en-US" dirty="0">
                    <a:latin typeface="微软雅黑" panose="020B0503020204020204" pitchFamily="34" charset="-122"/>
                    <a:ea typeface="微软雅黑" panose="020B0503020204020204" pitchFamily="34" charset="-122"/>
                    <a:sym typeface="Arial" panose="020B0604020202020204" pitchFamily="34" charset="0"/>
                  </a:rPr>
                  <a:t>和预测值</a:t>
                </a:r>
                <a14:m>
                  <m:oMath xmlns:m="http://schemas.openxmlformats.org/officeDocument/2006/math">
                    <m:acc>
                      <m:accPr>
                        <m:chr m:val="̂"/>
                        <m:ctrlPr>
                          <a:rPr lang="en-US" altLang="zh-CN" i="1">
                            <a:latin typeface="Cambria Math" panose="02040503050406030204" pitchFamily="18" charset="0"/>
                            <a:ea typeface="微软雅黑" panose="020B0503020204020204" pitchFamily="34" charset="-122"/>
                            <a:sym typeface="Arial" panose="020B0604020202020204" pitchFamily="34" charset="0"/>
                          </a:rPr>
                        </m:ctrlPr>
                      </m:accPr>
                      <m:e>
                        <m:r>
                          <a:rPr lang="en-US" altLang="zh-CN" b="1" i="1">
                            <a:latin typeface="Cambria Math" panose="02040503050406030204" pitchFamily="18" charset="0"/>
                            <a:ea typeface="微软雅黑" panose="020B0503020204020204" pitchFamily="34" charset="-122"/>
                            <a:sym typeface="Arial" panose="020B0604020202020204" pitchFamily="34" charset="0"/>
                          </a:rPr>
                          <m:t>𝒚</m:t>
                        </m:r>
                      </m:e>
                    </m:acc>
                  </m:oMath>
                </a14:m>
                <a:r>
                  <a:rPr lang="zh-CN" altLang="en-US" dirty="0">
                    <a:latin typeface="微软雅黑" panose="020B0503020204020204" pitchFamily="34" charset="-122"/>
                    <a:ea typeface="微软雅黑" panose="020B0503020204020204" pitchFamily="34" charset="-122"/>
                    <a:sym typeface="Arial" panose="020B0604020202020204" pitchFamily="34" charset="0"/>
                  </a:rPr>
                  <a:t>的交叉熵被定义为：</a:t>
                </a:r>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微软雅黑" panose="020B0503020204020204" pitchFamily="34" charset="-122"/>
                          <a:sym typeface="Arial" panose="020B0604020202020204" pitchFamily="34" charset="0"/>
                        </a:rPr>
                        <m:t>𝐻</m:t>
                      </m:r>
                      <m:r>
                        <a:rPr lang="en-US" altLang="zh-CN" b="0" i="1" smtClean="0">
                          <a:latin typeface="Cambria Math" panose="02040503050406030204" pitchFamily="18" charset="0"/>
                          <a:ea typeface="微软雅黑" panose="020B0503020204020204" pitchFamily="34" charset="-122"/>
                          <a:sym typeface="Arial" panose="020B0604020202020204" pitchFamily="34" charset="0"/>
                        </a:rPr>
                        <m:t>(</m:t>
                      </m:r>
                      <m:r>
                        <a:rPr lang="en-US" altLang="zh-CN" b="0" i="1" smtClean="0">
                          <a:latin typeface="Cambria Math" panose="02040503050406030204" pitchFamily="18" charset="0"/>
                          <a:ea typeface="微软雅黑" panose="020B0503020204020204" pitchFamily="34" charset="-122"/>
                          <a:sym typeface="Arial" panose="020B0604020202020204" pitchFamily="34" charset="0"/>
                        </a:rPr>
                        <m:t>𝑝</m:t>
                      </m:r>
                      <m:r>
                        <a:rPr lang="en-US" altLang="zh-CN" b="0" i="1" smtClean="0">
                          <a:latin typeface="Cambria Math" panose="02040503050406030204" pitchFamily="18" charset="0"/>
                          <a:ea typeface="微软雅黑" panose="020B0503020204020204" pitchFamily="34" charset="-122"/>
                          <a:sym typeface="Arial" panose="020B0604020202020204" pitchFamily="34" charset="0"/>
                        </a:rPr>
                        <m:t>,</m:t>
                      </m:r>
                      <m:r>
                        <a:rPr lang="en-US" altLang="zh-CN" b="0" i="1" smtClean="0">
                          <a:latin typeface="Cambria Math" panose="02040503050406030204" pitchFamily="18" charset="0"/>
                          <a:ea typeface="微软雅黑" panose="020B0503020204020204" pitchFamily="34" charset="-122"/>
                          <a:sym typeface="Arial" panose="020B0604020202020204" pitchFamily="34" charset="0"/>
                        </a:rPr>
                        <m:t>𝑞</m:t>
                      </m:r>
                      <m:r>
                        <a:rPr lang="en-US" altLang="zh-CN" b="0" i="1" smtClean="0">
                          <a:latin typeface="Cambria Math" panose="02040503050406030204" pitchFamily="18" charset="0"/>
                          <a:ea typeface="微软雅黑" panose="020B0503020204020204" pitchFamily="34" charset="-122"/>
                          <a:sym typeface="Arial" panose="020B0604020202020204" pitchFamily="34" charset="0"/>
                        </a:rPr>
                        <m:t>)=−</m:t>
                      </m:r>
                      <m:nary>
                        <m:naryPr>
                          <m:chr m:val="∑"/>
                          <m:ctrlPr>
                            <a:rPr lang="en-US" altLang="zh-CN" i="1">
                              <a:latin typeface="Cambria Math" panose="02040503050406030204" pitchFamily="18" charset="0"/>
                              <a:ea typeface="微软雅黑" panose="020B0503020204020204" pitchFamily="34" charset="-122"/>
                              <a:sym typeface="Arial" panose="020B0604020202020204" pitchFamily="34" charset="0"/>
                            </a:rPr>
                          </m:ctrlPr>
                        </m:naryPr>
                        <m:sub>
                          <m:r>
                            <m:rPr>
                              <m:brk m:alnAt="23"/>
                            </m:rPr>
                            <a:rPr lang="en-US" altLang="zh-CN" i="1">
                              <a:latin typeface="Cambria Math" panose="02040503050406030204" pitchFamily="18" charset="0"/>
                              <a:ea typeface="微软雅黑" panose="020B0503020204020204" pitchFamily="34" charset="-122"/>
                              <a:sym typeface="Arial" panose="020B0604020202020204" pitchFamily="34" charset="0"/>
                            </a:rPr>
                            <m:t>𝑘</m:t>
                          </m:r>
                          <m:r>
                            <a:rPr lang="en-US" altLang="zh-CN" i="1">
                              <a:latin typeface="Cambria Math" panose="02040503050406030204" pitchFamily="18" charset="0"/>
                              <a:ea typeface="微软雅黑" panose="020B0503020204020204" pitchFamily="34" charset="-122"/>
                              <a:sym typeface="Arial" panose="020B0604020202020204" pitchFamily="34" charset="0"/>
                            </a:rPr>
                            <m:t>=1</m:t>
                          </m:r>
                        </m:sub>
                        <m:sup>
                          <m:r>
                            <a:rPr lang="en-US" altLang="zh-CN" i="1">
                              <a:latin typeface="Cambria Math" panose="02040503050406030204" pitchFamily="18" charset="0"/>
                              <a:ea typeface="微软雅黑" panose="020B0503020204020204" pitchFamily="34" charset="-122"/>
                              <a:sym typeface="Arial" panose="020B0604020202020204" pitchFamily="34" charset="0"/>
                            </a:rPr>
                            <m:t>|</m:t>
                          </m:r>
                          <m:r>
                            <a:rPr lang="en-US" altLang="zh-CN" i="1">
                              <a:latin typeface="Cambria Math" panose="02040503050406030204" pitchFamily="18" charset="0"/>
                              <a:ea typeface="微软雅黑" panose="020B0503020204020204" pitchFamily="34" charset="-122"/>
                              <a:sym typeface="Arial" panose="020B0604020202020204" pitchFamily="34" charset="0"/>
                            </a:rPr>
                            <m:t>𝑦</m:t>
                          </m:r>
                          <m:r>
                            <a:rPr lang="en-US" altLang="zh-CN" i="1">
                              <a:latin typeface="Cambria Math" panose="02040503050406030204" pitchFamily="18" charset="0"/>
                              <a:ea typeface="微软雅黑" panose="020B0503020204020204" pitchFamily="34" charset="-122"/>
                              <a:sym typeface="Arial" panose="020B0604020202020204" pitchFamily="34" charset="0"/>
                            </a:rPr>
                            <m:t>|</m:t>
                          </m:r>
                        </m:sup>
                        <m:e>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r>
                                <a:rPr lang="en-US" altLang="zh-CN" i="1">
                                  <a:latin typeface="Cambria Math" panose="02040503050406030204" pitchFamily="18" charset="0"/>
                                  <a:ea typeface="微软雅黑" panose="020B0503020204020204" pitchFamily="34" charset="-122"/>
                                  <a:sym typeface="Arial" panose="020B0604020202020204" pitchFamily="34" charset="0"/>
                                </a:rPr>
                                <m:t>𝑝</m:t>
                              </m:r>
                            </m:e>
                            <m:sub>
                              <m:r>
                                <a:rPr lang="en-US" altLang="zh-CN" i="1">
                                  <a:latin typeface="Cambria Math" panose="02040503050406030204" pitchFamily="18" charset="0"/>
                                  <a:ea typeface="微软雅黑" panose="020B0503020204020204" pitchFamily="34" charset="-122"/>
                                  <a:sym typeface="Arial" panose="020B0604020202020204" pitchFamily="34" charset="0"/>
                                </a:rPr>
                                <m:t>𝑘</m:t>
                              </m:r>
                            </m:sub>
                          </m:sSub>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r>
                                <a:rPr lang="en-US" altLang="zh-CN" i="1">
                                  <a:latin typeface="Cambria Math" panose="02040503050406030204" pitchFamily="18" charset="0"/>
                                  <a:ea typeface="微软雅黑" panose="020B0503020204020204" pitchFamily="34" charset="-122"/>
                                  <a:sym typeface="Arial" panose="020B0604020202020204" pitchFamily="34" charset="0"/>
                                </a:rPr>
                                <m:t>𝑙𝑜𝑔</m:t>
                              </m:r>
                            </m:e>
                            <m:sub>
                              <m:r>
                                <a:rPr lang="en-US" altLang="zh-CN" i="1">
                                  <a:latin typeface="Cambria Math" panose="02040503050406030204" pitchFamily="18" charset="0"/>
                                  <a:ea typeface="微软雅黑" panose="020B0503020204020204" pitchFamily="34" charset="-122"/>
                                  <a:sym typeface="Arial" panose="020B0604020202020204" pitchFamily="34" charset="0"/>
                                </a:rPr>
                                <m:t>2</m:t>
                              </m:r>
                            </m:sub>
                          </m:sSub>
                          <m:r>
                            <a:rPr lang="en-US" altLang="zh-CN" i="1">
                              <a:latin typeface="Cambria Math" panose="02040503050406030204" pitchFamily="18" charset="0"/>
                              <a:ea typeface="微软雅黑" panose="020B0503020204020204" pitchFamily="34" charset="-122"/>
                              <a:sym typeface="Arial" panose="020B0604020202020204" pitchFamily="34" charset="0"/>
                            </a:rPr>
                            <m:t>(</m:t>
                          </m:r>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r>
                                <a:rPr lang="en-US" altLang="zh-CN" b="0" i="1" smtClean="0">
                                  <a:latin typeface="Cambria Math" panose="02040503050406030204" pitchFamily="18" charset="0"/>
                                  <a:ea typeface="微软雅黑" panose="020B0503020204020204" pitchFamily="34" charset="-122"/>
                                  <a:sym typeface="Arial" panose="020B0604020202020204" pitchFamily="34" charset="0"/>
                                </a:rPr>
                                <m:t>𝑞</m:t>
                              </m:r>
                            </m:e>
                            <m:sub>
                              <m:r>
                                <a:rPr lang="en-US" altLang="zh-CN" i="1">
                                  <a:latin typeface="Cambria Math" panose="02040503050406030204" pitchFamily="18" charset="0"/>
                                  <a:ea typeface="微软雅黑" panose="020B0503020204020204" pitchFamily="34" charset="-122"/>
                                  <a:sym typeface="Arial" panose="020B0604020202020204" pitchFamily="34" charset="0"/>
                                </a:rPr>
                                <m:t>𝑘</m:t>
                              </m:r>
                            </m:sub>
                          </m:sSub>
                          <m:r>
                            <a:rPr lang="en-US" altLang="zh-CN" i="1">
                              <a:latin typeface="Cambria Math" panose="02040503050406030204" pitchFamily="18" charset="0"/>
                              <a:ea typeface="微软雅黑" panose="020B0503020204020204" pitchFamily="34" charset="-122"/>
                              <a:sym typeface="Arial" panose="020B0604020202020204" pitchFamily="34" charset="0"/>
                            </a:rPr>
                            <m:t>)</m:t>
                          </m:r>
                        </m:e>
                      </m:nary>
                    </m:oMath>
                  </m:oMathPara>
                </a14:m>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dirty="0">
                    <a:latin typeface="微软雅黑" panose="020B0503020204020204" pitchFamily="34" charset="-122"/>
                    <a:ea typeface="微软雅黑" panose="020B0503020204020204" pitchFamily="34" charset="-122"/>
                    <a:sym typeface="Arial" panose="020B0604020202020204" pitchFamily="34" charset="0"/>
                  </a:rPr>
                  <a:t>交叉熵的值越小就表明两个分布越接近，也就是说分类效果越好。</a:t>
                </a:r>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a:p>
                <a:endParaRPr lang="en-US" altLang="zh-CN" sz="1100" dirty="0">
                  <a:latin typeface="微软雅黑" panose="020B0503020204020204" pitchFamily="34" charset="-122"/>
                  <a:ea typeface="微软雅黑" panose="020B0503020204020204" pitchFamily="34" charset="-122"/>
                  <a:sym typeface="Arial" panose="020B0604020202020204" pitchFamily="34" charset="0"/>
                </a:endParaRPr>
              </a:p>
              <a:p>
                <a:endParaRPr lang="en-US" altLang="zh-CN" dirty="0">
                  <a:latin typeface="微软雅黑" panose="020B0503020204020204" pitchFamily="34" charset="-122"/>
                  <a:ea typeface="微软雅黑" panose="020B0503020204020204" pitchFamily="34" charset="-122"/>
                  <a:sym typeface="Wingdings" panose="05000000000000000000" pitchFamily="2" charset="2"/>
                </a:endParaRPr>
              </a:p>
              <a:p>
                <a:endParaRPr lang="en-US" altLang="zh-CN" b="1" dirty="0">
                  <a:latin typeface="微软雅黑" panose="020B0503020204020204" pitchFamily="34" charset="-122"/>
                  <a:ea typeface="微软雅黑" panose="020B0503020204020204" pitchFamily="34" charset="-122"/>
                  <a:sym typeface="Arial" panose="020B0604020202020204" pitchFamily="34" charset="0"/>
                </a:endParaRPr>
              </a:p>
              <a:p>
                <a:endParaRPr lang="en-US" altLang="zh-CN" b="1" dirty="0">
                  <a:latin typeface="微软雅黑" panose="020B0503020204020204" pitchFamily="34" charset="-122"/>
                  <a:ea typeface="微软雅黑" panose="020B0503020204020204" pitchFamily="34" charset="-122"/>
                  <a:sym typeface="Arial" panose="020B0604020202020204" pitchFamily="34" charset="0"/>
                </a:endParaRPr>
              </a:p>
              <a:p>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p:txBody>
          </p:sp>
        </mc:Choice>
        <mc:Fallback xmlns="">
          <p:sp>
            <p:nvSpPr>
              <p:cNvPr id="6" name="矩形 5"/>
              <p:cNvSpPr>
                <a:spLocks noRot="1" noChangeAspect="1" noMove="1" noResize="1" noEditPoints="1" noAdjustHandles="1" noChangeArrowheads="1" noChangeShapeType="1" noTextEdit="1"/>
              </p:cNvSpPr>
              <p:nvPr/>
            </p:nvSpPr>
            <p:spPr>
              <a:xfrm>
                <a:off x="207132" y="287039"/>
                <a:ext cx="8667750" cy="7894341"/>
              </a:xfrm>
              <a:prstGeom prst="rect">
                <a:avLst/>
              </a:prstGeom>
              <a:blipFill>
                <a:blip r:embed="rId3"/>
                <a:stretch>
                  <a:fillRect l="-633" r="-2391"/>
                </a:stretch>
              </a:blipFill>
            </p:spPr>
            <p:txBody>
              <a:bodyPr/>
              <a:lstStyle/>
              <a:p>
                <a:r>
                  <a:rPr lang="zh-CN" altLang="en-US">
                    <a:noFill/>
                  </a:rPr>
                  <a:t> </a:t>
                </a:r>
              </a:p>
            </p:txBody>
          </p:sp>
        </mc:Fallback>
      </mc:AlternateContent>
      <p:sp>
        <p:nvSpPr>
          <p:cNvPr id="7" name="页脚占位符 2">
            <a:extLst>
              <a:ext uri="{FF2B5EF4-FFF2-40B4-BE49-F238E27FC236}">
                <a16:creationId xmlns:a16="http://schemas.microsoft.com/office/drawing/2014/main" id="{294CD5DE-2D56-4638-850F-818B07F3FF09}"/>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Tree>
    <p:extLst>
      <p:ext uri="{BB962C8B-B14F-4D97-AF65-F5344CB8AC3E}">
        <p14:creationId xmlns:p14="http://schemas.microsoft.com/office/powerpoint/2010/main" val="33768999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27</a:t>
            </a:fld>
            <a:endParaRPr lang="en-US" altLang="zh-CN"/>
          </a:p>
        </p:txBody>
      </p:sp>
      <p:sp>
        <p:nvSpPr>
          <p:cNvPr id="5" name="文本框 4"/>
          <p:cNvSpPr txBox="1"/>
          <p:nvPr/>
        </p:nvSpPr>
        <p:spPr>
          <a:xfrm>
            <a:off x="162560" y="519608"/>
            <a:ext cx="8371840" cy="738664"/>
          </a:xfrm>
          <a:prstGeom prst="rect">
            <a:avLst/>
          </a:prstGeom>
          <a:noFill/>
        </p:spPr>
        <p:txBody>
          <a:bodyPr wrap="square" rtlCol="0">
            <a:spAutoFit/>
          </a:bodyPr>
          <a:lstStyle/>
          <a:p>
            <a:r>
              <a:rPr lang="zh-CN" altLang="en-US" sz="2400"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试一试</a:t>
            </a:r>
            <a:endParaRPr lang="en-US" altLang="zh-CN" sz="2400"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页脚占位符 2">
            <a:extLst>
              <a:ext uri="{FF2B5EF4-FFF2-40B4-BE49-F238E27FC236}">
                <a16:creationId xmlns:a16="http://schemas.microsoft.com/office/drawing/2014/main" id="{ECD93FB7-8D36-42CA-83E5-5911A4AA7FCA}"/>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
        <p:nvSpPr>
          <p:cNvPr id="4" name="文本框 3">
            <a:extLst>
              <a:ext uri="{FF2B5EF4-FFF2-40B4-BE49-F238E27FC236}">
                <a16:creationId xmlns:a16="http://schemas.microsoft.com/office/drawing/2014/main" id="{C29AE8AF-D807-4392-A359-825DD64C7E4A}"/>
              </a:ext>
            </a:extLst>
          </p:cNvPr>
          <p:cNvSpPr txBox="1"/>
          <p:nvPr/>
        </p:nvSpPr>
        <p:spPr>
          <a:xfrm>
            <a:off x="81280" y="926837"/>
            <a:ext cx="8981440" cy="458908"/>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在计算机中随机生成训练数据，训练逻辑回归模型，计算逻辑回归的交叉熵损失函数值</a:t>
            </a:r>
          </a:p>
        </p:txBody>
      </p:sp>
      <p:pic>
        <p:nvPicPr>
          <p:cNvPr id="3" name="图片 2">
            <a:extLst>
              <a:ext uri="{FF2B5EF4-FFF2-40B4-BE49-F238E27FC236}">
                <a16:creationId xmlns:a16="http://schemas.microsoft.com/office/drawing/2014/main" id="{BE78FC9F-0CB1-4CEA-AD8C-71828A7EEC47}"/>
              </a:ext>
            </a:extLst>
          </p:cNvPr>
          <p:cNvPicPr>
            <a:picLocks noChangeAspect="1"/>
          </p:cNvPicPr>
          <p:nvPr/>
        </p:nvPicPr>
        <p:blipFill>
          <a:blip r:embed="rId3"/>
          <a:stretch>
            <a:fillRect/>
          </a:stretch>
        </p:blipFill>
        <p:spPr>
          <a:xfrm>
            <a:off x="1610360" y="1385745"/>
            <a:ext cx="6327156" cy="5301570"/>
          </a:xfrm>
          <a:prstGeom prst="rect">
            <a:avLst/>
          </a:prstGeom>
        </p:spPr>
      </p:pic>
    </p:spTree>
    <p:extLst>
      <p:ext uri="{BB962C8B-B14F-4D97-AF65-F5344CB8AC3E}">
        <p14:creationId xmlns:p14="http://schemas.microsoft.com/office/powerpoint/2010/main" val="35803926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28</a:t>
            </a:fld>
            <a:endParaRPr lang="en-US" altLang="zh-CN"/>
          </a:p>
        </p:txBody>
      </p:sp>
      <p:sp>
        <p:nvSpPr>
          <p:cNvPr id="9"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731974"/>
          </a:xfrm>
        </p:spPr>
        <p:txBody>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分类问题的性能度量</a:t>
            </a:r>
          </a:p>
        </p:txBody>
      </p:sp>
      <p:sp>
        <p:nvSpPr>
          <p:cNvPr id="5" name="文本框 4"/>
          <p:cNvSpPr txBox="1"/>
          <p:nvPr/>
        </p:nvSpPr>
        <p:spPr>
          <a:xfrm>
            <a:off x="295910" y="1265841"/>
            <a:ext cx="8371840" cy="3000821"/>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sym typeface="Arial" panose="020B0604020202020204" pitchFamily="34" charset="0"/>
              </a:rPr>
              <a:t>我们可以用</a:t>
            </a:r>
            <a:r>
              <a:rPr lang="zh-CN" altLang="en-US" b="1" dirty="0">
                <a:latin typeface="微软雅黑" panose="020B0503020204020204" pitchFamily="34" charset="-122"/>
                <a:ea typeface="微软雅黑" panose="020B0503020204020204" pitchFamily="34" charset="-122"/>
                <a:sym typeface="Arial" panose="020B0604020202020204" pitchFamily="34" charset="0"/>
              </a:rPr>
              <a:t>准确率（</a:t>
            </a:r>
            <a:r>
              <a:rPr lang="en-US" altLang="zh-CN" b="1" dirty="0">
                <a:latin typeface="微软雅黑" panose="020B0503020204020204" pitchFamily="34" charset="-122"/>
                <a:ea typeface="微软雅黑" panose="020B0503020204020204" pitchFamily="34" charset="-122"/>
                <a:sym typeface="Arial" panose="020B0604020202020204" pitchFamily="34" charset="0"/>
              </a:rPr>
              <a:t>accuracy</a:t>
            </a:r>
            <a:r>
              <a:rPr lang="zh-CN" altLang="en-US" b="1" dirty="0">
                <a:latin typeface="微软雅黑" panose="020B0503020204020204" pitchFamily="34" charset="-122"/>
                <a:ea typeface="微软雅黑" panose="020B0503020204020204" pitchFamily="34" charset="-122"/>
                <a:sym typeface="Arial" panose="020B0604020202020204" pitchFamily="34" charset="0"/>
              </a:rPr>
              <a:t>）、精确率（</a:t>
            </a:r>
            <a:r>
              <a:rPr lang="en-US" altLang="zh-CN" b="1" dirty="0">
                <a:latin typeface="微软雅黑" panose="020B0503020204020204" pitchFamily="34" charset="-122"/>
                <a:ea typeface="微软雅黑" panose="020B0503020204020204" pitchFamily="34" charset="-122"/>
                <a:sym typeface="Arial" panose="020B0604020202020204" pitchFamily="34" charset="0"/>
              </a:rPr>
              <a:t>precision</a:t>
            </a:r>
            <a:r>
              <a:rPr lang="zh-CN" altLang="en-US" b="1" dirty="0">
                <a:latin typeface="微软雅黑" panose="020B0503020204020204" pitchFamily="34" charset="-122"/>
                <a:ea typeface="微软雅黑" panose="020B0503020204020204" pitchFamily="34" charset="-122"/>
                <a:sym typeface="Arial" panose="020B0604020202020204" pitchFamily="34" charset="0"/>
              </a:rPr>
              <a:t>）、召回率（</a:t>
            </a:r>
            <a:r>
              <a:rPr lang="en-US" altLang="zh-CN" b="1" dirty="0">
                <a:latin typeface="微软雅黑" panose="020B0503020204020204" pitchFamily="34" charset="-122"/>
                <a:ea typeface="微软雅黑" panose="020B0503020204020204" pitchFamily="34" charset="-122"/>
                <a:sym typeface="Arial" panose="020B0604020202020204" pitchFamily="34" charset="0"/>
              </a:rPr>
              <a:t>recall</a:t>
            </a:r>
            <a:r>
              <a:rPr lang="zh-CN" altLang="en-US" b="1" dirty="0">
                <a:latin typeface="微软雅黑" panose="020B0503020204020204" pitchFamily="34" charset="-122"/>
                <a:ea typeface="微软雅黑" panose="020B0503020204020204" pitchFamily="34" charset="-122"/>
                <a:sym typeface="Arial" panose="020B0604020202020204" pitchFamily="34" charset="0"/>
              </a:rPr>
              <a:t>）和</a:t>
            </a:r>
            <a:r>
              <a:rPr lang="en-US" altLang="zh-CN" b="1" dirty="0">
                <a:latin typeface="微软雅黑" panose="020B0503020204020204" pitchFamily="34" charset="-122"/>
                <a:ea typeface="微软雅黑" panose="020B0503020204020204" pitchFamily="34" charset="-122"/>
                <a:sym typeface="Arial" panose="020B0604020202020204" pitchFamily="34" charset="0"/>
              </a:rPr>
              <a:t>F1-score</a:t>
            </a:r>
            <a:r>
              <a:rPr lang="zh-CN" altLang="en-US" dirty="0">
                <a:latin typeface="微软雅黑" panose="020B0503020204020204" pitchFamily="34" charset="-122"/>
                <a:ea typeface="微软雅黑" panose="020B0503020204020204" pitchFamily="34" charset="-122"/>
                <a:sym typeface="Arial" panose="020B0604020202020204" pitchFamily="34" charset="0"/>
              </a:rPr>
              <a:t>来度量分类的准确性。</a:t>
            </a:r>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dirty="0">
                <a:latin typeface="微软雅黑" panose="020B0503020204020204" pitchFamily="34" charset="-122"/>
                <a:ea typeface="微软雅黑" panose="020B0503020204020204" pitchFamily="34" charset="-122"/>
                <a:sym typeface="Arial" panose="020B0604020202020204" pitchFamily="34" charset="0"/>
              </a:rPr>
              <a:t>以二分类问题为例，模型的分类结果与真实情况相比会出现四种情况：真正类（</a:t>
            </a:r>
            <a:r>
              <a:rPr lang="en-US" altLang="zh-CN" dirty="0">
                <a:latin typeface="微软雅黑" panose="020B0503020204020204" pitchFamily="34" charset="-122"/>
                <a:ea typeface="微软雅黑" panose="020B0503020204020204" pitchFamily="34" charset="-122"/>
                <a:sym typeface="Arial" panose="020B0604020202020204" pitchFamily="34" charset="0"/>
              </a:rPr>
              <a:t>true positive</a:t>
            </a:r>
            <a:r>
              <a:rPr lang="zh-CN" altLang="en-US" dirty="0">
                <a:latin typeface="微软雅黑" panose="020B0503020204020204" pitchFamily="34" charset="-122"/>
                <a:ea typeface="微软雅黑" panose="020B0503020204020204" pitchFamily="34" charset="-122"/>
                <a:sym typeface="Arial" panose="020B0604020202020204" pitchFamily="34" charset="0"/>
              </a:rPr>
              <a:t>，</a:t>
            </a:r>
            <a:r>
              <a:rPr lang="en-US" altLang="zh-CN" dirty="0">
                <a:latin typeface="微软雅黑" panose="020B0503020204020204" pitchFamily="34" charset="-122"/>
                <a:ea typeface="微软雅黑" panose="020B0503020204020204" pitchFamily="34" charset="-122"/>
                <a:sym typeface="Arial" panose="020B0604020202020204" pitchFamily="34" charset="0"/>
              </a:rPr>
              <a:t>TP</a:t>
            </a:r>
            <a:r>
              <a:rPr lang="zh-CN" altLang="en-US" dirty="0">
                <a:latin typeface="微软雅黑" panose="020B0503020204020204" pitchFamily="34" charset="-122"/>
                <a:ea typeface="微软雅黑" panose="020B0503020204020204" pitchFamily="34" charset="-122"/>
                <a:sym typeface="Arial" panose="020B0604020202020204" pitchFamily="34" charset="0"/>
              </a:rPr>
              <a:t>），即将正类预测为正类的情况、假正类（</a:t>
            </a:r>
            <a:r>
              <a:rPr lang="en-US" altLang="zh-CN" dirty="0">
                <a:latin typeface="微软雅黑" panose="020B0503020204020204" pitchFamily="34" charset="-122"/>
                <a:ea typeface="微软雅黑" panose="020B0503020204020204" pitchFamily="34" charset="-122"/>
                <a:sym typeface="Arial" panose="020B0604020202020204" pitchFamily="34" charset="0"/>
              </a:rPr>
              <a:t>false positive</a:t>
            </a:r>
            <a:r>
              <a:rPr lang="zh-CN" altLang="en-US" dirty="0">
                <a:latin typeface="微软雅黑" panose="020B0503020204020204" pitchFamily="34" charset="-122"/>
                <a:ea typeface="微软雅黑" panose="020B0503020204020204" pitchFamily="34" charset="-122"/>
                <a:sym typeface="Arial" panose="020B0604020202020204" pitchFamily="34" charset="0"/>
              </a:rPr>
              <a:t>，</a:t>
            </a:r>
            <a:r>
              <a:rPr lang="en-US" altLang="zh-CN" dirty="0">
                <a:latin typeface="微软雅黑" panose="020B0503020204020204" pitchFamily="34" charset="-122"/>
                <a:ea typeface="微软雅黑" panose="020B0503020204020204" pitchFamily="34" charset="-122"/>
                <a:sym typeface="Arial" panose="020B0604020202020204" pitchFamily="34" charset="0"/>
              </a:rPr>
              <a:t>FP</a:t>
            </a:r>
            <a:r>
              <a:rPr lang="zh-CN" altLang="en-US" dirty="0">
                <a:latin typeface="微软雅黑" panose="020B0503020204020204" pitchFamily="34" charset="-122"/>
                <a:ea typeface="微软雅黑" panose="020B0503020204020204" pitchFamily="34" charset="-122"/>
                <a:sym typeface="Arial" panose="020B0604020202020204" pitchFamily="34" charset="0"/>
              </a:rPr>
              <a:t>），即将负类预测为正类的情况、假负类（</a:t>
            </a:r>
            <a:r>
              <a:rPr lang="en-US" altLang="zh-CN" dirty="0">
                <a:latin typeface="微软雅黑" panose="020B0503020204020204" pitchFamily="34" charset="-122"/>
                <a:ea typeface="微软雅黑" panose="020B0503020204020204" pitchFamily="34" charset="-122"/>
                <a:sym typeface="Arial" panose="020B0604020202020204" pitchFamily="34" charset="0"/>
              </a:rPr>
              <a:t>false negative</a:t>
            </a:r>
            <a:r>
              <a:rPr lang="zh-CN" altLang="en-US" dirty="0">
                <a:latin typeface="微软雅黑" panose="020B0503020204020204" pitchFamily="34" charset="-122"/>
                <a:ea typeface="微软雅黑" panose="020B0503020204020204" pitchFamily="34" charset="-122"/>
                <a:sym typeface="Arial" panose="020B0604020202020204" pitchFamily="34" charset="0"/>
              </a:rPr>
              <a:t>，</a:t>
            </a:r>
            <a:r>
              <a:rPr lang="en-US" altLang="zh-CN" dirty="0">
                <a:latin typeface="微软雅黑" panose="020B0503020204020204" pitchFamily="34" charset="-122"/>
                <a:ea typeface="微软雅黑" panose="020B0503020204020204" pitchFamily="34" charset="-122"/>
                <a:sym typeface="Arial" panose="020B0604020202020204" pitchFamily="34" charset="0"/>
              </a:rPr>
              <a:t>FN</a:t>
            </a:r>
            <a:r>
              <a:rPr lang="zh-CN" altLang="en-US" dirty="0">
                <a:latin typeface="微软雅黑" panose="020B0503020204020204" pitchFamily="34" charset="-122"/>
                <a:ea typeface="微软雅黑" panose="020B0503020204020204" pitchFamily="34" charset="-122"/>
                <a:sym typeface="Arial" panose="020B0604020202020204" pitchFamily="34" charset="0"/>
              </a:rPr>
              <a:t>），即将正类预测为负类的情况、真负类（</a:t>
            </a:r>
            <a:r>
              <a:rPr lang="en-US" altLang="zh-CN" dirty="0">
                <a:latin typeface="微软雅黑" panose="020B0503020204020204" pitchFamily="34" charset="-122"/>
                <a:ea typeface="微软雅黑" panose="020B0503020204020204" pitchFamily="34" charset="-122"/>
                <a:sym typeface="Arial" panose="020B0604020202020204" pitchFamily="34" charset="0"/>
              </a:rPr>
              <a:t>true negative</a:t>
            </a:r>
            <a:r>
              <a:rPr lang="zh-CN" altLang="en-US" dirty="0">
                <a:latin typeface="微软雅黑" panose="020B0503020204020204" pitchFamily="34" charset="-122"/>
                <a:ea typeface="微软雅黑" panose="020B0503020204020204" pitchFamily="34" charset="-122"/>
                <a:sym typeface="Arial" panose="020B0604020202020204" pitchFamily="34" charset="0"/>
              </a:rPr>
              <a:t>，</a:t>
            </a:r>
            <a:r>
              <a:rPr lang="en-US" altLang="zh-CN" dirty="0">
                <a:latin typeface="微软雅黑" panose="020B0503020204020204" pitchFamily="34" charset="-122"/>
                <a:ea typeface="微软雅黑" panose="020B0503020204020204" pitchFamily="34" charset="-122"/>
                <a:sym typeface="Arial" panose="020B0604020202020204" pitchFamily="34" charset="0"/>
              </a:rPr>
              <a:t>TN</a:t>
            </a:r>
            <a:r>
              <a:rPr lang="zh-CN" altLang="en-US" dirty="0">
                <a:latin typeface="微软雅黑" panose="020B0503020204020204" pitchFamily="34" charset="-122"/>
                <a:ea typeface="微软雅黑" panose="020B0503020204020204" pitchFamily="34" charset="-122"/>
                <a:sym typeface="Arial" panose="020B0604020202020204" pitchFamily="34" charset="0"/>
              </a:rPr>
              <a:t>），即将负类预测为负类的情况</a:t>
            </a:r>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2640030413"/>
              </p:ext>
            </p:extLst>
          </p:nvPr>
        </p:nvGraphicFramePr>
        <p:xfrm>
          <a:off x="3077209" y="4572000"/>
          <a:ext cx="2809242" cy="1600200"/>
        </p:xfrm>
        <a:graphic>
          <a:graphicData uri="http://schemas.openxmlformats.org/drawingml/2006/table">
            <a:tbl>
              <a:tblPr firstRow="1" bandRow="1">
                <a:tableStyleId>{5C22544A-7EE6-4342-B048-85BDC9FD1C3A}</a:tableStyleId>
              </a:tblPr>
              <a:tblGrid>
                <a:gridCol w="1404621">
                  <a:extLst>
                    <a:ext uri="{9D8B030D-6E8A-4147-A177-3AD203B41FA5}">
                      <a16:colId xmlns:a16="http://schemas.microsoft.com/office/drawing/2014/main" val="773806706"/>
                    </a:ext>
                  </a:extLst>
                </a:gridCol>
                <a:gridCol w="1404621">
                  <a:extLst>
                    <a:ext uri="{9D8B030D-6E8A-4147-A177-3AD203B41FA5}">
                      <a16:colId xmlns:a16="http://schemas.microsoft.com/office/drawing/2014/main" val="381689834"/>
                    </a:ext>
                  </a:extLst>
                </a:gridCol>
              </a:tblGrid>
              <a:tr h="800100">
                <a:tc>
                  <a:txBody>
                    <a:bodyPr/>
                    <a:lstStyle/>
                    <a:p>
                      <a:pPr algn="ctr"/>
                      <a:r>
                        <a:rPr lang="en-US" altLang="zh-CN" dirty="0"/>
                        <a:t>TP</a:t>
                      </a:r>
                      <a:endParaRPr lang="zh-CN" altLang="en-US" dirty="0"/>
                    </a:p>
                  </a:txBody>
                  <a:tcPr anchor="ctr">
                    <a:solidFill>
                      <a:srgbClr val="0070C0"/>
                    </a:solidFill>
                  </a:tcPr>
                </a:tc>
                <a:tc>
                  <a:txBody>
                    <a:bodyPr/>
                    <a:lstStyle/>
                    <a:p>
                      <a:pPr algn="ctr"/>
                      <a:r>
                        <a:rPr lang="en-US" altLang="zh-CN" dirty="0">
                          <a:solidFill>
                            <a:schemeClr val="tx1"/>
                          </a:solidFill>
                        </a:rPr>
                        <a:t>FN</a:t>
                      </a:r>
                      <a:endParaRPr lang="zh-CN" altLang="en-US" dirty="0">
                        <a:solidFill>
                          <a:schemeClr val="tx1"/>
                        </a:solidFill>
                      </a:endParaRPr>
                    </a:p>
                  </a:txBody>
                  <a:tcPr anchor="ctr">
                    <a:solidFill>
                      <a:schemeClr val="accent5"/>
                    </a:solidFill>
                  </a:tcPr>
                </a:tc>
                <a:extLst>
                  <a:ext uri="{0D108BD9-81ED-4DB2-BD59-A6C34878D82A}">
                    <a16:rowId xmlns:a16="http://schemas.microsoft.com/office/drawing/2014/main" val="2240900346"/>
                  </a:ext>
                </a:extLst>
              </a:tr>
              <a:tr h="800100">
                <a:tc>
                  <a:txBody>
                    <a:bodyPr/>
                    <a:lstStyle/>
                    <a:p>
                      <a:pPr algn="ctr"/>
                      <a:r>
                        <a:rPr lang="en-US" altLang="zh-CN" b="1" dirty="0"/>
                        <a:t>FP</a:t>
                      </a:r>
                      <a:endParaRPr lang="zh-CN" altLang="en-US" b="1" dirty="0"/>
                    </a:p>
                  </a:txBody>
                  <a:tcPr anchor="ctr">
                    <a:solidFill>
                      <a:schemeClr val="accent5"/>
                    </a:solidFill>
                  </a:tcPr>
                </a:tc>
                <a:tc>
                  <a:txBody>
                    <a:bodyPr/>
                    <a:lstStyle/>
                    <a:p>
                      <a:pPr algn="ctr"/>
                      <a:r>
                        <a:rPr lang="en-US" altLang="zh-CN" b="1" dirty="0">
                          <a:solidFill>
                            <a:schemeClr val="bg1"/>
                          </a:solidFill>
                        </a:rPr>
                        <a:t>TN</a:t>
                      </a:r>
                      <a:endParaRPr lang="zh-CN" altLang="en-US" b="1" dirty="0">
                        <a:solidFill>
                          <a:schemeClr val="bg1"/>
                        </a:solidFill>
                      </a:endParaRPr>
                    </a:p>
                  </a:txBody>
                  <a:tcPr anchor="ctr">
                    <a:solidFill>
                      <a:srgbClr val="0070C0"/>
                    </a:solidFill>
                  </a:tcPr>
                </a:tc>
                <a:extLst>
                  <a:ext uri="{0D108BD9-81ED-4DB2-BD59-A6C34878D82A}">
                    <a16:rowId xmlns:a16="http://schemas.microsoft.com/office/drawing/2014/main" val="3784386253"/>
                  </a:ext>
                </a:extLst>
              </a:tr>
            </a:tbl>
          </a:graphicData>
        </a:graphic>
      </p:graphicFrame>
      <p:sp>
        <p:nvSpPr>
          <p:cNvPr id="8" name="页脚占位符 2">
            <a:extLst>
              <a:ext uri="{FF2B5EF4-FFF2-40B4-BE49-F238E27FC236}">
                <a16:creationId xmlns:a16="http://schemas.microsoft.com/office/drawing/2014/main" id="{17EA7575-5B74-4B96-BEC1-002E9EC44A70}"/>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Tree>
    <p:extLst>
      <p:ext uri="{BB962C8B-B14F-4D97-AF65-F5344CB8AC3E}">
        <p14:creationId xmlns:p14="http://schemas.microsoft.com/office/powerpoint/2010/main" val="42467821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29</a:t>
            </a:fld>
            <a:endParaRPr lang="en-US" altLang="zh-CN"/>
          </a:p>
        </p:txBody>
      </p:sp>
      <p:sp>
        <p:nvSpPr>
          <p:cNvPr id="9"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731974"/>
          </a:xfrm>
        </p:spPr>
        <p:txBody>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分类问题的性能度量</a:t>
            </a:r>
          </a:p>
        </p:txBody>
      </p:sp>
      <mc:AlternateContent xmlns:mc="http://schemas.openxmlformats.org/markup-compatibility/2006" xmlns:a14="http://schemas.microsoft.com/office/drawing/2010/main">
        <mc:Choice Requires="a14">
          <p:sp>
            <p:nvSpPr>
              <p:cNvPr id="4" name="文本框 3"/>
              <p:cNvSpPr txBox="1"/>
              <p:nvPr/>
            </p:nvSpPr>
            <p:spPr>
              <a:xfrm>
                <a:off x="349783" y="3942664"/>
                <a:ext cx="8622681" cy="2739083"/>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）精确率</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精确率是</a:t>
                </a:r>
                <a:r>
                  <a:rPr lang="zh-CN" altLang="en-US" b="1" dirty="0">
                    <a:latin typeface="微软雅黑" panose="020B0503020204020204" pitchFamily="34" charset="-122"/>
                    <a:ea typeface="微软雅黑" panose="020B0503020204020204" pitchFamily="34" charset="-122"/>
                  </a:rPr>
                  <a:t>模型预测为正的样本</a:t>
                </a:r>
                <a:r>
                  <a:rPr lang="zh-CN" altLang="en-US" dirty="0">
                    <a:latin typeface="微软雅黑" panose="020B0503020204020204" pitchFamily="34" charset="-122"/>
                    <a:ea typeface="微软雅黑" panose="020B0503020204020204" pitchFamily="34" charset="-122"/>
                  </a:rPr>
                  <a:t>中，预测正确比例</a:t>
                </a:r>
                <a:endParaRPr lang="en-US" altLang="zh-CN" dirty="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微软雅黑" panose="020B0503020204020204" pitchFamily="34" charset="-122"/>
                        </a:rPr>
                        <m:t>𝑃𝑟𝑒𝑐𝑖𝑠𝑖𝑜𝑛</m:t>
                      </m:r>
                      <m:r>
                        <a:rPr lang="en-US" altLang="zh-CN" b="0" i="1" smtClean="0">
                          <a:latin typeface="Cambria Math" panose="02040503050406030204" pitchFamily="18" charset="0"/>
                          <a:ea typeface="微软雅黑" panose="020B0503020204020204" pitchFamily="34" charset="-122"/>
                        </a:rPr>
                        <m:t>=</m:t>
                      </m:r>
                      <m:f>
                        <m:fPr>
                          <m:ctrlPr>
                            <a:rPr lang="en-US" altLang="zh-CN" b="0" i="1" smtClean="0">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𝑇𝑃</m:t>
                          </m:r>
                        </m:num>
                        <m:den>
                          <m:r>
                            <a:rPr lang="en-US" altLang="zh-CN" b="0" i="1" smtClean="0">
                              <a:latin typeface="Cambria Math" panose="02040503050406030204" pitchFamily="18" charset="0"/>
                              <a:ea typeface="微软雅黑" panose="020B0503020204020204" pitchFamily="34" charset="-122"/>
                            </a:rPr>
                            <m:t>𝑇𝑃</m:t>
                          </m:r>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𝐹𝑃</m:t>
                          </m:r>
                        </m:den>
                      </m:f>
                    </m:oMath>
                  </m:oMathPara>
                </a14:m>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）召回率</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召回率是</a:t>
                </a:r>
                <a:r>
                  <a:rPr lang="zh-CN" altLang="en-US" b="1" dirty="0">
                    <a:latin typeface="微软雅黑" panose="020B0503020204020204" pitchFamily="34" charset="-122"/>
                    <a:ea typeface="微软雅黑" panose="020B0503020204020204" pitchFamily="34" charset="-122"/>
                  </a:rPr>
                  <a:t>所有正类样本</a:t>
                </a:r>
                <a:r>
                  <a:rPr lang="zh-CN" altLang="en-US" dirty="0">
                    <a:latin typeface="微软雅黑" panose="020B0503020204020204" pitchFamily="34" charset="-122"/>
                    <a:ea typeface="微软雅黑" panose="020B0503020204020204" pitchFamily="34" charset="-122"/>
                  </a:rPr>
                  <a:t>被识别正确的比例</a:t>
                </a:r>
                <a:endParaRPr lang="en-US" altLang="zh-CN" dirty="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微软雅黑" panose="020B0503020204020204" pitchFamily="34" charset="-122"/>
                        </a:rPr>
                        <m:t>𝑅𝑒𝑐𝑎𝑙𝑙</m:t>
                      </m:r>
                      <m:r>
                        <a:rPr lang="en-US" altLang="zh-CN" i="1">
                          <a:latin typeface="Cambria Math" panose="02040503050406030204" pitchFamily="18" charset="0"/>
                          <a:ea typeface="微软雅黑" panose="020B0503020204020204" pitchFamily="34" charset="-122"/>
                        </a:rPr>
                        <m:t>=</m:t>
                      </m:r>
                      <m:f>
                        <m:fPr>
                          <m:ctrlPr>
                            <a:rPr lang="en-US" altLang="zh-CN" i="1">
                              <a:latin typeface="Cambria Math" panose="02040503050406030204" pitchFamily="18" charset="0"/>
                              <a:ea typeface="微软雅黑" panose="020B0503020204020204" pitchFamily="34" charset="-122"/>
                            </a:rPr>
                          </m:ctrlPr>
                        </m:fPr>
                        <m:num>
                          <m:r>
                            <a:rPr lang="en-US" altLang="zh-CN" i="1">
                              <a:latin typeface="Cambria Math" panose="02040503050406030204" pitchFamily="18" charset="0"/>
                              <a:ea typeface="微软雅黑" panose="020B0503020204020204" pitchFamily="34" charset="-122"/>
                            </a:rPr>
                            <m:t>𝑇𝑃</m:t>
                          </m:r>
                        </m:num>
                        <m:den>
                          <m:r>
                            <a:rPr lang="en-US" altLang="zh-CN" i="1">
                              <a:latin typeface="Cambria Math" panose="02040503050406030204" pitchFamily="18" charset="0"/>
                              <a:ea typeface="微软雅黑" panose="020B0503020204020204" pitchFamily="34" charset="-122"/>
                            </a:rPr>
                            <m:t>𝑇𝑃</m:t>
                          </m:r>
                          <m:r>
                            <a:rPr lang="en-US" altLang="zh-CN" i="1">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𝐹𝑁</m:t>
                          </m:r>
                        </m:den>
                      </m:f>
                    </m:oMath>
                  </m:oMathPara>
                </a14:m>
                <a:endParaRPr lang="en-US" altLang="zh-CN" dirty="0">
                  <a:latin typeface="微软雅黑" panose="020B0503020204020204" pitchFamily="34" charset="-122"/>
                  <a:ea typeface="微软雅黑" panose="020B0503020204020204" pitchFamily="34" charset="-122"/>
                </a:endParaRPr>
              </a:p>
              <a:p>
                <a:endParaRPr lang="en-US" altLang="zh-CN" sz="1400" dirty="0">
                  <a:latin typeface="微软雅黑" panose="020B0503020204020204" pitchFamily="34" charset="-122"/>
                  <a:ea typeface="微软雅黑" panose="020B0503020204020204" pitchFamily="34" charset="-122"/>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349783" y="3942664"/>
                <a:ext cx="8622681" cy="2739083"/>
              </a:xfrm>
              <a:prstGeom prst="rect">
                <a:avLst/>
              </a:prstGeom>
              <a:blipFill>
                <a:blip r:embed="rId2"/>
                <a:stretch>
                  <a:fillRect l="-565" t="-13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349783" y="1172739"/>
                <a:ext cx="8622681" cy="2769925"/>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）准确率</a:t>
                </a:r>
                <a:endParaRPr lang="en-US" altLang="zh-CN" dirty="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微软雅黑" panose="020B0503020204020204" pitchFamily="34" charset="-122"/>
                        </a:rPr>
                        <m:t>𝐴𝑐𝑐</m:t>
                      </m:r>
                      <m:r>
                        <a:rPr lang="en-US" altLang="zh-CN" b="0" i="1" smtClean="0">
                          <a:latin typeface="Cambria Math" panose="02040503050406030204" pitchFamily="18" charset="0"/>
                          <a:ea typeface="微软雅黑" panose="020B0503020204020204" pitchFamily="34" charset="-122"/>
                        </a:rPr>
                        <m:t>=</m:t>
                      </m:r>
                      <m:f>
                        <m:fPr>
                          <m:ctrlPr>
                            <a:rPr lang="en-US" altLang="zh-CN" b="0" i="1" smtClean="0">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𝑇𝑃</m:t>
                          </m:r>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𝑇𝑁</m:t>
                          </m:r>
                        </m:num>
                        <m:den>
                          <m:r>
                            <a:rPr lang="en-US" altLang="zh-CN" b="0" i="1" smtClean="0">
                              <a:latin typeface="Cambria Math" panose="02040503050406030204" pitchFamily="18" charset="0"/>
                              <a:ea typeface="微软雅黑" panose="020B0503020204020204" pitchFamily="34" charset="-122"/>
                            </a:rPr>
                            <m:t>𝑇𝑃</m:t>
                          </m:r>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𝑇𝑁</m:t>
                          </m:r>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𝐹𝑃</m:t>
                          </m:r>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𝐹𝑁</m:t>
                          </m:r>
                        </m:den>
                      </m:f>
                    </m:oMath>
                  </m:oMathPara>
                </a14:m>
                <a:endParaRPr lang="en-US" altLang="zh-CN" dirty="0">
                  <a:latin typeface="微软雅黑" panose="020B0503020204020204" pitchFamily="34" charset="-122"/>
                  <a:ea typeface="微软雅黑" panose="020B0503020204020204" pitchFamily="34" charset="-122"/>
                </a:endParaRPr>
              </a:p>
              <a:p>
                <a:endParaRPr lang="en-US" altLang="zh-CN" sz="1400"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需要注意的是，准确率虽然能够判断整体正确率，但在</a:t>
                </a:r>
                <a:r>
                  <a:rPr lang="zh-CN" altLang="en-US" b="1" dirty="0">
                    <a:latin typeface="微软雅黑" panose="020B0503020204020204" pitchFamily="34" charset="-122"/>
                    <a:ea typeface="微软雅黑" panose="020B0503020204020204" pitchFamily="34" charset="-122"/>
                  </a:rPr>
                  <a:t>样本不均衡</a:t>
                </a:r>
                <a:r>
                  <a:rPr lang="zh-CN" altLang="en-US" dirty="0">
                    <a:latin typeface="微软雅黑" panose="020B0503020204020204" pitchFamily="34" charset="-122"/>
                    <a:ea typeface="微软雅黑" panose="020B0503020204020204" pitchFamily="34" charset="-122"/>
                  </a:rPr>
                  <a:t>的情况下，并不能作为很好的指标来衡量结果。比如在样本集中，正样本有 </a:t>
                </a:r>
                <a:r>
                  <a:rPr lang="en-US" altLang="zh-CN" dirty="0">
                    <a:latin typeface="微软雅黑" panose="020B0503020204020204" pitchFamily="34" charset="-122"/>
                    <a:ea typeface="微软雅黑" panose="020B0503020204020204" pitchFamily="34" charset="-122"/>
                  </a:rPr>
                  <a:t>90 </a:t>
                </a:r>
                <a:r>
                  <a:rPr lang="zh-CN" altLang="en-US" dirty="0">
                    <a:latin typeface="微软雅黑" panose="020B0503020204020204" pitchFamily="34" charset="-122"/>
                    <a:ea typeface="微软雅黑" panose="020B0503020204020204" pitchFamily="34" charset="-122"/>
                  </a:rPr>
                  <a:t>个，负样本有 </a:t>
                </a:r>
                <a:r>
                  <a:rPr lang="en-US" altLang="zh-CN" dirty="0">
                    <a:latin typeface="微软雅黑" panose="020B0503020204020204" pitchFamily="34" charset="-122"/>
                    <a:ea typeface="微软雅黑" panose="020B0503020204020204" pitchFamily="34" charset="-122"/>
                  </a:rPr>
                  <a:t>10 </a:t>
                </a:r>
                <a:r>
                  <a:rPr lang="zh-CN" altLang="en-US" dirty="0">
                    <a:latin typeface="微软雅黑" panose="020B0503020204020204" pitchFamily="34" charset="-122"/>
                    <a:ea typeface="微软雅黑" panose="020B0503020204020204" pitchFamily="34" charset="-122"/>
                  </a:rPr>
                  <a:t>个，该情况下，我们甚至只需要将全部样本预测为正样本，就能得到 </a:t>
                </a:r>
                <a:r>
                  <a:rPr lang="en-US" altLang="zh-CN" dirty="0">
                    <a:latin typeface="微软雅黑" panose="020B0503020204020204" pitchFamily="34" charset="-122"/>
                    <a:ea typeface="微软雅黑" panose="020B0503020204020204" pitchFamily="34" charset="-122"/>
                  </a:rPr>
                  <a:t>90%</a:t>
                </a:r>
                <a:r>
                  <a:rPr lang="zh-CN" altLang="en-US" dirty="0">
                    <a:latin typeface="微软雅黑" panose="020B0503020204020204" pitchFamily="34" charset="-122"/>
                    <a:ea typeface="微软雅黑" panose="020B0503020204020204" pitchFamily="34" charset="-122"/>
                  </a:rPr>
                  <a:t>的准确率，显然这是完全没有意义的</a:t>
                </a:r>
                <a:endParaRPr lang="en-US" altLang="zh-CN" dirty="0">
                  <a:latin typeface="微软雅黑" panose="020B0503020204020204" pitchFamily="34" charset="-122"/>
                  <a:ea typeface="微软雅黑" panose="020B0503020204020204" pitchFamily="34" charset="-122"/>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349783" y="1172739"/>
                <a:ext cx="8622681" cy="2769925"/>
              </a:xfrm>
              <a:prstGeom prst="rect">
                <a:avLst/>
              </a:prstGeom>
              <a:blipFill>
                <a:blip r:embed="rId3"/>
                <a:stretch>
                  <a:fillRect l="-565" t="-1099" r="-2191" b="-659"/>
                </a:stretch>
              </a:blipFill>
            </p:spPr>
            <p:txBody>
              <a:bodyPr/>
              <a:lstStyle/>
              <a:p>
                <a:r>
                  <a:rPr lang="zh-CN" altLang="en-US">
                    <a:noFill/>
                  </a:rPr>
                  <a:t> </a:t>
                </a:r>
              </a:p>
            </p:txBody>
          </p:sp>
        </mc:Fallback>
      </mc:AlternateContent>
      <p:sp>
        <p:nvSpPr>
          <p:cNvPr id="8" name="页脚占位符 2">
            <a:extLst>
              <a:ext uri="{FF2B5EF4-FFF2-40B4-BE49-F238E27FC236}">
                <a16:creationId xmlns:a16="http://schemas.microsoft.com/office/drawing/2014/main" id="{2AC3641E-AF6E-4159-9AD9-E80D55470956}"/>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Tree>
    <p:extLst>
      <p:ext uri="{BB962C8B-B14F-4D97-AF65-F5344CB8AC3E}">
        <p14:creationId xmlns:p14="http://schemas.microsoft.com/office/powerpoint/2010/main" val="20686583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30</a:t>
            </a:fld>
            <a:endParaRPr lang="en-US" altLang="zh-CN"/>
          </a:p>
        </p:txBody>
      </p:sp>
      <p:sp>
        <p:nvSpPr>
          <p:cNvPr id="9" name="标题 1">
            <a:extLst>
              <a:ext uri="{FF2B5EF4-FFF2-40B4-BE49-F238E27FC236}">
                <a16:creationId xmlns:a16="http://schemas.microsoft.com/office/drawing/2014/main" id="{5607F18F-699A-4F7F-A2ED-BD80B7B267C8}"/>
              </a:ext>
            </a:extLst>
          </p:cNvPr>
          <p:cNvSpPr>
            <a:spLocks noGrp="1"/>
          </p:cNvSpPr>
          <p:nvPr>
            <p:ph type="title"/>
          </p:nvPr>
        </p:nvSpPr>
        <p:spPr>
          <a:xfrm>
            <a:off x="248444" y="440765"/>
            <a:ext cx="8229600" cy="731974"/>
          </a:xfrm>
        </p:spPr>
        <p:txBody>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例子：</a:t>
            </a:r>
          </a:p>
        </p:txBody>
      </p:sp>
      <p:sp>
        <p:nvSpPr>
          <p:cNvPr id="10" name="文本框 9"/>
          <p:cNvSpPr txBox="1"/>
          <p:nvPr/>
        </p:nvSpPr>
        <p:spPr>
          <a:xfrm>
            <a:off x="185689" y="1012252"/>
            <a:ext cx="8809904" cy="2723823"/>
          </a:xfrm>
          <a:prstGeom prst="rect">
            <a:avLst/>
          </a:prstGeom>
          <a:noFill/>
        </p:spPr>
        <p:txBody>
          <a:bodyPr wrap="square" rtlCol="0">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如果我们利用网约车（浮动车）数据获取了某个目标路段上</a:t>
            </a:r>
            <a:r>
              <a:rPr lang="en-US" altLang="zh-CN" dirty="0">
                <a:latin typeface="微软雅黑" panose="020B0503020204020204" pitchFamily="34" charset="-122"/>
                <a:ea typeface="微软雅黑" panose="020B0503020204020204" pitchFamily="34" charset="-122"/>
              </a:rPr>
              <a:t>1000</a:t>
            </a:r>
            <a:r>
              <a:rPr lang="zh-CN" altLang="en-US" dirty="0">
                <a:latin typeface="微软雅黑" panose="020B0503020204020204" pitchFamily="34" charset="-122"/>
                <a:ea typeface="微软雅黑" panose="020B0503020204020204" pitchFamily="34" charset="-122"/>
              </a:rPr>
              <a:t>个时间片段的路况样本，其中只有</a:t>
            </a:r>
            <a:r>
              <a:rPr lang="en-US" altLang="zh-CN" dirty="0">
                <a:latin typeface="微软雅黑" panose="020B0503020204020204" pitchFamily="34" charset="-122"/>
                <a:ea typeface="微软雅黑" panose="020B0503020204020204" pitchFamily="34" charset="-122"/>
              </a:rPr>
              <a:t>10</a:t>
            </a:r>
            <a:r>
              <a:rPr lang="zh-CN" altLang="en-US" dirty="0">
                <a:latin typeface="微软雅黑" panose="020B0503020204020204" pitchFamily="34" charset="-122"/>
                <a:ea typeface="微软雅黑" panose="020B0503020204020204" pitchFamily="34" charset="-122"/>
              </a:rPr>
              <a:t>个样本的真实标签是“拥堵”</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正类</a:t>
            </a:r>
            <a:r>
              <a:rPr lang="en-US" altLang="zh-CN" b="1"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，其他</a:t>
            </a:r>
            <a:r>
              <a:rPr lang="en-US" altLang="zh-CN" dirty="0">
                <a:latin typeface="微软雅黑" panose="020B0503020204020204" pitchFamily="34" charset="-122"/>
                <a:ea typeface="微软雅黑" panose="020B0503020204020204" pitchFamily="34" charset="-122"/>
              </a:rPr>
              <a:t>990</a:t>
            </a:r>
            <a:r>
              <a:rPr lang="zh-CN" altLang="en-US" dirty="0">
                <a:latin typeface="微软雅黑" panose="020B0503020204020204" pitchFamily="34" charset="-122"/>
                <a:ea typeface="微软雅黑" panose="020B0503020204020204" pitchFamily="34" charset="-122"/>
              </a:rPr>
              <a:t>个都是“通畅”</a:t>
            </a:r>
            <a:r>
              <a:rPr lang="zh-CN" altLang="en-US" b="1" dirty="0">
                <a:latin typeface="微软雅黑" panose="020B0503020204020204" pitchFamily="34" charset="-122"/>
                <a:ea typeface="微软雅黑" panose="020B0503020204020204" pitchFamily="34" charset="-122"/>
              </a:rPr>
              <a:t>（负类）</a:t>
            </a:r>
            <a:r>
              <a:rPr lang="zh-CN" altLang="en-US" dirty="0">
                <a:latin typeface="微软雅黑" panose="020B0503020204020204" pitchFamily="34" charset="-122"/>
                <a:ea typeface="微软雅黑" panose="020B0503020204020204" pitchFamily="34" charset="-122"/>
              </a:rPr>
              <a:t>。使用一个训练好的分类器对这些数据进行预测，最终分类器预测出</a:t>
            </a:r>
            <a:r>
              <a:rPr lang="en-US" altLang="zh-CN" dirty="0">
                <a:latin typeface="微软雅黑" panose="020B0503020204020204" pitchFamily="34" charset="-122"/>
                <a:ea typeface="微软雅黑" panose="020B0503020204020204" pitchFamily="34" charset="-122"/>
              </a:rPr>
              <a:t>8</a:t>
            </a:r>
            <a:r>
              <a:rPr lang="zh-CN" altLang="en-US" dirty="0">
                <a:latin typeface="微软雅黑" panose="020B0503020204020204" pitchFamily="34" charset="-122"/>
                <a:ea typeface="微软雅黑" panose="020B0503020204020204" pitchFamily="34" charset="-122"/>
              </a:rPr>
              <a:t>个“拥堵”样本。在</a:t>
            </a:r>
            <a:r>
              <a:rPr lang="en-US" altLang="zh-CN" dirty="0">
                <a:latin typeface="微软雅黑" panose="020B0503020204020204" pitchFamily="34" charset="-122"/>
                <a:ea typeface="微软雅黑" panose="020B0503020204020204" pitchFamily="34" charset="-122"/>
              </a:rPr>
              <a:t>8</a:t>
            </a:r>
            <a:r>
              <a:rPr lang="zh-CN" altLang="en-US" dirty="0">
                <a:latin typeface="微软雅黑" panose="020B0503020204020204" pitchFamily="34" charset="-122"/>
                <a:ea typeface="微软雅黑" panose="020B0503020204020204" pitchFamily="34" charset="-122"/>
              </a:rPr>
              <a:t>个拥堵样本中，有</a:t>
            </a:r>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个是真正拥堵的</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zh-CN" altLang="en-US" dirty="0">
              <a:latin typeface="微软雅黑" panose="020B0503020204020204" pitchFamily="34" charset="-122"/>
              <a:ea typeface="微软雅黑" panose="020B0503020204020204" pitchFamily="34" charset="-122"/>
            </a:endParaRPr>
          </a:p>
          <a:p>
            <a:pPr algn="just"/>
            <a:r>
              <a:rPr lang="zh-CN" altLang="en-US" dirty="0">
                <a:latin typeface="微软雅黑" panose="020B0503020204020204" pitchFamily="34" charset="-122"/>
                <a:ea typeface="微软雅黑" panose="020B0503020204020204" pitchFamily="34" charset="-122"/>
              </a:rPr>
              <a:t>试计算这个分类器的准确率、精确率以及召回率</a:t>
            </a:r>
            <a:endParaRPr lang="en-US" altLang="zh-CN" dirty="0">
              <a:latin typeface="微软雅黑" panose="020B0503020204020204" pitchFamily="34" charset="-122"/>
              <a:ea typeface="微软雅黑" panose="020B0503020204020204" pitchFamily="34" charset="-122"/>
            </a:endParaRPr>
          </a:p>
          <a:p>
            <a:pPr algn="just"/>
            <a:endParaRPr lang="en-US" altLang="zh-CN" dirty="0">
              <a:latin typeface="微软雅黑" panose="020B0503020204020204" pitchFamily="34" charset="-122"/>
              <a:ea typeface="微软雅黑" panose="020B0503020204020204" pitchFamily="34" charset="-122"/>
            </a:endParaRPr>
          </a:p>
        </p:txBody>
      </p:sp>
      <p:sp>
        <p:nvSpPr>
          <p:cNvPr id="8" name="页脚占位符 2">
            <a:extLst>
              <a:ext uri="{FF2B5EF4-FFF2-40B4-BE49-F238E27FC236}">
                <a16:creationId xmlns:a16="http://schemas.microsoft.com/office/drawing/2014/main" id="{2AC3641E-AF6E-4159-9AD9-E80D55470956}"/>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
        <p:nvSpPr>
          <p:cNvPr id="3" name="文本框 2">
            <a:extLst>
              <a:ext uri="{FF2B5EF4-FFF2-40B4-BE49-F238E27FC236}">
                <a16:creationId xmlns:a16="http://schemas.microsoft.com/office/drawing/2014/main" id="{5EC4C9A8-5BE9-400A-AD1F-3B8F33794ED4}"/>
              </a:ext>
            </a:extLst>
          </p:cNvPr>
          <p:cNvSpPr txBox="1"/>
          <p:nvPr/>
        </p:nvSpPr>
        <p:spPr>
          <a:xfrm>
            <a:off x="250902" y="3640873"/>
            <a:ext cx="2330605"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准确率：</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D3C3D9FE-C36A-48EE-8EDB-836278CEFA09}"/>
                  </a:ext>
                </a:extLst>
              </p:cNvPr>
              <p:cNvSpPr txBox="1"/>
              <p:nvPr/>
            </p:nvSpPr>
            <p:spPr>
              <a:xfrm>
                <a:off x="1081667" y="3485199"/>
                <a:ext cx="6584795" cy="62292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微软雅黑" panose="020B0503020204020204" pitchFamily="34" charset="-122"/>
                        </a:rPr>
                        <m:t>𝐴𝑐𝑐</m:t>
                      </m:r>
                      <m:r>
                        <a:rPr lang="en-US" altLang="zh-CN" b="0" i="1" smtClean="0">
                          <a:latin typeface="Cambria Math" panose="02040503050406030204" pitchFamily="18" charset="0"/>
                          <a:ea typeface="微软雅黑" panose="020B0503020204020204" pitchFamily="34" charset="-122"/>
                        </a:rPr>
                        <m:t>=</m:t>
                      </m:r>
                      <m:f>
                        <m:fPr>
                          <m:ctrlPr>
                            <a:rPr lang="en-US" altLang="zh-CN" b="0" i="1" smtClean="0">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𝑇𝑃</m:t>
                          </m:r>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𝑇𝑁</m:t>
                          </m:r>
                        </m:num>
                        <m:den>
                          <m:r>
                            <a:rPr lang="en-US" altLang="zh-CN" b="0" i="1" smtClean="0">
                              <a:latin typeface="Cambria Math" panose="02040503050406030204" pitchFamily="18" charset="0"/>
                              <a:ea typeface="微软雅黑" panose="020B0503020204020204" pitchFamily="34" charset="-122"/>
                            </a:rPr>
                            <m:t>𝑇𝑃</m:t>
                          </m:r>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𝑇𝑁</m:t>
                          </m:r>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𝐹𝑃</m:t>
                          </m:r>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𝐹𝑁</m:t>
                          </m:r>
                        </m:den>
                      </m:f>
                      <m:r>
                        <a:rPr lang="en-US" altLang="zh-CN" b="0" i="1" smtClean="0">
                          <a:latin typeface="Cambria Math" panose="02040503050406030204" pitchFamily="18" charset="0"/>
                          <a:ea typeface="微软雅黑" panose="020B0503020204020204" pitchFamily="34" charset="-122"/>
                        </a:rPr>
                        <m:t>=</m:t>
                      </m:r>
                      <m:f>
                        <m:fPr>
                          <m:ctrlPr>
                            <a:rPr lang="en-US" altLang="zh-CN" b="0" i="1" smtClean="0">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5+987</m:t>
                          </m:r>
                        </m:num>
                        <m:den>
                          <m:r>
                            <a:rPr lang="en-US" altLang="zh-CN" b="0" i="1" smtClean="0">
                              <a:latin typeface="Cambria Math" panose="02040503050406030204" pitchFamily="18" charset="0"/>
                              <a:ea typeface="微软雅黑" panose="020B0503020204020204" pitchFamily="34" charset="-122"/>
                            </a:rPr>
                            <m:t>5+987+3+5</m:t>
                          </m:r>
                        </m:den>
                      </m:f>
                      <m:r>
                        <a:rPr lang="en-US" altLang="zh-CN" b="0" i="1" smtClean="0">
                          <a:latin typeface="Cambria Math" panose="02040503050406030204" pitchFamily="18" charset="0"/>
                          <a:ea typeface="微软雅黑" panose="020B0503020204020204" pitchFamily="34" charset="-122"/>
                        </a:rPr>
                        <m:t>=99.2%</m:t>
                      </m:r>
                    </m:oMath>
                  </m:oMathPara>
                </a14:m>
                <a:endParaRPr lang="zh-CN" altLang="en-US" dirty="0"/>
              </a:p>
            </p:txBody>
          </p:sp>
        </mc:Choice>
        <mc:Fallback xmlns="">
          <p:sp>
            <p:nvSpPr>
              <p:cNvPr id="11" name="文本框 10">
                <a:extLst>
                  <a:ext uri="{FF2B5EF4-FFF2-40B4-BE49-F238E27FC236}">
                    <a16:creationId xmlns:a16="http://schemas.microsoft.com/office/drawing/2014/main" id="{D3C3D9FE-C36A-48EE-8EDB-836278CEFA09}"/>
                  </a:ext>
                </a:extLst>
              </p:cNvPr>
              <p:cNvSpPr txBox="1">
                <a:spLocks noRot="1" noChangeAspect="1" noMove="1" noResize="1" noEditPoints="1" noAdjustHandles="1" noChangeArrowheads="1" noChangeShapeType="1" noTextEdit="1"/>
              </p:cNvSpPr>
              <p:nvPr/>
            </p:nvSpPr>
            <p:spPr>
              <a:xfrm>
                <a:off x="1081667" y="3485199"/>
                <a:ext cx="6584795" cy="622927"/>
              </a:xfrm>
              <a:prstGeom prst="rect">
                <a:avLst/>
              </a:prstGeom>
              <a:blipFill>
                <a:blip r:embed="rId3"/>
                <a:stretch>
                  <a:fillRect/>
                </a:stretch>
              </a:blipFill>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9E4E9814-66DD-490C-B520-1812F346C2B2}"/>
              </a:ext>
            </a:extLst>
          </p:cNvPr>
          <p:cNvSpPr txBox="1"/>
          <p:nvPr/>
        </p:nvSpPr>
        <p:spPr>
          <a:xfrm>
            <a:off x="250902" y="4780156"/>
            <a:ext cx="2330605"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精确率：</a:t>
            </a: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0F6A18E1-DE39-46CB-BC8A-A7CB92ECDBD7}"/>
                  </a:ext>
                </a:extLst>
              </p:cNvPr>
              <p:cNvSpPr txBox="1"/>
              <p:nvPr/>
            </p:nvSpPr>
            <p:spPr>
              <a:xfrm>
                <a:off x="1190331" y="4586450"/>
                <a:ext cx="4572000" cy="64120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微软雅黑" panose="020B0503020204020204" pitchFamily="34" charset="-122"/>
                        </a:rPr>
                        <m:t>𝑃𝑟𝑒𝑐𝑖𝑠𝑖𝑜𝑛</m:t>
                      </m:r>
                      <m:r>
                        <a:rPr lang="en-US" altLang="zh-CN" b="0" i="1" smtClean="0">
                          <a:latin typeface="Cambria Math" panose="02040503050406030204" pitchFamily="18" charset="0"/>
                          <a:ea typeface="微软雅黑" panose="020B0503020204020204" pitchFamily="34" charset="-122"/>
                        </a:rPr>
                        <m:t>=</m:t>
                      </m:r>
                      <m:f>
                        <m:fPr>
                          <m:ctrlPr>
                            <a:rPr lang="en-US" altLang="zh-CN" b="0" i="1" smtClean="0">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𝑇𝑃</m:t>
                          </m:r>
                        </m:num>
                        <m:den>
                          <m:r>
                            <a:rPr lang="en-US" altLang="zh-CN" b="0" i="1" smtClean="0">
                              <a:latin typeface="Cambria Math" panose="02040503050406030204" pitchFamily="18" charset="0"/>
                              <a:ea typeface="微软雅黑" panose="020B0503020204020204" pitchFamily="34" charset="-122"/>
                            </a:rPr>
                            <m:t>𝑇𝑃</m:t>
                          </m:r>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𝐹𝑃</m:t>
                          </m:r>
                        </m:den>
                      </m:f>
                      <m:r>
                        <a:rPr lang="en-US" altLang="zh-CN" b="0" i="1" smtClean="0">
                          <a:latin typeface="Cambria Math" panose="02040503050406030204" pitchFamily="18" charset="0"/>
                          <a:ea typeface="微软雅黑" panose="020B0503020204020204" pitchFamily="34" charset="-122"/>
                        </a:rPr>
                        <m:t>=</m:t>
                      </m:r>
                      <m:f>
                        <m:fPr>
                          <m:ctrlPr>
                            <a:rPr lang="en-US" altLang="zh-CN" b="0" i="1" smtClean="0">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5</m:t>
                          </m:r>
                        </m:num>
                        <m:den>
                          <m:r>
                            <a:rPr lang="en-US" altLang="zh-CN" b="0" i="1" smtClean="0">
                              <a:latin typeface="Cambria Math" panose="02040503050406030204" pitchFamily="18" charset="0"/>
                              <a:ea typeface="微软雅黑" panose="020B0503020204020204" pitchFamily="34" charset="-122"/>
                            </a:rPr>
                            <m:t>5+3</m:t>
                          </m:r>
                        </m:den>
                      </m:f>
                      <m:r>
                        <a:rPr lang="en-US" altLang="zh-CN" b="0" i="1" smtClean="0">
                          <a:latin typeface="Cambria Math" panose="02040503050406030204" pitchFamily="18" charset="0"/>
                          <a:ea typeface="微软雅黑" panose="020B0503020204020204" pitchFamily="34" charset="-122"/>
                        </a:rPr>
                        <m:t>=62.5%</m:t>
                      </m:r>
                    </m:oMath>
                  </m:oMathPara>
                </a14:m>
                <a:endParaRPr lang="zh-CN" altLang="en-US" dirty="0"/>
              </a:p>
            </p:txBody>
          </p:sp>
        </mc:Choice>
        <mc:Fallback xmlns="">
          <p:sp>
            <p:nvSpPr>
              <p:cNvPr id="14" name="文本框 13">
                <a:extLst>
                  <a:ext uri="{FF2B5EF4-FFF2-40B4-BE49-F238E27FC236}">
                    <a16:creationId xmlns:a16="http://schemas.microsoft.com/office/drawing/2014/main" id="{0F6A18E1-DE39-46CB-BC8A-A7CB92ECDBD7}"/>
                  </a:ext>
                </a:extLst>
              </p:cNvPr>
              <p:cNvSpPr txBox="1">
                <a:spLocks noRot="1" noChangeAspect="1" noMove="1" noResize="1" noEditPoints="1" noAdjustHandles="1" noChangeArrowheads="1" noChangeShapeType="1" noTextEdit="1"/>
              </p:cNvSpPr>
              <p:nvPr/>
            </p:nvSpPr>
            <p:spPr>
              <a:xfrm>
                <a:off x="1190331" y="4586450"/>
                <a:ext cx="4572000" cy="641201"/>
              </a:xfrm>
              <a:prstGeom prst="rect">
                <a:avLst/>
              </a:prstGeom>
              <a:blipFill>
                <a:blip r:embed="rId4"/>
                <a:stretch>
                  <a:fillRect/>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FF97E4ED-D1D1-4628-AA0F-BBB9DEFD5C9A}"/>
              </a:ext>
            </a:extLst>
          </p:cNvPr>
          <p:cNvSpPr txBox="1"/>
          <p:nvPr/>
        </p:nvSpPr>
        <p:spPr>
          <a:xfrm>
            <a:off x="250901" y="5881407"/>
            <a:ext cx="2330605"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召回率：</a:t>
            </a: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60936143-FF6C-4E2F-AE4A-D71DC30AB945}"/>
                  </a:ext>
                </a:extLst>
              </p:cNvPr>
              <p:cNvSpPr txBox="1"/>
              <p:nvPr/>
            </p:nvSpPr>
            <p:spPr>
              <a:xfrm>
                <a:off x="1081667" y="5687701"/>
                <a:ext cx="4572000" cy="62292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微软雅黑" panose="020B0503020204020204" pitchFamily="34" charset="-122"/>
                        </a:rPr>
                        <m:t>𝑅𝑒𝑐𝑎𝑙𝑙</m:t>
                      </m:r>
                      <m:r>
                        <a:rPr lang="en-US" altLang="zh-CN" i="1" smtClean="0">
                          <a:latin typeface="Cambria Math" panose="02040503050406030204" pitchFamily="18" charset="0"/>
                          <a:ea typeface="微软雅黑" panose="020B0503020204020204" pitchFamily="34" charset="-122"/>
                        </a:rPr>
                        <m:t>=</m:t>
                      </m:r>
                      <m:f>
                        <m:fPr>
                          <m:ctrlPr>
                            <a:rPr lang="en-US" altLang="zh-CN" i="1">
                              <a:latin typeface="Cambria Math" panose="02040503050406030204" pitchFamily="18" charset="0"/>
                              <a:ea typeface="微软雅黑" panose="020B0503020204020204" pitchFamily="34" charset="-122"/>
                            </a:rPr>
                          </m:ctrlPr>
                        </m:fPr>
                        <m:num>
                          <m:r>
                            <a:rPr lang="en-US" altLang="zh-CN" i="1">
                              <a:latin typeface="Cambria Math" panose="02040503050406030204" pitchFamily="18" charset="0"/>
                              <a:ea typeface="微软雅黑" panose="020B0503020204020204" pitchFamily="34" charset="-122"/>
                            </a:rPr>
                            <m:t>𝑇𝑃</m:t>
                          </m:r>
                        </m:num>
                        <m:den>
                          <m:r>
                            <a:rPr lang="en-US" altLang="zh-CN" i="1">
                              <a:latin typeface="Cambria Math" panose="02040503050406030204" pitchFamily="18" charset="0"/>
                              <a:ea typeface="微软雅黑" panose="020B0503020204020204" pitchFamily="34" charset="-122"/>
                            </a:rPr>
                            <m:t>𝑇𝑃</m:t>
                          </m:r>
                          <m:r>
                            <a:rPr lang="en-US" altLang="zh-CN" i="1">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𝐹𝑁</m:t>
                          </m:r>
                        </m:den>
                      </m:f>
                      <m:r>
                        <a:rPr lang="en-US" altLang="zh-CN" b="0" i="1" smtClean="0">
                          <a:latin typeface="Cambria Math" panose="02040503050406030204" pitchFamily="18" charset="0"/>
                          <a:ea typeface="微软雅黑" panose="020B0503020204020204" pitchFamily="34" charset="-122"/>
                        </a:rPr>
                        <m:t>=</m:t>
                      </m:r>
                      <m:f>
                        <m:fPr>
                          <m:ctrlPr>
                            <a:rPr lang="en-US" altLang="zh-CN" b="0" i="1" smtClean="0">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5</m:t>
                          </m:r>
                        </m:num>
                        <m:den>
                          <m:r>
                            <a:rPr lang="en-US" altLang="zh-CN" b="0" i="1" smtClean="0">
                              <a:latin typeface="Cambria Math" panose="02040503050406030204" pitchFamily="18" charset="0"/>
                              <a:ea typeface="微软雅黑" panose="020B0503020204020204" pitchFamily="34" charset="-122"/>
                            </a:rPr>
                            <m:t>5+5</m:t>
                          </m:r>
                        </m:den>
                      </m:f>
                      <m:r>
                        <a:rPr lang="en-US" altLang="zh-CN" b="0" i="1" smtClean="0">
                          <a:latin typeface="Cambria Math" panose="02040503050406030204" pitchFamily="18" charset="0"/>
                          <a:ea typeface="微软雅黑" panose="020B0503020204020204" pitchFamily="34" charset="-122"/>
                        </a:rPr>
                        <m:t>=50%</m:t>
                      </m:r>
                    </m:oMath>
                  </m:oMathPara>
                </a14:m>
                <a:endParaRPr lang="en-US" altLang="zh-CN" dirty="0">
                  <a:latin typeface="微软雅黑" panose="020B0503020204020204" pitchFamily="34" charset="-122"/>
                  <a:ea typeface="微软雅黑" panose="020B0503020204020204" pitchFamily="34" charset="-122"/>
                </a:endParaRPr>
              </a:p>
            </p:txBody>
          </p:sp>
        </mc:Choice>
        <mc:Fallback xmlns="">
          <p:sp>
            <p:nvSpPr>
              <p:cNvPr id="16" name="文本框 15">
                <a:extLst>
                  <a:ext uri="{FF2B5EF4-FFF2-40B4-BE49-F238E27FC236}">
                    <a16:creationId xmlns:a16="http://schemas.microsoft.com/office/drawing/2014/main" id="{60936143-FF6C-4E2F-AE4A-D71DC30AB945}"/>
                  </a:ext>
                </a:extLst>
              </p:cNvPr>
              <p:cNvSpPr txBox="1">
                <a:spLocks noRot="1" noChangeAspect="1" noMove="1" noResize="1" noEditPoints="1" noAdjustHandles="1" noChangeArrowheads="1" noChangeShapeType="1" noTextEdit="1"/>
              </p:cNvSpPr>
              <p:nvPr/>
            </p:nvSpPr>
            <p:spPr>
              <a:xfrm>
                <a:off x="1081667" y="5687701"/>
                <a:ext cx="4572000" cy="622927"/>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98211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p:bldP spid="13" grpId="0"/>
      <p:bldP spid="14" grpId="0"/>
      <p:bldP spid="15" grpId="0"/>
      <p:bldP spid="1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31</a:t>
            </a:fld>
            <a:endParaRPr lang="en-US" altLang="zh-CN"/>
          </a:p>
        </p:txBody>
      </p:sp>
      <p:sp>
        <p:nvSpPr>
          <p:cNvPr id="4" name="文本框 3"/>
          <p:cNvSpPr txBox="1"/>
          <p:nvPr/>
        </p:nvSpPr>
        <p:spPr>
          <a:xfrm>
            <a:off x="162560" y="1162854"/>
            <a:ext cx="8981440" cy="1705403"/>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以检索系统为例，在检索系统中，如果希望提高</a:t>
            </a:r>
            <a:r>
              <a:rPr lang="zh-CN" altLang="en-US" b="1" dirty="0">
                <a:latin typeface="微软雅黑" panose="020B0503020204020204" pitchFamily="34" charset="-122"/>
                <a:ea typeface="微软雅黑" panose="020B0503020204020204" pitchFamily="34" charset="-122"/>
              </a:rPr>
              <a:t>召回率</a:t>
            </a:r>
            <a:r>
              <a:rPr lang="zh-CN" altLang="en-US" dirty="0">
                <a:latin typeface="微软雅黑" panose="020B0503020204020204" pitchFamily="34" charset="-122"/>
                <a:ea typeface="微软雅黑" panose="020B0503020204020204" pitchFamily="34" charset="-122"/>
              </a:rPr>
              <a:t>，即希望更多的相关文档被检索到，就要</a:t>
            </a:r>
            <a:r>
              <a:rPr lang="zh-CN" altLang="en-US" b="1" dirty="0">
                <a:latin typeface="微软雅黑" panose="020B0503020204020204" pitchFamily="34" charset="-122"/>
                <a:ea typeface="微软雅黑" panose="020B0503020204020204" pitchFamily="34" charset="-122"/>
              </a:rPr>
              <a:t>放宽</a:t>
            </a:r>
            <a:r>
              <a:rPr lang="zh-CN" altLang="en-US" dirty="0">
                <a:latin typeface="微软雅黑" panose="020B0503020204020204" pitchFamily="34" charset="-122"/>
                <a:ea typeface="微软雅黑" panose="020B0503020204020204" pitchFamily="34" charset="-122"/>
              </a:rPr>
              <a:t>“检索策略”，便会在检索中伴随出现一些不相关的结果，从而</a:t>
            </a:r>
            <a:r>
              <a:rPr lang="zh-CN" altLang="en-US">
                <a:latin typeface="微软雅黑" panose="020B0503020204020204" pitchFamily="34" charset="-122"/>
                <a:ea typeface="微软雅黑" panose="020B0503020204020204" pitchFamily="34" charset="-122"/>
              </a:rPr>
              <a:t>影响到精确</a:t>
            </a:r>
            <a:r>
              <a:rPr lang="zh-CN" altLang="en-US" dirty="0">
                <a:latin typeface="微软雅黑" panose="020B0503020204020204" pitchFamily="34" charset="-122"/>
                <a:ea typeface="微软雅黑" panose="020B0503020204020204" pitchFamily="34" charset="-122"/>
              </a:rPr>
              <a:t>率。如果希望提高</a:t>
            </a:r>
            <a:r>
              <a:rPr lang="zh-CN" altLang="en-US" b="1" dirty="0">
                <a:latin typeface="微软雅黑" panose="020B0503020204020204" pitchFamily="34" charset="-122"/>
                <a:ea typeface="微软雅黑" panose="020B0503020204020204" pitchFamily="34" charset="-122"/>
              </a:rPr>
              <a:t>精确率</a:t>
            </a:r>
            <a:r>
              <a:rPr lang="zh-CN" altLang="en-US" dirty="0">
                <a:latin typeface="微软雅黑" panose="020B0503020204020204" pitchFamily="34" charset="-122"/>
                <a:ea typeface="微软雅黑" panose="020B0503020204020204" pitchFamily="34" charset="-122"/>
              </a:rPr>
              <a:t>，即希望去除检索结果中的不相关文档时，就需要</a:t>
            </a:r>
            <a:r>
              <a:rPr lang="zh-CN" altLang="en-US" b="1" dirty="0">
                <a:latin typeface="微软雅黑" panose="020B0503020204020204" pitchFamily="34" charset="-122"/>
                <a:ea typeface="微软雅黑" panose="020B0503020204020204" pitchFamily="34" charset="-122"/>
              </a:rPr>
              <a:t>严格</a:t>
            </a:r>
            <a:r>
              <a:rPr lang="zh-CN" altLang="en-US" dirty="0">
                <a:latin typeface="微软雅黑" panose="020B0503020204020204" pitchFamily="34" charset="-122"/>
                <a:ea typeface="微软雅黑" panose="020B0503020204020204" pitchFamily="34" charset="-122"/>
              </a:rPr>
              <a:t>“检索策略”，便会使一些相关文档不能被检索到，从而影响到</a:t>
            </a:r>
            <a:r>
              <a:rPr lang="zh-CN" altLang="en-US">
                <a:latin typeface="微软雅黑" panose="020B0503020204020204" pitchFamily="34" charset="-122"/>
                <a:ea typeface="微软雅黑" panose="020B0503020204020204" pitchFamily="34" charset="-122"/>
              </a:rPr>
              <a:t>召回率。</a:t>
            </a:r>
            <a:endParaRPr lang="en-US" altLang="zh-CN" dirty="0">
              <a:latin typeface="微软雅黑" panose="020B0503020204020204" pitchFamily="34" charset="-122"/>
              <a:ea typeface="微软雅黑" panose="020B0503020204020204" pitchFamily="34" charset="-122"/>
            </a:endParaRPr>
          </a:p>
        </p:txBody>
      </p:sp>
      <p:sp>
        <p:nvSpPr>
          <p:cNvPr id="10" name="页脚占位符 2">
            <a:extLst>
              <a:ext uri="{FF2B5EF4-FFF2-40B4-BE49-F238E27FC236}">
                <a16:creationId xmlns:a16="http://schemas.microsoft.com/office/drawing/2014/main" id="{A6D683F8-C6C6-48A6-8BBF-21EF18D3556A}"/>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
        <p:nvSpPr>
          <p:cNvPr id="11" name="文本框 10">
            <a:extLst>
              <a:ext uri="{FF2B5EF4-FFF2-40B4-BE49-F238E27FC236}">
                <a16:creationId xmlns:a16="http://schemas.microsoft.com/office/drawing/2014/main" id="{B0A60346-45BA-4A81-AFF3-CE067EB21B16}"/>
              </a:ext>
            </a:extLst>
          </p:cNvPr>
          <p:cNvSpPr txBox="1"/>
          <p:nvPr/>
        </p:nvSpPr>
        <p:spPr>
          <a:xfrm>
            <a:off x="162560" y="4832644"/>
            <a:ext cx="8363243" cy="646331"/>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在设计交通拥堵识别算法或交通事故风险点判别算法时，什么</a:t>
            </a:r>
            <a:r>
              <a:rPr lang="zh-CN" altLang="en-US" dirty="0">
                <a:solidFill>
                  <a:srgbClr val="FF0000"/>
                </a:solidFill>
                <a:latin typeface="微软雅黑" panose="020B0503020204020204" pitchFamily="34" charset="-122"/>
                <a:ea typeface="微软雅黑" panose="020B0503020204020204" pitchFamily="34" charset="-122"/>
              </a:rPr>
              <a:t>性能度量指标</a:t>
            </a:r>
            <a:r>
              <a:rPr lang="zh-CN" altLang="en-US" dirty="0">
                <a:latin typeface="微软雅黑" panose="020B0503020204020204" pitchFamily="34" charset="-122"/>
                <a:ea typeface="微软雅黑" panose="020B0503020204020204" pitchFamily="34" charset="-122"/>
              </a:rPr>
              <a:t>需要优先考虑？</a:t>
            </a:r>
          </a:p>
        </p:txBody>
      </p:sp>
      <p:sp>
        <p:nvSpPr>
          <p:cNvPr id="8" name="标题 1">
            <a:extLst>
              <a:ext uri="{FF2B5EF4-FFF2-40B4-BE49-F238E27FC236}">
                <a16:creationId xmlns:a16="http://schemas.microsoft.com/office/drawing/2014/main" id="{58981BA0-33F7-4672-B810-43E80381C84B}"/>
              </a:ext>
            </a:extLst>
          </p:cNvPr>
          <p:cNvSpPr txBox="1">
            <a:spLocks/>
          </p:cNvSpPr>
          <p:nvPr/>
        </p:nvSpPr>
        <p:spPr bwMode="auto">
          <a:xfrm>
            <a:off x="162560" y="452471"/>
            <a:ext cx="8229600" cy="731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a:lstStyle>
          <a:p>
            <a:pPr defTabSz="914400"/>
            <a:r>
              <a:rPr lang="zh-CN" altLang="en-US" sz="2800">
                <a:latin typeface="微软雅黑" panose="020B0503020204020204" pitchFamily="34" charset="-122"/>
                <a:ea typeface="微软雅黑" panose="020B0503020204020204" pitchFamily="34" charset="-122"/>
                <a:cs typeface="Times New Roman" panose="02020603050405020304" pitchFamily="18" charset="0"/>
              </a:rPr>
              <a:t>分类问题的性能度量</a:t>
            </a:r>
            <a:endParaRPr lang="zh-CN" altLang="en-US" sz="28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9097186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32</a:t>
            </a:fld>
            <a:endParaRPr lang="en-US" altLang="zh-CN"/>
          </a:p>
        </p:txBody>
      </p:sp>
      <p:sp>
        <p:nvSpPr>
          <p:cNvPr id="9"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731974"/>
          </a:xfrm>
        </p:spPr>
        <p:txBody>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分类问题的性能度量</a:t>
            </a:r>
          </a:p>
        </p:txBody>
      </p:sp>
      <p:sp>
        <p:nvSpPr>
          <p:cNvPr id="4" name="文本框 3"/>
          <p:cNvSpPr txBox="1"/>
          <p:nvPr/>
        </p:nvSpPr>
        <p:spPr>
          <a:xfrm>
            <a:off x="162560" y="1162854"/>
            <a:ext cx="8981440" cy="2800767"/>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实际情况下，精确率和召回率往往是此消彼长、无法同时改进的。我们可以通过</a:t>
            </a:r>
            <a:r>
              <a:rPr lang="en-US" altLang="zh-CN" dirty="0">
                <a:latin typeface="微软雅黑" panose="020B0503020204020204" pitchFamily="34" charset="-122"/>
                <a:ea typeface="微软雅黑" panose="020B0503020204020204" pitchFamily="34" charset="-122"/>
              </a:rPr>
              <a:t>P-R</a:t>
            </a:r>
            <a:r>
              <a:rPr lang="zh-CN" altLang="en-US" dirty="0">
                <a:latin typeface="微软雅黑" panose="020B0503020204020204" pitchFamily="34" charset="-122"/>
                <a:ea typeface="微软雅黑" panose="020B0503020204020204" pitchFamily="34" charset="-122"/>
              </a:rPr>
              <a:t>图、</a:t>
            </a:r>
            <a:r>
              <a:rPr lang="en-US" altLang="zh-CN" dirty="0">
                <a:latin typeface="微软雅黑" panose="020B0503020204020204" pitchFamily="34" charset="-122"/>
                <a:ea typeface="微软雅黑" panose="020B0503020204020204" pitchFamily="34" charset="-122"/>
              </a:rPr>
              <a:t>ROC</a:t>
            </a:r>
            <a:r>
              <a:rPr lang="zh-CN" altLang="en-US" dirty="0">
                <a:latin typeface="微软雅黑" panose="020B0503020204020204" pitchFamily="34" charset="-122"/>
                <a:ea typeface="微软雅黑" panose="020B0503020204020204" pitchFamily="34" charset="-122"/>
              </a:rPr>
              <a:t>图或</a:t>
            </a:r>
            <a:r>
              <a:rPr lang="en-US" altLang="zh-CN" dirty="0">
                <a:latin typeface="微软雅黑" panose="020B0503020204020204" pitchFamily="34" charset="-122"/>
                <a:ea typeface="微软雅黑" panose="020B0503020204020204" pitchFamily="34" charset="-122"/>
              </a:rPr>
              <a:t>F1</a:t>
            </a:r>
            <a:r>
              <a:rPr lang="zh-CN" altLang="en-US" dirty="0">
                <a:latin typeface="微软雅黑" panose="020B0503020204020204" pitchFamily="34" charset="-122"/>
                <a:ea typeface="微软雅黑" panose="020B0503020204020204" pitchFamily="34" charset="-122"/>
              </a:rPr>
              <a:t>分数来对学习器进行选择</a:t>
            </a:r>
            <a:endParaRPr lang="en-US" altLang="zh-CN" dirty="0">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b="1" dirty="0">
                <a:latin typeface="微软雅黑" panose="020B0503020204020204" pitchFamily="34" charset="-122"/>
                <a:ea typeface="微软雅黑" panose="020B0503020204020204" pitchFamily="34" charset="-122"/>
              </a:rPr>
              <a:t>P-R</a:t>
            </a:r>
            <a:r>
              <a:rPr lang="zh-CN" altLang="en-US" b="1" dirty="0">
                <a:latin typeface="微软雅黑" panose="020B0503020204020204" pitchFamily="34" charset="-122"/>
                <a:ea typeface="微软雅黑" panose="020B0503020204020204" pitchFamily="34" charset="-122"/>
              </a:rPr>
              <a:t>图 </a:t>
            </a:r>
            <a:r>
              <a:rPr lang="zh-CN" altLang="en-US" b="1" dirty="0">
                <a:solidFill>
                  <a:srgbClr val="C00000"/>
                </a:solidFill>
                <a:latin typeface="微软雅黑" panose="020B0503020204020204" pitchFamily="34" charset="-122"/>
                <a:ea typeface="微软雅黑" panose="020B0503020204020204" pitchFamily="34" charset="-122"/>
              </a:rPr>
              <a:t>（阅读内容）</a:t>
            </a:r>
            <a:endParaRPr lang="en-US" altLang="zh-CN" b="1" dirty="0">
              <a:solidFill>
                <a:srgbClr val="C00000"/>
              </a:solidFill>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P-R</a:t>
            </a:r>
            <a:r>
              <a:rPr lang="zh-CN" altLang="en-US" dirty="0">
                <a:latin typeface="微软雅黑" panose="020B0503020204020204" pitchFamily="34" charset="-122"/>
                <a:ea typeface="微软雅黑" panose="020B0503020204020204" pitchFamily="34" charset="-122"/>
              </a:rPr>
              <a:t>图是以召回率为横坐标，精确率为纵坐标，调整分类问题的阈值确定不同阈值下的召回率与精确率，将散点绘制成的曲线。</a:t>
            </a:r>
            <a:endParaRPr lang="en-US" altLang="zh-CN" dirty="0">
              <a:latin typeface="微软雅黑" panose="020B0503020204020204" pitchFamily="34" charset="-122"/>
              <a:ea typeface="微软雅黑" panose="020B0503020204020204" pitchFamily="34" charset="-122"/>
            </a:endParaRPr>
          </a:p>
          <a:p>
            <a:endParaRPr lang="en-US" altLang="zh-CN" sz="1400"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5054844" y="3760656"/>
            <a:ext cx="3296285" cy="3078294"/>
          </a:xfrm>
          <a:prstGeom prst="rect">
            <a:avLst/>
          </a:prstGeom>
        </p:spPr>
      </p:pic>
      <p:sp>
        <p:nvSpPr>
          <p:cNvPr id="6" name="文本框 5"/>
          <p:cNvSpPr txBox="1"/>
          <p:nvPr/>
        </p:nvSpPr>
        <p:spPr>
          <a:xfrm>
            <a:off x="186006" y="3918571"/>
            <a:ext cx="4624998" cy="2536400"/>
          </a:xfrm>
          <a:prstGeom prst="rect">
            <a:avLst/>
          </a:prstGeom>
          <a:noFill/>
        </p:spPr>
        <p:txBody>
          <a:bodyPr wrap="square" rtlCol="0">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在</a:t>
            </a:r>
            <a:r>
              <a:rPr lang="en-US" altLang="zh-CN" dirty="0">
                <a:latin typeface="微软雅黑" panose="020B0503020204020204" pitchFamily="34" charset="-122"/>
                <a:ea typeface="微软雅黑" panose="020B0503020204020204" pitchFamily="34" charset="-122"/>
              </a:rPr>
              <a:t>P-R</a:t>
            </a:r>
            <a:r>
              <a:rPr lang="zh-CN" altLang="en-US" dirty="0">
                <a:latin typeface="微软雅黑" panose="020B0503020204020204" pitchFamily="34" charset="-122"/>
                <a:ea typeface="微软雅黑" panose="020B0503020204020204" pitchFamily="34" charset="-122"/>
              </a:rPr>
              <a:t>图中，如果一个模型的曲线被另一个完全包围，那么前者模型的性能差于后者，如右图中</a:t>
            </a:r>
            <a:r>
              <a:rPr lang="en-US" altLang="zh-CN"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模型性能比</a:t>
            </a:r>
            <a:r>
              <a:rPr lang="en-US" altLang="zh-CN" dirty="0">
                <a:latin typeface="微软雅黑" panose="020B0503020204020204" pitchFamily="34" charset="-122"/>
                <a:ea typeface="微软雅黑" panose="020B0503020204020204" pitchFamily="34" charset="-122"/>
              </a:rPr>
              <a:t>A</a:t>
            </a:r>
            <a:r>
              <a:rPr lang="zh-CN" altLang="en-US" dirty="0">
                <a:latin typeface="微软雅黑" panose="020B0503020204020204" pitchFamily="34" charset="-122"/>
                <a:ea typeface="微软雅黑" panose="020B0503020204020204" pitchFamily="34" charset="-122"/>
              </a:rPr>
              <a:t>模型要差，但是如果两个模型的</a:t>
            </a:r>
            <a:r>
              <a:rPr lang="en-US" altLang="zh-CN" dirty="0">
                <a:latin typeface="微软雅黑" panose="020B0503020204020204" pitchFamily="34" charset="-122"/>
                <a:ea typeface="微软雅黑" panose="020B0503020204020204" pitchFamily="34" charset="-122"/>
              </a:rPr>
              <a:t>P-R</a:t>
            </a:r>
            <a:r>
              <a:rPr lang="zh-CN" altLang="en-US" dirty="0">
                <a:latin typeface="微软雅黑" panose="020B0503020204020204" pitchFamily="34" charset="-122"/>
                <a:ea typeface="微软雅黑" panose="020B0503020204020204" pitchFamily="34" charset="-122"/>
              </a:rPr>
              <a:t>曲线有交叉，就需要在特定的精确率或召回率下来比较，一种常用的方式是找到精确率和召回率的平衡点</a:t>
            </a:r>
          </a:p>
        </p:txBody>
      </p:sp>
      <p:sp>
        <p:nvSpPr>
          <p:cNvPr id="10" name="页脚占位符 2">
            <a:extLst>
              <a:ext uri="{FF2B5EF4-FFF2-40B4-BE49-F238E27FC236}">
                <a16:creationId xmlns:a16="http://schemas.microsoft.com/office/drawing/2014/main" id="{A6D683F8-C6C6-48A6-8BBF-21EF18D3556A}"/>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Tree>
    <p:extLst>
      <p:ext uri="{BB962C8B-B14F-4D97-AF65-F5344CB8AC3E}">
        <p14:creationId xmlns:p14="http://schemas.microsoft.com/office/powerpoint/2010/main" val="29091692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33</a:t>
            </a:fld>
            <a:endParaRPr lang="en-US" altLang="zh-CN"/>
          </a:p>
        </p:txBody>
      </p:sp>
      <p:sp>
        <p:nvSpPr>
          <p:cNvPr id="9"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731974"/>
          </a:xfrm>
        </p:spPr>
        <p:txBody>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分类问题的性能度量</a:t>
            </a:r>
          </a:p>
        </p:txBody>
      </p:sp>
      <mc:AlternateContent xmlns:mc="http://schemas.openxmlformats.org/markup-compatibility/2006" xmlns:a14="http://schemas.microsoft.com/office/drawing/2010/main">
        <mc:Choice Requires="a14">
          <p:sp>
            <p:nvSpPr>
              <p:cNvPr id="4" name="文本框 3"/>
              <p:cNvSpPr txBox="1"/>
              <p:nvPr/>
            </p:nvSpPr>
            <p:spPr>
              <a:xfrm>
                <a:off x="76835" y="1033595"/>
                <a:ext cx="8981440" cy="2763129"/>
              </a:xfrm>
              <a:prstGeom prst="rect">
                <a:avLst/>
              </a:prstGeom>
              <a:noFill/>
            </p:spPr>
            <p:txBody>
              <a:bodyPr wrap="square" rtlCol="0">
                <a:spAutoFit/>
              </a:bodyPr>
              <a:lstStyle/>
              <a:p>
                <a:pPr>
                  <a:lnSpc>
                    <a:spcPct val="150000"/>
                  </a:lnSpc>
                </a:pPr>
                <a:r>
                  <a:rPr lang="en-US" altLang="zh-CN" b="1" dirty="0">
                    <a:latin typeface="微软雅黑" panose="020B0503020204020204" pitchFamily="34" charset="-122"/>
                    <a:ea typeface="微软雅黑" panose="020B0503020204020204" pitchFamily="34" charset="-122"/>
                  </a:rPr>
                  <a:t>ROC</a:t>
                </a:r>
                <a:r>
                  <a:rPr lang="zh-CN" altLang="en-US" b="1" dirty="0">
                    <a:latin typeface="微软雅黑" panose="020B0503020204020204" pitchFamily="34" charset="-122"/>
                    <a:ea typeface="微软雅黑" panose="020B0503020204020204" pitchFamily="34" charset="-122"/>
                  </a:rPr>
                  <a:t>图</a:t>
                </a:r>
                <a:r>
                  <a:rPr lang="zh-CN" altLang="en-US" b="1" dirty="0">
                    <a:solidFill>
                      <a:srgbClr val="C00000"/>
                    </a:solidFill>
                    <a:latin typeface="微软雅黑" panose="020B0503020204020204" pitchFamily="34" charset="-122"/>
                    <a:ea typeface="微软雅黑" panose="020B0503020204020204" pitchFamily="34" charset="-122"/>
                  </a:rPr>
                  <a:t>（阅读内容）</a:t>
                </a:r>
                <a:endParaRPr lang="en-US" altLang="zh-CN" b="1" dirty="0">
                  <a:solidFill>
                    <a:srgbClr val="C00000"/>
                  </a:solidFill>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与</a:t>
                </a:r>
                <a:r>
                  <a:rPr lang="en-US" altLang="zh-CN" dirty="0">
                    <a:latin typeface="微软雅黑" panose="020B0503020204020204" pitchFamily="34" charset="-122"/>
                    <a:ea typeface="微软雅黑" panose="020B0503020204020204" pitchFamily="34" charset="-122"/>
                  </a:rPr>
                  <a:t>P-R</a:t>
                </a:r>
                <a:r>
                  <a:rPr lang="zh-CN" altLang="en-US" dirty="0">
                    <a:latin typeface="微软雅黑" panose="020B0503020204020204" pitchFamily="34" charset="-122"/>
                    <a:ea typeface="微软雅黑" panose="020B0503020204020204" pitchFamily="34" charset="-122"/>
                  </a:rPr>
                  <a:t>图不同的是，</a:t>
                </a:r>
                <a:r>
                  <a:rPr lang="en-US" altLang="zh-CN" dirty="0">
                    <a:latin typeface="微软雅黑" panose="020B0503020204020204" pitchFamily="34" charset="-122"/>
                    <a:ea typeface="微软雅黑" panose="020B0503020204020204" pitchFamily="34" charset="-122"/>
                  </a:rPr>
                  <a:t>ROC</a:t>
                </a:r>
                <a:r>
                  <a:rPr lang="zh-CN" altLang="en-US" dirty="0">
                    <a:latin typeface="微软雅黑" panose="020B0503020204020204" pitchFamily="34" charset="-122"/>
                    <a:ea typeface="微软雅黑" panose="020B0503020204020204" pitchFamily="34" charset="-122"/>
                  </a:rPr>
                  <a:t>曲线的纵轴是“真正类率”（</a:t>
                </a:r>
                <a:r>
                  <a:rPr lang="en-US" altLang="zh-CN" dirty="0">
                    <a:latin typeface="微软雅黑" panose="020B0503020204020204" pitchFamily="34" charset="-122"/>
                    <a:ea typeface="微软雅黑" panose="020B0503020204020204" pitchFamily="34" charset="-122"/>
                  </a:rPr>
                  <a:t>true positive rate</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TPR</a:t>
                </a:r>
                <a:r>
                  <a:rPr lang="zh-CN" altLang="en-US" dirty="0">
                    <a:latin typeface="微软雅黑" panose="020B0503020204020204" pitchFamily="34" charset="-122"/>
                    <a:ea typeface="微软雅黑" panose="020B0503020204020204" pitchFamily="34" charset="-122"/>
                  </a:rPr>
                  <a:t>），横轴是“假正类率”（</a:t>
                </a:r>
                <a:r>
                  <a:rPr lang="en-US" altLang="zh-CN" dirty="0">
                    <a:latin typeface="微软雅黑" panose="020B0503020204020204" pitchFamily="34" charset="-122"/>
                    <a:ea typeface="微软雅黑" panose="020B0503020204020204" pitchFamily="34" charset="-122"/>
                  </a:rPr>
                  <a:t>false positive rate</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FPR</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r>
                        <a:rPr lang="en-US" altLang="zh-CN">
                          <a:latin typeface="Cambria Math" panose="02040503050406030204" pitchFamily="18" charset="0"/>
                          <a:ea typeface="微软雅黑" panose="020B0503020204020204" pitchFamily="34" charset="-122"/>
                        </a:rPr>
                        <m:t>𝑇𝑃𝑅</m:t>
                      </m:r>
                      <m:r>
                        <a:rPr lang="en-US" altLang="zh-CN">
                          <a:latin typeface="Cambria Math" panose="02040503050406030204" pitchFamily="18" charset="0"/>
                          <a:ea typeface="微软雅黑" panose="020B0503020204020204" pitchFamily="34" charset="-122"/>
                        </a:rPr>
                        <m:t>=</m:t>
                      </m:r>
                      <m:f>
                        <m:fPr>
                          <m:ctrlPr>
                            <a:rPr lang="en-US" altLang="zh-CN" i="1">
                              <a:latin typeface="Cambria Math" panose="02040503050406030204" pitchFamily="18" charset="0"/>
                              <a:ea typeface="微软雅黑" panose="020B0503020204020204" pitchFamily="34" charset="-122"/>
                            </a:rPr>
                          </m:ctrlPr>
                        </m:fPr>
                        <m:num>
                          <m:r>
                            <a:rPr lang="en-US" altLang="zh-CN">
                              <a:latin typeface="Cambria Math" panose="02040503050406030204" pitchFamily="18" charset="0"/>
                              <a:ea typeface="微软雅黑" panose="020B0503020204020204" pitchFamily="34" charset="-122"/>
                            </a:rPr>
                            <m:t>𝑇𝑃</m:t>
                          </m:r>
                        </m:num>
                        <m:den>
                          <m:r>
                            <a:rPr lang="en-US" altLang="zh-CN">
                              <a:latin typeface="Cambria Math" panose="02040503050406030204" pitchFamily="18" charset="0"/>
                              <a:ea typeface="微软雅黑" panose="020B0503020204020204" pitchFamily="34" charset="-122"/>
                            </a:rPr>
                            <m:t>𝑇𝑃</m:t>
                          </m:r>
                          <m:r>
                            <a:rPr lang="en-US" altLang="zh-CN">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𝐹</m:t>
                          </m:r>
                          <m:r>
                            <a:rPr lang="en-US" altLang="zh-CN">
                              <a:latin typeface="Cambria Math" panose="02040503050406030204" pitchFamily="18" charset="0"/>
                              <a:ea typeface="微软雅黑" panose="020B0503020204020204" pitchFamily="34" charset="-122"/>
                            </a:rPr>
                            <m:t>𝑁</m:t>
                          </m:r>
                        </m:den>
                      </m:f>
                      <m:r>
                        <a:rPr lang="en-US" altLang="zh-CN" b="0" i="0" smtClean="0">
                          <a:latin typeface="Cambria Math" panose="02040503050406030204" pitchFamily="18" charset="0"/>
                          <a:ea typeface="微软雅黑" panose="020B0503020204020204" pitchFamily="34" charset="-122"/>
                        </a:rPr>
                        <m:t>           </m:t>
                      </m:r>
                      <m:r>
                        <a:rPr lang="en-US" altLang="zh-CN">
                          <a:latin typeface="Cambria Math" panose="02040503050406030204" pitchFamily="18" charset="0"/>
                          <a:ea typeface="微软雅黑" panose="020B0503020204020204" pitchFamily="34" charset="-122"/>
                        </a:rPr>
                        <m:t>𝐹𝑃𝑅</m:t>
                      </m:r>
                      <m:r>
                        <a:rPr lang="en-US" altLang="zh-CN">
                          <a:latin typeface="Cambria Math" panose="02040503050406030204" pitchFamily="18" charset="0"/>
                          <a:ea typeface="微软雅黑" panose="020B0503020204020204" pitchFamily="34" charset="-122"/>
                        </a:rPr>
                        <m:t>=</m:t>
                      </m:r>
                      <m:f>
                        <m:fPr>
                          <m:ctrlPr>
                            <a:rPr lang="en-US" altLang="zh-CN" i="1">
                              <a:latin typeface="Cambria Math" panose="02040503050406030204" pitchFamily="18" charset="0"/>
                              <a:ea typeface="微软雅黑" panose="020B0503020204020204" pitchFamily="34" charset="-122"/>
                            </a:rPr>
                          </m:ctrlPr>
                        </m:fPr>
                        <m:num>
                          <m:r>
                            <m:rPr>
                              <m:sty m:val="p"/>
                            </m:rPr>
                            <a:rPr lang="en-US" altLang="zh-CN">
                              <a:latin typeface="Cambria Math" panose="02040503050406030204" pitchFamily="18" charset="0"/>
                              <a:ea typeface="微软雅黑" panose="020B0503020204020204" pitchFamily="34" charset="-122"/>
                            </a:rPr>
                            <m:t>FP</m:t>
                          </m:r>
                        </m:num>
                        <m:den>
                          <m:r>
                            <m:rPr>
                              <m:sty m:val="p"/>
                            </m:rPr>
                            <a:rPr lang="en-US" altLang="zh-CN">
                              <a:latin typeface="Cambria Math" panose="02040503050406030204" pitchFamily="18" charset="0"/>
                              <a:ea typeface="微软雅黑" panose="020B0503020204020204" pitchFamily="34" charset="-122"/>
                            </a:rPr>
                            <m:t>FP</m:t>
                          </m:r>
                          <m:r>
                            <a:rPr lang="en-US" altLang="zh-CN">
                              <a:latin typeface="Cambria Math" panose="02040503050406030204" pitchFamily="18" charset="0"/>
                              <a:ea typeface="微软雅黑" panose="020B0503020204020204" pitchFamily="34" charset="-122"/>
                            </a:rPr>
                            <m:t>+</m:t>
                          </m:r>
                          <m:r>
                            <m:rPr>
                              <m:sty m:val="p"/>
                            </m:rPr>
                            <a:rPr lang="en-US" altLang="zh-CN">
                              <a:latin typeface="Cambria Math" panose="02040503050406030204" pitchFamily="18" charset="0"/>
                              <a:ea typeface="微软雅黑" panose="020B0503020204020204" pitchFamily="34" charset="-122"/>
                            </a:rPr>
                            <m:t>TN</m:t>
                          </m:r>
                        </m:den>
                      </m:f>
                    </m:oMath>
                  </m:oMathPara>
                </a14:m>
                <a:endParaRPr lang="en-US" altLang="zh-CN" dirty="0">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a:lnSpc>
                    <a:spcPct val="150000"/>
                  </a:lnSpc>
                </a:pPr>
                <a:endParaRPr lang="en-US" altLang="zh-CN" sz="1100" dirty="0">
                  <a:latin typeface="微软雅黑" panose="020B0503020204020204" pitchFamily="34" charset="-122"/>
                  <a:ea typeface="微软雅黑" panose="020B0503020204020204" pitchFamily="34" charset="-122"/>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76835" y="1033595"/>
                <a:ext cx="8981440" cy="2763129"/>
              </a:xfrm>
              <a:prstGeom prst="rect">
                <a:avLst/>
              </a:prstGeom>
              <a:blipFill>
                <a:blip r:embed="rId2"/>
                <a:stretch>
                  <a:fillRect l="-611"/>
                </a:stretch>
              </a:blipFill>
            </p:spPr>
            <p:txBody>
              <a:bodyPr/>
              <a:lstStyle/>
              <a:p>
                <a:r>
                  <a:rPr lang="zh-CN" altLang="en-US">
                    <a:noFill/>
                  </a:rPr>
                  <a:t> </a:t>
                </a:r>
              </a:p>
            </p:txBody>
          </p:sp>
        </mc:Fallback>
      </mc:AlternateContent>
      <p:sp>
        <p:nvSpPr>
          <p:cNvPr id="6" name="文本框 5"/>
          <p:cNvSpPr txBox="1"/>
          <p:nvPr/>
        </p:nvSpPr>
        <p:spPr>
          <a:xfrm>
            <a:off x="162560" y="3703502"/>
            <a:ext cx="5484593" cy="2951898"/>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与</a:t>
            </a:r>
            <a:r>
              <a:rPr lang="en-US" altLang="zh-CN" dirty="0">
                <a:latin typeface="微软雅黑" panose="020B0503020204020204" pitchFamily="34" charset="-122"/>
                <a:ea typeface="微软雅黑" panose="020B0503020204020204" pitchFamily="34" charset="-122"/>
              </a:rPr>
              <a:t>P-R</a:t>
            </a:r>
            <a:r>
              <a:rPr lang="zh-CN" altLang="en-US" dirty="0">
                <a:latin typeface="微软雅黑" panose="020B0503020204020204" pitchFamily="34" charset="-122"/>
                <a:ea typeface="微软雅黑" panose="020B0503020204020204" pitchFamily="34" charset="-122"/>
              </a:rPr>
              <a:t>图类似，如果一个模型的</a:t>
            </a:r>
            <a:r>
              <a:rPr lang="en-US" altLang="zh-CN" dirty="0">
                <a:latin typeface="微软雅黑" panose="020B0503020204020204" pitchFamily="34" charset="-122"/>
                <a:ea typeface="微软雅黑" panose="020B0503020204020204" pitchFamily="34" charset="-122"/>
              </a:rPr>
              <a:t>ROC</a:t>
            </a:r>
            <a:r>
              <a:rPr lang="zh-CN" altLang="en-US" dirty="0">
                <a:latin typeface="微软雅黑" panose="020B0503020204020204" pitchFamily="34" charset="-122"/>
                <a:ea typeface="微软雅黑" panose="020B0503020204020204" pitchFamily="34" charset="-122"/>
              </a:rPr>
              <a:t>曲线被另一个完全包围，那么前者模型的性能差于后者，如果两个模型的</a:t>
            </a:r>
            <a:r>
              <a:rPr lang="en-US" altLang="zh-CN" dirty="0">
                <a:latin typeface="微软雅黑" panose="020B0503020204020204" pitchFamily="34" charset="-122"/>
                <a:ea typeface="微软雅黑" panose="020B0503020204020204" pitchFamily="34" charset="-122"/>
              </a:rPr>
              <a:t>P-R</a:t>
            </a:r>
            <a:r>
              <a:rPr lang="zh-CN" altLang="en-US" dirty="0">
                <a:latin typeface="微软雅黑" panose="020B0503020204020204" pitchFamily="34" charset="-122"/>
                <a:ea typeface="微软雅黑" panose="020B0503020204020204" pitchFamily="34" charset="-122"/>
              </a:rPr>
              <a:t>曲线有交叉，一般难以断言两个模型孰优孰劣，一种较为合理的判断是比较</a:t>
            </a:r>
            <a:r>
              <a:rPr lang="en-US" altLang="zh-CN" dirty="0">
                <a:latin typeface="微软雅黑" panose="020B0503020204020204" pitchFamily="34" charset="-122"/>
                <a:ea typeface="微软雅黑" panose="020B0503020204020204" pitchFamily="34" charset="-122"/>
              </a:rPr>
              <a:t>ROC</a:t>
            </a:r>
            <a:r>
              <a:rPr lang="zh-CN" altLang="en-US" dirty="0">
                <a:latin typeface="微软雅黑" panose="020B0503020204020204" pitchFamily="34" charset="-122"/>
                <a:ea typeface="微软雅黑" panose="020B0503020204020204" pitchFamily="34" charset="-122"/>
              </a:rPr>
              <a:t>曲线下的面积就需要在特定的精确率或召回率下来比较，一种常用的方式是比较</a:t>
            </a:r>
            <a:r>
              <a:rPr lang="en-US" altLang="zh-CN" dirty="0">
                <a:latin typeface="微软雅黑" panose="020B0503020204020204" pitchFamily="34" charset="-122"/>
                <a:ea typeface="微软雅黑" panose="020B0503020204020204" pitchFamily="34" charset="-122"/>
              </a:rPr>
              <a:t>ROC</a:t>
            </a:r>
            <a:r>
              <a:rPr lang="zh-CN" altLang="en-US" dirty="0">
                <a:latin typeface="微软雅黑" panose="020B0503020204020204" pitchFamily="34" charset="-122"/>
                <a:ea typeface="微软雅黑" panose="020B0503020204020204" pitchFamily="34" charset="-122"/>
              </a:rPr>
              <a:t>曲线下的面积，即</a:t>
            </a:r>
            <a:r>
              <a:rPr lang="en-US" altLang="zh-CN" dirty="0">
                <a:latin typeface="微软雅黑" panose="020B0503020204020204" pitchFamily="34" charset="-122"/>
                <a:ea typeface="微软雅黑" panose="020B0503020204020204" pitchFamily="34" charset="-122"/>
              </a:rPr>
              <a:t>AUC</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area under curve</a:t>
            </a:r>
            <a:r>
              <a:rPr lang="zh-CN" altLang="en-US" dirty="0">
                <a:latin typeface="微软雅黑" panose="020B0503020204020204" pitchFamily="34" charset="-122"/>
                <a:ea typeface="微软雅黑" panose="020B0503020204020204" pitchFamily="34" charset="-122"/>
              </a:rPr>
              <a:t>）。</a:t>
            </a:r>
          </a:p>
        </p:txBody>
      </p:sp>
      <p:pic>
        <p:nvPicPr>
          <p:cNvPr id="7" name="图片 6"/>
          <p:cNvPicPr>
            <a:picLocks noChangeAspect="1"/>
          </p:cNvPicPr>
          <p:nvPr/>
        </p:nvPicPr>
        <p:blipFill>
          <a:blip r:embed="rId3"/>
          <a:stretch>
            <a:fillRect/>
          </a:stretch>
        </p:blipFill>
        <p:spPr>
          <a:xfrm>
            <a:off x="5700968" y="3684627"/>
            <a:ext cx="3357307" cy="2989648"/>
          </a:xfrm>
          <a:prstGeom prst="rect">
            <a:avLst/>
          </a:prstGeom>
        </p:spPr>
      </p:pic>
      <p:sp>
        <p:nvSpPr>
          <p:cNvPr id="10" name="页脚占位符 2">
            <a:extLst>
              <a:ext uri="{FF2B5EF4-FFF2-40B4-BE49-F238E27FC236}">
                <a16:creationId xmlns:a16="http://schemas.microsoft.com/office/drawing/2014/main" id="{5E6E9950-72C4-40C7-9342-1F58F3F2FDA1}"/>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Tree>
    <p:extLst>
      <p:ext uri="{BB962C8B-B14F-4D97-AF65-F5344CB8AC3E}">
        <p14:creationId xmlns:p14="http://schemas.microsoft.com/office/powerpoint/2010/main" val="156003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34</a:t>
            </a:fld>
            <a:endParaRPr lang="en-US" altLang="zh-CN"/>
          </a:p>
        </p:txBody>
      </p:sp>
      <p:sp>
        <p:nvSpPr>
          <p:cNvPr id="9"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731974"/>
          </a:xfrm>
        </p:spPr>
        <p:txBody>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分类问题的性能度量</a:t>
            </a:r>
          </a:p>
        </p:txBody>
      </p:sp>
      <mc:AlternateContent xmlns:mc="http://schemas.openxmlformats.org/markup-compatibility/2006" xmlns:a14="http://schemas.microsoft.com/office/drawing/2010/main">
        <mc:Choice Requires="a14">
          <p:sp>
            <p:nvSpPr>
              <p:cNvPr id="4" name="文本框 3"/>
              <p:cNvSpPr txBox="1"/>
              <p:nvPr/>
            </p:nvSpPr>
            <p:spPr>
              <a:xfrm>
                <a:off x="162560" y="1162854"/>
                <a:ext cx="8981440" cy="4636975"/>
              </a:xfrm>
              <a:prstGeom prst="rect">
                <a:avLst/>
              </a:prstGeom>
              <a:noFill/>
            </p:spPr>
            <p:txBody>
              <a:bodyPr wrap="square" rtlCol="0">
                <a:spAutoFit/>
              </a:bodyPr>
              <a:lstStyle/>
              <a:p>
                <a:pPr>
                  <a:lnSpc>
                    <a:spcPct val="150000"/>
                  </a:lnSpc>
                </a:pPr>
                <a:r>
                  <a:rPr lang="en-US" altLang="zh-CN" b="1" dirty="0">
                    <a:latin typeface="微软雅黑" panose="020B0503020204020204" pitchFamily="34" charset="-122"/>
                    <a:ea typeface="微软雅黑" panose="020B0503020204020204" pitchFamily="34" charset="-122"/>
                  </a:rPr>
                  <a:t>F1</a:t>
                </a:r>
                <a:r>
                  <a:rPr lang="zh-CN" altLang="en-US" b="1" dirty="0">
                    <a:latin typeface="微软雅黑" panose="020B0503020204020204" pitchFamily="34" charset="-122"/>
                    <a:ea typeface="微软雅黑" panose="020B0503020204020204" pitchFamily="34" charset="-122"/>
                  </a:rPr>
                  <a:t>分数（</a:t>
                </a:r>
                <a:r>
                  <a:rPr lang="en-US" altLang="zh-CN" b="1" dirty="0">
                    <a:latin typeface="微软雅黑" panose="020B0503020204020204" pitchFamily="34" charset="-122"/>
                    <a:ea typeface="微软雅黑" panose="020B0503020204020204" pitchFamily="34" charset="-122"/>
                  </a:rPr>
                  <a:t>F1-score</a:t>
                </a:r>
                <a:r>
                  <a:rPr lang="zh-CN" altLang="en-US" b="1" dirty="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F1</a:t>
                </a:r>
                <a:r>
                  <a:rPr lang="zh-CN" altLang="en-US" dirty="0">
                    <a:latin typeface="微软雅黑" panose="020B0503020204020204" pitchFamily="34" charset="-122"/>
                    <a:ea typeface="微软雅黑" panose="020B0503020204020204" pitchFamily="34" charset="-122"/>
                  </a:rPr>
                  <a:t>分数是另一种适用于分类问题的性能度量指标，它可以兼顾精确率和召回率。</a:t>
                </a:r>
                <a:r>
                  <a:rPr lang="en-US" altLang="zh-CN" dirty="0">
                    <a:latin typeface="微软雅黑" panose="020B0503020204020204" pitchFamily="34" charset="-122"/>
                    <a:ea typeface="微软雅黑" panose="020B0503020204020204" pitchFamily="34" charset="-122"/>
                  </a:rPr>
                  <a:t>F1</a:t>
                </a:r>
                <a:r>
                  <a:rPr lang="zh-CN" altLang="en-US" dirty="0">
                    <a:latin typeface="微软雅黑" panose="020B0503020204020204" pitchFamily="34" charset="-122"/>
                    <a:ea typeface="微软雅黑" panose="020B0503020204020204" pitchFamily="34" charset="-122"/>
                  </a:rPr>
                  <a:t>分数本质上是精确率和召回率的调和平均值</a:t>
                </a:r>
                <a:endParaRPr lang="en-US" altLang="zh-CN" dirty="0">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2</m:t>
                          </m:r>
                        </m:num>
                        <m:den>
                          <m:sSub>
                            <m:sSubPr>
                              <m:ctrlPr>
                                <a:rPr lang="en-US" altLang="zh-CN"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𝐹</m:t>
                              </m:r>
                            </m:e>
                            <m:sub>
                              <m:r>
                                <a:rPr lang="en-US" altLang="zh-CN" b="0" i="1" smtClean="0">
                                  <a:latin typeface="Cambria Math" panose="02040503050406030204" pitchFamily="18" charset="0"/>
                                  <a:ea typeface="微软雅黑" panose="020B0503020204020204" pitchFamily="34" charset="-122"/>
                                </a:rPr>
                                <m:t>1</m:t>
                              </m:r>
                            </m:sub>
                          </m:sSub>
                        </m:den>
                      </m:f>
                      <m:r>
                        <a:rPr lang="en-US" altLang="zh-CN" b="0" i="1" smtClean="0">
                          <a:latin typeface="Cambria Math" panose="02040503050406030204" pitchFamily="18" charset="0"/>
                          <a:ea typeface="微软雅黑" panose="020B0503020204020204" pitchFamily="34" charset="-122"/>
                        </a:rPr>
                        <m:t>=</m:t>
                      </m:r>
                      <m:f>
                        <m:fPr>
                          <m:ctrlPr>
                            <a:rPr lang="en-US" altLang="zh-CN" b="0" i="1" smtClean="0">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1</m:t>
                          </m:r>
                        </m:num>
                        <m:den>
                          <m:r>
                            <a:rPr lang="en-US" altLang="zh-CN" b="0" i="1" smtClean="0">
                              <a:latin typeface="Cambria Math" panose="02040503050406030204" pitchFamily="18" charset="0"/>
                              <a:ea typeface="微软雅黑" panose="020B0503020204020204" pitchFamily="34" charset="-122"/>
                            </a:rPr>
                            <m:t>𝑃𝑟𝑒𝑐𝑖𝑠𝑖𝑜𝑛</m:t>
                          </m:r>
                        </m:den>
                      </m:f>
                      <m:r>
                        <a:rPr lang="en-US" altLang="zh-CN" b="0" i="1" smtClean="0">
                          <a:latin typeface="Cambria Math" panose="02040503050406030204" pitchFamily="18" charset="0"/>
                          <a:ea typeface="微软雅黑" panose="020B0503020204020204" pitchFamily="34" charset="-122"/>
                        </a:rPr>
                        <m:t>+</m:t>
                      </m:r>
                      <m:f>
                        <m:fPr>
                          <m:ctrlPr>
                            <a:rPr lang="en-US" altLang="zh-CN" b="0" i="1" smtClean="0">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1</m:t>
                          </m:r>
                        </m:num>
                        <m:den>
                          <m:r>
                            <a:rPr lang="en-US" altLang="zh-CN" b="0" i="1" smtClean="0">
                              <a:latin typeface="Cambria Math" panose="02040503050406030204" pitchFamily="18" charset="0"/>
                              <a:ea typeface="微软雅黑" panose="020B0503020204020204" pitchFamily="34" charset="-122"/>
                            </a:rPr>
                            <m:t>𝑅𝑒𝑐𝑎𝑙𝑙</m:t>
                          </m:r>
                        </m:den>
                      </m:f>
                    </m:oMath>
                  </m:oMathPara>
                </a14:m>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化简可以得到：</a:t>
                </a:r>
                <a:endParaRPr lang="en-US" altLang="zh-CN" dirty="0">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𝐹</m:t>
                          </m:r>
                        </m:e>
                        <m:sub>
                          <m:r>
                            <a:rPr lang="en-US" altLang="zh-CN" b="0" i="1" smtClean="0">
                              <a:latin typeface="Cambria Math" panose="02040503050406030204" pitchFamily="18" charset="0"/>
                              <a:ea typeface="微软雅黑" panose="020B0503020204020204" pitchFamily="34" charset="-122"/>
                            </a:rPr>
                            <m:t>1</m:t>
                          </m:r>
                        </m:sub>
                      </m:sSub>
                      <m:r>
                        <a:rPr lang="en-US" altLang="zh-CN">
                          <a:latin typeface="Cambria Math" panose="02040503050406030204" pitchFamily="18" charset="0"/>
                          <a:ea typeface="微软雅黑" panose="020B0503020204020204" pitchFamily="34" charset="-122"/>
                        </a:rPr>
                        <m:t>=</m:t>
                      </m:r>
                      <m:f>
                        <m:fPr>
                          <m:ctrlPr>
                            <a:rPr lang="en-US" altLang="zh-CN" i="1">
                              <a:latin typeface="Cambria Math" panose="02040503050406030204" pitchFamily="18" charset="0"/>
                              <a:ea typeface="微软雅黑" panose="020B0503020204020204" pitchFamily="34" charset="-122"/>
                            </a:rPr>
                          </m:ctrlPr>
                        </m:fPr>
                        <m:num>
                          <m:r>
                            <a:rPr lang="en-US" altLang="zh-CN" b="0" i="0" smtClean="0">
                              <a:latin typeface="Cambria Math" panose="02040503050406030204" pitchFamily="18" charset="0"/>
                              <a:ea typeface="微软雅黑" panose="020B0503020204020204" pitchFamily="34" charset="-122"/>
                            </a:rPr>
                            <m:t>2</m:t>
                          </m:r>
                          <m:r>
                            <a:rPr lang="en-US" altLang="zh-CN">
                              <a:latin typeface="Cambria Math" panose="02040503050406030204" pitchFamily="18" charset="0"/>
                              <a:ea typeface="微软雅黑" panose="020B0503020204020204" pitchFamily="34" charset="-122"/>
                            </a:rPr>
                            <m:t>𝑇𝑃</m:t>
                          </m:r>
                        </m:num>
                        <m:den>
                          <m:r>
                            <a:rPr lang="en-US" altLang="zh-CN" b="0" i="0" smtClean="0">
                              <a:latin typeface="Cambria Math" panose="02040503050406030204" pitchFamily="18" charset="0"/>
                              <a:ea typeface="微软雅黑" panose="020B0503020204020204" pitchFamily="34" charset="-122"/>
                            </a:rPr>
                            <m:t>2</m:t>
                          </m:r>
                          <m:r>
                            <a:rPr lang="en-US" altLang="zh-CN">
                              <a:latin typeface="Cambria Math" panose="02040503050406030204" pitchFamily="18" charset="0"/>
                              <a:ea typeface="微软雅黑" panose="020B0503020204020204" pitchFamily="34" charset="-122"/>
                            </a:rPr>
                            <m:t>𝑇𝑃</m:t>
                          </m:r>
                          <m:r>
                            <a:rPr lang="en-US" altLang="zh-CN">
                              <a:latin typeface="Cambria Math" panose="02040503050406030204" pitchFamily="18" charset="0"/>
                              <a:ea typeface="微软雅黑" panose="020B0503020204020204" pitchFamily="34" charset="-122"/>
                            </a:rPr>
                            <m:t>+</m:t>
                          </m:r>
                          <m:r>
                            <m:rPr>
                              <m:sty m:val="p"/>
                            </m:rPr>
                            <a:rPr lang="en-US" altLang="zh-CN" b="0" i="0" smtClean="0">
                              <a:latin typeface="Cambria Math" panose="02040503050406030204" pitchFamily="18" charset="0"/>
                              <a:ea typeface="微软雅黑" panose="020B0503020204020204" pitchFamily="34" charset="-122"/>
                            </a:rPr>
                            <m:t>FP</m:t>
                          </m:r>
                          <m:r>
                            <a:rPr lang="en-US" altLang="zh-CN" b="0" i="0" smtClean="0">
                              <a:latin typeface="Cambria Math" panose="02040503050406030204" pitchFamily="18" charset="0"/>
                              <a:ea typeface="微软雅黑" panose="020B0503020204020204" pitchFamily="34" charset="-122"/>
                            </a:rPr>
                            <m:t>+</m:t>
                          </m:r>
                          <m:r>
                            <m:rPr>
                              <m:sty m:val="p"/>
                            </m:rPr>
                            <a:rPr lang="en-US" altLang="zh-CN" b="0" i="0" smtClean="0">
                              <a:latin typeface="Cambria Math" panose="02040503050406030204" pitchFamily="18" charset="0"/>
                              <a:ea typeface="微软雅黑" panose="020B0503020204020204" pitchFamily="34" charset="-122"/>
                            </a:rPr>
                            <m:t>F</m:t>
                          </m:r>
                          <m:r>
                            <a:rPr lang="en-US" altLang="zh-CN">
                              <a:latin typeface="Cambria Math" panose="02040503050406030204" pitchFamily="18" charset="0"/>
                              <a:ea typeface="微软雅黑" panose="020B0503020204020204" pitchFamily="34" charset="-122"/>
                            </a:rPr>
                            <m:t>𝑁</m:t>
                          </m:r>
                        </m:den>
                      </m:f>
                    </m:oMath>
                  </m:oMathPara>
                </a14:m>
                <a:endParaRPr lang="en-US" altLang="zh-CN" dirty="0">
                  <a:latin typeface="微软雅黑" panose="020B0503020204020204" pitchFamily="34" charset="-122"/>
                  <a:ea typeface="微软雅黑" panose="020B0503020204020204" pitchFamily="34" charset="-122"/>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162560" y="1162854"/>
                <a:ext cx="8981440" cy="4636975"/>
              </a:xfrm>
              <a:prstGeom prst="rect">
                <a:avLst/>
              </a:prstGeom>
              <a:blipFill>
                <a:blip r:embed="rId2"/>
                <a:stretch>
                  <a:fillRect l="-611" r="-136"/>
                </a:stretch>
              </a:blipFill>
            </p:spPr>
            <p:txBody>
              <a:bodyPr/>
              <a:lstStyle/>
              <a:p>
                <a:r>
                  <a:rPr lang="zh-CN" altLang="en-US">
                    <a:noFill/>
                  </a:rPr>
                  <a:t> </a:t>
                </a:r>
              </a:p>
            </p:txBody>
          </p:sp>
        </mc:Fallback>
      </mc:AlternateContent>
      <p:sp>
        <p:nvSpPr>
          <p:cNvPr id="7" name="页脚占位符 2">
            <a:extLst>
              <a:ext uri="{FF2B5EF4-FFF2-40B4-BE49-F238E27FC236}">
                <a16:creationId xmlns:a16="http://schemas.microsoft.com/office/drawing/2014/main" id="{91423984-0DFF-47AF-A5CE-65E82DFDE6B4}"/>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Tree>
    <p:extLst>
      <p:ext uri="{BB962C8B-B14F-4D97-AF65-F5344CB8AC3E}">
        <p14:creationId xmlns:p14="http://schemas.microsoft.com/office/powerpoint/2010/main" val="20896767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35</a:t>
            </a:fld>
            <a:endParaRPr lang="en-US" altLang="zh-CN"/>
          </a:p>
        </p:txBody>
      </p:sp>
      <p:sp>
        <p:nvSpPr>
          <p:cNvPr id="9"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731974"/>
          </a:xfrm>
        </p:spPr>
        <p:txBody>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p:sp>
        <p:nvSpPr>
          <p:cNvPr id="10" name="文本框 9"/>
          <p:cNvSpPr txBox="1"/>
          <p:nvPr/>
        </p:nvSpPr>
        <p:spPr>
          <a:xfrm>
            <a:off x="85768" y="1172739"/>
            <a:ext cx="8972464" cy="1289905"/>
          </a:xfrm>
          <a:prstGeom prst="rect">
            <a:avLst/>
          </a:prstGeom>
          <a:noFill/>
        </p:spPr>
        <p:txBody>
          <a:bodyPr wrap="square" rtlCol="0">
            <a:spAutoFit/>
          </a:bodyPr>
          <a:lstStyle/>
          <a:p>
            <a:pPr algn="just">
              <a:lnSpc>
                <a:spcPct val="150000"/>
              </a:lnSpc>
            </a:pPr>
            <a:r>
              <a:rPr lang="en-US" altLang="zh-CN" dirty="0">
                <a:latin typeface="微软雅黑" panose="020B0503020204020204" pitchFamily="34" charset="-122"/>
                <a:ea typeface="微软雅黑" panose="020B0503020204020204" pitchFamily="34" charset="-122"/>
              </a:rPr>
              <a:t>Python</a:t>
            </a:r>
            <a:r>
              <a:rPr lang="zh-CN" altLang="en-US" dirty="0">
                <a:latin typeface="微软雅黑" panose="020B0503020204020204" pitchFamily="34" charset="-122"/>
                <a:ea typeface="微软雅黑" panose="020B0503020204020204" pitchFamily="34" charset="-122"/>
              </a:rPr>
              <a:t>的</a:t>
            </a:r>
            <a:r>
              <a:rPr lang="en-US" altLang="zh-CN" dirty="0" err="1">
                <a:latin typeface="微软雅黑" panose="020B0503020204020204" pitchFamily="34" charset="-122"/>
                <a:ea typeface="微软雅黑" panose="020B0503020204020204" pitchFamily="34" charset="-122"/>
              </a:rPr>
              <a:t>sklearn</a:t>
            </a:r>
            <a:r>
              <a:rPr lang="zh-CN" altLang="en-US" dirty="0">
                <a:latin typeface="微软雅黑" panose="020B0503020204020204" pitchFamily="34" charset="-122"/>
                <a:ea typeface="微软雅黑" panose="020B0503020204020204" pitchFamily="34" charset="-122"/>
              </a:rPr>
              <a:t>模块中自带</a:t>
            </a:r>
            <a:r>
              <a:rPr lang="en-US" altLang="zh-CN" dirty="0" err="1">
                <a:latin typeface="微软雅黑" panose="020B0503020204020204" pitchFamily="34" charset="-122"/>
                <a:ea typeface="微软雅黑" panose="020B0503020204020204" pitchFamily="34" charset="-122"/>
              </a:rPr>
              <a:t>precision_recall_curve</a:t>
            </a:r>
            <a:r>
              <a:rPr lang="zh-CN" altLang="en-US" dirty="0">
                <a:latin typeface="微软雅黑" panose="020B0503020204020204" pitchFamily="34" charset="-122"/>
                <a:ea typeface="微软雅黑" panose="020B0503020204020204" pitchFamily="34" charset="-122"/>
              </a:rPr>
              <a:t>函数。</a:t>
            </a:r>
            <a:r>
              <a:rPr lang="en-US" altLang="zh-CN" dirty="0" err="1">
                <a:latin typeface="微软雅黑" panose="020B0503020204020204" pitchFamily="34" charset="-122"/>
                <a:ea typeface="微软雅黑" panose="020B0503020204020204" pitchFamily="34" charset="-122"/>
              </a:rPr>
              <a:t>precision_recall_curve</a:t>
            </a:r>
            <a:r>
              <a:rPr lang="zh-CN" altLang="en-US" dirty="0">
                <a:latin typeface="微软雅黑" panose="020B0503020204020204" pitchFamily="34" charset="-122"/>
                <a:ea typeface="微软雅黑" panose="020B0503020204020204" pitchFamily="34" charset="-122"/>
              </a:rPr>
              <a:t>函数能快速提供绘制</a:t>
            </a:r>
            <a:r>
              <a:rPr lang="zh-CN" altLang="en-US" b="1" dirty="0">
                <a:latin typeface="微软雅黑" panose="020B0503020204020204" pitchFamily="34" charset="-122"/>
                <a:ea typeface="微软雅黑" panose="020B0503020204020204" pitchFamily="34" charset="-122"/>
              </a:rPr>
              <a:t>二分类学习器</a:t>
            </a:r>
            <a:r>
              <a:rPr lang="en-US" altLang="zh-CN" dirty="0">
                <a:latin typeface="微软雅黑" panose="020B0503020204020204" pitchFamily="34" charset="-122"/>
                <a:ea typeface="微软雅黑" panose="020B0503020204020204" pitchFamily="34" charset="-122"/>
              </a:rPr>
              <a:t>P-R</a:t>
            </a:r>
            <a:r>
              <a:rPr lang="zh-CN" altLang="en-US" dirty="0">
                <a:latin typeface="微软雅黑" panose="020B0503020204020204" pitchFamily="34" charset="-122"/>
                <a:ea typeface="微软雅黑" panose="020B0503020204020204" pitchFamily="34" charset="-122"/>
              </a:rPr>
              <a:t>曲线所需的精确率和召回率，尝试随机生成样本标签与置信度，调用该函数绘制</a:t>
            </a:r>
            <a:r>
              <a:rPr lang="en-US" altLang="zh-CN" dirty="0">
                <a:latin typeface="微软雅黑" panose="020B0503020204020204" pitchFamily="34" charset="-122"/>
                <a:ea typeface="微软雅黑" panose="020B0503020204020204" pitchFamily="34" charset="-122"/>
              </a:rPr>
              <a:t>P-R</a:t>
            </a:r>
            <a:r>
              <a:rPr lang="zh-CN" altLang="en-US" dirty="0">
                <a:latin typeface="微软雅黑" panose="020B0503020204020204" pitchFamily="34" charset="-122"/>
                <a:ea typeface="微软雅黑" panose="020B0503020204020204" pitchFamily="34" charset="-122"/>
              </a:rPr>
              <a:t>曲线</a:t>
            </a:r>
            <a:endParaRPr lang="en-US" altLang="zh-CN" dirty="0">
              <a:latin typeface="微软雅黑" panose="020B0503020204020204" pitchFamily="34" charset="-122"/>
              <a:ea typeface="微软雅黑" panose="020B0503020204020204" pitchFamily="34" charset="-122"/>
            </a:endParaRPr>
          </a:p>
        </p:txBody>
      </p:sp>
      <p:sp>
        <p:nvSpPr>
          <p:cNvPr id="8" name="页脚占位符 2">
            <a:extLst>
              <a:ext uri="{FF2B5EF4-FFF2-40B4-BE49-F238E27FC236}">
                <a16:creationId xmlns:a16="http://schemas.microsoft.com/office/drawing/2014/main" id="{2AC3641E-AF6E-4159-9AD9-E80D55470956}"/>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pic>
        <p:nvPicPr>
          <p:cNvPr id="3" name="图片 2">
            <a:extLst>
              <a:ext uri="{FF2B5EF4-FFF2-40B4-BE49-F238E27FC236}">
                <a16:creationId xmlns:a16="http://schemas.microsoft.com/office/drawing/2014/main" id="{D9E9883D-2BB7-4B90-948B-7AD77996FA48}"/>
              </a:ext>
            </a:extLst>
          </p:cNvPr>
          <p:cNvPicPr>
            <a:picLocks noChangeAspect="1"/>
          </p:cNvPicPr>
          <p:nvPr/>
        </p:nvPicPr>
        <p:blipFill>
          <a:blip r:embed="rId2"/>
          <a:stretch>
            <a:fillRect/>
          </a:stretch>
        </p:blipFill>
        <p:spPr>
          <a:xfrm>
            <a:off x="162560" y="2904127"/>
            <a:ext cx="6535478" cy="2176461"/>
          </a:xfrm>
          <a:prstGeom prst="rect">
            <a:avLst/>
          </a:prstGeom>
        </p:spPr>
      </p:pic>
      <p:pic>
        <p:nvPicPr>
          <p:cNvPr id="4" name="图片 3">
            <a:extLst>
              <a:ext uri="{FF2B5EF4-FFF2-40B4-BE49-F238E27FC236}">
                <a16:creationId xmlns:a16="http://schemas.microsoft.com/office/drawing/2014/main" id="{E7E556B2-C309-4F00-85C8-162C22E097D5}"/>
              </a:ext>
            </a:extLst>
          </p:cNvPr>
          <p:cNvPicPr>
            <a:picLocks noChangeAspect="1"/>
          </p:cNvPicPr>
          <p:nvPr/>
        </p:nvPicPr>
        <p:blipFill>
          <a:blip r:embed="rId3"/>
          <a:stretch>
            <a:fillRect/>
          </a:stretch>
        </p:blipFill>
        <p:spPr>
          <a:xfrm>
            <a:off x="162560" y="5522072"/>
            <a:ext cx="8053514" cy="1042506"/>
          </a:xfrm>
          <a:prstGeom prst="rect">
            <a:avLst/>
          </a:prstGeom>
        </p:spPr>
      </p:pic>
      <p:sp>
        <p:nvSpPr>
          <p:cNvPr id="11" name="文本框 10">
            <a:extLst>
              <a:ext uri="{FF2B5EF4-FFF2-40B4-BE49-F238E27FC236}">
                <a16:creationId xmlns:a16="http://schemas.microsoft.com/office/drawing/2014/main" id="{F21287EA-1157-492C-8F68-BD2EABD5B6EB}"/>
              </a:ext>
            </a:extLst>
          </p:cNvPr>
          <p:cNvSpPr txBox="1"/>
          <p:nvPr/>
        </p:nvSpPr>
        <p:spPr>
          <a:xfrm>
            <a:off x="162560" y="5129862"/>
            <a:ext cx="4572000"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绘图</a:t>
            </a:r>
            <a:endParaRPr lang="zh-CN" altLang="en-US" b="1" dirty="0"/>
          </a:p>
        </p:txBody>
      </p:sp>
      <p:sp>
        <p:nvSpPr>
          <p:cNvPr id="13" name="文本框 12">
            <a:extLst>
              <a:ext uri="{FF2B5EF4-FFF2-40B4-BE49-F238E27FC236}">
                <a16:creationId xmlns:a16="http://schemas.microsoft.com/office/drawing/2014/main" id="{F07CA50C-FC65-4254-934A-61C8CEE7BE57}"/>
              </a:ext>
            </a:extLst>
          </p:cNvPr>
          <p:cNvSpPr txBox="1"/>
          <p:nvPr/>
        </p:nvSpPr>
        <p:spPr>
          <a:xfrm>
            <a:off x="162560" y="2510158"/>
            <a:ext cx="4572000"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随机生成样本标签与样本置信度</a:t>
            </a:r>
            <a:endParaRPr lang="zh-CN" altLang="en-US" b="1" dirty="0"/>
          </a:p>
        </p:txBody>
      </p:sp>
    </p:spTree>
    <p:extLst>
      <p:ext uri="{BB962C8B-B14F-4D97-AF65-F5344CB8AC3E}">
        <p14:creationId xmlns:p14="http://schemas.microsoft.com/office/powerpoint/2010/main" val="36721228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36</a:t>
            </a:fld>
            <a:endParaRPr lang="en-US" altLang="zh-CN"/>
          </a:p>
        </p:txBody>
      </p:sp>
      <p:sp>
        <p:nvSpPr>
          <p:cNvPr id="4" name="文本框 3"/>
          <p:cNvSpPr txBox="1"/>
          <p:nvPr/>
        </p:nvSpPr>
        <p:spPr>
          <a:xfrm>
            <a:off x="142240" y="771103"/>
            <a:ext cx="8981440" cy="1289905"/>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思考</a:t>
            </a:r>
            <a:r>
              <a:rPr lang="en-US" altLang="zh-CN" dirty="0">
                <a:latin typeface="微软雅黑" panose="020B0503020204020204" pitchFamily="34" charset="-122"/>
                <a:ea typeface="微软雅黑" panose="020B0503020204020204" pitchFamily="34" charset="-122"/>
              </a:rPr>
              <a:t>P-R</a:t>
            </a:r>
            <a:r>
              <a:rPr lang="zh-CN" altLang="en-US" dirty="0">
                <a:latin typeface="微软雅黑" panose="020B0503020204020204" pitchFamily="34" charset="-122"/>
                <a:ea typeface="微软雅黑" panose="020B0503020204020204" pitchFamily="34" charset="-122"/>
              </a:rPr>
              <a:t>图与</a:t>
            </a:r>
            <a:r>
              <a:rPr lang="en-US" altLang="zh-CN" dirty="0">
                <a:latin typeface="微软雅黑" panose="020B0503020204020204" pitchFamily="34" charset="-122"/>
                <a:ea typeface="微软雅黑" panose="020B0503020204020204" pitchFamily="34" charset="-122"/>
              </a:rPr>
              <a:t>ROC</a:t>
            </a:r>
            <a:r>
              <a:rPr lang="zh-CN" altLang="en-US" dirty="0">
                <a:latin typeface="微软雅黑" panose="020B0503020204020204" pitchFamily="34" charset="-122"/>
                <a:ea typeface="微软雅黑" panose="020B0503020204020204" pitchFamily="34" charset="-122"/>
              </a:rPr>
              <a:t>图有何关系？</a:t>
            </a:r>
            <a:r>
              <a:rPr lang="zh-CN" altLang="en-US" b="1" dirty="0">
                <a:solidFill>
                  <a:srgbClr val="C00000"/>
                </a:solidFill>
                <a:latin typeface="微软雅黑" panose="020B0503020204020204" pitchFamily="34" charset="-122"/>
                <a:ea typeface="微软雅黑" panose="020B0503020204020204" pitchFamily="34" charset="-122"/>
              </a:rPr>
              <a:t>（阅读教材书）</a:t>
            </a:r>
            <a:endParaRPr lang="en-US" altLang="zh-CN" b="1" dirty="0">
              <a:solidFill>
                <a:srgbClr val="C00000"/>
              </a:solidFill>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ROC</a:t>
            </a:r>
            <a:r>
              <a:rPr lang="zh-CN" altLang="en-US" dirty="0">
                <a:latin typeface="微软雅黑" panose="020B0503020204020204" pitchFamily="34" charset="-122"/>
                <a:ea typeface="微软雅黑" panose="020B0503020204020204" pitchFamily="34" charset="-122"/>
              </a:rPr>
              <a:t>图是否适合评估正负样本不均衡情况下的分类器性能？</a:t>
            </a:r>
            <a:endParaRPr lang="en-US" altLang="zh-CN" dirty="0">
              <a:latin typeface="微软雅黑" panose="020B0503020204020204" pitchFamily="34" charset="-122"/>
              <a:ea typeface="微软雅黑" panose="020B0503020204020204" pitchFamily="34" charset="-122"/>
            </a:endParaRPr>
          </a:p>
        </p:txBody>
      </p:sp>
      <p:sp>
        <p:nvSpPr>
          <p:cNvPr id="7" name="页脚占位符 2">
            <a:extLst>
              <a:ext uri="{FF2B5EF4-FFF2-40B4-BE49-F238E27FC236}">
                <a16:creationId xmlns:a16="http://schemas.microsoft.com/office/drawing/2014/main" id="{91423984-0DFF-47AF-A5CE-65E82DFDE6B4}"/>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
        <p:nvSpPr>
          <p:cNvPr id="8" name="文本框 7">
            <a:extLst>
              <a:ext uri="{FF2B5EF4-FFF2-40B4-BE49-F238E27FC236}">
                <a16:creationId xmlns:a16="http://schemas.microsoft.com/office/drawing/2014/main" id="{DEF26DD5-10C4-4898-82A2-CEACC7396A87}"/>
              </a:ext>
            </a:extLst>
          </p:cNvPr>
          <p:cNvSpPr txBox="1"/>
          <p:nvPr/>
        </p:nvSpPr>
        <p:spPr>
          <a:xfrm>
            <a:off x="142240" y="5064258"/>
            <a:ext cx="8859520" cy="923330"/>
          </a:xfrm>
          <a:prstGeom prst="rect">
            <a:avLst/>
          </a:prstGeom>
          <a:noFill/>
        </p:spPr>
        <p:txBody>
          <a:bodyPr wrap="square">
            <a:spAutoFit/>
          </a:bodyPr>
          <a:lstStyle/>
          <a:p>
            <a:pPr marL="285750" indent="-285750">
              <a:buFont typeface="Arial" panose="020B0604020202020204" pitchFamily="34" charset="0"/>
              <a:buChar char="•"/>
            </a:pPr>
            <a:r>
              <a:rPr lang="en-US" altLang="zh-CN" dirty="0"/>
              <a:t>Davis, J., &amp; </a:t>
            </a:r>
            <a:r>
              <a:rPr lang="en-US" altLang="zh-CN" dirty="0" err="1"/>
              <a:t>Goadrich</a:t>
            </a:r>
            <a:r>
              <a:rPr lang="en-US" altLang="zh-CN" dirty="0"/>
              <a:t>, M. (2006, June). The relationship between Precision-Recall and ROC curves. In Proceedings of the 23rd international conference on Machine learning (pp. 233-240).</a:t>
            </a:r>
            <a:endParaRPr lang="zh-CN" altLang="en-US" dirty="0"/>
          </a:p>
        </p:txBody>
      </p:sp>
    </p:spTree>
    <p:extLst>
      <p:ext uri="{BB962C8B-B14F-4D97-AF65-F5344CB8AC3E}">
        <p14:creationId xmlns:p14="http://schemas.microsoft.com/office/powerpoint/2010/main" val="19021695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37</a:t>
            </a:fld>
            <a:endParaRPr lang="en-US" altLang="zh-CN"/>
          </a:p>
        </p:txBody>
      </p:sp>
      <p:sp>
        <p:nvSpPr>
          <p:cNvPr id="9"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731974"/>
          </a:xfrm>
        </p:spPr>
        <p:txBody>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欠拟合与过拟合</a:t>
            </a:r>
          </a:p>
        </p:txBody>
      </p:sp>
      <p:sp>
        <p:nvSpPr>
          <p:cNvPr id="4" name="文本框 3"/>
          <p:cNvSpPr txBox="1"/>
          <p:nvPr/>
        </p:nvSpPr>
        <p:spPr>
          <a:xfrm>
            <a:off x="162560" y="1172739"/>
            <a:ext cx="8981440" cy="2215991"/>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在机器学习的模型训练中，有两类常见的问题：欠拟合（</a:t>
            </a:r>
            <a:r>
              <a:rPr lang="en-US" altLang="zh-CN" dirty="0" err="1">
                <a:latin typeface="微软雅黑" panose="020B0503020204020204" pitchFamily="34" charset="-122"/>
                <a:ea typeface="微软雅黑" panose="020B0503020204020204" pitchFamily="34" charset="-122"/>
              </a:rPr>
              <a:t>underfitting</a:t>
            </a:r>
            <a:r>
              <a:rPr lang="zh-CN" altLang="en-US" dirty="0">
                <a:latin typeface="微软雅黑" panose="020B0503020204020204" pitchFamily="34" charset="-122"/>
                <a:ea typeface="微软雅黑" panose="020B0503020204020204" pitchFamily="34" charset="-122"/>
              </a:rPr>
              <a:t>）和过拟合（</a:t>
            </a:r>
            <a:r>
              <a:rPr lang="en-US" altLang="zh-CN" dirty="0">
                <a:latin typeface="微软雅黑" panose="020B0503020204020204" pitchFamily="34" charset="-122"/>
                <a:ea typeface="微软雅黑" panose="020B0503020204020204" pitchFamily="34" charset="-122"/>
              </a:rPr>
              <a:t>overfitting</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欠拟合是指模型的拟合程度不高，导致训练误差大；</a:t>
            </a: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过拟合是指模型的泛化能力差，也就是模型虽然训练误差小，但在新数据上的表现差（也就是泛化误差大）；</a:t>
            </a:r>
            <a:endParaRPr lang="en-US" altLang="zh-CN" dirty="0">
              <a:latin typeface="微软雅黑" panose="020B0503020204020204" pitchFamily="34" charset="-122"/>
              <a:ea typeface="微软雅黑" panose="020B0503020204020204" pitchFamily="34" charset="-122"/>
            </a:endParaRPr>
          </a:p>
          <a:p>
            <a:endParaRPr lang="en-US" altLang="zh-CN" sz="1400"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下图显示了对于一组训练数据，欠拟合、合理拟合和过拟合的三种情况</a:t>
            </a:r>
            <a:endParaRPr lang="en-US" altLang="zh-CN"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387963" y="3291194"/>
            <a:ext cx="8368287" cy="2581826"/>
          </a:xfrm>
          <a:prstGeom prst="rect">
            <a:avLst/>
          </a:prstGeom>
        </p:spPr>
      </p:pic>
      <p:sp>
        <p:nvSpPr>
          <p:cNvPr id="6" name="矩形 5"/>
          <p:cNvSpPr/>
          <p:nvPr/>
        </p:nvSpPr>
        <p:spPr>
          <a:xfrm>
            <a:off x="338253" y="5894570"/>
            <a:ext cx="7878213" cy="923330"/>
          </a:xfrm>
          <a:prstGeom prst="rect">
            <a:avLst/>
          </a:prstGeom>
        </p:spPr>
        <p:txBody>
          <a:bodyPr wrap="square">
            <a:spAutoFit/>
          </a:bodyPr>
          <a:lstStyle/>
          <a:p>
            <a:r>
              <a:rPr lang="zh-CN" altLang="en-US" dirty="0">
                <a:latin typeface="微软雅黑" panose="020B0503020204020204" pitchFamily="34" charset="-122"/>
                <a:ea typeface="微软雅黑" panose="020B0503020204020204" pitchFamily="34" charset="-122"/>
              </a:rPr>
              <a:t>一般而言，欠拟合更容易克服，往往可以通过扩大样本量、提高模型特征数来有效克服。例如在决策树学习中扩展分支，在神经网络学习中增加训练轮数等</a:t>
            </a:r>
          </a:p>
        </p:txBody>
      </p:sp>
      <p:sp>
        <p:nvSpPr>
          <p:cNvPr id="10" name="页脚占位符 2">
            <a:extLst>
              <a:ext uri="{FF2B5EF4-FFF2-40B4-BE49-F238E27FC236}">
                <a16:creationId xmlns:a16="http://schemas.microsoft.com/office/drawing/2014/main" id="{D98853C7-8C00-4B63-99B0-0C87AF5512A9}"/>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Tree>
    <p:extLst>
      <p:ext uri="{BB962C8B-B14F-4D97-AF65-F5344CB8AC3E}">
        <p14:creationId xmlns:p14="http://schemas.microsoft.com/office/powerpoint/2010/main" val="31191963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38</a:t>
            </a:fld>
            <a:endParaRPr lang="en-US" altLang="zh-CN"/>
          </a:p>
        </p:txBody>
      </p:sp>
      <p:sp>
        <p:nvSpPr>
          <p:cNvPr id="9"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731974"/>
          </a:xfrm>
        </p:spPr>
        <p:txBody>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欠拟合与过拟合：</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方差与偏差</a:t>
            </a:r>
            <a:endParaRPr lang="zh-CN" altLang="en-US" sz="2800" dirty="0">
              <a:latin typeface="微软雅黑" panose="020B0503020204020204" pitchFamily="34" charset="-122"/>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文本框 3"/>
              <p:cNvSpPr txBox="1"/>
              <p:nvPr/>
            </p:nvSpPr>
            <p:spPr>
              <a:xfrm>
                <a:off x="162560" y="1172739"/>
                <a:ext cx="8981440" cy="2308324"/>
              </a:xfrm>
              <a:prstGeom prst="rect">
                <a:avLst/>
              </a:prstGeom>
              <a:noFill/>
            </p:spPr>
            <p:txBody>
              <a:bodyPr wrap="square" rtlCol="0">
                <a:spAutoFit/>
              </a:bodyPr>
              <a:lstStyle/>
              <a:p>
                <a:pPr lvl="0"/>
                <a:r>
                  <a:rPr lang="zh-CN" altLang="en-US" dirty="0">
                    <a:latin typeface="微软雅黑" panose="020B0503020204020204" pitchFamily="34" charset="-122"/>
                    <a:ea typeface="微软雅黑" panose="020B0503020204020204" pitchFamily="34" charset="-122"/>
                  </a:rPr>
                  <a:t>在机器学习中，偏差和方差是常用于描述模型的拟合程度。（高）偏差是指欠拟合，（高）方差是指过拟合。</a:t>
                </a:r>
                <a:endParaRPr lang="en-US" altLang="zh-CN" dirty="0">
                  <a:latin typeface="微软雅黑" panose="020B0503020204020204" pitchFamily="34" charset="-122"/>
                  <a:ea typeface="微软雅黑" panose="020B0503020204020204" pitchFamily="34" charset="-122"/>
                </a:endParaRPr>
              </a:p>
              <a:p>
                <a:pPr marL="285750" lvl="0" indent="-285750">
                  <a:buFont typeface="Arial" panose="020B0604020202020204" pitchFamily="34" charset="0"/>
                  <a:buChar char="•"/>
                </a:pPr>
                <a:r>
                  <a:rPr lang="zh-CN" altLang="en-US" dirty="0">
                    <a:solidFill>
                      <a:srgbClr val="C00000"/>
                    </a:solidFill>
                    <a:latin typeface="微软雅黑" panose="020B0503020204020204" pitchFamily="34" charset="-122"/>
                    <a:ea typeface="微软雅黑" panose="020B0503020204020204" pitchFamily="34" charset="-122"/>
                  </a:rPr>
                  <a:t>偏差</a:t>
                </a:r>
                <a:r>
                  <a:rPr lang="zh-CN" altLang="en-US" dirty="0">
                    <a:solidFill>
                      <a:srgbClr val="000000"/>
                    </a:solidFill>
                    <a:latin typeface="微软雅黑" panose="020B0503020204020204" pitchFamily="34" charset="-122"/>
                    <a:ea typeface="微软雅黑" panose="020B0503020204020204" pitchFamily="34" charset="-122"/>
                  </a:rPr>
                  <a:t>反映了模型输出值</a:t>
                </a:r>
                <a14:m>
                  <m:oMath xmlns:m="http://schemas.openxmlformats.org/officeDocument/2006/math">
                    <m:acc>
                      <m:accPr>
                        <m:chr m:val="̂"/>
                        <m:ctrlPr>
                          <a:rPr lang="zh-CN" altLang="en-US" i="1">
                            <a:solidFill>
                              <a:srgbClr val="000000"/>
                            </a:solidFill>
                            <a:latin typeface="Cambria Math" panose="02040503050406030204" pitchFamily="18" charset="0"/>
                            <a:ea typeface="微软雅黑" panose="020B0503020204020204" pitchFamily="34" charset="-122"/>
                          </a:rPr>
                        </m:ctrlPr>
                      </m:accPr>
                      <m:e>
                        <m:r>
                          <a:rPr lang="en-US" altLang="zh-CN" i="1">
                            <a:solidFill>
                              <a:srgbClr val="000000"/>
                            </a:solidFill>
                            <a:latin typeface="Cambria Math" panose="02040503050406030204" pitchFamily="18" charset="0"/>
                            <a:ea typeface="微软雅黑" panose="020B0503020204020204" pitchFamily="34" charset="-122"/>
                          </a:rPr>
                          <m:t>𝑦</m:t>
                        </m:r>
                      </m:e>
                    </m:acc>
                  </m:oMath>
                </a14:m>
                <a:r>
                  <a:rPr lang="zh-CN" altLang="en-US" dirty="0">
                    <a:solidFill>
                      <a:srgbClr val="000000"/>
                    </a:solidFill>
                    <a:latin typeface="微软雅黑" panose="020B0503020204020204" pitchFamily="34" charset="-122"/>
                    <a:ea typeface="微软雅黑" panose="020B0503020204020204" pitchFamily="34" charset="-122"/>
                  </a:rPr>
                  <a:t>和真实值</a:t>
                </a:r>
                <a14:m>
                  <m:oMath xmlns:m="http://schemas.openxmlformats.org/officeDocument/2006/math">
                    <m:r>
                      <m:rPr>
                        <m:sty m:val="p"/>
                      </m:rPr>
                      <a:rPr lang="en-US" altLang="zh-CN" i="1" dirty="0">
                        <a:solidFill>
                          <a:srgbClr val="000000"/>
                        </a:solidFill>
                        <a:latin typeface="Cambria Math" panose="02040503050406030204" pitchFamily="18" charset="0"/>
                        <a:ea typeface="微软雅黑" panose="020B0503020204020204" pitchFamily="34" charset="-122"/>
                      </a:rPr>
                      <m:t>y</m:t>
                    </m:r>
                  </m:oMath>
                </a14:m>
                <a:r>
                  <a:rPr lang="zh-CN" altLang="en-US" dirty="0">
                    <a:solidFill>
                      <a:srgbClr val="000000"/>
                    </a:solidFill>
                    <a:latin typeface="微软雅黑" panose="020B0503020204020204" pitchFamily="34" charset="-122"/>
                    <a:ea typeface="微软雅黑" panose="020B0503020204020204" pitchFamily="34" charset="-122"/>
                  </a:rPr>
                  <a:t>之间的差异程度，即模型的</a:t>
                </a:r>
                <a:r>
                  <a:rPr lang="zh-CN" altLang="en-US" dirty="0">
                    <a:solidFill>
                      <a:srgbClr val="C00000"/>
                    </a:solidFill>
                    <a:latin typeface="微软雅黑" panose="020B0503020204020204" pitchFamily="34" charset="-122"/>
                    <a:ea typeface="微软雅黑" panose="020B0503020204020204" pitchFamily="34" charset="-122"/>
                  </a:rPr>
                  <a:t>拟合能力</a:t>
                </a:r>
                <a:r>
                  <a:rPr lang="zh-CN" altLang="en-US" dirty="0">
                    <a:solidFill>
                      <a:srgbClr val="000000"/>
                    </a:solidFill>
                    <a:latin typeface="微软雅黑" panose="020B0503020204020204" pitchFamily="34" charset="-122"/>
                    <a:ea typeface="微软雅黑" panose="020B0503020204020204" pitchFamily="34" charset="-122"/>
                  </a:rPr>
                  <a:t>。</a:t>
                </a:r>
                <a:endParaRPr lang="en-US" altLang="zh-CN" dirty="0">
                  <a:solidFill>
                    <a:srgbClr val="000000"/>
                  </a:solidFill>
                  <a:latin typeface="微软雅黑" panose="020B0503020204020204" pitchFamily="34" charset="-122"/>
                  <a:ea typeface="微软雅黑" panose="020B0503020204020204" pitchFamily="34" charset="-122"/>
                </a:endParaRPr>
              </a:p>
              <a:p>
                <a:pPr marL="285750" lvl="0" indent="-285750">
                  <a:buFont typeface="Arial" panose="020B0604020202020204" pitchFamily="34" charset="0"/>
                  <a:buChar char="•"/>
                </a:pPr>
                <a:r>
                  <a:rPr lang="zh-CN" altLang="en-US" dirty="0">
                    <a:solidFill>
                      <a:srgbClr val="C00000"/>
                    </a:solidFill>
                    <a:latin typeface="微软雅黑" panose="020B0503020204020204" pitchFamily="34" charset="-122"/>
                    <a:ea typeface="微软雅黑" panose="020B0503020204020204" pitchFamily="34" charset="-122"/>
                  </a:rPr>
                  <a:t>方差</a:t>
                </a:r>
                <a:r>
                  <a:rPr lang="zh-CN" altLang="en-US" dirty="0">
                    <a:solidFill>
                      <a:srgbClr val="000000"/>
                    </a:solidFill>
                    <a:latin typeface="微软雅黑" panose="020B0503020204020204" pitchFamily="34" charset="-122"/>
                    <a:ea typeface="微软雅黑" panose="020B0503020204020204" pitchFamily="34" charset="-122"/>
                  </a:rPr>
                  <a:t>反映了模型在不同数据集上的性能稳定性，即数据扰动所带来的影响。</a:t>
                </a:r>
                <a:endParaRPr lang="en-US" altLang="zh-CN" dirty="0">
                  <a:solidFill>
                    <a:srgbClr val="000000"/>
                  </a:solidFill>
                  <a:latin typeface="微软雅黑" panose="020B0503020204020204" pitchFamily="34" charset="-122"/>
                  <a:ea typeface="微软雅黑" panose="020B0503020204020204" pitchFamily="34" charset="-122"/>
                </a:endParaRPr>
              </a:p>
              <a:p>
                <a:pPr lvl="0"/>
                <a:r>
                  <a:rPr lang="zh-CN" altLang="en-US" dirty="0">
                    <a:solidFill>
                      <a:srgbClr val="000000"/>
                    </a:solidFill>
                    <a:latin typeface="微软雅黑" panose="020B0503020204020204" pitchFamily="34" charset="-122"/>
                    <a:ea typeface="微软雅黑" panose="020B0503020204020204" pitchFamily="34" charset="-122"/>
                  </a:rPr>
                  <a:t>出现高偏差时，训练误差和泛化误差都高；而出现高方差时，训练误差低，泛化误差高</a:t>
                </a:r>
                <a:endParaRPr lang="en-US" altLang="zh-CN" dirty="0">
                  <a:solidFill>
                    <a:srgbClr val="000000"/>
                  </a:solidFill>
                  <a:latin typeface="微软雅黑" panose="020B0503020204020204" pitchFamily="34" charset="-122"/>
                  <a:ea typeface="微软雅黑" panose="020B0503020204020204" pitchFamily="34" charset="-122"/>
                </a:endParaRPr>
              </a:p>
              <a:p>
                <a:pPr lvl="0"/>
                <a:endParaRPr lang="en-US" altLang="zh-CN" dirty="0">
                  <a:solidFill>
                    <a:srgbClr val="000000"/>
                  </a:solidFill>
                  <a:latin typeface="微软雅黑" panose="020B0503020204020204" pitchFamily="34" charset="-122"/>
                  <a:ea typeface="微软雅黑" panose="020B0503020204020204" pitchFamily="34" charset="-122"/>
                </a:endParaRPr>
              </a:p>
              <a:p>
                <a:pPr lvl="0"/>
                <a:r>
                  <a:rPr lang="zh-CN" altLang="en-US" dirty="0">
                    <a:latin typeface="微软雅黑" panose="020B0503020204020204" pitchFamily="34" charset="-122"/>
                    <a:ea typeface="微软雅黑" panose="020B0503020204020204" pitchFamily="34" charset="-122"/>
                  </a:rPr>
                  <a:t>下图画出了随着模型复杂度的增加，偏差、方差和泛化误差的变化情况，我们可以利用这一曲线来选择最佳的模型复杂度</a:t>
                </a:r>
                <a:endParaRPr lang="en-US" altLang="zh-CN" dirty="0">
                  <a:latin typeface="微软雅黑" panose="020B0503020204020204" pitchFamily="34" charset="-122"/>
                  <a:ea typeface="微软雅黑" panose="020B0503020204020204" pitchFamily="34" charset="-122"/>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162560" y="1172739"/>
                <a:ext cx="8981440" cy="2308324"/>
              </a:xfrm>
              <a:prstGeom prst="rect">
                <a:avLst/>
              </a:prstGeom>
              <a:blipFill>
                <a:blip r:embed="rId2"/>
                <a:stretch>
                  <a:fillRect l="-611" t="-1319" b="-3166"/>
                </a:stretch>
              </a:blipFill>
            </p:spPr>
            <p:txBody>
              <a:bodyPr/>
              <a:lstStyle/>
              <a:p>
                <a:r>
                  <a:rPr lang="zh-CN" altLang="en-US">
                    <a:noFill/>
                  </a:rPr>
                  <a:t> </a:t>
                </a:r>
              </a:p>
            </p:txBody>
          </p:sp>
        </mc:Fallback>
      </mc:AlternateContent>
      <p:sp>
        <p:nvSpPr>
          <p:cNvPr id="7" name="矩形 6"/>
          <p:cNvSpPr/>
          <p:nvPr/>
        </p:nvSpPr>
        <p:spPr>
          <a:xfrm>
            <a:off x="162559" y="2197476"/>
            <a:ext cx="8778187" cy="369332"/>
          </a:xfrm>
          <a:prstGeom prst="rect">
            <a:avLst/>
          </a:prstGeom>
        </p:spPr>
        <p:txBody>
          <a:bodyPr wrap="square">
            <a:spAutoFit/>
          </a:bodyPr>
          <a:lstStyle/>
          <a:p>
            <a:r>
              <a:rPr lang="zh-CN" altLang="en-US" dirty="0">
                <a:latin typeface="微软雅黑" panose="020B0503020204020204" pitchFamily="34" charset="-122"/>
                <a:ea typeface="微软雅黑" panose="020B0503020204020204" pitchFamily="34" charset="-122"/>
              </a:rPr>
              <a:t>。</a:t>
            </a:r>
          </a:p>
        </p:txBody>
      </p:sp>
      <p:pic>
        <p:nvPicPr>
          <p:cNvPr id="8" name="图片 7"/>
          <p:cNvPicPr>
            <a:picLocks noChangeAspect="1"/>
          </p:cNvPicPr>
          <p:nvPr/>
        </p:nvPicPr>
        <p:blipFill>
          <a:blip r:embed="rId3"/>
          <a:stretch>
            <a:fillRect/>
          </a:stretch>
        </p:blipFill>
        <p:spPr>
          <a:xfrm>
            <a:off x="1765934" y="3591545"/>
            <a:ext cx="5366386" cy="3166169"/>
          </a:xfrm>
          <a:prstGeom prst="rect">
            <a:avLst/>
          </a:prstGeom>
        </p:spPr>
      </p:pic>
      <p:sp>
        <p:nvSpPr>
          <p:cNvPr id="10" name="页脚占位符 2">
            <a:extLst>
              <a:ext uri="{FF2B5EF4-FFF2-40B4-BE49-F238E27FC236}">
                <a16:creationId xmlns:a16="http://schemas.microsoft.com/office/drawing/2014/main" id="{EB727F86-8755-429F-8202-1832EA0A61FF}"/>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Tree>
    <p:extLst>
      <p:ext uri="{BB962C8B-B14F-4D97-AF65-F5344CB8AC3E}">
        <p14:creationId xmlns:p14="http://schemas.microsoft.com/office/powerpoint/2010/main" val="4073072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2911196" y="4078520"/>
            <a:ext cx="3882904" cy="2781660"/>
          </a:xfrm>
          <a:prstGeom prst="rect">
            <a:avLst/>
          </a:prstGeom>
        </p:spPr>
      </p:pic>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39</a:t>
            </a:fld>
            <a:endParaRPr lang="en-US" altLang="zh-CN"/>
          </a:p>
        </p:txBody>
      </p:sp>
      <p:sp>
        <p:nvSpPr>
          <p:cNvPr id="9"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731974"/>
          </a:xfrm>
        </p:spPr>
        <p:txBody>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欠拟合与过拟合：</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学习曲线</a:t>
            </a:r>
          </a:p>
        </p:txBody>
      </p:sp>
      <mc:AlternateContent xmlns:mc="http://schemas.openxmlformats.org/markup-compatibility/2006" xmlns:a14="http://schemas.microsoft.com/office/drawing/2010/main">
        <mc:Choice Requires="a14">
          <p:sp>
            <p:nvSpPr>
              <p:cNvPr id="4" name="文本框 3"/>
              <p:cNvSpPr txBox="1"/>
              <p:nvPr/>
            </p:nvSpPr>
            <p:spPr>
              <a:xfrm>
                <a:off x="162560" y="1265841"/>
                <a:ext cx="8981440" cy="3337388"/>
              </a:xfrm>
              <a:prstGeom prst="rect">
                <a:avLst/>
              </a:prstGeom>
              <a:noFill/>
            </p:spPr>
            <p:txBody>
              <a:bodyPr wrap="square" rtlCol="0">
                <a:spAutoFit/>
              </a:bodyPr>
              <a:lstStyle/>
              <a:p>
                <a:pPr lvl="0">
                  <a:lnSpc>
                    <a:spcPct val="150000"/>
                  </a:lnSpc>
                </a:pPr>
                <a:r>
                  <a:rPr lang="zh-CN" altLang="en-US" dirty="0">
                    <a:latin typeface="微软雅黑" panose="020B0503020204020204" pitchFamily="34" charset="-122"/>
                    <a:ea typeface="微软雅黑" panose="020B0503020204020204" pitchFamily="34" charset="-122"/>
                  </a:rPr>
                  <a:t>（在多维情况下，无法直观地看出来拟合情况）模型的欠拟合和过拟合可以通过“学习曲线”来进行判断。学习曲线是将训练误差和验证误差作为训练样本数的函数绘制的曲线。横轴为训练样本数，纵轴为误差。</a:t>
                </a:r>
                <a:endParaRPr lang="en-US" altLang="zh-CN" dirty="0">
                  <a:latin typeface="微软雅黑" panose="020B0503020204020204" pitchFamily="34" charset="-122"/>
                  <a:ea typeface="微软雅黑" panose="020B0503020204020204" pitchFamily="34" charset="-122"/>
                </a:endParaRPr>
              </a:p>
              <a:p>
                <a:pPr lvl="0">
                  <a:lnSpc>
                    <a:spcPct val="150000"/>
                  </a:lnSpc>
                </a:pPr>
                <a:endParaRPr lang="en-US" altLang="zh-CN" sz="200" dirty="0">
                  <a:latin typeface="微软雅黑" panose="020B0503020204020204" pitchFamily="34" charset="-122"/>
                  <a:ea typeface="微软雅黑" panose="020B0503020204020204" pitchFamily="34" charset="-122"/>
                </a:endParaRPr>
              </a:p>
              <a:p>
                <a:pPr lvl="0">
                  <a:lnSpc>
                    <a:spcPct val="150000"/>
                  </a:lnSpc>
                </a:pPr>
                <a:r>
                  <a:rPr lang="zh-CN" altLang="en-US" dirty="0">
                    <a:latin typeface="微软雅黑" panose="020B0503020204020204" pitchFamily="34" charset="-122"/>
                    <a:ea typeface="微软雅黑" panose="020B0503020204020204" pitchFamily="34" charset="-122"/>
                  </a:rPr>
                  <a:t>学习曲线的具体画法是：（在相同的模型复杂程度下）把我们拥有的总数为 </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rPr>
                      <m:t>𝑀</m:t>
                    </m:r>
                  </m:oMath>
                </a14:m>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个的训练样本，从第一个样本开始逐 步地拿出前</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rPr>
                      <m:t>𝑚</m:t>
                    </m:r>
                  </m:oMath>
                </a14:m>
                <a:r>
                  <a:rPr lang="zh-CN" altLang="en-US" dirty="0">
                    <a:latin typeface="微软雅黑" panose="020B0503020204020204" pitchFamily="34" charset="-122"/>
                    <a:ea typeface="微软雅黑" panose="020B0503020204020204" pitchFamily="34" charset="-122"/>
                  </a:rPr>
                  <a:t>个样本，训练得到模型</a:t>
                </a:r>
                <a14:m>
                  <m:oMath xmlns:m="http://schemas.openxmlformats.org/officeDocument/2006/math">
                    <m:sSub>
                      <m:sSubPr>
                        <m:ctrlPr>
                          <a:rPr lang="en-US" altLang="zh-CN"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𝑓</m:t>
                        </m:r>
                      </m:e>
                      <m:sub>
                        <m:r>
                          <a:rPr lang="en-US" altLang="zh-CN" b="0" i="1" smtClean="0">
                            <a:latin typeface="Cambria Math" panose="02040503050406030204" pitchFamily="18" charset="0"/>
                            <a:ea typeface="微软雅黑" panose="020B0503020204020204" pitchFamily="34" charset="-122"/>
                          </a:rPr>
                          <m:t>𝑚</m:t>
                        </m:r>
                      </m:sub>
                    </m:sSub>
                  </m:oMath>
                </a14:m>
                <a:r>
                  <a:rPr lang="zh-CN" altLang="en-US" dirty="0">
                    <a:latin typeface="微软雅黑" panose="020B0503020204020204" pitchFamily="34" charset="-122"/>
                    <a:ea typeface="微软雅黑" panose="020B0503020204020204" pitchFamily="34" charset="-122"/>
                  </a:rPr>
                  <a:t>，计算这</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rPr>
                      <m:t>𝑚</m:t>
                    </m:r>
                  </m:oMath>
                </a14:m>
                <a:r>
                  <a:rPr lang="zh-CN" altLang="en-US" dirty="0">
                    <a:latin typeface="微软雅黑" panose="020B0503020204020204" pitchFamily="34" charset="-122"/>
                    <a:ea typeface="微软雅黑" panose="020B0503020204020204" pitchFamily="34" charset="-122"/>
                  </a:rPr>
                  <a:t>个样本的误差</a:t>
                </a:r>
                <a14:m>
                  <m:oMath xmlns:m="http://schemas.openxmlformats.org/officeDocument/2006/math">
                    <m:sSubSup>
                      <m:sSubSupPr>
                        <m:ctrlPr>
                          <a:rPr lang="en-US" altLang="zh-CN" i="1" smtClean="0">
                            <a:latin typeface="Cambria Math" panose="02040503050406030204" pitchFamily="18" charset="0"/>
                            <a:ea typeface="微软雅黑" panose="020B0503020204020204" pitchFamily="34" charset="-122"/>
                          </a:rPr>
                        </m:ctrlPr>
                      </m:sSubSupPr>
                      <m:e>
                        <m:r>
                          <a:rPr lang="en-US" altLang="zh-CN" i="1" smtClean="0">
                            <a:latin typeface="Cambria Math" panose="02040503050406030204" pitchFamily="18" charset="0"/>
                            <a:ea typeface="Cambria Math" panose="02040503050406030204" pitchFamily="18" charset="0"/>
                          </a:rPr>
                          <m:t>ℒ</m:t>
                        </m:r>
                      </m:e>
                      <m:sub>
                        <m:r>
                          <a:rPr lang="en-US" altLang="zh-CN" b="0" i="1" smtClean="0">
                            <a:latin typeface="Cambria Math" panose="02040503050406030204" pitchFamily="18" charset="0"/>
                            <a:ea typeface="微软雅黑" panose="020B0503020204020204" pitchFamily="34" charset="-122"/>
                          </a:rPr>
                          <m:t>𝑚</m:t>
                        </m:r>
                      </m:sub>
                      <m:sup>
                        <m:r>
                          <a:rPr lang="en-US" altLang="zh-CN" b="0" i="1" smtClean="0">
                            <a:latin typeface="Cambria Math" panose="02040503050406030204" pitchFamily="18" charset="0"/>
                            <a:ea typeface="微软雅黑" panose="020B0503020204020204" pitchFamily="34" charset="-122"/>
                          </a:rPr>
                          <m:t>𝑡𝑟𝑎𝑖𝑛</m:t>
                        </m:r>
                      </m:sup>
                    </m:sSubSup>
                  </m:oMath>
                </a14:m>
                <a:r>
                  <a:rPr lang="zh-CN" altLang="en-US" dirty="0">
                    <a:latin typeface="微软雅黑" panose="020B0503020204020204" pitchFamily="34" charset="-122"/>
                    <a:ea typeface="微软雅黑" panose="020B0503020204020204" pitchFamily="34" charset="-122"/>
                  </a:rPr>
                  <a:t>。利用验证集数据根据模型</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𝑓</m:t>
                        </m:r>
                      </m:e>
                      <m:sub>
                        <m:r>
                          <a:rPr lang="en-US" altLang="zh-CN" i="1">
                            <a:latin typeface="Cambria Math" panose="02040503050406030204" pitchFamily="18" charset="0"/>
                            <a:ea typeface="微软雅黑" panose="020B0503020204020204" pitchFamily="34" charset="-122"/>
                          </a:rPr>
                          <m:t>𝑚</m:t>
                        </m:r>
                      </m:sub>
                    </m:sSub>
                  </m:oMath>
                </a14:m>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计算出验证误差</a:t>
                </a:r>
                <a14:m>
                  <m:oMath xmlns:m="http://schemas.openxmlformats.org/officeDocument/2006/math">
                    <m:sSubSup>
                      <m:sSubSupPr>
                        <m:ctrlPr>
                          <a:rPr lang="en-US" altLang="zh-CN" i="1">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Cambria Math" panose="02040503050406030204" pitchFamily="18" charset="0"/>
                          </a:rPr>
                          <m:t>ℒ</m:t>
                        </m:r>
                      </m:e>
                      <m:sub>
                        <m:r>
                          <a:rPr lang="en-US" altLang="zh-CN" i="1">
                            <a:latin typeface="Cambria Math" panose="02040503050406030204" pitchFamily="18" charset="0"/>
                            <a:ea typeface="微软雅黑" panose="020B0503020204020204" pitchFamily="34" charset="-122"/>
                          </a:rPr>
                          <m:t>𝑚</m:t>
                        </m:r>
                      </m:sub>
                      <m:sup>
                        <m:r>
                          <a:rPr lang="en-US" altLang="zh-CN" b="0" i="1" smtClean="0">
                            <a:latin typeface="Cambria Math" panose="02040503050406030204" pitchFamily="18" charset="0"/>
                            <a:ea typeface="微软雅黑" panose="020B0503020204020204" pitchFamily="34" charset="-122"/>
                          </a:rPr>
                          <m:t>𝑣𝑎𝑙</m:t>
                        </m:r>
                      </m:sup>
                    </m:sSubSup>
                  </m:oMath>
                </a14:m>
                <a:r>
                  <a:rPr lang="zh-CN" altLang="en-US" dirty="0">
                    <a:latin typeface="微软雅黑" panose="020B0503020204020204" pitchFamily="34" charset="-122"/>
                    <a:ea typeface="微软雅黑" panose="020B0503020204020204" pitchFamily="34" charset="-122"/>
                  </a:rPr>
                  <a:t>。逐步</a:t>
                </a:r>
                <a14:m>
                  <m:oMath xmlns:m="http://schemas.openxmlformats.org/officeDocument/2006/math">
                    <m:r>
                      <a:rPr lang="zh-CN" altLang="en-US" i="1" dirty="0">
                        <a:latin typeface="Cambria Math" panose="02040503050406030204" pitchFamily="18" charset="0"/>
                        <a:ea typeface="微软雅黑" panose="020B0503020204020204" pitchFamily="34" charset="-122"/>
                      </a:rPr>
                      <m:t>增大</m:t>
                    </m:r>
                    <m:r>
                      <a:rPr lang="en-US" altLang="zh-CN" i="1" dirty="0" smtClean="0">
                        <a:latin typeface="Cambria Math" panose="02040503050406030204" pitchFamily="18" charset="0"/>
                        <a:ea typeface="微软雅黑" panose="020B0503020204020204" pitchFamily="34" charset="-122"/>
                      </a:rPr>
                      <m:t>𝑚</m:t>
                    </m:r>
                  </m:oMath>
                </a14:m>
                <a:r>
                  <a:rPr lang="zh-CN" altLang="en-US" dirty="0">
                    <a:latin typeface="微软雅黑" panose="020B0503020204020204" pitchFamily="34" charset="-122"/>
                    <a:ea typeface="微软雅黑" panose="020B0503020204020204" pitchFamily="34" charset="-122"/>
                  </a:rPr>
                  <a:t>值，将一系列训练误差和验证误差的散点连接起来，可以得到学习曲线</a:t>
                </a:r>
                <a:endParaRPr lang="en-US" altLang="zh-CN" dirty="0">
                  <a:latin typeface="微软雅黑" panose="020B0503020204020204" pitchFamily="34" charset="-122"/>
                  <a:ea typeface="微软雅黑" panose="020B0503020204020204" pitchFamily="34" charset="-122"/>
                </a:endParaRPr>
              </a:p>
              <a:p>
                <a:pPr lvl="0"/>
                <a:endParaRPr lang="en-US" altLang="zh-CN" dirty="0">
                  <a:latin typeface="微软雅黑" panose="020B0503020204020204" pitchFamily="34" charset="-122"/>
                  <a:ea typeface="微软雅黑" panose="020B0503020204020204" pitchFamily="34" charset="-122"/>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162560" y="1265841"/>
                <a:ext cx="8981440" cy="3337388"/>
              </a:xfrm>
              <a:prstGeom prst="rect">
                <a:avLst/>
              </a:prstGeom>
              <a:blipFill>
                <a:blip r:embed="rId3"/>
                <a:stretch>
                  <a:fillRect l="-611" r="-543"/>
                </a:stretch>
              </a:blipFill>
            </p:spPr>
            <p:txBody>
              <a:bodyPr/>
              <a:lstStyle/>
              <a:p>
                <a:r>
                  <a:rPr lang="zh-CN" altLang="en-US">
                    <a:noFill/>
                  </a:rPr>
                  <a:t> </a:t>
                </a:r>
              </a:p>
            </p:txBody>
          </p:sp>
        </mc:Fallback>
      </mc:AlternateContent>
      <p:sp>
        <p:nvSpPr>
          <p:cNvPr id="8" name="页脚占位符 2">
            <a:extLst>
              <a:ext uri="{FF2B5EF4-FFF2-40B4-BE49-F238E27FC236}">
                <a16:creationId xmlns:a16="http://schemas.microsoft.com/office/drawing/2014/main" id="{D6674A2A-40F6-4329-90FD-FE60639CE30E}"/>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Tree>
    <p:extLst>
      <p:ext uri="{BB962C8B-B14F-4D97-AF65-F5344CB8AC3E}">
        <p14:creationId xmlns:p14="http://schemas.microsoft.com/office/powerpoint/2010/main" val="17837825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40</a:t>
            </a:fld>
            <a:endParaRPr lang="en-US" altLang="zh-CN"/>
          </a:p>
        </p:txBody>
      </p:sp>
      <p:sp>
        <p:nvSpPr>
          <p:cNvPr id="9"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731974"/>
          </a:xfrm>
        </p:spPr>
        <p:txBody>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欠拟合与过拟合</a:t>
            </a:r>
          </a:p>
        </p:txBody>
      </p:sp>
      <p:sp>
        <p:nvSpPr>
          <p:cNvPr id="6" name="文本框 5"/>
          <p:cNvSpPr txBox="1"/>
          <p:nvPr/>
        </p:nvSpPr>
        <p:spPr>
          <a:xfrm>
            <a:off x="162560" y="1172739"/>
            <a:ext cx="8411870" cy="1566904"/>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模型欠拟合和过拟合情况下的学习曲线是不同的。</a:t>
            </a:r>
            <a:endParaRPr lang="en-US" altLang="zh-CN" dirty="0">
              <a:latin typeface="微软雅黑" panose="020B0503020204020204" pitchFamily="34" charset="-122"/>
              <a:ea typeface="微软雅黑" panose="020B0503020204020204" pitchFamily="34" charset="-122"/>
            </a:endParaRPr>
          </a:p>
          <a:p>
            <a:pPr>
              <a:lnSpc>
                <a:spcPct val="150000"/>
              </a:lnSpc>
            </a:pPr>
            <a:endParaRPr lang="en-US" altLang="zh-CN" sz="12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在欠拟合情况下，即使训练样本数增加，验证误差和训练误差都比较大</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在过拟合情况下，随着训练样本数增加，训练误差较小，而验证误差较大</a:t>
            </a:r>
          </a:p>
        </p:txBody>
      </p:sp>
      <p:sp>
        <p:nvSpPr>
          <p:cNvPr id="11" name="矩形 10"/>
          <p:cNvSpPr/>
          <p:nvPr/>
        </p:nvSpPr>
        <p:spPr>
          <a:xfrm>
            <a:off x="1390955" y="5863597"/>
            <a:ext cx="87716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欠拟合</a:t>
            </a:r>
            <a:endParaRPr lang="zh-CN" altLang="en-US" dirty="0"/>
          </a:p>
        </p:txBody>
      </p:sp>
      <p:sp>
        <p:nvSpPr>
          <p:cNvPr id="13" name="矩形 12"/>
          <p:cNvSpPr/>
          <p:nvPr/>
        </p:nvSpPr>
        <p:spPr>
          <a:xfrm>
            <a:off x="7514997" y="5842286"/>
            <a:ext cx="87716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过拟合</a:t>
            </a:r>
            <a:endParaRPr lang="zh-CN" altLang="en-US" dirty="0"/>
          </a:p>
        </p:txBody>
      </p:sp>
      <p:sp>
        <p:nvSpPr>
          <p:cNvPr id="14" name="矩形 13"/>
          <p:cNvSpPr/>
          <p:nvPr/>
        </p:nvSpPr>
        <p:spPr>
          <a:xfrm>
            <a:off x="4277360" y="5770192"/>
            <a:ext cx="1107996"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合理拟合</a:t>
            </a:r>
            <a:endParaRPr lang="zh-CN" altLang="en-US" dirty="0"/>
          </a:p>
        </p:txBody>
      </p:sp>
      <p:sp>
        <p:nvSpPr>
          <p:cNvPr id="15" name="页脚占位符 2">
            <a:extLst>
              <a:ext uri="{FF2B5EF4-FFF2-40B4-BE49-F238E27FC236}">
                <a16:creationId xmlns:a16="http://schemas.microsoft.com/office/drawing/2014/main" id="{09A68B8B-7314-4345-8680-886320F740EF}"/>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pic>
        <p:nvPicPr>
          <p:cNvPr id="7" name="图片 6">
            <a:extLst>
              <a:ext uri="{FF2B5EF4-FFF2-40B4-BE49-F238E27FC236}">
                <a16:creationId xmlns:a16="http://schemas.microsoft.com/office/drawing/2014/main" id="{C2878704-88D3-44D6-BD05-3B997B34B3B6}"/>
              </a:ext>
            </a:extLst>
          </p:cNvPr>
          <p:cNvPicPr>
            <a:picLocks noChangeAspect="1"/>
          </p:cNvPicPr>
          <p:nvPr/>
        </p:nvPicPr>
        <p:blipFill>
          <a:blip r:embed="rId2"/>
          <a:stretch>
            <a:fillRect/>
          </a:stretch>
        </p:blipFill>
        <p:spPr>
          <a:xfrm>
            <a:off x="-92053" y="3471617"/>
            <a:ext cx="9144000" cy="2237267"/>
          </a:xfrm>
          <a:prstGeom prst="rect">
            <a:avLst/>
          </a:prstGeom>
        </p:spPr>
      </p:pic>
    </p:spTree>
    <p:extLst>
      <p:ext uri="{BB962C8B-B14F-4D97-AF65-F5344CB8AC3E}">
        <p14:creationId xmlns:p14="http://schemas.microsoft.com/office/powerpoint/2010/main" val="37009251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41</a:t>
            </a:fld>
            <a:endParaRPr lang="en-US" altLang="zh-CN"/>
          </a:p>
        </p:txBody>
      </p:sp>
      <p:sp>
        <p:nvSpPr>
          <p:cNvPr id="9"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731974"/>
          </a:xfrm>
        </p:spPr>
        <p:txBody>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p:sp>
        <p:nvSpPr>
          <p:cNvPr id="7" name="页脚占位符 2">
            <a:extLst>
              <a:ext uri="{FF2B5EF4-FFF2-40B4-BE49-F238E27FC236}">
                <a16:creationId xmlns:a16="http://schemas.microsoft.com/office/drawing/2014/main" id="{91423984-0DFF-47AF-A5CE-65E82DFDE6B4}"/>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
        <p:nvSpPr>
          <p:cNvPr id="6" name="文本框 5">
            <a:extLst>
              <a:ext uri="{FF2B5EF4-FFF2-40B4-BE49-F238E27FC236}">
                <a16:creationId xmlns:a16="http://schemas.microsoft.com/office/drawing/2014/main" id="{45ED8EAA-C9C5-4E24-A064-D2F37B05616E}"/>
              </a:ext>
            </a:extLst>
          </p:cNvPr>
          <p:cNvSpPr txBox="1"/>
          <p:nvPr/>
        </p:nvSpPr>
        <p:spPr>
          <a:xfrm>
            <a:off x="162560" y="1265841"/>
            <a:ext cx="8649898" cy="874407"/>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采用随机样本绘制学习曲线，查阅</a:t>
            </a:r>
            <a:r>
              <a:rPr lang="en-US" altLang="zh-CN" dirty="0" err="1">
                <a:latin typeface="微软雅黑" panose="020B0503020204020204" pitchFamily="34" charset="-122"/>
                <a:ea typeface="微软雅黑" panose="020B0503020204020204" pitchFamily="34" charset="-122"/>
              </a:rPr>
              <a:t>Learning_curve</a:t>
            </a:r>
            <a:r>
              <a:rPr lang="zh-CN" altLang="en-US" dirty="0">
                <a:latin typeface="微软雅黑" panose="020B0503020204020204" pitchFamily="34" charset="-122"/>
                <a:ea typeface="微软雅黑" panose="020B0503020204020204" pitchFamily="34" charset="-122"/>
              </a:rPr>
              <a:t>官方文档，了解各个参数含义，调整参数绘制学习曲线，根据学习曲线判断该模型为欠拟合，过拟合还是合理拟合</a:t>
            </a:r>
          </a:p>
        </p:txBody>
      </p:sp>
      <p:sp>
        <p:nvSpPr>
          <p:cNvPr id="8" name="文本框 7">
            <a:extLst>
              <a:ext uri="{FF2B5EF4-FFF2-40B4-BE49-F238E27FC236}">
                <a16:creationId xmlns:a16="http://schemas.microsoft.com/office/drawing/2014/main" id="{B81F4735-1093-40DA-B1F6-12AB10A530CE}"/>
              </a:ext>
            </a:extLst>
          </p:cNvPr>
          <p:cNvSpPr txBox="1"/>
          <p:nvPr/>
        </p:nvSpPr>
        <p:spPr>
          <a:xfrm>
            <a:off x="162561" y="2264617"/>
            <a:ext cx="2172676" cy="369332"/>
          </a:xfrm>
          <a:prstGeom prst="rect">
            <a:avLst/>
          </a:prstGeom>
          <a:noFill/>
        </p:spPr>
        <p:txBody>
          <a:bodyPr wrap="square" rtlCol="0">
            <a:spAutoFit/>
          </a:bodyPr>
          <a:lstStyle/>
          <a:p>
            <a:pPr marL="285750" indent="-285750">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随机样本生成：</a:t>
            </a:r>
          </a:p>
        </p:txBody>
      </p:sp>
      <p:pic>
        <p:nvPicPr>
          <p:cNvPr id="10" name="图片 9">
            <a:extLst>
              <a:ext uri="{FF2B5EF4-FFF2-40B4-BE49-F238E27FC236}">
                <a16:creationId xmlns:a16="http://schemas.microsoft.com/office/drawing/2014/main" id="{E10FD7D9-DD09-4D34-994E-143B5FC4758B}"/>
              </a:ext>
            </a:extLst>
          </p:cNvPr>
          <p:cNvPicPr>
            <a:picLocks noChangeAspect="1"/>
          </p:cNvPicPr>
          <p:nvPr/>
        </p:nvPicPr>
        <p:blipFill>
          <a:blip r:embed="rId3"/>
          <a:stretch>
            <a:fillRect/>
          </a:stretch>
        </p:blipFill>
        <p:spPr>
          <a:xfrm>
            <a:off x="225083" y="2779120"/>
            <a:ext cx="7906043" cy="539152"/>
          </a:xfrm>
          <a:prstGeom prst="rect">
            <a:avLst/>
          </a:prstGeom>
        </p:spPr>
      </p:pic>
      <p:sp>
        <p:nvSpPr>
          <p:cNvPr id="11" name="文本框 10">
            <a:extLst>
              <a:ext uri="{FF2B5EF4-FFF2-40B4-BE49-F238E27FC236}">
                <a16:creationId xmlns:a16="http://schemas.microsoft.com/office/drawing/2014/main" id="{C9F93272-5634-4E4B-A07A-C48903CF15E5}"/>
              </a:ext>
            </a:extLst>
          </p:cNvPr>
          <p:cNvSpPr txBox="1"/>
          <p:nvPr/>
        </p:nvSpPr>
        <p:spPr>
          <a:xfrm>
            <a:off x="162561" y="3542333"/>
            <a:ext cx="4958080" cy="369332"/>
          </a:xfrm>
          <a:prstGeom prst="rect">
            <a:avLst/>
          </a:prstGeom>
          <a:noFill/>
        </p:spPr>
        <p:txBody>
          <a:bodyPr wrap="square" rtlCol="0">
            <a:spAutoFit/>
          </a:bodyPr>
          <a:lstStyle/>
          <a:p>
            <a:pPr marL="285750" indent="-285750">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分类器设置（这里采用对数几率回归模型）：</a:t>
            </a:r>
          </a:p>
        </p:txBody>
      </p:sp>
      <p:pic>
        <p:nvPicPr>
          <p:cNvPr id="13" name="图片 12">
            <a:extLst>
              <a:ext uri="{FF2B5EF4-FFF2-40B4-BE49-F238E27FC236}">
                <a16:creationId xmlns:a16="http://schemas.microsoft.com/office/drawing/2014/main" id="{E558FB39-36B6-4EA7-8EA9-6333325CE162}"/>
              </a:ext>
            </a:extLst>
          </p:cNvPr>
          <p:cNvPicPr>
            <a:picLocks noChangeAspect="1"/>
          </p:cNvPicPr>
          <p:nvPr/>
        </p:nvPicPr>
        <p:blipFill>
          <a:blip r:embed="rId4"/>
          <a:stretch>
            <a:fillRect/>
          </a:stretch>
        </p:blipFill>
        <p:spPr>
          <a:xfrm>
            <a:off x="162561" y="4135727"/>
            <a:ext cx="5985022" cy="642319"/>
          </a:xfrm>
          <a:prstGeom prst="rect">
            <a:avLst/>
          </a:prstGeom>
        </p:spPr>
      </p:pic>
      <p:sp>
        <p:nvSpPr>
          <p:cNvPr id="14" name="文本框 13">
            <a:extLst>
              <a:ext uri="{FF2B5EF4-FFF2-40B4-BE49-F238E27FC236}">
                <a16:creationId xmlns:a16="http://schemas.microsoft.com/office/drawing/2014/main" id="{ED324404-3165-4B55-8D2C-1B88577D8A5E}"/>
              </a:ext>
            </a:extLst>
          </p:cNvPr>
          <p:cNvSpPr txBox="1"/>
          <p:nvPr/>
        </p:nvSpPr>
        <p:spPr>
          <a:xfrm>
            <a:off x="162561" y="5110880"/>
            <a:ext cx="4958080"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CN" b="1" dirty="0" err="1">
                <a:latin typeface="微软雅黑" panose="020B0503020204020204" pitchFamily="34" charset="-122"/>
                <a:ea typeface="微软雅黑" panose="020B0503020204020204" pitchFamily="34" charset="-122"/>
              </a:rPr>
              <a:t>Sklearn</a:t>
            </a:r>
            <a:r>
              <a:rPr lang="zh-CN" altLang="en-US" b="1" dirty="0">
                <a:latin typeface="微软雅黑" panose="020B0503020204020204" pitchFamily="34" charset="-122"/>
                <a:ea typeface="微软雅黑" panose="020B0503020204020204" pitchFamily="34" charset="-122"/>
              </a:rPr>
              <a:t>学习曲线绘制函数：</a:t>
            </a:r>
          </a:p>
        </p:txBody>
      </p:sp>
      <p:pic>
        <p:nvPicPr>
          <p:cNvPr id="15" name="图片 14">
            <a:extLst>
              <a:ext uri="{FF2B5EF4-FFF2-40B4-BE49-F238E27FC236}">
                <a16:creationId xmlns:a16="http://schemas.microsoft.com/office/drawing/2014/main" id="{8F8C7ECF-7FD0-439B-BCBF-A853CF0E608B}"/>
              </a:ext>
            </a:extLst>
          </p:cNvPr>
          <p:cNvPicPr>
            <a:picLocks noChangeAspect="1"/>
          </p:cNvPicPr>
          <p:nvPr/>
        </p:nvPicPr>
        <p:blipFill>
          <a:blip r:embed="rId5"/>
          <a:stretch>
            <a:fillRect/>
          </a:stretch>
        </p:blipFill>
        <p:spPr>
          <a:xfrm>
            <a:off x="162560" y="5634810"/>
            <a:ext cx="8649899" cy="642319"/>
          </a:xfrm>
          <a:prstGeom prst="rect">
            <a:avLst/>
          </a:prstGeom>
        </p:spPr>
      </p:pic>
    </p:spTree>
    <p:extLst>
      <p:ext uri="{BB962C8B-B14F-4D97-AF65-F5344CB8AC3E}">
        <p14:creationId xmlns:p14="http://schemas.microsoft.com/office/powerpoint/2010/main" val="12353035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42</a:t>
            </a:fld>
            <a:endParaRPr lang="en-US" altLang="zh-CN"/>
          </a:p>
        </p:txBody>
      </p:sp>
      <p:sp>
        <p:nvSpPr>
          <p:cNvPr id="13" name="标题 1">
            <a:extLst>
              <a:ext uri="{FF2B5EF4-FFF2-40B4-BE49-F238E27FC236}">
                <a16:creationId xmlns:a16="http://schemas.microsoft.com/office/drawing/2014/main" id="{5607F18F-699A-4F7F-A2ED-BD80B7B267C8}"/>
              </a:ext>
            </a:extLst>
          </p:cNvPr>
          <p:cNvSpPr>
            <a:spLocks noGrp="1"/>
          </p:cNvSpPr>
          <p:nvPr>
            <p:ph type="title"/>
          </p:nvPr>
        </p:nvSpPr>
        <p:spPr>
          <a:xfrm>
            <a:off x="203253" y="376219"/>
            <a:ext cx="8229600" cy="990600"/>
          </a:xfrm>
        </p:spPr>
        <p:txBody>
          <a:bodyPr/>
          <a:lstStyle/>
          <a:p>
            <a:r>
              <a:rPr lang="en-US" altLang="zh-CN" dirty="0">
                <a:latin typeface="微软雅黑" panose="020B0503020204020204" pitchFamily="34" charset="-122"/>
                <a:ea typeface="微软雅黑" panose="020B0503020204020204" pitchFamily="34" charset="-122"/>
                <a:cs typeface="Times New Roman" panose="02020603050405020304" pitchFamily="18" charset="0"/>
              </a:rPr>
              <a:t>5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改善模型性能的方法</a:t>
            </a:r>
          </a:p>
        </p:txBody>
      </p:sp>
      <p:sp>
        <p:nvSpPr>
          <p:cNvPr id="6" name="文本框 5"/>
          <p:cNvSpPr txBox="1"/>
          <p:nvPr/>
        </p:nvSpPr>
        <p:spPr>
          <a:xfrm>
            <a:off x="341376" y="1560576"/>
            <a:ext cx="8091477" cy="1384995"/>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dirty="0">
                <a:solidFill>
                  <a:srgbClr val="1F497D"/>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正则化</a:t>
            </a:r>
            <a:endParaRPr lang="en-US" altLang="zh-CN" sz="2800" dirty="0">
              <a:solidFill>
                <a:srgbClr val="1F497D"/>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endParaRPr lang="en-US" altLang="zh-CN" sz="2800" dirty="0">
              <a:solidFill>
                <a:srgbClr val="1F497D"/>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342900" indent="-342900">
              <a:buFont typeface="Wingdings" panose="05000000000000000000" pitchFamily="2" charset="2"/>
              <a:buChar char="p"/>
            </a:pPr>
            <a:r>
              <a:rPr lang="zh-CN" altLang="en-US" sz="2800" dirty="0">
                <a:solidFill>
                  <a:srgbClr val="1F497D"/>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交叉验证</a:t>
            </a:r>
            <a:endParaRPr lang="en-US" altLang="zh-CN" sz="2800" dirty="0">
              <a:solidFill>
                <a:srgbClr val="1F497D"/>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7" name="页脚占位符 2">
            <a:extLst>
              <a:ext uri="{FF2B5EF4-FFF2-40B4-BE49-F238E27FC236}">
                <a16:creationId xmlns:a16="http://schemas.microsoft.com/office/drawing/2014/main" id="{70FF8A37-8AF8-4203-8437-1A5CCA96C923}"/>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Tree>
    <p:extLst>
      <p:ext uri="{BB962C8B-B14F-4D97-AF65-F5344CB8AC3E}">
        <p14:creationId xmlns:p14="http://schemas.microsoft.com/office/powerpoint/2010/main" val="41369341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43</a:t>
            </a:fld>
            <a:endParaRPr lang="en-US" altLang="zh-CN"/>
          </a:p>
        </p:txBody>
      </p:sp>
      <p:sp>
        <p:nvSpPr>
          <p:cNvPr id="7" name="页脚占位符 2">
            <a:extLst>
              <a:ext uri="{FF2B5EF4-FFF2-40B4-BE49-F238E27FC236}">
                <a16:creationId xmlns:a16="http://schemas.microsoft.com/office/drawing/2014/main" id="{70FF8A37-8AF8-4203-8437-1A5CCA96C923}"/>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
        <p:nvSpPr>
          <p:cNvPr id="8" name="标题 1">
            <a:extLst>
              <a:ext uri="{FF2B5EF4-FFF2-40B4-BE49-F238E27FC236}">
                <a16:creationId xmlns:a16="http://schemas.microsoft.com/office/drawing/2014/main" id="{B7AD6C23-1302-4CFB-B1EB-DCB255E62D8B}"/>
              </a:ext>
            </a:extLst>
          </p:cNvPr>
          <p:cNvSpPr>
            <a:spLocks noGrp="1"/>
          </p:cNvSpPr>
          <p:nvPr>
            <p:ph type="title"/>
          </p:nvPr>
        </p:nvSpPr>
        <p:spPr>
          <a:xfrm>
            <a:off x="162560" y="440765"/>
            <a:ext cx="8229600" cy="731974"/>
          </a:xfrm>
        </p:spPr>
        <p:txBody>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正则化</a:t>
            </a:r>
          </a:p>
        </p:txBody>
      </p:sp>
      <p:sp>
        <p:nvSpPr>
          <p:cNvPr id="4" name="文本框 3">
            <a:extLst>
              <a:ext uri="{FF2B5EF4-FFF2-40B4-BE49-F238E27FC236}">
                <a16:creationId xmlns:a16="http://schemas.microsoft.com/office/drawing/2014/main" id="{110EE483-15F6-430B-84EF-338E9B07961F}"/>
              </a:ext>
            </a:extLst>
          </p:cNvPr>
          <p:cNvSpPr txBox="1"/>
          <p:nvPr/>
        </p:nvSpPr>
        <p:spPr>
          <a:xfrm>
            <a:off x="162560" y="1113327"/>
            <a:ext cx="8229600" cy="961289"/>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考虑如下散点的拟合问题，我们以</a:t>
            </a:r>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次多项式拟合散点，发现出现了较为严重的过拟合，如何对这一过拟合问题进行修正？</a:t>
            </a:r>
          </a:p>
        </p:txBody>
      </p:sp>
      <p:cxnSp>
        <p:nvCxnSpPr>
          <p:cNvPr id="39" name="直接箭头连接符 38">
            <a:extLst>
              <a:ext uri="{FF2B5EF4-FFF2-40B4-BE49-F238E27FC236}">
                <a16:creationId xmlns:a16="http://schemas.microsoft.com/office/drawing/2014/main" id="{B60FC073-00D6-431A-9080-C720CA46F464}"/>
              </a:ext>
            </a:extLst>
          </p:cNvPr>
          <p:cNvCxnSpPr/>
          <p:nvPr/>
        </p:nvCxnSpPr>
        <p:spPr>
          <a:xfrm flipV="1">
            <a:off x="3039402" y="2744436"/>
            <a:ext cx="0" cy="208041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0" name="直接箭头连接符 39">
            <a:extLst>
              <a:ext uri="{FF2B5EF4-FFF2-40B4-BE49-F238E27FC236}">
                <a16:creationId xmlns:a16="http://schemas.microsoft.com/office/drawing/2014/main" id="{5BDF18A3-C2FB-4E87-AD4A-C4AC7D7D196B}"/>
              </a:ext>
            </a:extLst>
          </p:cNvPr>
          <p:cNvCxnSpPr>
            <a:cxnSpLocks/>
          </p:cNvCxnSpPr>
          <p:nvPr/>
        </p:nvCxnSpPr>
        <p:spPr>
          <a:xfrm flipV="1">
            <a:off x="3039402" y="4824849"/>
            <a:ext cx="2952878"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nvGrpSpPr>
          <p:cNvPr id="41" name="组合 40">
            <a:extLst>
              <a:ext uri="{FF2B5EF4-FFF2-40B4-BE49-F238E27FC236}">
                <a16:creationId xmlns:a16="http://schemas.microsoft.com/office/drawing/2014/main" id="{11CC1263-6958-4027-A461-44F065A2832A}"/>
              </a:ext>
            </a:extLst>
          </p:cNvPr>
          <p:cNvGrpSpPr/>
          <p:nvPr/>
        </p:nvGrpSpPr>
        <p:grpSpPr>
          <a:xfrm>
            <a:off x="3307267" y="4425949"/>
            <a:ext cx="108000" cy="108000"/>
            <a:chOff x="6341533" y="2315633"/>
            <a:chExt cx="108000" cy="108000"/>
          </a:xfrm>
        </p:grpSpPr>
        <p:cxnSp>
          <p:nvCxnSpPr>
            <p:cNvPr id="42" name="直接连接符 41">
              <a:extLst>
                <a:ext uri="{FF2B5EF4-FFF2-40B4-BE49-F238E27FC236}">
                  <a16:creationId xmlns:a16="http://schemas.microsoft.com/office/drawing/2014/main" id="{A7F76947-5A84-4D14-AF03-0AC359F9359E}"/>
                </a:ext>
              </a:extLst>
            </p:cNvPr>
            <p:cNvCxnSpPr/>
            <p:nvPr/>
          </p:nvCxnSpPr>
          <p:spPr>
            <a:xfrm flipH="1">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33B8B56F-4D13-4558-B574-3EF9EAD1019C}"/>
                </a:ext>
              </a:extLst>
            </p:cNvPr>
            <p:cNvCxnSpPr>
              <a:cxnSpLocks/>
            </p:cNvCxnSpPr>
            <p:nvPr/>
          </p:nvCxnSpPr>
          <p:spPr>
            <a:xfrm>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44" name="组合 43">
            <a:extLst>
              <a:ext uri="{FF2B5EF4-FFF2-40B4-BE49-F238E27FC236}">
                <a16:creationId xmlns:a16="http://schemas.microsoft.com/office/drawing/2014/main" id="{1BA246F0-0270-4EE6-9DFB-63C48933DEDC}"/>
              </a:ext>
            </a:extLst>
          </p:cNvPr>
          <p:cNvGrpSpPr/>
          <p:nvPr/>
        </p:nvGrpSpPr>
        <p:grpSpPr>
          <a:xfrm>
            <a:off x="3505601" y="3913502"/>
            <a:ext cx="108000" cy="108000"/>
            <a:chOff x="6341533" y="2315633"/>
            <a:chExt cx="108000" cy="108000"/>
          </a:xfrm>
        </p:grpSpPr>
        <p:cxnSp>
          <p:nvCxnSpPr>
            <p:cNvPr id="45" name="直接连接符 44">
              <a:extLst>
                <a:ext uri="{FF2B5EF4-FFF2-40B4-BE49-F238E27FC236}">
                  <a16:creationId xmlns:a16="http://schemas.microsoft.com/office/drawing/2014/main" id="{A4181615-7A81-437B-B8AD-F0CD0BF3F3A6}"/>
                </a:ext>
              </a:extLst>
            </p:cNvPr>
            <p:cNvCxnSpPr/>
            <p:nvPr/>
          </p:nvCxnSpPr>
          <p:spPr>
            <a:xfrm flipH="1">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93CBA6D3-1288-4DBC-8EDD-ED0509A57021}"/>
                </a:ext>
              </a:extLst>
            </p:cNvPr>
            <p:cNvCxnSpPr>
              <a:cxnSpLocks/>
            </p:cNvCxnSpPr>
            <p:nvPr/>
          </p:nvCxnSpPr>
          <p:spPr>
            <a:xfrm>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47" name="组合 46">
            <a:extLst>
              <a:ext uri="{FF2B5EF4-FFF2-40B4-BE49-F238E27FC236}">
                <a16:creationId xmlns:a16="http://schemas.microsoft.com/office/drawing/2014/main" id="{D3D4DF8B-B1D9-47F5-99AF-F2A7C5BDBE7A}"/>
              </a:ext>
            </a:extLst>
          </p:cNvPr>
          <p:cNvGrpSpPr/>
          <p:nvPr/>
        </p:nvGrpSpPr>
        <p:grpSpPr>
          <a:xfrm>
            <a:off x="4010001" y="3623852"/>
            <a:ext cx="108000" cy="108000"/>
            <a:chOff x="6341533" y="2315633"/>
            <a:chExt cx="108000" cy="108000"/>
          </a:xfrm>
        </p:grpSpPr>
        <p:cxnSp>
          <p:nvCxnSpPr>
            <p:cNvPr id="48" name="直接连接符 47">
              <a:extLst>
                <a:ext uri="{FF2B5EF4-FFF2-40B4-BE49-F238E27FC236}">
                  <a16:creationId xmlns:a16="http://schemas.microsoft.com/office/drawing/2014/main" id="{51C02415-B50D-4F0F-80A4-1BAFF375435D}"/>
                </a:ext>
              </a:extLst>
            </p:cNvPr>
            <p:cNvCxnSpPr/>
            <p:nvPr/>
          </p:nvCxnSpPr>
          <p:spPr>
            <a:xfrm flipH="1">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5E5E8AB0-E594-43CA-942B-0985A7637D0F}"/>
                </a:ext>
              </a:extLst>
            </p:cNvPr>
            <p:cNvCxnSpPr>
              <a:cxnSpLocks/>
            </p:cNvCxnSpPr>
            <p:nvPr/>
          </p:nvCxnSpPr>
          <p:spPr>
            <a:xfrm>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50" name="组合 49">
            <a:extLst>
              <a:ext uri="{FF2B5EF4-FFF2-40B4-BE49-F238E27FC236}">
                <a16:creationId xmlns:a16="http://schemas.microsoft.com/office/drawing/2014/main" id="{45AEE247-CB1A-4C2C-BDE3-E3F97C0914E3}"/>
              </a:ext>
            </a:extLst>
          </p:cNvPr>
          <p:cNvGrpSpPr/>
          <p:nvPr/>
        </p:nvGrpSpPr>
        <p:grpSpPr>
          <a:xfrm>
            <a:off x="4187800" y="3086288"/>
            <a:ext cx="108000" cy="108000"/>
            <a:chOff x="6341533" y="2315633"/>
            <a:chExt cx="108000" cy="108000"/>
          </a:xfrm>
        </p:grpSpPr>
        <p:cxnSp>
          <p:nvCxnSpPr>
            <p:cNvPr id="51" name="直接连接符 50">
              <a:extLst>
                <a:ext uri="{FF2B5EF4-FFF2-40B4-BE49-F238E27FC236}">
                  <a16:creationId xmlns:a16="http://schemas.microsoft.com/office/drawing/2014/main" id="{6296A99F-DBF5-4A6A-A30A-BAAC4102ABE1}"/>
                </a:ext>
              </a:extLst>
            </p:cNvPr>
            <p:cNvCxnSpPr/>
            <p:nvPr/>
          </p:nvCxnSpPr>
          <p:spPr>
            <a:xfrm flipH="1">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7263E3A0-BBAB-4651-8F5C-09F991355854}"/>
                </a:ext>
              </a:extLst>
            </p:cNvPr>
            <p:cNvCxnSpPr>
              <a:cxnSpLocks/>
            </p:cNvCxnSpPr>
            <p:nvPr/>
          </p:nvCxnSpPr>
          <p:spPr>
            <a:xfrm>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53" name="组合 52">
            <a:extLst>
              <a:ext uri="{FF2B5EF4-FFF2-40B4-BE49-F238E27FC236}">
                <a16:creationId xmlns:a16="http://schemas.microsoft.com/office/drawing/2014/main" id="{AC16A294-6306-44C3-8635-0BCB5284F8A7}"/>
              </a:ext>
            </a:extLst>
          </p:cNvPr>
          <p:cNvGrpSpPr/>
          <p:nvPr/>
        </p:nvGrpSpPr>
        <p:grpSpPr>
          <a:xfrm>
            <a:off x="4742394" y="3194288"/>
            <a:ext cx="108000" cy="108000"/>
            <a:chOff x="6341533" y="2315633"/>
            <a:chExt cx="108000" cy="108000"/>
          </a:xfrm>
        </p:grpSpPr>
        <p:cxnSp>
          <p:nvCxnSpPr>
            <p:cNvPr id="54" name="直接连接符 53">
              <a:extLst>
                <a:ext uri="{FF2B5EF4-FFF2-40B4-BE49-F238E27FC236}">
                  <a16:creationId xmlns:a16="http://schemas.microsoft.com/office/drawing/2014/main" id="{3795CB53-47FD-46BB-9FF4-E354B7DD0D32}"/>
                </a:ext>
              </a:extLst>
            </p:cNvPr>
            <p:cNvCxnSpPr/>
            <p:nvPr/>
          </p:nvCxnSpPr>
          <p:spPr>
            <a:xfrm flipH="1">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35E02960-AC7A-4DC5-B35F-FA0D8E9C66EC}"/>
                </a:ext>
              </a:extLst>
            </p:cNvPr>
            <p:cNvCxnSpPr>
              <a:cxnSpLocks/>
            </p:cNvCxnSpPr>
            <p:nvPr/>
          </p:nvCxnSpPr>
          <p:spPr>
            <a:xfrm>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56" name="组合 55">
            <a:extLst>
              <a:ext uri="{FF2B5EF4-FFF2-40B4-BE49-F238E27FC236}">
                <a16:creationId xmlns:a16="http://schemas.microsoft.com/office/drawing/2014/main" id="{D0CB1C44-4B55-4236-822D-F0BE27F88C2A}"/>
              </a:ext>
            </a:extLst>
          </p:cNvPr>
          <p:cNvGrpSpPr/>
          <p:nvPr/>
        </p:nvGrpSpPr>
        <p:grpSpPr>
          <a:xfrm>
            <a:off x="5199567" y="3463650"/>
            <a:ext cx="108000" cy="108000"/>
            <a:chOff x="6341533" y="2315633"/>
            <a:chExt cx="108000" cy="108000"/>
          </a:xfrm>
        </p:grpSpPr>
        <p:cxnSp>
          <p:nvCxnSpPr>
            <p:cNvPr id="57" name="直接连接符 56">
              <a:extLst>
                <a:ext uri="{FF2B5EF4-FFF2-40B4-BE49-F238E27FC236}">
                  <a16:creationId xmlns:a16="http://schemas.microsoft.com/office/drawing/2014/main" id="{73B07CF2-5842-4FA5-BDFF-52F542E5AB16}"/>
                </a:ext>
              </a:extLst>
            </p:cNvPr>
            <p:cNvCxnSpPr/>
            <p:nvPr/>
          </p:nvCxnSpPr>
          <p:spPr>
            <a:xfrm flipH="1">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9C67004E-3DF5-46B4-A61B-184BE766FD65}"/>
                </a:ext>
              </a:extLst>
            </p:cNvPr>
            <p:cNvCxnSpPr>
              <a:cxnSpLocks/>
            </p:cNvCxnSpPr>
            <p:nvPr/>
          </p:nvCxnSpPr>
          <p:spPr>
            <a:xfrm>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59" name="组合 58">
            <a:extLst>
              <a:ext uri="{FF2B5EF4-FFF2-40B4-BE49-F238E27FC236}">
                <a16:creationId xmlns:a16="http://schemas.microsoft.com/office/drawing/2014/main" id="{9B0D4940-6A06-42F0-89A7-D9EDEF0B8839}"/>
              </a:ext>
            </a:extLst>
          </p:cNvPr>
          <p:cNvGrpSpPr/>
          <p:nvPr/>
        </p:nvGrpSpPr>
        <p:grpSpPr>
          <a:xfrm>
            <a:off x="5576334" y="3569852"/>
            <a:ext cx="108000" cy="108000"/>
            <a:chOff x="6341533" y="2315633"/>
            <a:chExt cx="108000" cy="108000"/>
          </a:xfrm>
        </p:grpSpPr>
        <p:cxnSp>
          <p:nvCxnSpPr>
            <p:cNvPr id="60" name="直接连接符 59">
              <a:extLst>
                <a:ext uri="{FF2B5EF4-FFF2-40B4-BE49-F238E27FC236}">
                  <a16:creationId xmlns:a16="http://schemas.microsoft.com/office/drawing/2014/main" id="{862DE614-270C-4F12-9492-EFA1777F9ED3}"/>
                </a:ext>
              </a:extLst>
            </p:cNvPr>
            <p:cNvCxnSpPr/>
            <p:nvPr/>
          </p:nvCxnSpPr>
          <p:spPr>
            <a:xfrm flipH="1">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E8D47616-630C-4080-AD58-9FEA9B38D117}"/>
                </a:ext>
              </a:extLst>
            </p:cNvPr>
            <p:cNvCxnSpPr>
              <a:cxnSpLocks/>
            </p:cNvCxnSpPr>
            <p:nvPr/>
          </p:nvCxnSpPr>
          <p:spPr>
            <a:xfrm>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63" name="任意多边形: 形状 62">
            <a:extLst>
              <a:ext uri="{FF2B5EF4-FFF2-40B4-BE49-F238E27FC236}">
                <a16:creationId xmlns:a16="http://schemas.microsoft.com/office/drawing/2014/main" id="{F897078C-4BA4-46B2-BD64-B581FCD4F8E0}"/>
              </a:ext>
            </a:extLst>
          </p:cNvPr>
          <p:cNvSpPr/>
          <p:nvPr/>
        </p:nvSpPr>
        <p:spPr>
          <a:xfrm>
            <a:off x="3359150" y="2787642"/>
            <a:ext cx="2514600" cy="1720858"/>
          </a:xfrm>
          <a:custGeom>
            <a:avLst/>
            <a:gdLst>
              <a:gd name="connsiteX0" fmla="*/ 0 w 2514600"/>
              <a:gd name="connsiteY0" fmla="*/ 1720858 h 1720858"/>
              <a:gd name="connsiteX1" fmla="*/ 419100 w 2514600"/>
              <a:gd name="connsiteY1" fmla="*/ 533408 h 1720858"/>
              <a:gd name="connsiteX2" fmla="*/ 793750 w 2514600"/>
              <a:gd name="connsiteY2" fmla="*/ 1022358 h 1720858"/>
              <a:gd name="connsiteX3" fmla="*/ 895350 w 2514600"/>
              <a:gd name="connsiteY3" fmla="*/ 8 h 1720858"/>
              <a:gd name="connsiteX4" fmla="*/ 1746250 w 2514600"/>
              <a:gd name="connsiteY4" fmla="*/ 1041408 h 1720858"/>
              <a:gd name="connsiteX5" fmla="*/ 2019300 w 2514600"/>
              <a:gd name="connsiteY5" fmla="*/ 419108 h 1720858"/>
              <a:gd name="connsiteX6" fmla="*/ 2514600 w 2514600"/>
              <a:gd name="connsiteY6" fmla="*/ 1409708 h 1720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4600" h="1720858">
                <a:moveTo>
                  <a:pt x="0" y="1720858"/>
                </a:moveTo>
                <a:cubicBezTo>
                  <a:pt x="143404" y="1185341"/>
                  <a:pt x="286808" y="649825"/>
                  <a:pt x="419100" y="533408"/>
                </a:cubicBezTo>
                <a:cubicBezTo>
                  <a:pt x="551392" y="416991"/>
                  <a:pt x="714375" y="1111258"/>
                  <a:pt x="793750" y="1022358"/>
                </a:cubicBezTo>
                <a:cubicBezTo>
                  <a:pt x="873125" y="933458"/>
                  <a:pt x="736600" y="-3167"/>
                  <a:pt x="895350" y="8"/>
                </a:cubicBezTo>
                <a:cubicBezTo>
                  <a:pt x="1054100" y="3183"/>
                  <a:pt x="1558925" y="971558"/>
                  <a:pt x="1746250" y="1041408"/>
                </a:cubicBezTo>
                <a:cubicBezTo>
                  <a:pt x="1933575" y="1111258"/>
                  <a:pt x="1891242" y="357725"/>
                  <a:pt x="2019300" y="419108"/>
                </a:cubicBezTo>
                <a:cubicBezTo>
                  <a:pt x="2147358" y="480491"/>
                  <a:pt x="2405592" y="1022358"/>
                  <a:pt x="2514600" y="1409708"/>
                </a:cubicBezTo>
              </a:path>
            </a:pathLst>
          </a:cu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a:extLst>
              <a:ext uri="{FF2B5EF4-FFF2-40B4-BE49-F238E27FC236}">
                <a16:creationId xmlns:a16="http://schemas.microsoft.com/office/drawing/2014/main" id="{1906BFE6-E5FA-4AE6-8F68-6C5A20B51A12}"/>
              </a:ext>
            </a:extLst>
          </p:cNvPr>
          <p:cNvSpPr txBox="1"/>
          <p:nvPr/>
        </p:nvSpPr>
        <p:spPr>
          <a:xfrm>
            <a:off x="6193497" y="4479949"/>
            <a:ext cx="338554" cy="461665"/>
          </a:xfrm>
          <a:prstGeom prst="rect">
            <a:avLst/>
          </a:prstGeom>
          <a:noFill/>
        </p:spPr>
        <p:txBody>
          <a:bodyPr wrap="none" rtlCol="0">
            <a:spAutoFit/>
          </a:bodyPr>
          <a:lstStyle/>
          <a:p>
            <a:r>
              <a:rPr lang="en-US" altLang="zh-CN" sz="2400" b="1" i="1" dirty="0">
                <a:latin typeface="Times New Roman" panose="02020603050405020304" pitchFamily="18" charset="0"/>
                <a:cs typeface="Times New Roman" panose="02020603050405020304" pitchFamily="18" charset="0"/>
              </a:rPr>
              <a:t>x</a:t>
            </a:r>
            <a:endParaRPr lang="zh-CN" altLang="en-US" sz="2400" b="1" i="1" dirty="0">
              <a:latin typeface="Times New Roman" panose="02020603050405020304" pitchFamily="18" charset="0"/>
              <a:cs typeface="Times New Roman" panose="02020603050405020304" pitchFamily="18" charset="0"/>
            </a:endParaRPr>
          </a:p>
        </p:txBody>
      </p:sp>
      <p:sp>
        <p:nvSpPr>
          <p:cNvPr id="67" name="文本框 66">
            <a:extLst>
              <a:ext uri="{FF2B5EF4-FFF2-40B4-BE49-F238E27FC236}">
                <a16:creationId xmlns:a16="http://schemas.microsoft.com/office/drawing/2014/main" id="{1660C272-45C4-456D-948D-0BB030FFD03C}"/>
              </a:ext>
            </a:extLst>
          </p:cNvPr>
          <p:cNvSpPr txBox="1"/>
          <p:nvPr/>
        </p:nvSpPr>
        <p:spPr>
          <a:xfrm>
            <a:off x="2558607" y="2543597"/>
            <a:ext cx="320922" cy="461665"/>
          </a:xfrm>
          <a:prstGeom prst="rect">
            <a:avLst/>
          </a:prstGeom>
          <a:noFill/>
        </p:spPr>
        <p:txBody>
          <a:bodyPr wrap="none" rtlCol="0">
            <a:spAutoFit/>
          </a:bodyPr>
          <a:lstStyle/>
          <a:p>
            <a:r>
              <a:rPr lang="en-US" altLang="zh-CN" sz="2400" b="1" i="1" dirty="0">
                <a:latin typeface="Times New Roman" panose="02020603050405020304" pitchFamily="18" charset="0"/>
                <a:cs typeface="Times New Roman" panose="02020603050405020304" pitchFamily="18" charset="0"/>
              </a:rPr>
              <a:t>y</a:t>
            </a:r>
            <a:endParaRPr lang="zh-CN" altLang="en-US" sz="2400" b="1" i="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9" name="文本框 68">
                <a:extLst>
                  <a:ext uri="{FF2B5EF4-FFF2-40B4-BE49-F238E27FC236}">
                    <a16:creationId xmlns:a16="http://schemas.microsoft.com/office/drawing/2014/main" id="{46F15A42-CDC1-46BC-A283-1CF43EA47654}"/>
                  </a:ext>
                </a:extLst>
              </p:cNvPr>
              <p:cNvSpPr txBox="1"/>
              <p:nvPr/>
            </p:nvSpPr>
            <p:spPr>
              <a:xfrm>
                <a:off x="1858126" y="5141198"/>
                <a:ext cx="531542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𝑦</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𝑥</m:t>
                          </m:r>
                        </m:e>
                      </m:d>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𝜃</m:t>
                          </m:r>
                        </m:e>
                        <m:sub>
                          <m:r>
                            <a:rPr lang="en-US" altLang="zh-CN" sz="2400" b="0" i="1" smtClean="0">
                              <a:latin typeface="Cambria Math" panose="02040503050406030204" pitchFamily="18" charset="0"/>
                            </a:rPr>
                            <m:t>0</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𝜃</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𝜃</m:t>
                          </m:r>
                        </m:e>
                        <m:sub>
                          <m:r>
                            <a:rPr lang="en-US" altLang="zh-CN" sz="2400" b="0" i="1" smtClean="0">
                              <a:latin typeface="Cambria Math" panose="02040503050406030204" pitchFamily="18" charset="0"/>
                            </a:rPr>
                            <m:t>2</m:t>
                          </m:r>
                        </m:sub>
                      </m:sSub>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𝑥</m:t>
                          </m:r>
                        </m:e>
                        <m:sup>
                          <m:r>
                            <a:rPr lang="en-US" altLang="zh-CN" sz="2400" b="0" i="1" smtClean="0">
                              <a:latin typeface="Cambria Math" panose="02040503050406030204" pitchFamily="18" charset="0"/>
                            </a:rPr>
                            <m:t>2</m:t>
                          </m:r>
                        </m:sup>
                      </m:sSup>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𝜃</m:t>
                          </m:r>
                        </m:e>
                        <m:sub>
                          <m:r>
                            <a:rPr lang="en-US" altLang="zh-CN" sz="2400" b="0" i="1" smtClean="0">
                              <a:latin typeface="Cambria Math" panose="02040503050406030204" pitchFamily="18" charset="0"/>
                            </a:rPr>
                            <m:t>3</m:t>
                          </m:r>
                        </m:sub>
                      </m:sSub>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𝑥</m:t>
                          </m:r>
                        </m:e>
                        <m:sup>
                          <m:r>
                            <a:rPr lang="en-US" altLang="zh-CN" sz="2400" b="0" i="1" smtClean="0">
                              <a:latin typeface="Cambria Math" panose="02040503050406030204" pitchFamily="18" charset="0"/>
                            </a:rPr>
                            <m:t>3</m:t>
                          </m:r>
                        </m:sup>
                      </m:sSup>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𝜃</m:t>
                          </m:r>
                        </m:e>
                        <m:sub>
                          <m:r>
                            <a:rPr lang="en-US" altLang="zh-CN" sz="2400" b="0" i="1" smtClean="0">
                              <a:latin typeface="Cambria Math" panose="02040503050406030204" pitchFamily="18" charset="0"/>
                            </a:rPr>
                            <m:t>4</m:t>
                          </m:r>
                        </m:sub>
                      </m:sSub>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𝑥</m:t>
                          </m:r>
                        </m:e>
                        <m:sup>
                          <m:r>
                            <a:rPr lang="en-US" altLang="zh-CN" sz="2400" b="0" i="1" smtClean="0">
                              <a:latin typeface="Cambria Math" panose="02040503050406030204" pitchFamily="18" charset="0"/>
                            </a:rPr>
                            <m:t>4</m:t>
                          </m:r>
                        </m:sup>
                      </m:sSup>
                    </m:oMath>
                  </m:oMathPara>
                </a14:m>
                <a:endParaRPr lang="zh-CN" altLang="en-US" sz="2400" dirty="0"/>
              </a:p>
            </p:txBody>
          </p:sp>
        </mc:Choice>
        <mc:Fallback xmlns="">
          <p:sp>
            <p:nvSpPr>
              <p:cNvPr id="69" name="文本框 68">
                <a:extLst>
                  <a:ext uri="{FF2B5EF4-FFF2-40B4-BE49-F238E27FC236}">
                    <a16:creationId xmlns:a16="http://schemas.microsoft.com/office/drawing/2014/main" id="{46F15A42-CDC1-46BC-A283-1CF43EA47654}"/>
                  </a:ext>
                </a:extLst>
              </p:cNvPr>
              <p:cNvSpPr txBox="1">
                <a:spLocks noRot="1" noChangeAspect="1" noMove="1" noResize="1" noEditPoints="1" noAdjustHandles="1" noChangeArrowheads="1" noChangeShapeType="1" noTextEdit="1"/>
              </p:cNvSpPr>
              <p:nvPr/>
            </p:nvSpPr>
            <p:spPr>
              <a:xfrm>
                <a:off x="1858126" y="5141198"/>
                <a:ext cx="5315429" cy="369332"/>
              </a:xfrm>
              <a:prstGeom prst="rect">
                <a:avLst/>
              </a:prstGeom>
              <a:blipFill>
                <a:blip r:embed="rId3"/>
                <a:stretch>
                  <a:fillRect b="-278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9DC6DEA1-C252-B008-A3FB-10143F2E51DA}"/>
                  </a:ext>
                </a:extLst>
              </p:cNvPr>
              <p:cNvSpPr txBox="1"/>
              <p:nvPr/>
            </p:nvSpPr>
            <p:spPr>
              <a:xfrm>
                <a:off x="3039402" y="5682272"/>
                <a:ext cx="3325333" cy="10082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𝑓</m:t>
                      </m:r>
                      <m:d>
                        <m:dPr>
                          <m:ctrlPr>
                            <a:rPr lang="en-US" altLang="zh-CN" sz="2400" b="1" i="1" smtClean="0">
                              <a:latin typeface="Cambria Math" panose="02040503050406030204" pitchFamily="18" charset="0"/>
                            </a:rPr>
                          </m:ctrlPr>
                        </m:dPr>
                        <m:e>
                          <m:r>
                            <a:rPr lang="zh-CN" altLang="en-US" sz="2400" b="1" i="0" smtClean="0">
                              <a:latin typeface="Cambria Math" panose="02040503050406030204" pitchFamily="18" charset="0"/>
                            </a:rPr>
                            <m:t>𝛉</m:t>
                          </m:r>
                        </m:e>
                      </m:d>
                      <m:r>
                        <a:rPr lang="en-US" altLang="zh-CN" sz="2400" b="0" i="1" smtClean="0">
                          <a:latin typeface="Cambria Math" panose="02040503050406030204" pitchFamily="18" charset="0"/>
                        </a:rPr>
                        <m:t>=</m:t>
                      </m:r>
                      <m:nary>
                        <m:naryPr>
                          <m:chr m:val="∑"/>
                          <m:ctrlPr>
                            <a:rPr lang="en-US" altLang="zh-CN" sz="2400" b="0" i="1" smtClean="0">
                              <a:latin typeface="Cambria Math" panose="02040503050406030204" pitchFamily="18" charset="0"/>
                            </a:rPr>
                          </m:ctrlPr>
                        </m:naryPr>
                        <m:sub>
                          <m:r>
                            <m:rPr>
                              <m:brk m:alnAt="23"/>
                            </m:rP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𝑛</m:t>
                          </m:r>
                        </m:sup>
                        <m:e>
                          <m:sSup>
                            <m:sSupPr>
                              <m:ctrlPr>
                                <a:rPr lang="en-US" altLang="zh-CN" sz="2400" b="0" i="1" smtClean="0">
                                  <a:latin typeface="Cambria Math" panose="02040503050406030204" pitchFamily="18" charset="0"/>
                                </a:rPr>
                              </m:ctrlPr>
                            </m:sSupPr>
                            <m:e>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𝑦</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𝑦</m:t>
                                  </m:r>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𝑖</m:t>
                                          </m:r>
                                        </m:sub>
                                      </m:sSub>
                                    </m:e>
                                  </m:d>
                                </m:e>
                              </m:d>
                            </m:e>
                            <m:sup>
                              <m:r>
                                <a:rPr lang="en-US" altLang="zh-CN" sz="2400" b="0" i="1" smtClean="0">
                                  <a:latin typeface="Cambria Math" panose="02040503050406030204" pitchFamily="18" charset="0"/>
                                </a:rPr>
                                <m:t>2</m:t>
                              </m:r>
                            </m:sup>
                          </m:sSup>
                        </m:e>
                      </m:nary>
                    </m:oMath>
                  </m:oMathPara>
                </a14:m>
                <a:endParaRPr lang="zh-CN" altLang="en-US" sz="2400" dirty="0"/>
              </a:p>
            </p:txBody>
          </p:sp>
        </mc:Choice>
        <mc:Fallback xmlns="">
          <p:sp>
            <p:nvSpPr>
              <p:cNvPr id="34" name="文本框 33">
                <a:extLst>
                  <a:ext uri="{FF2B5EF4-FFF2-40B4-BE49-F238E27FC236}">
                    <a16:creationId xmlns:a16="http://schemas.microsoft.com/office/drawing/2014/main" id="{9DC6DEA1-C252-B008-A3FB-10143F2E51DA}"/>
                  </a:ext>
                </a:extLst>
              </p:cNvPr>
              <p:cNvSpPr txBox="1">
                <a:spLocks noRot="1" noChangeAspect="1" noMove="1" noResize="1" noEditPoints="1" noAdjustHandles="1" noChangeArrowheads="1" noChangeShapeType="1" noTextEdit="1"/>
              </p:cNvSpPr>
              <p:nvPr/>
            </p:nvSpPr>
            <p:spPr>
              <a:xfrm>
                <a:off x="3039402" y="5682272"/>
                <a:ext cx="3325333" cy="1008225"/>
              </a:xfrm>
              <a:prstGeom prst="rect">
                <a:avLst/>
              </a:prstGeom>
              <a:blipFill>
                <a:blip r:embed="rId4"/>
                <a:stretch>
                  <a:fillRect/>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93F9C140-C065-F0F5-C53C-444CE5598311}"/>
              </a:ext>
            </a:extLst>
          </p:cNvPr>
          <p:cNvSpPr txBox="1"/>
          <p:nvPr/>
        </p:nvSpPr>
        <p:spPr>
          <a:xfrm>
            <a:off x="1532120" y="5936694"/>
            <a:ext cx="1467068" cy="400110"/>
          </a:xfrm>
          <a:prstGeom prst="rect">
            <a:avLst/>
          </a:prstGeom>
          <a:noFill/>
        </p:spPr>
        <p:txBody>
          <a:bodyPr wrap="none" rtlCol="0">
            <a:spAutoFit/>
          </a:bodyPr>
          <a:lstStyle/>
          <a:p>
            <a:r>
              <a:rPr lang="zh-CN" altLang="en-US" sz="2000" dirty="0">
                <a:latin typeface="微软雅黑" panose="020B0503020204020204" pitchFamily="34" charset="-122"/>
                <a:ea typeface="微软雅黑" panose="020B0503020204020204" pitchFamily="34" charset="-122"/>
              </a:rPr>
              <a:t>损失函数：</a:t>
            </a:r>
            <a:endParaRPr lang="zh-CN" altLang="en-US" dirty="0"/>
          </a:p>
        </p:txBody>
      </p:sp>
    </p:spTree>
    <p:extLst>
      <p:ext uri="{BB962C8B-B14F-4D97-AF65-F5344CB8AC3E}">
        <p14:creationId xmlns:p14="http://schemas.microsoft.com/office/powerpoint/2010/main" val="7744561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44</a:t>
            </a:fld>
            <a:endParaRPr lang="en-US" altLang="zh-CN"/>
          </a:p>
        </p:txBody>
      </p:sp>
      <p:sp>
        <p:nvSpPr>
          <p:cNvPr id="7" name="页脚占位符 2">
            <a:extLst>
              <a:ext uri="{FF2B5EF4-FFF2-40B4-BE49-F238E27FC236}">
                <a16:creationId xmlns:a16="http://schemas.microsoft.com/office/drawing/2014/main" id="{70FF8A37-8AF8-4203-8437-1A5CCA96C923}"/>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
        <p:nvSpPr>
          <p:cNvPr id="8" name="标题 1">
            <a:extLst>
              <a:ext uri="{FF2B5EF4-FFF2-40B4-BE49-F238E27FC236}">
                <a16:creationId xmlns:a16="http://schemas.microsoft.com/office/drawing/2014/main" id="{B7AD6C23-1302-4CFB-B1EB-DCB255E62D8B}"/>
              </a:ext>
            </a:extLst>
          </p:cNvPr>
          <p:cNvSpPr>
            <a:spLocks noGrp="1"/>
          </p:cNvSpPr>
          <p:nvPr>
            <p:ph type="title"/>
          </p:nvPr>
        </p:nvSpPr>
        <p:spPr>
          <a:xfrm>
            <a:off x="162560" y="440765"/>
            <a:ext cx="8229600" cy="731974"/>
          </a:xfrm>
        </p:spPr>
        <p:txBody>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正则化</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110EE483-15F6-430B-84EF-338E9B07961F}"/>
                  </a:ext>
                </a:extLst>
              </p:cNvPr>
              <p:cNvSpPr txBox="1"/>
              <p:nvPr/>
            </p:nvSpPr>
            <p:spPr>
              <a:xfrm>
                <a:off x="111472" y="1063047"/>
                <a:ext cx="8638540" cy="1422954"/>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倘若我们已知二次多项式能够取得更好的拟合效果，但又希望保留四次多项式的拟合形式，</a:t>
                </a:r>
                <a:r>
                  <a:rPr lang="zh-CN" altLang="en-US" sz="2000" dirty="0">
                    <a:solidFill>
                      <a:srgbClr val="C00000"/>
                    </a:solidFill>
                    <a:latin typeface="微软雅黑" panose="020B0503020204020204" pitchFamily="34" charset="-122"/>
                    <a:ea typeface="微软雅黑" panose="020B0503020204020204" pitchFamily="34" charset="-122"/>
                  </a:rPr>
                  <a:t>我们可以尽量减少</a:t>
                </a:r>
                <a:r>
                  <a:rPr lang="en-US" altLang="zh-CN" sz="2000" dirty="0">
                    <a:solidFill>
                      <a:srgbClr val="C00000"/>
                    </a:solidFill>
                    <a:latin typeface="微软雅黑" panose="020B0503020204020204" pitchFamily="34" charset="-122"/>
                    <a:ea typeface="微软雅黑" panose="020B0503020204020204" pitchFamily="34" charset="-122"/>
                  </a:rPr>
                  <a:t>3</a:t>
                </a:r>
                <a:r>
                  <a:rPr lang="zh-CN" altLang="en-US" sz="2000" dirty="0">
                    <a:solidFill>
                      <a:srgbClr val="C00000"/>
                    </a:solidFill>
                    <a:latin typeface="微软雅黑" panose="020B0503020204020204" pitchFamily="34" charset="-122"/>
                    <a:ea typeface="微软雅黑" panose="020B0503020204020204" pitchFamily="34" charset="-122"/>
                  </a:rPr>
                  <a:t>次项系数</a:t>
                </a:r>
                <a14:m>
                  <m:oMath xmlns:m="http://schemas.openxmlformats.org/officeDocument/2006/math">
                    <m:sSub>
                      <m:sSubPr>
                        <m:ctrlPr>
                          <a:rPr lang="en-US" altLang="zh-CN" sz="2000" i="1" smtClean="0">
                            <a:solidFill>
                              <a:srgbClr val="C00000"/>
                            </a:solidFill>
                            <a:latin typeface="Cambria Math" panose="02040503050406030204" pitchFamily="18" charset="0"/>
                            <a:ea typeface="微软雅黑" panose="020B0503020204020204" pitchFamily="34" charset="-122"/>
                          </a:rPr>
                        </m:ctrlPr>
                      </m:sSubPr>
                      <m:e>
                        <m:r>
                          <a:rPr lang="zh-CN" altLang="en-US" sz="2000" i="1" smtClean="0">
                            <a:solidFill>
                              <a:srgbClr val="C00000"/>
                            </a:solidFill>
                            <a:latin typeface="Cambria Math" panose="02040503050406030204" pitchFamily="18" charset="0"/>
                            <a:ea typeface="微软雅黑" panose="020B0503020204020204" pitchFamily="34" charset="-122"/>
                          </a:rPr>
                          <m:t>𝜃</m:t>
                        </m:r>
                      </m:e>
                      <m:sub>
                        <m:r>
                          <a:rPr lang="en-US" altLang="zh-CN" sz="2000" b="0" i="1" smtClean="0">
                            <a:solidFill>
                              <a:srgbClr val="C00000"/>
                            </a:solidFill>
                            <a:latin typeface="Cambria Math" panose="02040503050406030204" pitchFamily="18" charset="0"/>
                            <a:ea typeface="微软雅黑" panose="020B0503020204020204" pitchFamily="34" charset="-122"/>
                          </a:rPr>
                          <m:t>3</m:t>
                        </m:r>
                      </m:sub>
                    </m:sSub>
                  </m:oMath>
                </a14:m>
                <a:r>
                  <a:rPr lang="zh-CN" altLang="en-US" sz="2000" dirty="0">
                    <a:solidFill>
                      <a:srgbClr val="C00000"/>
                    </a:solidFill>
                    <a:latin typeface="微软雅黑" panose="020B0503020204020204" pitchFamily="34" charset="-122"/>
                    <a:ea typeface="微软雅黑" panose="020B0503020204020204" pitchFamily="34" charset="-122"/>
                  </a:rPr>
                  <a:t>与</a:t>
                </a:r>
                <a:r>
                  <a:rPr lang="en-US" altLang="zh-CN" sz="2000" dirty="0">
                    <a:solidFill>
                      <a:srgbClr val="C00000"/>
                    </a:solidFill>
                    <a:latin typeface="微软雅黑" panose="020B0503020204020204" pitchFamily="34" charset="-122"/>
                    <a:ea typeface="微软雅黑" panose="020B0503020204020204" pitchFamily="34" charset="-122"/>
                  </a:rPr>
                  <a:t>4</a:t>
                </a:r>
                <a:r>
                  <a:rPr lang="zh-CN" altLang="en-US" sz="2000" dirty="0">
                    <a:solidFill>
                      <a:srgbClr val="C00000"/>
                    </a:solidFill>
                    <a:latin typeface="微软雅黑" panose="020B0503020204020204" pitchFamily="34" charset="-122"/>
                    <a:ea typeface="微软雅黑" panose="020B0503020204020204" pitchFamily="34" charset="-122"/>
                  </a:rPr>
                  <a:t>次项系数</a:t>
                </a:r>
                <a14:m>
                  <m:oMath xmlns:m="http://schemas.openxmlformats.org/officeDocument/2006/math">
                    <m:sSub>
                      <m:sSubPr>
                        <m:ctrlPr>
                          <a:rPr lang="en-US" altLang="zh-CN" sz="2000" i="1">
                            <a:solidFill>
                              <a:srgbClr val="C00000"/>
                            </a:solidFill>
                            <a:latin typeface="Cambria Math" panose="02040503050406030204" pitchFamily="18" charset="0"/>
                            <a:ea typeface="微软雅黑" panose="020B0503020204020204" pitchFamily="34" charset="-122"/>
                          </a:rPr>
                        </m:ctrlPr>
                      </m:sSubPr>
                      <m:e>
                        <m:r>
                          <a:rPr lang="zh-CN" altLang="en-US" sz="2000" i="1">
                            <a:solidFill>
                              <a:srgbClr val="C00000"/>
                            </a:solidFill>
                            <a:latin typeface="Cambria Math" panose="02040503050406030204" pitchFamily="18" charset="0"/>
                            <a:ea typeface="微软雅黑" panose="020B0503020204020204" pitchFamily="34" charset="-122"/>
                          </a:rPr>
                          <m:t>𝜃</m:t>
                        </m:r>
                      </m:e>
                      <m:sub>
                        <m:r>
                          <a:rPr lang="en-US" altLang="zh-CN" sz="2000" b="0" i="1" smtClean="0">
                            <a:solidFill>
                              <a:srgbClr val="C00000"/>
                            </a:solidFill>
                            <a:latin typeface="Cambria Math" panose="02040503050406030204" pitchFamily="18" charset="0"/>
                            <a:ea typeface="微软雅黑" panose="020B0503020204020204" pitchFamily="34" charset="-122"/>
                          </a:rPr>
                          <m:t>4</m:t>
                        </m:r>
                      </m:sub>
                    </m:sSub>
                  </m:oMath>
                </a14:m>
                <a:r>
                  <a:rPr lang="zh-CN" altLang="en-US" sz="2000" dirty="0">
                    <a:solidFill>
                      <a:srgbClr val="C00000"/>
                    </a:solidFill>
                    <a:latin typeface="微软雅黑" panose="020B0503020204020204" pitchFamily="34" charset="-122"/>
                    <a:ea typeface="微软雅黑" panose="020B0503020204020204" pitchFamily="34" charset="-122"/>
                  </a:rPr>
                  <a:t>的值，</a:t>
                </a:r>
                <a:r>
                  <a:rPr lang="zh-CN" altLang="en-US" sz="2000" dirty="0">
                    <a:latin typeface="微软雅黑" panose="020B0503020204020204" pitchFamily="34" charset="-122"/>
                    <a:ea typeface="微软雅黑" panose="020B0503020204020204" pitchFamily="34" charset="-122"/>
                  </a:rPr>
                  <a:t>使之与二次多项式更为接近</a:t>
                </a:r>
              </a:p>
            </p:txBody>
          </p:sp>
        </mc:Choice>
        <mc:Fallback xmlns="">
          <p:sp>
            <p:nvSpPr>
              <p:cNvPr id="4" name="文本框 3">
                <a:extLst>
                  <a:ext uri="{FF2B5EF4-FFF2-40B4-BE49-F238E27FC236}">
                    <a16:creationId xmlns:a16="http://schemas.microsoft.com/office/drawing/2014/main" id="{110EE483-15F6-430B-84EF-338E9B07961F}"/>
                  </a:ext>
                </a:extLst>
              </p:cNvPr>
              <p:cNvSpPr txBox="1">
                <a:spLocks noRot="1" noChangeAspect="1" noMove="1" noResize="1" noEditPoints="1" noAdjustHandles="1" noChangeArrowheads="1" noChangeShapeType="1" noTextEdit="1"/>
              </p:cNvSpPr>
              <p:nvPr/>
            </p:nvSpPr>
            <p:spPr>
              <a:xfrm>
                <a:off x="111472" y="1063047"/>
                <a:ext cx="8638540" cy="1422954"/>
              </a:xfrm>
              <a:prstGeom prst="rect">
                <a:avLst/>
              </a:prstGeom>
              <a:blipFill>
                <a:blip r:embed="rId3"/>
                <a:stretch>
                  <a:fillRect l="-706" r="-494" b="-6410"/>
                </a:stretch>
              </a:blipFill>
            </p:spPr>
            <p:txBody>
              <a:bodyPr/>
              <a:lstStyle/>
              <a:p>
                <a:r>
                  <a:rPr lang="zh-CN" altLang="en-US">
                    <a:noFill/>
                  </a:rPr>
                  <a:t> </a:t>
                </a:r>
              </a:p>
            </p:txBody>
          </p:sp>
        </mc:Fallback>
      </mc:AlternateContent>
      <p:grpSp>
        <p:nvGrpSpPr>
          <p:cNvPr id="70" name="组合 69">
            <a:extLst>
              <a:ext uri="{FF2B5EF4-FFF2-40B4-BE49-F238E27FC236}">
                <a16:creationId xmlns:a16="http://schemas.microsoft.com/office/drawing/2014/main" id="{EBA9E11A-A396-4C1C-9B33-AD564441C033}"/>
              </a:ext>
            </a:extLst>
          </p:cNvPr>
          <p:cNvGrpSpPr/>
          <p:nvPr/>
        </p:nvGrpSpPr>
        <p:grpSpPr>
          <a:xfrm>
            <a:off x="774700" y="2724150"/>
            <a:ext cx="7267451" cy="2390422"/>
            <a:chOff x="364565" y="1775247"/>
            <a:chExt cx="8691579" cy="3375119"/>
          </a:xfrm>
        </p:grpSpPr>
        <p:cxnSp>
          <p:nvCxnSpPr>
            <p:cNvPr id="9" name="直接箭头连接符 8">
              <a:extLst>
                <a:ext uri="{FF2B5EF4-FFF2-40B4-BE49-F238E27FC236}">
                  <a16:creationId xmlns:a16="http://schemas.microsoft.com/office/drawing/2014/main" id="{90DADF66-77E8-41CB-B957-FDF967A0D637}"/>
                </a:ext>
              </a:extLst>
            </p:cNvPr>
            <p:cNvCxnSpPr/>
            <p:nvPr/>
          </p:nvCxnSpPr>
          <p:spPr>
            <a:xfrm flipV="1">
              <a:off x="898337" y="1992844"/>
              <a:ext cx="0" cy="208041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4" name="直接箭头连接符 13">
              <a:extLst>
                <a:ext uri="{FF2B5EF4-FFF2-40B4-BE49-F238E27FC236}">
                  <a16:creationId xmlns:a16="http://schemas.microsoft.com/office/drawing/2014/main" id="{F0DD6098-E70E-4A57-952C-986D03195597}"/>
                </a:ext>
              </a:extLst>
            </p:cNvPr>
            <p:cNvCxnSpPr>
              <a:cxnSpLocks/>
            </p:cNvCxnSpPr>
            <p:nvPr/>
          </p:nvCxnSpPr>
          <p:spPr>
            <a:xfrm flipV="1">
              <a:off x="898337" y="4073257"/>
              <a:ext cx="2952878"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nvGrpSpPr>
            <p:cNvPr id="18" name="组合 17">
              <a:extLst>
                <a:ext uri="{FF2B5EF4-FFF2-40B4-BE49-F238E27FC236}">
                  <a16:creationId xmlns:a16="http://schemas.microsoft.com/office/drawing/2014/main" id="{E60D3A00-0173-48F4-B21B-337CC718FE17}"/>
                </a:ext>
              </a:extLst>
            </p:cNvPr>
            <p:cNvGrpSpPr/>
            <p:nvPr/>
          </p:nvGrpSpPr>
          <p:grpSpPr>
            <a:xfrm>
              <a:off x="1166202" y="3674357"/>
              <a:ext cx="108000" cy="108000"/>
              <a:chOff x="6341533" y="2315633"/>
              <a:chExt cx="108000" cy="108000"/>
            </a:xfrm>
          </p:grpSpPr>
          <p:cxnSp>
            <p:nvCxnSpPr>
              <p:cNvPr id="15" name="直接连接符 14">
                <a:extLst>
                  <a:ext uri="{FF2B5EF4-FFF2-40B4-BE49-F238E27FC236}">
                    <a16:creationId xmlns:a16="http://schemas.microsoft.com/office/drawing/2014/main" id="{3E50D44A-1E65-4352-9796-C92F460FD548}"/>
                  </a:ext>
                </a:extLst>
              </p:cNvPr>
              <p:cNvCxnSpPr/>
              <p:nvPr/>
            </p:nvCxnSpPr>
            <p:spPr>
              <a:xfrm flipH="1">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AE74AA3E-564A-4F9D-9701-B80293D3DF21}"/>
                  </a:ext>
                </a:extLst>
              </p:cNvPr>
              <p:cNvCxnSpPr>
                <a:cxnSpLocks/>
              </p:cNvCxnSpPr>
              <p:nvPr/>
            </p:nvCxnSpPr>
            <p:spPr>
              <a:xfrm>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397D6653-93A2-41E3-9282-E27B2DFD0EEE}"/>
                </a:ext>
              </a:extLst>
            </p:cNvPr>
            <p:cNvGrpSpPr/>
            <p:nvPr/>
          </p:nvGrpSpPr>
          <p:grpSpPr>
            <a:xfrm>
              <a:off x="1364536" y="3161910"/>
              <a:ext cx="108000" cy="108000"/>
              <a:chOff x="6341533" y="2315633"/>
              <a:chExt cx="108000" cy="108000"/>
            </a:xfrm>
          </p:grpSpPr>
          <p:cxnSp>
            <p:nvCxnSpPr>
              <p:cNvPr id="20" name="直接连接符 19">
                <a:extLst>
                  <a:ext uri="{FF2B5EF4-FFF2-40B4-BE49-F238E27FC236}">
                    <a16:creationId xmlns:a16="http://schemas.microsoft.com/office/drawing/2014/main" id="{5E393087-88DE-4EF5-9E43-7B8090579FF0}"/>
                  </a:ext>
                </a:extLst>
              </p:cNvPr>
              <p:cNvCxnSpPr/>
              <p:nvPr/>
            </p:nvCxnSpPr>
            <p:spPr>
              <a:xfrm flipH="1">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2EAC37AD-98DF-4E4E-BEA1-EF8B1D6B4ABD}"/>
                  </a:ext>
                </a:extLst>
              </p:cNvPr>
              <p:cNvCxnSpPr>
                <a:cxnSpLocks/>
              </p:cNvCxnSpPr>
              <p:nvPr/>
            </p:nvCxnSpPr>
            <p:spPr>
              <a:xfrm>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22" name="组合 21">
              <a:extLst>
                <a:ext uri="{FF2B5EF4-FFF2-40B4-BE49-F238E27FC236}">
                  <a16:creationId xmlns:a16="http://schemas.microsoft.com/office/drawing/2014/main" id="{C0B6E6DE-F1BF-4110-A562-F6B6B15FBD57}"/>
                </a:ext>
              </a:extLst>
            </p:cNvPr>
            <p:cNvGrpSpPr/>
            <p:nvPr/>
          </p:nvGrpSpPr>
          <p:grpSpPr>
            <a:xfrm>
              <a:off x="1868936" y="2872260"/>
              <a:ext cx="108000" cy="108000"/>
              <a:chOff x="6341533" y="2315633"/>
              <a:chExt cx="108000" cy="108000"/>
            </a:xfrm>
          </p:grpSpPr>
          <p:cxnSp>
            <p:nvCxnSpPr>
              <p:cNvPr id="23" name="直接连接符 22">
                <a:extLst>
                  <a:ext uri="{FF2B5EF4-FFF2-40B4-BE49-F238E27FC236}">
                    <a16:creationId xmlns:a16="http://schemas.microsoft.com/office/drawing/2014/main" id="{107D6C9D-B9AC-4489-9D82-D69250B96D1F}"/>
                  </a:ext>
                </a:extLst>
              </p:cNvPr>
              <p:cNvCxnSpPr/>
              <p:nvPr/>
            </p:nvCxnSpPr>
            <p:spPr>
              <a:xfrm flipH="1">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FED99A06-DE65-4407-809A-5ABABEDFA2BC}"/>
                  </a:ext>
                </a:extLst>
              </p:cNvPr>
              <p:cNvCxnSpPr>
                <a:cxnSpLocks/>
              </p:cNvCxnSpPr>
              <p:nvPr/>
            </p:nvCxnSpPr>
            <p:spPr>
              <a:xfrm>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25" name="组合 24">
              <a:extLst>
                <a:ext uri="{FF2B5EF4-FFF2-40B4-BE49-F238E27FC236}">
                  <a16:creationId xmlns:a16="http://schemas.microsoft.com/office/drawing/2014/main" id="{E71B6708-3B3C-416D-89B3-3C11AAE41E81}"/>
                </a:ext>
              </a:extLst>
            </p:cNvPr>
            <p:cNvGrpSpPr/>
            <p:nvPr/>
          </p:nvGrpSpPr>
          <p:grpSpPr>
            <a:xfrm>
              <a:off x="2046735" y="2334696"/>
              <a:ext cx="108000" cy="108000"/>
              <a:chOff x="6341533" y="2315633"/>
              <a:chExt cx="108000" cy="108000"/>
            </a:xfrm>
          </p:grpSpPr>
          <p:cxnSp>
            <p:nvCxnSpPr>
              <p:cNvPr id="26" name="直接连接符 25">
                <a:extLst>
                  <a:ext uri="{FF2B5EF4-FFF2-40B4-BE49-F238E27FC236}">
                    <a16:creationId xmlns:a16="http://schemas.microsoft.com/office/drawing/2014/main" id="{FEE24C75-A062-47DD-AA58-5E96338A6B45}"/>
                  </a:ext>
                </a:extLst>
              </p:cNvPr>
              <p:cNvCxnSpPr/>
              <p:nvPr/>
            </p:nvCxnSpPr>
            <p:spPr>
              <a:xfrm flipH="1">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12393489-78A3-4473-B500-B7C1813BE5E7}"/>
                  </a:ext>
                </a:extLst>
              </p:cNvPr>
              <p:cNvCxnSpPr>
                <a:cxnSpLocks/>
              </p:cNvCxnSpPr>
              <p:nvPr/>
            </p:nvCxnSpPr>
            <p:spPr>
              <a:xfrm>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28" name="组合 27">
              <a:extLst>
                <a:ext uri="{FF2B5EF4-FFF2-40B4-BE49-F238E27FC236}">
                  <a16:creationId xmlns:a16="http://schemas.microsoft.com/office/drawing/2014/main" id="{59955F6C-D9BB-4FEA-8A5C-6773C4175FBC}"/>
                </a:ext>
              </a:extLst>
            </p:cNvPr>
            <p:cNvGrpSpPr/>
            <p:nvPr/>
          </p:nvGrpSpPr>
          <p:grpSpPr>
            <a:xfrm>
              <a:off x="2601329" y="2442696"/>
              <a:ext cx="108000" cy="108000"/>
              <a:chOff x="6341533" y="2315633"/>
              <a:chExt cx="108000" cy="108000"/>
            </a:xfrm>
          </p:grpSpPr>
          <p:cxnSp>
            <p:nvCxnSpPr>
              <p:cNvPr id="29" name="直接连接符 28">
                <a:extLst>
                  <a:ext uri="{FF2B5EF4-FFF2-40B4-BE49-F238E27FC236}">
                    <a16:creationId xmlns:a16="http://schemas.microsoft.com/office/drawing/2014/main" id="{6CBAE338-7AB4-436B-AFAB-C0194F7A4CC5}"/>
                  </a:ext>
                </a:extLst>
              </p:cNvPr>
              <p:cNvCxnSpPr/>
              <p:nvPr/>
            </p:nvCxnSpPr>
            <p:spPr>
              <a:xfrm flipH="1">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1F1D0F03-9C89-44E8-8A99-CA86079A68BD}"/>
                  </a:ext>
                </a:extLst>
              </p:cNvPr>
              <p:cNvCxnSpPr>
                <a:cxnSpLocks/>
              </p:cNvCxnSpPr>
              <p:nvPr/>
            </p:nvCxnSpPr>
            <p:spPr>
              <a:xfrm>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31" name="组合 30">
              <a:extLst>
                <a:ext uri="{FF2B5EF4-FFF2-40B4-BE49-F238E27FC236}">
                  <a16:creationId xmlns:a16="http://schemas.microsoft.com/office/drawing/2014/main" id="{ED47D84B-E1A4-4EF4-B807-FDDC9BF60EE2}"/>
                </a:ext>
              </a:extLst>
            </p:cNvPr>
            <p:cNvGrpSpPr/>
            <p:nvPr/>
          </p:nvGrpSpPr>
          <p:grpSpPr>
            <a:xfrm>
              <a:off x="3058502" y="2712058"/>
              <a:ext cx="108000" cy="108000"/>
              <a:chOff x="6341533" y="2315633"/>
              <a:chExt cx="108000" cy="108000"/>
            </a:xfrm>
          </p:grpSpPr>
          <p:cxnSp>
            <p:nvCxnSpPr>
              <p:cNvPr id="32" name="直接连接符 31">
                <a:extLst>
                  <a:ext uri="{FF2B5EF4-FFF2-40B4-BE49-F238E27FC236}">
                    <a16:creationId xmlns:a16="http://schemas.microsoft.com/office/drawing/2014/main" id="{00F2E51F-F2C8-4D5D-B45B-483B88EA5C40}"/>
                  </a:ext>
                </a:extLst>
              </p:cNvPr>
              <p:cNvCxnSpPr/>
              <p:nvPr/>
            </p:nvCxnSpPr>
            <p:spPr>
              <a:xfrm flipH="1">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F11AA2BB-9713-4517-AD15-FC4E02538D1A}"/>
                  </a:ext>
                </a:extLst>
              </p:cNvPr>
              <p:cNvCxnSpPr>
                <a:cxnSpLocks/>
              </p:cNvCxnSpPr>
              <p:nvPr/>
            </p:nvCxnSpPr>
            <p:spPr>
              <a:xfrm>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34" name="组合 33">
              <a:extLst>
                <a:ext uri="{FF2B5EF4-FFF2-40B4-BE49-F238E27FC236}">
                  <a16:creationId xmlns:a16="http://schemas.microsoft.com/office/drawing/2014/main" id="{FDC7582E-5173-4874-A079-A55B650FF9CA}"/>
                </a:ext>
              </a:extLst>
            </p:cNvPr>
            <p:cNvGrpSpPr/>
            <p:nvPr/>
          </p:nvGrpSpPr>
          <p:grpSpPr>
            <a:xfrm>
              <a:off x="3435269" y="2818260"/>
              <a:ext cx="108000" cy="108000"/>
              <a:chOff x="6341533" y="2315633"/>
              <a:chExt cx="108000" cy="108000"/>
            </a:xfrm>
          </p:grpSpPr>
          <p:cxnSp>
            <p:nvCxnSpPr>
              <p:cNvPr id="35" name="直接连接符 34">
                <a:extLst>
                  <a:ext uri="{FF2B5EF4-FFF2-40B4-BE49-F238E27FC236}">
                    <a16:creationId xmlns:a16="http://schemas.microsoft.com/office/drawing/2014/main" id="{8381D277-929E-481F-9244-038972DC0C25}"/>
                  </a:ext>
                </a:extLst>
              </p:cNvPr>
              <p:cNvCxnSpPr/>
              <p:nvPr/>
            </p:nvCxnSpPr>
            <p:spPr>
              <a:xfrm flipH="1">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72334211-2F39-427C-BF11-A2949608EEBF}"/>
                  </a:ext>
                </a:extLst>
              </p:cNvPr>
              <p:cNvCxnSpPr>
                <a:cxnSpLocks/>
              </p:cNvCxnSpPr>
              <p:nvPr/>
            </p:nvCxnSpPr>
            <p:spPr>
              <a:xfrm>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38" name="任意多边形: 形状 37">
              <a:extLst>
                <a:ext uri="{FF2B5EF4-FFF2-40B4-BE49-F238E27FC236}">
                  <a16:creationId xmlns:a16="http://schemas.microsoft.com/office/drawing/2014/main" id="{D3694F15-9288-410F-AEFF-C9F59400DC13}"/>
                </a:ext>
              </a:extLst>
            </p:cNvPr>
            <p:cNvSpPr/>
            <p:nvPr/>
          </p:nvSpPr>
          <p:spPr>
            <a:xfrm>
              <a:off x="1079419" y="2488996"/>
              <a:ext cx="2749550" cy="1420312"/>
            </a:xfrm>
            <a:custGeom>
              <a:avLst/>
              <a:gdLst>
                <a:gd name="connsiteX0" fmla="*/ 0 w 2749550"/>
                <a:gd name="connsiteY0" fmla="*/ 1420312 h 1420312"/>
                <a:gd name="connsiteX1" fmla="*/ 1149350 w 2749550"/>
                <a:gd name="connsiteY1" fmla="*/ 23312 h 1420312"/>
                <a:gd name="connsiteX2" fmla="*/ 2749550 w 2749550"/>
                <a:gd name="connsiteY2" fmla="*/ 601162 h 1420312"/>
              </a:gdLst>
              <a:ahLst/>
              <a:cxnLst>
                <a:cxn ang="0">
                  <a:pos x="connsiteX0" y="connsiteY0"/>
                </a:cxn>
                <a:cxn ang="0">
                  <a:pos x="connsiteX1" y="connsiteY1"/>
                </a:cxn>
                <a:cxn ang="0">
                  <a:pos x="connsiteX2" y="connsiteY2"/>
                </a:cxn>
              </a:cxnLst>
              <a:rect l="l" t="t" r="r" b="b"/>
              <a:pathLst>
                <a:path w="2749550" h="1420312">
                  <a:moveTo>
                    <a:pt x="0" y="1420312"/>
                  </a:moveTo>
                  <a:cubicBezTo>
                    <a:pt x="345546" y="790074"/>
                    <a:pt x="691092" y="159837"/>
                    <a:pt x="1149350" y="23312"/>
                  </a:cubicBezTo>
                  <a:cubicBezTo>
                    <a:pt x="1607608" y="-113213"/>
                    <a:pt x="2377017" y="385262"/>
                    <a:pt x="2749550" y="601162"/>
                  </a:cubicBezTo>
                </a:path>
              </a:pathLst>
            </a:custGeom>
            <a:ln w="28575"/>
          </p:spPr>
          <p:style>
            <a:lnRef idx="1">
              <a:schemeClr val="accent2"/>
            </a:lnRef>
            <a:fillRef idx="0">
              <a:schemeClr val="accent2"/>
            </a:fillRef>
            <a:effectRef idx="0">
              <a:schemeClr val="accent2"/>
            </a:effectRef>
            <a:fontRef idx="minor">
              <a:schemeClr val="tx1"/>
            </a:fontRef>
          </p:style>
          <p:txBody>
            <a:bodyPr rtlCol="0" anchor="ctr"/>
            <a:lstStyle/>
            <a:p>
              <a:pPr algn="ctr"/>
              <a:endParaRPr lang="zh-CN" altLang="en-US"/>
            </a:p>
          </p:txBody>
        </p:sp>
        <p:cxnSp>
          <p:nvCxnSpPr>
            <p:cNvPr id="39" name="直接箭头连接符 38">
              <a:extLst>
                <a:ext uri="{FF2B5EF4-FFF2-40B4-BE49-F238E27FC236}">
                  <a16:creationId xmlns:a16="http://schemas.microsoft.com/office/drawing/2014/main" id="{B60FC073-00D6-431A-9080-C720CA46F464}"/>
                </a:ext>
              </a:extLst>
            </p:cNvPr>
            <p:cNvCxnSpPr/>
            <p:nvPr/>
          </p:nvCxnSpPr>
          <p:spPr>
            <a:xfrm flipV="1">
              <a:off x="5287302" y="1976086"/>
              <a:ext cx="0" cy="208041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0" name="直接箭头连接符 39">
              <a:extLst>
                <a:ext uri="{FF2B5EF4-FFF2-40B4-BE49-F238E27FC236}">
                  <a16:creationId xmlns:a16="http://schemas.microsoft.com/office/drawing/2014/main" id="{5BDF18A3-C2FB-4E87-AD4A-C4AC7D7D196B}"/>
                </a:ext>
              </a:extLst>
            </p:cNvPr>
            <p:cNvCxnSpPr>
              <a:cxnSpLocks/>
            </p:cNvCxnSpPr>
            <p:nvPr/>
          </p:nvCxnSpPr>
          <p:spPr>
            <a:xfrm flipV="1">
              <a:off x="5287302" y="4056499"/>
              <a:ext cx="2952878"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nvGrpSpPr>
            <p:cNvPr id="41" name="组合 40">
              <a:extLst>
                <a:ext uri="{FF2B5EF4-FFF2-40B4-BE49-F238E27FC236}">
                  <a16:creationId xmlns:a16="http://schemas.microsoft.com/office/drawing/2014/main" id="{11CC1263-6958-4027-A461-44F065A2832A}"/>
                </a:ext>
              </a:extLst>
            </p:cNvPr>
            <p:cNvGrpSpPr/>
            <p:nvPr/>
          </p:nvGrpSpPr>
          <p:grpSpPr>
            <a:xfrm>
              <a:off x="5555167" y="3657599"/>
              <a:ext cx="108000" cy="108000"/>
              <a:chOff x="6341533" y="2315633"/>
              <a:chExt cx="108000" cy="108000"/>
            </a:xfrm>
          </p:grpSpPr>
          <p:cxnSp>
            <p:nvCxnSpPr>
              <p:cNvPr id="42" name="直接连接符 41">
                <a:extLst>
                  <a:ext uri="{FF2B5EF4-FFF2-40B4-BE49-F238E27FC236}">
                    <a16:creationId xmlns:a16="http://schemas.microsoft.com/office/drawing/2014/main" id="{A7F76947-5A84-4D14-AF03-0AC359F9359E}"/>
                  </a:ext>
                </a:extLst>
              </p:cNvPr>
              <p:cNvCxnSpPr/>
              <p:nvPr/>
            </p:nvCxnSpPr>
            <p:spPr>
              <a:xfrm flipH="1">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33B8B56F-4D13-4558-B574-3EF9EAD1019C}"/>
                  </a:ext>
                </a:extLst>
              </p:cNvPr>
              <p:cNvCxnSpPr>
                <a:cxnSpLocks/>
              </p:cNvCxnSpPr>
              <p:nvPr/>
            </p:nvCxnSpPr>
            <p:spPr>
              <a:xfrm>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44" name="组合 43">
              <a:extLst>
                <a:ext uri="{FF2B5EF4-FFF2-40B4-BE49-F238E27FC236}">
                  <a16:creationId xmlns:a16="http://schemas.microsoft.com/office/drawing/2014/main" id="{1BA246F0-0270-4EE6-9DFB-63C48933DEDC}"/>
                </a:ext>
              </a:extLst>
            </p:cNvPr>
            <p:cNvGrpSpPr/>
            <p:nvPr/>
          </p:nvGrpSpPr>
          <p:grpSpPr>
            <a:xfrm>
              <a:off x="5753501" y="3145152"/>
              <a:ext cx="108000" cy="108000"/>
              <a:chOff x="6341533" y="2315633"/>
              <a:chExt cx="108000" cy="108000"/>
            </a:xfrm>
          </p:grpSpPr>
          <p:cxnSp>
            <p:nvCxnSpPr>
              <p:cNvPr id="45" name="直接连接符 44">
                <a:extLst>
                  <a:ext uri="{FF2B5EF4-FFF2-40B4-BE49-F238E27FC236}">
                    <a16:creationId xmlns:a16="http://schemas.microsoft.com/office/drawing/2014/main" id="{A4181615-7A81-437B-B8AD-F0CD0BF3F3A6}"/>
                  </a:ext>
                </a:extLst>
              </p:cNvPr>
              <p:cNvCxnSpPr/>
              <p:nvPr/>
            </p:nvCxnSpPr>
            <p:spPr>
              <a:xfrm flipH="1">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93CBA6D3-1288-4DBC-8EDD-ED0509A57021}"/>
                  </a:ext>
                </a:extLst>
              </p:cNvPr>
              <p:cNvCxnSpPr>
                <a:cxnSpLocks/>
              </p:cNvCxnSpPr>
              <p:nvPr/>
            </p:nvCxnSpPr>
            <p:spPr>
              <a:xfrm>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47" name="组合 46">
              <a:extLst>
                <a:ext uri="{FF2B5EF4-FFF2-40B4-BE49-F238E27FC236}">
                  <a16:creationId xmlns:a16="http://schemas.microsoft.com/office/drawing/2014/main" id="{D3D4DF8B-B1D9-47F5-99AF-F2A7C5BDBE7A}"/>
                </a:ext>
              </a:extLst>
            </p:cNvPr>
            <p:cNvGrpSpPr/>
            <p:nvPr/>
          </p:nvGrpSpPr>
          <p:grpSpPr>
            <a:xfrm>
              <a:off x="6257901" y="2855502"/>
              <a:ext cx="108000" cy="108000"/>
              <a:chOff x="6341533" y="2315633"/>
              <a:chExt cx="108000" cy="108000"/>
            </a:xfrm>
          </p:grpSpPr>
          <p:cxnSp>
            <p:nvCxnSpPr>
              <p:cNvPr id="48" name="直接连接符 47">
                <a:extLst>
                  <a:ext uri="{FF2B5EF4-FFF2-40B4-BE49-F238E27FC236}">
                    <a16:creationId xmlns:a16="http://schemas.microsoft.com/office/drawing/2014/main" id="{51C02415-B50D-4F0F-80A4-1BAFF375435D}"/>
                  </a:ext>
                </a:extLst>
              </p:cNvPr>
              <p:cNvCxnSpPr/>
              <p:nvPr/>
            </p:nvCxnSpPr>
            <p:spPr>
              <a:xfrm flipH="1">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5E5E8AB0-E594-43CA-942B-0985A7637D0F}"/>
                  </a:ext>
                </a:extLst>
              </p:cNvPr>
              <p:cNvCxnSpPr>
                <a:cxnSpLocks/>
              </p:cNvCxnSpPr>
              <p:nvPr/>
            </p:nvCxnSpPr>
            <p:spPr>
              <a:xfrm>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50" name="组合 49">
              <a:extLst>
                <a:ext uri="{FF2B5EF4-FFF2-40B4-BE49-F238E27FC236}">
                  <a16:creationId xmlns:a16="http://schemas.microsoft.com/office/drawing/2014/main" id="{45AEE247-CB1A-4C2C-BDE3-E3F97C0914E3}"/>
                </a:ext>
              </a:extLst>
            </p:cNvPr>
            <p:cNvGrpSpPr/>
            <p:nvPr/>
          </p:nvGrpSpPr>
          <p:grpSpPr>
            <a:xfrm>
              <a:off x="6435700" y="2317938"/>
              <a:ext cx="108000" cy="108000"/>
              <a:chOff x="6341533" y="2315633"/>
              <a:chExt cx="108000" cy="108000"/>
            </a:xfrm>
          </p:grpSpPr>
          <p:cxnSp>
            <p:nvCxnSpPr>
              <p:cNvPr id="51" name="直接连接符 50">
                <a:extLst>
                  <a:ext uri="{FF2B5EF4-FFF2-40B4-BE49-F238E27FC236}">
                    <a16:creationId xmlns:a16="http://schemas.microsoft.com/office/drawing/2014/main" id="{6296A99F-DBF5-4A6A-A30A-BAAC4102ABE1}"/>
                  </a:ext>
                </a:extLst>
              </p:cNvPr>
              <p:cNvCxnSpPr/>
              <p:nvPr/>
            </p:nvCxnSpPr>
            <p:spPr>
              <a:xfrm flipH="1">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7263E3A0-BBAB-4651-8F5C-09F991355854}"/>
                  </a:ext>
                </a:extLst>
              </p:cNvPr>
              <p:cNvCxnSpPr>
                <a:cxnSpLocks/>
              </p:cNvCxnSpPr>
              <p:nvPr/>
            </p:nvCxnSpPr>
            <p:spPr>
              <a:xfrm>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53" name="组合 52">
              <a:extLst>
                <a:ext uri="{FF2B5EF4-FFF2-40B4-BE49-F238E27FC236}">
                  <a16:creationId xmlns:a16="http://schemas.microsoft.com/office/drawing/2014/main" id="{AC16A294-6306-44C3-8635-0BCB5284F8A7}"/>
                </a:ext>
              </a:extLst>
            </p:cNvPr>
            <p:cNvGrpSpPr/>
            <p:nvPr/>
          </p:nvGrpSpPr>
          <p:grpSpPr>
            <a:xfrm>
              <a:off x="6990294" y="2425938"/>
              <a:ext cx="108000" cy="108000"/>
              <a:chOff x="6341533" y="2315633"/>
              <a:chExt cx="108000" cy="108000"/>
            </a:xfrm>
          </p:grpSpPr>
          <p:cxnSp>
            <p:nvCxnSpPr>
              <p:cNvPr id="54" name="直接连接符 53">
                <a:extLst>
                  <a:ext uri="{FF2B5EF4-FFF2-40B4-BE49-F238E27FC236}">
                    <a16:creationId xmlns:a16="http://schemas.microsoft.com/office/drawing/2014/main" id="{3795CB53-47FD-46BB-9FF4-E354B7DD0D32}"/>
                  </a:ext>
                </a:extLst>
              </p:cNvPr>
              <p:cNvCxnSpPr/>
              <p:nvPr/>
            </p:nvCxnSpPr>
            <p:spPr>
              <a:xfrm flipH="1">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35E02960-AC7A-4DC5-B35F-FA0D8E9C66EC}"/>
                  </a:ext>
                </a:extLst>
              </p:cNvPr>
              <p:cNvCxnSpPr>
                <a:cxnSpLocks/>
              </p:cNvCxnSpPr>
              <p:nvPr/>
            </p:nvCxnSpPr>
            <p:spPr>
              <a:xfrm>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56" name="组合 55">
              <a:extLst>
                <a:ext uri="{FF2B5EF4-FFF2-40B4-BE49-F238E27FC236}">
                  <a16:creationId xmlns:a16="http://schemas.microsoft.com/office/drawing/2014/main" id="{D0CB1C44-4B55-4236-822D-F0BE27F88C2A}"/>
                </a:ext>
              </a:extLst>
            </p:cNvPr>
            <p:cNvGrpSpPr/>
            <p:nvPr/>
          </p:nvGrpSpPr>
          <p:grpSpPr>
            <a:xfrm>
              <a:off x="7447467" y="2695300"/>
              <a:ext cx="108000" cy="108000"/>
              <a:chOff x="6341533" y="2315633"/>
              <a:chExt cx="108000" cy="108000"/>
            </a:xfrm>
          </p:grpSpPr>
          <p:cxnSp>
            <p:nvCxnSpPr>
              <p:cNvPr id="57" name="直接连接符 56">
                <a:extLst>
                  <a:ext uri="{FF2B5EF4-FFF2-40B4-BE49-F238E27FC236}">
                    <a16:creationId xmlns:a16="http://schemas.microsoft.com/office/drawing/2014/main" id="{73B07CF2-5842-4FA5-BDFF-52F542E5AB16}"/>
                  </a:ext>
                </a:extLst>
              </p:cNvPr>
              <p:cNvCxnSpPr/>
              <p:nvPr/>
            </p:nvCxnSpPr>
            <p:spPr>
              <a:xfrm flipH="1">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9C67004E-3DF5-46B4-A61B-184BE766FD65}"/>
                  </a:ext>
                </a:extLst>
              </p:cNvPr>
              <p:cNvCxnSpPr>
                <a:cxnSpLocks/>
              </p:cNvCxnSpPr>
              <p:nvPr/>
            </p:nvCxnSpPr>
            <p:spPr>
              <a:xfrm>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59" name="组合 58">
              <a:extLst>
                <a:ext uri="{FF2B5EF4-FFF2-40B4-BE49-F238E27FC236}">
                  <a16:creationId xmlns:a16="http://schemas.microsoft.com/office/drawing/2014/main" id="{9B0D4940-6A06-42F0-89A7-D9EDEF0B8839}"/>
                </a:ext>
              </a:extLst>
            </p:cNvPr>
            <p:cNvGrpSpPr/>
            <p:nvPr/>
          </p:nvGrpSpPr>
          <p:grpSpPr>
            <a:xfrm>
              <a:off x="7824234" y="2801502"/>
              <a:ext cx="108000" cy="108000"/>
              <a:chOff x="6341533" y="2315633"/>
              <a:chExt cx="108000" cy="108000"/>
            </a:xfrm>
          </p:grpSpPr>
          <p:cxnSp>
            <p:nvCxnSpPr>
              <p:cNvPr id="60" name="直接连接符 59">
                <a:extLst>
                  <a:ext uri="{FF2B5EF4-FFF2-40B4-BE49-F238E27FC236}">
                    <a16:creationId xmlns:a16="http://schemas.microsoft.com/office/drawing/2014/main" id="{862DE614-270C-4F12-9492-EFA1777F9ED3}"/>
                  </a:ext>
                </a:extLst>
              </p:cNvPr>
              <p:cNvCxnSpPr/>
              <p:nvPr/>
            </p:nvCxnSpPr>
            <p:spPr>
              <a:xfrm flipH="1">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E8D47616-630C-4080-AD58-9FEA9B38D117}"/>
                  </a:ext>
                </a:extLst>
              </p:cNvPr>
              <p:cNvCxnSpPr>
                <a:cxnSpLocks/>
              </p:cNvCxnSpPr>
              <p:nvPr/>
            </p:nvCxnSpPr>
            <p:spPr>
              <a:xfrm>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63" name="任意多边形: 形状 62">
              <a:extLst>
                <a:ext uri="{FF2B5EF4-FFF2-40B4-BE49-F238E27FC236}">
                  <a16:creationId xmlns:a16="http://schemas.microsoft.com/office/drawing/2014/main" id="{F897078C-4BA4-46B2-BD64-B581FCD4F8E0}"/>
                </a:ext>
              </a:extLst>
            </p:cNvPr>
            <p:cNvSpPr/>
            <p:nvPr/>
          </p:nvSpPr>
          <p:spPr>
            <a:xfrm>
              <a:off x="5607050" y="2019292"/>
              <a:ext cx="2514600" cy="1720858"/>
            </a:xfrm>
            <a:custGeom>
              <a:avLst/>
              <a:gdLst>
                <a:gd name="connsiteX0" fmla="*/ 0 w 2514600"/>
                <a:gd name="connsiteY0" fmla="*/ 1720858 h 1720858"/>
                <a:gd name="connsiteX1" fmla="*/ 419100 w 2514600"/>
                <a:gd name="connsiteY1" fmla="*/ 533408 h 1720858"/>
                <a:gd name="connsiteX2" fmla="*/ 793750 w 2514600"/>
                <a:gd name="connsiteY2" fmla="*/ 1022358 h 1720858"/>
                <a:gd name="connsiteX3" fmla="*/ 895350 w 2514600"/>
                <a:gd name="connsiteY3" fmla="*/ 8 h 1720858"/>
                <a:gd name="connsiteX4" fmla="*/ 1746250 w 2514600"/>
                <a:gd name="connsiteY4" fmla="*/ 1041408 h 1720858"/>
                <a:gd name="connsiteX5" fmla="*/ 2019300 w 2514600"/>
                <a:gd name="connsiteY5" fmla="*/ 419108 h 1720858"/>
                <a:gd name="connsiteX6" fmla="*/ 2514600 w 2514600"/>
                <a:gd name="connsiteY6" fmla="*/ 1409708 h 1720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4600" h="1720858">
                  <a:moveTo>
                    <a:pt x="0" y="1720858"/>
                  </a:moveTo>
                  <a:cubicBezTo>
                    <a:pt x="143404" y="1185341"/>
                    <a:pt x="286808" y="649825"/>
                    <a:pt x="419100" y="533408"/>
                  </a:cubicBezTo>
                  <a:cubicBezTo>
                    <a:pt x="551392" y="416991"/>
                    <a:pt x="714375" y="1111258"/>
                    <a:pt x="793750" y="1022358"/>
                  </a:cubicBezTo>
                  <a:cubicBezTo>
                    <a:pt x="873125" y="933458"/>
                    <a:pt x="736600" y="-3167"/>
                    <a:pt x="895350" y="8"/>
                  </a:cubicBezTo>
                  <a:cubicBezTo>
                    <a:pt x="1054100" y="3183"/>
                    <a:pt x="1558925" y="971558"/>
                    <a:pt x="1746250" y="1041408"/>
                  </a:cubicBezTo>
                  <a:cubicBezTo>
                    <a:pt x="1933575" y="1111258"/>
                    <a:pt x="1891242" y="357725"/>
                    <a:pt x="2019300" y="419108"/>
                  </a:cubicBezTo>
                  <a:cubicBezTo>
                    <a:pt x="2147358" y="480491"/>
                    <a:pt x="2405592" y="1022358"/>
                    <a:pt x="2514600" y="1409708"/>
                  </a:cubicBezTo>
                </a:path>
              </a:pathLst>
            </a:cu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文本框 63">
              <a:extLst>
                <a:ext uri="{FF2B5EF4-FFF2-40B4-BE49-F238E27FC236}">
                  <a16:creationId xmlns:a16="http://schemas.microsoft.com/office/drawing/2014/main" id="{E32A07C0-53CA-4D07-9448-89E0302A8424}"/>
                </a:ext>
              </a:extLst>
            </p:cNvPr>
            <p:cNvSpPr txBox="1"/>
            <p:nvPr/>
          </p:nvSpPr>
          <p:spPr>
            <a:xfrm>
              <a:off x="3932035" y="3470085"/>
              <a:ext cx="338553" cy="461664"/>
            </a:xfrm>
            <a:prstGeom prst="rect">
              <a:avLst/>
            </a:prstGeom>
            <a:noFill/>
          </p:spPr>
          <p:txBody>
            <a:bodyPr wrap="none" rtlCol="0">
              <a:spAutoFit/>
            </a:bodyPr>
            <a:lstStyle/>
            <a:p>
              <a:r>
                <a:rPr lang="en-US" altLang="zh-CN" sz="2400" b="1" i="1" dirty="0">
                  <a:latin typeface="Times New Roman" panose="02020603050405020304" pitchFamily="18" charset="0"/>
                  <a:cs typeface="Times New Roman" panose="02020603050405020304" pitchFamily="18" charset="0"/>
                </a:rPr>
                <a:t>x</a:t>
              </a:r>
              <a:endParaRPr lang="zh-CN" altLang="en-US" sz="2400" b="1" i="1" dirty="0">
                <a:latin typeface="Times New Roman" panose="02020603050405020304" pitchFamily="18" charset="0"/>
                <a:cs typeface="Times New Roman" panose="02020603050405020304" pitchFamily="18" charset="0"/>
              </a:endParaRPr>
            </a:p>
          </p:txBody>
        </p:sp>
        <p:sp>
          <p:nvSpPr>
            <p:cNvPr id="65" name="文本框 64">
              <a:extLst>
                <a:ext uri="{FF2B5EF4-FFF2-40B4-BE49-F238E27FC236}">
                  <a16:creationId xmlns:a16="http://schemas.microsoft.com/office/drawing/2014/main" id="{18AD5071-8A6E-439E-9BE5-9436A61A3D54}"/>
                </a:ext>
              </a:extLst>
            </p:cNvPr>
            <p:cNvSpPr txBox="1"/>
            <p:nvPr/>
          </p:nvSpPr>
          <p:spPr>
            <a:xfrm>
              <a:off x="364565" y="1826147"/>
              <a:ext cx="320922" cy="461665"/>
            </a:xfrm>
            <a:prstGeom prst="rect">
              <a:avLst/>
            </a:prstGeom>
            <a:noFill/>
          </p:spPr>
          <p:txBody>
            <a:bodyPr wrap="none" rtlCol="0">
              <a:spAutoFit/>
            </a:bodyPr>
            <a:lstStyle/>
            <a:p>
              <a:r>
                <a:rPr lang="en-US" altLang="zh-CN" sz="2400" b="1" i="1" dirty="0">
                  <a:latin typeface="Times New Roman" panose="02020603050405020304" pitchFamily="18" charset="0"/>
                  <a:cs typeface="Times New Roman" panose="02020603050405020304" pitchFamily="18" charset="0"/>
                </a:rPr>
                <a:t>y</a:t>
              </a:r>
              <a:endParaRPr lang="zh-CN" altLang="en-US" sz="2400" b="1" i="1" dirty="0">
                <a:latin typeface="Times New Roman" panose="02020603050405020304" pitchFamily="18" charset="0"/>
                <a:cs typeface="Times New Roman" panose="02020603050405020304" pitchFamily="18" charset="0"/>
              </a:endParaRPr>
            </a:p>
          </p:txBody>
        </p:sp>
        <p:sp>
          <p:nvSpPr>
            <p:cNvPr id="66" name="文本框 65">
              <a:extLst>
                <a:ext uri="{FF2B5EF4-FFF2-40B4-BE49-F238E27FC236}">
                  <a16:creationId xmlns:a16="http://schemas.microsoft.com/office/drawing/2014/main" id="{1906BFE6-E5FA-4AE6-8F68-6C5A20B51A12}"/>
                </a:ext>
              </a:extLst>
            </p:cNvPr>
            <p:cNvSpPr txBox="1"/>
            <p:nvPr/>
          </p:nvSpPr>
          <p:spPr>
            <a:xfrm>
              <a:off x="8393994" y="3534766"/>
              <a:ext cx="338553" cy="461664"/>
            </a:xfrm>
            <a:prstGeom prst="rect">
              <a:avLst/>
            </a:prstGeom>
            <a:noFill/>
          </p:spPr>
          <p:txBody>
            <a:bodyPr wrap="none" rtlCol="0">
              <a:spAutoFit/>
            </a:bodyPr>
            <a:lstStyle/>
            <a:p>
              <a:r>
                <a:rPr lang="en-US" altLang="zh-CN" sz="2400" b="1" i="1" dirty="0">
                  <a:latin typeface="Times New Roman" panose="02020603050405020304" pitchFamily="18" charset="0"/>
                  <a:cs typeface="Times New Roman" panose="02020603050405020304" pitchFamily="18" charset="0"/>
                </a:rPr>
                <a:t>x</a:t>
              </a:r>
              <a:endParaRPr lang="zh-CN" altLang="en-US" sz="2400" b="1" i="1" dirty="0">
                <a:latin typeface="Times New Roman" panose="02020603050405020304" pitchFamily="18" charset="0"/>
                <a:cs typeface="Times New Roman" panose="02020603050405020304" pitchFamily="18" charset="0"/>
              </a:endParaRPr>
            </a:p>
          </p:txBody>
        </p:sp>
        <p:sp>
          <p:nvSpPr>
            <p:cNvPr id="67" name="文本框 66">
              <a:extLst>
                <a:ext uri="{FF2B5EF4-FFF2-40B4-BE49-F238E27FC236}">
                  <a16:creationId xmlns:a16="http://schemas.microsoft.com/office/drawing/2014/main" id="{1660C272-45C4-456D-948D-0BB030FFD03C}"/>
                </a:ext>
              </a:extLst>
            </p:cNvPr>
            <p:cNvSpPr txBox="1"/>
            <p:nvPr/>
          </p:nvSpPr>
          <p:spPr>
            <a:xfrm>
              <a:off x="4806507" y="1775247"/>
              <a:ext cx="320922" cy="461665"/>
            </a:xfrm>
            <a:prstGeom prst="rect">
              <a:avLst/>
            </a:prstGeom>
            <a:noFill/>
          </p:spPr>
          <p:txBody>
            <a:bodyPr wrap="none" rtlCol="0">
              <a:spAutoFit/>
            </a:bodyPr>
            <a:lstStyle/>
            <a:p>
              <a:r>
                <a:rPr lang="en-US" altLang="zh-CN" sz="2400" b="1" i="1" dirty="0">
                  <a:latin typeface="Times New Roman" panose="02020603050405020304" pitchFamily="18" charset="0"/>
                  <a:cs typeface="Times New Roman" panose="02020603050405020304" pitchFamily="18" charset="0"/>
                </a:rPr>
                <a:t>y</a:t>
              </a:r>
              <a:endParaRPr lang="zh-CN" altLang="en-US" sz="2400" b="1" i="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8" name="文本框 67">
                  <a:extLst>
                    <a:ext uri="{FF2B5EF4-FFF2-40B4-BE49-F238E27FC236}">
                      <a16:creationId xmlns:a16="http://schemas.microsoft.com/office/drawing/2014/main" id="{C4C5AB6D-BAC5-405B-B8C1-6EC8F67C6D99}"/>
                    </a:ext>
                  </a:extLst>
                </p:cNvPr>
                <p:cNvSpPr txBox="1"/>
                <p:nvPr/>
              </p:nvSpPr>
              <p:spPr>
                <a:xfrm>
                  <a:off x="834448" y="4715805"/>
                  <a:ext cx="2797778" cy="4345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𝑦</m:t>
                        </m:r>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zh-CN" altLang="en-US" sz="2000" b="0" i="1" smtClean="0">
                                <a:latin typeface="Cambria Math" panose="02040503050406030204" pitchFamily="18" charset="0"/>
                              </a:rPr>
                              <m:t>𝜃</m:t>
                            </m:r>
                          </m:e>
                          <m:sub>
                            <m:r>
                              <a:rPr lang="en-US" altLang="zh-CN" sz="2000" b="0" i="1" smtClean="0">
                                <a:latin typeface="Cambria Math" panose="02040503050406030204" pitchFamily="18" charset="0"/>
                              </a:rPr>
                              <m:t>0</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zh-CN" altLang="en-US" sz="2000" b="0" i="1" smtClean="0">
                                <a:latin typeface="Cambria Math" panose="02040503050406030204" pitchFamily="18" charset="0"/>
                              </a:rPr>
                              <m:t>𝜃</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𝑥</m:t>
                        </m:r>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zh-CN" altLang="en-US" sz="2000" b="0" i="1" smtClean="0">
                                <a:latin typeface="Cambria Math" panose="02040503050406030204" pitchFamily="18" charset="0"/>
                              </a:rPr>
                              <m:t>𝜃</m:t>
                            </m:r>
                          </m:e>
                          <m:sub>
                            <m:r>
                              <a:rPr lang="en-US" altLang="zh-CN" sz="2000" b="0" i="1" smtClean="0">
                                <a:latin typeface="Cambria Math" panose="02040503050406030204" pitchFamily="18" charset="0"/>
                              </a:rPr>
                              <m:t>2</m:t>
                            </m:r>
                          </m:sub>
                        </m:sSub>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𝑥</m:t>
                            </m:r>
                          </m:e>
                          <m:sup>
                            <m:r>
                              <a:rPr lang="en-US" altLang="zh-CN" sz="2000" b="0" i="1" smtClean="0">
                                <a:latin typeface="Cambria Math" panose="02040503050406030204" pitchFamily="18" charset="0"/>
                              </a:rPr>
                              <m:t>2</m:t>
                            </m:r>
                          </m:sup>
                        </m:sSup>
                      </m:oMath>
                    </m:oMathPara>
                  </a14:m>
                  <a:endParaRPr lang="zh-CN" altLang="en-US" sz="2000" dirty="0"/>
                </a:p>
              </p:txBody>
            </p:sp>
          </mc:Choice>
          <mc:Fallback xmlns="">
            <p:sp>
              <p:nvSpPr>
                <p:cNvPr id="68" name="文本框 67">
                  <a:extLst>
                    <a:ext uri="{FF2B5EF4-FFF2-40B4-BE49-F238E27FC236}">
                      <a16:creationId xmlns:a16="http://schemas.microsoft.com/office/drawing/2014/main" id="{C4C5AB6D-BAC5-405B-B8C1-6EC8F67C6D99}"/>
                    </a:ext>
                  </a:extLst>
                </p:cNvPr>
                <p:cNvSpPr txBox="1">
                  <a:spLocks noRot="1" noChangeAspect="1" noMove="1" noResize="1" noEditPoints="1" noAdjustHandles="1" noChangeArrowheads="1" noChangeShapeType="1" noTextEdit="1"/>
                </p:cNvSpPr>
                <p:nvPr/>
              </p:nvSpPr>
              <p:spPr>
                <a:xfrm>
                  <a:off x="834448" y="4715805"/>
                  <a:ext cx="2797778" cy="434561"/>
                </a:xfrm>
                <a:prstGeom prst="rect">
                  <a:avLst/>
                </a:prstGeom>
                <a:blipFill>
                  <a:blip r:embed="rId4"/>
                  <a:stretch>
                    <a:fillRect l="-1828" r="-522" b="-3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文本框 68">
                  <a:extLst>
                    <a:ext uri="{FF2B5EF4-FFF2-40B4-BE49-F238E27FC236}">
                      <a16:creationId xmlns:a16="http://schemas.microsoft.com/office/drawing/2014/main" id="{46F15A42-CDC1-46BC-A283-1CF43EA47654}"/>
                    </a:ext>
                  </a:extLst>
                </p:cNvPr>
                <p:cNvSpPr txBox="1"/>
                <p:nvPr/>
              </p:nvSpPr>
              <p:spPr>
                <a:xfrm>
                  <a:off x="4277360" y="4715805"/>
                  <a:ext cx="4778784" cy="4345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𝑦</m:t>
                        </m:r>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zh-CN" altLang="en-US" sz="2000" b="0" i="1" smtClean="0">
                                <a:latin typeface="Cambria Math" panose="02040503050406030204" pitchFamily="18" charset="0"/>
                              </a:rPr>
                              <m:t>𝜃</m:t>
                            </m:r>
                          </m:e>
                          <m:sub>
                            <m:r>
                              <a:rPr lang="en-US" altLang="zh-CN" sz="2000" b="0" i="1" smtClean="0">
                                <a:latin typeface="Cambria Math" panose="02040503050406030204" pitchFamily="18" charset="0"/>
                              </a:rPr>
                              <m:t>0</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zh-CN" altLang="en-US" sz="2000" b="0" i="1" smtClean="0">
                                <a:latin typeface="Cambria Math" panose="02040503050406030204" pitchFamily="18" charset="0"/>
                              </a:rPr>
                              <m:t>𝜃</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𝑥</m:t>
                        </m:r>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zh-CN" altLang="en-US" sz="2000" b="0" i="1" smtClean="0">
                                <a:latin typeface="Cambria Math" panose="02040503050406030204" pitchFamily="18" charset="0"/>
                              </a:rPr>
                              <m:t>𝜃</m:t>
                            </m:r>
                          </m:e>
                          <m:sub>
                            <m:r>
                              <a:rPr lang="en-US" altLang="zh-CN" sz="2000" b="0" i="1" smtClean="0">
                                <a:latin typeface="Cambria Math" panose="02040503050406030204" pitchFamily="18" charset="0"/>
                              </a:rPr>
                              <m:t>2</m:t>
                            </m:r>
                          </m:sub>
                        </m:sSub>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𝑥</m:t>
                            </m:r>
                          </m:e>
                          <m:sup>
                            <m:r>
                              <a:rPr lang="en-US" altLang="zh-CN" sz="2000" b="0" i="1" smtClean="0">
                                <a:latin typeface="Cambria Math" panose="02040503050406030204" pitchFamily="18" charset="0"/>
                              </a:rPr>
                              <m:t>2</m:t>
                            </m:r>
                          </m:sup>
                        </m:sSup>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zh-CN" altLang="en-US" sz="2000" b="0" i="1" smtClean="0">
                                <a:latin typeface="Cambria Math" panose="02040503050406030204" pitchFamily="18" charset="0"/>
                              </a:rPr>
                              <m:t>𝜃</m:t>
                            </m:r>
                          </m:e>
                          <m:sub>
                            <m:r>
                              <a:rPr lang="en-US" altLang="zh-CN" sz="2000" b="0" i="1" smtClean="0">
                                <a:latin typeface="Cambria Math" panose="02040503050406030204" pitchFamily="18" charset="0"/>
                              </a:rPr>
                              <m:t>3</m:t>
                            </m:r>
                          </m:sub>
                        </m:sSub>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𝑥</m:t>
                            </m:r>
                          </m:e>
                          <m:sup>
                            <m:r>
                              <a:rPr lang="en-US" altLang="zh-CN" sz="2000" b="0" i="1" smtClean="0">
                                <a:latin typeface="Cambria Math" panose="02040503050406030204" pitchFamily="18" charset="0"/>
                              </a:rPr>
                              <m:t>3</m:t>
                            </m:r>
                          </m:sup>
                        </m:sSup>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zh-CN" altLang="en-US" sz="2000" b="0" i="1" smtClean="0">
                                <a:latin typeface="Cambria Math" panose="02040503050406030204" pitchFamily="18" charset="0"/>
                              </a:rPr>
                              <m:t>𝜃</m:t>
                            </m:r>
                          </m:e>
                          <m:sub>
                            <m:r>
                              <a:rPr lang="en-US" altLang="zh-CN" sz="2000" b="0" i="1" smtClean="0">
                                <a:latin typeface="Cambria Math" panose="02040503050406030204" pitchFamily="18" charset="0"/>
                              </a:rPr>
                              <m:t>4</m:t>
                            </m:r>
                          </m:sub>
                        </m:sSub>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𝑥</m:t>
                            </m:r>
                          </m:e>
                          <m:sup>
                            <m:r>
                              <a:rPr lang="en-US" altLang="zh-CN" sz="2000" b="0" i="1" smtClean="0">
                                <a:latin typeface="Cambria Math" panose="02040503050406030204" pitchFamily="18" charset="0"/>
                              </a:rPr>
                              <m:t>4</m:t>
                            </m:r>
                          </m:sup>
                        </m:sSup>
                      </m:oMath>
                    </m:oMathPara>
                  </a14:m>
                  <a:endParaRPr lang="zh-CN" altLang="en-US" sz="2000" dirty="0"/>
                </a:p>
              </p:txBody>
            </p:sp>
          </mc:Choice>
          <mc:Fallback xmlns="">
            <p:sp>
              <p:nvSpPr>
                <p:cNvPr id="69" name="文本框 68">
                  <a:extLst>
                    <a:ext uri="{FF2B5EF4-FFF2-40B4-BE49-F238E27FC236}">
                      <a16:creationId xmlns:a16="http://schemas.microsoft.com/office/drawing/2014/main" id="{46F15A42-CDC1-46BC-A283-1CF43EA47654}"/>
                    </a:ext>
                  </a:extLst>
                </p:cNvPr>
                <p:cNvSpPr txBox="1">
                  <a:spLocks noRot="1" noChangeAspect="1" noMove="1" noResize="1" noEditPoints="1" noAdjustHandles="1" noChangeArrowheads="1" noChangeShapeType="1" noTextEdit="1"/>
                </p:cNvSpPr>
                <p:nvPr/>
              </p:nvSpPr>
              <p:spPr>
                <a:xfrm>
                  <a:off x="4277360" y="4715805"/>
                  <a:ext cx="4778784" cy="434561"/>
                </a:xfrm>
                <a:prstGeom prst="rect">
                  <a:avLst/>
                </a:prstGeom>
                <a:blipFill>
                  <a:blip r:embed="rId5"/>
                  <a:stretch>
                    <a:fillRect l="-916" r="-153" b="-30000"/>
                  </a:stretch>
                </a:blipFill>
              </p:spPr>
              <p:txBody>
                <a:bodyPr/>
                <a:lstStyle/>
                <a:p>
                  <a:r>
                    <a:rPr lang="zh-CN" altLang="en-US">
                      <a:noFill/>
                    </a:rPr>
                    <a:t> </a:t>
                  </a:r>
                </a:p>
              </p:txBody>
            </p:sp>
          </mc:Fallback>
        </mc:AlternateContent>
      </p:grpSp>
      <p:sp>
        <p:nvSpPr>
          <p:cNvPr id="71" name="箭头: 下 70">
            <a:extLst>
              <a:ext uri="{FF2B5EF4-FFF2-40B4-BE49-F238E27FC236}">
                <a16:creationId xmlns:a16="http://schemas.microsoft.com/office/drawing/2014/main" id="{D7547953-92C7-41F0-9903-561298E811B5}"/>
              </a:ext>
            </a:extLst>
          </p:cNvPr>
          <p:cNvSpPr/>
          <p:nvPr/>
        </p:nvSpPr>
        <p:spPr>
          <a:xfrm rot="16200000">
            <a:off x="3848497" y="5736091"/>
            <a:ext cx="269627" cy="3873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72" name="文本框 71">
                <a:extLst>
                  <a:ext uri="{FF2B5EF4-FFF2-40B4-BE49-F238E27FC236}">
                    <a16:creationId xmlns:a16="http://schemas.microsoft.com/office/drawing/2014/main" id="{16BA2381-FCA4-4371-92B4-C3791A64AC5A}"/>
                  </a:ext>
                </a:extLst>
              </p:cNvPr>
              <p:cNvSpPr txBox="1"/>
              <p:nvPr/>
            </p:nvSpPr>
            <p:spPr>
              <a:xfrm>
                <a:off x="4574895" y="6291305"/>
                <a:ext cx="3712168"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通过调整损失函数减小</a:t>
                </a:r>
                <a14:m>
                  <m:oMath xmlns:m="http://schemas.openxmlformats.org/officeDocument/2006/math">
                    <m:sSub>
                      <m:sSubPr>
                        <m:ctrlPr>
                          <a:rPr lang="en-US" altLang="zh-CN" sz="1800" i="1" smtClean="0">
                            <a:solidFill>
                              <a:schemeClr val="tx1"/>
                            </a:solidFill>
                            <a:latin typeface="Cambria Math" panose="02040503050406030204" pitchFamily="18" charset="0"/>
                            <a:ea typeface="微软雅黑" panose="020B0503020204020204" pitchFamily="34" charset="-122"/>
                          </a:rPr>
                        </m:ctrlPr>
                      </m:sSubPr>
                      <m:e>
                        <m:r>
                          <a:rPr lang="zh-CN" altLang="en-US" sz="1800" i="1" smtClean="0">
                            <a:solidFill>
                              <a:schemeClr val="tx1"/>
                            </a:solidFill>
                            <a:latin typeface="Cambria Math" panose="02040503050406030204" pitchFamily="18" charset="0"/>
                            <a:ea typeface="微软雅黑" panose="020B0503020204020204" pitchFamily="34" charset="-122"/>
                          </a:rPr>
                          <m:t>𝜃</m:t>
                        </m:r>
                      </m:e>
                      <m:sub>
                        <m:r>
                          <a:rPr lang="en-US" altLang="zh-CN" sz="1800" b="0" i="1" smtClean="0">
                            <a:solidFill>
                              <a:schemeClr val="tx1"/>
                            </a:solidFill>
                            <a:latin typeface="Cambria Math" panose="02040503050406030204" pitchFamily="18" charset="0"/>
                            <a:ea typeface="微软雅黑" panose="020B0503020204020204" pitchFamily="34" charset="-122"/>
                          </a:rPr>
                          <m:t>3</m:t>
                        </m:r>
                      </m:sub>
                    </m:sSub>
                  </m:oMath>
                </a14:m>
                <a:r>
                  <a:rPr lang="zh-CN" altLang="en-US" sz="1800" dirty="0">
                    <a:solidFill>
                      <a:schemeClr val="tx1"/>
                    </a:solidFill>
                    <a:latin typeface="微软雅黑" panose="020B0503020204020204" pitchFamily="34" charset="-122"/>
                    <a:ea typeface="微软雅黑" panose="020B0503020204020204" pitchFamily="34" charset="-122"/>
                  </a:rPr>
                  <a:t>与</a:t>
                </a:r>
                <a14:m>
                  <m:oMath xmlns:m="http://schemas.openxmlformats.org/officeDocument/2006/math">
                    <m:sSub>
                      <m:sSubPr>
                        <m:ctrlPr>
                          <a:rPr lang="en-US" altLang="zh-CN" sz="1800" i="1">
                            <a:solidFill>
                              <a:schemeClr val="tx1"/>
                            </a:solidFill>
                            <a:latin typeface="Cambria Math" panose="02040503050406030204" pitchFamily="18" charset="0"/>
                            <a:ea typeface="微软雅黑" panose="020B0503020204020204" pitchFamily="34" charset="-122"/>
                          </a:rPr>
                        </m:ctrlPr>
                      </m:sSubPr>
                      <m:e>
                        <m:r>
                          <a:rPr lang="zh-CN" altLang="en-US" sz="1800" i="1">
                            <a:solidFill>
                              <a:schemeClr val="tx1"/>
                            </a:solidFill>
                            <a:latin typeface="Cambria Math" panose="02040503050406030204" pitchFamily="18" charset="0"/>
                            <a:ea typeface="微软雅黑" panose="020B0503020204020204" pitchFamily="34" charset="-122"/>
                          </a:rPr>
                          <m:t>𝜃</m:t>
                        </m:r>
                      </m:e>
                      <m:sub>
                        <m:r>
                          <a:rPr lang="en-US" altLang="zh-CN" sz="1800" b="0" i="1" smtClean="0">
                            <a:solidFill>
                              <a:schemeClr val="tx1"/>
                            </a:solidFill>
                            <a:latin typeface="Cambria Math" panose="02040503050406030204" pitchFamily="18" charset="0"/>
                            <a:ea typeface="微软雅黑" panose="020B0503020204020204" pitchFamily="34" charset="-122"/>
                          </a:rPr>
                          <m:t>4</m:t>
                        </m:r>
                      </m:sub>
                    </m:sSub>
                  </m:oMath>
                </a14:m>
                <a:r>
                  <a:rPr lang="zh-CN" altLang="en-US" dirty="0">
                    <a:latin typeface="微软雅黑" panose="020B0503020204020204" pitchFamily="34" charset="-122"/>
                    <a:ea typeface="微软雅黑" panose="020B0503020204020204" pitchFamily="34" charset="-122"/>
                  </a:rPr>
                  <a:t>的值</a:t>
                </a:r>
              </a:p>
            </p:txBody>
          </p:sp>
        </mc:Choice>
        <mc:Fallback xmlns="">
          <p:sp>
            <p:nvSpPr>
              <p:cNvPr id="72" name="文本框 71">
                <a:extLst>
                  <a:ext uri="{FF2B5EF4-FFF2-40B4-BE49-F238E27FC236}">
                    <a16:creationId xmlns:a16="http://schemas.microsoft.com/office/drawing/2014/main" id="{16BA2381-FCA4-4371-92B4-C3791A64AC5A}"/>
                  </a:ext>
                </a:extLst>
              </p:cNvPr>
              <p:cNvSpPr txBox="1">
                <a:spLocks noRot="1" noChangeAspect="1" noMove="1" noResize="1" noEditPoints="1" noAdjustHandles="1" noChangeArrowheads="1" noChangeShapeType="1" noTextEdit="1"/>
              </p:cNvSpPr>
              <p:nvPr/>
            </p:nvSpPr>
            <p:spPr>
              <a:xfrm>
                <a:off x="4574895" y="6291305"/>
                <a:ext cx="3712168" cy="369332"/>
              </a:xfrm>
              <a:prstGeom prst="rect">
                <a:avLst/>
              </a:prstGeom>
              <a:blipFill>
                <a:blip r:embed="rId6"/>
                <a:stretch>
                  <a:fillRect l="-1314" t="-8197"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3" name="文本框 72">
                <a:extLst>
                  <a:ext uri="{FF2B5EF4-FFF2-40B4-BE49-F238E27FC236}">
                    <a16:creationId xmlns:a16="http://schemas.microsoft.com/office/drawing/2014/main" id="{90CF9762-4A96-4C7E-B1BC-8121AF7E9136}"/>
                  </a:ext>
                </a:extLst>
              </p:cNvPr>
              <p:cNvSpPr txBox="1"/>
              <p:nvPr/>
            </p:nvSpPr>
            <p:spPr>
              <a:xfrm>
                <a:off x="3973943" y="5686795"/>
                <a:ext cx="5403543"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400" i="1">
                          <a:latin typeface="Cambria Math" panose="02040503050406030204" pitchFamily="18" charset="0"/>
                        </a:rPr>
                        <m:t>g</m:t>
                      </m:r>
                      <m:d>
                        <m:dPr>
                          <m:ctrlPr>
                            <a:rPr lang="en-US" altLang="zh-CN" sz="2400" b="1" i="1" smtClean="0">
                              <a:latin typeface="Cambria Math" panose="02040503050406030204" pitchFamily="18" charset="0"/>
                            </a:rPr>
                          </m:ctrlPr>
                        </m:dPr>
                        <m:e>
                          <m:r>
                            <a:rPr lang="zh-CN" altLang="en-US" sz="2400" b="1" i="0">
                              <a:latin typeface="Cambria Math" panose="02040503050406030204" pitchFamily="18" charset="0"/>
                            </a:rPr>
                            <m:t>𝛉</m:t>
                          </m:r>
                        </m:e>
                      </m:d>
                      <m:r>
                        <a:rPr lang="en-US" altLang="zh-CN" sz="2400" b="0" i="1" smtClean="0">
                          <a:latin typeface="Cambria Math" panose="02040503050406030204" pitchFamily="18" charset="0"/>
                        </a:rPr>
                        <m:t>=</m:t>
                      </m:r>
                      <m:r>
                        <a:rPr lang="en-US" altLang="zh-CN" sz="2400" i="1">
                          <a:latin typeface="Cambria Math" panose="02040503050406030204" pitchFamily="18" charset="0"/>
                        </a:rPr>
                        <m:t>𝑓</m:t>
                      </m:r>
                      <m:d>
                        <m:dPr>
                          <m:ctrlPr>
                            <a:rPr lang="en-US" altLang="zh-CN" sz="2400" b="1" i="1">
                              <a:latin typeface="Cambria Math" panose="02040503050406030204" pitchFamily="18" charset="0"/>
                            </a:rPr>
                          </m:ctrlPr>
                        </m:dPr>
                        <m:e>
                          <m:r>
                            <a:rPr lang="zh-CN" altLang="en-US" sz="2400" b="1">
                              <a:latin typeface="Cambria Math" panose="02040503050406030204" pitchFamily="18" charset="0"/>
                            </a:rPr>
                            <m:t>𝛉</m:t>
                          </m:r>
                        </m:e>
                      </m:d>
                      <m:r>
                        <a:rPr lang="en-US" altLang="zh-CN" sz="2400" b="0" i="1" smtClean="0">
                          <a:solidFill>
                            <a:srgbClr val="C00000"/>
                          </a:solidFill>
                          <a:latin typeface="Cambria Math" panose="02040503050406030204" pitchFamily="18" charset="0"/>
                        </a:rPr>
                        <m:t>+100</m:t>
                      </m:r>
                      <m:d>
                        <m:dPr>
                          <m:begChr m:val="|"/>
                          <m:endChr m:val="|"/>
                          <m:ctrlPr>
                            <a:rPr lang="en-US" altLang="zh-CN" sz="2400" b="0" i="1" smtClean="0">
                              <a:solidFill>
                                <a:srgbClr val="C00000"/>
                              </a:solidFill>
                              <a:latin typeface="Cambria Math" panose="02040503050406030204" pitchFamily="18" charset="0"/>
                            </a:rPr>
                          </m:ctrlPr>
                        </m:dPr>
                        <m:e>
                          <m:sSub>
                            <m:sSubPr>
                              <m:ctrlPr>
                                <a:rPr lang="en-US" altLang="zh-CN" sz="2400" i="1">
                                  <a:solidFill>
                                    <a:srgbClr val="C00000"/>
                                  </a:solidFill>
                                  <a:latin typeface="Cambria Math" panose="02040503050406030204" pitchFamily="18" charset="0"/>
                                </a:rPr>
                              </m:ctrlPr>
                            </m:sSubPr>
                            <m:e>
                              <m:r>
                                <a:rPr lang="zh-CN" altLang="en-US" sz="2400" i="1">
                                  <a:solidFill>
                                    <a:srgbClr val="C00000"/>
                                  </a:solidFill>
                                  <a:latin typeface="Cambria Math" panose="02040503050406030204" pitchFamily="18" charset="0"/>
                                </a:rPr>
                                <m:t>𝜃</m:t>
                              </m:r>
                            </m:e>
                            <m:sub>
                              <m:r>
                                <a:rPr lang="en-US" altLang="zh-CN" sz="2400" i="1">
                                  <a:solidFill>
                                    <a:srgbClr val="C00000"/>
                                  </a:solidFill>
                                  <a:latin typeface="Cambria Math" panose="02040503050406030204" pitchFamily="18" charset="0"/>
                                </a:rPr>
                                <m:t>3</m:t>
                              </m:r>
                            </m:sub>
                          </m:sSub>
                        </m:e>
                      </m:d>
                      <m:r>
                        <a:rPr lang="en-US" altLang="zh-CN" sz="2400" b="0" i="1" smtClean="0">
                          <a:solidFill>
                            <a:srgbClr val="C00000"/>
                          </a:solidFill>
                          <a:latin typeface="Cambria Math" panose="02040503050406030204" pitchFamily="18" charset="0"/>
                        </a:rPr>
                        <m:t>+</m:t>
                      </m:r>
                      <m:r>
                        <a:rPr lang="en-US" altLang="zh-CN" sz="2400" i="1">
                          <a:solidFill>
                            <a:srgbClr val="C00000"/>
                          </a:solidFill>
                          <a:latin typeface="Cambria Math" panose="02040503050406030204" pitchFamily="18" charset="0"/>
                        </a:rPr>
                        <m:t>100</m:t>
                      </m:r>
                      <m:d>
                        <m:dPr>
                          <m:begChr m:val="|"/>
                          <m:endChr m:val="|"/>
                          <m:ctrlPr>
                            <a:rPr lang="en-US" altLang="zh-CN" sz="2400" i="1">
                              <a:solidFill>
                                <a:srgbClr val="C00000"/>
                              </a:solidFill>
                              <a:latin typeface="Cambria Math" panose="02040503050406030204" pitchFamily="18" charset="0"/>
                            </a:rPr>
                          </m:ctrlPr>
                        </m:dPr>
                        <m:e>
                          <m:sSub>
                            <m:sSubPr>
                              <m:ctrlPr>
                                <a:rPr lang="en-US" altLang="zh-CN" sz="2400" i="1">
                                  <a:solidFill>
                                    <a:srgbClr val="C00000"/>
                                  </a:solidFill>
                                  <a:latin typeface="Cambria Math" panose="02040503050406030204" pitchFamily="18" charset="0"/>
                                </a:rPr>
                              </m:ctrlPr>
                            </m:sSubPr>
                            <m:e>
                              <m:r>
                                <a:rPr lang="zh-CN" altLang="en-US" sz="2400" i="1">
                                  <a:solidFill>
                                    <a:srgbClr val="C00000"/>
                                  </a:solidFill>
                                  <a:latin typeface="Cambria Math" panose="02040503050406030204" pitchFamily="18" charset="0"/>
                                </a:rPr>
                                <m:t>𝜃</m:t>
                              </m:r>
                            </m:e>
                            <m:sub>
                              <m:r>
                                <a:rPr lang="en-US" altLang="zh-CN" sz="2400" b="0" i="1" smtClean="0">
                                  <a:solidFill>
                                    <a:srgbClr val="C00000"/>
                                  </a:solidFill>
                                  <a:latin typeface="Cambria Math" panose="02040503050406030204" pitchFamily="18" charset="0"/>
                                </a:rPr>
                                <m:t>4</m:t>
                              </m:r>
                            </m:sub>
                          </m:sSub>
                        </m:e>
                      </m:d>
                    </m:oMath>
                  </m:oMathPara>
                </a14:m>
                <a:endParaRPr lang="zh-CN" altLang="en-US" sz="2400" dirty="0"/>
              </a:p>
            </p:txBody>
          </p:sp>
        </mc:Choice>
        <mc:Fallback xmlns="">
          <p:sp>
            <p:nvSpPr>
              <p:cNvPr id="73" name="文本框 72">
                <a:extLst>
                  <a:ext uri="{FF2B5EF4-FFF2-40B4-BE49-F238E27FC236}">
                    <a16:creationId xmlns:a16="http://schemas.microsoft.com/office/drawing/2014/main" id="{90CF9762-4A96-4C7E-B1BC-8121AF7E9136}"/>
                  </a:ext>
                </a:extLst>
              </p:cNvPr>
              <p:cNvSpPr txBox="1">
                <a:spLocks noRot="1" noChangeAspect="1" noMove="1" noResize="1" noEditPoints="1" noAdjustHandles="1" noChangeArrowheads="1" noChangeShapeType="1" noTextEdit="1"/>
              </p:cNvSpPr>
              <p:nvPr/>
            </p:nvSpPr>
            <p:spPr>
              <a:xfrm>
                <a:off x="3973943" y="5686795"/>
                <a:ext cx="5403543" cy="369332"/>
              </a:xfrm>
              <a:prstGeom prst="rect">
                <a:avLst/>
              </a:prstGeom>
              <a:blipFill>
                <a:blip r:embed="rId7"/>
                <a:stretch>
                  <a:fillRect b="-38333"/>
                </a:stretch>
              </a:blipFill>
            </p:spPr>
            <p:txBody>
              <a:bodyPr/>
              <a:lstStyle/>
              <a:p>
                <a:r>
                  <a:rPr lang="zh-CN" altLang="en-US">
                    <a:noFill/>
                  </a:rPr>
                  <a:t> </a:t>
                </a:r>
              </a:p>
            </p:txBody>
          </p:sp>
        </mc:Fallback>
      </mc:AlternateContent>
      <p:sp>
        <p:nvSpPr>
          <p:cNvPr id="74" name="文本框 73">
            <a:extLst>
              <a:ext uri="{FF2B5EF4-FFF2-40B4-BE49-F238E27FC236}">
                <a16:creationId xmlns:a16="http://schemas.microsoft.com/office/drawing/2014/main" id="{1A535310-27B6-434B-8038-C4532649DEF1}"/>
              </a:ext>
            </a:extLst>
          </p:cNvPr>
          <p:cNvSpPr txBox="1"/>
          <p:nvPr/>
        </p:nvSpPr>
        <p:spPr>
          <a:xfrm>
            <a:off x="122375" y="5348349"/>
            <a:ext cx="3527498" cy="1422954"/>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倘若我们</a:t>
            </a:r>
            <a:r>
              <a:rPr lang="zh-CN" altLang="en-US" sz="2000" dirty="0">
                <a:solidFill>
                  <a:srgbClr val="C00000"/>
                </a:solidFill>
                <a:latin typeface="微软雅黑" panose="020B0503020204020204" pitchFamily="34" charset="-122"/>
                <a:ea typeface="微软雅黑" panose="020B0503020204020204" pitchFamily="34" charset="-122"/>
              </a:rPr>
              <a:t>不知道何种拟合形式更好？</a:t>
            </a:r>
            <a:r>
              <a:rPr lang="zh-CN" altLang="en-US" sz="2000" dirty="0">
                <a:latin typeface="微软雅黑" panose="020B0503020204020204" pitchFamily="34" charset="-122"/>
                <a:ea typeface="微软雅黑" panose="020B0503020204020204" pitchFamily="34" charset="-122"/>
              </a:rPr>
              <a:t>我们该如何对过拟合进行修正呢？</a:t>
            </a:r>
          </a:p>
        </p:txBody>
      </p:sp>
    </p:spTree>
    <p:extLst>
      <p:ext uri="{BB962C8B-B14F-4D97-AF65-F5344CB8AC3E}">
        <p14:creationId xmlns:p14="http://schemas.microsoft.com/office/powerpoint/2010/main" val="41993000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45</a:t>
            </a:fld>
            <a:endParaRPr lang="en-US" altLang="zh-CN"/>
          </a:p>
        </p:txBody>
      </p:sp>
      <p:sp>
        <p:nvSpPr>
          <p:cNvPr id="7" name="页脚占位符 2">
            <a:extLst>
              <a:ext uri="{FF2B5EF4-FFF2-40B4-BE49-F238E27FC236}">
                <a16:creationId xmlns:a16="http://schemas.microsoft.com/office/drawing/2014/main" id="{70FF8A37-8AF8-4203-8437-1A5CCA96C923}"/>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
        <p:nvSpPr>
          <p:cNvPr id="8" name="标题 1">
            <a:extLst>
              <a:ext uri="{FF2B5EF4-FFF2-40B4-BE49-F238E27FC236}">
                <a16:creationId xmlns:a16="http://schemas.microsoft.com/office/drawing/2014/main" id="{B7AD6C23-1302-4CFB-B1EB-DCB255E62D8B}"/>
              </a:ext>
            </a:extLst>
          </p:cNvPr>
          <p:cNvSpPr>
            <a:spLocks noGrp="1"/>
          </p:cNvSpPr>
          <p:nvPr>
            <p:ph type="title"/>
          </p:nvPr>
        </p:nvSpPr>
        <p:spPr>
          <a:xfrm>
            <a:off x="158546" y="423795"/>
            <a:ext cx="8229600" cy="731974"/>
          </a:xfrm>
        </p:spPr>
        <p:txBody>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正则化</a:t>
            </a:r>
          </a:p>
        </p:txBody>
      </p:sp>
      <p:sp>
        <p:nvSpPr>
          <p:cNvPr id="74" name="文本框 73">
            <a:extLst>
              <a:ext uri="{FF2B5EF4-FFF2-40B4-BE49-F238E27FC236}">
                <a16:creationId xmlns:a16="http://schemas.microsoft.com/office/drawing/2014/main" id="{1A535310-27B6-434B-8038-C4532649DEF1}"/>
              </a:ext>
            </a:extLst>
          </p:cNvPr>
          <p:cNvSpPr txBox="1"/>
          <p:nvPr/>
        </p:nvSpPr>
        <p:spPr>
          <a:xfrm>
            <a:off x="38322" y="1113747"/>
            <a:ext cx="8478076" cy="499624"/>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倘若我们</a:t>
            </a:r>
            <a:r>
              <a:rPr lang="zh-CN" altLang="en-US" sz="2000" dirty="0">
                <a:solidFill>
                  <a:srgbClr val="C00000"/>
                </a:solidFill>
                <a:latin typeface="微软雅黑" panose="020B0503020204020204" pitchFamily="34" charset="-122"/>
                <a:ea typeface="微软雅黑" panose="020B0503020204020204" pitchFamily="34" charset="-122"/>
              </a:rPr>
              <a:t>不知道何种拟合形式更好？</a:t>
            </a:r>
            <a:r>
              <a:rPr lang="zh-CN" altLang="en-US" sz="2000" dirty="0">
                <a:latin typeface="微软雅黑" panose="020B0503020204020204" pitchFamily="34" charset="-122"/>
                <a:ea typeface="微软雅黑" panose="020B0503020204020204" pitchFamily="34" charset="-122"/>
              </a:rPr>
              <a:t>我们该如何对过拟合进行修正呢？</a:t>
            </a:r>
          </a:p>
        </p:txBody>
      </p:sp>
      <p:grpSp>
        <p:nvGrpSpPr>
          <p:cNvPr id="4" name="组合 3">
            <a:extLst>
              <a:ext uri="{FF2B5EF4-FFF2-40B4-BE49-F238E27FC236}">
                <a16:creationId xmlns:a16="http://schemas.microsoft.com/office/drawing/2014/main" id="{6B0E5468-2415-4CF0-A29F-20B99759155F}"/>
              </a:ext>
            </a:extLst>
          </p:cNvPr>
          <p:cNvGrpSpPr/>
          <p:nvPr/>
        </p:nvGrpSpPr>
        <p:grpSpPr>
          <a:xfrm>
            <a:off x="2724938" y="1607439"/>
            <a:ext cx="2817496" cy="1760364"/>
            <a:chOff x="926691" y="1765465"/>
            <a:chExt cx="3105521" cy="1998370"/>
          </a:xfrm>
        </p:grpSpPr>
        <p:cxnSp>
          <p:nvCxnSpPr>
            <p:cNvPr id="75" name="直接箭头连接符 74">
              <a:extLst>
                <a:ext uri="{FF2B5EF4-FFF2-40B4-BE49-F238E27FC236}">
                  <a16:creationId xmlns:a16="http://schemas.microsoft.com/office/drawing/2014/main" id="{EB06D6E3-3280-4B47-9279-F958EE4816AC}"/>
                </a:ext>
              </a:extLst>
            </p:cNvPr>
            <p:cNvCxnSpPr/>
            <p:nvPr/>
          </p:nvCxnSpPr>
          <p:spPr>
            <a:xfrm flipV="1">
              <a:off x="1311336" y="1941399"/>
              <a:ext cx="0" cy="182243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76" name="直接箭头连接符 75">
              <a:extLst>
                <a:ext uri="{FF2B5EF4-FFF2-40B4-BE49-F238E27FC236}">
                  <a16:creationId xmlns:a16="http://schemas.microsoft.com/office/drawing/2014/main" id="{5C9952EF-CD66-4803-AED4-283DF9051420}"/>
                </a:ext>
              </a:extLst>
            </p:cNvPr>
            <p:cNvCxnSpPr>
              <a:cxnSpLocks/>
            </p:cNvCxnSpPr>
            <p:nvPr/>
          </p:nvCxnSpPr>
          <p:spPr>
            <a:xfrm flipV="1">
              <a:off x="1311336" y="3763835"/>
              <a:ext cx="2362356"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nvGrpSpPr>
            <p:cNvPr id="77" name="组合 76">
              <a:extLst>
                <a:ext uri="{FF2B5EF4-FFF2-40B4-BE49-F238E27FC236}">
                  <a16:creationId xmlns:a16="http://schemas.microsoft.com/office/drawing/2014/main" id="{9D5F8255-61DF-4F21-BECB-37247FEB6E1A}"/>
                </a:ext>
              </a:extLst>
            </p:cNvPr>
            <p:cNvGrpSpPr/>
            <p:nvPr/>
          </p:nvGrpSpPr>
          <p:grpSpPr>
            <a:xfrm>
              <a:off x="1525633" y="3414400"/>
              <a:ext cx="86402" cy="94608"/>
              <a:chOff x="6341533" y="2315633"/>
              <a:chExt cx="108000" cy="108000"/>
            </a:xfrm>
          </p:grpSpPr>
          <p:cxnSp>
            <p:nvCxnSpPr>
              <p:cNvPr id="78" name="直接连接符 77">
                <a:extLst>
                  <a:ext uri="{FF2B5EF4-FFF2-40B4-BE49-F238E27FC236}">
                    <a16:creationId xmlns:a16="http://schemas.microsoft.com/office/drawing/2014/main" id="{E2D88F23-E19E-4F90-898D-4B7A5C2ABC6C}"/>
                  </a:ext>
                </a:extLst>
              </p:cNvPr>
              <p:cNvCxnSpPr/>
              <p:nvPr/>
            </p:nvCxnSpPr>
            <p:spPr>
              <a:xfrm flipH="1">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216CFD54-39B2-4022-B31B-2968BA9B2D06}"/>
                  </a:ext>
                </a:extLst>
              </p:cNvPr>
              <p:cNvCxnSpPr>
                <a:cxnSpLocks/>
              </p:cNvCxnSpPr>
              <p:nvPr/>
            </p:nvCxnSpPr>
            <p:spPr>
              <a:xfrm>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80" name="组合 79">
              <a:extLst>
                <a:ext uri="{FF2B5EF4-FFF2-40B4-BE49-F238E27FC236}">
                  <a16:creationId xmlns:a16="http://schemas.microsoft.com/office/drawing/2014/main" id="{3AB967C2-C8C8-49CC-84A6-2BE512C6529E}"/>
                </a:ext>
              </a:extLst>
            </p:cNvPr>
            <p:cNvGrpSpPr/>
            <p:nvPr/>
          </p:nvGrpSpPr>
          <p:grpSpPr>
            <a:xfrm>
              <a:off x="1684304" y="2965498"/>
              <a:ext cx="86402" cy="94608"/>
              <a:chOff x="6341533" y="2315633"/>
              <a:chExt cx="108000" cy="108000"/>
            </a:xfrm>
          </p:grpSpPr>
          <p:cxnSp>
            <p:nvCxnSpPr>
              <p:cNvPr id="81" name="直接连接符 80">
                <a:extLst>
                  <a:ext uri="{FF2B5EF4-FFF2-40B4-BE49-F238E27FC236}">
                    <a16:creationId xmlns:a16="http://schemas.microsoft.com/office/drawing/2014/main" id="{5F81AE63-B3AD-4CFC-A7DE-F72BD1161308}"/>
                  </a:ext>
                </a:extLst>
              </p:cNvPr>
              <p:cNvCxnSpPr/>
              <p:nvPr/>
            </p:nvCxnSpPr>
            <p:spPr>
              <a:xfrm flipH="1">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DD707056-B2BA-4519-ABDB-BEEEDF7C2060}"/>
                  </a:ext>
                </a:extLst>
              </p:cNvPr>
              <p:cNvCxnSpPr>
                <a:cxnSpLocks/>
              </p:cNvCxnSpPr>
              <p:nvPr/>
            </p:nvCxnSpPr>
            <p:spPr>
              <a:xfrm>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83" name="组合 82">
              <a:extLst>
                <a:ext uri="{FF2B5EF4-FFF2-40B4-BE49-F238E27FC236}">
                  <a16:creationId xmlns:a16="http://schemas.microsoft.com/office/drawing/2014/main" id="{D9999522-23E2-473B-8C78-94DC5E161A3D}"/>
                </a:ext>
              </a:extLst>
            </p:cNvPr>
            <p:cNvGrpSpPr/>
            <p:nvPr/>
          </p:nvGrpSpPr>
          <p:grpSpPr>
            <a:xfrm>
              <a:off x="2087833" y="2711765"/>
              <a:ext cx="86402" cy="94608"/>
              <a:chOff x="6341533" y="2315633"/>
              <a:chExt cx="108000" cy="108000"/>
            </a:xfrm>
          </p:grpSpPr>
          <p:cxnSp>
            <p:nvCxnSpPr>
              <p:cNvPr id="84" name="直接连接符 83">
                <a:extLst>
                  <a:ext uri="{FF2B5EF4-FFF2-40B4-BE49-F238E27FC236}">
                    <a16:creationId xmlns:a16="http://schemas.microsoft.com/office/drawing/2014/main" id="{5E302B79-EB24-42C1-8BF6-9F95F3287500}"/>
                  </a:ext>
                </a:extLst>
              </p:cNvPr>
              <p:cNvCxnSpPr/>
              <p:nvPr/>
            </p:nvCxnSpPr>
            <p:spPr>
              <a:xfrm flipH="1">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C5F595B2-42C4-4580-9F2E-1B106202B2C5}"/>
                  </a:ext>
                </a:extLst>
              </p:cNvPr>
              <p:cNvCxnSpPr>
                <a:cxnSpLocks/>
              </p:cNvCxnSpPr>
              <p:nvPr/>
            </p:nvCxnSpPr>
            <p:spPr>
              <a:xfrm>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86" name="组合 85">
              <a:extLst>
                <a:ext uri="{FF2B5EF4-FFF2-40B4-BE49-F238E27FC236}">
                  <a16:creationId xmlns:a16="http://schemas.microsoft.com/office/drawing/2014/main" id="{CEFA038E-E3BC-4330-B1CC-780F63751183}"/>
                </a:ext>
              </a:extLst>
            </p:cNvPr>
            <p:cNvGrpSpPr/>
            <p:nvPr/>
          </p:nvGrpSpPr>
          <p:grpSpPr>
            <a:xfrm>
              <a:off x="2230075" y="2240861"/>
              <a:ext cx="86402" cy="94608"/>
              <a:chOff x="6341533" y="2315633"/>
              <a:chExt cx="108000" cy="108000"/>
            </a:xfrm>
          </p:grpSpPr>
          <p:cxnSp>
            <p:nvCxnSpPr>
              <p:cNvPr id="87" name="直接连接符 86">
                <a:extLst>
                  <a:ext uri="{FF2B5EF4-FFF2-40B4-BE49-F238E27FC236}">
                    <a16:creationId xmlns:a16="http://schemas.microsoft.com/office/drawing/2014/main" id="{7016B40F-415D-4234-83FC-0DDBD62EAF27}"/>
                  </a:ext>
                </a:extLst>
              </p:cNvPr>
              <p:cNvCxnSpPr/>
              <p:nvPr/>
            </p:nvCxnSpPr>
            <p:spPr>
              <a:xfrm flipH="1">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83F66821-74CA-49D7-B5F8-945B263099C6}"/>
                  </a:ext>
                </a:extLst>
              </p:cNvPr>
              <p:cNvCxnSpPr>
                <a:cxnSpLocks/>
              </p:cNvCxnSpPr>
              <p:nvPr/>
            </p:nvCxnSpPr>
            <p:spPr>
              <a:xfrm>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89" name="组合 88">
              <a:extLst>
                <a:ext uri="{FF2B5EF4-FFF2-40B4-BE49-F238E27FC236}">
                  <a16:creationId xmlns:a16="http://schemas.microsoft.com/office/drawing/2014/main" id="{FC6D2756-AF5F-41CD-8A6C-F489BA0566A2}"/>
                </a:ext>
              </a:extLst>
            </p:cNvPr>
            <p:cNvGrpSpPr/>
            <p:nvPr/>
          </p:nvGrpSpPr>
          <p:grpSpPr>
            <a:xfrm>
              <a:off x="2673761" y="2335468"/>
              <a:ext cx="86402" cy="94608"/>
              <a:chOff x="6341533" y="2315633"/>
              <a:chExt cx="108000" cy="108000"/>
            </a:xfrm>
          </p:grpSpPr>
          <p:cxnSp>
            <p:nvCxnSpPr>
              <p:cNvPr id="90" name="直接连接符 89">
                <a:extLst>
                  <a:ext uri="{FF2B5EF4-FFF2-40B4-BE49-F238E27FC236}">
                    <a16:creationId xmlns:a16="http://schemas.microsoft.com/office/drawing/2014/main" id="{B096CCAB-C6B5-4FC3-A2B5-1BF78D58B662}"/>
                  </a:ext>
                </a:extLst>
              </p:cNvPr>
              <p:cNvCxnSpPr/>
              <p:nvPr/>
            </p:nvCxnSpPr>
            <p:spPr>
              <a:xfrm flipH="1">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7EC91D75-F3A7-4E39-8694-6BE6CDF56863}"/>
                  </a:ext>
                </a:extLst>
              </p:cNvPr>
              <p:cNvCxnSpPr>
                <a:cxnSpLocks/>
              </p:cNvCxnSpPr>
              <p:nvPr/>
            </p:nvCxnSpPr>
            <p:spPr>
              <a:xfrm>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92" name="组合 91">
              <a:extLst>
                <a:ext uri="{FF2B5EF4-FFF2-40B4-BE49-F238E27FC236}">
                  <a16:creationId xmlns:a16="http://schemas.microsoft.com/office/drawing/2014/main" id="{D353D14F-309D-4F3A-821C-3F3EDE53C226}"/>
                </a:ext>
              </a:extLst>
            </p:cNvPr>
            <p:cNvGrpSpPr/>
            <p:nvPr/>
          </p:nvGrpSpPr>
          <p:grpSpPr>
            <a:xfrm>
              <a:off x="3039508" y="2571429"/>
              <a:ext cx="86402" cy="94608"/>
              <a:chOff x="6341533" y="2315633"/>
              <a:chExt cx="108000" cy="108000"/>
            </a:xfrm>
          </p:grpSpPr>
          <p:cxnSp>
            <p:nvCxnSpPr>
              <p:cNvPr id="93" name="直接连接符 92">
                <a:extLst>
                  <a:ext uri="{FF2B5EF4-FFF2-40B4-BE49-F238E27FC236}">
                    <a16:creationId xmlns:a16="http://schemas.microsoft.com/office/drawing/2014/main" id="{11267FCB-DF66-4197-83EF-8038F5F8D2D1}"/>
                  </a:ext>
                </a:extLst>
              </p:cNvPr>
              <p:cNvCxnSpPr/>
              <p:nvPr/>
            </p:nvCxnSpPr>
            <p:spPr>
              <a:xfrm flipH="1">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E6C9D6D3-3B39-4DC6-8894-BB25E616E7CD}"/>
                  </a:ext>
                </a:extLst>
              </p:cNvPr>
              <p:cNvCxnSpPr>
                <a:cxnSpLocks/>
              </p:cNvCxnSpPr>
              <p:nvPr/>
            </p:nvCxnSpPr>
            <p:spPr>
              <a:xfrm>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95" name="组合 94">
              <a:extLst>
                <a:ext uri="{FF2B5EF4-FFF2-40B4-BE49-F238E27FC236}">
                  <a16:creationId xmlns:a16="http://schemas.microsoft.com/office/drawing/2014/main" id="{3888FC6C-9E14-408B-A3FC-4871E0EE5332}"/>
                </a:ext>
              </a:extLst>
            </p:cNvPr>
            <p:cNvGrpSpPr/>
            <p:nvPr/>
          </p:nvGrpSpPr>
          <p:grpSpPr>
            <a:xfrm>
              <a:off x="3340928" y="2664461"/>
              <a:ext cx="86402" cy="94608"/>
              <a:chOff x="6341533" y="2315633"/>
              <a:chExt cx="108000" cy="108000"/>
            </a:xfrm>
          </p:grpSpPr>
          <p:cxnSp>
            <p:nvCxnSpPr>
              <p:cNvPr id="96" name="直接连接符 95">
                <a:extLst>
                  <a:ext uri="{FF2B5EF4-FFF2-40B4-BE49-F238E27FC236}">
                    <a16:creationId xmlns:a16="http://schemas.microsoft.com/office/drawing/2014/main" id="{C55F83BA-4094-4034-9A08-64EC80E5769E}"/>
                  </a:ext>
                </a:extLst>
              </p:cNvPr>
              <p:cNvCxnSpPr/>
              <p:nvPr/>
            </p:nvCxnSpPr>
            <p:spPr>
              <a:xfrm flipH="1">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067761BA-CE38-416B-BC4F-71531FCF7ECB}"/>
                  </a:ext>
                </a:extLst>
              </p:cNvPr>
              <p:cNvCxnSpPr>
                <a:cxnSpLocks/>
              </p:cNvCxnSpPr>
              <p:nvPr/>
            </p:nvCxnSpPr>
            <p:spPr>
              <a:xfrm>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98" name="任意多边形: 形状 97">
              <a:extLst>
                <a:ext uri="{FF2B5EF4-FFF2-40B4-BE49-F238E27FC236}">
                  <a16:creationId xmlns:a16="http://schemas.microsoft.com/office/drawing/2014/main" id="{6AFDD65B-ED37-4917-A549-F98D13449A96}"/>
                </a:ext>
              </a:extLst>
            </p:cNvPr>
            <p:cNvSpPr/>
            <p:nvPr/>
          </p:nvSpPr>
          <p:spPr>
            <a:xfrm>
              <a:off x="1567140" y="1979248"/>
              <a:ext cx="2011726" cy="1507467"/>
            </a:xfrm>
            <a:custGeom>
              <a:avLst/>
              <a:gdLst>
                <a:gd name="connsiteX0" fmla="*/ 0 w 2514600"/>
                <a:gd name="connsiteY0" fmla="*/ 1720858 h 1720858"/>
                <a:gd name="connsiteX1" fmla="*/ 419100 w 2514600"/>
                <a:gd name="connsiteY1" fmla="*/ 533408 h 1720858"/>
                <a:gd name="connsiteX2" fmla="*/ 793750 w 2514600"/>
                <a:gd name="connsiteY2" fmla="*/ 1022358 h 1720858"/>
                <a:gd name="connsiteX3" fmla="*/ 895350 w 2514600"/>
                <a:gd name="connsiteY3" fmla="*/ 8 h 1720858"/>
                <a:gd name="connsiteX4" fmla="*/ 1746250 w 2514600"/>
                <a:gd name="connsiteY4" fmla="*/ 1041408 h 1720858"/>
                <a:gd name="connsiteX5" fmla="*/ 2019300 w 2514600"/>
                <a:gd name="connsiteY5" fmla="*/ 419108 h 1720858"/>
                <a:gd name="connsiteX6" fmla="*/ 2514600 w 2514600"/>
                <a:gd name="connsiteY6" fmla="*/ 1409708 h 1720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4600" h="1720858">
                  <a:moveTo>
                    <a:pt x="0" y="1720858"/>
                  </a:moveTo>
                  <a:cubicBezTo>
                    <a:pt x="143404" y="1185341"/>
                    <a:pt x="286808" y="649825"/>
                    <a:pt x="419100" y="533408"/>
                  </a:cubicBezTo>
                  <a:cubicBezTo>
                    <a:pt x="551392" y="416991"/>
                    <a:pt x="714375" y="1111258"/>
                    <a:pt x="793750" y="1022358"/>
                  </a:cubicBezTo>
                  <a:cubicBezTo>
                    <a:pt x="873125" y="933458"/>
                    <a:pt x="736600" y="-3167"/>
                    <a:pt x="895350" y="8"/>
                  </a:cubicBezTo>
                  <a:cubicBezTo>
                    <a:pt x="1054100" y="3183"/>
                    <a:pt x="1558925" y="971558"/>
                    <a:pt x="1746250" y="1041408"/>
                  </a:cubicBezTo>
                  <a:cubicBezTo>
                    <a:pt x="1933575" y="1111258"/>
                    <a:pt x="1891242" y="357725"/>
                    <a:pt x="2019300" y="419108"/>
                  </a:cubicBezTo>
                  <a:cubicBezTo>
                    <a:pt x="2147358" y="480491"/>
                    <a:pt x="2405592" y="1022358"/>
                    <a:pt x="2514600" y="1409708"/>
                  </a:cubicBezTo>
                </a:path>
              </a:pathLst>
            </a:cu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文本框 98">
              <a:extLst>
                <a:ext uri="{FF2B5EF4-FFF2-40B4-BE49-F238E27FC236}">
                  <a16:creationId xmlns:a16="http://schemas.microsoft.com/office/drawing/2014/main" id="{CED9D131-37AB-4FF1-BC39-98DE2A9AEC8A}"/>
                </a:ext>
              </a:extLst>
            </p:cNvPr>
            <p:cNvSpPr txBox="1"/>
            <p:nvPr/>
          </p:nvSpPr>
          <p:spPr>
            <a:xfrm>
              <a:off x="3761363" y="3300572"/>
              <a:ext cx="270849" cy="404417"/>
            </a:xfrm>
            <a:prstGeom prst="rect">
              <a:avLst/>
            </a:prstGeom>
            <a:noFill/>
          </p:spPr>
          <p:txBody>
            <a:bodyPr wrap="none" rtlCol="0">
              <a:spAutoFit/>
            </a:bodyPr>
            <a:lstStyle/>
            <a:p>
              <a:r>
                <a:rPr lang="en-US" altLang="zh-CN" sz="2400" b="1" i="1" dirty="0">
                  <a:latin typeface="Times New Roman" panose="02020603050405020304" pitchFamily="18" charset="0"/>
                  <a:cs typeface="Times New Roman" panose="02020603050405020304" pitchFamily="18" charset="0"/>
                </a:rPr>
                <a:t>x</a:t>
              </a:r>
              <a:endParaRPr lang="zh-CN" altLang="en-US" sz="2400" b="1" i="1" dirty="0">
                <a:latin typeface="Times New Roman" panose="02020603050405020304" pitchFamily="18" charset="0"/>
                <a:cs typeface="Times New Roman" panose="02020603050405020304" pitchFamily="18" charset="0"/>
              </a:endParaRPr>
            </a:p>
          </p:txBody>
        </p:sp>
        <p:sp>
          <p:nvSpPr>
            <p:cNvPr id="100" name="文本框 99">
              <a:extLst>
                <a:ext uri="{FF2B5EF4-FFF2-40B4-BE49-F238E27FC236}">
                  <a16:creationId xmlns:a16="http://schemas.microsoft.com/office/drawing/2014/main" id="{9E81F4DC-3FCF-48DA-A2B7-9D30C0AA408A}"/>
                </a:ext>
              </a:extLst>
            </p:cNvPr>
            <p:cNvSpPr txBox="1"/>
            <p:nvPr/>
          </p:nvSpPr>
          <p:spPr>
            <a:xfrm>
              <a:off x="926691" y="1765465"/>
              <a:ext cx="256743" cy="404417"/>
            </a:xfrm>
            <a:prstGeom prst="rect">
              <a:avLst/>
            </a:prstGeom>
            <a:noFill/>
          </p:spPr>
          <p:txBody>
            <a:bodyPr wrap="none" rtlCol="0">
              <a:spAutoFit/>
            </a:bodyPr>
            <a:lstStyle/>
            <a:p>
              <a:r>
                <a:rPr lang="en-US" altLang="zh-CN" sz="2400" b="1" i="1" dirty="0">
                  <a:latin typeface="Times New Roman" panose="02020603050405020304" pitchFamily="18" charset="0"/>
                  <a:cs typeface="Times New Roman" panose="02020603050405020304" pitchFamily="18" charset="0"/>
                </a:rPr>
                <a:t>y</a:t>
              </a:r>
              <a:endParaRPr lang="zh-CN" altLang="en-US" sz="2400" b="1" i="1" dirty="0">
                <a:latin typeface="Times New Roman" panose="02020603050405020304" pitchFamily="18" charset="0"/>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5C44E67A-9842-479D-98C6-0EBA559AB567}"/>
                  </a:ext>
                </a:extLst>
              </p:cNvPr>
              <p:cNvSpPr txBox="1"/>
              <p:nvPr/>
            </p:nvSpPr>
            <p:spPr>
              <a:xfrm>
                <a:off x="0" y="3570022"/>
                <a:ext cx="8526998" cy="707886"/>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参考减小</a:t>
                </a:r>
                <a14:m>
                  <m:oMath xmlns:m="http://schemas.openxmlformats.org/officeDocument/2006/math">
                    <m:sSub>
                      <m:sSubPr>
                        <m:ctrlPr>
                          <a:rPr lang="en-US" altLang="zh-CN" sz="2000" i="1">
                            <a:latin typeface="Cambria Math" panose="02040503050406030204" pitchFamily="18" charset="0"/>
                            <a:ea typeface="微软雅黑" panose="020B0503020204020204" pitchFamily="34" charset="-122"/>
                          </a:rPr>
                        </m:ctrlPr>
                      </m:sSubPr>
                      <m:e>
                        <m:r>
                          <a:rPr lang="zh-CN" altLang="en-US" sz="2000">
                            <a:latin typeface="Cambria Math" panose="02040503050406030204" pitchFamily="18" charset="0"/>
                            <a:ea typeface="微软雅黑" panose="020B0503020204020204" pitchFamily="34" charset="-122"/>
                          </a:rPr>
                          <m:t>𝜃</m:t>
                        </m:r>
                      </m:e>
                      <m:sub>
                        <m:r>
                          <a:rPr lang="en-US" altLang="zh-CN" sz="2000">
                            <a:latin typeface="Cambria Math" panose="02040503050406030204" pitchFamily="18" charset="0"/>
                            <a:ea typeface="微软雅黑" panose="020B0503020204020204" pitchFamily="34" charset="-122"/>
                          </a:rPr>
                          <m:t>3</m:t>
                        </m:r>
                      </m:sub>
                    </m:sSub>
                  </m:oMath>
                </a14:m>
                <a:r>
                  <a:rPr lang="zh-CN" altLang="en-US" sz="2000" dirty="0">
                    <a:latin typeface="微软雅黑" panose="020B0503020204020204" pitchFamily="34" charset="-122"/>
                    <a:ea typeface="微软雅黑" panose="020B0503020204020204" pitchFamily="34" charset="-122"/>
                  </a:rPr>
                  <a:t>与</a:t>
                </a:r>
                <a14:m>
                  <m:oMath xmlns:m="http://schemas.openxmlformats.org/officeDocument/2006/math">
                    <m:sSub>
                      <m:sSubPr>
                        <m:ctrlPr>
                          <a:rPr lang="en-US" altLang="zh-CN" sz="2000" i="1">
                            <a:latin typeface="Cambria Math" panose="02040503050406030204" pitchFamily="18" charset="0"/>
                            <a:ea typeface="微软雅黑" panose="020B0503020204020204" pitchFamily="34" charset="-122"/>
                          </a:rPr>
                        </m:ctrlPr>
                      </m:sSubPr>
                      <m:e>
                        <m:r>
                          <a:rPr lang="zh-CN" altLang="en-US" sz="2000">
                            <a:latin typeface="Cambria Math" panose="02040503050406030204" pitchFamily="18" charset="0"/>
                            <a:ea typeface="微软雅黑" panose="020B0503020204020204" pitchFamily="34" charset="-122"/>
                          </a:rPr>
                          <m:t>𝜃</m:t>
                        </m:r>
                      </m:e>
                      <m:sub>
                        <m:r>
                          <a:rPr lang="en-US" altLang="zh-CN" sz="2000">
                            <a:latin typeface="Cambria Math" panose="02040503050406030204" pitchFamily="18" charset="0"/>
                            <a:ea typeface="微软雅黑" panose="020B0503020204020204" pitchFamily="34" charset="-122"/>
                          </a:rPr>
                          <m:t>4</m:t>
                        </m:r>
                      </m:sub>
                    </m:sSub>
                  </m:oMath>
                </a14:m>
                <a:r>
                  <a:rPr lang="zh-CN" altLang="en-US" sz="2000" dirty="0">
                    <a:latin typeface="微软雅黑" panose="020B0503020204020204" pitchFamily="34" charset="-122"/>
                    <a:ea typeface="微软雅黑" panose="020B0503020204020204" pitchFamily="34" charset="-122"/>
                  </a:rPr>
                  <a:t>的思路，我们可以通过修正损失函数的形式，减小</a:t>
                </a:r>
                <a:r>
                  <a:rPr lang="zh-CN" altLang="en-US" sz="2000" dirty="0">
                    <a:solidFill>
                      <a:srgbClr val="C00000"/>
                    </a:solidFill>
                    <a:latin typeface="微软雅黑" panose="020B0503020204020204" pitchFamily="34" charset="-122"/>
                    <a:ea typeface="微软雅黑" panose="020B0503020204020204" pitchFamily="34" charset="-122"/>
                  </a:rPr>
                  <a:t>拟合函数中每一项的系数（</a:t>
                </a:r>
                <a14:m>
                  <m:oMath xmlns:m="http://schemas.openxmlformats.org/officeDocument/2006/math">
                    <m:sSub>
                      <m:sSubPr>
                        <m:ctrlPr>
                          <a:rPr lang="en-US" altLang="zh-CN" sz="2000" i="1">
                            <a:solidFill>
                              <a:srgbClr val="C00000"/>
                            </a:solidFill>
                            <a:latin typeface="Cambria Math" panose="02040503050406030204" pitchFamily="18" charset="0"/>
                            <a:ea typeface="微软雅黑" panose="020B0503020204020204" pitchFamily="34" charset="-122"/>
                          </a:rPr>
                        </m:ctrlPr>
                      </m:sSubPr>
                      <m:e>
                        <m:r>
                          <a:rPr lang="zh-CN" altLang="en-US" sz="2000">
                            <a:solidFill>
                              <a:srgbClr val="C00000"/>
                            </a:solidFill>
                            <a:latin typeface="Cambria Math" panose="02040503050406030204" pitchFamily="18" charset="0"/>
                            <a:ea typeface="微软雅黑" panose="020B0503020204020204" pitchFamily="34" charset="-122"/>
                          </a:rPr>
                          <m:t>𝜃</m:t>
                        </m:r>
                      </m:e>
                      <m:sub>
                        <m:r>
                          <a:rPr lang="en-US" altLang="zh-CN" sz="2000" b="0" i="0" smtClean="0">
                            <a:solidFill>
                              <a:srgbClr val="C00000"/>
                            </a:solidFill>
                            <a:latin typeface="Cambria Math" panose="02040503050406030204" pitchFamily="18" charset="0"/>
                            <a:ea typeface="微软雅黑" panose="020B0503020204020204" pitchFamily="34" charset="-122"/>
                          </a:rPr>
                          <m:t>0</m:t>
                        </m:r>
                      </m:sub>
                    </m:sSub>
                  </m:oMath>
                </a14:m>
                <a:r>
                  <a:rPr lang="zh-CN" altLang="en-US" sz="2000" dirty="0">
                    <a:solidFill>
                      <a:srgbClr val="C00000"/>
                    </a:solidFill>
                    <a:latin typeface="微软雅黑" panose="020B0503020204020204" pitchFamily="34" charset="-122"/>
                    <a:ea typeface="微软雅黑" panose="020B0503020204020204" pitchFamily="34" charset="-122"/>
                  </a:rPr>
                  <a:t>除外）</a:t>
                </a:r>
                <a:r>
                  <a:rPr lang="zh-CN" altLang="en-US" sz="2000" dirty="0">
                    <a:latin typeface="微软雅黑" panose="020B0503020204020204" pitchFamily="34" charset="-122"/>
                    <a:ea typeface="微软雅黑" panose="020B0503020204020204" pitchFamily="34" charset="-122"/>
                  </a:rPr>
                  <a:t>，达到简化模型的目的（对过拟合进行修正）</a:t>
                </a:r>
                <a:endParaRPr lang="en-US" altLang="zh-CN" sz="2000" dirty="0">
                  <a:latin typeface="微软雅黑" panose="020B0503020204020204" pitchFamily="34" charset="-122"/>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id="{5C44E67A-9842-479D-98C6-0EBA559AB567}"/>
                  </a:ext>
                </a:extLst>
              </p:cNvPr>
              <p:cNvSpPr txBox="1">
                <a:spLocks noRot="1" noChangeAspect="1" noMove="1" noResize="1" noEditPoints="1" noAdjustHandles="1" noChangeArrowheads="1" noChangeShapeType="1" noTextEdit="1"/>
              </p:cNvSpPr>
              <p:nvPr/>
            </p:nvSpPr>
            <p:spPr>
              <a:xfrm>
                <a:off x="0" y="3570022"/>
                <a:ext cx="8526998" cy="707886"/>
              </a:xfrm>
              <a:prstGeom prst="rect">
                <a:avLst/>
              </a:prstGeom>
              <a:blipFill>
                <a:blip r:embed="rId3"/>
                <a:stretch>
                  <a:fillRect l="-715" t="-5172" r="-3645" b="-146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619097D8-982B-4075-B161-1002487324DC}"/>
                  </a:ext>
                </a:extLst>
              </p:cNvPr>
              <p:cNvSpPr txBox="1"/>
              <p:nvPr/>
            </p:nvSpPr>
            <p:spPr>
              <a:xfrm>
                <a:off x="4915264" y="4439492"/>
                <a:ext cx="3560887" cy="140609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400" i="1">
                          <a:latin typeface="Cambria Math" panose="02040503050406030204" pitchFamily="18" charset="0"/>
                        </a:rPr>
                        <m:t>g</m:t>
                      </m:r>
                      <m:d>
                        <m:dPr>
                          <m:ctrlPr>
                            <a:rPr lang="en-US" altLang="zh-CN" sz="2400" b="1" i="1">
                              <a:latin typeface="Cambria Math" panose="02040503050406030204" pitchFamily="18" charset="0"/>
                            </a:rPr>
                          </m:ctrlPr>
                        </m:dPr>
                        <m:e>
                          <m:r>
                            <a:rPr lang="zh-CN" altLang="en-US" sz="2400" b="1">
                              <a:latin typeface="Cambria Math" panose="02040503050406030204" pitchFamily="18" charset="0"/>
                            </a:rPr>
                            <m:t>𝛉</m:t>
                          </m:r>
                        </m:e>
                      </m:d>
                      <m:r>
                        <a:rPr lang="en-US" altLang="zh-CN" sz="2400" i="1">
                          <a:latin typeface="Cambria Math" panose="02040503050406030204" pitchFamily="18" charset="0"/>
                        </a:rPr>
                        <m:t>=</m:t>
                      </m:r>
                      <m:r>
                        <a:rPr lang="en-US" altLang="zh-CN" sz="2400" i="1">
                          <a:latin typeface="Cambria Math" panose="02040503050406030204" pitchFamily="18" charset="0"/>
                        </a:rPr>
                        <m:t>𝑓</m:t>
                      </m:r>
                      <m:d>
                        <m:dPr>
                          <m:ctrlPr>
                            <a:rPr lang="en-US" altLang="zh-CN" sz="2400" b="1" i="1">
                              <a:latin typeface="Cambria Math" panose="02040503050406030204" pitchFamily="18" charset="0"/>
                            </a:rPr>
                          </m:ctrlPr>
                        </m:dPr>
                        <m:e>
                          <m:r>
                            <a:rPr lang="zh-CN" altLang="en-US" sz="2400" b="1">
                              <a:latin typeface="Cambria Math" panose="02040503050406030204" pitchFamily="18" charset="0"/>
                            </a:rPr>
                            <m:t>𝛉</m:t>
                          </m:r>
                        </m:e>
                      </m:d>
                      <m:r>
                        <a:rPr lang="en-US" altLang="zh-CN" sz="2400" b="0" i="1" smtClean="0">
                          <a:latin typeface="Cambria Math" panose="02040503050406030204" pitchFamily="18" charset="0"/>
                        </a:rPr>
                        <m:t>+</m:t>
                      </m:r>
                      <m:nary>
                        <m:naryPr>
                          <m:chr m:val="∑"/>
                          <m:ctrlPr>
                            <a:rPr lang="en-US" altLang="zh-CN" sz="2400" b="0" i="1" smtClean="0">
                              <a:solidFill>
                                <a:srgbClr val="C00000"/>
                              </a:solidFill>
                              <a:latin typeface="Cambria Math" panose="02040503050406030204" pitchFamily="18" charset="0"/>
                            </a:rPr>
                          </m:ctrlPr>
                        </m:naryPr>
                        <m:sub>
                          <m:r>
                            <m:rPr>
                              <m:brk m:alnAt="23"/>
                            </m:rPr>
                            <a:rPr lang="en-US" altLang="zh-CN" sz="2400" b="0" i="1" smtClean="0">
                              <a:solidFill>
                                <a:srgbClr val="C00000"/>
                              </a:solidFill>
                              <a:latin typeface="Cambria Math" panose="02040503050406030204" pitchFamily="18" charset="0"/>
                            </a:rPr>
                            <m:t>𝑖</m:t>
                          </m:r>
                          <m:r>
                            <a:rPr lang="en-US" altLang="zh-CN" sz="2400" b="0" i="1" smtClean="0">
                              <a:solidFill>
                                <a:srgbClr val="C00000"/>
                              </a:solidFill>
                              <a:latin typeface="Cambria Math" panose="02040503050406030204" pitchFamily="18" charset="0"/>
                            </a:rPr>
                            <m:t>=1</m:t>
                          </m:r>
                        </m:sub>
                        <m:sup>
                          <m:r>
                            <a:rPr lang="en-US" altLang="zh-CN" sz="2400" b="0" i="1" smtClean="0">
                              <a:solidFill>
                                <a:srgbClr val="C00000"/>
                              </a:solidFill>
                              <a:latin typeface="Cambria Math" panose="02040503050406030204" pitchFamily="18" charset="0"/>
                            </a:rPr>
                            <m:t>4</m:t>
                          </m:r>
                        </m:sup>
                        <m:e>
                          <m:r>
                            <a:rPr lang="zh-CN" altLang="en-US" sz="2400" b="0" i="1" smtClean="0">
                              <a:solidFill>
                                <a:srgbClr val="C00000"/>
                              </a:solidFill>
                              <a:latin typeface="Cambria Math" panose="02040503050406030204" pitchFamily="18" charset="0"/>
                            </a:rPr>
                            <m:t>𝜆</m:t>
                          </m:r>
                          <m:d>
                            <m:dPr>
                              <m:begChr m:val="|"/>
                              <m:endChr m:val="|"/>
                              <m:ctrlPr>
                                <a:rPr lang="en-US" altLang="zh-CN" sz="2400" b="0" i="1" smtClean="0">
                                  <a:solidFill>
                                    <a:srgbClr val="C00000"/>
                                  </a:solidFill>
                                  <a:latin typeface="Cambria Math" panose="02040503050406030204" pitchFamily="18" charset="0"/>
                                </a:rPr>
                              </m:ctrlPr>
                            </m:dPr>
                            <m:e>
                              <m:sSub>
                                <m:sSubPr>
                                  <m:ctrlPr>
                                    <a:rPr lang="en-US" altLang="zh-CN" sz="2400" b="0" i="1" smtClean="0">
                                      <a:solidFill>
                                        <a:srgbClr val="C00000"/>
                                      </a:solidFill>
                                      <a:latin typeface="Cambria Math" panose="02040503050406030204" pitchFamily="18" charset="0"/>
                                    </a:rPr>
                                  </m:ctrlPr>
                                </m:sSubPr>
                                <m:e>
                                  <m:r>
                                    <a:rPr lang="zh-CN" altLang="en-US" sz="2400" b="0" i="1" smtClean="0">
                                      <a:solidFill>
                                        <a:srgbClr val="C00000"/>
                                      </a:solidFill>
                                      <a:latin typeface="Cambria Math" panose="02040503050406030204" pitchFamily="18" charset="0"/>
                                    </a:rPr>
                                    <m:t>𝜃</m:t>
                                  </m:r>
                                </m:e>
                                <m:sub>
                                  <m:r>
                                    <a:rPr lang="en-US" altLang="zh-CN" sz="2400" b="0" i="1" smtClean="0">
                                      <a:solidFill>
                                        <a:srgbClr val="C00000"/>
                                      </a:solidFill>
                                      <a:latin typeface="Cambria Math" panose="02040503050406030204" pitchFamily="18" charset="0"/>
                                    </a:rPr>
                                    <m:t>𝑖</m:t>
                                  </m:r>
                                </m:sub>
                              </m:sSub>
                            </m:e>
                          </m:d>
                        </m:e>
                      </m:nary>
                    </m:oMath>
                  </m:oMathPara>
                </a14:m>
                <a:endParaRPr lang="zh-CN" altLang="en-US" sz="2400" dirty="0"/>
              </a:p>
              <a:p>
                <a:endParaRPr lang="zh-CN" altLang="en-US" sz="2400" dirty="0"/>
              </a:p>
            </p:txBody>
          </p:sp>
        </mc:Choice>
        <mc:Fallback xmlns="">
          <p:sp>
            <p:nvSpPr>
              <p:cNvPr id="3" name="文本框 2">
                <a:extLst>
                  <a:ext uri="{FF2B5EF4-FFF2-40B4-BE49-F238E27FC236}">
                    <a16:creationId xmlns:a16="http://schemas.microsoft.com/office/drawing/2014/main" id="{619097D8-982B-4075-B161-1002487324DC}"/>
                  </a:ext>
                </a:extLst>
              </p:cNvPr>
              <p:cNvSpPr txBox="1">
                <a:spLocks noRot="1" noChangeAspect="1" noMove="1" noResize="1" noEditPoints="1" noAdjustHandles="1" noChangeArrowheads="1" noChangeShapeType="1" noTextEdit="1"/>
              </p:cNvSpPr>
              <p:nvPr/>
            </p:nvSpPr>
            <p:spPr>
              <a:xfrm>
                <a:off x="4915264" y="4439492"/>
                <a:ext cx="3560887" cy="1406091"/>
              </a:xfrm>
              <a:prstGeom prst="rect">
                <a:avLst/>
              </a:prstGeom>
              <a:blipFill>
                <a:blip r:embed="rId4"/>
                <a:stretch>
                  <a:fillRect/>
                </a:stretch>
              </a:blipFill>
            </p:spPr>
            <p:txBody>
              <a:bodyPr/>
              <a:lstStyle/>
              <a:p>
                <a:r>
                  <a:rPr lang="zh-CN" altLang="en-US">
                    <a:noFill/>
                  </a:rPr>
                  <a:t> </a:t>
                </a:r>
              </a:p>
            </p:txBody>
          </p:sp>
        </mc:Fallback>
      </mc:AlternateContent>
      <p:sp>
        <p:nvSpPr>
          <p:cNvPr id="5" name="箭头: 下 4">
            <a:extLst>
              <a:ext uri="{FF2B5EF4-FFF2-40B4-BE49-F238E27FC236}">
                <a16:creationId xmlns:a16="http://schemas.microsoft.com/office/drawing/2014/main" id="{96C83E95-726E-45EB-B6DE-2FD096AC1787}"/>
              </a:ext>
            </a:extLst>
          </p:cNvPr>
          <p:cNvSpPr/>
          <p:nvPr/>
        </p:nvSpPr>
        <p:spPr>
          <a:xfrm rot="16200000">
            <a:off x="4326749" y="4822168"/>
            <a:ext cx="249555" cy="38054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CCCEB93C-AB6B-4921-8780-C9DAC6ABC052}"/>
                  </a:ext>
                </a:extLst>
              </p:cNvPr>
              <p:cNvSpPr txBox="1"/>
              <p:nvPr/>
            </p:nvSpPr>
            <p:spPr>
              <a:xfrm>
                <a:off x="158546" y="5790810"/>
                <a:ext cx="8526998" cy="707886"/>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可以直观地理解，如果拟合函数中</a:t>
                </a:r>
                <a14:m>
                  <m:oMath xmlns:m="http://schemas.openxmlformats.org/officeDocument/2006/math">
                    <m:sSub>
                      <m:sSubPr>
                        <m:ctrlPr>
                          <a:rPr lang="en-US" altLang="zh-CN" sz="2000" i="1">
                            <a:latin typeface="Cambria Math" panose="02040503050406030204" pitchFamily="18" charset="0"/>
                            <a:ea typeface="微软雅黑" panose="020B0503020204020204" pitchFamily="34" charset="-122"/>
                          </a:rPr>
                        </m:ctrlPr>
                      </m:sSubPr>
                      <m:e>
                        <m:r>
                          <a:rPr lang="zh-CN" altLang="en-US" sz="2000">
                            <a:latin typeface="Cambria Math" panose="02040503050406030204" pitchFamily="18" charset="0"/>
                            <a:ea typeface="微软雅黑" panose="020B0503020204020204" pitchFamily="34" charset="-122"/>
                          </a:rPr>
                          <m:t>𝜃</m:t>
                        </m:r>
                      </m:e>
                      <m:sub>
                        <m:r>
                          <a:rPr lang="en-US" altLang="zh-CN" sz="2000">
                            <a:latin typeface="Cambria Math" panose="02040503050406030204" pitchFamily="18" charset="0"/>
                            <a:ea typeface="微软雅黑" panose="020B0503020204020204" pitchFamily="34" charset="-122"/>
                          </a:rPr>
                          <m:t>𝑖</m:t>
                        </m:r>
                      </m:sub>
                    </m:sSub>
                    <m:r>
                      <a:rPr lang="en-US" altLang="zh-CN" sz="2000">
                        <a:latin typeface="Cambria Math" panose="02040503050406030204" pitchFamily="18" charset="0"/>
                        <a:ea typeface="微软雅黑" panose="020B0503020204020204" pitchFamily="34" charset="-122"/>
                      </a:rPr>
                      <m:t> </m:t>
                    </m:r>
                    <m:r>
                      <a:rPr lang="en-US" altLang="zh-CN" sz="2000">
                        <a:latin typeface="Cambria Math" panose="02040503050406030204" pitchFamily="18" charset="0"/>
                        <a:ea typeface="微软雅黑" panose="020B0503020204020204" pitchFamily="34" charset="-122"/>
                      </a:rPr>
                      <m:t>𝑖</m:t>
                    </m:r>
                    <m:r>
                      <a:rPr lang="en-US" altLang="zh-CN" sz="2000">
                        <a:latin typeface="Cambria Math" panose="02040503050406030204" pitchFamily="18" charset="0"/>
                        <a:ea typeface="微软雅黑" panose="020B0503020204020204" pitchFamily="34" charset="-122"/>
                      </a:rPr>
                      <m:t>∈</m:t>
                    </m:r>
                    <m:d>
                      <m:dPr>
                        <m:begChr m:val="{"/>
                        <m:endChr m:val="}"/>
                        <m:ctrlPr>
                          <a:rPr lang="en-US" altLang="zh-CN" sz="2000" i="1">
                            <a:latin typeface="Cambria Math" panose="02040503050406030204" pitchFamily="18" charset="0"/>
                            <a:ea typeface="微软雅黑" panose="020B0503020204020204" pitchFamily="34" charset="-122"/>
                          </a:rPr>
                        </m:ctrlPr>
                      </m:dPr>
                      <m:e>
                        <m:r>
                          <a:rPr lang="en-US" altLang="zh-CN" sz="2000">
                            <a:latin typeface="Cambria Math" panose="02040503050406030204" pitchFamily="18" charset="0"/>
                            <a:ea typeface="微软雅黑" panose="020B0503020204020204" pitchFamily="34" charset="-122"/>
                          </a:rPr>
                          <m:t>1,2,3,4</m:t>
                        </m:r>
                      </m:e>
                    </m:d>
                  </m:oMath>
                </a14:m>
                <a:r>
                  <a:rPr lang="zh-CN" altLang="en-US" sz="2000" dirty="0">
                    <a:latin typeface="微软雅黑" panose="020B0503020204020204" pitchFamily="34" charset="-122"/>
                    <a:ea typeface="微软雅黑" panose="020B0503020204020204" pitchFamily="34" charset="-122"/>
                  </a:rPr>
                  <a:t> 前的系数为无穷大，那么</a:t>
                </a:r>
                <a14:m>
                  <m:oMath xmlns:m="http://schemas.openxmlformats.org/officeDocument/2006/math">
                    <m:sSub>
                      <m:sSubPr>
                        <m:ctrlPr>
                          <a:rPr lang="en-US" altLang="zh-CN" sz="2000" i="1">
                            <a:latin typeface="Cambria Math" panose="02040503050406030204" pitchFamily="18" charset="0"/>
                            <a:ea typeface="微软雅黑" panose="020B0503020204020204" pitchFamily="34" charset="-122"/>
                          </a:rPr>
                        </m:ctrlPr>
                      </m:sSubPr>
                      <m:e>
                        <m:r>
                          <a:rPr lang="zh-CN" altLang="en-US" sz="2000">
                            <a:latin typeface="Cambria Math" panose="02040503050406030204" pitchFamily="18" charset="0"/>
                            <a:ea typeface="微软雅黑" panose="020B0503020204020204" pitchFamily="34" charset="-122"/>
                          </a:rPr>
                          <m:t>𝜃</m:t>
                        </m:r>
                      </m:e>
                      <m:sub>
                        <m:r>
                          <a:rPr lang="en-US" altLang="zh-CN" sz="2000">
                            <a:latin typeface="Cambria Math" panose="02040503050406030204" pitchFamily="18" charset="0"/>
                            <a:ea typeface="微软雅黑" panose="020B0503020204020204" pitchFamily="34" charset="-122"/>
                          </a:rPr>
                          <m:t>𝑖</m:t>
                        </m:r>
                      </m:sub>
                    </m:sSub>
                    <m:r>
                      <a:rPr lang="en-US" altLang="zh-CN" sz="2000">
                        <a:latin typeface="Cambria Math" panose="02040503050406030204" pitchFamily="18" charset="0"/>
                        <a:ea typeface="微软雅黑" panose="020B0503020204020204" pitchFamily="34" charset="-122"/>
                      </a:rPr>
                      <m:t> </m:t>
                    </m:r>
                    <m:r>
                      <a:rPr lang="en-US" altLang="zh-CN" sz="2000">
                        <a:latin typeface="Cambria Math" panose="02040503050406030204" pitchFamily="18" charset="0"/>
                        <a:ea typeface="微软雅黑" panose="020B0503020204020204" pitchFamily="34" charset="-122"/>
                      </a:rPr>
                      <m:t>𝑖</m:t>
                    </m:r>
                    <m:r>
                      <a:rPr lang="en-US" altLang="zh-CN" sz="2000">
                        <a:latin typeface="Cambria Math" panose="02040503050406030204" pitchFamily="18" charset="0"/>
                        <a:ea typeface="微软雅黑" panose="020B0503020204020204" pitchFamily="34" charset="-122"/>
                      </a:rPr>
                      <m:t>∈</m:t>
                    </m:r>
                    <m:d>
                      <m:dPr>
                        <m:begChr m:val="{"/>
                        <m:endChr m:val="}"/>
                        <m:ctrlPr>
                          <a:rPr lang="en-US" altLang="zh-CN" sz="2000" i="1">
                            <a:latin typeface="Cambria Math" panose="02040503050406030204" pitchFamily="18" charset="0"/>
                            <a:ea typeface="微软雅黑" panose="020B0503020204020204" pitchFamily="34" charset="-122"/>
                          </a:rPr>
                        </m:ctrlPr>
                      </m:dPr>
                      <m:e>
                        <m:r>
                          <a:rPr lang="en-US" altLang="zh-CN" sz="2000">
                            <a:latin typeface="Cambria Math" panose="02040503050406030204" pitchFamily="18" charset="0"/>
                            <a:ea typeface="微软雅黑" panose="020B0503020204020204" pitchFamily="34" charset="-122"/>
                          </a:rPr>
                          <m:t>1,2,3,4</m:t>
                        </m:r>
                      </m:e>
                    </m:d>
                  </m:oMath>
                </a14:m>
                <a:r>
                  <a:rPr lang="zh-CN" altLang="en-US" sz="2000" dirty="0">
                    <a:latin typeface="微软雅黑" panose="020B0503020204020204" pitchFamily="34" charset="-122"/>
                    <a:ea typeface="微软雅黑" panose="020B0503020204020204" pitchFamily="34" charset="-122"/>
                  </a:rPr>
                  <a:t> 将</a:t>
                </a:r>
                <a:r>
                  <a:rPr lang="zh-CN" altLang="en-US" sz="2000" dirty="0">
                    <a:solidFill>
                      <a:srgbClr val="C00000"/>
                    </a:solidFill>
                    <a:latin typeface="微软雅黑" panose="020B0503020204020204" pitchFamily="34" charset="-122"/>
                    <a:ea typeface="微软雅黑" panose="020B0503020204020204" pitchFamily="34" charset="-122"/>
                  </a:rPr>
                  <a:t>趋于</a:t>
                </a:r>
                <a:r>
                  <a:rPr lang="en-US" altLang="zh-CN" sz="2000" dirty="0">
                    <a:solidFill>
                      <a:srgbClr val="C00000"/>
                    </a:solidFill>
                    <a:latin typeface="微软雅黑" panose="020B0503020204020204" pitchFamily="34" charset="-122"/>
                    <a:ea typeface="微软雅黑" panose="020B0503020204020204" pitchFamily="34" charset="-122"/>
                  </a:rPr>
                  <a:t>0</a:t>
                </a:r>
                <a:r>
                  <a:rPr lang="zh-CN" altLang="en-US" sz="2000" dirty="0">
                    <a:latin typeface="微软雅黑" panose="020B0503020204020204" pitchFamily="34" charset="-122"/>
                    <a:ea typeface="微软雅黑" panose="020B0503020204020204" pitchFamily="34" charset="-122"/>
                  </a:rPr>
                  <a:t>，也就是说，此时，</a:t>
                </a:r>
                <a:r>
                  <a:rPr lang="en-US" altLang="zh-CN" sz="2000" dirty="0"/>
                  <a:t> </a:t>
                </a:r>
                <a14:m>
                  <m:oMath xmlns:m="http://schemas.openxmlformats.org/officeDocument/2006/math">
                    <m:r>
                      <a:rPr lang="en-US" altLang="zh-CN" sz="2000" i="1">
                        <a:latin typeface="Cambria Math" panose="02040503050406030204" pitchFamily="18" charset="0"/>
                      </a:rPr>
                      <m:t>𝑦</m:t>
                    </m:r>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zh-CN" altLang="en-US" sz="2000" i="1">
                            <a:latin typeface="Cambria Math" panose="02040503050406030204" pitchFamily="18" charset="0"/>
                          </a:rPr>
                          <m:t>𝜃</m:t>
                        </m:r>
                      </m:e>
                      <m:sub>
                        <m:r>
                          <a:rPr lang="en-US" altLang="zh-CN" sz="2000" i="1">
                            <a:latin typeface="Cambria Math" panose="02040503050406030204" pitchFamily="18" charset="0"/>
                          </a:rPr>
                          <m:t>0</m:t>
                        </m:r>
                      </m:sub>
                    </m:sSub>
                  </m:oMath>
                </a14:m>
                <a:r>
                  <a:rPr lang="zh-CN" altLang="en-US" sz="2000" dirty="0">
                    <a:latin typeface="微软雅黑" panose="020B0503020204020204" pitchFamily="34" charset="-122"/>
                    <a:ea typeface="微软雅黑" panose="020B0503020204020204" pitchFamily="34" charset="-122"/>
                  </a:rPr>
                  <a:t>，这是最简化的模型</a:t>
                </a:r>
              </a:p>
            </p:txBody>
          </p:sp>
        </mc:Choice>
        <mc:Fallback xmlns="">
          <p:sp>
            <p:nvSpPr>
              <p:cNvPr id="39" name="文本框 38">
                <a:extLst>
                  <a:ext uri="{FF2B5EF4-FFF2-40B4-BE49-F238E27FC236}">
                    <a16:creationId xmlns:a16="http://schemas.microsoft.com/office/drawing/2014/main" id="{CCCEB93C-AB6B-4921-8780-C9DAC6ABC052}"/>
                  </a:ext>
                </a:extLst>
              </p:cNvPr>
              <p:cNvSpPr txBox="1">
                <a:spLocks noRot="1" noChangeAspect="1" noMove="1" noResize="1" noEditPoints="1" noAdjustHandles="1" noChangeArrowheads="1" noChangeShapeType="1" noTextEdit="1"/>
              </p:cNvSpPr>
              <p:nvPr/>
            </p:nvSpPr>
            <p:spPr>
              <a:xfrm>
                <a:off x="158546" y="5790810"/>
                <a:ext cx="8526998" cy="707886"/>
              </a:xfrm>
              <a:prstGeom prst="rect">
                <a:avLst/>
              </a:prstGeom>
              <a:blipFill>
                <a:blip r:embed="rId6"/>
                <a:stretch>
                  <a:fillRect l="-715" t="-5172" b="-146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E582CE5A-7B47-EE67-96E9-4D109A4E8DDA}"/>
                  </a:ext>
                </a:extLst>
              </p:cNvPr>
              <p:cNvSpPr txBox="1"/>
              <p:nvPr/>
            </p:nvSpPr>
            <p:spPr>
              <a:xfrm>
                <a:off x="531445" y="4464941"/>
                <a:ext cx="3325333" cy="10082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𝑓</m:t>
                      </m:r>
                      <m:d>
                        <m:dPr>
                          <m:ctrlPr>
                            <a:rPr lang="en-US" altLang="zh-CN" sz="2400" b="1" i="1" smtClean="0">
                              <a:latin typeface="Cambria Math" panose="02040503050406030204" pitchFamily="18" charset="0"/>
                            </a:rPr>
                          </m:ctrlPr>
                        </m:dPr>
                        <m:e>
                          <m:r>
                            <a:rPr lang="zh-CN" altLang="en-US" sz="2400" b="1" i="0" smtClean="0">
                              <a:latin typeface="Cambria Math" panose="02040503050406030204" pitchFamily="18" charset="0"/>
                            </a:rPr>
                            <m:t>𝛉</m:t>
                          </m:r>
                        </m:e>
                      </m:d>
                      <m:r>
                        <a:rPr lang="en-US" altLang="zh-CN" sz="2400" b="0" i="1" smtClean="0">
                          <a:latin typeface="Cambria Math" panose="02040503050406030204" pitchFamily="18" charset="0"/>
                        </a:rPr>
                        <m:t>=</m:t>
                      </m:r>
                      <m:nary>
                        <m:naryPr>
                          <m:chr m:val="∑"/>
                          <m:ctrlPr>
                            <a:rPr lang="en-US" altLang="zh-CN" sz="2400" b="0" i="1" smtClean="0">
                              <a:latin typeface="Cambria Math" panose="02040503050406030204" pitchFamily="18" charset="0"/>
                            </a:rPr>
                          </m:ctrlPr>
                        </m:naryPr>
                        <m:sub>
                          <m:r>
                            <m:rPr>
                              <m:brk m:alnAt="23"/>
                            </m:rP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𝑛</m:t>
                          </m:r>
                        </m:sup>
                        <m:e>
                          <m:sSup>
                            <m:sSupPr>
                              <m:ctrlPr>
                                <a:rPr lang="en-US" altLang="zh-CN" sz="2400" b="0" i="1" smtClean="0">
                                  <a:latin typeface="Cambria Math" panose="02040503050406030204" pitchFamily="18" charset="0"/>
                                </a:rPr>
                              </m:ctrlPr>
                            </m:sSupPr>
                            <m:e>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𝑦</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𝑦</m:t>
                                  </m:r>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𝑖</m:t>
                                          </m:r>
                                        </m:sub>
                                      </m:sSub>
                                    </m:e>
                                  </m:d>
                                </m:e>
                              </m:d>
                            </m:e>
                            <m:sup>
                              <m:r>
                                <a:rPr lang="en-US" altLang="zh-CN" sz="2400" b="0" i="1" smtClean="0">
                                  <a:latin typeface="Cambria Math" panose="02040503050406030204" pitchFamily="18" charset="0"/>
                                </a:rPr>
                                <m:t>2</m:t>
                              </m:r>
                            </m:sup>
                          </m:sSup>
                        </m:e>
                      </m:nary>
                    </m:oMath>
                  </m:oMathPara>
                </a14:m>
                <a:endParaRPr lang="zh-CN" altLang="en-US" sz="2400" dirty="0"/>
              </a:p>
            </p:txBody>
          </p:sp>
        </mc:Choice>
        <mc:Fallback xmlns="">
          <p:sp>
            <p:nvSpPr>
              <p:cNvPr id="40" name="文本框 39">
                <a:extLst>
                  <a:ext uri="{FF2B5EF4-FFF2-40B4-BE49-F238E27FC236}">
                    <a16:creationId xmlns:a16="http://schemas.microsoft.com/office/drawing/2014/main" id="{E582CE5A-7B47-EE67-96E9-4D109A4E8DDA}"/>
                  </a:ext>
                </a:extLst>
              </p:cNvPr>
              <p:cNvSpPr txBox="1">
                <a:spLocks noRot="1" noChangeAspect="1" noMove="1" noResize="1" noEditPoints="1" noAdjustHandles="1" noChangeArrowheads="1" noChangeShapeType="1" noTextEdit="1"/>
              </p:cNvSpPr>
              <p:nvPr/>
            </p:nvSpPr>
            <p:spPr>
              <a:xfrm>
                <a:off x="531445" y="4464941"/>
                <a:ext cx="3325333" cy="1008225"/>
              </a:xfrm>
              <a:prstGeom prst="rect">
                <a:avLst/>
              </a:prstGeom>
              <a:blipFill>
                <a:blip r:embed="rId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44339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46</a:t>
            </a:fld>
            <a:endParaRPr lang="en-US" altLang="zh-CN"/>
          </a:p>
        </p:txBody>
      </p:sp>
      <p:sp>
        <p:nvSpPr>
          <p:cNvPr id="7" name="页脚占位符 2">
            <a:extLst>
              <a:ext uri="{FF2B5EF4-FFF2-40B4-BE49-F238E27FC236}">
                <a16:creationId xmlns:a16="http://schemas.microsoft.com/office/drawing/2014/main" id="{70FF8A37-8AF8-4203-8437-1A5CCA96C923}"/>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
        <p:nvSpPr>
          <p:cNvPr id="8" name="标题 1">
            <a:extLst>
              <a:ext uri="{FF2B5EF4-FFF2-40B4-BE49-F238E27FC236}">
                <a16:creationId xmlns:a16="http://schemas.microsoft.com/office/drawing/2014/main" id="{B7AD6C23-1302-4CFB-B1EB-DCB255E62D8B}"/>
              </a:ext>
            </a:extLst>
          </p:cNvPr>
          <p:cNvSpPr>
            <a:spLocks noGrp="1"/>
          </p:cNvSpPr>
          <p:nvPr>
            <p:ph type="title"/>
          </p:nvPr>
        </p:nvSpPr>
        <p:spPr>
          <a:xfrm>
            <a:off x="158546" y="423795"/>
            <a:ext cx="8229600" cy="731974"/>
          </a:xfrm>
        </p:spPr>
        <p:txBody>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正则化</a:t>
            </a:r>
          </a:p>
        </p:txBody>
      </p:sp>
      <p:sp>
        <p:nvSpPr>
          <p:cNvPr id="74" name="文本框 73">
            <a:extLst>
              <a:ext uri="{FF2B5EF4-FFF2-40B4-BE49-F238E27FC236}">
                <a16:creationId xmlns:a16="http://schemas.microsoft.com/office/drawing/2014/main" id="{1A535310-27B6-434B-8038-C4532649DEF1}"/>
              </a:ext>
            </a:extLst>
          </p:cNvPr>
          <p:cNvSpPr txBox="1"/>
          <p:nvPr/>
        </p:nvSpPr>
        <p:spPr>
          <a:xfrm>
            <a:off x="38322" y="1113747"/>
            <a:ext cx="8478076" cy="499624"/>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倘若我们</a:t>
            </a:r>
            <a:r>
              <a:rPr lang="zh-CN" altLang="en-US" sz="2000" dirty="0">
                <a:solidFill>
                  <a:srgbClr val="C00000"/>
                </a:solidFill>
                <a:latin typeface="微软雅黑" panose="020B0503020204020204" pitchFamily="34" charset="-122"/>
                <a:ea typeface="微软雅黑" panose="020B0503020204020204" pitchFamily="34" charset="-122"/>
              </a:rPr>
              <a:t>不知道何种拟合形式更好？</a:t>
            </a:r>
            <a:r>
              <a:rPr lang="zh-CN" altLang="en-US" sz="2000" dirty="0">
                <a:latin typeface="微软雅黑" panose="020B0503020204020204" pitchFamily="34" charset="-122"/>
                <a:ea typeface="微软雅黑" panose="020B0503020204020204" pitchFamily="34" charset="-122"/>
              </a:rPr>
              <a:t>我们该如何对过拟合进行修正呢？</a:t>
            </a:r>
          </a:p>
        </p:txBody>
      </p:sp>
      <p:grpSp>
        <p:nvGrpSpPr>
          <p:cNvPr id="4" name="组合 3">
            <a:extLst>
              <a:ext uri="{FF2B5EF4-FFF2-40B4-BE49-F238E27FC236}">
                <a16:creationId xmlns:a16="http://schemas.microsoft.com/office/drawing/2014/main" id="{6B0E5468-2415-4CF0-A29F-20B99759155F}"/>
              </a:ext>
            </a:extLst>
          </p:cNvPr>
          <p:cNvGrpSpPr/>
          <p:nvPr/>
        </p:nvGrpSpPr>
        <p:grpSpPr>
          <a:xfrm>
            <a:off x="270560" y="1814482"/>
            <a:ext cx="3058449" cy="1998370"/>
            <a:chOff x="926691" y="1765465"/>
            <a:chExt cx="3058449" cy="1998370"/>
          </a:xfrm>
        </p:grpSpPr>
        <p:cxnSp>
          <p:nvCxnSpPr>
            <p:cNvPr id="75" name="直接箭头连接符 74">
              <a:extLst>
                <a:ext uri="{FF2B5EF4-FFF2-40B4-BE49-F238E27FC236}">
                  <a16:creationId xmlns:a16="http://schemas.microsoft.com/office/drawing/2014/main" id="{EB06D6E3-3280-4B47-9279-F958EE4816AC}"/>
                </a:ext>
              </a:extLst>
            </p:cNvPr>
            <p:cNvCxnSpPr/>
            <p:nvPr/>
          </p:nvCxnSpPr>
          <p:spPr>
            <a:xfrm flipV="1">
              <a:off x="1311336" y="1941399"/>
              <a:ext cx="0" cy="182243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76" name="直接箭头连接符 75">
              <a:extLst>
                <a:ext uri="{FF2B5EF4-FFF2-40B4-BE49-F238E27FC236}">
                  <a16:creationId xmlns:a16="http://schemas.microsoft.com/office/drawing/2014/main" id="{5C9952EF-CD66-4803-AED4-283DF9051420}"/>
                </a:ext>
              </a:extLst>
            </p:cNvPr>
            <p:cNvCxnSpPr>
              <a:cxnSpLocks/>
            </p:cNvCxnSpPr>
            <p:nvPr/>
          </p:nvCxnSpPr>
          <p:spPr>
            <a:xfrm flipV="1">
              <a:off x="1311336" y="3763835"/>
              <a:ext cx="2362356"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nvGrpSpPr>
            <p:cNvPr id="77" name="组合 76">
              <a:extLst>
                <a:ext uri="{FF2B5EF4-FFF2-40B4-BE49-F238E27FC236}">
                  <a16:creationId xmlns:a16="http://schemas.microsoft.com/office/drawing/2014/main" id="{9D5F8255-61DF-4F21-BECB-37247FEB6E1A}"/>
                </a:ext>
              </a:extLst>
            </p:cNvPr>
            <p:cNvGrpSpPr/>
            <p:nvPr/>
          </p:nvGrpSpPr>
          <p:grpSpPr>
            <a:xfrm>
              <a:off x="1525633" y="3414400"/>
              <a:ext cx="86402" cy="94608"/>
              <a:chOff x="6341533" y="2315633"/>
              <a:chExt cx="108000" cy="108000"/>
            </a:xfrm>
          </p:grpSpPr>
          <p:cxnSp>
            <p:nvCxnSpPr>
              <p:cNvPr id="78" name="直接连接符 77">
                <a:extLst>
                  <a:ext uri="{FF2B5EF4-FFF2-40B4-BE49-F238E27FC236}">
                    <a16:creationId xmlns:a16="http://schemas.microsoft.com/office/drawing/2014/main" id="{E2D88F23-E19E-4F90-898D-4B7A5C2ABC6C}"/>
                  </a:ext>
                </a:extLst>
              </p:cNvPr>
              <p:cNvCxnSpPr/>
              <p:nvPr/>
            </p:nvCxnSpPr>
            <p:spPr>
              <a:xfrm flipH="1">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216CFD54-39B2-4022-B31B-2968BA9B2D06}"/>
                  </a:ext>
                </a:extLst>
              </p:cNvPr>
              <p:cNvCxnSpPr>
                <a:cxnSpLocks/>
              </p:cNvCxnSpPr>
              <p:nvPr/>
            </p:nvCxnSpPr>
            <p:spPr>
              <a:xfrm>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80" name="组合 79">
              <a:extLst>
                <a:ext uri="{FF2B5EF4-FFF2-40B4-BE49-F238E27FC236}">
                  <a16:creationId xmlns:a16="http://schemas.microsoft.com/office/drawing/2014/main" id="{3AB967C2-C8C8-49CC-84A6-2BE512C6529E}"/>
                </a:ext>
              </a:extLst>
            </p:cNvPr>
            <p:cNvGrpSpPr/>
            <p:nvPr/>
          </p:nvGrpSpPr>
          <p:grpSpPr>
            <a:xfrm>
              <a:off x="1684304" y="2965498"/>
              <a:ext cx="86402" cy="94608"/>
              <a:chOff x="6341533" y="2315633"/>
              <a:chExt cx="108000" cy="108000"/>
            </a:xfrm>
          </p:grpSpPr>
          <p:cxnSp>
            <p:nvCxnSpPr>
              <p:cNvPr id="81" name="直接连接符 80">
                <a:extLst>
                  <a:ext uri="{FF2B5EF4-FFF2-40B4-BE49-F238E27FC236}">
                    <a16:creationId xmlns:a16="http://schemas.microsoft.com/office/drawing/2014/main" id="{5F81AE63-B3AD-4CFC-A7DE-F72BD1161308}"/>
                  </a:ext>
                </a:extLst>
              </p:cNvPr>
              <p:cNvCxnSpPr/>
              <p:nvPr/>
            </p:nvCxnSpPr>
            <p:spPr>
              <a:xfrm flipH="1">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DD707056-B2BA-4519-ABDB-BEEEDF7C2060}"/>
                  </a:ext>
                </a:extLst>
              </p:cNvPr>
              <p:cNvCxnSpPr>
                <a:cxnSpLocks/>
              </p:cNvCxnSpPr>
              <p:nvPr/>
            </p:nvCxnSpPr>
            <p:spPr>
              <a:xfrm>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83" name="组合 82">
              <a:extLst>
                <a:ext uri="{FF2B5EF4-FFF2-40B4-BE49-F238E27FC236}">
                  <a16:creationId xmlns:a16="http://schemas.microsoft.com/office/drawing/2014/main" id="{D9999522-23E2-473B-8C78-94DC5E161A3D}"/>
                </a:ext>
              </a:extLst>
            </p:cNvPr>
            <p:cNvGrpSpPr/>
            <p:nvPr/>
          </p:nvGrpSpPr>
          <p:grpSpPr>
            <a:xfrm>
              <a:off x="2087833" y="2711765"/>
              <a:ext cx="86402" cy="94608"/>
              <a:chOff x="6341533" y="2315633"/>
              <a:chExt cx="108000" cy="108000"/>
            </a:xfrm>
          </p:grpSpPr>
          <p:cxnSp>
            <p:nvCxnSpPr>
              <p:cNvPr id="84" name="直接连接符 83">
                <a:extLst>
                  <a:ext uri="{FF2B5EF4-FFF2-40B4-BE49-F238E27FC236}">
                    <a16:creationId xmlns:a16="http://schemas.microsoft.com/office/drawing/2014/main" id="{5E302B79-EB24-42C1-8BF6-9F95F3287500}"/>
                  </a:ext>
                </a:extLst>
              </p:cNvPr>
              <p:cNvCxnSpPr/>
              <p:nvPr/>
            </p:nvCxnSpPr>
            <p:spPr>
              <a:xfrm flipH="1">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C5F595B2-42C4-4580-9F2E-1B106202B2C5}"/>
                  </a:ext>
                </a:extLst>
              </p:cNvPr>
              <p:cNvCxnSpPr>
                <a:cxnSpLocks/>
              </p:cNvCxnSpPr>
              <p:nvPr/>
            </p:nvCxnSpPr>
            <p:spPr>
              <a:xfrm>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86" name="组合 85">
              <a:extLst>
                <a:ext uri="{FF2B5EF4-FFF2-40B4-BE49-F238E27FC236}">
                  <a16:creationId xmlns:a16="http://schemas.microsoft.com/office/drawing/2014/main" id="{CEFA038E-E3BC-4330-B1CC-780F63751183}"/>
                </a:ext>
              </a:extLst>
            </p:cNvPr>
            <p:cNvGrpSpPr/>
            <p:nvPr/>
          </p:nvGrpSpPr>
          <p:grpSpPr>
            <a:xfrm>
              <a:off x="2230075" y="2240861"/>
              <a:ext cx="86402" cy="94608"/>
              <a:chOff x="6341533" y="2315633"/>
              <a:chExt cx="108000" cy="108000"/>
            </a:xfrm>
          </p:grpSpPr>
          <p:cxnSp>
            <p:nvCxnSpPr>
              <p:cNvPr id="87" name="直接连接符 86">
                <a:extLst>
                  <a:ext uri="{FF2B5EF4-FFF2-40B4-BE49-F238E27FC236}">
                    <a16:creationId xmlns:a16="http://schemas.microsoft.com/office/drawing/2014/main" id="{7016B40F-415D-4234-83FC-0DDBD62EAF27}"/>
                  </a:ext>
                </a:extLst>
              </p:cNvPr>
              <p:cNvCxnSpPr/>
              <p:nvPr/>
            </p:nvCxnSpPr>
            <p:spPr>
              <a:xfrm flipH="1">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83F66821-74CA-49D7-B5F8-945B263099C6}"/>
                  </a:ext>
                </a:extLst>
              </p:cNvPr>
              <p:cNvCxnSpPr>
                <a:cxnSpLocks/>
              </p:cNvCxnSpPr>
              <p:nvPr/>
            </p:nvCxnSpPr>
            <p:spPr>
              <a:xfrm>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89" name="组合 88">
              <a:extLst>
                <a:ext uri="{FF2B5EF4-FFF2-40B4-BE49-F238E27FC236}">
                  <a16:creationId xmlns:a16="http://schemas.microsoft.com/office/drawing/2014/main" id="{FC6D2756-AF5F-41CD-8A6C-F489BA0566A2}"/>
                </a:ext>
              </a:extLst>
            </p:cNvPr>
            <p:cNvGrpSpPr/>
            <p:nvPr/>
          </p:nvGrpSpPr>
          <p:grpSpPr>
            <a:xfrm>
              <a:off x="2673761" y="2335468"/>
              <a:ext cx="86402" cy="94608"/>
              <a:chOff x="6341533" y="2315633"/>
              <a:chExt cx="108000" cy="108000"/>
            </a:xfrm>
          </p:grpSpPr>
          <p:cxnSp>
            <p:nvCxnSpPr>
              <p:cNvPr id="90" name="直接连接符 89">
                <a:extLst>
                  <a:ext uri="{FF2B5EF4-FFF2-40B4-BE49-F238E27FC236}">
                    <a16:creationId xmlns:a16="http://schemas.microsoft.com/office/drawing/2014/main" id="{B096CCAB-C6B5-4FC3-A2B5-1BF78D58B662}"/>
                  </a:ext>
                </a:extLst>
              </p:cNvPr>
              <p:cNvCxnSpPr/>
              <p:nvPr/>
            </p:nvCxnSpPr>
            <p:spPr>
              <a:xfrm flipH="1">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7EC91D75-F3A7-4E39-8694-6BE6CDF56863}"/>
                  </a:ext>
                </a:extLst>
              </p:cNvPr>
              <p:cNvCxnSpPr>
                <a:cxnSpLocks/>
              </p:cNvCxnSpPr>
              <p:nvPr/>
            </p:nvCxnSpPr>
            <p:spPr>
              <a:xfrm>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92" name="组合 91">
              <a:extLst>
                <a:ext uri="{FF2B5EF4-FFF2-40B4-BE49-F238E27FC236}">
                  <a16:creationId xmlns:a16="http://schemas.microsoft.com/office/drawing/2014/main" id="{D353D14F-309D-4F3A-821C-3F3EDE53C226}"/>
                </a:ext>
              </a:extLst>
            </p:cNvPr>
            <p:cNvGrpSpPr/>
            <p:nvPr/>
          </p:nvGrpSpPr>
          <p:grpSpPr>
            <a:xfrm>
              <a:off x="3039508" y="2571429"/>
              <a:ext cx="86402" cy="94608"/>
              <a:chOff x="6341533" y="2315633"/>
              <a:chExt cx="108000" cy="108000"/>
            </a:xfrm>
          </p:grpSpPr>
          <p:cxnSp>
            <p:nvCxnSpPr>
              <p:cNvPr id="93" name="直接连接符 92">
                <a:extLst>
                  <a:ext uri="{FF2B5EF4-FFF2-40B4-BE49-F238E27FC236}">
                    <a16:creationId xmlns:a16="http://schemas.microsoft.com/office/drawing/2014/main" id="{11267FCB-DF66-4197-83EF-8038F5F8D2D1}"/>
                  </a:ext>
                </a:extLst>
              </p:cNvPr>
              <p:cNvCxnSpPr/>
              <p:nvPr/>
            </p:nvCxnSpPr>
            <p:spPr>
              <a:xfrm flipH="1">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E6C9D6D3-3B39-4DC6-8894-BB25E616E7CD}"/>
                  </a:ext>
                </a:extLst>
              </p:cNvPr>
              <p:cNvCxnSpPr>
                <a:cxnSpLocks/>
              </p:cNvCxnSpPr>
              <p:nvPr/>
            </p:nvCxnSpPr>
            <p:spPr>
              <a:xfrm>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95" name="组合 94">
              <a:extLst>
                <a:ext uri="{FF2B5EF4-FFF2-40B4-BE49-F238E27FC236}">
                  <a16:creationId xmlns:a16="http://schemas.microsoft.com/office/drawing/2014/main" id="{3888FC6C-9E14-408B-A3FC-4871E0EE5332}"/>
                </a:ext>
              </a:extLst>
            </p:cNvPr>
            <p:cNvGrpSpPr/>
            <p:nvPr/>
          </p:nvGrpSpPr>
          <p:grpSpPr>
            <a:xfrm>
              <a:off x="3340928" y="2664461"/>
              <a:ext cx="86402" cy="94608"/>
              <a:chOff x="6341533" y="2315633"/>
              <a:chExt cx="108000" cy="108000"/>
            </a:xfrm>
          </p:grpSpPr>
          <p:cxnSp>
            <p:nvCxnSpPr>
              <p:cNvPr id="96" name="直接连接符 95">
                <a:extLst>
                  <a:ext uri="{FF2B5EF4-FFF2-40B4-BE49-F238E27FC236}">
                    <a16:creationId xmlns:a16="http://schemas.microsoft.com/office/drawing/2014/main" id="{C55F83BA-4094-4034-9A08-64EC80E5769E}"/>
                  </a:ext>
                </a:extLst>
              </p:cNvPr>
              <p:cNvCxnSpPr/>
              <p:nvPr/>
            </p:nvCxnSpPr>
            <p:spPr>
              <a:xfrm flipH="1">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067761BA-CE38-416B-BC4F-71531FCF7ECB}"/>
                  </a:ext>
                </a:extLst>
              </p:cNvPr>
              <p:cNvCxnSpPr>
                <a:cxnSpLocks/>
              </p:cNvCxnSpPr>
              <p:nvPr/>
            </p:nvCxnSpPr>
            <p:spPr>
              <a:xfrm>
                <a:off x="6341533" y="2315633"/>
                <a:ext cx="108000" cy="10800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98" name="任意多边形: 形状 97">
              <a:extLst>
                <a:ext uri="{FF2B5EF4-FFF2-40B4-BE49-F238E27FC236}">
                  <a16:creationId xmlns:a16="http://schemas.microsoft.com/office/drawing/2014/main" id="{6AFDD65B-ED37-4917-A549-F98D13449A96}"/>
                </a:ext>
              </a:extLst>
            </p:cNvPr>
            <p:cNvSpPr/>
            <p:nvPr/>
          </p:nvSpPr>
          <p:spPr>
            <a:xfrm>
              <a:off x="1567140" y="1979248"/>
              <a:ext cx="2011726" cy="1507467"/>
            </a:xfrm>
            <a:custGeom>
              <a:avLst/>
              <a:gdLst>
                <a:gd name="connsiteX0" fmla="*/ 0 w 2514600"/>
                <a:gd name="connsiteY0" fmla="*/ 1720858 h 1720858"/>
                <a:gd name="connsiteX1" fmla="*/ 419100 w 2514600"/>
                <a:gd name="connsiteY1" fmla="*/ 533408 h 1720858"/>
                <a:gd name="connsiteX2" fmla="*/ 793750 w 2514600"/>
                <a:gd name="connsiteY2" fmla="*/ 1022358 h 1720858"/>
                <a:gd name="connsiteX3" fmla="*/ 895350 w 2514600"/>
                <a:gd name="connsiteY3" fmla="*/ 8 h 1720858"/>
                <a:gd name="connsiteX4" fmla="*/ 1746250 w 2514600"/>
                <a:gd name="connsiteY4" fmla="*/ 1041408 h 1720858"/>
                <a:gd name="connsiteX5" fmla="*/ 2019300 w 2514600"/>
                <a:gd name="connsiteY5" fmla="*/ 419108 h 1720858"/>
                <a:gd name="connsiteX6" fmla="*/ 2514600 w 2514600"/>
                <a:gd name="connsiteY6" fmla="*/ 1409708 h 1720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4600" h="1720858">
                  <a:moveTo>
                    <a:pt x="0" y="1720858"/>
                  </a:moveTo>
                  <a:cubicBezTo>
                    <a:pt x="143404" y="1185341"/>
                    <a:pt x="286808" y="649825"/>
                    <a:pt x="419100" y="533408"/>
                  </a:cubicBezTo>
                  <a:cubicBezTo>
                    <a:pt x="551392" y="416991"/>
                    <a:pt x="714375" y="1111258"/>
                    <a:pt x="793750" y="1022358"/>
                  </a:cubicBezTo>
                  <a:cubicBezTo>
                    <a:pt x="873125" y="933458"/>
                    <a:pt x="736600" y="-3167"/>
                    <a:pt x="895350" y="8"/>
                  </a:cubicBezTo>
                  <a:cubicBezTo>
                    <a:pt x="1054100" y="3183"/>
                    <a:pt x="1558925" y="971558"/>
                    <a:pt x="1746250" y="1041408"/>
                  </a:cubicBezTo>
                  <a:cubicBezTo>
                    <a:pt x="1933575" y="1111258"/>
                    <a:pt x="1891242" y="357725"/>
                    <a:pt x="2019300" y="419108"/>
                  </a:cubicBezTo>
                  <a:cubicBezTo>
                    <a:pt x="2147358" y="480491"/>
                    <a:pt x="2405592" y="1022358"/>
                    <a:pt x="2514600" y="1409708"/>
                  </a:cubicBezTo>
                </a:path>
              </a:pathLst>
            </a:cu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文本框 98">
              <a:extLst>
                <a:ext uri="{FF2B5EF4-FFF2-40B4-BE49-F238E27FC236}">
                  <a16:creationId xmlns:a16="http://schemas.microsoft.com/office/drawing/2014/main" id="{CED9D131-37AB-4FF1-BC39-98DE2A9AEC8A}"/>
                </a:ext>
              </a:extLst>
            </p:cNvPr>
            <p:cNvSpPr txBox="1"/>
            <p:nvPr/>
          </p:nvSpPr>
          <p:spPr>
            <a:xfrm>
              <a:off x="3714291" y="3359418"/>
              <a:ext cx="270849" cy="404417"/>
            </a:xfrm>
            <a:prstGeom prst="rect">
              <a:avLst/>
            </a:prstGeom>
            <a:noFill/>
          </p:spPr>
          <p:txBody>
            <a:bodyPr wrap="none" rtlCol="0">
              <a:spAutoFit/>
            </a:bodyPr>
            <a:lstStyle/>
            <a:p>
              <a:r>
                <a:rPr lang="en-US" altLang="zh-CN" sz="2400" b="1" i="1" dirty="0">
                  <a:latin typeface="Times New Roman" panose="02020603050405020304" pitchFamily="18" charset="0"/>
                  <a:cs typeface="Times New Roman" panose="02020603050405020304" pitchFamily="18" charset="0"/>
                </a:rPr>
                <a:t>x</a:t>
              </a:r>
              <a:endParaRPr lang="zh-CN" altLang="en-US" sz="2400" b="1" i="1" dirty="0">
                <a:latin typeface="Times New Roman" panose="02020603050405020304" pitchFamily="18" charset="0"/>
                <a:cs typeface="Times New Roman" panose="02020603050405020304" pitchFamily="18" charset="0"/>
              </a:endParaRPr>
            </a:p>
          </p:txBody>
        </p:sp>
        <p:sp>
          <p:nvSpPr>
            <p:cNvPr id="100" name="文本框 99">
              <a:extLst>
                <a:ext uri="{FF2B5EF4-FFF2-40B4-BE49-F238E27FC236}">
                  <a16:creationId xmlns:a16="http://schemas.microsoft.com/office/drawing/2014/main" id="{9E81F4DC-3FCF-48DA-A2B7-9D30C0AA408A}"/>
                </a:ext>
              </a:extLst>
            </p:cNvPr>
            <p:cNvSpPr txBox="1"/>
            <p:nvPr/>
          </p:nvSpPr>
          <p:spPr>
            <a:xfrm>
              <a:off x="926691" y="1765465"/>
              <a:ext cx="256743" cy="404417"/>
            </a:xfrm>
            <a:prstGeom prst="rect">
              <a:avLst/>
            </a:prstGeom>
            <a:noFill/>
          </p:spPr>
          <p:txBody>
            <a:bodyPr wrap="none" rtlCol="0">
              <a:spAutoFit/>
            </a:bodyPr>
            <a:lstStyle/>
            <a:p>
              <a:r>
                <a:rPr lang="en-US" altLang="zh-CN" sz="2400" b="1" i="1" dirty="0">
                  <a:latin typeface="Times New Roman" panose="02020603050405020304" pitchFamily="18" charset="0"/>
                  <a:cs typeface="Times New Roman" panose="02020603050405020304" pitchFamily="18" charset="0"/>
                </a:rPr>
                <a:t>y</a:t>
              </a:r>
              <a:endParaRPr lang="zh-CN" altLang="en-US" sz="2400" b="1" i="1" dirty="0">
                <a:latin typeface="Times New Roman" panose="02020603050405020304" pitchFamily="18" charset="0"/>
                <a:cs typeface="Times New Roman" panose="02020603050405020304" pitchFamily="18" charset="0"/>
              </a:endParaRPr>
            </a:p>
          </p:txBody>
        </p:sp>
      </p:grpSp>
      <p:sp>
        <p:nvSpPr>
          <p:cNvPr id="6" name="文本框 5">
            <a:extLst>
              <a:ext uri="{FF2B5EF4-FFF2-40B4-BE49-F238E27FC236}">
                <a16:creationId xmlns:a16="http://schemas.microsoft.com/office/drawing/2014/main" id="{5C44E67A-9842-479D-98C6-0EBA559AB567}"/>
              </a:ext>
            </a:extLst>
          </p:cNvPr>
          <p:cNvSpPr txBox="1"/>
          <p:nvPr/>
        </p:nvSpPr>
        <p:spPr>
          <a:xfrm>
            <a:off x="158546" y="4380234"/>
            <a:ext cx="8526998" cy="1015663"/>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这种在损失函数基础上添加</a:t>
            </a:r>
            <a:r>
              <a:rPr lang="zh-CN" altLang="en-US" sz="2000" dirty="0">
                <a:solidFill>
                  <a:srgbClr val="C00000"/>
                </a:solidFill>
                <a:latin typeface="微软雅黑" panose="020B0503020204020204" pitchFamily="34" charset="-122"/>
                <a:ea typeface="微软雅黑" panose="020B0503020204020204" pitchFamily="34" charset="-122"/>
              </a:rPr>
              <a:t>系数绝对值之和</a:t>
            </a:r>
            <a:r>
              <a:rPr lang="zh-CN" altLang="en-US" sz="2000" dirty="0">
                <a:latin typeface="微软雅黑" panose="020B0503020204020204" pitchFamily="34" charset="-122"/>
                <a:ea typeface="微软雅黑" panose="020B0503020204020204" pitchFamily="34" charset="-122"/>
              </a:rPr>
              <a:t>以减轻模型训练过拟合的处理方法叫做</a:t>
            </a:r>
            <a:r>
              <a:rPr lang="en-US" altLang="zh-CN" sz="2000" dirty="0">
                <a:solidFill>
                  <a:srgbClr val="C00000"/>
                </a:solidFill>
                <a:latin typeface="微软雅黑" panose="020B0503020204020204" pitchFamily="34" charset="-122"/>
                <a:ea typeface="微软雅黑" panose="020B0503020204020204" pitchFamily="34" charset="-122"/>
              </a:rPr>
              <a:t>L1</a:t>
            </a:r>
            <a:r>
              <a:rPr lang="zh-CN" altLang="en-US" sz="2000" dirty="0">
                <a:solidFill>
                  <a:srgbClr val="C00000"/>
                </a:solidFill>
                <a:latin typeface="微软雅黑" panose="020B0503020204020204" pitchFamily="34" charset="-122"/>
                <a:ea typeface="微软雅黑" panose="020B0503020204020204" pitchFamily="34" charset="-122"/>
              </a:rPr>
              <a:t>正则化</a:t>
            </a:r>
            <a:r>
              <a:rPr lang="zh-CN" altLang="en-US" sz="2000" dirty="0">
                <a:latin typeface="微软雅黑" panose="020B0503020204020204" pitchFamily="34" charset="-122"/>
                <a:ea typeface="微软雅黑" panose="020B0503020204020204" pitchFamily="34" charset="-122"/>
              </a:rPr>
              <a:t>，除了</a:t>
            </a:r>
            <a:r>
              <a:rPr lang="en-US" altLang="zh-CN" sz="2000" dirty="0">
                <a:latin typeface="微软雅黑" panose="020B0503020204020204" pitchFamily="34" charset="-122"/>
                <a:ea typeface="微软雅黑" panose="020B0503020204020204" pitchFamily="34" charset="-122"/>
              </a:rPr>
              <a:t>L1</a:t>
            </a:r>
            <a:r>
              <a:rPr lang="zh-CN" altLang="en-US" sz="2000" dirty="0">
                <a:latin typeface="微软雅黑" panose="020B0503020204020204" pitchFamily="34" charset="-122"/>
                <a:ea typeface="微软雅黑" panose="020B0503020204020204" pitchFamily="34" charset="-122"/>
              </a:rPr>
              <a:t>正则化处理，还有一种常见的处理思路，</a:t>
            </a:r>
            <a:r>
              <a:rPr lang="zh-CN" altLang="en-US" sz="2000" dirty="0">
                <a:solidFill>
                  <a:srgbClr val="C00000"/>
                </a:solidFill>
                <a:latin typeface="微软雅黑" panose="020B0503020204020204" pitchFamily="34" charset="-122"/>
                <a:ea typeface="微软雅黑" panose="020B0503020204020204" pitchFamily="34" charset="-122"/>
              </a:rPr>
              <a:t>即增添为系数平方和，</a:t>
            </a:r>
            <a:r>
              <a:rPr lang="zh-CN" altLang="en-US" sz="2000" dirty="0">
                <a:latin typeface="微软雅黑" panose="020B0503020204020204" pitchFamily="34" charset="-122"/>
                <a:ea typeface="微软雅黑" panose="020B0503020204020204" pitchFamily="34" charset="-122"/>
              </a:rPr>
              <a:t>这种处理方法叫做</a:t>
            </a:r>
            <a:r>
              <a:rPr lang="en-US" altLang="zh-CN" sz="2000" dirty="0">
                <a:solidFill>
                  <a:srgbClr val="C00000"/>
                </a:solidFill>
                <a:latin typeface="微软雅黑" panose="020B0503020204020204" pitchFamily="34" charset="-122"/>
                <a:ea typeface="微软雅黑" panose="020B0503020204020204" pitchFamily="34" charset="-122"/>
              </a:rPr>
              <a:t>L2</a:t>
            </a:r>
            <a:r>
              <a:rPr lang="zh-CN" altLang="en-US" sz="2000" dirty="0">
                <a:solidFill>
                  <a:srgbClr val="C00000"/>
                </a:solidFill>
                <a:latin typeface="微软雅黑" panose="020B0503020204020204" pitchFamily="34" charset="-122"/>
                <a:ea typeface="微软雅黑" panose="020B0503020204020204" pitchFamily="34" charset="-122"/>
              </a:rPr>
              <a:t>正则化</a:t>
            </a:r>
          </a:p>
        </p:txBody>
      </p:sp>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647270CA-B636-42CE-A7A3-CFF5E124A938}"/>
                  </a:ext>
                </a:extLst>
              </p:cNvPr>
              <p:cNvSpPr txBox="1"/>
              <p:nvPr/>
            </p:nvSpPr>
            <p:spPr>
              <a:xfrm>
                <a:off x="1371868" y="5270458"/>
                <a:ext cx="6100353" cy="117179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000" i="1">
                          <a:latin typeface="Cambria Math" panose="02040503050406030204" pitchFamily="18" charset="0"/>
                        </a:rPr>
                        <m:t>g</m:t>
                      </m:r>
                      <m:d>
                        <m:dPr>
                          <m:ctrlPr>
                            <a:rPr lang="en-US" altLang="zh-CN" sz="2000" b="1" i="1">
                              <a:latin typeface="Cambria Math" panose="02040503050406030204" pitchFamily="18" charset="0"/>
                            </a:rPr>
                          </m:ctrlPr>
                        </m:dPr>
                        <m:e>
                          <m:r>
                            <a:rPr lang="zh-CN" altLang="en-US" sz="2000" b="1">
                              <a:latin typeface="Cambria Math" panose="02040503050406030204" pitchFamily="18" charset="0"/>
                            </a:rPr>
                            <m:t>𝛉</m:t>
                          </m:r>
                        </m:e>
                      </m:d>
                      <m:r>
                        <a:rPr lang="en-US" altLang="zh-CN" sz="2000" i="1">
                          <a:latin typeface="Cambria Math" panose="02040503050406030204" pitchFamily="18" charset="0"/>
                        </a:rPr>
                        <m:t>=</m:t>
                      </m:r>
                      <m:nary>
                        <m:naryPr>
                          <m:chr m:val="∑"/>
                          <m:ctrlPr>
                            <a:rPr lang="en-US" altLang="zh-CN" sz="2000" i="1">
                              <a:latin typeface="Cambria Math" panose="02040503050406030204" pitchFamily="18" charset="0"/>
                            </a:rPr>
                          </m:ctrlPr>
                        </m:naryPr>
                        <m:sub>
                          <m:r>
                            <m:rPr>
                              <m:brk m:alnAt="23"/>
                            </m:rPr>
                            <a:rPr lang="en-US" altLang="zh-CN" sz="2000" i="1">
                              <a:latin typeface="Cambria Math" panose="02040503050406030204" pitchFamily="18" charset="0"/>
                            </a:rPr>
                            <m:t>𝑖</m:t>
                          </m:r>
                          <m:r>
                            <a:rPr lang="en-US" altLang="zh-CN" sz="2000" i="1">
                              <a:latin typeface="Cambria Math" panose="02040503050406030204" pitchFamily="18" charset="0"/>
                            </a:rPr>
                            <m:t>=1</m:t>
                          </m:r>
                        </m:sub>
                        <m:sup>
                          <m:r>
                            <a:rPr lang="en-US" altLang="zh-CN" sz="2000" i="1">
                              <a:latin typeface="Cambria Math" panose="02040503050406030204" pitchFamily="18" charset="0"/>
                            </a:rPr>
                            <m:t>𝑛</m:t>
                          </m:r>
                        </m:sup>
                        <m:e>
                          <m:sSup>
                            <m:sSupPr>
                              <m:ctrlPr>
                                <a:rPr lang="en-US" altLang="zh-CN" sz="2000" i="1">
                                  <a:latin typeface="Cambria Math" panose="02040503050406030204" pitchFamily="18" charset="0"/>
                                </a:rPr>
                              </m:ctrlPr>
                            </m:sSupPr>
                            <m:e>
                              <m:d>
                                <m:dPr>
                                  <m:ctrlPr>
                                    <a:rPr lang="en-US" altLang="zh-CN" sz="2000" i="1">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𝑦</m:t>
                                      </m:r>
                                    </m:e>
                                    <m:sub>
                                      <m:r>
                                        <a:rPr lang="en-US" altLang="zh-CN" sz="2000" i="1">
                                          <a:latin typeface="Cambria Math" panose="02040503050406030204" pitchFamily="18" charset="0"/>
                                        </a:rPr>
                                        <m:t>𝑖</m:t>
                                      </m:r>
                                    </m:sub>
                                  </m:sSub>
                                  <m:r>
                                    <a:rPr lang="en-US" altLang="zh-CN" sz="2000" i="1">
                                      <a:latin typeface="Cambria Math" panose="02040503050406030204" pitchFamily="18" charset="0"/>
                                    </a:rPr>
                                    <m:t>−</m:t>
                                  </m:r>
                                  <m:r>
                                    <a:rPr lang="en-US" altLang="zh-CN" sz="2000" i="1">
                                      <a:latin typeface="Cambria Math" panose="02040503050406030204" pitchFamily="18" charset="0"/>
                                    </a:rPr>
                                    <m:t>𝑦</m:t>
                                  </m:r>
                                  <m:d>
                                    <m:dPr>
                                      <m:ctrlPr>
                                        <a:rPr lang="en-US" altLang="zh-CN" sz="2000" i="1">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𝑖</m:t>
                                          </m:r>
                                        </m:sub>
                                      </m:sSub>
                                    </m:e>
                                  </m:d>
                                </m:e>
                              </m:d>
                            </m:e>
                            <m:sup>
                              <m:r>
                                <a:rPr lang="en-US" altLang="zh-CN" sz="2000" i="1">
                                  <a:latin typeface="Cambria Math" panose="02040503050406030204" pitchFamily="18" charset="0"/>
                                </a:rPr>
                                <m:t>2</m:t>
                              </m:r>
                            </m:sup>
                          </m:sSup>
                        </m:e>
                      </m:nary>
                      <m:r>
                        <a:rPr lang="en-US" altLang="zh-CN" sz="2000" i="1">
                          <a:latin typeface="Cambria Math" panose="02040503050406030204" pitchFamily="18" charset="0"/>
                        </a:rPr>
                        <m:t>+</m:t>
                      </m:r>
                      <m:nary>
                        <m:naryPr>
                          <m:chr m:val="∑"/>
                          <m:ctrlPr>
                            <a:rPr lang="en-US" altLang="zh-CN" sz="2000" b="0" i="1" smtClean="0">
                              <a:solidFill>
                                <a:srgbClr val="C00000"/>
                              </a:solidFill>
                              <a:latin typeface="Cambria Math" panose="02040503050406030204" pitchFamily="18" charset="0"/>
                            </a:rPr>
                          </m:ctrlPr>
                        </m:naryPr>
                        <m:sub>
                          <m:r>
                            <m:rPr>
                              <m:brk m:alnAt="23"/>
                            </m:rPr>
                            <a:rPr lang="en-US" altLang="zh-CN" sz="2000" b="0" i="1" smtClean="0">
                              <a:solidFill>
                                <a:srgbClr val="C00000"/>
                              </a:solidFill>
                              <a:latin typeface="Cambria Math" panose="02040503050406030204" pitchFamily="18" charset="0"/>
                            </a:rPr>
                            <m:t>𝑖</m:t>
                          </m:r>
                          <m:r>
                            <a:rPr lang="en-US" altLang="zh-CN" sz="2000" b="0" i="1" smtClean="0">
                              <a:solidFill>
                                <a:srgbClr val="C00000"/>
                              </a:solidFill>
                              <a:latin typeface="Cambria Math" panose="02040503050406030204" pitchFamily="18" charset="0"/>
                            </a:rPr>
                            <m:t>=1</m:t>
                          </m:r>
                        </m:sub>
                        <m:sup>
                          <m:r>
                            <a:rPr lang="en-US" altLang="zh-CN" sz="2000" b="0" i="1" smtClean="0">
                              <a:solidFill>
                                <a:srgbClr val="C00000"/>
                              </a:solidFill>
                              <a:latin typeface="Cambria Math" panose="02040503050406030204" pitchFamily="18" charset="0"/>
                            </a:rPr>
                            <m:t>4</m:t>
                          </m:r>
                        </m:sup>
                        <m:e>
                          <m:r>
                            <a:rPr lang="zh-CN" altLang="en-US" sz="2000" b="0" i="1" smtClean="0">
                              <a:solidFill>
                                <a:srgbClr val="C00000"/>
                              </a:solidFill>
                              <a:latin typeface="Cambria Math" panose="02040503050406030204" pitchFamily="18" charset="0"/>
                            </a:rPr>
                            <m:t>𝜆</m:t>
                          </m:r>
                          <m:sSup>
                            <m:sSupPr>
                              <m:ctrlPr>
                                <a:rPr lang="en-US" altLang="zh-CN" sz="2000" b="0" i="1" smtClean="0">
                                  <a:solidFill>
                                    <a:srgbClr val="C00000"/>
                                  </a:solidFill>
                                  <a:latin typeface="Cambria Math" panose="02040503050406030204" pitchFamily="18" charset="0"/>
                                  <a:ea typeface="Cambria Math" panose="02040503050406030204" pitchFamily="18" charset="0"/>
                                </a:rPr>
                              </m:ctrlPr>
                            </m:sSupPr>
                            <m:e>
                              <m:sSub>
                                <m:sSubPr>
                                  <m:ctrlPr>
                                    <a:rPr lang="en-US" altLang="zh-CN" sz="2000" i="1">
                                      <a:solidFill>
                                        <a:srgbClr val="C00000"/>
                                      </a:solidFill>
                                      <a:latin typeface="Cambria Math" panose="02040503050406030204" pitchFamily="18" charset="0"/>
                                    </a:rPr>
                                  </m:ctrlPr>
                                </m:sSubPr>
                                <m:e>
                                  <m:r>
                                    <a:rPr lang="zh-CN" altLang="en-US" sz="2000" i="1">
                                      <a:solidFill>
                                        <a:srgbClr val="C00000"/>
                                      </a:solidFill>
                                      <a:latin typeface="Cambria Math" panose="02040503050406030204" pitchFamily="18" charset="0"/>
                                    </a:rPr>
                                    <m:t>𝜃</m:t>
                                  </m:r>
                                </m:e>
                                <m:sub>
                                  <m:r>
                                    <a:rPr lang="en-US" altLang="zh-CN" sz="2000" i="1">
                                      <a:solidFill>
                                        <a:srgbClr val="C00000"/>
                                      </a:solidFill>
                                      <a:latin typeface="Cambria Math" panose="02040503050406030204" pitchFamily="18" charset="0"/>
                                    </a:rPr>
                                    <m:t>𝑖</m:t>
                                  </m:r>
                                </m:sub>
                              </m:sSub>
                            </m:e>
                            <m:sup>
                              <m:r>
                                <a:rPr lang="en-US" altLang="zh-CN" sz="2000" b="0" i="1" smtClean="0">
                                  <a:solidFill>
                                    <a:srgbClr val="C00000"/>
                                  </a:solidFill>
                                  <a:latin typeface="Cambria Math" panose="02040503050406030204" pitchFamily="18" charset="0"/>
                                  <a:ea typeface="Cambria Math" panose="02040503050406030204" pitchFamily="18" charset="0"/>
                                </a:rPr>
                                <m:t>2</m:t>
                              </m:r>
                            </m:sup>
                          </m:sSup>
                        </m:e>
                      </m:nary>
                    </m:oMath>
                  </m:oMathPara>
                </a14:m>
                <a:endParaRPr lang="zh-CN" altLang="en-US" sz="2000" dirty="0"/>
              </a:p>
              <a:p>
                <a:endParaRPr lang="zh-CN" altLang="en-US" sz="2000" dirty="0"/>
              </a:p>
            </p:txBody>
          </p:sp>
        </mc:Choice>
        <mc:Fallback xmlns="">
          <p:sp>
            <p:nvSpPr>
              <p:cNvPr id="41" name="文本框 40">
                <a:extLst>
                  <a:ext uri="{FF2B5EF4-FFF2-40B4-BE49-F238E27FC236}">
                    <a16:creationId xmlns:a16="http://schemas.microsoft.com/office/drawing/2014/main" id="{647270CA-B636-42CE-A7A3-CFF5E124A938}"/>
                  </a:ext>
                </a:extLst>
              </p:cNvPr>
              <p:cNvSpPr txBox="1">
                <a:spLocks noRot="1" noChangeAspect="1" noMove="1" noResize="1" noEditPoints="1" noAdjustHandles="1" noChangeArrowheads="1" noChangeShapeType="1" noTextEdit="1"/>
              </p:cNvSpPr>
              <p:nvPr/>
            </p:nvSpPr>
            <p:spPr>
              <a:xfrm>
                <a:off x="1371868" y="5270458"/>
                <a:ext cx="6100353" cy="1171796"/>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63F29915-1286-4D61-BAB5-AF60609402B6}"/>
                  </a:ext>
                </a:extLst>
              </p:cNvPr>
              <p:cNvSpPr txBox="1"/>
              <p:nvPr/>
            </p:nvSpPr>
            <p:spPr>
              <a:xfrm>
                <a:off x="270560" y="6351705"/>
                <a:ext cx="7003007"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请注意，增添在损失函数上的项前的</a:t>
                </a:r>
                <a:r>
                  <a:rPr lang="zh-CN" altLang="en-US" dirty="0">
                    <a:solidFill>
                      <a:srgbClr val="C00000"/>
                    </a:solidFill>
                    <a:latin typeface="微软雅黑" panose="020B0503020204020204" pitchFamily="34" charset="-122"/>
                    <a:ea typeface="微软雅黑" panose="020B0503020204020204" pitchFamily="34" charset="-122"/>
                  </a:rPr>
                  <a:t>系数值</a:t>
                </a:r>
                <a14:m>
                  <m:oMath xmlns:m="http://schemas.openxmlformats.org/officeDocument/2006/math">
                    <m:r>
                      <a:rPr lang="zh-CN" altLang="en-US" i="1" smtClean="0">
                        <a:solidFill>
                          <a:srgbClr val="C00000"/>
                        </a:solidFill>
                        <a:latin typeface="Cambria Math" panose="02040503050406030204" pitchFamily="18" charset="0"/>
                        <a:ea typeface="微软雅黑" panose="020B0503020204020204" pitchFamily="34" charset="-122"/>
                      </a:rPr>
                      <m:t>𝜆</m:t>
                    </m:r>
                  </m:oMath>
                </a14:m>
                <a:r>
                  <a:rPr lang="zh-CN" altLang="en-US" dirty="0">
                    <a:latin typeface="微软雅黑" panose="020B0503020204020204" pitchFamily="34" charset="-122"/>
                    <a:ea typeface="微软雅黑" panose="020B0503020204020204" pitchFamily="34" charset="-122"/>
                  </a:rPr>
                  <a:t>需要根据实际情况确定</a:t>
                </a:r>
              </a:p>
            </p:txBody>
          </p:sp>
        </mc:Choice>
        <mc:Fallback xmlns="">
          <p:sp>
            <p:nvSpPr>
              <p:cNvPr id="13" name="文本框 12">
                <a:extLst>
                  <a:ext uri="{FF2B5EF4-FFF2-40B4-BE49-F238E27FC236}">
                    <a16:creationId xmlns:a16="http://schemas.microsoft.com/office/drawing/2014/main" id="{63F29915-1286-4D61-BAB5-AF60609402B6}"/>
                  </a:ext>
                </a:extLst>
              </p:cNvPr>
              <p:cNvSpPr txBox="1">
                <a:spLocks noRot="1" noChangeAspect="1" noMove="1" noResize="1" noEditPoints="1" noAdjustHandles="1" noChangeArrowheads="1" noChangeShapeType="1" noTextEdit="1"/>
              </p:cNvSpPr>
              <p:nvPr/>
            </p:nvSpPr>
            <p:spPr>
              <a:xfrm>
                <a:off x="270560" y="6351705"/>
                <a:ext cx="7003007" cy="369332"/>
              </a:xfrm>
              <a:prstGeom prst="rect">
                <a:avLst/>
              </a:prstGeom>
              <a:blipFill>
                <a:blip r:embed="rId5"/>
                <a:stretch>
                  <a:fillRect l="-696" t="-9836" r="-87" b="-24590"/>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9D1962C2-C02F-43D4-98B4-D21D47C40523}"/>
              </a:ext>
            </a:extLst>
          </p:cNvPr>
          <p:cNvSpPr txBox="1"/>
          <p:nvPr/>
        </p:nvSpPr>
        <p:spPr>
          <a:xfrm>
            <a:off x="254392" y="5549743"/>
            <a:ext cx="1361270" cy="369332"/>
          </a:xfrm>
          <a:prstGeom prst="rect">
            <a:avLst/>
          </a:prstGeom>
          <a:noFill/>
        </p:spPr>
        <p:txBody>
          <a:bodyPr wrap="none" rtlCol="0">
            <a:spAutoFit/>
          </a:bodyPr>
          <a:lstStyle/>
          <a:p>
            <a:r>
              <a:rPr lang="en-US" altLang="zh-CN" dirty="0">
                <a:latin typeface="微软雅黑" panose="020B0503020204020204" pitchFamily="34" charset="-122"/>
                <a:ea typeface="微软雅黑" panose="020B0503020204020204" pitchFamily="34" charset="-122"/>
              </a:rPr>
              <a:t>L2</a:t>
            </a:r>
            <a:r>
              <a:rPr lang="zh-CN" altLang="en-US" dirty="0">
                <a:latin typeface="微软雅黑" panose="020B0503020204020204" pitchFamily="34" charset="-122"/>
                <a:ea typeface="微软雅黑" panose="020B0503020204020204" pitchFamily="34" charset="-122"/>
              </a:rPr>
              <a:t>正则化：</a:t>
            </a:r>
          </a:p>
        </p:txBody>
      </p:sp>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631B539F-FB00-A802-5617-D72D2AEA5D88}"/>
                  </a:ext>
                </a:extLst>
              </p:cNvPr>
              <p:cNvSpPr txBox="1"/>
              <p:nvPr/>
            </p:nvSpPr>
            <p:spPr>
              <a:xfrm>
                <a:off x="2684797" y="2342102"/>
                <a:ext cx="6547424" cy="140609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400" i="1">
                          <a:latin typeface="Cambria Math" panose="02040503050406030204" pitchFamily="18" charset="0"/>
                        </a:rPr>
                        <m:t>g</m:t>
                      </m:r>
                      <m:d>
                        <m:dPr>
                          <m:ctrlPr>
                            <a:rPr lang="en-US" altLang="zh-CN" sz="2400" b="1" i="1">
                              <a:latin typeface="Cambria Math" panose="02040503050406030204" pitchFamily="18" charset="0"/>
                            </a:rPr>
                          </m:ctrlPr>
                        </m:dPr>
                        <m:e>
                          <m:r>
                            <a:rPr lang="zh-CN" altLang="en-US" sz="2400" b="1">
                              <a:latin typeface="Cambria Math" panose="02040503050406030204" pitchFamily="18" charset="0"/>
                            </a:rPr>
                            <m:t>𝛉</m:t>
                          </m:r>
                        </m:e>
                      </m:d>
                      <m:r>
                        <a:rPr lang="en-US" altLang="zh-CN" sz="2400" i="1">
                          <a:latin typeface="Cambria Math" panose="02040503050406030204" pitchFamily="18" charset="0"/>
                        </a:rPr>
                        <m:t>=</m:t>
                      </m:r>
                      <m:nary>
                        <m:naryPr>
                          <m:chr m:val="∑"/>
                          <m:ctrlPr>
                            <a:rPr lang="en-US" altLang="zh-CN" sz="2400" i="1">
                              <a:latin typeface="Cambria Math" panose="02040503050406030204" pitchFamily="18" charset="0"/>
                            </a:rPr>
                          </m:ctrlPr>
                        </m:naryPr>
                        <m:sub>
                          <m:r>
                            <m:rPr>
                              <m:brk m:alnAt="23"/>
                            </m:rPr>
                            <a:rPr lang="en-US" altLang="zh-CN" sz="2400" i="1">
                              <a:latin typeface="Cambria Math" panose="02040503050406030204" pitchFamily="18" charset="0"/>
                            </a:rPr>
                            <m:t>𝑖</m:t>
                          </m:r>
                          <m:r>
                            <a:rPr lang="en-US" altLang="zh-CN" sz="2400" i="1">
                              <a:latin typeface="Cambria Math" panose="02040503050406030204" pitchFamily="18" charset="0"/>
                            </a:rPr>
                            <m:t>=1</m:t>
                          </m:r>
                        </m:sub>
                        <m:sup>
                          <m:r>
                            <a:rPr lang="en-US" altLang="zh-CN" sz="2400" i="1">
                              <a:latin typeface="Cambria Math" panose="02040503050406030204" pitchFamily="18" charset="0"/>
                            </a:rPr>
                            <m:t>𝑛</m:t>
                          </m:r>
                        </m:sup>
                        <m:e>
                          <m:sSup>
                            <m:sSupPr>
                              <m:ctrlPr>
                                <a:rPr lang="en-US" altLang="zh-CN" sz="2400" i="1">
                                  <a:latin typeface="Cambria Math" panose="02040503050406030204" pitchFamily="18" charset="0"/>
                                </a:rPr>
                              </m:ctrlPr>
                            </m:sSupPr>
                            <m:e>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𝑦</m:t>
                                      </m:r>
                                    </m:e>
                                    <m:sub>
                                      <m:r>
                                        <a:rPr lang="en-US" altLang="zh-CN" sz="2400" i="1">
                                          <a:latin typeface="Cambria Math" panose="02040503050406030204" pitchFamily="18" charset="0"/>
                                        </a:rPr>
                                        <m:t>𝑖</m:t>
                                      </m:r>
                                    </m:sub>
                                  </m:sSub>
                                  <m:r>
                                    <a:rPr lang="en-US" altLang="zh-CN" sz="2400" i="1">
                                      <a:latin typeface="Cambria Math" panose="02040503050406030204" pitchFamily="18" charset="0"/>
                                    </a:rPr>
                                    <m:t>−</m:t>
                                  </m:r>
                                  <m:r>
                                    <a:rPr lang="en-US" altLang="zh-CN" sz="2400" i="1">
                                      <a:latin typeface="Cambria Math" panose="02040503050406030204" pitchFamily="18" charset="0"/>
                                    </a:rPr>
                                    <m:t>𝑦</m:t>
                                  </m:r>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𝑖</m:t>
                                          </m:r>
                                        </m:sub>
                                      </m:sSub>
                                    </m:e>
                                  </m:d>
                                </m:e>
                              </m:d>
                            </m:e>
                            <m:sup>
                              <m:r>
                                <a:rPr lang="en-US" altLang="zh-CN" sz="2400" i="1">
                                  <a:latin typeface="Cambria Math" panose="02040503050406030204" pitchFamily="18" charset="0"/>
                                </a:rPr>
                                <m:t>2</m:t>
                              </m:r>
                            </m:sup>
                          </m:sSup>
                        </m:e>
                      </m:nary>
                      <m:r>
                        <a:rPr lang="en-US" altLang="zh-CN" sz="2400" b="0" i="1" smtClean="0">
                          <a:latin typeface="Cambria Math" panose="02040503050406030204" pitchFamily="18" charset="0"/>
                        </a:rPr>
                        <m:t>+</m:t>
                      </m:r>
                      <m:nary>
                        <m:naryPr>
                          <m:chr m:val="∑"/>
                          <m:ctrlPr>
                            <a:rPr lang="en-US" altLang="zh-CN" sz="2400" b="0" i="1" smtClean="0">
                              <a:solidFill>
                                <a:srgbClr val="C00000"/>
                              </a:solidFill>
                              <a:latin typeface="Cambria Math" panose="02040503050406030204" pitchFamily="18" charset="0"/>
                            </a:rPr>
                          </m:ctrlPr>
                        </m:naryPr>
                        <m:sub>
                          <m:r>
                            <m:rPr>
                              <m:brk m:alnAt="23"/>
                            </m:rPr>
                            <a:rPr lang="en-US" altLang="zh-CN" sz="2400" b="0" i="1" smtClean="0">
                              <a:solidFill>
                                <a:srgbClr val="C00000"/>
                              </a:solidFill>
                              <a:latin typeface="Cambria Math" panose="02040503050406030204" pitchFamily="18" charset="0"/>
                            </a:rPr>
                            <m:t>𝑖</m:t>
                          </m:r>
                          <m:r>
                            <a:rPr lang="en-US" altLang="zh-CN" sz="2400" b="0" i="1" smtClean="0">
                              <a:solidFill>
                                <a:srgbClr val="C00000"/>
                              </a:solidFill>
                              <a:latin typeface="Cambria Math" panose="02040503050406030204" pitchFamily="18" charset="0"/>
                            </a:rPr>
                            <m:t>=1</m:t>
                          </m:r>
                        </m:sub>
                        <m:sup>
                          <m:r>
                            <a:rPr lang="en-US" altLang="zh-CN" sz="2400" b="0" i="1" smtClean="0">
                              <a:solidFill>
                                <a:srgbClr val="C00000"/>
                              </a:solidFill>
                              <a:latin typeface="Cambria Math" panose="02040503050406030204" pitchFamily="18" charset="0"/>
                            </a:rPr>
                            <m:t>4</m:t>
                          </m:r>
                        </m:sup>
                        <m:e>
                          <m:r>
                            <a:rPr lang="zh-CN" altLang="en-US" sz="2400" b="0" i="1" smtClean="0">
                              <a:solidFill>
                                <a:srgbClr val="C00000"/>
                              </a:solidFill>
                              <a:latin typeface="Cambria Math" panose="02040503050406030204" pitchFamily="18" charset="0"/>
                            </a:rPr>
                            <m:t>𝜆</m:t>
                          </m:r>
                          <m:d>
                            <m:dPr>
                              <m:begChr m:val="|"/>
                              <m:endChr m:val="|"/>
                              <m:ctrlPr>
                                <a:rPr lang="en-US" altLang="zh-CN" sz="2400" b="0" i="1" smtClean="0">
                                  <a:solidFill>
                                    <a:srgbClr val="C00000"/>
                                  </a:solidFill>
                                  <a:latin typeface="Cambria Math" panose="02040503050406030204" pitchFamily="18" charset="0"/>
                                </a:rPr>
                              </m:ctrlPr>
                            </m:dPr>
                            <m:e>
                              <m:sSub>
                                <m:sSubPr>
                                  <m:ctrlPr>
                                    <a:rPr lang="en-US" altLang="zh-CN" sz="2400" b="0" i="1" smtClean="0">
                                      <a:solidFill>
                                        <a:srgbClr val="C00000"/>
                                      </a:solidFill>
                                      <a:latin typeface="Cambria Math" panose="02040503050406030204" pitchFamily="18" charset="0"/>
                                    </a:rPr>
                                  </m:ctrlPr>
                                </m:sSubPr>
                                <m:e>
                                  <m:r>
                                    <a:rPr lang="zh-CN" altLang="en-US" sz="2400" b="0" i="1" smtClean="0">
                                      <a:solidFill>
                                        <a:srgbClr val="C00000"/>
                                      </a:solidFill>
                                      <a:latin typeface="Cambria Math" panose="02040503050406030204" pitchFamily="18" charset="0"/>
                                    </a:rPr>
                                    <m:t>𝜃</m:t>
                                  </m:r>
                                </m:e>
                                <m:sub>
                                  <m:r>
                                    <a:rPr lang="en-US" altLang="zh-CN" sz="2400" b="0" i="1" smtClean="0">
                                      <a:solidFill>
                                        <a:srgbClr val="C00000"/>
                                      </a:solidFill>
                                      <a:latin typeface="Cambria Math" panose="02040503050406030204" pitchFamily="18" charset="0"/>
                                    </a:rPr>
                                    <m:t>𝑖</m:t>
                                  </m:r>
                                </m:sub>
                              </m:sSub>
                            </m:e>
                          </m:d>
                        </m:e>
                      </m:nary>
                    </m:oMath>
                  </m:oMathPara>
                </a14:m>
                <a:endParaRPr lang="zh-CN" altLang="en-US" sz="2400" dirty="0"/>
              </a:p>
              <a:p>
                <a:endParaRPr lang="zh-CN" altLang="en-US" sz="2400" dirty="0"/>
              </a:p>
            </p:txBody>
          </p:sp>
        </mc:Choice>
        <mc:Fallback xmlns="">
          <p:sp>
            <p:nvSpPr>
              <p:cNvPr id="39" name="文本框 38">
                <a:extLst>
                  <a:ext uri="{FF2B5EF4-FFF2-40B4-BE49-F238E27FC236}">
                    <a16:creationId xmlns:a16="http://schemas.microsoft.com/office/drawing/2014/main" id="{631B539F-FB00-A802-5617-D72D2AEA5D88}"/>
                  </a:ext>
                </a:extLst>
              </p:cNvPr>
              <p:cNvSpPr txBox="1">
                <a:spLocks noRot="1" noChangeAspect="1" noMove="1" noResize="1" noEditPoints="1" noAdjustHandles="1" noChangeArrowheads="1" noChangeShapeType="1" noTextEdit="1"/>
              </p:cNvSpPr>
              <p:nvPr/>
            </p:nvSpPr>
            <p:spPr>
              <a:xfrm>
                <a:off x="2684797" y="2342102"/>
                <a:ext cx="6547424" cy="1406091"/>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715628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47</a:t>
            </a:fld>
            <a:endParaRPr lang="en-US" altLang="zh-CN"/>
          </a:p>
        </p:txBody>
      </p:sp>
      <p:sp>
        <p:nvSpPr>
          <p:cNvPr id="9"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731974"/>
          </a:xfrm>
        </p:spPr>
        <p:txBody>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正则化</a:t>
            </a:r>
            <a:r>
              <a:rPr lang="zh-CN" altLang="en-US" sz="28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（阅读内容）</a:t>
            </a:r>
          </a:p>
        </p:txBody>
      </p:sp>
      <mc:AlternateContent xmlns:mc="http://schemas.openxmlformats.org/markup-compatibility/2006" xmlns:a14="http://schemas.microsoft.com/office/drawing/2010/main">
        <mc:Choice Requires="a14">
          <p:sp>
            <p:nvSpPr>
              <p:cNvPr id="5" name="文本框 4"/>
              <p:cNvSpPr txBox="1"/>
              <p:nvPr/>
            </p:nvSpPr>
            <p:spPr>
              <a:xfrm>
                <a:off x="384410" y="1172739"/>
                <a:ext cx="8371840" cy="5551841"/>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sym typeface="Arial" panose="020B0604020202020204" pitchFamily="34" charset="0"/>
                  </a:rPr>
                  <a:t>当模型的复杂度过高时，会导致过拟合，我们可以用正则化的方法来限制模型的复杂度。正则化的思想是</a:t>
                </a:r>
                <a:r>
                  <a:rPr lang="zh-CN" altLang="en-US" b="1" dirty="0">
                    <a:latin typeface="微软雅黑" panose="020B0503020204020204" pitchFamily="34" charset="-122"/>
                    <a:ea typeface="微软雅黑" panose="020B0503020204020204" pitchFamily="34" charset="-122"/>
                    <a:sym typeface="Arial" panose="020B0604020202020204" pitchFamily="34" charset="0"/>
                  </a:rPr>
                  <a:t>在模型的损失函数中添加一个惩罚项，从而使一部分系数的最优取值尽可能小，也就是弱化这些参数的作用</a:t>
                </a:r>
                <a:r>
                  <a:rPr lang="zh-CN" altLang="en-US" dirty="0">
                    <a:latin typeface="微软雅黑" panose="020B0503020204020204" pitchFamily="34" charset="-122"/>
                    <a:ea typeface="微软雅黑" panose="020B0503020204020204" pitchFamily="34" charset="-122"/>
                    <a:sym typeface="Arial" panose="020B0604020202020204" pitchFamily="34" charset="0"/>
                  </a:rPr>
                  <a:t>。</a:t>
                </a:r>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a:p>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a:p>
                <a:r>
                  <a:rPr lang="zh-CN" altLang="en-US" dirty="0">
                    <a:latin typeface="微软雅黑" panose="020B0503020204020204" pitchFamily="34" charset="-122"/>
                    <a:ea typeface="微软雅黑" panose="020B0503020204020204" pitchFamily="34" charset="-122"/>
                    <a:sym typeface="Arial" panose="020B0604020202020204" pitchFamily="34" charset="0"/>
                  </a:rPr>
                  <a:t>然而在实践中模型的输入维度往往很高，难以人工选取参数来进行惩罚，因此最常用的一种正则化方法是直接在损失函数中添加一个正则化项来限制所有参数。我们定义</a:t>
                </a:r>
                <a:r>
                  <a:rPr lang="zh-CN" altLang="en-US" b="1" dirty="0">
                    <a:latin typeface="微软雅黑" panose="020B0503020204020204" pitchFamily="34" charset="-122"/>
                    <a:ea typeface="微软雅黑" panose="020B0503020204020204" pitchFamily="34" charset="-122"/>
                    <a:sym typeface="Arial" panose="020B0604020202020204" pitchFamily="34" charset="0"/>
                  </a:rPr>
                  <a:t>结构风险</a:t>
                </a:r>
                <a:r>
                  <a:rPr lang="zh-CN" altLang="en-US" dirty="0">
                    <a:latin typeface="微软雅黑" panose="020B0503020204020204" pitchFamily="34" charset="-122"/>
                    <a:ea typeface="微软雅黑" panose="020B0503020204020204" pitchFamily="34" charset="-122"/>
                    <a:sym typeface="Arial" panose="020B0604020202020204" pitchFamily="34" charset="0"/>
                  </a:rPr>
                  <a:t>（</a:t>
                </a:r>
                <a:r>
                  <a:rPr lang="en-US" altLang="zh-CN" dirty="0">
                    <a:latin typeface="微软雅黑" panose="020B0503020204020204" pitchFamily="34" charset="-122"/>
                    <a:ea typeface="微软雅黑" panose="020B0503020204020204" pitchFamily="34" charset="-122"/>
                    <a:sym typeface="Arial" panose="020B0604020202020204" pitchFamily="34" charset="0"/>
                  </a:rPr>
                  <a:t>structural risk</a:t>
                </a:r>
                <a:r>
                  <a:rPr lang="zh-CN" altLang="en-US" dirty="0">
                    <a:latin typeface="微软雅黑" panose="020B0503020204020204" pitchFamily="34" charset="-122"/>
                    <a:ea typeface="微软雅黑" panose="020B0503020204020204" pitchFamily="34" charset="-122"/>
                    <a:sym typeface="Arial" panose="020B0604020202020204" pitchFamily="34" charset="0"/>
                  </a:rPr>
                  <a:t>）：</a:t>
                </a:r>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a:p>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a:p>
                <a:pPr lvl="0"/>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r>
                            <a:rPr lang="en-US" altLang="zh-CN">
                              <a:latin typeface="Cambria Math" panose="02040503050406030204" pitchFamily="18" charset="0"/>
                              <a:ea typeface="微软雅黑" panose="020B0503020204020204" pitchFamily="34" charset="-122"/>
                              <a:sym typeface="Arial" panose="020B0604020202020204" pitchFamily="34" charset="0"/>
                            </a:rPr>
                            <m:t>𝑅</m:t>
                          </m:r>
                        </m:e>
                        <m:sub>
                          <m:r>
                            <a:rPr lang="en-US" altLang="zh-CN">
                              <a:latin typeface="Cambria Math" panose="02040503050406030204" pitchFamily="18" charset="0"/>
                              <a:ea typeface="微软雅黑" panose="020B0503020204020204" pitchFamily="34" charset="-122"/>
                              <a:sym typeface="Arial" panose="020B0604020202020204" pitchFamily="34" charset="0"/>
                            </a:rPr>
                            <m:t>𝑠𝑡𝑟</m:t>
                          </m:r>
                        </m:sub>
                      </m:sSub>
                      <m:r>
                        <a:rPr lang="en-US" altLang="zh-CN">
                          <a:latin typeface="Cambria Math" panose="02040503050406030204" pitchFamily="18" charset="0"/>
                          <a:ea typeface="微软雅黑" panose="020B0503020204020204" pitchFamily="34" charset="-122"/>
                          <a:sym typeface="Arial" panose="020B0604020202020204" pitchFamily="34" charset="0"/>
                        </a:rPr>
                        <m:t>(</m:t>
                      </m:r>
                      <m:r>
                        <a:rPr lang="en-US" altLang="zh-CN">
                          <a:latin typeface="Cambria Math" panose="02040503050406030204" pitchFamily="18" charset="0"/>
                          <a:ea typeface="微软雅黑" panose="020B0503020204020204" pitchFamily="34" charset="-122"/>
                          <a:sym typeface="Arial" panose="020B0604020202020204" pitchFamily="34" charset="0"/>
                        </a:rPr>
                        <m:t>𝑓</m:t>
                      </m:r>
                      <m:r>
                        <a:rPr lang="en-US" altLang="zh-CN">
                          <a:latin typeface="Cambria Math" panose="02040503050406030204" pitchFamily="18" charset="0"/>
                          <a:ea typeface="微软雅黑" panose="020B0503020204020204" pitchFamily="34" charset="-122"/>
                          <a:sym typeface="Arial" panose="020B0604020202020204" pitchFamily="34" charset="0"/>
                        </a:rPr>
                        <m:t>)=</m:t>
                      </m:r>
                      <m:f>
                        <m:fPr>
                          <m:ctrlPr>
                            <a:rPr lang="en-US" altLang="zh-CN" i="1">
                              <a:latin typeface="Cambria Math" panose="02040503050406030204" pitchFamily="18" charset="0"/>
                              <a:ea typeface="微软雅黑" panose="020B0503020204020204" pitchFamily="34" charset="-122"/>
                              <a:sym typeface="Arial" panose="020B0604020202020204" pitchFamily="34" charset="0"/>
                            </a:rPr>
                          </m:ctrlPr>
                        </m:fPr>
                        <m:num>
                          <m:r>
                            <a:rPr lang="en-US" altLang="zh-CN">
                              <a:latin typeface="Cambria Math" panose="02040503050406030204" pitchFamily="18" charset="0"/>
                              <a:ea typeface="微软雅黑" panose="020B0503020204020204" pitchFamily="34" charset="-122"/>
                              <a:sym typeface="Arial" panose="020B0604020202020204" pitchFamily="34" charset="0"/>
                            </a:rPr>
                            <m:t>1</m:t>
                          </m:r>
                        </m:num>
                        <m:den>
                          <m:r>
                            <a:rPr lang="en-US" altLang="zh-CN">
                              <a:latin typeface="Cambria Math" panose="02040503050406030204" pitchFamily="18" charset="0"/>
                              <a:ea typeface="微软雅黑" panose="020B0503020204020204" pitchFamily="34" charset="-122"/>
                              <a:sym typeface="Arial" panose="020B0604020202020204" pitchFamily="34" charset="0"/>
                            </a:rPr>
                            <m:t>𝑚</m:t>
                          </m:r>
                        </m:den>
                      </m:f>
                      <m:nary>
                        <m:naryPr>
                          <m:chr m:val="∑"/>
                          <m:ctrlPr>
                            <a:rPr lang="en-US" altLang="zh-CN" i="1">
                              <a:latin typeface="Cambria Math" panose="02040503050406030204" pitchFamily="18" charset="0"/>
                              <a:ea typeface="微软雅黑" panose="020B0503020204020204" pitchFamily="34" charset="-122"/>
                              <a:sym typeface="Arial" panose="020B0604020202020204" pitchFamily="34" charset="0"/>
                            </a:rPr>
                          </m:ctrlPr>
                        </m:naryPr>
                        <m:sub>
                          <m:r>
                            <m:rPr>
                              <m:brk m:alnAt="23"/>
                            </m:rPr>
                            <a:rPr lang="en-US" altLang="zh-CN">
                              <a:latin typeface="Cambria Math" panose="02040503050406030204" pitchFamily="18" charset="0"/>
                              <a:ea typeface="微软雅黑" panose="020B0503020204020204" pitchFamily="34" charset="-122"/>
                              <a:sym typeface="Arial" panose="020B0604020202020204" pitchFamily="34" charset="0"/>
                            </a:rPr>
                            <m:t>𝑖</m:t>
                          </m:r>
                          <m:r>
                            <a:rPr lang="en-US" altLang="zh-CN">
                              <a:latin typeface="Cambria Math" panose="02040503050406030204" pitchFamily="18" charset="0"/>
                              <a:ea typeface="微软雅黑" panose="020B0503020204020204" pitchFamily="34" charset="-122"/>
                              <a:sym typeface="Arial" panose="020B0604020202020204" pitchFamily="34" charset="0"/>
                            </a:rPr>
                            <m:t>=1</m:t>
                          </m:r>
                        </m:sub>
                        <m:sup>
                          <m:r>
                            <a:rPr lang="en-US" altLang="zh-CN">
                              <a:latin typeface="Cambria Math" panose="02040503050406030204" pitchFamily="18" charset="0"/>
                              <a:ea typeface="微软雅黑" panose="020B0503020204020204" pitchFamily="34" charset="-122"/>
                              <a:sym typeface="Arial" panose="020B0604020202020204" pitchFamily="34" charset="0"/>
                            </a:rPr>
                            <m:t>𝑚</m:t>
                          </m:r>
                        </m:sup>
                        <m:e>
                          <m:r>
                            <a:rPr lang="en-US" altLang="zh-CN">
                              <a:latin typeface="Cambria Math" panose="02040503050406030204" pitchFamily="18" charset="0"/>
                              <a:ea typeface="微软雅黑" panose="020B0503020204020204" pitchFamily="34" charset="-122"/>
                              <a:sym typeface="Arial" panose="020B0604020202020204" pitchFamily="34" charset="0"/>
                            </a:rPr>
                            <m:t>ℒ</m:t>
                          </m:r>
                          <m:r>
                            <a:rPr lang="en-US" altLang="zh-CN">
                              <a:latin typeface="Cambria Math" panose="02040503050406030204" pitchFamily="18" charset="0"/>
                              <a:ea typeface="微软雅黑" panose="020B0503020204020204" pitchFamily="34" charset="-122"/>
                              <a:sym typeface="Arial" panose="020B0604020202020204" pitchFamily="34" charset="0"/>
                            </a:rPr>
                            <m:t>(</m:t>
                          </m:r>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r>
                                <a:rPr lang="en-US" altLang="zh-CN">
                                  <a:latin typeface="Cambria Math" panose="02040503050406030204" pitchFamily="18" charset="0"/>
                                  <a:ea typeface="微软雅黑" panose="020B0503020204020204" pitchFamily="34" charset="-122"/>
                                  <a:sym typeface="Arial" panose="020B0604020202020204" pitchFamily="34" charset="0"/>
                                </a:rPr>
                                <m:t>𝑦</m:t>
                              </m:r>
                            </m:e>
                            <m:sub>
                              <m:r>
                                <a:rPr lang="en-US" altLang="zh-CN">
                                  <a:latin typeface="Cambria Math" panose="02040503050406030204" pitchFamily="18" charset="0"/>
                                  <a:ea typeface="微软雅黑" panose="020B0503020204020204" pitchFamily="34" charset="-122"/>
                                  <a:sym typeface="Arial" panose="020B0604020202020204" pitchFamily="34" charset="0"/>
                                </a:rPr>
                                <m:t>𝑖</m:t>
                              </m:r>
                            </m:sub>
                          </m:sSub>
                          <m:r>
                            <a:rPr lang="en-US" altLang="zh-CN">
                              <a:latin typeface="Cambria Math" panose="02040503050406030204" pitchFamily="18" charset="0"/>
                              <a:ea typeface="微软雅黑" panose="020B0503020204020204" pitchFamily="34" charset="-122"/>
                              <a:sym typeface="Arial" panose="020B0604020202020204" pitchFamily="34" charset="0"/>
                            </a:rPr>
                            <m:t>,</m:t>
                          </m:r>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r>
                                <a:rPr lang="en-US" altLang="zh-CN">
                                  <a:latin typeface="Cambria Math" panose="02040503050406030204" pitchFamily="18" charset="0"/>
                                  <a:ea typeface="微软雅黑" panose="020B0503020204020204" pitchFamily="34" charset="-122"/>
                                  <a:sym typeface="Arial" panose="020B0604020202020204" pitchFamily="34" charset="0"/>
                                </a:rPr>
                                <m:t>𝑓</m:t>
                              </m:r>
                              <m:r>
                                <a:rPr lang="en-US" altLang="zh-CN">
                                  <a:latin typeface="Cambria Math" panose="02040503050406030204" pitchFamily="18" charset="0"/>
                                  <a:ea typeface="微软雅黑" panose="020B0503020204020204" pitchFamily="34" charset="-122"/>
                                  <a:sym typeface="Arial" panose="020B0604020202020204" pitchFamily="34" charset="0"/>
                                </a:rPr>
                                <m:t>(</m:t>
                              </m:r>
                              <m:r>
                                <a:rPr lang="en-US" altLang="zh-CN">
                                  <a:latin typeface="Cambria Math" panose="02040503050406030204" pitchFamily="18" charset="0"/>
                                  <a:ea typeface="微软雅黑" panose="020B0503020204020204" pitchFamily="34" charset="-122"/>
                                  <a:sym typeface="Arial" panose="020B0604020202020204" pitchFamily="34" charset="0"/>
                                </a:rPr>
                                <m:t>𝑥</m:t>
                              </m:r>
                            </m:e>
                            <m:sub>
                              <m:r>
                                <a:rPr lang="en-US" altLang="zh-CN">
                                  <a:latin typeface="Cambria Math" panose="02040503050406030204" pitchFamily="18" charset="0"/>
                                  <a:ea typeface="微软雅黑" panose="020B0503020204020204" pitchFamily="34" charset="-122"/>
                                  <a:sym typeface="Arial" panose="020B0604020202020204" pitchFamily="34" charset="0"/>
                                </a:rPr>
                                <m:t>𝑖</m:t>
                              </m:r>
                            </m:sub>
                          </m:sSub>
                          <m:r>
                            <a:rPr lang="en-US" altLang="zh-CN">
                              <a:latin typeface="Cambria Math" panose="02040503050406030204" pitchFamily="18" charset="0"/>
                              <a:ea typeface="微软雅黑" panose="020B0503020204020204" pitchFamily="34" charset="-122"/>
                              <a:sym typeface="Arial" panose="020B0604020202020204" pitchFamily="34" charset="0"/>
                            </a:rPr>
                            <m:t>))</m:t>
                          </m:r>
                        </m:e>
                      </m:nary>
                      <m:r>
                        <a:rPr lang="en-US" altLang="zh-CN">
                          <a:latin typeface="Cambria Math" panose="02040503050406030204" pitchFamily="18" charset="0"/>
                          <a:ea typeface="微软雅黑" panose="020B0503020204020204" pitchFamily="34" charset="-122"/>
                          <a:sym typeface="Arial" panose="020B0604020202020204" pitchFamily="34" charset="0"/>
                        </a:rPr>
                        <m:t>+</m:t>
                      </m:r>
                      <m:r>
                        <a:rPr lang="zh-CN" altLang="en-US">
                          <a:latin typeface="Cambria Math" panose="02040503050406030204" pitchFamily="18" charset="0"/>
                          <a:ea typeface="微软雅黑" panose="020B0503020204020204" pitchFamily="34" charset="-122"/>
                          <a:sym typeface="Arial" panose="020B0604020202020204" pitchFamily="34" charset="0"/>
                        </a:rPr>
                        <m:t>𝜆</m:t>
                      </m:r>
                      <m:r>
                        <a:rPr lang="en-US" altLang="zh-CN">
                          <a:latin typeface="Cambria Math" panose="02040503050406030204" pitchFamily="18" charset="0"/>
                          <a:ea typeface="微软雅黑" panose="020B0503020204020204" pitchFamily="34" charset="-122"/>
                          <a:sym typeface="Arial" panose="020B0604020202020204" pitchFamily="34" charset="0"/>
                        </a:rPr>
                        <m:t>𝐽</m:t>
                      </m:r>
                      <m:r>
                        <a:rPr lang="en-US" altLang="zh-CN">
                          <a:latin typeface="Cambria Math" panose="02040503050406030204" pitchFamily="18" charset="0"/>
                          <a:ea typeface="微软雅黑" panose="020B0503020204020204" pitchFamily="34" charset="-122"/>
                          <a:sym typeface="Arial" panose="020B0604020202020204" pitchFamily="34" charset="0"/>
                        </a:rPr>
                        <m:t>(</m:t>
                      </m:r>
                      <m:r>
                        <a:rPr lang="en-US" altLang="zh-CN">
                          <a:latin typeface="Cambria Math" panose="02040503050406030204" pitchFamily="18" charset="0"/>
                          <a:ea typeface="微软雅黑" panose="020B0503020204020204" pitchFamily="34" charset="-122"/>
                          <a:sym typeface="Arial" panose="020B0604020202020204" pitchFamily="34" charset="0"/>
                        </a:rPr>
                        <m:t>𝑓</m:t>
                      </m:r>
                      <m:r>
                        <a:rPr lang="en-US" altLang="zh-CN">
                          <a:latin typeface="Cambria Math" panose="02040503050406030204" pitchFamily="18" charset="0"/>
                          <a:ea typeface="微软雅黑" panose="020B0503020204020204" pitchFamily="34" charset="-122"/>
                          <a:sym typeface="Arial" panose="020B0604020202020204" pitchFamily="34" charset="0"/>
                        </a:rPr>
                        <m:t>)</m:t>
                      </m:r>
                    </m:oMath>
                  </m:oMathPara>
                </a14:m>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其中</a:t>
                </a:r>
                <a14:m>
                  <m:oMath xmlns:m="http://schemas.openxmlformats.org/officeDocument/2006/math">
                    <m:r>
                      <a:rPr lang="en-US" altLang="zh-CN">
                        <a:latin typeface="Cambria Math" panose="02040503050406030204" pitchFamily="18" charset="0"/>
                        <a:ea typeface="微软雅黑" panose="020B0503020204020204" pitchFamily="34" charset="-122"/>
                        <a:sym typeface="Arial" panose="020B0604020202020204" pitchFamily="34" charset="0"/>
                      </a:rPr>
                      <m:t>𝐽</m:t>
                    </m:r>
                    <m:r>
                      <a:rPr lang="en-US" altLang="zh-CN">
                        <a:latin typeface="Cambria Math" panose="02040503050406030204" pitchFamily="18" charset="0"/>
                        <a:ea typeface="微软雅黑" panose="020B0503020204020204" pitchFamily="34" charset="-122"/>
                        <a:sym typeface="Arial" panose="020B0604020202020204" pitchFamily="34" charset="0"/>
                      </a:rPr>
                      <m:t>(</m:t>
                    </m:r>
                    <m:r>
                      <a:rPr lang="en-US" altLang="zh-CN">
                        <a:latin typeface="Cambria Math" panose="02040503050406030204" pitchFamily="18" charset="0"/>
                        <a:ea typeface="微软雅黑" panose="020B0503020204020204" pitchFamily="34" charset="-122"/>
                        <a:sym typeface="Arial" panose="020B0604020202020204" pitchFamily="34" charset="0"/>
                      </a:rPr>
                      <m:t>𝑓</m:t>
                    </m:r>
                    <m:r>
                      <a:rPr lang="en-US" altLang="zh-CN">
                        <a:latin typeface="Cambria Math" panose="02040503050406030204" pitchFamily="18" charset="0"/>
                        <a:ea typeface="微软雅黑" panose="020B0503020204020204" pitchFamily="34" charset="-122"/>
                        <a:sym typeface="Arial" panose="020B0604020202020204" pitchFamily="34" charset="0"/>
                      </a:rPr>
                      <m:t>)</m:t>
                    </m:r>
                  </m:oMath>
                </a14:m>
                <a:r>
                  <a:rPr lang="zh-CN" altLang="en-US" dirty="0">
                    <a:latin typeface="微软雅黑" panose="020B0503020204020204" pitchFamily="34" charset="-122"/>
                    <a:ea typeface="微软雅黑" panose="020B0503020204020204" pitchFamily="34" charset="-122"/>
                  </a:rPr>
                  <a:t>表示模型的复杂度，</a:t>
                </a:r>
                <a14:m>
                  <m:oMath xmlns:m="http://schemas.openxmlformats.org/officeDocument/2006/math">
                    <m:r>
                      <a:rPr lang="zh-CN" altLang="en-US">
                        <a:latin typeface="Cambria Math" panose="02040503050406030204" pitchFamily="18" charset="0"/>
                        <a:ea typeface="微软雅黑" panose="020B0503020204020204" pitchFamily="34" charset="-122"/>
                        <a:sym typeface="Arial" panose="020B0604020202020204" pitchFamily="34" charset="0"/>
                      </a:rPr>
                      <m:t>𝜆</m:t>
                    </m:r>
                  </m:oMath>
                </a14:m>
                <a:r>
                  <a:rPr lang="zh-CN" altLang="en-US" dirty="0">
                    <a:latin typeface="微软雅黑" panose="020B0503020204020204" pitchFamily="34" charset="-122"/>
                    <a:ea typeface="微软雅黑" panose="020B0503020204020204" pitchFamily="34" charset="-122"/>
                  </a:rPr>
                  <a:t>大于</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表示对复杂模型的惩罚力度。正则化就是，用结构风险最小化（</a:t>
                </a:r>
                <a:r>
                  <a:rPr lang="en-US" altLang="zh-CN" dirty="0">
                    <a:latin typeface="微软雅黑" panose="020B0503020204020204" pitchFamily="34" charset="-122"/>
                    <a:ea typeface="微软雅黑" panose="020B0503020204020204" pitchFamily="34" charset="-122"/>
                  </a:rPr>
                  <a:t>structural risk minimization, SRM</a:t>
                </a:r>
                <a:r>
                  <a:rPr lang="zh-CN" altLang="en-US" dirty="0">
                    <a:latin typeface="微软雅黑" panose="020B0503020204020204" pitchFamily="34" charset="-122"/>
                    <a:ea typeface="微软雅黑" panose="020B0503020204020204" pitchFamily="34" charset="-122"/>
                  </a:rPr>
                  <a:t>）来替代损失函数作为模型优化的目标方程</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模型复杂度最常用的度量方法是参数向量的</a:t>
                </a:r>
                <a14:m>
                  <m:oMath xmlns:m="http://schemas.openxmlformats.org/officeDocument/2006/math">
                    <m:sSub>
                      <m:sSubPr>
                        <m:ctrlPr>
                          <a:rPr lang="en-US" altLang="zh-CN"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𝐿</m:t>
                        </m:r>
                      </m:e>
                      <m:sub>
                        <m:r>
                          <a:rPr lang="en-US" altLang="zh-CN" b="0" i="1" smtClean="0">
                            <a:latin typeface="Cambria Math" panose="02040503050406030204" pitchFamily="18" charset="0"/>
                            <a:ea typeface="微软雅黑" panose="020B0503020204020204" pitchFamily="34" charset="-122"/>
                          </a:rPr>
                          <m:t>𝑝</m:t>
                        </m:r>
                      </m:sub>
                    </m:sSub>
                  </m:oMath>
                </a14:m>
                <a:r>
                  <a:rPr lang="zh-CN" altLang="en-US" dirty="0">
                    <a:latin typeface="微软雅黑" panose="020B0503020204020204" pitchFamily="34" charset="-122"/>
                    <a:ea typeface="微软雅黑" panose="020B0503020204020204" pitchFamily="34" charset="-122"/>
                  </a:rPr>
                  <a:t>范数，对于向量</a:t>
                </a:r>
                <a:r>
                  <a:rPr lang="en-US" altLang="zh-CN" dirty="0">
                    <a:latin typeface="微软雅黑" panose="020B0503020204020204" pitchFamily="34" charset="-122"/>
                    <a:ea typeface="微软雅黑" panose="020B0503020204020204" pitchFamily="34" charset="-122"/>
                  </a:rPr>
                  <a:t>x</a:t>
                </a:r>
                <a:r>
                  <a:rPr lang="zh-CN" altLang="en-US" dirty="0">
                    <a:latin typeface="微软雅黑" panose="020B0503020204020204" pitchFamily="34" charset="-122"/>
                    <a:ea typeface="微软雅黑" panose="020B0503020204020204" pitchFamily="34" charset="-122"/>
                  </a:rPr>
                  <a:t>，其</a:t>
                </a:r>
                <a14:m>
                  <m:oMath xmlns:m="http://schemas.openxmlformats.org/officeDocument/2006/math">
                    <m:sSub>
                      <m:sSubPr>
                        <m:ctrlPr>
                          <a:rPr lang="en-US" altLang="zh-CN" b="1" i="1">
                            <a:latin typeface="Cambria Math" panose="02040503050406030204" pitchFamily="18" charset="0"/>
                            <a:ea typeface="微软雅黑" panose="020B0503020204020204" pitchFamily="34" charset="-122"/>
                          </a:rPr>
                        </m:ctrlPr>
                      </m:sSubPr>
                      <m:e>
                        <m:r>
                          <a:rPr lang="en-US" altLang="zh-CN" b="1" i="1">
                            <a:latin typeface="Cambria Math" panose="02040503050406030204" pitchFamily="18" charset="0"/>
                            <a:ea typeface="微软雅黑" panose="020B0503020204020204" pitchFamily="34" charset="-122"/>
                          </a:rPr>
                          <m:t>𝑳</m:t>
                        </m:r>
                      </m:e>
                      <m:sub>
                        <m:r>
                          <a:rPr lang="en-US" altLang="zh-CN" b="1" i="1">
                            <a:latin typeface="Cambria Math" panose="02040503050406030204" pitchFamily="18" charset="0"/>
                            <a:ea typeface="微软雅黑" panose="020B0503020204020204" pitchFamily="34" charset="-122"/>
                          </a:rPr>
                          <m:t>𝒑</m:t>
                        </m:r>
                      </m:sub>
                    </m:sSub>
                  </m:oMath>
                </a14:m>
                <a:r>
                  <a:rPr lang="zh-CN" altLang="en-US" b="1" dirty="0">
                    <a:latin typeface="微软雅黑" panose="020B0503020204020204" pitchFamily="34" charset="-122"/>
                    <a:ea typeface="微软雅黑" panose="020B0503020204020204" pitchFamily="34" charset="-122"/>
                  </a:rPr>
                  <a:t>范数</a:t>
                </a:r>
                <a:r>
                  <a:rPr lang="zh-CN" altLang="en-US" dirty="0">
                    <a:latin typeface="微软雅黑" panose="020B0503020204020204" pitchFamily="34" charset="-122"/>
                    <a:ea typeface="微软雅黑" panose="020B0503020204020204" pitchFamily="34" charset="-122"/>
                  </a:rPr>
                  <a:t>由下式给出：</a:t>
                </a:r>
                <a:endParaRPr lang="en-US" altLang="zh-CN" dirty="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rPr>
                          </m:ctrlPr>
                        </m:sSubPr>
                        <m:e>
                          <m:r>
                            <a:rPr lang="en-US" altLang="zh-CN" i="1">
                              <a:solidFill>
                                <a:srgbClr val="000000"/>
                              </a:solidFill>
                              <a:latin typeface="Cambria Math" panose="02040503050406030204" pitchFamily="18" charset="0"/>
                              <a:ea typeface="微软雅黑" panose="020B0503020204020204" pitchFamily="34" charset="-122"/>
                            </a:rPr>
                            <m:t>𝐿</m:t>
                          </m:r>
                        </m:e>
                        <m:sub>
                          <m:r>
                            <a:rPr lang="en-US" altLang="zh-CN" i="1">
                              <a:solidFill>
                                <a:srgbClr val="000000"/>
                              </a:solidFill>
                              <a:latin typeface="Cambria Math" panose="02040503050406030204" pitchFamily="18" charset="0"/>
                              <a:ea typeface="微软雅黑" panose="020B0503020204020204" pitchFamily="34" charset="-122"/>
                            </a:rPr>
                            <m:t>𝑝</m:t>
                          </m:r>
                        </m:sub>
                      </m:sSub>
                      <m:d>
                        <m:dPr>
                          <m:ctrlPr>
                            <a:rPr lang="en-US" altLang="zh-CN" b="0" i="1" smtClean="0">
                              <a:solidFill>
                                <a:srgbClr val="000000"/>
                              </a:solidFill>
                              <a:latin typeface="Cambria Math" panose="02040503050406030204" pitchFamily="18" charset="0"/>
                              <a:ea typeface="微软雅黑" panose="020B0503020204020204" pitchFamily="34" charset="-122"/>
                            </a:rPr>
                          </m:ctrlPr>
                        </m:dPr>
                        <m:e>
                          <m:r>
                            <a:rPr lang="en-US" altLang="zh-CN" b="0" i="1" smtClean="0">
                              <a:solidFill>
                                <a:srgbClr val="000000"/>
                              </a:solidFill>
                              <a:latin typeface="Cambria Math" panose="02040503050406030204" pitchFamily="18" charset="0"/>
                              <a:ea typeface="微软雅黑" panose="020B0503020204020204" pitchFamily="34" charset="-122"/>
                            </a:rPr>
                            <m:t>𝑥</m:t>
                          </m:r>
                        </m:e>
                      </m:d>
                      <m:r>
                        <a:rPr lang="en-US" altLang="zh-CN" b="0" i="1" smtClean="0">
                          <a:solidFill>
                            <a:srgbClr val="000000"/>
                          </a:solidFill>
                          <a:latin typeface="Cambria Math" panose="02040503050406030204" pitchFamily="18" charset="0"/>
                          <a:ea typeface="微软雅黑" panose="020B0503020204020204" pitchFamily="34" charset="-122"/>
                        </a:rPr>
                        <m:t>=</m:t>
                      </m:r>
                      <m:sSub>
                        <m:sSubPr>
                          <m:ctrlPr>
                            <a:rPr lang="en-US" altLang="zh-CN" b="0" i="1" smtClean="0">
                              <a:solidFill>
                                <a:srgbClr val="000000"/>
                              </a:solidFill>
                              <a:latin typeface="Cambria Math" panose="02040503050406030204" pitchFamily="18" charset="0"/>
                              <a:ea typeface="微软雅黑" panose="020B0503020204020204" pitchFamily="34" charset="-122"/>
                            </a:rPr>
                          </m:ctrlPr>
                        </m:sSubPr>
                        <m:e>
                          <m:d>
                            <m:dPr>
                              <m:begChr m:val="‖"/>
                              <m:endChr m:val="‖"/>
                              <m:ctrlPr>
                                <a:rPr lang="en-US" altLang="zh-CN" b="0" i="1" smtClean="0">
                                  <a:solidFill>
                                    <a:srgbClr val="000000"/>
                                  </a:solidFill>
                                  <a:latin typeface="Cambria Math" panose="02040503050406030204" pitchFamily="18" charset="0"/>
                                  <a:ea typeface="微软雅黑" panose="020B0503020204020204" pitchFamily="34" charset="-122"/>
                                </a:rPr>
                              </m:ctrlPr>
                            </m:dPr>
                            <m:e>
                              <m:r>
                                <a:rPr lang="en-US" altLang="zh-CN" b="0" i="1" smtClean="0">
                                  <a:solidFill>
                                    <a:srgbClr val="000000"/>
                                  </a:solidFill>
                                  <a:latin typeface="Cambria Math" panose="02040503050406030204" pitchFamily="18" charset="0"/>
                                  <a:ea typeface="微软雅黑" panose="020B0503020204020204" pitchFamily="34" charset="-122"/>
                                </a:rPr>
                                <m:t>𝑥</m:t>
                              </m:r>
                            </m:e>
                          </m:d>
                        </m:e>
                        <m:sub>
                          <m:r>
                            <a:rPr lang="en-US" altLang="zh-CN" b="0" i="1" smtClean="0">
                              <a:solidFill>
                                <a:srgbClr val="000000"/>
                              </a:solidFill>
                              <a:latin typeface="Cambria Math" panose="02040503050406030204" pitchFamily="18" charset="0"/>
                              <a:ea typeface="微软雅黑" panose="020B0503020204020204" pitchFamily="34" charset="-122"/>
                            </a:rPr>
                            <m:t>𝑝</m:t>
                          </m:r>
                        </m:sub>
                      </m:sSub>
                      <m:r>
                        <a:rPr lang="en-US" altLang="zh-CN" b="0" i="1" smtClean="0">
                          <a:solidFill>
                            <a:srgbClr val="000000"/>
                          </a:solidFill>
                          <a:latin typeface="Cambria Math" panose="02040503050406030204" pitchFamily="18" charset="0"/>
                          <a:ea typeface="微软雅黑" panose="020B0503020204020204" pitchFamily="34" charset="-122"/>
                        </a:rPr>
                        <m:t>=</m:t>
                      </m:r>
                      <m:sSup>
                        <m:sSupPr>
                          <m:ctrlPr>
                            <a:rPr lang="en-US" altLang="zh-CN" b="0" i="1" smtClean="0">
                              <a:solidFill>
                                <a:srgbClr val="000000"/>
                              </a:solidFill>
                              <a:latin typeface="Cambria Math" panose="02040503050406030204" pitchFamily="18" charset="0"/>
                              <a:ea typeface="微软雅黑" panose="020B0503020204020204" pitchFamily="34" charset="-122"/>
                            </a:rPr>
                          </m:ctrlPr>
                        </m:sSupPr>
                        <m:e>
                          <m:r>
                            <a:rPr lang="en-US" altLang="zh-CN" b="0" i="1" smtClean="0">
                              <a:solidFill>
                                <a:srgbClr val="000000"/>
                              </a:solidFill>
                              <a:latin typeface="Cambria Math" panose="02040503050406030204" pitchFamily="18" charset="0"/>
                              <a:ea typeface="微软雅黑" panose="020B0503020204020204" pitchFamily="34" charset="-122"/>
                            </a:rPr>
                            <m:t>(</m:t>
                          </m:r>
                          <m:nary>
                            <m:naryPr>
                              <m:chr m:val="∑"/>
                              <m:ctrlPr>
                                <a:rPr lang="en-US" altLang="zh-CN" b="0" i="1" smtClean="0">
                                  <a:solidFill>
                                    <a:srgbClr val="000000"/>
                                  </a:solidFill>
                                  <a:latin typeface="Cambria Math" panose="02040503050406030204" pitchFamily="18" charset="0"/>
                                  <a:ea typeface="微软雅黑" panose="020B0503020204020204" pitchFamily="34" charset="-122"/>
                                </a:rPr>
                              </m:ctrlPr>
                            </m:naryPr>
                            <m:sub>
                              <m:r>
                                <m:rPr>
                                  <m:brk m:alnAt="23"/>
                                </m:rPr>
                                <a:rPr lang="en-US" altLang="zh-CN" b="0" i="1" smtClean="0">
                                  <a:solidFill>
                                    <a:srgbClr val="000000"/>
                                  </a:solidFill>
                                  <a:latin typeface="Cambria Math" panose="02040503050406030204" pitchFamily="18" charset="0"/>
                                  <a:ea typeface="微软雅黑" panose="020B0503020204020204" pitchFamily="34" charset="-122"/>
                                </a:rPr>
                                <m:t>𝑖</m:t>
                              </m:r>
                              <m:r>
                                <a:rPr lang="en-US" altLang="zh-CN" b="0" i="1" smtClean="0">
                                  <a:solidFill>
                                    <a:srgbClr val="000000"/>
                                  </a:solidFill>
                                  <a:latin typeface="Cambria Math" panose="02040503050406030204" pitchFamily="18" charset="0"/>
                                  <a:ea typeface="微软雅黑" panose="020B0503020204020204" pitchFamily="34" charset="-122"/>
                                </a:rPr>
                                <m:t>=1</m:t>
                              </m:r>
                            </m:sub>
                            <m:sup>
                              <m:r>
                                <a:rPr lang="en-US" altLang="zh-CN" b="0" i="1" smtClean="0">
                                  <a:solidFill>
                                    <a:srgbClr val="000000"/>
                                  </a:solidFill>
                                  <a:latin typeface="Cambria Math" panose="02040503050406030204" pitchFamily="18" charset="0"/>
                                  <a:ea typeface="微软雅黑" panose="020B0503020204020204" pitchFamily="34" charset="-122"/>
                                </a:rPr>
                                <m:t>𝑚</m:t>
                              </m:r>
                            </m:sup>
                            <m:e>
                              <m:sSup>
                                <m:sSupPr>
                                  <m:ctrlPr>
                                    <a:rPr lang="en-US" altLang="zh-CN" b="0" i="1" smtClean="0">
                                      <a:solidFill>
                                        <a:srgbClr val="000000"/>
                                      </a:solidFill>
                                      <a:latin typeface="Cambria Math" panose="02040503050406030204" pitchFamily="18" charset="0"/>
                                      <a:ea typeface="微软雅黑" panose="020B0503020204020204" pitchFamily="34" charset="-122"/>
                                    </a:rPr>
                                  </m:ctrlPr>
                                </m:sSupPr>
                                <m:e>
                                  <m:d>
                                    <m:dPr>
                                      <m:begChr m:val="|"/>
                                      <m:endChr m:val="|"/>
                                      <m:ctrlPr>
                                        <a:rPr lang="en-US" altLang="zh-CN" b="0" i="1" smtClean="0">
                                          <a:solidFill>
                                            <a:srgbClr val="000000"/>
                                          </a:solidFill>
                                          <a:latin typeface="Cambria Math" panose="02040503050406030204" pitchFamily="18" charset="0"/>
                                          <a:ea typeface="微软雅黑" panose="020B0503020204020204" pitchFamily="34" charset="-122"/>
                                        </a:rPr>
                                      </m:ctrlPr>
                                    </m:dPr>
                                    <m:e>
                                      <m:sSub>
                                        <m:sSubPr>
                                          <m:ctrlPr>
                                            <a:rPr lang="en-US" altLang="zh-CN" b="0" i="1" smtClean="0">
                                              <a:solidFill>
                                                <a:srgbClr val="000000"/>
                                              </a:solidFill>
                                              <a:latin typeface="Cambria Math" panose="02040503050406030204" pitchFamily="18" charset="0"/>
                                              <a:ea typeface="微软雅黑" panose="020B0503020204020204" pitchFamily="34" charset="-122"/>
                                            </a:rPr>
                                          </m:ctrlPr>
                                        </m:sSubPr>
                                        <m:e>
                                          <m:r>
                                            <a:rPr lang="en-US" altLang="zh-CN" b="0" i="1" smtClean="0">
                                              <a:solidFill>
                                                <a:srgbClr val="000000"/>
                                              </a:solidFill>
                                              <a:latin typeface="Cambria Math" panose="02040503050406030204" pitchFamily="18" charset="0"/>
                                              <a:ea typeface="微软雅黑" panose="020B0503020204020204" pitchFamily="34" charset="-122"/>
                                            </a:rPr>
                                            <m:t>𝑥</m:t>
                                          </m:r>
                                        </m:e>
                                        <m:sub>
                                          <m:r>
                                            <a:rPr lang="en-US" altLang="zh-CN" b="0" i="1" smtClean="0">
                                              <a:solidFill>
                                                <a:srgbClr val="000000"/>
                                              </a:solidFill>
                                              <a:latin typeface="Cambria Math" panose="02040503050406030204" pitchFamily="18" charset="0"/>
                                              <a:ea typeface="微软雅黑" panose="020B0503020204020204" pitchFamily="34" charset="-122"/>
                                            </a:rPr>
                                            <m:t>𝑖</m:t>
                                          </m:r>
                                        </m:sub>
                                      </m:sSub>
                                    </m:e>
                                  </m:d>
                                </m:e>
                                <m:sup>
                                  <m:r>
                                    <a:rPr lang="en-US" altLang="zh-CN" b="0" i="1" smtClean="0">
                                      <a:solidFill>
                                        <a:srgbClr val="000000"/>
                                      </a:solidFill>
                                      <a:latin typeface="Cambria Math" panose="02040503050406030204" pitchFamily="18" charset="0"/>
                                      <a:ea typeface="微软雅黑" panose="020B0503020204020204" pitchFamily="34" charset="-122"/>
                                    </a:rPr>
                                    <m:t>𝑝</m:t>
                                  </m:r>
                                </m:sup>
                              </m:sSup>
                            </m:e>
                          </m:nary>
                          <m:r>
                            <a:rPr lang="en-US" altLang="zh-CN" b="0" i="1" smtClean="0">
                              <a:solidFill>
                                <a:srgbClr val="000000"/>
                              </a:solidFill>
                              <a:latin typeface="Cambria Math" panose="02040503050406030204" pitchFamily="18" charset="0"/>
                              <a:ea typeface="微软雅黑" panose="020B0503020204020204" pitchFamily="34" charset="-122"/>
                            </a:rPr>
                            <m:t>)</m:t>
                          </m:r>
                        </m:e>
                        <m:sup>
                          <m:f>
                            <m:fPr>
                              <m:ctrlPr>
                                <a:rPr lang="en-US" altLang="zh-CN" b="0" i="1" smtClean="0">
                                  <a:solidFill>
                                    <a:srgbClr val="000000"/>
                                  </a:solidFill>
                                  <a:latin typeface="Cambria Math" panose="02040503050406030204" pitchFamily="18" charset="0"/>
                                  <a:ea typeface="微软雅黑" panose="020B0503020204020204" pitchFamily="34" charset="-122"/>
                                </a:rPr>
                              </m:ctrlPr>
                            </m:fPr>
                            <m:num>
                              <m:r>
                                <a:rPr lang="en-US" altLang="zh-CN" b="0" i="1" smtClean="0">
                                  <a:solidFill>
                                    <a:srgbClr val="000000"/>
                                  </a:solidFill>
                                  <a:latin typeface="Cambria Math" panose="02040503050406030204" pitchFamily="18" charset="0"/>
                                  <a:ea typeface="微软雅黑" panose="020B0503020204020204" pitchFamily="34" charset="-122"/>
                                </a:rPr>
                                <m:t>1</m:t>
                              </m:r>
                            </m:num>
                            <m:den>
                              <m:r>
                                <a:rPr lang="en-US" altLang="zh-CN" b="0" i="1" smtClean="0">
                                  <a:solidFill>
                                    <a:srgbClr val="000000"/>
                                  </a:solidFill>
                                  <a:latin typeface="Cambria Math" panose="02040503050406030204" pitchFamily="18" charset="0"/>
                                  <a:ea typeface="微软雅黑" panose="020B0503020204020204" pitchFamily="34" charset="-122"/>
                                </a:rPr>
                                <m:t>𝑝</m:t>
                              </m:r>
                            </m:den>
                          </m:f>
                        </m:sup>
                      </m:sSup>
                    </m:oMath>
                  </m:oMathPara>
                </a14:m>
                <a:endParaRPr lang="en-US" altLang="zh-CN" dirty="0">
                  <a:latin typeface="微软雅黑" panose="020B0503020204020204" pitchFamily="34" charset="-122"/>
                  <a:ea typeface="微软雅黑" panose="020B0503020204020204" pitchFamily="34" charset="-122"/>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384410" y="1172739"/>
                <a:ext cx="8371840" cy="5551841"/>
              </a:xfrm>
              <a:prstGeom prst="rect">
                <a:avLst/>
              </a:prstGeom>
              <a:blipFill>
                <a:blip r:embed="rId3"/>
                <a:stretch>
                  <a:fillRect l="-583" t="-549" r="-655"/>
                </a:stretch>
              </a:blipFill>
            </p:spPr>
            <p:txBody>
              <a:bodyPr/>
              <a:lstStyle/>
              <a:p>
                <a:r>
                  <a:rPr lang="zh-CN" altLang="en-US">
                    <a:noFill/>
                  </a:rPr>
                  <a:t> </a:t>
                </a:r>
              </a:p>
            </p:txBody>
          </p:sp>
        </mc:Fallback>
      </mc:AlternateContent>
      <p:sp>
        <p:nvSpPr>
          <p:cNvPr id="7" name="页脚占位符 2">
            <a:extLst>
              <a:ext uri="{FF2B5EF4-FFF2-40B4-BE49-F238E27FC236}">
                <a16:creationId xmlns:a16="http://schemas.microsoft.com/office/drawing/2014/main" id="{087463C3-FE0C-482E-BB47-46DF618E4052}"/>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Tree>
    <p:extLst>
      <p:ext uri="{BB962C8B-B14F-4D97-AF65-F5344CB8AC3E}">
        <p14:creationId xmlns:p14="http://schemas.microsoft.com/office/powerpoint/2010/main" val="16974681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48</a:t>
            </a:fld>
            <a:endParaRPr lang="en-US" altLang="zh-CN"/>
          </a:p>
        </p:txBody>
      </p:sp>
      <p:sp>
        <p:nvSpPr>
          <p:cNvPr id="9"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731974"/>
          </a:xfrm>
        </p:spPr>
        <p:txBody>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正则化</a:t>
            </a:r>
            <a:r>
              <a:rPr lang="zh-CN" altLang="en-US" sz="28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（阅读内容）</a:t>
            </a:r>
          </a:p>
        </p:txBody>
      </p:sp>
      <p:sp>
        <p:nvSpPr>
          <p:cNvPr id="5" name="文本框 4"/>
          <p:cNvSpPr txBox="1"/>
          <p:nvPr/>
        </p:nvSpPr>
        <p:spPr>
          <a:xfrm>
            <a:off x="128119" y="4464580"/>
            <a:ext cx="8371840" cy="1289905"/>
          </a:xfrm>
          <a:prstGeom prst="rect">
            <a:avLst/>
          </a:prstGeom>
          <a:noFill/>
        </p:spPr>
        <p:txBody>
          <a:bodyPr wrap="square" rtlCol="0">
            <a:spAutoFit/>
          </a:bodyPr>
          <a:lstStyle/>
          <a:p>
            <a:pPr marL="285750" indent="-285750">
              <a:lnSpc>
                <a:spcPct val="150000"/>
              </a:lnSpc>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sym typeface="Arial" panose="020B0604020202020204" pitchFamily="34" charset="0"/>
              </a:rPr>
              <a:t>在正则化中，常用的</a:t>
            </a:r>
            <a:r>
              <a:rPr lang="en-US" altLang="zh-CN" dirty="0">
                <a:latin typeface="微软雅黑" panose="020B0503020204020204" pitchFamily="34" charset="-122"/>
                <a:ea typeface="微软雅黑" panose="020B0503020204020204" pitchFamily="34" charset="-122"/>
                <a:sym typeface="Arial" panose="020B0604020202020204" pitchFamily="34" charset="0"/>
              </a:rPr>
              <a:t>p</a:t>
            </a:r>
            <a:r>
              <a:rPr lang="zh-CN" altLang="en-US" dirty="0">
                <a:latin typeface="微软雅黑" panose="020B0503020204020204" pitchFamily="34" charset="-122"/>
                <a:ea typeface="微软雅黑" panose="020B0503020204020204" pitchFamily="34" charset="-122"/>
                <a:sym typeface="Arial" panose="020B0604020202020204" pitchFamily="34" charset="0"/>
              </a:rPr>
              <a:t>值为</a:t>
            </a:r>
            <a:r>
              <a:rPr lang="en-US" altLang="zh-CN" dirty="0">
                <a:latin typeface="微软雅黑" panose="020B0503020204020204" pitchFamily="34" charset="-122"/>
                <a:ea typeface="微软雅黑" panose="020B0503020204020204" pitchFamily="34" charset="-122"/>
                <a:sym typeface="Arial" panose="020B0604020202020204" pitchFamily="34" charset="0"/>
              </a:rPr>
              <a:t>1</a:t>
            </a:r>
            <a:r>
              <a:rPr lang="zh-CN" altLang="en-US" dirty="0">
                <a:latin typeface="微软雅黑" panose="020B0503020204020204" pitchFamily="34" charset="-122"/>
                <a:ea typeface="微软雅黑" panose="020B0503020204020204" pitchFamily="34" charset="-122"/>
                <a:sym typeface="Arial" panose="020B0604020202020204" pitchFamily="34" charset="0"/>
              </a:rPr>
              <a:t>和</a:t>
            </a:r>
            <a:r>
              <a:rPr lang="en-US" altLang="zh-CN" dirty="0">
                <a:latin typeface="微软雅黑" panose="020B0503020204020204" pitchFamily="34" charset="-122"/>
                <a:ea typeface="微软雅黑" panose="020B0503020204020204" pitchFamily="34" charset="-122"/>
                <a:sym typeface="Arial" panose="020B0604020202020204" pitchFamily="34" charset="0"/>
              </a:rPr>
              <a:t>2</a:t>
            </a:r>
            <a:r>
              <a:rPr lang="zh-CN" altLang="en-US" dirty="0">
                <a:latin typeface="微软雅黑" panose="020B0503020204020204" pitchFamily="34" charset="-122"/>
                <a:ea typeface="微软雅黑" panose="020B0503020204020204" pitchFamily="34" charset="-122"/>
                <a:sym typeface="Arial" panose="020B0604020202020204" pitchFamily="34" charset="0"/>
              </a:rPr>
              <a:t>。分别对应于</a:t>
            </a:r>
            <a:r>
              <a:rPr lang="en-US" altLang="zh-CN" dirty="0">
                <a:latin typeface="微软雅黑" panose="020B0503020204020204" pitchFamily="34" charset="-122"/>
                <a:ea typeface="微软雅黑" panose="020B0503020204020204" pitchFamily="34" charset="-122"/>
                <a:sym typeface="Arial" panose="020B0604020202020204" pitchFamily="34" charset="0"/>
              </a:rPr>
              <a:t>L1</a:t>
            </a:r>
            <a:r>
              <a:rPr lang="zh-CN" altLang="en-US" dirty="0">
                <a:latin typeface="微软雅黑" panose="020B0503020204020204" pitchFamily="34" charset="-122"/>
                <a:ea typeface="微软雅黑" panose="020B0503020204020204" pitchFamily="34" charset="-122"/>
                <a:sym typeface="Arial" panose="020B0604020202020204" pitchFamily="34" charset="0"/>
              </a:rPr>
              <a:t>正则化和</a:t>
            </a:r>
            <a:r>
              <a:rPr lang="en-US" altLang="zh-CN" dirty="0">
                <a:latin typeface="微软雅黑" panose="020B0503020204020204" pitchFamily="34" charset="-122"/>
                <a:ea typeface="微软雅黑" panose="020B0503020204020204" pitchFamily="34" charset="-122"/>
                <a:sym typeface="Arial" panose="020B0604020202020204" pitchFamily="34" charset="0"/>
              </a:rPr>
              <a:t>L2</a:t>
            </a:r>
            <a:r>
              <a:rPr lang="zh-CN" altLang="en-US" dirty="0">
                <a:latin typeface="微软雅黑" panose="020B0503020204020204" pitchFamily="34" charset="-122"/>
                <a:ea typeface="微软雅黑" panose="020B0503020204020204" pitchFamily="34" charset="-122"/>
                <a:sym typeface="Arial" panose="020B0604020202020204" pitchFamily="34" charset="0"/>
              </a:rPr>
              <a:t>正则化。</a:t>
            </a:r>
            <a:r>
              <a:rPr lang="zh-CN" altLang="en-US" dirty="0">
                <a:latin typeface="微软雅黑" panose="020B0503020204020204" pitchFamily="34" charset="-122"/>
                <a:ea typeface="微软雅黑" panose="020B0503020204020204" pitchFamily="34" charset="-122"/>
              </a:rPr>
              <a:t>直观上理解，</a:t>
            </a:r>
            <a:r>
              <a:rPr lang="en-US" altLang="zh-CN" dirty="0">
                <a:latin typeface="微软雅黑" panose="020B0503020204020204" pitchFamily="34" charset="-122"/>
                <a:ea typeface="微软雅黑" panose="020B0503020204020204" pitchFamily="34" charset="-122"/>
              </a:rPr>
              <a:t>L1 </a:t>
            </a:r>
            <a:r>
              <a:rPr lang="zh-CN" altLang="en-US" dirty="0">
                <a:latin typeface="微软雅黑" panose="020B0503020204020204" pitchFamily="34" charset="-122"/>
                <a:ea typeface="微软雅黑" panose="020B0503020204020204" pitchFamily="34" charset="-122"/>
              </a:rPr>
              <a:t>正则化就是在损失函数中添加模型全部参数绝对值的和，而 </a:t>
            </a:r>
            <a:r>
              <a:rPr lang="en-US" altLang="zh-CN" dirty="0">
                <a:latin typeface="微软雅黑" panose="020B0503020204020204" pitchFamily="34" charset="-122"/>
                <a:ea typeface="微软雅黑" panose="020B0503020204020204" pitchFamily="34" charset="-122"/>
              </a:rPr>
              <a:t>L2 </a:t>
            </a:r>
            <a:r>
              <a:rPr lang="zh-CN" altLang="en-US" dirty="0">
                <a:latin typeface="微软雅黑" panose="020B0503020204020204" pitchFamily="34" charset="-122"/>
                <a:ea typeface="微软雅黑" panose="020B0503020204020204" pitchFamily="34" charset="-122"/>
              </a:rPr>
              <a:t>正则化则是添加模型全部参数的平方和。</a:t>
            </a:r>
            <a:endParaRPr lang="en-US" altLang="zh-CN" dirty="0">
              <a:latin typeface="微软雅黑" panose="020B0503020204020204" pitchFamily="34" charset="-122"/>
              <a:ea typeface="微软雅黑" panose="020B0503020204020204" pitchFamily="34" charset="-122"/>
            </a:endParaRPr>
          </a:p>
        </p:txBody>
      </p:sp>
      <p:sp>
        <p:nvSpPr>
          <p:cNvPr id="7" name="页脚占位符 2">
            <a:extLst>
              <a:ext uri="{FF2B5EF4-FFF2-40B4-BE49-F238E27FC236}">
                <a16:creationId xmlns:a16="http://schemas.microsoft.com/office/drawing/2014/main" id="{0B914D00-DBC1-4D87-A6C7-03EB0FB48558}"/>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A506AF55-818F-46CF-9AC1-3B5A7D79775D}"/>
                  </a:ext>
                </a:extLst>
              </p:cNvPr>
              <p:cNvSpPr txBox="1"/>
              <p:nvPr/>
            </p:nvSpPr>
            <p:spPr>
              <a:xfrm>
                <a:off x="1964788" y="3570376"/>
                <a:ext cx="5758375"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两个参数（</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zh-CN" altLang="en-US">
                            <a:latin typeface="Cambria Math" panose="02040503050406030204" pitchFamily="18" charset="0"/>
                            <a:ea typeface="微软雅黑" panose="020B0503020204020204" pitchFamily="34" charset="-122"/>
                          </a:rPr>
                          <m:t>𝜃</m:t>
                        </m:r>
                      </m:e>
                      <m:sub>
                        <m:r>
                          <a:rPr lang="en-US" altLang="zh-CN">
                            <a:latin typeface="Cambria Math" panose="02040503050406030204" pitchFamily="18" charset="0"/>
                            <a:ea typeface="微软雅黑" panose="020B0503020204020204" pitchFamily="34" charset="-122"/>
                          </a:rPr>
                          <m:t>1</m:t>
                        </m:r>
                      </m:sub>
                    </m:sSub>
                    <m:r>
                      <a:rPr lang="zh-CN" altLang="en-US">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zh-CN" altLang="en-US">
                            <a:latin typeface="Cambria Math" panose="02040503050406030204" pitchFamily="18" charset="0"/>
                            <a:ea typeface="微软雅黑" panose="020B0503020204020204" pitchFamily="34" charset="-122"/>
                          </a:rPr>
                          <m:t>𝜃</m:t>
                        </m:r>
                      </m:e>
                      <m:sub>
                        <m:r>
                          <a:rPr lang="en-US" altLang="zh-CN">
                            <a:latin typeface="Cambria Math" panose="02040503050406030204" pitchFamily="18" charset="0"/>
                            <a:ea typeface="微软雅黑" panose="020B0503020204020204" pitchFamily="34" charset="-122"/>
                          </a:rPr>
                          <m:t>2</m:t>
                        </m:r>
                      </m:sub>
                    </m:sSub>
                  </m:oMath>
                </a14:m>
                <a:r>
                  <a:rPr lang="zh-CN" altLang="en-US" dirty="0">
                    <a:latin typeface="微软雅黑" panose="020B0503020204020204" pitchFamily="34" charset="-122"/>
                    <a:ea typeface="微软雅黑" panose="020B0503020204020204" pitchFamily="34" charset="-122"/>
                  </a:rPr>
                  <a:t>），不同</a:t>
                </a:r>
                <a:r>
                  <a:rPr lang="en-US" altLang="zh-CN" dirty="0">
                    <a:latin typeface="微软雅黑" panose="020B0503020204020204" pitchFamily="34" charset="-122"/>
                    <a:ea typeface="微软雅黑" panose="020B0503020204020204" pitchFamily="34" charset="-122"/>
                  </a:rPr>
                  <a:t>p</a:t>
                </a:r>
                <a:r>
                  <a:rPr lang="zh-CN" altLang="en-US" dirty="0">
                    <a:latin typeface="微软雅黑" panose="020B0503020204020204" pitchFamily="34" charset="-122"/>
                    <a:ea typeface="微软雅黑" panose="020B0503020204020204" pitchFamily="34" charset="-122"/>
                  </a:rPr>
                  <a:t>值下模型复杂度等值线</a:t>
                </a:r>
              </a:p>
            </p:txBody>
          </p:sp>
        </mc:Choice>
        <mc:Fallback xmlns="">
          <p:sp>
            <p:nvSpPr>
              <p:cNvPr id="6" name="文本框 5">
                <a:extLst>
                  <a:ext uri="{FF2B5EF4-FFF2-40B4-BE49-F238E27FC236}">
                    <a16:creationId xmlns:a16="http://schemas.microsoft.com/office/drawing/2014/main" id="{A506AF55-818F-46CF-9AC1-3B5A7D79775D}"/>
                  </a:ext>
                </a:extLst>
              </p:cNvPr>
              <p:cNvSpPr txBox="1">
                <a:spLocks noRot="1" noChangeAspect="1" noMove="1" noResize="1" noEditPoints="1" noAdjustHandles="1" noChangeArrowheads="1" noChangeShapeType="1" noTextEdit="1"/>
              </p:cNvSpPr>
              <p:nvPr/>
            </p:nvSpPr>
            <p:spPr>
              <a:xfrm>
                <a:off x="1964788" y="3570376"/>
                <a:ext cx="5758375" cy="369332"/>
              </a:xfrm>
              <a:prstGeom prst="rect">
                <a:avLst/>
              </a:prstGeom>
              <a:blipFill>
                <a:blip r:embed="rId3"/>
                <a:stretch>
                  <a:fillRect l="-847" t="-10000" b="-26667"/>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78035952-6510-4A43-907C-2BA33B57CBCD}"/>
              </a:ext>
            </a:extLst>
          </p:cNvPr>
          <p:cNvPicPr>
            <a:picLocks noChangeAspect="1"/>
          </p:cNvPicPr>
          <p:nvPr/>
        </p:nvPicPr>
        <p:blipFill>
          <a:blip r:embed="rId4"/>
          <a:stretch>
            <a:fillRect/>
          </a:stretch>
        </p:blipFill>
        <p:spPr>
          <a:xfrm>
            <a:off x="92405" y="1184909"/>
            <a:ext cx="8959189" cy="2244091"/>
          </a:xfrm>
          <a:prstGeom prst="rect">
            <a:avLst/>
          </a:prstGeom>
        </p:spPr>
      </p:pic>
    </p:spTree>
    <p:extLst>
      <p:ext uri="{BB962C8B-B14F-4D97-AF65-F5344CB8AC3E}">
        <p14:creationId xmlns:p14="http://schemas.microsoft.com/office/powerpoint/2010/main" val="634845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49</a:t>
            </a:fld>
            <a:endParaRPr lang="en-US" altLang="zh-CN"/>
          </a:p>
        </p:txBody>
      </p:sp>
      <p:sp>
        <p:nvSpPr>
          <p:cNvPr id="9"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731974"/>
          </a:xfrm>
        </p:spPr>
        <p:txBody>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正则化</a:t>
            </a:r>
            <a:r>
              <a:rPr lang="zh-CN" altLang="en-US" sz="28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（阅读内容）</a:t>
            </a:r>
          </a:p>
        </p:txBody>
      </p:sp>
      <p:sp>
        <p:nvSpPr>
          <p:cNvPr id="7" name="页脚占位符 2">
            <a:extLst>
              <a:ext uri="{FF2B5EF4-FFF2-40B4-BE49-F238E27FC236}">
                <a16:creationId xmlns:a16="http://schemas.microsoft.com/office/drawing/2014/main" id="{0B914D00-DBC1-4D87-A6C7-03EB0FB48558}"/>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
        <p:nvSpPr>
          <p:cNvPr id="10" name="文本框 9">
            <a:extLst>
              <a:ext uri="{FF2B5EF4-FFF2-40B4-BE49-F238E27FC236}">
                <a16:creationId xmlns:a16="http://schemas.microsoft.com/office/drawing/2014/main" id="{03150086-3C5E-4068-B8A6-16F82866745E}"/>
              </a:ext>
            </a:extLst>
          </p:cNvPr>
          <p:cNvSpPr txBox="1"/>
          <p:nvPr/>
        </p:nvSpPr>
        <p:spPr>
          <a:xfrm>
            <a:off x="129735" y="1078381"/>
            <a:ext cx="8851705" cy="2536400"/>
          </a:xfrm>
          <a:prstGeom prst="rect">
            <a:avLst/>
          </a:prstGeom>
          <a:noFill/>
        </p:spPr>
        <p:txBody>
          <a:bodyPr wrap="square">
            <a:spAutoFit/>
          </a:bodyPr>
          <a:lstStyle/>
          <a:p>
            <a:pPr>
              <a:lnSpc>
                <a:spcPct val="150000"/>
              </a:lnSpc>
            </a:pPr>
            <a:r>
              <a:rPr lang="zh-CN" altLang="en-US" dirty="0">
                <a:latin typeface="微软雅黑" panose="020B0503020204020204" pitchFamily="34" charset="-122"/>
                <a:ea typeface="微软雅黑" panose="020B0503020204020204" pitchFamily="34" charset="-122"/>
              </a:rPr>
              <a:t>以二维参数向量的情况为例，多个同心圆为</a:t>
            </a:r>
            <a:r>
              <a:rPr lang="en-US" altLang="zh-CN" dirty="0">
                <a:latin typeface="微软雅黑" panose="020B0503020204020204" pitchFamily="34" charset="-122"/>
                <a:ea typeface="微软雅黑" panose="020B0503020204020204" pitchFamily="34" charset="-122"/>
              </a:rPr>
              <a:t>MSE</a:t>
            </a:r>
            <a:r>
              <a:rPr lang="zh-CN" altLang="en-US" dirty="0">
                <a:latin typeface="微软雅黑" panose="020B0503020204020204" pitchFamily="34" charset="-122"/>
                <a:ea typeface="微软雅黑" panose="020B0503020204020204" pitchFamily="34" charset="-122"/>
              </a:rPr>
              <a:t>损失函数相对于不同模型参数的等值线，其圆心为无正则项条件下模型的</a:t>
            </a:r>
            <a:r>
              <a:rPr lang="zh-CN" altLang="en-US" b="1" dirty="0">
                <a:latin typeface="微软雅黑" panose="020B0503020204020204" pitchFamily="34" charset="-122"/>
                <a:ea typeface="微软雅黑" panose="020B0503020204020204" pitchFamily="34" charset="-122"/>
              </a:rPr>
              <a:t>最优参数取值</a:t>
            </a:r>
            <a:r>
              <a:rPr lang="zh-CN" altLang="en-US" dirty="0">
                <a:latin typeface="微软雅黑" panose="020B0503020204020204" pitchFamily="34" charset="-122"/>
                <a:ea typeface="微软雅黑" panose="020B0503020204020204" pitchFamily="34" charset="-122"/>
              </a:rPr>
              <a:t>；左下角的菱形和圆形分别为</a:t>
            </a:r>
            <a:r>
              <a:rPr lang="en-US" altLang="zh-CN" dirty="0">
                <a:latin typeface="微软雅黑" panose="020B0503020204020204" pitchFamily="34" charset="-122"/>
                <a:ea typeface="微软雅黑" panose="020B0503020204020204" pitchFamily="34" charset="-122"/>
              </a:rPr>
              <a:t>L1</a:t>
            </a:r>
            <a:r>
              <a:rPr lang="zh-CN" altLang="en-US" dirty="0">
                <a:latin typeface="微软雅黑" panose="020B0503020204020204" pitchFamily="34" charset="-122"/>
                <a:ea typeface="微软雅黑" panose="020B0503020204020204" pitchFamily="34" charset="-122"/>
              </a:rPr>
              <a:t>正则项和</a:t>
            </a:r>
            <a:r>
              <a:rPr lang="en-US" altLang="zh-CN" dirty="0">
                <a:latin typeface="微软雅黑" panose="020B0503020204020204" pitchFamily="34" charset="-122"/>
                <a:ea typeface="微软雅黑" panose="020B0503020204020204" pitchFamily="34" charset="-122"/>
              </a:rPr>
              <a:t>L2</a:t>
            </a:r>
            <a:r>
              <a:rPr lang="zh-CN" altLang="en-US" dirty="0">
                <a:latin typeface="微软雅黑" panose="020B0503020204020204" pitchFamily="34" charset="-122"/>
                <a:ea typeface="微软雅黑" panose="020B0503020204020204" pitchFamily="34" charset="-122"/>
              </a:rPr>
              <a:t>正则项对应的等值线，其与同心圆的切点为使用相应正则项后的模型最优参数取值。在</a:t>
            </a:r>
            <a:r>
              <a:rPr lang="en-US" altLang="zh-CN" dirty="0">
                <a:latin typeface="微软雅黑" panose="020B0503020204020204" pitchFamily="34" charset="-122"/>
                <a:ea typeface="微软雅黑" panose="020B0503020204020204" pitchFamily="34" charset="-122"/>
              </a:rPr>
              <a:t>MSE</a:t>
            </a:r>
            <a:r>
              <a:rPr lang="zh-CN" altLang="en-US" dirty="0">
                <a:latin typeface="微软雅黑" panose="020B0503020204020204" pitchFamily="34" charset="-122"/>
                <a:ea typeface="微软雅黑" panose="020B0503020204020204" pitchFamily="34" charset="-122"/>
              </a:rPr>
              <a:t>相同的情况下，使</a:t>
            </a:r>
            <a:r>
              <a:rPr lang="en-US" altLang="zh-CN" dirty="0">
                <a:latin typeface="微软雅黑" panose="020B0503020204020204" pitchFamily="34" charset="-122"/>
                <a:ea typeface="微软雅黑" panose="020B0503020204020204" pitchFamily="34" charset="-122"/>
              </a:rPr>
              <a:t>L1</a:t>
            </a:r>
            <a:r>
              <a:rPr lang="zh-CN" altLang="en-US" dirty="0">
                <a:latin typeface="微软雅黑" panose="020B0503020204020204" pitchFamily="34" charset="-122"/>
                <a:ea typeface="微软雅黑" panose="020B0503020204020204" pitchFamily="34" charset="-122"/>
              </a:rPr>
              <a:t>正则项最小的参数组合容易出现在</a:t>
            </a:r>
            <a:r>
              <a:rPr lang="zh-CN" altLang="en-US" b="1" dirty="0">
                <a:latin typeface="微软雅黑" panose="020B0503020204020204" pitchFamily="34" charset="-122"/>
                <a:ea typeface="微软雅黑" panose="020B0503020204020204" pitchFamily="34" charset="-122"/>
              </a:rPr>
              <a:t>坐标轴上</a:t>
            </a:r>
            <a:r>
              <a:rPr lang="zh-CN" altLang="en-US" dirty="0">
                <a:latin typeface="微软雅黑" panose="020B0503020204020204" pitchFamily="34" charset="-122"/>
                <a:ea typeface="微软雅黑" panose="020B0503020204020204" pitchFamily="34" charset="-122"/>
              </a:rPr>
              <a:t>，此时有一个参数为</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；而使</a:t>
            </a:r>
            <a:r>
              <a:rPr lang="en-US" altLang="zh-CN" dirty="0">
                <a:latin typeface="微软雅黑" panose="020B0503020204020204" pitchFamily="34" charset="-122"/>
                <a:ea typeface="微软雅黑" panose="020B0503020204020204" pitchFamily="34" charset="-122"/>
              </a:rPr>
              <a:t>L2</a:t>
            </a:r>
            <a:r>
              <a:rPr lang="zh-CN" altLang="en-US" dirty="0">
                <a:latin typeface="微软雅黑" panose="020B0503020204020204" pitchFamily="34" charset="-122"/>
                <a:ea typeface="微软雅黑" panose="020B0503020204020204" pitchFamily="34" charset="-122"/>
              </a:rPr>
              <a:t>正则项最小的参数最小的参数则不然。由于稀疏解中许多参数为</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，因此</a:t>
            </a:r>
            <a:r>
              <a:rPr lang="en-US" altLang="zh-CN" dirty="0">
                <a:latin typeface="微软雅黑" panose="020B0503020204020204" pitchFamily="34" charset="-122"/>
                <a:ea typeface="微软雅黑" panose="020B0503020204020204" pitchFamily="34" charset="-122"/>
              </a:rPr>
              <a:t>L1</a:t>
            </a:r>
            <a:r>
              <a:rPr lang="zh-CN" altLang="en-US" dirty="0">
                <a:latin typeface="微软雅黑" panose="020B0503020204020204" pitchFamily="34" charset="-122"/>
                <a:ea typeface="微软雅黑" panose="020B0503020204020204" pitchFamily="34" charset="-122"/>
              </a:rPr>
              <a:t>正则化在减小模型复杂度的同时，还能够起到</a:t>
            </a:r>
            <a:r>
              <a:rPr lang="zh-CN" altLang="en-US" b="1" dirty="0">
                <a:latin typeface="微软雅黑" panose="020B0503020204020204" pitchFamily="34" charset="-122"/>
                <a:ea typeface="微软雅黑" panose="020B0503020204020204" pitchFamily="34" charset="-122"/>
              </a:rPr>
              <a:t>特征选择</a:t>
            </a:r>
            <a:r>
              <a:rPr lang="zh-CN" altLang="en-US" dirty="0">
                <a:latin typeface="微软雅黑" panose="020B0503020204020204" pitchFamily="34" charset="-122"/>
                <a:ea typeface="微软雅黑" panose="020B0503020204020204" pitchFamily="34" charset="-122"/>
              </a:rPr>
              <a:t>的作用。</a:t>
            </a:r>
          </a:p>
        </p:txBody>
      </p:sp>
      <p:sp>
        <p:nvSpPr>
          <p:cNvPr id="8" name="文本框 7">
            <a:extLst>
              <a:ext uri="{FF2B5EF4-FFF2-40B4-BE49-F238E27FC236}">
                <a16:creationId xmlns:a16="http://schemas.microsoft.com/office/drawing/2014/main" id="{FA1F9312-1415-4B19-9A02-B6DAAC949107}"/>
              </a:ext>
            </a:extLst>
          </p:cNvPr>
          <p:cNvSpPr txBox="1"/>
          <p:nvPr/>
        </p:nvSpPr>
        <p:spPr>
          <a:xfrm>
            <a:off x="2408702" y="6417235"/>
            <a:ext cx="342782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L1</a:t>
            </a:r>
            <a:r>
              <a:rPr lang="zh-CN" altLang="en-US" dirty="0">
                <a:latin typeface="微软雅黑" panose="020B0503020204020204" pitchFamily="34" charset="-122"/>
                <a:ea typeface="微软雅黑" panose="020B0503020204020204" pitchFamily="34" charset="-122"/>
              </a:rPr>
              <a:t>正则化和</a:t>
            </a:r>
            <a:r>
              <a:rPr lang="en-US" altLang="zh-CN" dirty="0">
                <a:latin typeface="微软雅黑" panose="020B0503020204020204" pitchFamily="34" charset="-122"/>
                <a:ea typeface="微软雅黑" panose="020B0503020204020204" pitchFamily="34" charset="-122"/>
              </a:rPr>
              <a:t>L2</a:t>
            </a:r>
            <a:r>
              <a:rPr lang="zh-CN" altLang="en-US" dirty="0">
                <a:latin typeface="微软雅黑" panose="020B0503020204020204" pitchFamily="34" charset="-122"/>
                <a:ea typeface="微软雅黑" panose="020B0503020204020204" pitchFamily="34" charset="-122"/>
              </a:rPr>
              <a:t>正则化对解的影响</a:t>
            </a:r>
          </a:p>
        </p:txBody>
      </p:sp>
      <p:pic>
        <p:nvPicPr>
          <p:cNvPr id="3" name="图片 2">
            <a:extLst>
              <a:ext uri="{FF2B5EF4-FFF2-40B4-BE49-F238E27FC236}">
                <a16:creationId xmlns:a16="http://schemas.microsoft.com/office/drawing/2014/main" id="{8BB28ABE-2B92-4E29-A35E-1A76F2AB4BC2}"/>
              </a:ext>
            </a:extLst>
          </p:cNvPr>
          <p:cNvPicPr>
            <a:picLocks noChangeAspect="1"/>
          </p:cNvPicPr>
          <p:nvPr/>
        </p:nvPicPr>
        <p:blipFill>
          <a:blip r:embed="rId2"/>
          <a:stretch>
            <a:fillRect/>
          </a:stretch>
        </p:blipFill>
        <p:spPr>
          <a:xfrm>
            <a:off x="1498735" y="3609249"/>
            <a:ext cx="5694545" cy="2807986"/>
          </a:xfrm>
          <a:prstGeom prst="rect">
            <a:avLst/>
          </a:prstGeom>
        </p:spPr>
      </p:pic>
    </p:spTree>
    <p:extLst>
      <p:ext uri="{BB962C8B-B14F-4D97-AF65-F5344CB8AC3E}">
        <p14:creationId xmlns:p14="http://schemas.microsoft.com/office/powerpoint/2010/main" val="6087829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50</a:t>
            </a:fld>
            <a:endParaRPr lang="en-US" altLang="zh-CN"/>
          </a:p>
        </p:txBody>
      </p:sp>
      <p:sp>
        <p:nvSpPr>
          <p:cNvPr id="9"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731974"/>
          </a:xfrm>
        </p:spPr>
        <p:txBody>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正则化</a:t>
            </a:r>
            <a:r>
              <a:rPr lang="zh-CN" altLang="en-US" sz="28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（阅读内容）</a:t>
            </a:r>
          </a:p>
        </p:txBody>
      </p:sp>
      <mc:AlternateContent xmlns:mc="http://schemas.openxmlformats.org/markup-compatibility/2006" xmlns:a14="http://schemas.microsoft.com/office/drawing/2010/main">
        <mc:Choice Requires="a14">
          <p:sp>
            <p:nvSpPr>
              <p:cNvPr id="5" name="文本框 4"/>
              <p:cNvSpPr txBox="1"/>
              <p:nvPr/>
            </p:nvSpPr>
            <p:spPr>
              <a:xfrm>
                <a:off x="268796" y="1405371"/>
                <a:ext cx="8371840" cy="2536400"/>
              </a:xfrm>
              <a:prstGeom prst="rect">
                <a:avLst/>
              </a:prstGeom>
              <a:noFill/>
            </p:spPr>
            <p:txBody>
              <a:bodyPr wrap="square" rtlCol="0">
                <a:spAutoFit/>
              </a:bodyPr>
              <a:lstStyle/>
              <a:p>
                <a:pPr marL="285750" indent="-285750">
                  <a:lnSpc>
                    <a:spcPct val="150000"/>
                  </a:lnSpc>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除了模型复杂度的表示，正则项系数的大小也会对模型的拟合效果产生影响。相比不添加正则项时学习到的函数，使用恰当的正则化可以明显缓解过拟合问题。但是，过大的正则化系数</a:t>
                </a:r>
                <a14:m>
                  <m:oMath xmlns:m="http://schemas.openxmlformats.org/officeDocument/2006/math">
                    <m:r>
                      <a:rPr lang="zh-CN" altLang="en-US" i="1" smtClean="0">
                        <a:latin typeface="Cambria Math" panose="02040503050406030204" pitchFamily="18" charset="0"/>
                        <a:ea typeface="微软雅黑" panose="020B0503020204020204" pitchFamily="34" charset="-122"/>
                      </a:rPr>
                      <m:t>𝜆</m:t>
                    </m:r>
                  </m:oMath>
                </a14:m>
                <a:r>
                  <a:rPr lang="zh-CN" altLang="en-US" dirty="0">
                    <a:latin typeface="微软雅黑" panose="020B0503020204020204" pitchFamily="34" charset="-122"/>
                    <a:ea typeface="微软雅黑" panose="020B0503020204020204" pitchFamily="34" charset="-122"/>
                  </a:rPr>
                  <a:t>，则会导致模型的全部参数都趋近于 </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，造成严重的欠拟合问题。需要注意的是， 正则化系数</a:t>
                </a:r>
                <a14:m>
                  <m:oMath xmlns:m="http://schemas.openxmlformats.org/officeDocument/2006/math">
                    <m:r>
                      <a:rPr lang="zh-CN" altLang="en-US" i="1">
                        <a:latin typeface="Cambria Math" panose="02040503050406030204" pitchFamily="18" charset="0"/>
                        <a:ea typeface="微软雅黑" panose="020B0503020204020204" pitchFamily="34" charset="-122"/>
                      </a:rPr>
                      <m:t>𝜆</m:t>
                    </m:r>
                  </m:oMath>
                </a14:m>
                <a:r>
                  <a:rPr lang="zh-CN" altLang="en-US" dirty="0">
                    <a:latin typeface="微软雅黑" panose="020B0503020204020204" pitchFamily="34" charset="-122"/>
                    <a:ea typeface="微软雅黑" panose="020B0503020204020204" pitchFamily="34" charset="-122"/>
                  </a:rPr>
                  <a:t>的设置没有确定的规则。通常可从较小的</a:t>
                </a:r>
                <a14:m>
                  <m:oMath xmlns:m="http://schemas.openxmlformats.org/officeDocument/2006/math">
                    <m:r>
                      <a:rPr lang="zh-CN" altLang="en-US" i="1">
                        <a:latin typeface="Cambria Math" panose="02040503050406030204" pitchFamily="18" charset="0"/>
                        <a:ea typeface="微软雅黑" panose="020B0503020204020204" pitchFamily="34" charset="-122"/>
                      </a:rPr>
                      <m:t>𝜆</m:t>
                    </m:r>
                  </m:oMath>
                </a14:m>
                <a:r>
                  <a:rPr lang="zh-CN" altLang="en-US" dirty="0">
                    <a:latin typeface="微软雅黑" panose="020B0503020204020204" pitchFamily="34" charset="-122"/>
                    <a:ea typeface="微软雅黑" panose="020B0503020204020204" pitchFamily="34" charset="-122"/>
                  </a:rPr>
                  <a:t>值开始实验，以一定间隔不断增减尝试，确定合适的数量级后再进行微调</a:t>
                </a:r>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268796" y="1405371"/>
                <a:ext cx="8371840" cy="2536400"/>
              </a:xfrm>
              <a:prstGeom prst="rect">
                <a:avLst/>
              </a:prstGeom>
              <a:blipFill>
                <a:blip r:embed="rId2"/>
                <a:stretch>
                  <a:fillRect l="-437" r="-655" b="-2885"/>
                </a:stretch>
              </a:blipFill>
            </p:spPr>
            <p:txBody>
              <a:bodyPr/>
              <a:lstStyle/>
              <a:p>
                <a:r>
                  <a:rPr lang="zh-CN" altLang="en-US">
                    <a:noFill/>
                  </a:rPr>
                  <a:t> </a:t>
                </a:r>
              </a:p>
            </p:txBody>
          </p:sp>
        </mc:Fallback>
      </mc:AlternateContent>
      <p:sp>
        <p:nvSpPr>
          <p:cNvPr id="7" name="页脚占位符 2">
            <a:extLst>
              <a:ext uri="{FF2B5EF4-FFF2-40B4-BE49-F238E27FC236}">
                <a16:creationId xmlns:a16="http://schemas.microsoft.com/office/drawing/2014/main" id="{0B914D00-DBC1-4D87-A6C7-03EB0FB48558}"/>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Tree>
    <p:extLst>
      <p:ext uri="{BB962C8B-B14F-4D97-AF65-F5344CB8AC3E}">
        <p14:creationId xmlns:p14="http://schemas.microsoft.com/office/powerpoint/2010/main" val="11517408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51</a:t>
            </a:fld>
            <a:endParaRPr lang="en-US" altLang="zh-CN"/>
          </a:p>
        </p:txBody>
      </p:sp>
      <p:sp>
        <p:nvSpPr>
          <p:cNvPr id="9"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731974"/>
          </a:xfrm>
        </p:spPr>
        <p:txBody>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p:sp>
        <p:nvSpPr>
          <p:cNvPr id="7" name="页脚占位符 2">
            <a:extLst>
              <a:ext uri="{FF2B5EF4-FFF2-40B4-BE49-F238E27FC236}">
                <a16:creationId xmlns:a16="http://schemas.microsoft.com/office/drawing/2014/main" id="{0B914D00-DBC1-4D87-A6C7-03EB0FB48558}"/>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
        <p:nvSpPr>
          <p:cNvPr id="3" name="文本框 2">
            <a:extLst>
              <a:ext uri="{FF2B5EF4-FFF2-40B4-BE49-F238E27FC236}">
                <a16:creationId xmlns:a16="http://schemas.microsoft.com/office/drawing/2014/main" id="{CD729518-2D6B-4A7B-A7F9-0887FAAD29B7}"/>
              </a:ext>
            </a:extLst>
          </p:cNvPr>
          <p:cNvSpPr txBox="1"/>
          <p:nvPr/>
        </p:nvSpPr>
        <p:spPr>
          <a:xfrm>
            <a:off x="254270" y="1118555"/>
            <a:ext cx="8501980" cy="873957"/>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自行生成训练数据与测试数据，采用多项式函数拟合数据，分别观察不进行正则化、</a:t>
            </a:r>
            <a:r>
              <a:rPr lang="en-US" altLang="zh-CN" dirty="0">
                <a:latin typeface="微软雅黑" panose="020B0503020204020204" pitchFamily="34" charset="-122"/>
                <a:ea typeface="微软雅黑" panose="020B0503020204020204" pitchFamily="34" charset="-122"/>
              </a:rPr>
              <a:t>L1</a:t>
            </a:r>
            <a:r>
              <a:rPr lang="zh-CN" altLang="en-US" dirty="0">
                <a:latin typeface="微软雅黑" panose="020B0503020204020204" pitchFamily="34" charset="-122"/>
                <a:ea typeface="微软雅黑" panose="020B0503020204020204" pitchFamily="34" charset="-122"/>
              </a:rPr>
              <a:t>正则化、</a:t>
            </a:r>
            <a:r>
              <a:rPr lang="en-US" altLang="zh-CN" dirty="0">
                <a:latin typeface="微软雅黑" panose="020B0503020204020204" pitchFamily="34" charset="-122"/>
                <a:ea typeface="微软雅黑" panose="020B0503020204020204" pitchFamily="34" charset="-122"/>
              </a:rPr>
              <a:t>L2</a:t>
            </a:r>
            <a:r>
              <a:rPr lang="zh-CN" altLang="en-US" dirty="0">
                <a:latin typeface="微软雅黑" panose="020B0503020204020204" pitchFamily="34" charset="-122"/>
                <a:ea typeface="微软雅黑" panose="020B0503020204020204" pitchFamily="34" charset="-122"/>
              </a:rPr>
              <a:t>正则化时回归曲线的差异</a:t>
            </a:r>
            <a:endParaRPr lang="zh-CN" altLang="en-US" dirty="0"/>
          </a:p>
        </p:txBody>
      </p:sp>
      <p:pic>
        <p:nvPicPr>
          <p:cNvPr id="6" name="图片 5">
            <a:extLst>
              <a:ext uri="{FF2B5EF4-FFF2-40B4-BE49-F238E27FC236}">
                <a16:creationId xmlns:a16="http://schemas.microsoft.com/office/drawing/2014/main" id="{09B3CADF-D792-4593-BD84-21947E71E242}"/>
              </a:ext>
            </a:extLst>
          </p:cNvPr>
          <p:cNvPicPr>
            <a:picLocks noChangeAspect="1"/>
          </p:cNvPicPr>
          <p:nvPr/>
        </p:nvPicPr>
        <p:blipFill>
          <a:blip r:embed="rId2"/>
          <a:stretch>
            <a:fillRect/>
          </a:stretch>
        </p:blipFill>
        <p:spPr>
          <a:xfrm>
            <a:off x="162560" y="2558492"/>
            <a:ext cx="4882326" cy="1143927"/>
          </a:xfrm>
          <a:prstGeom prst="rect">
            <a:avLst/>
          </a:prstGeom>
        </p:spPr>
      </p:pic>
      <p:sp>
        <p:nvSpPr>
          <p:cNvPr id="11" name="文本框 10">
            <a:extLst>
              <a:ext uri="{FF2B5EF4-FFF2-40B4-BE49-F238E27FC236}">
                <a16:creationId xmlns:a16="http://schemas.microsoft.com/office/drawing/2014/main" id="{FA2216A3-A813-4C85-9818-C854C5EB2A4A}"/>
              </a:ext>
            </a:extLst>
          </p:cNvPr>
          <p:cNvSpPr txBox="1"/>
          <p:nvPr/>
        </p:nvSpPr>
        <p:spPr>
          <a:xfrm>
            <a:off x="162560" y="2107395"/>
            <a:ext cx="4572000"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生成训练数据与测试数据</a:t>
            </a:r>
            <a:endParaRPr lang="zh-CN" altLang="en-US" b="1" dirty="0"/>
          </a:p>
        </p:txBody>
      </p:sp>
      <p:pic>
        <p:nvPicPr>
          <p:cNvPr id="13" name="图片 12">
            <a:extLst>
              <a:ext uri="{FF2B5EF4-FFF2-40B4-BE49-F238E27FC236}">
                <a16:creationId xmlns:a16="http://schemas.microsoft.com/office/drawing/2014/main" id="{82CFB6D7-6EAA-4807-85D8-0A604D3F9467}"/>
              </a:ext>
            </a:extLst>
          </p:cNvPr>
          <p:cNvPicPr>
            <a:picLocks noChangeAspect="1"/>
          </p:cNvPicPr>
          <p:nvPr/>
        </p:nvPicPr>
        <p:blipFill>
          <a:blip r:embed="rId3"/>
          <a:stretch>
            <a:fillRect/>
          </a:stretch>
        </p:blipFill>
        <p:spPr>
          <a:xfrm>
            <a:off x="162559" y="4679480"/>
            <a:ext cx="8873976" cy="1049912"/>
          </a:xfrm>
          <a:prstGeom prst="rect">
            <a:avLst/>
          </a:prstGeom>
        </p:spPr>
      </p:pic>
      <p:sp>
        <p:nvSpPr>
          <p:cNvPr id="14" name="文本框 13">
            <a:extLst>
              <a:ext uri="{FF2B5EF4-FFF2-40B4-BE49-F238E27FC236}">
                <a16:creationId xmlns:a16="http://schemas.microsoft.com/office/drawing/2014/main" id="{E0B53B28-86D7-438C-BAEC-FAFA1B14A91B}"/>
              </a:ext>
            </a:extLst>
          </p:cNvPr>
          <p:cNvSpPr txBox="1"/>
          <p:nvPr/>
        </p:nvSpPr>
        <p:spPr>
          <a:xfrm>
            <a:off x="162559" y="4083733"/>
            <a:ext cx="5182691"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定义拟合多项式，根据训练数据转换特征</a:t>
            </a:r>
            <a:endParaRPr lang="zh-CN" altLang="en-US" b="1" dirty="0"/>
          </a:p>
        </p:txBody>
      </p:sp>
    </p:spTree>
    <p:extLst>
      <p:ext uri="{BB962C8B-B14F-4D97-AF65-F5344CB8AC3E}">
        <p14:creationId xmlns:p14="http://schemas.microsoft.com/office/powerpoint/2010/main" val="18013520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52</a:t>
            </a:fld>
            <a:endParaRPr lang="en-US" altLang="zh-CN"/>
          </a:p>
        </p:txBody>
      </p:sp>
      <p:sp>
        <p:nvSpPr>
          <p:cNvPr id="9"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731974"/>
          </a:xfrm>
        </p:spPr>
        <p:txBody>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p:sp>
        <p:nvSpPr>
          <p:cNvPr id="7" name="页脚占位符 2">
            <a:extLst>
              <a:ext uri="{FF2B5EF4-FFF2-40B4-BE49-F238E27FC236}">
                <a16:creationId xmlns:a16="http://schemas.microsoft.com/office/drawing/2014/main" id="{0B914D00-DBC1-4D87-A6C7-03EB0FB48558}"/>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
        <p:nvSpPr>
          <p:cNvPr id="3" name="文本框 2">
            <a:extLst>
              <a:ext uri="{FF2B5EF4-FFF2-40B4-BE49-F238E27FC236}">
                <a16:creationId xmlns:a16="http://schemas.microsoft.com/office/drawing/2014/main" id="{CD729518-2D6B-4A7B-A7F9-0887FAAD29B7}"/>
              </a:ext>
            </a:extLst>
          </p:cNvPr>
          <p:cNvSpPr txBox="1"/>
          <p:nvPr/>
        </p:nvSpPr>
        <p:spPr>
          <a:xfrm>
            <a:off x="254270" y="1118555"/>
            <a:ext cx="8501980" cy="873957"/>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自行生成训练数据与测试数据，采用多项式函数拟合数据，观察不进行正则化、</a:t>
            </a:r>
            <a:r>
              <a:rPr lang="en-US" altLang="zh-CN" dirty="0">
                <a:latin typeface="微软雅黑" panose="020B0503020204020204" pitchFamily="34" charset="-122"/>
                <a:ea typeface="微软雅黑" panose="020B0503020204020204" pitchFamily="34" charset="-122"/>
              </a:rPr>
              <a:t>L1</a:t>
            </a:r>
            <a:r>
              <a:rPr lang="zh-CN" altLang="en-US" dirty="0">
                <a:latin typeface="微软雅黑" panose="020B0503020204020204" pitchFamily="34" charset="-122"/>
                <a:ea typeface="微软雅黑" panose="020B0503020204020204" pitchFamily="34" charset="-122"/>
              </a:rPr>
              <a:t>正则化、</a:t>
            </a:r>
            <a:r>
              <a:rPr lang="en-US" altLang="zh-CN" dirty="0">
                <a:latin typeface="微软雅黑" panose="020B0503020204020204" pitchFamily="34" charset="-122"/>
                <a:ea typeface="微软雅黑" panose="020B0503020204020204" pitchFamily="34" charset="-122"/>
              </a:rPr>
              <a:t>L2</a:t>
            </a:r>
            <a:r>
              <a:rPr lang="zh-CN" altLang="en-US" dirty="0">
                <a:latin typeface="微软雅黑" panose="020B0503020204020204" pitchFamily="34" charset="-122"/>
                <a:ea typeface="微软雅黑" panose="020B0503020204020204" pitchFamily="34" charset="-122"/>
              </a:rPr>
              <a:t>正则化下回归曲线的差异</a:t>
            </a:r>
            <a:endParaRPr lang="zh-CN" altLang="en-US" dirty="0"/>
          </a:p>
        </p:txBody>
      </p:sp>
      <p:sp>
        <p:nvSpPr>
          <p:cNvPr id="11" name="文本框 10">
            <a:extLst>
              <a:ext uri="{FF2B5EF4-FFF2-40B4-BE49-F238E27FC236}">
                <a16:creationId xmlns:a16="http://schemas.microsoft.com/office/drawing/2014/main" id="{FA2216A3-A813-4C85-9818-C854C5EB2A4A}"/>
              </a:ext>
            </a:extLst>
          </p:cNvPr>
          <p:cNvSpPr txBox="1"/>
          <p:nvPr/>
        </p:nvSpPr>
        <p:spPr>
          <a:xfrm>
            <a:off x="162560" y="2107395"/>
            <a:ext cx="4572000"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进行拟合</a:t>
            </a:r>
            <a:endParaRPr lang="zh-CN" altLang="en-US" b="1" dirty="0"/>
          </a:p>
        </p:txBody>
      </p:sp>
      <p:pic>
        <p:nvPicPr>
          <p:cNvPr id="10" name="图片 9">
            <a:extLst>
              <a:ext uri="{FF2B5EF4-FFF2-40B4-BE49-F238E27FC236}">
                <a16:creationId xmlns:a16="http://schemas.microsoft.com/office/drawing/2014/main" id="{FB43B737-D190-4C6F-A62B-58031B6A0B2C}"/>
              </a:ext>
            </a:extLst>
          </p:cNvPr>
          <p:cNvPicPr>
            <a:picLocks noChangeAspect="1"/>
          </p:cNvPicPr>
          <p:nvPr/>
        </p:nvPicPr>
        <p:blipFill>
          <a:blip r:embed="rId2"/>
          <a:stretch>
            <a:fillRect/>
          </a:stretch>
        </p:blipFill>
        <p:spPr>
          <a:xfrm>
            <a:off x="162560" y="2591610"/>
            <a:ext cx="7747852" cy="2341519"/>
          </a:xfrm>
          <a:prstGeom prst="rect">
            <a:avLst/>
          </a:prstGeom>
        </p:spPr>
      </p:pic>
      <p:sp>
        <p:nvSpPr>
          <p:cNvPr id="15" name="文本框 14">
            <a:extLst>
              <a:ext uri="{FF2B5EF4-FFF2-40B4-BE49-F238E27FC236}">
                <a16:creationId xmlns:a16="http://schemas.microsoft.com/office/drawing/2014/main" id="{AB583B75-E732-4AD6-9D56-2E6681E330F6}"/>
              </a:ext>
            </a:extLst>
          </p:cNvPr>
          <p:cNvSpPr txBox="1"/>
          <p:nvPr/>
        </p:nvSpPr>
        <p:spPr>
          <a:xfrm>
            <a:off x="183460" y="5005787"/>
            <a:ext cx="4572000"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绘图</a:t>
            </a:r>
            <a:endParaRPr lang="zh-CN" altLang="en-US" b="1" dirty="0"/>
          </a:p>
        </p:txBody>
      </p:sp>
      <p:pic>
        <p:nvPicPr>
          <p:cNvPr id="17" name="图片 16">
            <a:extLst>
              <a:ext uri="{FF2B5EF4-FFF2-40B4-BE49-F238E27FC236}">
                <a16:creationId xmlns:a16="http://schemas.microsoft.com/office/drawing/2014/main" id="{ADCBE981-B76C-4274-BDE7-5DA3B68B40F3}"/>
              </a:ext>
            </a:extLst>
          </p:cNvPr>
          <p:cNvPicPr>
            <a:picLocks noChangeAspect="1"/>
          </p:cNvPicPr>
          <p:nvPr/>
        </p:nvPicPr>
        <p:blipFill>
          <a:blip r:embed="rId3"/>
          <a:stretch>
            <a:fillRect/>
          </a:stretch>
        </p:blipFill>
        <p:spPr>
          <a:xfrm>
            <a:off x="183460" y="5375119"/>
            <a:ext cx="8340065" cy="1361978"/>
          </a:xfrm>
          <a:prstGeom prst="rect">
            <a:avLst/>
          </a:prstGeom>
        </p:spPr>
      </p:pic>
    </p:spTree>
    <p:extLst>
      <p:ext uri="{BB962C8B-B14F-4D97-AF65-F5344CB8AC3E}">
        <p14:creationId xmlns:p14="http://schemas.microsoft.com/office/powerpoint/2010/main" val="12162824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53</a:t>
            </a:fld>
            <a:endParaRPr lang="en-US" altLang="zh-CN"/>
          </a:p>
        </p:txBody>
      </p:sp>
      <p:sp>
        <p:nvSpPr>
          <p:cNvPr id="9"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731974"/>
          </a:xfrm>
        </p:spPr>
        <p:txBody>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交叉验证</a:t>
            </a:r>
          </a:p>
        </p:txBody>
      </p:sp>
      <p:sp>
        <p:nvSpPr>
          <p:cNvPr id="5" name="文本框 4"/>
          <p:cNvSpPr txBox="1"/>
          <p:nvPr/>
        </p:nvSpPr>
        <p:spPr>
          <a:xfrm>
            <a:off x="384410" y="1172739"/>
            <a:ext cx="8371840" cy="5444888"/>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sym typeface="Arial" panose="020B0604020202020204" pitchFamily="34" charset="0"/>
              </a:rPr>
              <a:t>在机器学习模型的选择和训练，数据集常被划分为</a:t>
            </a:r>
            <a:r>
              <a:rPr lang="zh-CN" altLang="en-US" b="1" dirty="0">
                <a:latin typeface="微软雅黑" panose="020B0503020204020204" pitchFamily="34" charset="-122"/>
                <a:ea typeface="微软雅黑" panose="020B0503020204020204" pitchFamily="34" charset="-122"/>
                <a:sym typeface="Arial" panose="020B0604020202020204" pitchFamily="34" charset="0"/>
              </a:rPr>
              <a:t>训练集 验证集和测试集</a:t>
            </a:r>
            <a:r>
              <a:rPr lang="zh-CN" altLang="en-US" dirty="0">
                <a:latin typeface="微软雅黑" panose="020B0503020204020204" pitchFamily="34" charset="-122"/>
                <a:ea typeface="微软雅黑" panose="020B0503020204020204" pitchFamily="34" charset="-122"/>
                <a:sym typeface="Arial" panose="020B0604020202020204" pitchFamily="34" charset="0"/>
              </a:rPr>
              <a:t>三个部分。</a:t>
            </a:r>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a:p>
            <a:pPr marL="285750" indent="-28575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sym typeface="Arial" panose="020B0604020202020204" pitchFamily="34" charset="0"/>
              </a:rPr>
              <a:t>训练集用于模型的训练，获得模型参数；</a:t>
            </a:r>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a:p>
            <a:pPr marL="285750" indent="-28575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sym typeface="Arial" panose="020B0604020202020204" pitchFamily="34" charset="0"/>
              </a:rPr>
              <a:t>验证集用于优化模型的超参数，也即选择不同模型；</a:t>
            </a:r>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a:p>
            <a:pPr marL="285750" indent="-28575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sym typeface="Arial" panose="020B0604020202020204" pitchFamily="34" charset="0"/>
              </a:rPr>
              <a:t>测试集用于对模型最终效果的评估。然而实际应用中数据量很可能是有限的，验证集不具备足够的数据来进行模型验证，筛选最优模型。此时需要进行交叉验证</a:t>
            </a:r>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dirty="0">
                <a:latin typeface="微软雅黑" panose="020B0503020204020204" pitchFamily="34" charset="-122"/>
                <a:ea typeface="微软雅黑" panose="020B0503020204020204" pitchFamily="34" charset="-122"/>
                <a:sym typeface="Arial" panose="020B0604020202020204" pitchFamily="34" charset="0"/>
              </a:rPr>
              <a:t>交叉验证的主要思想是将数据集分为训练集和测试集后，再将训练集切分为若干份子数据集，再将这些子数据集组合为训练集和验证集，在此基础上进行多次训练和验证。交叉验证具体可分为两类：</a:t>
            </a:r>
            <a:r>
              <a:rPr lang="en-US" altLang="zh-CN" dirty="0">
                <a:latin typeface="微软雅黑" panose="020B0503020204020204" pitchFamily="34" charset="-122"/>
                <a:ea typeface="微软雅黑" panose="020B0503020204020204" pitchFamily="34" charset="-122"/>
                <a:sym typeface="Arial" panose="020B0604020202020204" pitchFamily="34" charset="0"/>
              </a:rPr>
              <a:t>S</a:t>
            </a:r>
            <a:r>
              <a:rPr lang="zh-CN" altLang="en-US" dirty="0">
                <a:latin typeface="微软雅黑" panose="020B0503020204020204" pitchFamily="34" charset="-122"/>
                <a:ea typeface="微软雅黑" panose="020B0503020204020204" pitchFamily="34" charset="-122"/>
                <a:sym typeface="Arial" panose="020B0604020202020204" pitchFamily="34" charset="0"/>
              </a:rPr>
              <a:t>折交叉验证（</a:t>
            </a:r>
            <a:r>
              <a:rPr lang="en-US" altLang="zh-CN" dirty="0">
                <a:latin typeface="微软雅黑" panose="020B0503020204020204" pitchFamily="34" charset="-122"/>
                <a:ea typeface="微软雅黑" panose="020B0503020204020204" pitchFamily="34" charset="-122"/>
                <a:sym typeface="Arial" panose="020B0604020202020204" pitchFamily="34" charset="0"/>
              </a:rPr>
              <a:t>S-fold cross validation</a:t>
            </a:r>
            <a:r>
              <a:rPr lang="zh-CN" altLang="en-US" dirty="0">
                <a:latin typeface="微软雅黑" panose="020B0503020204020204" pitchFamily="34" charset="-122"/>
                <a:ea typeface="微软雅黑" panose="020B0503020204020204" pitchFamily="34" charset="-122"/>
                <a:sym typeface="Arial" panose="020B0604020202020204" pitchFamily="34" charset="0"/>
              </a:rPr>
              <a:t>）和留一交叉验证（</a:t>
            </a:r>
            <a:r>
              <a:rPr lang="en-US" altLang="zh-CN" dirty="0">
                <a:latin typeface="微软雅黑" panose="020B0503020204020204" pitchFamily="34" charset="-122"/>
                <a:ea typeface="微软雅黑" panose="020B0503020204020204" pitchFamily="34" charset="-122"/>
                <a:sym typeface="Arial" panose="020B0604020202020204" pitchFamily="34" charset="0"/>
              </a:rPr>
              <a:t>leave-one cross validation</a:t>
            </a:r>
            <a:r>
              <a:rPr lang="zh-CN" altLang="en-US" dirty="0">
                <a:latin typeface="微软雅黑" panose="020B0503020204020204" pitchFamily="34" charset="-122"/>
                <a:ea typeface="微软雅黑" panose="020B0503020204020204" pitchFamily="34" charset="-122"/>
                <a:sym typeface="Arial" panose="020B0604020202020204" pitchFamily="34" charset="0"/>
              </a:rPr>
              <a:t>）</a:t>
            </a:r>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页脚占位符 2">
            <a:extLst>
              <a:ext uri="{FF2B5EF4-FFF2-40B4-BE49-F238E27FC236}">
                <a16:creationId xmlns:a16="http://schemas.microsoft.com/office/drawing/2014/main" id="{9F8C5008-610B-4CBA-9E8D-98DDC95F8D7F}"/>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Tree>
    <p:extLst>
      <p:ext uri="{BB962C8B-B14F-4D97-AF65-F5344CB8AC3E}">
        <p14:creationId xmlns:p14="http://schemas.microsoft.com/office/powerpoint/2010/main" val="23116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54</a:t>
            </a:fld>
            <a:endParaRPr lang="en-US" altLang="zh-CN"/>
          </a:p>
        </p:txBody>
      </p:sp>
      <p:sp>
        <p:nvSpPr>
          <p:cNvPr id="9"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731974"/>
          </a:xfrm>
        </p:spPr>
        <p:txBody>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交叉验证</a:t>
            </a:r>
          </a:p>
        </p:txBody>
      </p:sp>
      <p:sp>
        <p:nvSpPr>
          <p:cNvPr id="5" name="文本框 4"/>
          <p:cNvSpPr txBox="1"/>
          <p:nvPr/>
        </p:nvSpPr>
        <p:spPr>
          <a:xfrm>
            <a:off x="179504" y="1010814"/>
            <a:ext cx="8371840" cy="2539157"/>
          </a:xfrm>
          <a:prstGeom prst="rect">
            <a:avLst/>
          </a:prstGeom>
          <a:noFill/>
        </p:spPr>
        <p:txBody>
          <a:bodyPr wrap="square" rtlCol="0">
            <a:spAutoFit/>
          </a:bodyPr>
          <a:lstStyle/>
          <a:p>
            <a:pPr marL="285750" indent="-285750">
              <a:buFont typeface="Wingdings" panose="05000000000000000000" pitchFamily="2" charset="2"/>
              <a:buChar char="p"/>
            </a:pPr>
            <a:r>
              <a:rPr lang="en-US" altLang="zh-CN" sz="2400"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a:t>
            </a:r>
            <a:r>
              <a:rPr lang="zh-CN" altLang="en-US" sz="2400"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折交叉验证（</a:t>
            </a:r>
            <a:r>
              <a:rPr lang="en-US" altLang="zh-CN" sz="2400"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S-fold cross validation</a:t>
            </a:r>
            <a:r>
              <a:rPr lang="zh-CN" altLang="en-US" sz="2400"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lang="en-US" altLang="zh-CN" sz="2400"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nSpc>
                <a:spcPct val="150000"/>
              </a:lnSpc>
            </a:pPr>
            <a:r>
              <a:rPr lang="en-US" altLang="zh-CN" dirty="0">
                <a:latin typeface="微软雅黑" panose="020B0503020204020204" pitchFamily="34" charset="-122"/>
                <a:ea typeface="微软雅黑" panose="020B0503020204020204" pitchFamily="34" charset="-122"/>
                <a:sym typeface="Arial" panose="020B0604020202020204" pitchFamily="34" charset="0"/>
              </a:rPr>
              <a:t>S</a:t>
            </a:r>
            <a:r>
              <a:rPr lang="zh-CN" altLang="en-US" dirty="0">
                <a:latin typeface="微软雅黑" panose="020B0503020204020204" pitchFamily="34" charset="-122"/>
                <a:ea typeface="微软雅黑" panose="020B0503020204020204" pitchFamily="34" charset="-122"/>
                <a:sym typeface="Arial" panose="020B0604020202020204" pitchFamily="34" charset="0"/>
              </a:rPr>
              <a:t>折交叉验证则将训练集分割成</a:t>
            </a:r>
            <a:r>
              <a:rPr lang="zh-CN" altLang="en-US" dirty="0">
                <a:solidFill>
                  <a:srgbClr val="C00000"/>
                </a:solidFill>
                <a:latin typeface="微软雅黑" panose="020B0503020204020204" pitchFamily="34" charset="-122"/>
                <a:ea typeface="微软雅黑" panose="020B0503020204020204" pitchFamily="34" charset="-122"/>
                <a:sym typeface="Arial" panose="020B0604020202020204" pitchFamily="34" charset="0"/>
              </a:rPr>
              <a:t>大小相同的 </a:t>
            </a:r>
            <a:r>
              <a:rPr lang="en-US" altLang="zh-CN" dirty="0">
                <a:solidFill>
                  <a:srgbClr val="C00000"/>
                </a:solidFill>
                <a:latin typeface="微软雅黑" panose="020B0503020204020204" pitchFamily="34" charset="-122"/>
                <a:ea typeface="微软雅黑" panose="020B0503020204020204" pitchFamily="34" charset="-122"/>
                <a:sym typeface="Arial" panose="020B0604020202020204" pitchFamily="34" charset="0"/>
              </a:rPr>
              <a:t>S </a:t>
            </a:r>
            <a:r>
              <a:rPr lang="zh-CN" altLang="en-US" dirty="0">
                <a:solidFill>
                  <a:srgbClr val="C00000"/>
                </a:solidFill>
                <a:latin typeface="微软雅黑" panose="020B0503020204020204" pitchFamily="34" charset="-122"/>
                <a:ea typeface="微软雅黑" panose="020B0503020204020204" pitchFamily="34" charset="-122"/>
                <a:sym typeface="Arial" panose="020B0604020202020204" pitchFamily="34" charset="0"/>
              </a:rPr>
              <a:t>组数据集</a:t>
            </a:r>
            <a:r>
              <a:rPr lang="zh-CN" altLang="en-US" dirty="0">
                <a:latin typeface="微软雅黑" panose="020B0503020204020204" pitchFamily="34" charset="-122"/>
                <a:ea typeface="微软雅黑" panose="020B0503020204020204" pitchFamily="34" charset="-122"/>
                <a:sym typeface="Arial" panose="020B0604020202020204" pitchFamily="34" charset="0"/>
              </a:rPr>
              <a:t>，我们先使用</a:t>
            </a:r>
            <a:r>
              <a:rPr lang="en-US" altLang="zh-CN" dirty="0">
                <a:latin typeface="微软雅黑" panose="020B0503020204020204" pitchFamily="34" charset="-122"/>
                <a:ea typeface="微软雅黑" panose="020B0503020204020204" pitchFamily="34" charset="-122"/>
                <a:sym typeface="Arial" panose="020B0604020202020204" pitchFamily="34" charset="0"/>
              </a:rPr>
              <a:t>2~ S</a:t>
            </a:r>
            <a:r>
              <a:rPr lang="zh-CN" altLang="en-US" dirty="0">
                <a:latin typeface="微软雅黑" panose="020B0503020204020204" pitchFamily="34" charset="-122"/>
                <a:ea typeface="微软雅黑" panose="020B0503020204020204" pitchFamily="34" charset="-122"/>
                <a:sym typeface="Arial" panose="020B0604020202020204" pitchFamily="34" charset="0"/>
              </a:rPr>
              <a:t>组数据集作为新的训练集进行训练，后用第一组数据集进行验证；接下来使用第二组数据集作为验证数据，而剩余数据集用于训练，依次往复，直至遍历完所有数据集。最后能获得 </a:t>
            </a:r>
            <a:r>
              <a:rPr lang="en-US" altLang="zh-CN" dirty="0">
                <a:latin typeface="微软雅黑" panose="020B0503020204020204" pitchFamily="34" charset="-122"/>
                <a:ea typeface="微软雅黑" panose="020B0503020204020204" pitchFamily="34" charset="-122"/>
                <a:sym typeface="Arial" panose="020B0604020202020204" pitchFamily="34" charset="0"/>
              </a:rPr>
              <a:t>S </a:t>
            </a:r>
            <a:r>
              <a:rPr lang="zh-CN" altLang="en-US" dirty="0">
                <a:latin typeface="微软雅黑" panose="020B0503020204020204" pitchFamily="34" charset="-122"/>
                <a:ea typeface="微软雅黑" panose="020B0503020204020204" pitchFamily="34" charset="-122"/>
                <a:sym typeface="Arial" panose="020B0604020202020204" pitchFamily="34" charset="0"/>
              </a:rPr>
              <a:t>组评价指标（误差），</a:t>
            </a:r>
            <a:r>
              <a:rPr lang="zh-CN" altLang="en-US" dirty="0">
                <a:solidFill>
                  <a:srgbClr val="C00000"/>
                </a:solidFill>
                <a:latin typeface="微软雅黑" panose="020B0503020204020204" pitchFamily="34" charset="-122"/>
                <a:ea typeface="微软雅黑" panose="020B0503020204020204" pitchFamily="34" charset="-122"/>
                <a:sym typeface="Arial" panose="020B0604020202020204" pitchFamily="34" charset="0"/>
              </a:rPr>
              <a:t>取均值</a:t>
            </a:r>
            <a:r>
              <a:rPr lang="zh-CN" altLang="en-US" dirty="0">
                <a:latin typeface="微软雅黑" panose="020B0503020204020204" pitchFamily="34" charset="-122"/>
                <a:ea typeface="微软雅黑" panose="020B0503020204020204" pitchFamily="34" charset="-122"/>
                <a:sym typeface="Arial" panose="020B0604020202020204" pitchFamily="34" charset="0"/>
              </a:rPr>
              <a:t>后即可获得当前超参数下的模型平均性能。下图展示了</a:t>
            </a:r>
            <a:r>
              <a:rPr lang="en-US" altLang="zh-CN" dirty="0">
                <a:latin typeface="微软雅黑" panose="020B0503020204020204" pitchFamily="34" charset="-122"/>
                <a:ea typeface="微软雅黑" panose="020B0503020204020204" pitchFamily="34" charset="-122"/>
                <a:sym typeface="Arial" panose="020B0604020202020204" pitchFamily="34" charset="0"/>
              </a:rPr>
              <a:t>6</a:t>
            </a:r>
            <a:r>
              <a:rPr lang="zh-CN" altLang="en-US" dirty="0">
                <a:latin typeface="微软雅黑" panose="020B0503020204020204" pitchFamily="34" charset="-122"/>
                <a:ea typeface="微软雅黑" panose="020B0503020204020204" pitchFamily="34" charset="-122"/>
                <a:sym typeface="Arial" panose="020B0604020202020204" pitchFamily="34" charset="0"/>
              </a:rPr>
              <a:t>折交叉验证的数据集划分方法。</a:t>
            </a:r>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p:txBody>
      </p:sp>
      <p:pic>
        <p:nvPicPr>
          <p:cNvPr id="4" name="图片 3"/>
          <p:cNvPicPr>
            <a:picLocks noChangeAspect="1"/>
          </p:cNvPicPr>
          <p:nvPr/>
        </p:nvPicPr>
        <p:blipFill>
          <a:blip r:embed="rId2"/>
          <a:stretch>
            <a:fillRect/>
          </a:stretch>
        </p:blipFill>
        <p:spPr>
          <a:xfrm>
            <a:off x="3426022" y="3549971"/>
            <a:ext cx="4058340" cy="3155629"/>
          </a:xfrm>
          <a:prstGeom prst="rect">
            <a:avLst/>
          </a:prstGeom>
        </p:spPr>
      </p:pic>
      <p:sp>
        <p:nvSpPr>
          <p:cNvPr id="8" name="页脚占位符 2">
            <a:extLst>
              <a:ext uri="{FF2B5EF4-FFF2-40B4-BE49-F238E27FC236}">
                <a16:creationId xmlns:a16="http://schemas.microsoft.com/office/drawing/2014/main" id="{78626875-2A9E-4BA1-B899-E906778C61DA}"/>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
        <p:nvSpPr>
          <p:cNvPr id="10" name="文本框 9">
            <a:extLst>
              <a:ext uri="{FF2B5EF4-FFF2-40B4-BE49-F238E27FC236}">
                <a16:creationId xmlns:a16="http://schemas.microsoft.com/office/drawing/2014/main" id="{A7AC995F-DF54-4E56-B608-7974614DF49E}"/>
              </a:ext>
            </a:extLst>
          </p:cNvPr>
          <p:cNvSpPr txBox="1"/>
          <p:nvPr/>
        </p:nvSpPr>
        <p:spPr>
          <a:xfrm>
            <a:off x="281531" y="3859585"/>
            <a:ext cx="3234920" cy="2120902"/>
          </a:xfrm>
          <a:prstGeom prst="rect">
            <a:avLst/>
          </a:prstGeom>
          <a:noFill/>
        </p:spPr>
        <p:txBody>
          <a:bodyPr wrap="square">
            <a:spAutoFit/>
          </a:bodyPr>
          <a:lstStyle/>
          <a:p>
            <a:pPr>
              <a:lnSpc>
                <a:spcPct val="150000"/>
              </a:lnSpc>
            </a:pPr>
            <a:r>
              <a:rPr lang="zh-CN" altLang="en-US" dirty="0">
                <a:latin typeface="微软雅黑" panose="020B0503020204020204" pitchFamily="34" charset="-122"/>
                <a:ea typeface="微软雅黑" panose="020B0503020204020204" pitchFamily="34" charset="-122"/>
              </a:rPr>
              <a:t>在</a:t>
            </a:r>
            <a:r>
              <a:rPr lang="en-US" altLang="zh-CN" dirty="0">
                <a:latin typeface="微软雅黑" panose="020B0503020204020204" pitchFamily="34" charset="-122"/>
                <a:ea typeface="微软雅黑" panose="020B0503020204020204" pitchFamily="34" charset="-122"/>
              </a:rPr>
              <a:t>S</a:t>
            </a:r>
            <a:r>
              <a:rPr lang="zh-CN" altLang="en-US" dirty="0">
                <a:latin typeface="微软雅黑" panose="020B0503020204020204" pitchFamily="34" charset="-122"/>
                <a:ea typeface="微软雅黑" panose="020B0503020204020204" pitchFamily="34" charset="-122"/>
              </a:rPr>
              <a:t>折交叉验证中，每一个样本数据都即被用作训练数据，也被用作测试数据。一定程度上可以避免训练的过</a:t>
            </a:r>
            <a:r>
              <a:rPr lang="zh-CN" altLang="en-US" dirty="0">
                <a:solidFill>
                  <a:srgbClr val="C00000"/>
                </a:solidFill>
                <a:latin typeface="微软雅黑" panose="020B0503020204020204" pitchFamily="34" charset="-122"/>
                <a:ea typeface="微软雅黑" panose="020B0503020204020204" pitchFamily="34" charset="-122"/>
              </a:rPr>
              <a:t>拟合与欠拟合</a:t>
            </a:r>
            <a:r>
              <a:rPr lang="zh-CN" altLang="en-US" dirty="0">
                <a:latin typeface="微软雅黑" panose="020B0503020204020204" pitchFamily="34" charset="-122"/>
                <a:ea typeface="微软雅黑" panose="020B0503020204020204" pitchFamily="34" charset="-122"/>
              </a:rPr>
              <a:t>情况的发生</a:t>
            </a:r>
          </a:p>
        </p:txBody>
      </p:sp>
    </p:spTree>
    <p:extLst>
      <p:ext uri="{BB962C8B-B14F-4D97-AF65-F5344CB8AC3E}">
        <p14:creationId xmlns:p14="http://schemas.microsoft.com/office/powerpoint/2010/main" val="14955526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55</a:t>
            </a:fld>
            <a:endParaRPr lang="en-US" altLang="zh-CN"/>
          </a:p>
        </p:txBody>
      </p:sp>
      <p:sp>
        <p:nvSpPr>
          <p:cNvPr id="9"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731974"/>
          </a:xfrm>
        </p:spPr>
        <p:txBody>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交叉验证</a:t>
            </a:r>
          </a:p>
        </p:txBody>
      </p:sp>
      <p:sp>
        <p:nvSpPr>
          <p:cNvPr id="5" name="文本框 4"/>
          <p:cNvSpPr txBox="1"/>
          <p:nvPr/>
        </p:nvSpPr>
        <p:spPr>
          <a:xfrm>
            <a:off x="162560" y="1265841"/>
            <a:ext cx="8371840" cy="1708160"/>
          </a:xfrm>
          <a:prstGeom prst="rect">
            <a:avLst/>
          </a:prstGeom>
          <a:noFill/>
        </p:spPr>
        <p:txBody>
          <a:bodyPr wrap="square" rtlCol="0">
            <a:spAutoFit/>
          </a:bodyPr>
          <a:lstStyle/>
          <a:p>
            <a:pPr marL="285750" indent="-285750">
              <a:buFont typeface="Wingdings" panose="05000000000000000000" pitchFamily="2" charset="2"/>
              <a:buChar char="p"/>
            </a:pPr>
            <a:r>
              <a:rPr lang="zh-CN" altLang="en-US" sz="2400"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留一交叉验证（</a:t>
            </a:r>
            <a:r>
              <a:rPr lang="en-US" altLang="zh-CN" sz="2400"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leave-one cross validation</a:t>
            </a:r>
            <a:r>
              <a:rPr lang="zh-CN" altLang="en-US" sz="2400"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lang="en-US" altLang="zh-CN" sz="2400"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nSpc>
                <a:spcPct val="150000"/>
              </a:lnSpc>
            </a:pPr>
            <a:r>
              <a:rPr lang="zh-CN" altLang="en-US" dirty="0">
                <a:latin typeface="微软雅黑" panose="020B0503020204020204" pitchFamily="34" charset="-122"/>
                <a:ea typeface="微软雅黑" panose="020B0503020204020204" pitchFamily="34" charset="-122"/>
                <a:sym typeface="Arial" panose="020B0604020202020204" pitchFamily="34" charset="0"/>
              </a:rPr>
              <a:t>留一交叉验证实际上是</a:t>
            </a:r>
            <a:r>
              <a:rPr lang="en-US" altLang="zh-CN" dirty="0">
                <a:latin typeface="微软雅黑" panose="020B0503020204020204" pitchFamily="34" charset="-122"/>
                <a:ea typeface="微软雅黑" panose="020B0503020204020204" pitchFamily="34" charset="-122"/>
                <a:sym typeface="Arial" panose="020B0604020202020204" pitchFamily="34" charset="0"/>
              </a:rPr>
              <a:t>S</a:t>
            </a:r>
            <a:r>
              <a:rPr lang="zh-CN" altLang="en-US" dirty="0">
                <a:latin typeface="微软雅黑" panose="020B0503020204020204" pitchFamily="34" charset="-122"/>
                <a:ea typeface="微软雅黑" panose="020B0503020204020204" pitchFamily="34" charset="-122"/>
                <a:sym typeface="Arial" panose="020B0604020202020204" pitchFamily="34" charset="0"/>
              </a:rPr>
              <a:t>折交叉验证的一种特殊情况。在数据量非常缺乏的情况下，另</a:t>
            </a:r>
            <a:r>
              <a:rPr lang="en-US" altLang="zh-CN" dirty="0">
                <a:latin typeface="微软雅黑" panose="020B0503020204020204" pitchFamily="34" charset="-122"/>
                <a:ea typeface="微软雅黑" panose="020B0503020204020204" pitchFamily="34" charset="-122"/>
                <a:sym typeface="Arial" panose="020B0604020202020204" pitchFamily="34" charset="0"/>
              </a:rPr>
              <a:t>S=N</a:t>
            </a:r>
            <a:r>
              <a:rPr lang="zh-CN" altLang="en-US" dirty="0">
                <a:latin typeface="微软雅黑" panose="020B0503020204020204" pitchFamily="34" charset="-122"/>
                <a:ea typeface="微软雅黑" panose="020B0503020204020204" pitchFamily="34" charset="-122"/>
                <a:sym typeface="Arial" panose="020B0604020202020204" pitchFamily="34" charset="0"/>
              </a:rPr>
              <a:t>，</a:t>
            </a:r>
            <a:r>
              <a:rPr lang="en-US" altLang="zh-CN" dirty="0">
                <a:latin typeface="微软雅黑" panose="020B0503020204020204" pitchFamily="34" charset="-122"/>
                <a:ea typeface="微软雅黑" panose="020B0503020204020204" pitchFamily="34" charset="-122"/>
                <a:sym typeface="Arial" panose="020B0604020202020204" pitchFamily="34" charset="0"/>
              </a:rPr>
              <a:t>N</a:t>
            </a:r>
            <a:r>
              <a:rPr lang="zh-CN" altLang="en-US" dirty="0">
                <a:latin typeface="微软雅黑" panose="020B0503020204020204" pitchFamily="34" charset="-122"/>
                <a:ea typeface="微软雅黑" panose="020B0503020204020204" pitchFamily="34" charset="-122"/>
                <a:sym typeface="Arial" panose="020B0604020202020204" pitchFamily="34" charset="0"/>
              </a:rPr>
              <a:t>为数据集的容量，每次只用一个样本来进行验证，这种交叉验证方法被称为留一交叉验证法</a:t>
            </a:r>
          </a:p>
        </p:txBody>
      </p:sp>
      <p:sp>
        <p:nvSpPr>
          <p:cNvPr id="7" name="页脚占位符 2">
            <a:extLst>
              <a:ext uri="{FF2B5EF4-FFF2-40B4-BE49-F238E27FC236}">
                <a16:creationId xmlns:a16="http://schemas.microsoft.com/office/drawing/2014/main" id="{D25CD40B-A558-4C8E-842C-8A97AA5609E4}"/>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Tree>
    <p:extLst>
      <p:ext uri="{BB962C8B-B14F-4D97-AF65-F5344CB8AC3E}">
        <p14:creationId xmlns:p14="http://schemas.microsoft.com/office/powerpoint/2010/main" val="17020207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E780D23-F4BB-41BC-8A93-BE830C9E803C}"/>
              </a:ext>
            </a:extLst>
          </p:cNvPr>
          <p:cNvSpPr>
            <a:spLocks noGrp="1"/>
          </p:cNvSpPr>
          <p:nvPr>
            <p:ph type="dt" sz="half" idx="10"/>
          </p:nvPr>
        </p:nvSpPr>
        <p:spPr/>
        <p:txBody>
          <a:bodyPr/>
          <a:lstStyle/>
          <a:p>
            <a:pPr>
              <a:defRPr/>
            </a:pPr>
            <a:fld id="{ACF5701F-746E-469B-BDDA-F93B22D4DB72}" type="datetime1">
              <a:rPr lang="en-US" altLang="zh-CN" smtClean="0"/>
              <a:t>3/30/2025</a:t>
            </a:fld>
            <a:endParaRPr lang="en-US" altLang="zh-CN"/>
          </a:p>
        </p:txBody>
      </p:sp>
      <p:sp>
        <p:nvSpPr>
          <p:cNvPr id="4" name="灯片编号占位符 3">
            <a:extLst>
              <a:ext uri="{FF2B5EF4-FFF2-40B4-BE49-F238E27FC236}">
                <a16:creationId xmlns:a16="http://schemas.microsoft.com/office/drawing/2014/main" id="{E8596F33-F30E-4B51-AA01-9B74A4BFF7BA}"/>
              </a:ext>
            </a:extLst>
          </p:cNvPr>
          <p:cNvSpPr>
            <a:spLocks noGrp="1"/>
          </p:cNvSpPr>
          <p:nvPr>
            <p:ph type="sldNum" sz="quarter" idx="12"/>
          </p:nvPr>
        </p:nvSpPr>
        <p:spPr/>
        <p:txBody>
          <a:bodyPr/>
          <a:lstStyle/>
          <a:p>
            <a:pPr>
              <a:defRPr/>
            </a:pPr>
            <a:fld id="{D1009943-BA82-4F6A-BD7C-764069224CD2}" type="slidenum">
              <a:rPr lang="zh-CN" altLang="en-US" smtClean="0"/>
              <a:pPr>
                <a:defRPr/>
              </a:pPr>
              <a:t>56</a:t>
            </a:fld>
            <a:endParaRPr lang="en-US" altLang="zh-CN"/>
          </a:p>
        </p:txBody>
      </p:sp>
      <p:sp>
        <p:nvSpPr>
          <p:cNvPr id="5" name="标题 1">
            <a:extLst>
              <a:ext uri="{FF2B5EF4-FFF2-40B4-BE49-F238E27FC236}">
                <a16:creationId xmlns:a16="http://schemas.microsoft.com/office/drawing/2014/main" id="{D778DB3E-BDF5-4F85-BDA6-25BFAA48FE4B}"/>
              </a:ext>
            </a:extLst>
          </p:cNvPr>
          <p:cNvSpPr txBox="1">
            <a:spLocks/>
          </p:cNvSpPr>
          <p:nvPr/>
        </p:nvSpPr>
        <p:spPr>
          <a:xfrm>
            <a:off x="162560" y="440765"/>
            <a:ext cx="8229600" cy="731974"/>
          </a:xfrm>
          <a:prstGeom prst="rect">
            <a:avLst/>
          </a:prstGeom>
        </p:spPr>
        <p:txBody>
          <a:bodyPr/>
          <a:lst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a:lstStyle>
          <a:p>
            <a:pPr defTabSz="914400"/>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p:sp>
        <p:nvSpPr>
          <p:cNvPr id="6" name="文本框 5">
            <a:extLst>
              <a:ext uri="{FF2B5EF4-FFF2-40B4-BE49-F238E27FC236}">
                <a16:creationId xmlns:a16="http://schemas.microsoft.com/office/drawing/2014/main" id="{D4CDF51F-F9D3-4F46-A289-D86CACC98760}"/>
              </a:ext>
            </a:extLst>
          </p:cNvPr>
          <p:cNvSpPr txBox="1"/>
          <p:nvPr/>
        </p:nvSpPr>
        <p:spPr>
          <a:xfrm>
            <a:off x="292189" y="992636"/>
            <a:ext cx="8464061" cy="1289905"/>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结合上一练习中的对数几率回归模型，编写函数。</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b="1" dirty="0">
                <a:latin typeface="微软雅黑" panose="020B0503020204020204" pitchFamily="34" charset="-122"/>
                <a:ea typeface="微软雅黑" panose="020B0503020204020204" pitchFamily="34" charset="-122"/>
              </a:rPr>
              <a:t>功能</a:t>
            </a:r>
            <a:r>
              <a:rPr lang="zh-CN" altLang="en-US" dirty="0">
                <a:latin typeface="微软雅黑" panose="020B0503020204020204" pitchFamily="34" charset="-122"/>
                <a:ea typeface="微软雅黑" panose="020B0503020204020204" pitchFamily="34" charset="-122"/>
              </a:rPr>
              <a:t>：给定训练样本，训练模型，采用</a:t>
            </a:r>
            <a:r>
              <a:rPr lang="en-US" altLang="zh-CN" dirty="0">
                <a:latin typeface="微软雅黑" panose="020B0503020204020204" pitchFamily="34" charset="-122"/>
                <a:ea typeface="微软雅黑" panose="020B0503020204020204" pitchFamily="34" charset="-122"/>
              </a:rPr>
              <a:t>S</a:t>
            </a:r>
            <a:r>
              <a:rPr lang="zh-CN" altLang="en-US" dirty="0">
                <a:latin typeface="微软雅黑" panose="020B0503020204020204" pitchFamily="34" charset="-122"/>
                <a:ea typeface="微软雅黑" panose="020B0503020204020204" pitchFamily="34" charset="-122"/>
              </a:rPr>
              <a:t>折交叉验证方法评估模型，要求函数可调整交叉验证折数</a:t>
            </a:r>
          </a:p>
        </p:txBody>
      </p:sp>
      <p:sp>
        <p:nvSpPr>
          <p:cNvPr id="9" name="页脚占位符 2">
            <a:extLst>
              <a:ext uri="{FF2B5EF4-FFF2-40B4-BE49-F238E27FC236}">
                <a16:creationId xmlns:a16="http://schemas.microsoft.com/office/drawing/2014/main" id="{FE8D1B95-EE71-4FE7-9A72-67952019A3EF}"/>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
        <p:nvSpPr>
          <p:cNvPr id="10" name="文本框 9">
            <a:extLst>
              <a:ext uri="{FF2B5EF4-FFF2-40B4-BE49-F238E27FC236}">
                <a16:creationId xmlns:a16="http://schemas.microsoft.com/office/drawing/2014/main" id="{6420A12A-AAF3-432F-85F4-4CD365F4EC78}"/>
              </a:ext>
            </a:extLst>
          </p:cNvPr>
          <p:cNvSpPr txBox="1"/>
          <p:nvPr/>
        </p:nvSpPr>
        <p:spPr>
          <a:xfrm>
            <a:off x="110727" y="2967335"/>
            <a:ext cx="2061739" cy="923330"/>
          </a:xfrm>
          <a:prstGeom prst="rect">
            <a:avLst/>
          </a:prstGeom>
          <a:noFill/>
        </p:spPr>
        <p:txBody>
          <a:bodyPr wrap="square" rtlCol="0">
            <a:spAutoFit/>
          </a:bodyPr>
          <a:lstStyle/>
          <a:p>
            <a:pPr marL="285750" indent="-285750">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计算损失函数（这里采用交叉熵损失函数）</a:t>
            </a:r>
          </a:p>
        </p:txBody>
      </p:sp>
      <p:sp>
        <p:nvSpPr>
          <p:cNvPr id="11" name="文本框 10">
            <a:extLst>
              <a:ext uri="{FF2B5EF4-FFF2-40B4-BE49-F238E27FC236}">
                <a16:creationId xmlns:a16="http://schemas.microsoft.com/office/drawing/2014/main" id="{F3819B02-BE1A-4689-971B-3F5C8A0A5330}"/>
              </a:ext>
            </a:extLst>
          </p:cNvPr>
          <p:cNvSpPr txBox="1"/>
          <p:nvPr/>
        </p:nvSpPr>
        <p:spPr>
          <a:xfrm>
            <a:off x="162560" y="4890932"/>
            <a:ext cx="1618198" cy="646331"/>
          </a:xfrm>
          <a:prstGeom prst="rect">
            <a:avLst/>
          </a:prstGeom>
          <a:noFill/>
        </p:spPr>
        <p:txBody>
          <a:bodyPr wrap="square" rtlCol="0">
            <a:spAutoFit/>
          </a:bodyPr>
          <a:lstStyle/>
          <a:p>
            <a:pPr marL="285750" indent="-285750">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数组拼接函数</a:t>
            </a:r>
          </a:p>
        </p:txBody>
      </p:sp>
      <p:pic>
        <p:nvPicPr>
          <p:cNvPr id="12" name="图片 11">
            <a:extLst>
              <a:ext uri="{FF2B5EF4-FFF2-40B4-BE49-F238E27FC236}">
                <a16:creationId xmlns:a16="http://schemas.microsoft.com/office/drawing/2014/main" id="{81C1285D-CB69-45AF-A1E0-BA0CC338BC2B}"/>
              </a:ext>
            </a:extLst>
          </p:cNvPr>
          <p:cNvPicPr>
            <a:picLocks noChangeAspect="1"/>
          </p:cNvPicPr>
          <p:nvPr/>
        </p:nvPicPr>
        <p:blipFill>
          <a:blip r:embed="rId2"/>
          <a:stretch>
            <a:fillRect/>
          </a:stretch>
        </p:blipFill>
        <p:spPr>
          <a:xfrm>
            <a:off x="2406001" y="2465168"/>
            <a:ext cx="6350249" cy="4094084"/>
          </a:xfrm>
          <a:prstGeom prst="rect">
            <a:avLst/>
          </a:prstGeom>
        </p:spPr>
      </p:pic>
    </p:spTree>
    <p:extLst>
      <p:ext uri="{BB962C8B-B14F-4D97-AF65-F5344CB8AC3E}">
        <p14:creationId xmlns:p14="http://schemas.microsoft.com/office/powerpoint/2010/main" val="8956943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E780D23-F4BB-41BC-8A93-BE830C9E803C}"/>
              </a:ext>
            </a:extLst>
          </p:cNvPr>
          <p:cNvSpPr>
            <a:spLocks noGrp="1"/>
          </p:cNvSpPr>
          <p:nvPr>
            <p:ph type="dt" sz="half" idx="10"/>
          </p:nvPr>
        </p:nvSpPr>
        <p:spPr/>
        <p:txBody>
          <a:bodyPr/>
          <a:lstStyle/>
          <a:p>
            <a:pPr>
              <a:defRPr/>
            </a:pPr>
            <a:fld id="{ACF5701F-746E-469B-BDDA-F93B22D4DB72}" type="datetime1">
              <a:rPr lang="en-US" altLang="zh-CN" smtClean="0"/>
              <a:t>3/30/2025</a:t>
            </a:fld>
            <a:endParaRPr lang="en-US" altLang="zh-CN"/>
          </a:p>
        </p:txBody>
      </p:sp>
      <p:sp>
        <p:nvSpPr>
          <p:cNvPr id="4" name="灯片编号占位符 3">
            <a:extLst>
              <a:ext uri="{FF2B5EF4-FFF2-40B4-BE49-F238E27FC236}">
                <a16:creationId xmlns:a16="http://schemas.microsoft.com/office/drawing/2014/main" id="{E8596F33-F30E-4B51-AA01-9B74A4BFF7BA}"/>
              </a:ext>
            </a:extLst>
          </p:cNvPr>
          <p:cNvSpPr>
            <a:spLocks noGrp="1"/>
          </p:cNvSpPr>
          <p:nvPr>
            <p:ph type="sldNum" sz="quarter" idx="12"/>
          </p:nvPr>
        </p:nvSpPr>
        <p:spPr/>
        <p:txBody>
          <a:bodyPr/>
          <a:lstStyle/>
          <a:p>
            <a:pPr>
              <a:defRPr/>
            </a:pPr>
            <a:fld id="{D1009943-BA82-4F6A-BD7C-764069224CD2}" type="slidenum">
              <a:rPr lang="zh-CN" altLang="en-US" smtClean="0"/>
              <a:pPr>
                <a:defRPr/>
              </a:pPr>
              <a:t>57</a:t>
            </a:fld>
            <a:endParaRPr lang="en-US" altLang="zh-CN"/>
          </a:p>
        </p:txBody>
      </p:sp>
      <p:sp>
        <p:nvSpPr>
          <p:cNvPr id="5" name="标题 1">
            <a:extLst>
              <a:ext uri="{FF2B5EF4-FFF2-40B4-BE49-F238E27FC236}">
                <a16:creationId xmlns:a16="http://schemas.microsoft.com/office/drawing/2014/main" id="{D778DB3E-BDF5-4F85-BDA6-25BFAA48FE4B}"/>
              </a:ext>
            </a:extLst>
          </p:cNvPr>
          <p:cNvSpPr txBox="1">
            <a:spLocks/>
          </p:cNvSpPr>
          <p:nvPr/>
        </p:nvSpPr>
        <p:spPr>
          <a:xfrm>
            <a:off x="162560" y="440765"/>
            <a:ext cx="8229600" cy="731974"/>
          </a:xfrm>
          <a:prstGeom prst="rect">
            <a:avLst/>
          </a:prstGeom>
        </p:spPr>
        <p:txBody>
          <a:bodyPr/>
          <a:lst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a:lstStyle>
          <a:p>
            <a:pPr defTabSz="914400"/>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p:sp>
        <p:nvSpPr>
          <p:cNvPr id="9" name="页脚占位符 2">
            <a:extLst>
              <a:ext uri="{FF2B5EF4-FFF2-40B4-BE49-F238E27FC236}">
                <a16:creationId xmlns:a16="http://schemas.microsoft.com/office/drawing/2014/main" id="{FE8D1B95-EE71-4FE7-9A72-67952019A3EF}"/>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
        <p:nvSpPr>
          <p:cNvPr id="12" name="文本框 11">
            <a:extLst>
              <a:ext uri="{FF2B5EF4-FFF2-40B4-BE49-F238E27FC236}">
                <a16:creationId xmlns:a16="http://schemas.microsoft.com/office/drawing/2014/main" id="{1354D692-F18E-4884-8FDA-885D30B53EA1}"/>
              </a:ext>
            </a:extLst>
          </p:cNvPr>
          <p:cNvSpPr txBox="1"/>
          <p:nvPr/>
        </p:nvSpPr>
        <p:spPr>
          <a:xfrm>
            <a:off x="162560" y="1516624"/>
            <a:ext cx="2279916"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CN" b="1" dirty="0">
                <a:latin typeface="微软雅黑" panose="020B0503020204020204" pitchFamily="34" charset="-122"/>
                <a:ea typeface="微软雅黑" panose="020B0503020204020204" pitchFamily="34" charset="-122"/>
              </a:rPr>
              <a:t>S</a:t>
            </a:r>
            <a:r>
              <a:rPr lang="zh-CN" altLang="en-US" b="1" dirty="0">
                <a:latin typeface="微软雅黑" panose="020B0503020204020204" pitchFamily="34" charset="-122"/>
                <a:ea typeface="微软雅黑" panose="020B0503020204020204" pitchFamily="34" charset="-122"/>
              </a:rPr>
              <a:t>折交叉验证函数</a:t>
            </a:r>
          </a:p>
        </p:txBody>
      </p:sp>
      <p:pic>
        <p:nvPicPr>
          <p:cNvPr id="13" name="图片 12">
            <a:extLst>
              <a:ext uri="{FF2B5EF4-FFF2-40B4-BE49-F238E27FC236}">
                <a16:creationId xmlns:a16="http://schemas.microsoft.com/office/drawing/2014/main" id="{AEE0D9B9-0F0F-438E-97D7-662BBFB88721}"/>
              </a:ext>
            </a:extLst>
          </p:cNvPr>
          <p:cNvPicPr>
            <a:picLocks noChangeAspect="1"/>
          </p:cNvPicPr>
          <p:nvPr/>
        </p:nvPicPr>
        <p:blipFill>
          <a:blip r:embed="rId2"/>
          <a:stretch>
            <a:fillRect/>
          </a:stretch>
        </p:blipFill>
        <p:spPr>
          <a:xfrm>
            <a:off x="2575338" y="347663"/>
            <a:ext cx="5932436" cy="6305723"/>
          </a:xfrm>
          <a:prstGeom prst="rect">
            <a:avLst/>
          </a:prstGeom>
        </p:spPr>
      </p:pic>
    </p:spTree>
    <p:extLst>
      <p:ext uri="{BB962C8B-B14F-4D97-AF65-F5344CB8AC3E}">
        <p14:creationId xmlns:p14="http://schemas.microsoft.com/office/powerpoint/2010/main" val="131001355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58</a:t>
            </a:fld>
            <a:endParaRPr lang="en-US" altLang="zh-CN"/>
          </a:p>
        </p:txBody>
      </p:sp>
      <p:sp>
        <p:nvSpPr>
          <p:cNvPr id="13" name="标题 1">
            <a:extLst>
              <a:ext uri="{FF2B5EF4-FFF2-40B4-BE49-F238E27FC236}">
                <a16:creationId xmlns:a16="http://schemas.microsoft.com/office/drawing/2014/main" id="{5607F18F-699A-4F7F-A2ED-BD80B7B267C8}"/>
              </a:ext>
            </a:extLst>
          </p:cNvPr>
          <p:cNvSpPr>
            <a:spLocks noGrp="1"/>
          </p:cNvSpPr>
          <p:nvPr>
            <p:ph type="title"/>
          </p:nvPr>
        </p:nvSpPr>
        <p:spPr>
          <a:xfrm>
            <a:off x="203253" y="376219"/>
            <a:ext cx="8229600" cy="990600"/>
          </a:xfrm>
        </p:spPr>
        <p:txBody>
          <a:bodyPr/>
          <a:lstStyle/>
          <a:p>
            <a:r>
              <a:rPr lang="en-US" altLang="zh-CN" dirty="0">
                <a:latin typeface="微软雅黑" panose="020B0503020204020204" pitchFamily="34" charset="-122"/>
                <a:ea typeface="微软雅黑" panose="020B0503020204020204" pitchFamily="34" charset="-122"/>
                <a:cs typeface="Times New Roman" panose="02020603050405020304" pitchFamily="18" charset="0"/>
              </a:rPr>
              <a:t>6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机器学习训练中的其他技巧</a:t>
            </a:r>
          </a:p>
        </p:txBody>
      </p:sp>
      <p:sp>
        <p:nvSpPr>
          <p:cNvPr id="6" name="文本框 5"/>
          <p:cNvSpPr txBox="1"/>
          <p:nvPr/>
        </p:nvSpPr>
        <p:spPr>
          <a:xfrm>
            <a:off x="341376" y="1560576"/>
            <a:ext cx="8091477" cy="1815882"/>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dirty="0">
                <a:solidFill>
                  <a:srgbClr val="1F497D"/>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利用数据改善模型性能</a:t>
            </a:r>
            <a:endParaRPr lang="en-US" altLang="zh-CN" sz="2800" dirty="0">
              <a:solidFill>
                <a:srgbClr val="1F497D"/>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endParaRPr lang="en-US" altLang="zh-CN" sz="2800" dirty="0">
              <a:solidFill>
                <a:srgbClr val="1F497D"/>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342900" indent="-342900">
              <a:buFont typeface="Wingdings" panose="05000000000000000000" pitchFamily="2" charset="2"/>
              <a:buChar char="p"/>
            </a:pPr>
            <a:r>
              <a:rPr lang="zh-CN" altLang="en-US" sz="2800" dirty="0">
                <a:solidFill>
                  <a:srgbClr val="1F497D"/>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特征选择技巧</a:t>
            </a:r>
            <a:endParaRPr lang="en-US" altLang="zh-CN" sz="2800" dirty="0">
              <a:solidFill>
                <a:srgbClr val="1F497D"/>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endParaRPr lang="en-US" altLang="zh-CN" sz="2800" dirty="0">
              <a:solidFill>
                <a:srgbClr val="1F497D"/>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7" name="页脚占位符 2">
            <a:extLst>
              <a:ext uri="{FF2B5EF4-FFF2-40B4-BE49-F238E27FC236}">
                <a16:creationId xmlns:a16="http://schemas.microsoft.com/office/drawing/2014/main" id="{3B41900D-1C95-4D76-AEE4-0D916454F4CF}"/>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Tree>
    <p:extLst>
      <p:ext uri="{BB962C8B-B14F-4D97-AF65-F5344CB8AC3E}">
        <p14:creationId xmlns:p14="http://schemas.microsoft.com/office/powerpoint/2010/main" val="272739581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59</a:t>
            </a:fld>
            <a:endParaRPr lang="en-US" altLang="zh-CN"/>
          </a:p>
        </p:txBody>
      </p:sp>
      <p:sp>
        <p:nvSpPr>
          <p:cNvPr id="7" name="页脚占位符 2">
            <a:extLst>
              <a:ext uri="{FF2B5EF4-FFF2-40B4-BE49-F238E27FC236}">
                <a16:creationId xmlns:a16="http://schemas.microsoft.com/office/drawing/2014/main" id="{3B41900D-1C95-4D76-AEE4-0D916454F4CF}"/>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
        <p:nvSpPr>
          <p:cNvPr id="8" name="标题 1">
            <a:extLst>
              <a:ext uri="{FF2B5EF4-FFF2-40B4-BE49-F238E27FC236}">
                <a16:creationId xmlns:a16="http://schemas.microsoft.com/office/drawing/2014/main" id="{C9EB287C-73E0-4EB1-B5EE-81770CA4BF19}"/>
              </a:ext>
            </a:extLst>
          </p:cNvPr>
          <p:cNvSpPr>
            <a:spLocks noGrp="1"/>
          </p:cNvSpPr>
          <p:nvPr>
            <p:ph type="title"/>
          </p:nvPr>
        </p:nvSpPr>
        <p:spPr>
          <a:xfrm>
            <a:off x="162560" y="440765"/>
            <a:ext cx="8229600" cy="731974"/>
          </a:xfrm>
        </p:spPr>
        <p:txBody>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利用数据改善模型性能</a:t>
            </a:r>
          </a:p>
        </p:txBody>
      </p:sp>
      <p:sp>
        <p:nvSpPr>
          <p:cNvPr id="10" name="文本框 9">
            <a:extLst>
              <a:ext uri="{FF2B5EF4-FFF2-40B4-BE49-F238E27FC236}">
                <a16:creationId xmlns:a16="http://schemas.microsoft.com/office/drawing/2014/main" id="{5DABB8B2-456F-4D22-A6ED-11EE7C1C2159}"/>
              </a:ext>
            </a:extLst>
          </p:cNvPr>
          <p:cNvSpPr txBox="1"/>
          <p:nvPr/>
        </p:nvSpPr>
        <p:spPr>
          <a:xfrm>
            <a:off x="162560" y="1082592"/>
            <a:ext cx="8382684" cy="874407"/>
          </a:xfrm>
          <a:prstGeom prst="rect">
            <a:avLst/>
          </a:prstGeom>
          <a:noFill/>
        </p:spPr>
        <p:txBody>
          <a:bodyPr wrap="square">
            <a:spAutoFit/>
          </a:bodyPr>
          <a:lstStyle/>
          <a:p>
            <a:pPr>
              <a:lnSpc>
                <a:spcPct val="150000"/>
              </a:lnSpc>
            </a:pPr>
            <a:r>
              <a:rPr lang="zh-CN" altLang="en-US" dirty="0">
                <a:latin typeface="微软雅黑" panose="020B0503020204020204" pitchFamily="34" charset="-122"/>
                <a:ea typeface="微软雅黑" panose="020B0503020204020204" pitchFamily="34" charset="-122"/>
                <a:sym typeface="Arial" panose="020B0604020202020204" pitchFamily="34" charset="0"/>
              </a:rPr>
              <a:t>从数据预处理的角度，对数据进行扩充、清洗、变换、筛选等工作，是提升机器学习模型性能的方式之一，从数据角度改善模型性能可以从以下方面入手：</a:t>
            </a:r>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14" name="文本框 13">
            <a:extLst>
              <a:ext uri="{FF2B5EF4-FFF2-40B4-BE49-F238E27FC236}">
                <a16:creationId xmlns:a16="http://schemas.microsoft.com/office/drawing/2014/main" id="{3004D37E-897A-4692-AF73-5E871E47E56A}"/>
              </a:ext>
            </a:extLst>
          </p:cNvPr>
          <p:cNvSpPr txBox="1"/>
          <p:nvPr/>
        </p:nvSpPr>
        <p:spPr>
          <a:xfrm>
            <a:off x="101227" y="1936876"/>
            <a:ext cx="8485211" cy="1289456"/>
          </a:xfrm>
          <a:prstGeom prst="rect">
            <a:avLst/>
          </a:prstGeom>
          <a:noFill/>
        </p:spPr>
        <p:txBody>
          <a:bodyPr wrap="square">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t>
            </a:r>
            <a:r>
              <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1</a:t>
            </a: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）人工扩充数据集</a:t>
            </a:r>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可以通过对有限数据的变换来人工扩充数据集，例如填充或重新排列现有数据；利用概率模型生成新的数据；增加原始数据扰动；使用滑动窗口对数据进行裁切等</a:t>
            </a:r>
            <a:endParaRPr lang="zh-CN" altLang="en-US" dirty="0"/>
          </a:p>
        </p:txBody>
      </p:sp>
      <p:sp>
        <p:nvSpPr>
          <p:cNvPr id="3" name="文本框 2">
            <a:extLst>
              <a:ext uri="{FF2B5EF4-FFF2-40B4-BE49-F238E27FC236}">
                <a16:creationId xmlns:a16="http://schemas.microsoft.com/office/drawing/2014/main" id="{46DFF555-4E0F-453C-9A17-E69FD9322DD3}"/>
              </a:ext>
            </a:extLst>
          </p:cNvPr>
          <p:cNvSpPr txBox="1"/>
          <p:nvPr/>
        </p:nvSpPr>
        <p:spPr>
          <a:xfrm>
            <a:off x="162560" y="3667303"/>
            <a:ext cx="8593690" cy="646331"/>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例如，图像识别时，对同一张图像，通过图像的平移、旋转、缩放、调节亮度等措施生成大量的新的数据集</a:t>
            </a:r>
          </a:p>
        </p:txBody>
      </p:sp>
      <p:pic>
        <p:nvPicPr>
          <p:cNvPr id="5" name="图片 4">
            <a:extLst>
              <a:ext uri="{FF2B5EF4-FFF2-40B4-BE49-F238E27FC236}">
                <a16:creationId xmlns:a16="http://schemas.microsoft.com/office/drawing/2014/main" id="{DF08C1AF-B5A6-4B0C-AE59-6D99E9680C31}"/>
              </a:ext>
            </a:extLst>
          </p:cNvPr>
          <p:cNvPicPr>
            <a:picLocks noChangeAspect="1"/>
          </p:cNvPicPr>
          <p:nvPr/>
        </p:nvPicPr>
        <p:blipFill>
          <a:blip r:embed="rId3"/>
          <a:stretch>
            <a:fillRect/>
          </a:stretch>
        </p:blipFill>
        <p:spPr>
          <a:xfrm>
            <a:off x="609600" y="4948634"/>
            <a:ext cx="1341437" cy="1341437"/>
          </a:xfrm>
          <a:prstGeom prst="rect">
            <a:avLst/>
          </a:prstGeom>
        </p:spPr>
      </p:pic>
      <p:pic>
        <p:nvPicPr>
          <p:cNvPr id="9" name="图片 8">
            <a:extLst>
              <a:ext uri="{FF2B5EF4-FFF2-40B4-BE49-F238E27FC236}">
                <a16:creationId xmlns:a16="http://schemas.microsoft.com/office/drawing/2014/main" id="{1D0C912D-F9A8-44D7-BAE7-09125A7B8EE5}"/>
              </a:ext>
            </a:extLst>
          </p:cNvPr>
          <p:cNvPicPr>
            <a:picLocks noChangeAspect="1"/>
          </p:cNvPicPr>
          <p:nvPr/>
        </p:nvPicPr>
        <p:blipFill>
          <a:blip r:embed="rId4"/>
          <a:stretch>
            <a:fillRect/>
          </a:stretch>
        </p:blipFill>
        <p:spPr>
          <a:xfrm>
            <a:off x="4260850" y="4176651"/>
            <a:ext cx="3932516" cy="2463924"/>
          </a:xfrm>
          <a:prstGeom prst="rect">
            <a:avLst/>
          </a:prstGeom>
        </p:spPr>
      </p:pic>
      <p:sp>
        <p:nvSpPr>
          <p:cNvPr id="11" name="箭头: 右 10">
            <a:extLst>
              <a:ext uri="{FF2B5EF4-FFF2-40B4-BE49-F238E27FC236}">
                <a16:creationId xmlns:a16="http://schemas.microsoft.com/office/drawing/2014/main" id="{86467C08-10E7-4797-BC9E-E85CA589D810}"/>
              </a:ext>
            </a:extLst>
          </p:cNvPr>
          <p:cNvSpPr/>
          <p:nvPr/>
        </p:nvSpPr>
        <p:spPr>
          <a:xfrm>
            <a:off x="2324100" y="5473700"/>
            <a:ext cx="1606550" cy="3017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196341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60</a:t>
            </a:fld>
            <a:endParaRPr lang="en-US" altLang="zh-CN"/>
          </a:p>
        </p:txBody>
      </p:sp>
      <p:sp>
        <p:nvSpPr>
          <p:cNvPr id="9"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731974"/>
          </a:xfrm>
        </p:spPr>
        <p:txBody>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利用数据改善模型性能</a:t>
            </a:r>
          </a:p>
        </p:txBody>
      </p:sp>
      <p:sp>
        <p:nvSpPr>
          <p:cNvPr id="5" name="文本框 4"/>
          <p:cNvSpPr txBox="1"/>
          <p:nvPr/>
        </p:nvSpPr>
        <p:spPr>
          <a:xfrm>
            <a:off x="162560" y="1082961"/>
            <a:ext cx="8371840" cy="2536400"/>
          </a:xfrm>
          <a:prstGeom prst="rect">
            <a:avLst/>
          </a:prstGeom>
          <a:noFill/>
        </p:spPr>
        <p:txBody>
          <a:bodyPr wrap="square" rtlCol="0">
            <a:spAutoFit/>
          </a:bodyPr>
          <a:lstStyle/>
          <a:p>
            <a:pPr>
              <a:lnSpc>
                <a:spcPct val="150000"/>
              </a:lnSpc>
            </a:pPr>
            <a:r>
              <a:rPr lang="zh-CN" altLang="en-US" b="1" dirty="0">
                <a:latin typeface="微软雅黑" panose="020B0503020204020204" pitchFamily="34" charset="-122"/>
                <a:ea typeface="微软雅黑" panose="020B0503020204020204" pitchFamily="34" charset="-122"/>
                <a:sym typeface="Arial" panose="020B0604020202020204" pitchFamily="34" charset="0"/>
              </a:rPr>
              <a:t>（</a:t>
            </a:r>
            <a:r>
              <a:rPr lang="en-US" altLang="zh-CN" b="1" dirty="0">
                <a:latin typeface="微软雅黑" panose="020B0503020204020204" pitchFamily="34" charset="-122"/>
                <a:ea typeface="微软雅黑" panose="020B0503020204020204" pitchFamily="34" charset="-122"/>
                <a:sym typeface="Arial" panose="020B0604020202020204" pitchFamily="34" charset="0"/>
              </a:rPr>
              <a:t>2</a:t>
            </a:r>
            <a:r>
              <a:rPr lang="zh-CN" altLang="en-US" b="1" dirty="0">
                <a:latin typeface="微软雅黑" panose="020B0503020204020204" pitchFamily="34" charset="-122"/>
                <a:ea typeface="微软雅黑" panose="020B0503020204020204" pitchFamily="34" charset="-122"/>
                <a:sym typeface="Arial" panose="020B0604020202020204" pitchFamily="34" charset="0"/>
              </a:rPr>
              <a:t>）数据重采样</a:t>
            </a:r>
            <a:endParaRPr lang="en-US" altLang="zh-CN" b="1"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dirty="0">
                <a:latin typeface="微软雅黑" panose="020B0503020204020204" pitchFamily="34" charset="-122"/>
                <a:ea typeface="微软雅黑" panose="020B0503020204020204" pitchFamily="34" charset="-122"/>
                <a:sym typeface="Arial" panose="020B0604020202020204" pitchFamily="34" charset="0"/>
              </a:rPr>
              <a:t>重采样包括欠采样和过采样。当我们想要获得一种模型的基础效果，而当前数据集过大，此时便需要进行欠采样，从而提升训练速度。过采样一般用于某类特征的样本过少的情况，例如分类问题中，几类样本数量极度不平衡，便需要对小数量类别样本进行过采样（例如，有放回重复采样重新生成训练样本，同时增大</a:t>
            </a:r>
            <a:r>
              <a:rPr lang="zh-CN" altLang="en-US" dirty="0">
                <a:solidFill>
                  <a:srgbClr val="C00000"/>
                </a:solidFill>
                <a:latin typeface="微软雅黑" panose="020B0503020204020204" pitchFamily="34" charset="-122"/>
                <a:ea typeface="微软雅黑" panose="020B0503020204020204" pitchFamily="34" charset="-122"/>
                <a:sym typeface="Arial" panose="020B0604020202020204" pitchFamily="34" charset="0"/>
              </a:rPr>
              <a:t>小样本</a:t>
            </a:r>
            <a:r>
              <a:rPr lang="zh-CN" altLang="en-US" dirty="0">
                <a:latin typeface="微软雅黑" panose="020B0503020204020204" pitchFamily="34" charset="-122"/>
                <a:ea typeface="微软雅黑" panose="020B0503020204020204" pitchFamily="34" charset="-122"/>
                <a:sym typeface="Arial" panose="020B0604020202020204" pitchFamily="34" charset="0"/>
              </a:rPr>
              <a:t>的</a:t>
            </a:r>
            <a:r>
              <a:rPr lang="zh-CN" altLang="en-US" dirty="0">
                <a:solidFill>
                  <a:srgbClr val="C00000"/>
                </a:solidFill>
                <a:latin typeface="微软雅黑" panose="020B0503020204020204" pitchFamily="34" charset="-122"/>
                <a:ea typeface="微软雅黑" panose="020B0503020204020204" pitchFamily="34" charset="-122"/>
                <a:sym typeface="Arial" panose="020B0604020202020204" pitchFamily="34" charset="0"/>
              </a:rPr>
              <a:t>被采集权重</a:t>
            </a:r>
            <a:r>
              <a:rPr lang="zh-CN" altLang="en-US" dirty="0">
                <a:latin typeface="微软雅黑" panose="020B0503020204020204" pitchFamily="34" charset="-122"/>
                <a:ea typeface="微软雅黑" panose="020B0503020204020204" pitchFamily="34" charset="-122"/>
                <a:sym typeface="Arial" panose="020B0604020202020204" pitchFamily="34" charset="0"/>
              </a:rPr>
              <a:t>），从而使模型学习其特征。</a:t>
            </a:r>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8" name="页脚占位符 2">
            <a:extLst>
              <a:ext uri="{FF2B5EF4-FFF2-40B4-BE49-F238E27FC236}">
                <a16:creationId xmlns:a16="http://schemas.microsoft.com/office/drawing/2014/main" id="{0DA784BC-C707-4140-AAB6-D3446AEB965E}"/>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
        <p:nvSpPr>
          <p:cNvPr id="3" name="文本框 2">
            <a:extLst>
              <a:ext uri="{FF2B5EF4-FFF2-40B4-BE49-F238E27FC236}">
                <a16:creationId xmlns:a16="http://schemas.microsoft.com/office/drawing/2014/main" id="{0B496FE5-C0E6-4D45-93CA-B6ED4325DD81}"/>
              </a:ext>
            </a:extLst>
          </p:cNvPr>
          <p:cNvSpPr txBox="1"/>
          <p:nvPr/>
        </p:nvSpPr>
        <p:spPr>
          <a:xfrm>
            <a:off x="162560" y="3846059"/>
            <a:ext cx="8229600" cy="1705403"/>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在识别电信诈骗交易时，常遇到的一个问题是，极少量的诈骗类交易记录淹没在海量的正常交易记录中，一般的分类算法会将这些诈骗记录视作噪声，导致算法无法获得令人满意的分类效果，应对这种情况，常采用的方法是过采样，增加诈骗记录占比。</a:t>
            </a:r>
          </a:p>
        </p:txBody>
      </p:sp>
    </p:spTree>
    <p:extLst>
      <p:ext uri="{BB962C8B-B14F-4D97-AF65-F5344CB8AC3E}">
        <p14:creationId xmlns:p14="http://schemas.microsoft.com/office/powerpoint/2010/main" val="82482784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a:extLst>
              <a:ext uri="{FF2B5EF4-FFF2-40B4-BE49-F238E27FC236}">
                <a16:creationId xmlns:a16="http://schemas.microsoft.com/office/drawing/2014/main" id="{BB4E7693-485F-4854-9DF9-7C7E6A418540}"/>
              </a:ext>
            </a:extLst>
          </p:cNvPr>
          <p:cNvPicPr>
            <a:picLocks noChangeAspect="1"/>
          </p:cNvPicPr>
          <p:nvPr/>
        </p:nvPicPr>
        <p:blipFill>
          <a:blip r:embed="rId3"/>
          <a:stretch>
            <a:fillRect/>
          </a:stretch>
        </p:blipFill>
        <p:spPr>
          <a:xfrm>
            <a:off x="4577395" y="3729550"/>
            <a:ext cx="4218926" cy="2265215"/>
          </a:xfrm>
          <a:prstGeom prst="rect">
            <a:avLst/>
          </a:prstGeom>
        </p:spPr>
      </p:pic>
      <p:pic>
        <p:nvPicPr>
          <p:cNvPr id="13" name="图片 12">
            <a:extLst>
              <a:ext uri="{FF2B5EF4-FFF2-40B4-BE49-F238E27FC236}">
                <a16:creationId xmlns:a16="http://schemas.microsoft.com/office/drawing/2014/main" id="{2889C24E-B02F-402C-967E-DACFC08B5F3E}"/>
              </a:ext>
            </a:extLst>
          </p:cNvPr>
          <p:cNvPicPr>
            <a:picLocks noChangeAspect="1"/>
          </p:cNvPicPr>
          <p:nvPr/>
        </p:nvPicPr>
        <p:blipFill>
          <a:blip r:embed="rId4"/>
          <a:stretch>
            <a:fillRect/>
          </a:stretch>
        </p:blipFill>
        <p:spPr>
          <a:xfrm>
            <a:off x="279648" y="3686754"/>
            <a:ext cx="3996663" cy="2308011"/>
          </a:xfrm>
          <a:prstGeom prst="rect">
            <a:avLst/>
          </a:prstGeom>
        </p:spPr>
      </p:pic>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61</a:t>
            </a:fld>
            <a:endParaRPr lang="en-US" altLang="zh-CN"/>
          </a:p>
        </p:txBody>
      </p:sp>
      <p:sp>
        <p:nvSpPr>
          <p:cNvPr id="9"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731974"/>
          </a:xfrm>
        </p:spPr>
        <p:txBody>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利用数据改善模型性能</a:t>
            </a:r>
          </a:p>
        </p:txBody>
      </p:sp>
      <p:sp>
        <p:nvSpPr>
          <p:cNvPr id="5" name="文本框 4"/>
          <p:cNvSpPr txBox="1"/>
          <p:nvPr/>
        </p:nvSpPr>
        <p:spPr>
          <a:xfrm>
            <a:off x="91440" y="1016054"/>
            <a:ext cx="8968926" cy="2120902"/>
          </a:xfrm>
          <a:prstGeom prst="rect">
            <a:avLst/>
          </a:prstGeom>
          <a:noFill/>
        </p:spPr>
        <p:txBody>
          <a:bodyPr wrap="square" rtlCol="0">
            <a:spAutoFit/>
          </a:bodyPr>
          <a:lstStyle/>
          <a:p>
            <a:pPr>
              <a:lnSpc>
                <a:spcPct val="150000"/>
              </a:lnSpc>
            </a:pPr>
            <a:r>
              <a:rPr lang="zh-CN" altLang="en-US" b="1" dirty="0">
                <a:latin typeface="微软雅黑" panose="020B0503020204020204" pitchFamily="34" charset="-122"/>
                <a:ea typeface="微软雅黑" panose="020B0503020204020204" pitchFamily="34" charset="-122"/>
                <a:sym typeface="Arial" panose="020B0604020202020204" pitchFamily="34" charset="0"/>
              </a:rPr>
              <a:t>（</a:t>
            </a:r>
            <a:r>
              <a:rPr lang="en-US" altLang="zh-CN" b="1" dirty="0">
                <a:latin typeface="微软雅黑" panose="020B0503020204020204" pitchFamily="34" charset="-122"/>
                <a:ea typeface="微软雅黑" panose="020B0503020204020204" pitchFamily="34" charset="-122"/>
                <a:sym typeface="Arial" panose="020B0604020202020204" pitchFamily="34" charset="0"/>
              </a:rPr>
              <a:t>3</a:t>
            </a:r>
            <a:r>
              <a:rPr lang="zh-CN" altLang="en-US" b="1" dirty="0">
                <a:latin typeface="微软雅黑" panose="020B0503020204020204" pitchFamily="34" charset="-122"/>
                <a:ea typeface="微软雅黑" panose="020B0503020204020204" pitchFamily="34" charset="-122"/>
                <a:sym typeface="Arial" panose="020B0604020202020204" pitchFamily="34" charset="0"/>
              </a:rPr>
              <a:t>）缩放数据（标准化处理）</a:t>
            </a:r>
            <a:endParaRPr lang="en-US" altLang="zh-CN" b="1" dirty="0">
              <a:latin typeface="微软雅黑" panose="020B0503020204020204" pitchFamily="34" charset="-122"/>
              <a:ea typeface="微软雅黑" panose="020B0503020204020204" pitchFamily="34" charset="-122"/>
              <a:sym typeface="Arial" panose="020B0604020202020204" pitchFamily="34" charset="0"/>
            </a:endParaRPr>
          </a:p>
          <a:p>
            <a:pPr algn="just">
              <a:lnSpc>
                <a:spcPct val="150000"/>
              </a:lnSpc>
            </a:pPr>
            <a:r>
              <a:rPr lang="zh-CN" altLang="en-US" dirty="0">
                <a:latin typeface="微软雅黑" panose="020B0503020204020204" pitchFamily="34" charset="-122"/>
                <a:ea typeface="微软雅黑" panose="020B0503020204020204" pitchFamily="34" charset="-122"/>
                <a:sym typeface="Arial" panose="020B0604020202020204" pitchFamily="34" charset="0"/>
              </a:rPr>
              <a:t>模型的输入数据中，不同的属性数值分布范围可能不同，在某些需要计算样本间距离的算法中，可能就会导致数值大的属性对距离计算的影响权重过大，导致训练困难。因此，需要对数据进行缩放，使各属性的数值分布范围一致，常用方法有 </a:t>
            </a:r>
            <a:r>
              <a:rPr lang="en-US" altLang="zh-CN" dirty="0">
                <a:latin typeface="微软雅黑" panose="020B0503020204020204" pitchFamily="34" charset="-122"/>
                <a:ea typeface="微软雅黑" panose="020B0503020204020204" pitchFamily="34" charset="-122"/>
                <a:sym typeface="Arial" panose="020B0604020202020204" pitchFamily="34" charset="0"/>
              </a:rPr>
              <a:t>0-1 </a:t>
            </a:r>
            <a:r>
              <a:rPr lang="zh-CN" altLang="en-US" dirty="0">
                <a:latin typeface="微软雅黑" panose="020B0503020204020204" pitchFamily="34" charset="-122"/>
                <a:ea typeface="微软雅黑" panose="020B0503020204020204" pitchFamily="34" charset="-122"/>
                <a:sym typeface="Arial" panose="020B0604020202020204" pitchFamily="34" charset="0"/>
              </a:rPr>
              <a:t>标准化，均值</a:t>
            </a:r>
            <a:r>
              <a:rPr lang="en-US" altLang="zh-CN" dirty="0">
                <a:latin typeface="微软雅黑" panose="020B0503020204020204" pitchFamily="34" charset="-122"/>
                <a:ea typeface="微软雅黑" panose="020B0503020204020204" pitchFamily="34" charset="-122"/>
                <a:sym typeface="Arial" panose="020B0604020202020204" pitchFamily="34" charset="0"/>
              </a:rPr>
              <a:t>-</a:t>
            </a:r>
            <a:r>
              <a:rPr lang="zh-CN" altLang="en-US" dirty="0">
                <a:latin typeface="微软雅黑" panose="020B0503020204020204" pitchFamily="34" charset="-122"/>
                <a:ea typeface="微软雅黑" panose="020B0503020204020204" pitchFamily="34" charset="-122"/>
                <a:sym typeface="Arial" panose="020B0604020202020204" pitchFamily="34" charset="0"/>
              </a:rPr>
              <a:t>方差标准化。</a:t>
            </a:r>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页脚占位符 2">
            <a:extLst>
              <a:ext uri="{FF2B5EF4-FFF2-40B4-BE49-F238E27FC236}">
                <a16:creationId xmlns:a16="http://schemas.microsoft.com/office/drawing/2014/main" id="{B9C14CD2-8BE2-4256-B678-E5DCE34A3912}"/>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
        <p:nvSpPr>
          <p:cNvPr id="4" name="文本框 3">
            <a:extLst>
              <a:ext uri="{FF2B5EF4-FFF2-40B4-BE49-F238E27FC236}">
                <a16:creationId xmlns:a16="http://schemas.microsoft.com/office/drawing/2014/main" id="{02A04D34-82E6-4E1A-B985-3E59B88304DA}"/>
              </a:ext>
            </a:extLst>
          </p:cNvPr>
          <p:cNvSpPr txBox="1"/>
          <p:nvPr/>
        </p:nvSpPr>
        <p:spPr>
          <a:xfrm>
            <a:off x="5380463" y="3101315"/>
            <a:ext cx="184731" cy="369332"/>
          </a:xfrm>
          <a:prstGeom prst="rect">
            <a:avLst/>
          </a:prstGeom>
          <a:noFill/>
        </p:spPr>
        <p:txBody>
          <a:bodyPr wrap="none" rtlCol="0">
            <a:spAutoFit/>
          </a:bodyPr>
          <a:lstStyle/>
          <a:p>
            <a:endParaRPr lang="zh-CN" altLang="en-US" dirty="0"/>
          </a:p>
        </p:txBody>
      </p:sp>
      <p:sp>
        <p:nvSpPr>
          <p:cNvPr id="6" name="文本框 5">
            <a:extLst>
              <a:ext uri="{FF2B5EF4-FFF2-40B4-BE49-F238E27FC236}">
                <a16:creationId xmlns:a16="http://schemas.microsoft.com/office/drawing/2014/main" id="{F3068F39-4041-4D30-BD80-57BA129B1E65}"/>
              </a:ext>
            </a:extLst>
          </p:cNvPr>
          <p:cNvSpPr txBox="1"/>
          <p:nvPr/>
        </p:nvSpPr>
        <p:spPr>
          <a:xfrm>
            <a:off x="91439" y="3110088"/>
            <a:ext cx="8961121" cy="646331"/>
          </a:xfrm>
          <a:prstGeom prst="rect">
            <a:avLst/>
          </a:prstGeom>
          <a:noFill/>
        </p:spPr>
        <p:txBody>
          <a:bodyPr wrap="square" rtlCol="0">
            <a:spAutoFit/>
          </a:bodyPr>
          <a:lstStyle/>
          <a:p>
            <a:pPr algn="just"/>
            <a:r>
              <a:rPr lang="zh-CN" altLang="en-US" dirty="0">
                <a:latin typeface="微软雅黑" panose="020B0503020204020204" pitchFamily="34" charset="-122"/>
                <a:ea typeface="微软雅黑" panose="020B0503020204020204" pitchFamily="34" charset="-122"/>
              </a:rPr>
              <a:t>最典型</a:t>
            </a:r>
            <a:r>
              <a:rPr lang="zh-CN" altLang="en-US" dirty="0">
                <a:solidFill>
                  <a:srgbClr val="C00000"/>
                </a:solidFill>
                <a:latin typeface="微软雅黑" panose="020B0503020204020204" pitchFamily="34" charset="-122"/>
                <a:ea typeface="微软雅黑" panose="020B0503020204020204" pitchFamily="34" charset="-122"/>
              </a:rPr>
              <a:t>标准化处理</a:t>
            </a:r>
            <a:r>
              <a:rPr lang="zh-CN" altLang="en-US" dirty="0">
                <a:latin typeface="微软雅黑" panose="020B0503020204020204" pitchFamily="34" charset="-122"/>
                <a:ea typeface="微软雅黑" panose="020B0503020204020204" pitchFamily="34" charset="-122"/>
              </a:rPr>
              <a:t>的就是数据的</a:t>
            </a:r>
            <a:r>
              <a:rPr lang="zh-CN" altLang="en-US" dirty="0">
                <a:solidFill>
                  <a:srgbClr val="C00000"/>
                </a:solidFill>
                <a:latin typeface="微软雅黑" panose="020B0503020204020204" pitchFamily="34" charset="-122"/>
                <a:ea typeface="微软雅黑" panose="020B0503020204020204" pitchFamily="34" charset="-122"/>
              </a:rPr>
              <a:t>归一化处理</a:t>
            </a:r>
            <a:r>
              <a:rPr lang="zh-CN" altLang="en-US" dirty="0">
                <a:latin typeface="微软雅黑" panose="020B0503020204020204" pitchFamily="34" charset="-122"/>
                <a:ea typeface="微软雅黑" panose="020B0503020204020204" pitchFamily="34" charset="-122"/>
              </a:rPr>
              <a:t>（使得预处理的数据被限定在一定的范围内（比如</a:t>
            </a:r>
            <a:r>
              <a:rPr lang="en-US" altLang="zh-CN" dirty="0">
                <a:latin typeface="微软雅黑" panose="020B0503020204020204" pitchFamily="34" charset="-122"/>
                <a:ea typeface="微软雅黑" panose="020B0503020204020204" pitchFamily="34" charset="-122"/>
              </a:rPr>
              <a:t>[0,1]</a:t>
            </a:r>
            <a:r>
              <a:rPr lang="zh-CN" altLang="en-US" dirty="0">
                <a:latin typeface="微软雅黑" panose="020B0503020204020204" pitchFamily="34" charset="-122"/>
                <a:ea typeface="微软雅黑" panose="020B0503020204020204" pitchFamily="34" charset="-122"/>
              </a:rPr>
              <a:t>或者</a:t>
            </a:r>
            <a:r>
              <a:rPr lang="en-US" altLang="zh-CN" dirty="0">
                <a:latin typeface="微软雅黑" panose="020B0503020204020204" pitchFamily="34" charset="-122"/>
                <a:ea typeface="微软雅黑" panose="020B0503020204020204" pitchFamily="34" charset="-122"/>
              </a:rPr>
              <a:t>[-1,1]</a:t>
            </a:r>
            <a:r>
              <a:rPr lang="zh-CN" altLang="en-US" dirty="0">
                <a:latin typeface="微软雅黑" panose="020B0503020204020204" pitchFamily="34" charset="-122"/>
                <a:ea typeface="微软雅黑" panose="020B0503020204020204" pitchFamily="34" charset="-122"/>
              </a:rPr>
              <a:t>））。</a:t>
            </a:r>
          </a:p>
        </p:txBody>
      </p:sp>
      <p:sp>
        <p:nvSpPr>
          <p:cNvPr id="16" name="文本框 15">
            <a:extLst>
              <a:ext uri="{FF2B5EF4-FFF2-40B4-BE49-F238E27FC236}">
                <a16:creationId xmlns:a16="http://schemas.microsoft.com/office/drawing/2014/main" id="{DE62C374-EEBD-442C-984F-66E79132BF82}"/>
              </a:ext>
            </a:extLst>
          </p:cNvPr>
          <p:cNvSpPr txBox="1"/>
          <p:nvPr/>
        </p:nvSpPr>
        <p:spPr>
          <a:xfrm>
            <a:off x="278599" y="5945450"/>
            <a:ext cx="7995424" cy="874407"/>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左图为未进行归一化处理时某一线性回归目标函数等值线；右图为归一化后目标函数等值线</a:t>
            </a:r>
          </a:p>
        </p:txBody>
      </p:sp>
    </p:spTree>
    <p:extLst>
      <p:ext uri="{BB962C8B-B14F-4D97-AF65-F5344CB8AC3E}">
        <p14:creationId xmlns:p14="http://schemas.microsoft.com/office/powerpoint/2010/main" val="12977720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62</a:t>
            </a:fld>
            <a:endParaRPr lang="en-US" altLang="zh-CN"/>
          </a:p>
        </p:txBody>
      </p:sp>
      <p:sp>
        <p:nvSpPr>
          <p:cNvPr id="9"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731974"/>
          </a:xfrm>
        </p:spPr>
        <p:txBody>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利用数据改善模型性能</a:t>
            </a:r>
          </a:p>
        </p:txBody>
      </p:sp>
      <p:sp>
        <p:nvSpPr>
          <p:cNvPr id="5" name="文本框 4"/>
          <p:cNvSpPr txBox="1"/>
          <p:nvPr/>
        </p:nvSpPr>
        <p:spPr>
          <a:xfrm>
            <a:off x="87537" y="1402867"/>
            <a:ext cx="8968926" cy="49962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altLang="zh-CN" sz="2000" dirty="0">
                <a:latin typeface="微软雅黑" panose="020B0503020204020204" pitchFamily="34" charset="-122"/>
                <a:ea typeface="微软雅黑" panose="020B0503020204020204" pitchFamily="34" charset="-122"/>
                <a:sym typeface="Arial" panose="020B0604020202020204" pitchFamily="34" charset="0"/>
              </a:rPr>
              <a:t>0-1</a:t>
            </a:r>
            <a:r>
              <a:rPr lang="zh-CN" altLang="en-US" sz="2000" dirty="0">
                <a:latin typeface="微软雅黑" panose="020B0503020204020204" pitchFamily="34" charset="-122"/>
                <a:ea typeface="微软雅黑" panose="020B0503020204020204" pitchFamily="34" charset="-122"/>
                <a:sym typeface="Arial" panose="020B0604020202020204" pitchFamily="34" charset="0"/>
              </a:rPr>
              <a:t>标准化是指将所有数据缩放到</a:t>
            </a:r>
            <a:r>
              <a:rPr lang="en-US" altLang="zh-CN" sz="2000" dirty="0">
                <a:latin typeface="微软雅黑" panose="020B0503020204020204" pitchFamily="34" charset="-122"/>
                <a:ea typeface="微软雅黑" panose="020B0503020204020204" pitchFamily="34" charset="-122"/>
                <a:sym typeface="Arial" panose="020B0604020202020204" pitchFamily="34" charset="0"/>
              </a:rPr>
              <a:t>0-1</a:t>
            </a:r>
            <a:r>
              <a:rPr lang="zh-CN" altLang="en-US" sz="2000" dirty="0">
                <a:latin typeface="微软雅黑" panose="020B0503020204020204" pitchFamily="34" charset="-122"/>
                <a:ea typeface="微软雅黑" panose="020B0503020204020204" pitchFamily="34" charset="-122"/>
                <a:sym typeface="Arial" panose="020B0604020202020204" pitchFamily="34" charset="0"/>
              </a:rPr>
              <a:t>范围内</a:t>
            </a:r>
            <a:endParaRPr lang="en-US" altLang="zh-CN" sz="2000"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页脚占位符 2">
            <a:extLst>
              <a:ext uri="{FF2B5EF4-FFF2-40B4-BE49-F238E27FC236}">
                <a16:creationId xmlns:a16="http://schemas.microsoft.com/office/drawing/2014/main" id="{B9C14CD2-8BE2-4256-B678-E5DCE34A3912}"/>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
        <p:nvSpPr>
          <p:cNvPr id="4" name="文本框 3">
            <a:extLst>
              <a:ext uri="{FF2B5EF4-FFF2-40B4-BE49-F238E27FC236}">
                <a16:creationId xmlns:a16="http://schemas.microsoft.com/office/drawing/2014/main" id="{02A04D34-82E6-4E1A-B985-3E59B88304DA}"/>
              </a:ext>
            </a:extLst>
          </p:cNvPr>
          <p:cNvSpPr txBox="1"/>
          <p:nvPr/>
        </p:nvSpPr>
        <p:spPr>
          <a:xfrm>
            <a:off x="5380463" y="2843561"/>
            <a:ext cx="184731" cy="369332"/>
          </a:xfrm>
          <a:prstGeom prst="rect">
            <a:avLst/>
          </a:prstGeom>
          <a:noFill/>
        </p:spPr>
        <p:txBody>
          <a:bodyPr wrap="none" rtlCol="0">
            <a:spAutoFit/>
          </a:bodyPr>
          <a:lstStyle/>
          <a:p>
            <a:endParaRPr lang="zh-CN" altLang="en-US" dirty="0"/>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BBC80BF8-0A58-44DC-ABED-DC25B701C92C}"/>
                  </a:ext>
                </a:extLst>
              </p:cNvPr>
              <p:cNvSpPr txBox="1"/>
              <p:nvPr/>
            </p:nvSpPr>
            <p:spPr>
              <a:xfrm>
                <a:off x="3009900" y="2363621"/>
                <a:ext cx="3037435" cy="7689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r>
                            <m:rPr>
                              <m:sty m:val="p"/>
                            </m:rPr>
                            <a:rPr lang="en-US" altLang="zh-CN" sz="2400" b="0" i="0" smtClean="0">
                              <a:latin typeface="Cambria Math" panose="02040503050406030204" pitchFamily="18" charset="0"/>
                            </a:rPr>
                            <m:t>min</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m:t>
                          </m:r>
                        </m:num>
                        <m:den>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max</m:t>
                              </m:r>
                            </m:fName>
                            <m:e>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𝑥</m:t>
                                  </m:r>
                                </m:e>
                              </m:d>
                            </m:e>
                          </m:func>
                          <m:r>
                            <a:rPr lang="en-US" altLang="zh-CN" sz="2400" b="0" i="1" smtClean="0">
                              <a:latin typeface="Cambria Math" panose="02040503050406030204" pitchFamily="18" charset="0"/>
                            </a:rPr>
                            <m:t>−</m:t>
                          </m:r>
                          <m:r>
                            <m:rPr>
                              <m:sty m:val="p"/>
                            </m:rPr>
                            <a:rPr lang="en-US" altLang="zh-CN" sz="2400" b="0" i="0" smtClean="0">
                              <a:latin typeface="Cambria Math" panose="02040503050406030204" pitchFamily="18" charset="0"/>
                            </a:rPr>
                            <m:t>min</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m:t>
                          </m:r>
                        </m:den>
                      </m:f>
                    </m:oMath>
                  </m:oMathPara>
                </a14:m>
                <a:endParaRPr lang="zh-CN" altLang="en-US" sz="2400" dirty="0"/>
              </a:p>
            </p:txBody>
          </p:sp>
        </mc:Choice>
        <mc:Fallback xmlns="">
          <p:sp>
            <p:nvSpPr>
              <p:cNvPr id="3" name="文本框 2">
                <a:extLst>
                  <a:ext uri="{FF2B5EF4-FFF2-40B4-BE49-F238E27FC236}">
                    <a16:creationId xmlns:a16="http://schemas.microsoft.com/office/drawing/2014/main" id="{BBC80BF8-0A58-44DC-ABED-DC25B701C92C}"/>
                  </a:ext>
                </a:extLst>
              </p:cNvPr>
              <p:cNvSpPr txBox="1">
                <a:spLocks noRot="1" noChangeAspect="1" noMove="1" noResize="1" noEditPoints="1" noAdjustHandles="1" noChangeArrowheads="1" noChangeShapeType="1" noTextEdit="1"/>
              </p:cNvSpPr>
              <p:nvPr/>
            </p:nvSpPr>
            <p:spPr>
              <a:xfrm>
                <a:off x="3009900" y="2363621"/>
                <a:ext cx="3037435" cy="768993"/>
              </a:xfrm>
              <a:prstGeom prst="rect">
                <a:avLst/>
              </a:prstGeom>
              <a:blipFill>
                <a:blip r:embed="rId3"/>
                <a:stretch>
                  <a:fillRect/>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2F0D554E-5D29-489A-9D45-45B5DC20139C}"/>
              </a:ext>
            </a:extLst>
          </p:cNvPr>
          <p:cNvSpPr txBox="1"/>
          <p:nvPr/>
        </p:nvSpPr>
        <p:spPr>
          <a:xfrm>
            <a:off x="44154" y="3979579"/>
            <a:ext cx="8968926" cy="49962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sym typeface="Arial" panose="020B0604020202020204" pitchFamily="34" charset="0"/>
              </a:rPr>
              <a:t>均值</a:t>
            </a:r>
            <a:r>
              <a:rPr lang="en-US" altLang="zh-CN" sz="2000" dirty="0">
                <a:latin typeface="微软雅黑" panose="020B0503020204020204" pitchFamily="34" charset="-122"/>
                <a:ea typeface="微软雅黑" panose="020B0503020204020204" pitchFamily="34" charset="-122"/>
                <a:sym typeface="Arial" panose="020B0604020202020204" pitchFamily="34" charset="0"/>
              </a:rPr>
              <a:t>-</a:t>
            </a:r>
            <a:r>
              <a:rPr lang="zh-CN" altLang="en-US" sz="2000" dirty="0">
                <a:latin typeface="微软雅黑" panose="020B0503020204020204" pitchFamily="34" charset="-122"/>
                <a:ea typeface="微软雅黑" panose="020B0503020204020204" pitchFamily="34" charset="-122"/>
                <a:sym typeface="Arial" panose="020B0604020202020204" pitchFamily="34" charset="0"/>
              </a:rPr>
              <a:t>方差标准化，可以将数据转换为标准正态分布</a:t>
            </a:r>
            <a:endParaRPr lang="en-US" altLang="zh-CN" sz="2000" dirty="0">
              <a:latin typeface="微软雅黑" panose="020B0503020204020204" pitchFamily="34" charset="-122"/>
              <a:ea typeface="微软雅黑" panose="020B0503020204020204" pitchFamily="34" charset="-122"/>
              <a:sym typeface="Arial" panose="020B0604020202020204" pitchFamily="34" charset="0"/>
            </a:endParaRP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7FE25ADA-7406-48AE-BA74-2F3CD6B5BDDC}"/>
                  </a:ext>
                </a:extLst>
              </p:cNvPr>
              <p:cNvSpPr txBox="1"/>
              <p:nvPr/>
            </p:nvSpPr>
            <p:spPr>
              <a:xfrm>
                <a:off x="2286000" y="4777833"/>
                <a:ext cx="4572000" cy="72481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𝜇</m:t>
                          </m:r>
                        </m:num>
                        <m:den>
                          <m:r>
                            <a:rPr lang="zh-CN" altLang="en-US" sz="2400" b="0" i="1" smtClean="0">
                              <a:latin typeface="Cambria Math" panose="02040503050406030204" pitchFamily="18" charset="0"/>
                            </a:rPr>
                            <m:t>𝜎</m:t>
                          </m:r>
                        </m:den>
                      </m:f>
                    </m:oMath>
                  </m:oMathPara>
                </a14:m>
                <a:endParaRPr lang="zh-CN" altLang="en-US" sz="2400" dirty="0"/>
              </a:p>
            </p:txBody>
          </p:sp>
        </mc:Choice>
        <mc:Fallback xmlns="">
          <p:sp>
            <p:nvSpPr>
              <p:cNvPr id="17" name="文本框 16">
                <a:extLst>
                  <a:ext uri="{FF2B5EF4-FFF2-40B4-BE49-F238E27FC236}">
                    <a16:creationId xmlns:a16="http://schemas.microsoft.com/office/drawing/2014/main" id="{7FE25ADA-7406-48AE-BA74-2F3CD6B5BDDC}"/>
                  </a:ext>
                </a:extLst>
              </p:cNvPr>
              <p:cNvSpPr txBox="1">
                <a:spLocks noRot="1" noChangeAspect="1" noMove="1" noResize="1" noEditPoints="1" noAdjustHandles="1" noChangeArrowheads="1" noChangeShapeType="1" noTextEdit="1"/>
              </p:cNvSpPr>
              <p:nvPr/>
            </p:nvSpPr>
            <p:spPr>
              <a:xfrm>
                <a:off x="2286000" y="4777833"/>
                <a:ext cx="4572000" cy="724814"/>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E8D9A9DF-753E-4EE6-8C93-3B417E6CE6D3}"/>
                  </a:ext>
                </a:extLst>
              </p:cNvPr>
              <p:cNvSpPr txBox="1"/>
              <p:nvPr/>
            </p:nvSpPr>
            <p:spPr>
              <a:xfrm>
                <a:off x="175074" y="5463984"/>
                <a:ext cx="8968926" cy="961289"/>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其中</a:t>
                </a:r>
                <a14:m>
                  <m:oMath xmlns:m="http://schemas.openxmlformats.org/officeDocument/2006/math">
                    <m:r>
                      <a:rPr lang="zh-CN" altLang="en-US" sz="2000">
                        <a:latin typeface="Cambria Math" panose="02040503050406030204" pitchFamily="18" charset="0"/>
                        <a:ea typeface="微软雅黑" panose="020B0503020204020204" pitchFamily="34" charset="-122"/>
                      </a:rPr>
                      <m:t>，</m:t>
                    </m:r>
                    <m:r>
                      <a:rPr lang="zh-CN" altLang="en-US" sz="2000">
                        <a:latin typeface="Cambria Math" panose="02040503050406030204" pitchFamily="18" charset="0"/>
                        <a:ea typeface="微软雅黑" panose="020B0503020204020204" pitchFamily="34" charset="-122"/>
                      </a:rPr>
                      <m:t>𝜇</m:t>
                    </m:r>
                  </m:oMath>
                </a14:m>
                <a:r>
                  <a:rPr lang="zh-CN" altLang="en-US" sz="2000" dirty="0">
                    <a:latin typeface="微软雅黑" panose="020B0503020204020204" pitchFamily="34" charset="-122"/>
                    <a:ea typeface="微软雅黑" panose="020B0503020204020204" pitchFamily="34" charset="-122"/>
                  </a:rPr>
                  <a:t>为样本总体分布的均值，</a:t>
                </a:r>
                <a14:m>
                  <m:oMath xmlns:m="http://schemas.openxmlformats.org/officeDocument/2006/math">
                    <m:r>
                      <a:rPr lang="zh-CN" altLang="en-US" sz="2000" i="1">
                        <a:latin typeface="Cambria Math" panose="02040503050406030204" pitchFamily="18" charset="0"/>
                      </a:rPr>
                      <m:t>𝜎</m:t>
                    </m:r>
                  </m:oMath>
                </a14:m>
                <a:r>
                  <a:rPr lang="zh-CN" altLang="en-US" sz="2000" dirty="0">
                    <a:latin typeface="微软雅黑" panose="020B0503020204020204" pitchFamily="34" charset="-122"/>
                    <a:ea typeface="微软雅黑" panose="020B0503020204020204" pitchFamily="34" charset="-122"/>
                  </a:rPr>
                  <a:t>为样本总体分布的标准差，由于总体均值与方差难以获取，通常采用样本估计均值与标准差进行均值</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方差标准化</a:t>
                </a:r>
              </a:p>
            </p:txBody>
          </p:sp>
        </mc:Choice>
        <mc:Fallback xmlns="">
          <p:sp>
            <p:nvSpPr>
              <p:cNvPr id="11" name="文本框 10">
                <a:extLst>
                  <a:ext uri="{FF2B5EF4-FFF2-40B4-BE49-F238E27FC236}">
                    <a16:creationId xmlns:a16="http://schemas.microsoft.com/office/drawing/2014/main" id="{E8D9A9DF-753E-4EE6-8C93-3B417E6CE6D3}"/>
                  </a:ext>
                </a:extLst>
              </p:cNvPr>
              <p:cNvSpPr txBox="1">
                <a:spLocks noRot="1" noChangeAspect="1" noMove="1" noResize="1" noEditPoints="1" noAdjustHandles="1" noChangeArrowheads="1" noChangeShapeType="1" noTextEdit="1"/>
              </p:cNvSpPr>
              <p:nvPr/>
            </p:nvSpPr>
            <p:spPr>
              <a:xfrm>
                <a:off x="175074" y="5463984"/>
                <a:ext cx="8968926" cy="961289"/>
              </a:xfrm>
              <a:prstGeom prst="rect">
                <a:avLst/>
              </a:prstGeom>
              <a:blipFill>
                <a:blip r:embed="rId5"/>
                <a:stretch>
                  <a:fillRect l="-748" b="-10127"/>
                </a:stretch>
              </a:blipFill>
            </p:spPr>
            <p:txBody>
              <a:bodyPr/>
              <a:lstStyle/>
              <a:p>
                <a:r>
                  <a:rPr lang="zh-CN" altLang="en-US">
                    <a:noFill/>
                  </a:rPr>
                  <a:t> </a:t>
                </a:r>
              </a:p>
            </p:txBody>
          </p:sp>
        </mc:Fallback>
      </mc:AlternateContent>
      <p:sp>
        <p:nvSpPr>
          <p:cNvPr id="18" name="文本框 17">
            <a:extLst>
              <a:ext uri="{FF2B5EF4-FFF2-40B4-BE49-F238E27FC236}">
                <a16:creationId xmlns:a16="http://schemas.microsoft.com/office/drawing/2014/main" id="{E70A0E31-85BB-4AD0-A5C0-FFE17D4D83DE}"/>
              </a:ext>
            </a:extLst>
          </p:cNvPr>
          <p:cNvSpPr txBox="1"/>
          <p:nvPr/>
        </p:nvSpPr>
        <p:spPr>
          <a:xfrm>
            <a:off x="272193" y="3467431"/>
            <a:ext cx="8599614"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这一方法的缺点在于，每增加一个新样本，就需要重新计算最大值与最小值</a:t>
            </a:r>
          </a:p>
        </p:txBody>
      </p:sp>
    </p:spTree>
    <p:extLst>
      <p:ext uri="{BB962C8B-B14F-4D97-AF65-F5344CB8AC3E}">
        <p14:creationId xmlns:p14="http://schemas.microsoft.com/office/powerpoint/2010/main" val="31034331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63</a:t>
            </a:fld>
            <a:endParaRPr lang="en-US" altLang="zh-CN"/>
          </a:p>
        </p:txBody>
      </p:sp>
      <p:sp>
        <p:nvSpPr>
          <p:cNvPr id="7" name="页脚占位符 2">
            <a:extLst>
              <a:ext uri="{FF2B5EF4-FFF2-40B4-BE49-F238E27FC236}">
                <a16:creationId xmlns:a16="http://schemas.microsoft.com/office/drawing/2014/main" id="{B9C14CD2-8BE2-4256-B678-E5DCE34A3912}"/>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
        <p:nvSpPr>
          <p:cNvPr id="4" name="文本框 3">
            <a:extLst>
              <a:ext uri="{FF2B5EF4-FFF2-40B4-BE49-F238E27FC236}">
                <a16:creationId xmlns:a16="http://schemas.microsoft.com/office/drawing/2014/main" id="{02A04D34-82E6-4E1A-B985-3E59B88304DA}"/>
              </a:ext>
            </a:extLst>
          </p:cNvPr>
          <p:cNvSpPr txBox="1"/>
          <p:nvPr/>
        </p:nvSpPr>
        <p:spPr>
          <a:xfrm>
            <a:off x="5380463" y="2843561"/>
            <a:ext cx="184731" cy="369332"/>
          </a:xfrm>
          <a:prstGeom prst="rect">
            <a:avLst/>
          </a:prstGeom>
          <a:noFill/>
        </p:spPr>
        <p:txBody>
          <a:bodyPr wrap="none" rtlCol="0">
            <a:spAutoFit/>
          </a:bodyPr>
          <a:lstStyle/>
          <a:p>
            <a:endParaRPr lang="zh-CN" altLang="en-US" dirty="0"/>
          </a:p>
        </p:txBody>
      </p:sp>
      <p:sp>
        <p:nvSpPr>
          <p:cNvPr id="13" name="标题 1">
            <a:extLst>
              <a:ext uri="{FF2B5EF4-FFF2-40B4-BE49-F238E27FC236}">
                <a16:creationId xmlns:a16="http://schemas.microsoft.com/office/drawing/2014/main" id="{82DE36E4-7AAF-4934-BBCC-5EFEA91CD24F}"/>
              </a:ext>
            </a:extLst>
          </p:cNvPr>
          <p:cNvSpPr txBox="1">
            <a:spLocks/>
          </p:cNvSpPr>
          <p:nvPr/>
        </p:nvSpPr>
        <p:spPr>
          <a:xfrm>
            <a:off x="314960" y="593165"/>
            <a:ext cx="8229600" cy="731974"/>
          </a:xfrm>
          <a:prstGeom prst="rect">
            <a:avLst/>
          </a:prstGeom>
        </p:spPr>
        <p:txBody>
          <a:bodyPr/>
          <a:lst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a:lstStyle>
          <a:p>
            <a:pPr defTabSz="914400"/>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p:sp>
        <p:nvSpPr>
          <p:cNvPr id="8" name="文本框 7">
            <a:extLst>
              <a:ext uri="{FF2B5EF4-FFF2-40B4-BE49-F238E27FC236}">
                <a16:creationId xmlns:a16="http://schemas.microsoft.com/office/drawing/2014/main" id="{5F9FBF89-28C1-4E0C-B05A-E88184E5D617}"/>
              </a:ext>
            </a:extLst>
          </p:cNvPr>
          <p:cNvSpPr txBox="1"/>
          <p:nvPr/>
        </p:nvSpPr>
        <p:spPr>
          <a:xfrm>
            <a:off x="314960" y="1261639"/>
            <a:ext cx="7476490"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对波士顿房价数据集的样本特征进行</a:t>
            </a:r>
            <a:r>
              <a:rPr lang="en-US" altLang="zh-CN" sz="2000" dirty="0">
                <a:latin typeface="微软雅黑" panose="020B0503020204020204" pitchFamily="34" charset="-122"/>
                <a:ea typeface="微软雅黑" panose="020B0503020204020204" pitchFamily="34" charset="-122"/>
              </a:rPr>
              <a:t>0-1</a:t>
            </a:r>
            <a:r>
              <a:rPr lang="zh-CN" altLang="en-US" sz="2000" dirty="0">
                <a:latin typeface="微软雅黑" panose="020B0503020204020204" pitchFamily="34" charset="-122"/>
                <a:ea typeface="微软雅黑" panose="020B0503020204020204" pitchFamily="34" charset="-122"/>
              </a:rPr>
              <a:t>标准化，</a:t>
            </a:r>
          </a:p>
        </p:txBody>
      </p:sp>
      <p:sp>
        <p:nvSpPr>
          <p:cNvPr id="19" name="文本框 18">
            <a:extLst>
              <a:ext uri="{FF2B5EF4-FFF2-40B4-BE49-F238E27FC236}">
                <a16:creationId xmlns:a16="http://schemas.microsoft.com/office/drawing/2014/main" id="{D9EA691A-FA86-4834-B163-12FCBDCBCCD5}"/>
              </a:ext>
            </a:extLst>
          </p:cNvPr>
          <p:cNvSpPr txBox="1"/>
          <p:nvPr/>
        </p:nvSpPr>
        <p:spPr>
          <a:xfrm>
            <a:off x="335780" y="1932644"/>
            <a:ext cx="8536940" cy="1015663"/>
          </a:xfrm>
          <a:prstGeom prst="rect">
            <a:avLst/>
          </a:prstGeom>
          <a:noFill/>
        </p:spPr>
        <p:txBody>
          <a:bodyPr wrap="square">
            <a:spAutoFit/>
          </a:bodyPr>
          <a:lstStyle/>
          <a:p>
            <a:r>
              <a:rPr lang="zh-CN" altLang="en-US" sz="2000" dirty="0">
                <a:latin typeface="微软雅黑" panose="020B0503020204020204" pitchFamily="34" charset="-122"/>
                <a:ea typeface="微软雅黑" panose="020B0503020204020204" pitchFamily="34" charset="-122"/>
              </a:rPr>
              <a:t>数据集已经导入在“交通大数据课上练习”文件中，每一条样本数据包含</a:t>
            </a:r>
            <a:r>
              <a:rPr lang="en-US" altLang="zh-CN" sz="2000" dirty="0">
                <a:latin typeface="微软雅黑" panose="020B0503020204020204" pitchFamily="34" charset="-122"/>
                <a:ea typeface="微软雅黑" panose="020B0503020204020204" pitchFamily="34" charset="-122"/>
              </a:rPr>
              <a:t>14</a:t>
            </a:r>
            <a:r>
              <a:rPr lang="zh-CN" altLang="en-US" sz="2000" dirty="0">
                <a:latin typeface="微软雅黑" panose="020B0503020204020204" pitchFamily="34" charset="-122"/>
                <a:ea typeface="微软雅黑" panose="020B0503020204020204" pitchFamily="34" charset="-122"/>
              </a:rPr>
              <a:t>个特征，依次为：</a:t>
            </a:r>
            <a:endParaRPr lang="en-US" altLang="zh-CN" sz="2000" dirty="0">
              <a:latin typeface="微软雅黑" panose="020B0503020204020204" pitchFamily="34" charset="-122"/>
              <a:ea typeface="微软雅黑" panose="020B0503020204020204" pitchFamily="34" charset="-122"/>
            </a:endParaRPr>
          </a:p>
          <a:p>
            <a:endParaRPr lang="zh-CN" altLang="en-US" sz="2000" dirty="0"/>
          </a:p>
        </p:txBody>
      </p:sp>
      <p:pic>
        <p:nvPicPr>
          <p:cNvPr id="16" name="图片 15">
            <a:extLst>
              <a:ext uri="{FF2B5EF4-FFF2-40B4-BE49-F238E27FC236}">
                <a16:creationId xmlns:a16="http://schemas.microsoft.com/office/drawing/2014/main" id="{93358E10-4404-4DCF-BC8A-593349727B40}"/>
              </a:ext>
            </a:extLst>
          </p:cNvPr>
          <p:cNvPicPr>
            <a:picLocks noChangeAspect="1"/>
          </p:cNvPicPr>
          <p:nvPr/>
        </p:nvPicPr>
        <p:blipFill>
          <a:blip r:embed="rId3"/>
          <a:stretch>
            <a:fillRect/>
          </a:stretch>
        </p:blipFill>
        <p:spPr>
          <a:xfrm>
            <a:off x="2838070" y="2843561"/>
            <a:ext cx="3532360" cy="3059035"/>
          </a:xfrm>
          <a:prstGeom prst="rect">
            <a:avLst/>
          </a:prstGeom>
        </p:spPr>
      </p:pic>
      <p:sp>
        <p:nvSpPr>
          <p:cNvPr id="20" name="文本框 19">
            <a:extLst>
              <a:ext uri="{FF2B5EF4-FFF2-40B4-BE49-F238E27FC236}">
                <a16:creationId xmlns:a16="http://schemas.microsoft.com/office/drawing/2014/main" id="{EA24D976-BB59-4508-A428-D5CE7A7D29A6}"/>
              </a:ext>
            </a:extLst>
          </p:cNvPr>
          <p:cNvSpPr txBox="1"/>
          <p:nvPr/>
        </p:nvSpPr>
        <p:spPr>
          <a:xfrm>
            <a:off x="419100" y="6080169"/>
            <a:ext cx="7543800"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请对所有特征进行标准化</a:t>
            </a:r>
          </a:p>
        </p:txBody>
      </p:sp>
    </p:spTree>
    <p:extLst>
      <p:ext uri="{BB962C8B-B14F-4D97-AF65-F5344CB8AC3E}">
        <p14:creationId xmlns:p14="http://schemas.microsoft.com/office/powerpoint/2010/main" val="349586186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64</a:t>
            </a:fld>
            <a:endParaRPr lang="en-US" altLang="zh-CN"/>
          </a:p>
        </p:txBody>
      </p:sp>
      <p:sp>
        <p:nvSpPr>
          <p:cNvPr id="9"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731974"/>
          </a:xfrm>
        </p:spPr>
        <p:txBody>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利用数据改善模型性能</a:t>
            </a:r>
          </a:p>
        </p:txBody>
      </p:sp>
      <p:sp>
        <p:nvSpPr>
          <p:cNvPr id="5" name="文本框 4"/>
          <p:cNvSpPr txBox="1"/>
          <p:nvPr/>
        </p:nvSpPr>
        <p:spPr>
          <a:xfrm>
            <a:off x="162560" y="1082961"/>
            <a:ext cx="8371840" cy="1705403"/>
          </a:xfrm>
          <a:prstGeom prst="rect">
            <a:avLst/>
          </a:prstGeom>
          <a:noFill/>
        </p:spPr>
        <p:txBody>
          <a:bodyPr wrap="square" rtlCol="0">
            <a:spAutoFit/>
          </a:bodyPr>
          <a:lstStyle/>
          <a:p>
            <a:pPr>
              <a:lnSpc>
                <a:spcPct val="150000"/>
              </a:lnSpc>
            </a:pPr>
            <a:r>
              <a:rPr lang="zh-CN" altLang="en-US" b="1" dirty="0">
                <a:latin typeface="微软雅黑" panose="020B0503020204020204" pitchFamily="34" charset="-122"/>
                <a:ea typeface="微软雅黑" panose="020B0503020204020204" pitchFamily="34" charset="-122"/>
                <a:sym typeface="Arial" panose="020B0604020202020204" pitchFamily="34" charset="0"/>
              </a:rPr>
              <a:t>（</a:t>
            </a:r>
            <a:r>
              <a:rPr lang="en-US" altLang="zh-CN" b="1" dirty="0">
                <a:latin typeface="微软雅黑" panose="020B0503020204020204" pitchFamily="34" charset="-122"/>
                <a:ea typeface="微软雅黑" panose="020B0503020204020204" pitchFamily="34" charset="-122"/>
                <a:sym typeface="Arial" panose="020B0604020202020204" pitchFamily="34" charset="0"/>
              </a:rPr>
              <a:t>4</a:t>
            </a:r>
            <a:r>
              <a:rPr lang="zh-CN" altLang="en-US" b="1" dirty="0">
                <a:latin typeface="微软雅黑" panose="020B0503020204020204" pitchFamily="34" charset="-122"/>
                <a:ea typeface="微软雅黑" panose="020B0503020204020204" pitchFamily="34" charset="-122"/>
                <a:sym typeface="Arial" panose="020B0604020202020204" pitchFamily="34" charset="0"/>
              </a:rPr>
              <a:t>）转换数据分布</a:t>
            </a:r>
            <a:endParaRPr lang="en-US" altLang="zh-CN" b="1"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dirty="0">
                <a:latin typeface="微软雅黑" panose="020B0503020204020204" pitchFamily="34" charset="-122"/>
                <a:ea typeface="微软雅黑" panose="020B0503020204020204" pitchFamily="34" charset="-122"/>
                <a:sym typeface="Arial" panose="020B0604020202020204" pitchFamily="34" charset="0"/>
              </a:rPr>
              <a:t>在某些机器学习模型中，往往假定特征服从某种分布（例如正态分布），因此可在预处理阶段，对属性数值分布进行统计性分析，例如，若某个输入属性分布为长尾分布，可对其取对数，使变换后的数值更接近正态分布。</a:t>
            </a:r>
          </a:p>
        </p:txBody>
      </p:sp>
      <p:sp>
        <p:nvSpPr>
          <p:cNvPr id="7" name="页脚占位符 2">
            <a:extLst>
              <a:ext uri="{FF2B5EF4-FFF2-40B4-BE49-F238E27FC236}">
                <a16:creationId xmlns:a16="http://schemas.microsoft.com/office/drawing/2014/main" id="{B9C14CD2-8BE2-4256-B678-E5DCE34A3912}"/>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
        <p:nvSpPr>
          <p:cNvPr id="3" name="文本框 2">
            <a:extLst>
              <a:ext uri="{FF2B5EF4-FFF2-40B4-BE49-F238E27FC236}">
                <a16:creationId xmlns:a16="http://schemas.microsoft.com/office/drawing/2014/main" id="{0A98BDB1-5688-4F9F-B81C-F012B55D3CEB}"/>
              </a:ext>
            </a:extLst>
          </p:cNvPr>
          <p:cNvSpPr txBox="1"/>
          <p:nvPr/>
        </p:nvSpPr>
        <p:spPr>
          <a:xfrm>
            <a:off x="162560" y="3429000"/>
            <a:ext cx="8093927" cy="1566904"/>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为什么要转换为正态分布？</a:t>
            </a:r>
          </a:p>
          <a:p>
            <a:pPr marL="285750" indent="-28575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很多模型的应用假设即为，数据分布为正态分布；</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根据中心极限定理，大量相互独立随机变量的均值经适当标准化后依分布收敛于正态分布，采用正态分布数据训练出的模型具有更好地泛化能力</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17535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65</a:t>
            </a:fld>
            <a:endParaRPr lang="en-US" altLang="zh-CN"/>
          </a:p>
        </p:txBody>
      </p:sp>
      <p:sp>
        <p:nvSpPr>
          <p:cNvPr id="9"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731974"/>
          </a:xfrm>
        </p:spPr>
        <p:txBody>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特征选择技巧</a:t>
            </a:r>
          </a:p>
        </p:txBody>
      </p:sp>
      <p:sp>
        <p:nvSpPr>
          <p:cNvPr id="5" name="文本框 4"/>
          <p:cNvSpPr txBox="1"/>
          <p:nvPr/>
        </p:nvSpPr>
        <p:spPr>
          <a:xfrm>
            <a:off x="162560" y="987711"/>
            <a:ext cx="8371840" cy="5237139"/>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sym typeface="Arial" panose="020B0604020202020204" pitchFamily="34" charset="0"/>
              </a:rPr>
              <a:t>模型特征的选择对于模型的效果有很大的影响，在选择特征时需要仔细考虑，下面介绍几种特征选择思路</a:t>
            </a:r>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a:p>
            <a:pPr marL="285750" indent="-28575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sym typeface="Arial" panose="020B0604020202020204" pitchFamily="34" charset="0"/>
              </a:rPr>
              <a:t>最直接的方法是直接通过</a:t>
            </a:r>
            <a:r>
              <a:rPr lang="zh-CN" altLang="en-US" dirty="0">
                <a:solidFill>
                  <a:srgbClr val="C00000"/>
                </a:solidFill>
                <a:latin typeface="微软雅黑" panose="020B0503020204020204" pitchFamily="34" charset="-122"/>
                <a:ea typeface="微软雅黑" panose="020B0503020204020204" pitchFamily="34" charset="-122"/>
                <a:sym typeface="Arial" panose="020B0604020202020204" pitchFamily="34" charset="0"/>
              </a:rPr>
              <a:t>对特征进行组合</a:t>
            </a:r>
            <a:r>
              <a:rPr lang="zh-CN" altLang="en-US" dirty="0">
                <a:latin typeface="微软雅黑" panose="020B0503020204020204" pitchFamily="34" charset="-122"/>
                <a:ea typeface="微软雅黑" panose="020B0503020204020204" pitchFamily="34" charset="-122"/>
                <a:sym typeface="Arial" panose="020B0604020202020204" pitchFamily="34" charset="0"/>
              </a:rPr>
              <a:t>，获得不同的特征子集进行建模，并比较各种特征组合训练得到的模型效果。根据模型效果，选取对应的特征组合。</a:t>
            </a:r>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en-US" altLang="zh-CN" sz="5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en-US" altLang="zh-CN" sz="5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en-US" altLang="zh-CN" sz="5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en-US" altLang="zh-CN" sz="5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en-US" altLang="zh-CN" sz="5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en-US" altLang="zh-CN" sz="5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en-US" altLang="zh-CN" sz="5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en-US" altLang="zh-CN" sz="5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en-US" altLang="zh-CN" sz="500" dirty="0">
              <a:latin typeface="微软雅黑" panose="020B0503020204020204" pitchFamily="34" charset="-122"/>
              <a:ea typeface="微软雅黑" panose="020B0503020204020204" pitchFamily="34" charset="-122"/>
              <a:sym typeface="Arial" panose="020B0604020202020204" pitchFamily="34" charset="0"/>
            </a:endParaRPr>
          </a:p>
          <a:p>
            <a:pPr marL="285750" indent="-28575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sym typeface="Arial" panose="020B0604020202020204" pitchFamily="34" charset="0"/>
              </a:rPr>
              <a:t>可考虑不训练模型而直接使用一些方法来度量特征组合方案、衡量特征对于输出值的重要程度。在这些度量方法中，</a:t>
            </a:r>
            <a:r>
              <a:rPr lang="zh-CN" altLang="en-US" dirty="0">
                <a:solidFill>
                  <a:srgbClr val="C00000"/>
                </a:solidFill>
                <a:latin typeface="微软雅黑" panose="020B0503020204020204" pitchFamily="34" charset="-122"/>
                <a:ea typeface="微软雅黑" panose="020B0503020204020204" pitchFamily="34" charset="-122"/>
                <a:sym typeface="Arial" panose="020B0604020202020204" pitchFamily="34" charset="0"/>
              </a:rPr>
              <a:t>最为常用的是皮尔逊相关系数</a:t>
            </a:r>
            <a:r>
              <a:rPr lang="zh-CN" altLang="en-US" dirty="0">
                <a:latin typeface="微软雅黑" panose="020B0503020204020204" pitchFamily="34" charset="-122"/>
                <a:ea typeface="微软雅黑" panose="020B0503020204020204" pitchFamily="34" charset="-122"/>
                <a:sym typeface="Arial" panose="020B0604020202020204" pitchFamily="34" charset="0"/>
              </a:rPr>
              <a:t>。通过计算各输入特征与输出特征的相关系数，选取相关性高的特征。其他的度量方法还包括，利用互信息（</a:t>
            </a:r>
            <a:r>
              <a:rPr lang="en-US" altLang="zh-CN" dirty="0">
                <a:latin typeface="微软雅黑" panose="020B0503020204020204" pitchFamily="34" charset="-122"/>
                <a:ea typeface="微软雅黑" panose="020B0503020204020204" pitchFamily="34" charset="-122"/>
                <a:sym typeface="Arial" panose="020B0604020202020204" pitchFamily="34" charset="0"/>
              </a:rPr>
              <a:t>mutual information</a:t>
            </a:r>
            <a:r>
              <a:rPr lang="zh-CN" altLang="en-US" dirty="0">
                <a:latin typeface="微软雅黑" panose="020B0503020204020204" pitchFamily="34" charset="-122"/>
                <a:ea typeface="微软雅黑" panose="020B0503020204020204" pitchFamily="34" charset="-122"/>
                <a:sym typeface="Arial" panose="020B0604020202020204" pitchFamily="34" charset="0"/>
              </a:rPr>
              <a:t>）、卡方检验等来评估特征方案与输出值的相关程度。</a:t>
            </a:r>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页脚占位符 2">
            <a:extLst>
              <a:ext uri="{FF2B5EF4-FFF2-40B4-BE49-F238E27FC236}">
                <a16:creationId xmlns:a16="http://schemas.microsoft.com/office/drawing/2014/main" id="{E72EF73B-AAD5-4A28-ABA7-68EC650EEAFB}"/>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Tree>
    <p:extLst>
      <p:ext uri="{BB962C8B-B14F-4D97-AF65-F5344CB8AC3E}">
        <p14:creationId xmlns:p14="http://schemas.microsoft.com/office/powerpoint/2010/main" val="130717305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3/30/2025</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66</a:t>
            </a:fld>
            <a:endParaRPr lang="en-US" altLang="zh-CN"/>
          </a:p>
        </p:txBody>
      </p:sp>
      <p:sp>
        <p:nvSpPr>
          <p:cNvPr id="9" name="标题 1">
            <a:extLst>
              <a:ext uri="{FF2B5EF4-FFF2-40B4-BE49-F238E27FC236}">
                <a16:creationId xmlns:a16="http://schemas.microsoft.com/office/drawing/2014/main" id="{5607F18F-699A-4F7F-A2ED-BD80B7B267C8}"/>
              </a:ext>
            </a:extLst>
          </p:cNvPr>
          <p:cNvSpPr>
            <a:spLocks noGrp="1"/>
          </p:cNvSpPr>
          <p:nvPr>
            <p:ph type="title"/>
          </p:nvPr>
        </p:nvSpPr>
        <p:spPr>
          <a:xfrm>
            <a:off x="162560" y="440765"/>
            <a:ext cx="8229600" cy="731974"/>
          </a:xfrm>
        </p:spPr>
        <p:txBody>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特征选择技巧</a:t>
            </a:r>
          </a:p>
        </p:txBody>
      </p:sp>
      <p:sp>
        <p:nvSpPr>
          <p:cNvPr id="5" name="文本框 4"/>
          <p:cNvSpPr txBox="1"/>
          <p:nvPr/>
        </p:nvSpPr>
        <p:spPr>
          <a:xfrm>
            <a:off x="162560" y="1104314"/>
            <a:ext cx="8371840" cy="170540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a:solidFill>
                  <a:srgbClr val="C00000"/>
                </a:solidFill>
                <a:latin typeface="微软雅黑" panose="020B0503020204020204" pitchFamily="34" charset="-122"/>
                <a:ea typeface="微软雅黑" panose="020B0503020204020204" pitchFamily="34" charset="-122"/>
                <a:sym typeface="Arial" panose="020B0604020202020204" pitchFamily="34" charset="0"/>
              </a:rPr>
              <a:t>某些模型的内部机制能够计算特征对于输出的重要性</a:t>
            </a:r>
            <a:r>
              <a:rPr lang="zh-CN" altLang="en-US" dirty="0">
                <a:latin typeface="微软雅黑" panose="020B0503020204020204" pitchFamily="34" charset="-122"/>
                <a:ea typeface="微软雅黑" panose="020B0503020204020204" pitchFamily="34" charset="-122"/>
                <a:sym typeface="Arial" panose="020B0604020202020204" pitchFamily="34" charset="0"/>
              </a:rPr>
              <a:t>，例如以树模型为基础的随机森林模型，通过计算特征的基尼系数、信息增益等，选择特征对数据集进行划分，因此在正式建模前，可先建立一个简单的决策树模型，获得每个特征的重要性指标，进而筛选特征</a:t>
            </a:r>
            <a:endParaRPr lang="en-US" altLang="zh-CN"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页脚占位符 2">
            <a:extLst>
              <a:ext uri="{FF2B5EF4-FFF2-40B4-BE49-F238E27FC236}">
                <a16:creationId xmlns:a16="http://schemas.microsoft.com/office/drawing/2014/main" id="{E72EF73B-AAD5-4A28-ABA7-68EC650EEAFB}"/>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
        <p:nvSpPr>
          <p:cNvPr id="3" name="文本框 2">
            <a:extLst>
              <a:ext uri="{FF2B5EF4-FFF2-40B4-BE49-F238E27FC236}">
                <a16:creationId xmlns:a16="http://schemas.microsoft.com/office/drawing/2014/main" id="{48A7287F-E5FD-4BEF-A371-BA4C571F32A8}"/>
              </a:ext>
            </a:extLst>
          </p:cNvPr>
          <p:cNvSpPr txBox="1"/>
          <p:nvPr/>
        </p:nvSpPr>
        <p:spPr>
          <a:xfrm>
            <a:off x="330200" y="4017893"/>
            <a:ext cx="8483600" cy="961289"/>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在机器学习实战中，面临特征选择时，</a:t>
            </a:r>
            <a:r>
              <a:rPr lang="zh-CN" altLang="en-US" sz="2000" dirty="0">
                <a:solidFill>
                  <a:srgbClr val="C00000"/>
                </a:solidFill>
                <a:latin typeface="微软雅黑" panose="020B0503020204020204" pitchFamily="34" charset="-122"/>
                <a:ea typeface="微软雅黑" panose="020B0503020204020204" pitchFamily="34" charset="-122"/>
              </a:rPr>
              <a:t>最重要的是从问题本身出发，依据自身对问题的深入理解选取适当的特征，不应迷信特征选择技巧</a:t>
            </a:r>
          </a:p>
        </p:txBody>
      </p:sp>
    </p:spTree>
    <p:extLst>
      <p:ext uri="{BB962C8B-B14F-4D97-AF65-F5344CB8AC3E}">
        <p14:creationId xmlns:p14="http://schemas.microsoft.com/office/powerpoint/2010/main" val="443380643"/>
      </p:ext>
    </p:extLst>
  </p:cSld>
  <p:clrMapOvr>
    <a:masterClrMapping/>
  </p:clrMapOvr>
</p:sld>
</file>

<file path=ppt/theme/theme1.xml><?xml version="1.0" encoding="utf-8"?>
<a:theme xmlns:a="http://schemas.openxmlformats.org/drawingml/2006/main" name="Clarity">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26915</TotalTime>
  <Words>7972</Words>
  <Application>Microsoft Office PowerPoint</Application>
  <PresentationFormat>全屏显示(4:3)</PresentationFormat>
  <Paragraphs>649</Paragraphs>
  <Slides>66</Slides>
  <Notes>25</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66</vt:i4>
      </vt:variant>
    </vt:vector>
  </HeadingPairs>
  <TitlesOfParts>
    <vt:vector size="77" baseType="lpstr">
      <vt:lpstr>-apple-system</vt:lpstr>
      <vt:lpstr>Arial (Headings)</vt:lpstr>
      <vt:lpstr>等线</vt:lpstr>
      <vt:lpstr>SimSun</vt:lpstr>
      <vt:lpstr>SimSun</vt:lpstr>
      <vt:lpstr>微软雅黑</vt:lpstr>
      <vt:lpstr>Arial</vt:lpstr>
      <vt:lpstr>Cambria Math</vt:lpstr>
      <vt:lpstr>Times New Roman</vt:lpstr>
      <vt:lpstr>Wingdings</vt:lpstr>
      <vt:lpstr>Clarity</vt:lpstr>
      <vt:lpstr>PowerPoint 演示文稿</vt:lpstr>
      <vt:lpstr>机器学习简介</vt:lpstr>
      <vt:lpstr>1 机器学习的基础概念</vt:lpstr>
      <vt:lpstr>机器学习的定义与对象</vt:lpstr>
      <vt:lpstr>机器学习的定义与对象</vt:lpstr>
      <vt:lpstr>机器学习的定义与对象</vt:lpstr>
      <vt:lpstr>机器学习的定义与对象</vt:lpstr>
      <vt:lpstr>机器学习的常用概念</vt:lpstr>
      <vt:lpstr>机器学习的常用概念</vt:lpstr>
      <vt:lpstr>机器学习的分类</vt:lpstr>
      <vt:lpstr>2 机器学习的主要任务</vt:lpstr>
      <vt:lpstr>PowerPoint 演示文稿</vt:lpstr>
      <vt:lpstr>PowerPoint 演示文稿</vt:lpstr>
      <vt:lpstr>PowerPoint 演示文稿</vt:lpstr>
      <vt:lpstr>PowerPoint 演示文稿</vt:lpstr>
      <vt:lpstr>PowerPoint 演示文稿</vt:lpstr>
      <vt:lpstr>PowerPoint 演示文稿</vt:lpstr>
      <vt:lpstr>3 机器学习的基本流程</vt:lpstr>
      <vt:lpstr>4 机器学习模型的评估与选择</vt:lpstr>
      <vt:lpstr>误差与损失函数</vt:lpstr>
      <vt:lpstr>误差与损失函数</vt:lpstr>
      <vt:lpstr>误差与损失函数</vt:lpstr>
      <vt:lpstr>误差与损失函数</vt:lpstr>
      <vt:lpstr>PowerPoint 演示文稿</vt:lpstr>
      <vt:lpstr>PowerPoint 演示文稿</vt:lpstr>
      <vt:lpstr>PowerPoint 演示文稿</vt:lpstr>
      <vt:lpstr>PowerPoint 演示文稿</vt:lpstr>
      <vt:lpstr>分类问题的性能度量</vt:lpstr>
      <vt:lpstr>分类问题的性能度量</vt:lpstr>
      <vt:lpstr>例子：</vt:lpstr>
      <vt:lpstr>PowerPoint 演示文稿</vt:lpstr>
      <vt:lpstr>分类问题的性能度量</vt:lpstr>
      <vt:lpstr>分类问题的性能度量</vt:lpstr>
      <vt:lpstr>分类问题的性能度量</vt:lpstr>
      <vt:lpstr>试一试</vt:lpstr>
      <vt:lpstr>PowerPoint 演示文稿</vt:lpstr>
      <vt:lpstr>欠拟合与过拟合</vt:lpstr>
      <vt:lpstr>欠拟合与过拟合：方差与偏差</vt:lpstr>
      <vt:lpstr>欠拟合与过拟合：学习曲线</vt:lpstr>
      <vt:lpstr>欠拟合与过拟合</vt:lpstr>
      <vt:lpstr>试一试</vt:lpstr>
      <vt:lpstr>5 改善模型性能的方法</vt:lpstr>
      <vt:lpstr>正则化</vt:lpstr>
      <vt:lpstr>正则化</vt:lpstr>
      <vt:lpstr>正则化</vt:lpstr>
      <vt:lpstr>正则化</vt:lpstr>
      <vt:lpstr>正则化（阅读内容）</vt:lpstr>
      <vt:lpstr>正则化（阅读内容）</vt:lpstr>
      <vt:lpstr>正则化（阅读内容）</vt:lpstr>
      <vt:lpstr>正则化（阅读内容）</vt:lpstr>
      <vt:lpstr>试一试</vt:lpstr>
      <vt:lpstr>试一试</vt:lpstr>
      <vt:lpstr>交叉验证</vt:lpstr>
      <vt:lpstr>交叉验证</vt:lpstr>
      <vt:lpstr>交叉验证</vt:lpstr>
      <vt:lpstr>PowerPoint 演示文稿</vt:lpstr>
      <vt:lpstr>PowerPoint 演示文稿</vt:lpstr>
      <vt:lpstr>6 机器学习训练中的其他技巧</vt:lpstr>
      <vt:lpstr>利用数据改善模型性能</vt:lpstr>
      <vt:lpstr>利用数据改善模型性能</vt:lpstr>
      <vt:lpstr>利用数据改善模型性能</vt:lpstr>
      <vt:lpstr>利用数据改善模型性能</vt:lpstr>
      <vt:lpstr>PowerPoint 演示文稿</vt:lpstr>
      <vt:lpstr>利用数据改善模型性能</vt:lpstr>
      <vt:lpstr>特征选择技巧</vt:lpstr>
      <vt:lpstr>特征选择技巧</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Di Huang</dc:creator>
  <cp:lastModifiedBy>Tong WU</cp:lastModifiedBy>
  <cp:revision>581</cp:revision>
  <dcterms:created xsi:type="dcterms:W3CDTF">2016-02-16T07:55:59Z</dcterms:created>
  <dcterms:modified xsi:type="dcterms:W3CDTF">2025-03-30T08:03:08Z</dcterms:modified>
</cp:coreProperties>
</file>