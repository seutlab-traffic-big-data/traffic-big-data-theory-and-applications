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77" r:id="rId15"/>
    <p:sldId id="278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48" autoAdjust="0"/>
  </p:normalViewPr>
  <p:slideViewPr>
    <p:cSldViewPr>
      <p:cViewPr varScale="1">
        <p:scale>
          <a:sx n="85" d="100"/>
          <a:sy n="85" d="100"/>
        </p:scale>
        <p:origin x="56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89283-87B2-4BBE-B491-897635ECFE41}" type="datetimeFigureOut">
              <a:rPr lang="zh-CN" altLang="en-US" smtClean="0"/>
              <a:t>2024/2/18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EEEDE-4C3A-45F8-B02D-E23DC3EFF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01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EEEDE-4C3A-45F8-B02D-E23DC3EFF3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252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60">
                <a:moveTo>
                  <a:pt x="0" y="365760"/>
                </a:moveTo>
                <a:lnTo>
                  <a:pt x="9144000" y="365760"/>
                </a:lnTo>
                <a:lnTo>
                  <a:pt x="9144000" y="0"/>
                </a:lnTo>
                <a:lnTo>
                  <a:pt x="0" y="0"/>
                </a:lnTo>
                <a:lnTo>
                  <a:pt x="0" y="36576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439911" y="6150862"/>
            <a:ext cx="632459" cy="6278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19"/>
            <a:ext cx="8229599" cy="1097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599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1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13" Type="http://schemas.openxmlformats.org/officeDocument/2006/relationships/image" Target="../media/image64.jpg"/><Relationship Id="rId3" Type="http://schemas.openxmlformats.org/officeDocument/2006/relationships/image" Target="../media/image54.jpg"/><Relationship Id="rId7" Type="http://schemas.openxmlformats.org/officeDocument/2006/relationships/image" Target="../media/image58.png"/><Relationship Id="rId12" Type="http://schemas.openxmlformats.org/officeDocument/2006/relationships/image" Target="../media/image63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jpg"/><Relationship Id="rId11" Type="http://schemas.openxmlformats.org/officeDocument/2006/relationships/image" Target="../media/image62.jpg"/><Relationship Id="rId5" Type="http://schemas.openxmlformats.org/officeDocument/2006/relationships/image" Target="../media/image56.jpg"/><Relationship Id="rId10" Type="http://schemas.openxmlformats.org/officeDocument/2006/relationships/image" Target="../media/image61.jpg"/><Relationship Id="rId4" Type="http://schemas.openxmlformats.org/officeDocument/2006/relationships/image" Target="../media/image55.jpg"/><Relationship Id="rId9" Type="http://schemas.openxmlformats.org/officeDocument/2006/relationships/image" Target="../media/image60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9" Type="http://schemas.openxmlformats.org/officeDocument/2006/relationships/image" Target="../media/image107.png"/><Relationship Id="rId21" Type="http://schemas.openxmlformats.org/officeDocument/2006/relationships/image" Target="../media/image89.png"/><Relationship Id="rId34" Type="http://schemas.openxmlformats.org/officeDocument/2006/relationships/image" Target="../media/image102.png"/><Relationship Id="rId42" Type="http://schemas.openxmlformats.org/officeDocument/2006/relationships/image" Target="../media/image110.png"/><Relationship Id="rId47" Type="http://schemas.openxmlformats.org/officeDocument/2006/relationships/image" Target="../media/image115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40" Type="http://schemas.openxmlformats.org/officeDocument/2006/relationships/image" Target="../media/image108.png"/><Relationship Id="rId45" Type="http://schemas.openxmlformats.org/officeDocument/2006/relationships/image" Target="../media/image113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36" Type="http://schemas.openxmlformats.org/officeDocument/2006/relationships/image" Target="../media/image104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31" Type="http://schemas.openxmlformats.org/officeDocument/2006/relationships/image" Target="../media/image99.png"/><Relationship Id="rId44" Type="http://schemas.openxmlformats.org/officeDocument/2006/relationships/image" Target="../media/image112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Relationship Id="rId35" Type="http://schemas.openxmlformats.org/officeDocument/2006/relationships/image" Target="../media/image103.png"/><Relationship Id="rId43" Type="http://schemas.openxmlformats.org/officeDocument/2006/relationships/image" Target="../media/image111.png"/><Relationship Id="rId48" Type="http://schemas.openxmlformats.org/officeDocument/2006/relationships/image" Target="../media/image116.png"/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33" Type="http://schemas.openxmlformats.org/officeDocument/2006/relationships/image" Target="../media/image101.png"/><Relationship Id="rId38" Type="http://schemas.openxmlformats.org/officeDocument/2006/relationships/image" Target="../media/image106.png"/><Relationship Id="rId46" Type="http://schemas.openxmlformats.org/officeDocument/2006/relationships/image" Target="../media/image114.png"/><Relationship Id="rId20" Type="http://schemas.openxmlformats.org/officeDocument/2006/relationships/image" Target="../media/image88.png"/><Relationship Id="rId41" Type="http://schemas.openxmlformats.org/officeDocument/2006/relationships/image" Target="../media/image10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86562" y="1828038"/>
            <a:ext cx="7848600" cy="1905"/>
          </a:xfrm>
          <a:custGeom>
            <a:avLst/>
            <a:gdLst/>
            <a:ahLst/>
            <a:cxnLst/>
            <a:rect l="l" t="t" r="r" b="b"/>
            <a:pathLst>
              <a:path w="7848600" h="1905">
                <a:moveTo>
                  <a:pt x="0" y="0"/>
                </a:moveTo>
                <a:lnTo>
                  <a:pt x="7848600" y="1524"/>
                </a:lnTo>
              </a:path>
            </a:pathLst>
          </a:custGeom>
          <a:ln w="19812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14191" y="1106220"/>
            <a:ext cx="2562860" cy="2361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5" dirty="0">
                <a:solidFill>
                  <a:srgbClr val="1F487C"/>
                </a:solidFill>
                <a:latin typeface="微软雅黑"/>
                <a:cs typeface="微软雅黑"/>
              </a:rPr>
              <a:t>交通大数据</a:t>
            </a:r>
            <a:endParaRPr sz="4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4750">
              <a:latin typeface="Times New Roman"/>
              <a:cs typeface="Times New Roman"/>
            </a:endParaRPr>
          </a:p>
          <a:p>
            <a:pPr marR="40005" algn="ctr">
              <a:lnSpc>
                <a:spcPct val="100000"/>
              </a:lnSpc>
            </a:pPr>
            <a:r>
              <a:rPr sz="3600" b="1" spc="-5" dirty="0">
                <a:solidFill>
                  <a:srgbClr val="1F487C"/>
                </a:solidFill>
                <a:latin typeface="微软雅黑"/>
                <a:cs typeface="微软雅黑"/>
              </a:rPr>
              <a:t>概述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5374640" cy="322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交通大数据概述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掌握交通大数据的定义</a:t>
            </a:r>
            <a:r>
              <a:rPr sz="2000" spc="-10" dirty="0">
                <a:latin typeface="微软雅黑"/>
                <a:cs typeface="微软雅黑"/>
              </a:rPr>
              <a:t>与</a:t>
            </a:r>
            <a:r>
              <a:rPr sz="2000" dirty="0">
                <a:latin typeface="微软雅黑"/>
                <a:cs typeface="微软雅黑"/>
              </a:rPr>
              <a:t>特征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了解大数据在交通领域</a:t>
            </a:r>
            <a:r>
              <a:rPr sz="2000" spc="-10" dirty="0">
                <a:latin typeface="微软雅黑"/>
                <a:cs typeface="微软雅黑"/>
              </a:rPr>
              <a:t>的</a:t>
            </a:r>
            <a:r>
              <a:rPr sz="2000" dirty="0">
                <a:latin typeface="微软雅黑"/>
                <a:cs typeface="微软雅黑"/>
              </a:rPr>
              <a:t>发展</a:t>
            </a:r>
            <a:r>
              <a:rPr sz="2000" spc="-10" dirty="0">
                <a:latin typeface="微软雅黑"/>
                <a:cs typeface="微软雅黑"/>
              </a:rPr>
              <a:t>历</a:t>
            </a:r>
            <a:r>
              <a:rPr sz="2000" dirty="0">
                <a:latin typeface="微软雅黑"/>
                <a:cs typeface="微软雅黑"/>
              </a:rPr>
              <a:t>程和</a:t>
            </a:r>
            <a:r>
              <a:rPr sz="2000" spc="-10" dirty="0">
                <a:latin typeface="微软雅黑"/>
                <a:cs typeface="微软雅黑"/>
              </a:rPr>
              <a:t>应</a:t>
            </a:r>
            <a:r>
              <a:rPr sz="2000" dirty="0">
                <a:latin typeface="微软雅黑"/>
                <a:cs typeface="微软雅黑"/>
              </a:rPr>
              <a:t>用场景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介绍代表性的交通大数</a:t>
            </a:r>
            <a:r>
              <a:rPr sz="2000" spc="-10" dirty="0">
                <a:latin typeface="微软雅黑"/>
                <a:cs typeface="微软雅黑"/>
              </a:rPr>
              <a:t>据</a:t>
            </a:r>
            <a:r>
              <a:rPr sz="2000" dirty="0">
                <a:latin typeface="微软雅黑"/>
                <a:cs typeface="微软雅黑"/>
              </a:rPr>
              <a:t>类型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latin typeface="微软雅黑"/>
                <a:cs typeface="微软雅黑"/>
              </a:rPr>
              <a:t>掌握对交通数据进行分</a:t>
            </a:r>
            <a:r>
              <a:rPr sz="2000" spc="-10" dirty="0">
                <a:latin typeface="微软雅黑"/>
                <a:cs typeface="微软雅黑"/>
              </a:rPr>
              <a:t>析</a:t>
            </a:r>
            <a:r>
              <a:rPr sz="2000" dirty="0">
                <a:latin typeface="微软雅黑"/>
                <a:cs typeface="微软雅黑"/>
              </a:rPr>
              <a:t>建模</a:t>
            </a:r>
            <a:r>
              <a:rPr sz="2000" spc="-10" dirty="0">
                <a:latin typeface="微软雅黑"/>
                <a:cs typeface="微软雅黑"/>
              </a:rPr>
              <a:t>的</a:t>
            </a:r>
            <a:r>
              <a:rPr sz="2000" dirty="0">
                <a:latin typeface="微软雅黑"/>
                <a:cs typeface="微软雅黑"/>
              </a:rPr>
              <a:t>典型</a:t>
            </a:r>
            <a:r>
              <a:rPr sz="2000" spc="-10" dirty="0">
                <a:latin typeface="微软雅黑"/>
                <a:cs typeface="微软雅黑"/>
              </a:rPr>
              <a:t>流</a:t>
            </a:r>
            <a:r>
              <a:rPr sz="2000" dirty="0">
                <a:latin typeface="微软雅黑"/>
                <a:cs typeface="微软雅黑"/>
              </a:rPr>
              <a:t>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5374640" cy="3328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交通大数据概述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050" spc="-204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50" spc="14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掌握交通大数据的定义与特征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了解大数据在交通领域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发展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历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程和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应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用场景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介绍代表性的交通大数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据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类型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-16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掌握对交通数据进行分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析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建模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典型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流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1488897"/>
            <a:ext cx="937260" cy="3840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8491" y="1456905"/>
            <a:ext cx="711682" cy="5029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6696" y="4299203"/>
            <a:ext cx="2138172" cy="14691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531619"/>
              </p:ext>
            </p:extLst>
          </p:nvPr>
        </p:nvGraphicFramePr>
        <p:xfrm>
          <a:off x="693419" y="1514855"/>
          <a:ext cx="7738871" cy="45302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062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1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1">
                      <a:solidFill>
                        <a:srgbClr val="7E7E7E"/>
                      </a:solidFill>
                      <a:prstDash val="solid"/>
                    </a:lnB>
                    <a:solidFill>
                      <a:srgbClr val="1F699A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1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77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T w="19811">
                      <a:solidFill>
                        <a:srgbClr val="7E7E7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定义</a:t>
                      </a:r>
                      <a:endParaRPr sz="15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19811">
                      <a:solidFill>
                        <a:srgbClr val="7E7E7E"/>
                      </a:solidFill>
                      <a:prstDash val="solid"/>
                    </a:lnT>
                    <a:solidFill>
                      <a:srgbClr val="1F699A"/>
                    </a:solidFill>
                  </a:tcPr>
                </a:tc>
                <a:tc>
                  <a:txBody>
                    <a:bodyPr/>
                    <a:lstStyle/>
                    <a:p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1">
                      <a:solidFill>
                        <a:srgbClr val="7E7E7E"/>
                      </a:solidFill>
                      <a:prstDash val="solid"/>
                    </a:lnR>
                    <a:lnT w="19811">
                      <a:solidFill>
                        <a:srgbClr val="7E7E7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8">
                <a:tc gridSpan="3"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大数据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817">
                <a:tc gridSpan="3"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所涉及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数据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量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规模巨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大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到无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法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通过人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工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或者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计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算机，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在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合理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时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间内达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到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截取、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590">
                <a:tc gridSpan="3"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管理、处理、并整理成为人类所能</a:t>
                      </a:r>
                      <a:r>
                        <a:rPr sz="1600" spc="5" dirty="0">
                          <a:latin typeface="微软雅黑"/>
                          <a:cs typeface="微软雅黑"/>
                        </a:rPr>
                        <a:t>解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读的</a:t>
                      </a:r>
                      <a:r>
                        <a:rPr sz="1600" spc="5" dirty="0">
                          <a:latin typeface="微软雅黑"/>
                          <a:cs typeface="微软雅黑"/>
                        </a:rPr>
                        <a:t>形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式的</a:t>
                      </a:r>
                      <a:r>
                        <a:rPr sz="1600" spc="5" dirty="0">
                          <a:latin typeface="微软雅黑"/>
                          <a:cs typeface="微软雅黑"/>
                        </a:rPr>
                        <a:t>信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息。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08">
                <a:tc gridSpan="3"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城市交通大数据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39">
                <a:tc gridSpan="3"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由城市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交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通运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行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管理直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接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产生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数据、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城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市交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通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相关的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行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业和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领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域导入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数据，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717">
                <a:tc gridSpan="3"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以及来自公众互动提供的交通状况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据构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成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的，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用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传统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技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术难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以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在合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理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时间内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452">
                <a:tc gridSpan="3"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管理、处理和分析的数据集。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944">
                <a:tc gridSpan="3">
                  <a:txBody>
                    <a:bodyPr/>
                    <a:lstStyle/>
                    <a:p>
                      <a:pPr marL="2676525">
                        <a:lnSpc>
                          <a:spcPct val="100000"/>
                        </a:lnSpc>
                        <a:tabLst>
                          <a:tab pos="296354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•	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阿里：双十一当天数据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平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台调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用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超过</a:t>
                      </a:r>
                      <a:r>
                        <a:rPr sz="1400" b="1" spc="-5" dirty="0">
                          <a:latin typeface="微软雅黑"/>
                          <a:cs typeface="微软雅黑"/>
                        </a:rPr>
                        <a:t>7</a:t>
                      </a:r>
                      <a:r>
                        <a:rPr sz="1400" b="1" spc="-15" dirty="0">
                          <a:latin typeface="微软雅黑"/>
                          <a:cs typeface="微软雅黑"/>
                        </a:rPr>
                        <a:t>5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亿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次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 gridSpan="3">
                  <a:txBody>
                    <a:bodyPr/>
                    <a:lstStyle/>
                    <a:p>
                      <a:pPr marL="2676525">
                        <a:lnSpc>
                          <a:spcPct val="100000"/>
                        </a:lnSpc>
                        <a:tabLst>
                          <a:tab pos="296354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•	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高德地图：日均定位请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求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次数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3</a:t>
                      </a:r>
                      <a:r>
                        <a:rPr sz="1400" b="1" spc="-20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400" b="1" spc="-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亿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354">
                <a:tc gridSpan="3">
                  <a:txBody>
                    <a:bodyPr/>
                    <a:lstStyle/>
                    <a:p>
                      <a:pPr marL="2676525">
                        <a:lnSpc>
                          <a:spcPct val="100000"/>
                        </a:lnSpc>
                        <a:tabLst>
                          <a:tab pos="2963545" algn="l"/>
                        </a:tabLst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•	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滴滴出行：日均处理</a:t>
                      </a:r>
                      <a:r>
                        <a:rPr sz="1400" b="1" spc="-5" dirty="0">
                          <a:latin typeface="微软雅黑"/>
                          <a:cs typeface="微软雅黑"/>
                        </a:rPr>
                        <a:t>110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400" b="1" spc="-15" dirty="0">
                          <a:latin typeface="微软雅黑"/>
                          <a:cs typeface="微软雅黑"/>
                        </a:rPr>
                        <a:t>万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订单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分析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据量</a:t>
                      </a:r>
                      <a:r>
                        <a:rPr sz="1400" b="1" spc="-15" dirty="0">
                          <a:latin typeface="微软雅黑"/>
                          <a:cs typeface="微软雅黑"/>
                        </a:rPr>
                        <a:t>5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0T</a:t>
                      </a:r>
                      <a:r>
                        <a:rPr sz="1400" b="1" spc="-5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，路径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86179">
                <a:tc gridSpan="3"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规划服务请求超过</a:t>
                      </a:r>
                      <a:r>
                        <a:rPr sz="1400" b="1" spc="-5" dirty="0">
                          <a:latin typeface="微软雅黑"/>
                          <a:cs typeface="微软雅黑"/>
                        </a:rPr>
                        <a:t>90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亿</a:t>
                      </a:r>
                      <a:endParaRPr sz="1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1">
                      <a:solidFill>
                        <a:srgbClr val="7E7E7E"/>
                      </a:solidFill>
                      <a:prstDash val="solid"/>
                    </a:lnL>
                    <a:lnR w="19811">
                      <a:solidFill>
                        <a:srgbClr val="7E7E7E"/>
                      </a:solidFill>
                      <a:prstDash val="solid"/>
                    </a:lnR>
                    <a:lnB w="19811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427" y="1363980"/>
            <a:ext cx="1063764" cy="397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6195" y="1339557"/>
            <a:ext cx="964692" cy="502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4439" y="1903476"/>
            <a:ext cx="1403604" cy="1249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29867" y="1898904"/>
            <a:ext cx="1412875" cy="1259205"/>
          </a:xfrm>
          <a:custGeom>
            <a:avLst/>
            <a:gdLst/>
            <a:ahLst/>
            <a:cxnLst/>
            <a:rect l="l" t="t" r="r" b="b"/>
            <a:pathLst>
              <a:path w="1412875" h="1259205">
                <a:moveTo>
                  <a:pt x="0" y="1258824"/>
                </a:moveTo>
                <a:lnTo>
                  <a:pt x="1412747" y="1258824"/>
                </a:lnTo>
                <a:lnTo>
                  <a:pt x="1412747" y="0"/>
                </a:lnTo>
                <a:lnTo>
                  <a:pt x="0" y="0"/>
                </a:lnTo>
                <a:lnTo>
                  <a:pt x="0" y="12588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34439" y="1906523"/>
            <a:ext cx="417830" cy="417830"/>
          </a:xfrm>
          <a:custGeom>
            <a:avLst/>
            <a:gdLst/>
            <a:ahLst/>
            <a:cxnLst/>
            <a:rect l="l" t="t" r="r" b="b"/>
            <a:pathLst>
              <a:path w="417830" h="417830">
                <a:moveTo>
                  <a:pt x="417576" y="0"/>
                </a:moveTo>
                <a:lnTo>
                  <a:pt x="0" y="0"/>
                </a:lnTo>
                <a:lnTo>
                  <a:pt x="0" y="417575"/>
                </a:lnTo>
                <a:lnTo>
                  <a:pt x="417576" y="0"/>
                </a:lnTo>
                <a:close/>
              </a:path>
            </a:pathLst>
          </a:custGeom>
          <a:solidFill>
            <a:srgbClr val="8DC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34439" y="2884932"/>
            <a:ext cx="1403985" cy="307975"/>
          </a:xfrm>
          <a:custGeom>
            <a:avLst/>
            <a:gdLst/>
            <a:ahLst/>
            <a:cxnLst/>
            <a:rect l="l" t="t" r="r" b="b"/>
            <a:pathLst>
              <a:path w="1403985" h="307975">
                <a:moveTo>
                  <a:pt x="0" y="307848"/>
                </a:moveTo>
                <a:lnTo>
                  <a:pt x="1403604" y="307848"/>
                </a:lnTo>
                <a:lnTo>
                  <a:pt x="1403604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34439" y="2884932"/>
            <a:ext cx="1403985" cy="307975"/>
          </a:xfrm>
          <a:custGeom>
            <a:avLst/>
            <a:gdLst/>
            <a:ahLst/>
            <a:cxnLst/>
            <a:rect l="l" t="t" r="r" b="b"/>
            <a:pathLst>
              <a:path w="1403985" h="307975">
                <a:moveTo>
                  <a:pt x="0" y="307848"/>
                </a:moveTo>
                <a:lnTo>
                  <a:pt x="1403604" y="307848"/>
                </a:lnTo>
                <a:lnTo>
                  <a:pt x="1403604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29283" y="3457966"/>
            <a:ext cx="7065264" cy="1113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55191" y="3488435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>
                <a:moveTo>
                  <a:pt x="0" y="0"/>
                </a:moveTo>
                <a:lnTo>
                  <a:pt x="6959091" y="0"/>
                </a:lnTo>
              </a:path>
            </a:pathLst>
          </a:custGeom>
          <a:ln w="9144">
            <a:solidFill>
              <a:srgbClr val="93895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02284"/>
              </p:ext>
            </p:extLst>
          </p:nvPr>
        </p:nvGraphicFramePr>
        <p:xfrm>
          <a:off x="687323" y="1389888"/>
          <a:ext cx="7751064" cy="490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3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873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  <a:solidFill>
                      <a:srgbClr val="1F699A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82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T w="19812">
                      <a:solidFill>
                        <a:srgbClr val="7E7E7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4V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特征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19812">
                      <a:solidFill>
                        <a:srgbClr val="7E7E7E"/>
                      </a:solidFill>
                      <a:prstDash val="solid"/>
                    </a:lnT>
                    <a:solidFill>
                      <a:srgbClr val="1F699A"/>
                    </a:solidFill>
                  </a:tcPr>
                </a:tc>
                <a:tc>
                  <a:txBody>
                    <a:bodyPr/>
                    <a:lstStyle/>
                    <a:p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  <a:lnT w="19812">
                      <a:solidFill>
                        <a:srgbClr val="7E7E7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1990">
                <a:tc gridSpan="3">
                  <a:txBody>
                    <a:bodyPr/>
                    <a:lstStyle/>
                    <a:p>
                      <a:pPr marL="2348230" marR="196215" indent="-1729739">
                        <a:lnSpc>
                          <a:spcPct val="131100"/>
                        </a:lnSpc>
                        <a:tabLst>
                          <a:tab pos="2167890" algn="l"/>
                          <a:tab pos="2454275" algn="l"/>
                        </a:tabLst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	</a:t>
                      </a:r>
                      <a:r>
                        <a:rPr sz="1600" dirty="0">
                          <a:latin typeface="Segoe UI Symbol"/>
                          <a:cs typeface="Segoe UI Symbol"/>
                        </a:rPr>
                        <a:t>⚫		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规模性</a:t>
                      </a:r>
                      <a:r>
                        <a:rPr sz="1600" b="1" spc="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[</a:t>
                      </a:r>
                      <a:r>
                        <a:rPr sz="1600" b="1" spc="-110" dirty="0">
                          <a:latin typeface="微软雅黑"/>
                          <a:cs typeface="微软雅黑"/>
                        </a:rPr>
                        <a:t>V</a:t>
                      </a:r>
                      <a:r>
                        <a:rPr sz="1600" b="1" spc="-5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600" b="1" spc="-10" dirty="0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ume] 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大型数据集规模一般为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（万亿字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节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）级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左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右，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而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大数据 则是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（1000个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）级至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（1000个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1600" spc="-1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级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。在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交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通研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/>
                        </a:rPr>
                        <a:t>究中用到的数据主要是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/>
                        </a:rPr>
                        <a:t>GB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/>
                        </a:rPr>
                        <a:t>和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/>
                        </a:rPr>
                        <a:t>TB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/>
                        </a:rPr>
                        <a:t>级别</a:t>
                      </a:r>
                      <a:endParaRPr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/>
                      </a:endParaRPr>
                    </a:p>
                    <a:p>
                      <a:pPr marL="814705" indent="-19685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347595" algn="l"/>
                        </a:tabLst>
                      </a:pPr>
                      <a:r>
                        <a:rPr sz="2100" baseline="1984" dirty="0">
                          <a:latin typeface="Segoe UI Symbol"/>
                          <a:cs typeface="Segoe UI Symbol"/>
                        </a:rPr>
                        <a:t>⚫</a:t>
                      </a:r>
                      <a:r>
                        <a:rPr sz="2100" spc="-30" baseline="1984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2100" baseline="1984" dirty="0" err="1">
                          <a:latin typeface="微软雅黑"/>
                          <a:cs typeface="微软雅黑"/>
                        </a:rPr>
                        <a:t>数据规模大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814705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1B（字节）</a:t>
                      </a:r>
                      <a:r>
                        <a:rPr sz="1200" spc="-2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8bit</a:t>
                      </a:r>
                    </a:p>
                    <a:p>
                      <a:pPr marL="8147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K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B（千字节）</a:t>
                      </a:r>
                      <a:r>
                        <a:rPr sz="1200" spc="-2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1024B</a:t>
                      </a:r>
                    </a:p>
                    <a:p>
                      <a:pPr marL="81470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b="1" spc="-5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3级 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MB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（兆字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节</a:t>
                      </a:r>
                      <a:r>
                        <a:rPr sz="1200" spc="-2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简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称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兆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spc="5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2</a:t>
                      </a:r>
                      <a:r>
                        <a:rPr sz="1200" spc="5" dirty="0">
                          <a:latin typeface="微软雅黑"/>
                          <a:cs typeface="微软雅黑"/>
                        </a:rPr>
                        <a:t>4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K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</a:t>
                      </a:r>
                    </a:p>
                    <a:p>
                      <a:pPr marL="81470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4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B（吉字节</a:t>
                      </a:r>
                      <a:r>
                        <a:rPr sz="1200" spc="-2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又称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千兆）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spc="5" dirty="0">
                          <a:latin typeface="微软雅黑"/>
                          <a:cs typeface="微软雅黑"/>
                        </a:rPr>
                        <a:t>1024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MB</a:t>
                      </a:r>
                    </a:p>
                    <a:p>
                      <a:pPr marL="814705" marR="3363595">
                        <a:lnSpc>
                          <a:spcPct val="125499"/>
                        </a:lnSpc>
                        <a:spcBef>
                          <a:spcPts val="40"/>
                        </a:spcBef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5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B（万亿字节</a:t>
                      </a:r>
                      <a:r>
                        <a:rPr sz="1200" spc="-2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又称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太字节）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1024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 </a:t>
                      </a:r>
                      <a:endParaRPr lang="en-US" sz="1200" dirty="0">
                        <a:latin typeface="微软雅黑"/>
                        <a:cs typeface="微软雅黑"/>
                      </a:endParaRPr>
                    </a:p>
                    <a:p>
                      <a:pPr marL="814705" marR="3363595">
                        <a:lnSpc>
                          <a:spcPct val="125499"/>
                        </a:lnSpc>
                        <a:spcBef>
                          <a:spcPts val="40"/>
                        </a:spcBef>
                      </a:pPr>
                      <a:r>
                        <a:rPr sz="1400" b="1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第6级</a:t>
                      </a:r>
                      <a:r>
                        <a:rPr sz="1400" b="1" spc="-1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1P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（千万亿字节</a:t>
                      </a:r>
                      <a:r>
                        <a:rPr sz="1400" spc="-3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拍字节）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400" spc="-2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1024</a:t>
                      </a:r>
                      <a:r>
                        <a:rPr sz="1400" spc="-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TB 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7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1EB（百亿亿字节 </a:t>
                      </a:r>
                      <a:r>
                        <a:rPr sz="1200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艾字节）</a:t>
                      </a:r>
                      <a:r>
                        <a:rPr sz="1200" spc="-2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1024PB</a:t>
                      </a:r>
                    </a:p>
                    <a:p>
                      <a:pPr marL="814705" marR="3669665" algn="just">
                        <a:lnSpc>
                          <a:spcPct val="127499"/>
                        </a:lnSpc>
                        <a:spcBef>
                          <a:spcPts val="10"/>
                        </a:spcBef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8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Z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B（十万亿亿字节 </a:t>
                      </a:r>
                      <a:r>
                        <a:rPr sz="1200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泽字节）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1024EB 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spc="5" dirty="0">
                          <a:latin typeface="微软雅黑"/>
                          <a:cs typeface="微软雅黑"/>
                        </a:rPr>
                        <a:t>9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级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Y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B（一亿亿亿字节 </a:t>
                      </a:r>
                      <a:r>
                        <a:rPr sz="1200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尧字节）</a:t>
                      </a:r>
                      <a:r>
                        <a:rPr sz="1200" spc="-2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 </a:t>
                      </a:r>
                      <a:r>
                        <a:rPr sz="1200" spc="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024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ZB </a:t>
                      </a:r>
                      <a:r>
                        <a:rPr sz="1200" b="1" spc="-5" dirty="0">
                          <a:latin typeface="微软雅黑"/>
                          <a:cs typeface="微软雅黑"/>
                        </a:rPr>
                        <a:t>第</a:t>
                      </a:r>
                      <a:r>
                        <a:rPr sz="1200" b="1" dirty="0">
                          <a:latin typeface="微软雅黑"/>
                          <a:cs typeface="微软雅黑"/>
                        </a:rPr>
                        <a:t>10级</a:t>
                      </a:r>
                      <a:r>
                        <a:rPr sz="1200" b="1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BB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（一千亿亿亿字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节</a:t>
                      </a:r>
                      <a:r>
                        <a:rPr sz="1200" spc="-2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=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1024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Y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B</a:t>
                      </a: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427" y="1363980"/>
            <a:ext cx="1063764" cy="397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6195" y="1339557"/>
            <a:ext cx="964692" cy="502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4439" y="1905000"/>
            <a:ext cx="1403604" cy="12527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29867" y="1900427"/>
            <a:ext cx="1412875" cy="1262380"/>
          </a:xfrm>
          <a:custGeom>
            <a:avLst/>
            <a:gdLst/>
            <a:ahLst/>
            <a:cxnLst/>
            <a:rect l="l" t="t" r="r" b="b"/>
            <a:pathLst>
              <a:path w="1412875" h="1262380">
                <a:moveTo>
                  <a:pt x="0" y="1261872"/>
                </a:moveTo>
                <a:lnTo>
                  <a:pt x="1412747" y="1261872"/>
                </a:lnTo>
                <a:lnTo>
                  <a:pt x="1412747" y="0"/>
                </a:lnTo>
                <a:lnTo>
                  <a:pt x="0" y="0"/>
                </a:lnTo>
                <a:lnTo>
                  <a:pt x="0" y="12618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25296" y="2900172"/>
            <a:ext cx="1412875" cy="307975"/>
          </a:xfrm>
          <a:custGeom>
            <a:avLst/>
            <a:gdLst/>
            <a:ahLst/>
            <a:cxnLst/>
            <a:rect l="l" t="t" r="r" b="b"/>
            <a:pathLst>
              <a:path w="1412875" h="307975">
                <a:moveTo>
                  <a:pt x="0" y="307848"/>
                </a:moveTo>
                <a:lnTo>
                  <a:pt x="1412748" y="307848"/>
                </a:lnTo>
                <a:lnTo>
                  <a:pt x="1412748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25296" y="2900172"/>
            <a:ext cx="1412875" cy="307975"/>
          </a:xfrm>
          <a:custGeom>
            <a:avLst/>
            <a:gdLst/>
            <a:ahLst/>
            <a:cxnLst/>
            <a:rect l="l" t="t" r="r" b="b"/>
            <a:pathLst>
              <a:path w="1412875" h="307975">
                <a:moveTo>
                  <a:pt x="0" y="307848"/>
                </a:moveTo>
                <a:lnTo>
                  <a:pt x="1412748" y="307848"/>
                </a:lnTo>
                <a:lnTo>
                  <a:pt x="1412748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34439" y="1906523"/>
            <a:ext cx="417830" cy="417830"/>
          </a:xfrm>
          <a:custGeom>
            <a:avLst/>
            <a:gdLst/>
            <a:ahLst/>
            <a:cxnLst/>
            <a:rect l="l" t="t" r="r" b="b"/>
            <a:pathLst>
              <a:path w="417830" h="417830">
                <a:moveTo>
                  <a:pt x="417576" y="0"/>
                </a:moveTo>
                <a:lnTo>
                  <a:pt x="0" y="0"/>
                </a:lnTo>
                <a:lnTo>
                  <a:pt x="0" y="417575"/>
                </a:lnTo>
                <a:lnTo>
                  <a:pt x="417576" y="0"/>
                </a:lnTo>
                <a:close/>
              </a:path>
            </a:pathLst>
          </a:custGeom>
          <a:solidFill>
            <a:srgbClr val="8DC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46988" y="3325378"/>
            <a:ext cx="7065263" cy="1113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2896" y="3355847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>
                <a:moveTo>
                  <a:pt x="0" y="0"/>
                </a:moveTo>
                <a:lnTo>
                  <a:pt x="6959092" y="0"/>
                </a:lnTo>
              </a:path>
            </a:pathLst>
          </a:custGeom>
          <a:ln w="9144">
            <a:solidFill>
              <a:srgbClr val="93895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7323" y="1389888"/>
          <a:ext cx="7751063" cy="4940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3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873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  <a:solidFill>
                      <a:srgbClr val="1F69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82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T w="19812">
                      <a:solidFill>
                        <a:srgbClr val="7E7E7E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4V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特征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19812">
                      <a:solidFill>
                        <a:srgbClr val="7E7E7E"/>
                      </a:solidFill>
                      <a:prstDash val="solid"/>
                    </a:lnT>
                    <a:solidFill>
                      <a:srgbClr val="1F69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  <a:lnT w="19812">
                      <a:solidFill>
                        <a:srgbClr val="7E7E7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42">
                <a:tc gridSpan="2">
                  <a:txBody>
                    <a:bodyPr/>
                    <a:lstStyle/>
                    <a:p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tabLst>
                          <a:tab pos="1694180" algn="l"/>
                          <a:tab pos="1980564" algn="l"/>
                        </a:tabLst>
                      </a:pPr>
                      <a:r>
                        <a:rPr sz="2700" baseline="1697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2	</a:t>
                      </a:r>
                      <a:r>
                        <a:rPr sz="1600" dirty="0">
                          <a:latin typeface="Segoe UI Symbol"/>
                          <a:cs typeface="Segoe UI Symbol"/>
                        </a:rPr>
                        <a:t>⚫	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多样性</a:t>
                      </a:r>
                      <a:r>
                        <a:rPr sz="1600" b="1" spc="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[</a:t>
                      </a:r>
                      <a:r>
                        <a:rPr sz="1600" b="1" spc="-135" dirty="0">
                          <a:latin typeface="微软雅黑"/>
                          <a:cs typeface="微软雅黑"/>
                        </a:rPr>
                        <a:t>V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ar</a:t>
                      </a:r>
                      <a:r>
                        <a:rPr sz="1600" b="1" spc="-10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1600" b="1" spc="-5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600" b="1" spc="-10" dirty="0">
                          <a:latin typeface="微软雅黑"/>
                          <a:cs typeface="微软雅黑"/>
                        </a:rPr>
                        <a:t>y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]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11">
                <a:tc gridSpan="2"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8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包含结构化的数据表和半结构化、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非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结构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化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的文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本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、视</a:t>
                      </a: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835">
                <a:tc gridSpan="2"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8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频、图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像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等信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息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，而且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据之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间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的交互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非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常频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繁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和广泛。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32">
                <a:tc gridSpan="2">
                  <a:txBody>
                    <a:bodyPr/>
                    <a:lstStyle/>
                    <a:p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egoe UI Symbol"/>
                          <a:cs typeface="Segoe UI Symbol"/>
                        </a:rPr>
                        <a:t>⚫</a:t>
                      </a:r>
                      <a:r>
                        <a:rPr sz="1400" spc="-2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数据种类多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798"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egoe UI Symbol"/>
                          <a:cs typeface="Segoe UI Symbol"/>
                        </a:rPr>
                        <a:t>◼</a:t>
                      </a:r>
                      <a:endParaRPr sz="14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tabLst>
                          <a:tab pos="3709035" algn="l"/>
                          <a:tab pos="3995420" algn="l"/>
                        </a:tabLst>
                      </a:pPr>
                      <a:r>
                        <a:rPr sz="2100" b="1" spc="-7" baseline="1984" dirty="0">
                          <a:latin typeface="微软雅黑"/>
                          <a:cs typeface="微软雅黑"/>
                        </a:rPr>
                        <a:t>以人为对</a:t>
                      </a:r>
                      <a:r>
                        <a:rPr sz="2100" b="1" baseline="1984" dirty="0">
                          <a:latin typeface="微软雅黑"/>
                          <a:cs typeface="微软雅黑"/>
                        </a:rPr>
                        <a:t>象	</a:t>
                      </a:r>
                      <a:r>
                        <a:rPr sz="1400" dirty="0">
                          <a:latin typeface="Segoe UI Symbol"/>
                          <a:cs typeface="Segoe UI Symbol"/>
                        </a:rPr>
                        <a:t>◼	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以路、公共交通系统为</a:t>
                      </a:r>
                      <a:r>
                        <a:rPr sz="1400" b="1" spc="-15" dirty="0">
                          <a:latin typeface="微软雅黑"/>
                          <a:cs typeface="微软雅黑"/>
                        </a:rPr>
                        <a:t>对</a:t>
                      </a:r>
                      <a:r>
                        <a:rPr sz="1400" b="1" dirty="0">
                          <a:latin typeface="微软雅黑"/>
                          <a:cs typeface="微软雅黑"/>
                        </a:rPr>
                        <a:t>象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789">
                <a:tc gridSpan="2"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手机信令数据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车速数据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7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移动互联网数据（微信、微博、百度、高德）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流量数据（线圈、微波、视频等）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铁路、民航、公路、水运售票数据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监控视频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公交</a:t>
                      </a:r>
                      <a:r>
                        <a:rPr sz="1800" spc="-7" baseline="2314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C卡数据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交通事件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054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轨道闸机数据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公交轨道断面客流、站点客流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8960"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egoe UI Symbol"/>
                          <a:cs typeface="Segoe UI Symbol"/>
                        </a:rPr>
                        <a:t>◼</a:t>
                      </a:r>
                      <a:endParaRPr sz="140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tabLst>
                          <a:tab pos="3709035" algn="l"/>
                          <a:tab pos="3995420" algn="l"/>
                        </a:tabLst>
                      </a:pPr>
                      <a:r>
                        <a:rPr sz="2100" b="1" baseline="1984" dirty="0">
                          <a:latin typeface="微软雅黑"/>
                          <a:cs typeface="微软雅黑"/>
                        </a:rPr>
                        <a:t>以车为对象	</a:t>
                      </a:r>
                      <a:r>
                        <a:rPr sz="1400" dirty="0">
                          <a:latin typeface="Segoe UI Symbol"/>
                          <a:cs typeface="Segoe UI Symbol"/>
                        </a:rPr>
                        <a:t>◼	</a:t>
                      </a:r>
                      <a:r>
                        <a:rPr sz="1400" b="1" spc="-5" dirty="0">
                          <a:latin typeface="微软雅黑"/>
                          <a:cs typeface="微软雅黑"/>
                        </a:rPr>
                        <a:t>设施数据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198">
                <a:tc gridSpan="2"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spc="-7" baseline="2314" dirty="0">
                          <a:latin typeface="微软雅黑"/>
                          <a:cs typeface="微软雅黑"/>
                        </a:rPr>
                        <a:t>卡口（车牌识别）数</a:t>
                      </a: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据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现状及规划用地数据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1800" spc="-15" baseline="2314" dirty="0">
                          <a:latin typeface="微软雅黑"/>
                          <a:cs typeface="微软雅黑"/>
                        </a:rPr>
                        <a:t>F</a:t>
                      </a:r>
                      <a:r>
                        <a:rPr sz="1800" spc="-7" baseline="2314" dirty="0">
                          <a:latin typeface="微软雅黑"/>
                          <a:cs typeface="微软雅黑"/>
                        </a:rPr>
                        <a:t>ID</a:t>
                      </a: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电子车牌数据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建筑物数据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车载</a:t>
                      </a:r>
                      <a:r>
                        <a:rPr sz="1800" spc="-7" baseline="2314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PS数据（出租车、公交车、两客一危）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兴趣点（P</a:t>
                      </a:r>
                      <a:r>
                        <a:rPr sz="1200" spc="-10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200" spc="-5" dirty="0">
                          <a:latin typeface="微软雅黑"/>
                          <a:cs typeface="微软雅黑"/>
                        </a:rPr>
                        <a:t>I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）数据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42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tabLst>
                          <a:tab pos="4166235" algn="l"/>
                        </a:tabLst>
                      </a:pPr>
                      <a:r>
                        <a:rPr sz="1800" baseline="2314" dirty="0">
                          <a:latin typeface="微软雅黑"/>
                          <a:cs typeface="微软雅黑"/>
                        </a:rPr>
                        <a:t>高速公路通行收费记录	</a:t>
                      </a:r>
                      <a:r>
                        <a:rPr sz="1200" dirty="0">
                          <a:latin typeface="微软雅黑"/>
                          <a:cs typeface="微软雅黑"/>
                        </a:rPr>
                        <a:t>交通设施数据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7883">
                <a:tc gridSpan="2">
                  <a:txBody>
                    <a:bodyPr/>
                    <a:lstStyle/>
                    <a:p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微软雅黑"/>
                          <a:cs typeface="微软雅黑"/>
                        </a:rPr>
                        <a:t>停车场进出记录</a:t>
                      </a: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8001000" cy="5566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427" y="1363980"/>
            <a:ext cx="1063764" cy="397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6195" y="1339557"/>
            <a:ext cx="964692" cy="502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7427" y="1353324"/>
            <a:ext cx="1063764" cy="3992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6195" y="1330477"/>
            <a:ext cx="964692" cy="501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46632" y="1892807"/>
            <a:ext cx="1565147" cy="13792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2060" y="1888235"/>
            <a:ext cx="1574800" cy="1388745"/>
          </a:xfrm>
          <a:custGeom>
            <a:avLst/>
            <a:gdLst/>
            <a:ahLst/>
            <a:cxnLst/>
            <a:rect l="l" t="t" r="r" b="b"/>
            <a:pathLst>
              <a:path w="1574800" h="1388745">
                <a:moveTo>
                  <a:pt x="0" y="1388364"/>
                </a:moveTo>
                <a:lnTo>
                  <a:pt x="1574292" y="1388364"/>
                </a:lnTo>
                <a:lnTo>
                  <a:pt x="1574292" y="0"/>
                </a:lnTo>
                <a:lnTo>
                  <a:pt x="0" y="0"/>
                </a:lnTo>
                <a:lnTo>
                  <a:pt x="0" y="13883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46632" y="2976372"/>
            <a:ext cx="1562100" cy="307975"/>
          </a:xfrm>
          <a:custGeom>
            <a:avLst/>
            <a:gdLst/>
            <a:ahLst/>
            <a:cxnLst/>
            <a:rect l="l" t="t" r="r" b="b"/>
            <a:pathLst>
              <a:path w="1562100" h="307975">
                <a:moveTo>
                  <a:pt x="0" y="307848"/>
                </a:moveTo>
                <a:lnTo>
                  <a:pt x="1562100" y="307848"/>
                </a:lnTo>
                <a:lnTo>
                  <a:pt x="1562100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6632" y="2976372"/>
            <a:ext cx="1562100" cy="307975"/>
          </a:xfrm>
          <a:custGeom>
            <a:avLst/>
            <a:gdLst/>
            <a:ahLst/>
            <a:cxnLst/>
            <a:rect l="l" t="t" r="r" b="b"/>
            <a:pathLst>
              <a:path w="1562100" h="307975">
                <a:moveTo>
                  <a:pt x="0" y="307848"/>
                </a:moveTo>
                <a:lnTo>
                  <a:pt x="1562100" y="307848"/>
                </a:lnTo>
                <a:lnTo>
                  <a:pt x="1562100" y="0"/>
                </a:lnTo>
                <a:lnTo>
                  <a:pt x="0" y="0"/>
                </a:lnTo>
                <a:lnTo>
                  <a:pt x="0" y="3078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6632" y="1905000"/>
            <a:ext cx="462280" cy="460375"/>
          </a:xfrm>
          <a:custGeom>
            <a:avLst/>
            <a:gdLst/>
            <a:ahLst/>
            <a:cxnLst/>
            <a:rect l="l" t="t" r="r" b="b"/>
            <a:pathLst>
              <a:path w="462280" h="460375">
                <a:moveTo>
                  <a:pt x="461772" y="0"/>
                </a:moveTo>
                <a:lnTo>
                  <a:pt x="0" y="0"/>
                </a:lnTo>
                <a:lnTo>
                  <a:pt x="0" y="460248"/>
                </a:lnTo>
                <a:lnTo>
                  <a:pt x="461772" y="0"/>
                </a:lnTo>
                <a:close/>
              </a:path>
            </a:pathLst>
          </a:custGeom>
          <a:solidFill>
            <a:srgbClr val="8DC1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56276" y="3768852"/>
            <a:ext cx="2467355" cy="18470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1703" y="3764279"/>
            <a:ext cx="2476500" cy="1856739"/>
          </a:xfrm>
          <a:custGeom>
            <a:avLst/>
            <a:gdLst/>
            <a:ahLst/>
            <a:cxnLst/>
            <a:rect l="l" t="t" r="r" b="b"/>
            <a:pathLst>
              <a:path w="2476500" h="1856739">
                <a:moveTo>
                  <a:pt x="0" y="1856232"/>
                </a:moveTo>
                <a:lnTo>
                  <a:pt x="2476500" y="1856232"/>
                </a:lnTo>
                <a:lnTo>
                  <a:pt x="2476500" y="0"/>
                </a:lnTo>
                <a:lnTo>
                  <a:pt x="0" y="0"/>
                </a:lnTo>
                <a:lnTo>
                  <a:pt x="0" y="185623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3336" y="1379219"/>
            <a:ext cx="962025" cy="297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ct val="100000"/>
              </a:lnSpc>
            </a:pPr>
            <a:r>
              <a:rPr sz="1500" b="1" spc="-10" dirty="0">
                <a:solidFill>
                  <a:srgbClr val="FFFFFF"/>
                </a:solidFill>
                <a:latin typeface="微软雅黑"/>
                <a:cs typeface="微软雅黑"/>
              </a:rPr>
              <a:t>4V</a:t>
            </a: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特征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2416" y="3505210"/>
            <a:ext cx="7065264" cy="1113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8324" y="3535679"/>
            <a:ext cx="6959600" cy="0"/>
          </a:xfrm>
          <a:custGeom>
            <a:avLst/>
            <a:gdLst/>
            <a:ahLst/>
            <a:cxnLst/>
            <a:rect l="l" t="t" r="r" b="b"/>
            <a:pathLst>
              <a:path w="6959600">
                <a:moveTo>
                  <a:pt x="0" y="0"/>
                </a:moveTo>
                <a:lnTo>
                  <a:pt x="6959092" y="0"/>
                </a:lnTo>
              </a:path>
            </a:pathLst>
          </a:custGeom>
          <a:ln w="9144">
            <a:solidFill>
              <a:srgbClr val="938953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7323" y="1379219"/>
          <a:ext cx="7751064" cy="4534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3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873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  <a:solidFill>
                      <a:srgbClr val="1F699A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78">
                <a:tc>
                  <a:txBody>
                    <a:bodyPr/>
                    <a:lstStyle/>
                    <a:p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T w="19812">
                      <a:solidFill>
                        <a:srgbClr val="7E7E7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4V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特征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19812">
                      <a:solidFill>
                        <a:srgbClr val="7E7E7E"/>
                      </a:solidFill>
                      <a:prstDash val="solid"/>
                    </a:lnT>
                    <a:solidFill>
                      <a:srgbClr val="1F699A"/>
                    </a:solidFill>
                  </a:tcPr>
                </a:tc>
                <a:tc>
                  <a:txBody>
                    <a:bodyPr/>
                    <a:lstStyle/>
                    <a:p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9812">
                      <a:solidFill>
                        <a:srgbClr val="7E7E7E"/>
                      </a:solidFill>
                      <a:prstDash val="solid"/>
                    </a:lnR>
                    <a:lnT w="19812">
                      <a:solidFill>
                        <a:srgbClr val="7E7E7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607">
                <a:tc gridSpan="3"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4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651">
                <a:tc gridSpan="3">
                  <a:txBody>
                    <a:bodyPr/>
                    <a:lstStyle/>
                    <a:p>
                      <a:pPr marL="2698115" indent="-287020">
                        <a:lnSpc>
                          <a:spcPct val="100000"/>
                        </a:lnSpc>
                        <a:buFont typeface="Segoe UI Symbol"/>
                        <a:buChar char="•"/>
                        <a:tabLst>
                          <a:tab pos="2698115" algn="l"/>
                        </a:tabLst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价值性</a:t>
                      </a:r>
                      <a:r>
                        <a:rPr sz="1600" b="1" spc="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[</a:t>
                      </a:r>
                      <a:r>
                        <a:rPr sz="1600" b="1" spc="-135" dirty="0">
                          <a:latin typeface="微软雅黑"/>
                          <a:cs typeface="微软雅黑"/>
                        </a:rPr>
                        <a:t>V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al</a:t>
                      </a:r>
                      <a:r>
                        <a:rPr sz="1600" b="1" spc="-10" dirty="0">
                          <a:latin typeface="微软雅黑"/>
                          <a:cs typeface="微软雅黑"/>
                        </a:rPr>
                        <a:t>u</a:t>
                      </a:r>
                      <a:r>
                        <a:rPr sz="1600" b="1" spc="-5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1600" b="1" dirty="0">
                          <a:latin typeface="微软雅黑"/>
                          <a:cs typeface="微软雅黑"/>
                        </a:rPr>
                        <a:t>]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251">
                <a:tc gridSpan="3">
                  <a:txBody>
                    <a:bodyPr/>
                    <a:lstStyle/>
                    <a:p>
                      <a:pPr marL="259143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信息感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知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无处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不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在，信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息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海量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导致数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据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价值</a:t>
                      </a:r>
                      <a:r>
                        <a:rPr sz="1600" spc="10" dirty="0">
                          <a:latin typeface="微软雅黑"/>
                          <a:cs typeface="微软雅黑"/>
                        </a:rPr>
                        <a:t>密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度较低。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4610">
                <a:tc gridSpan="3"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Segoe UI Symbol"/>
                          <a:cs typeface="Segoe UI Symbol"/>
                        </a:rPr>
                        <a:t>⚫</a:t>
                      </a:r>
                      <a:r>
                        <a:rPr sz="1400" spc="-20" dirty="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价值密度低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1783">
                <a:tc gridSpan="3">
                  <a:txBody>
                    <a:bodyPr/>
                    <a:lstStyle/>
                    <a:p>
                      <a:pPr marL="104013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通过强大的机器算法更迅速地完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119">
                <a:tc gridSpan="3">
                  <a:txBody>
                    <a:bodyPr/>
                    <a:lstStyle/>
                    <a:p>
                      <a:pPr marL="61912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微软雅黑"/>
                          <a:cs typeface="微软雅黑"/>
                        </a:rPr>
                        <a:t>成数据价值的“提纯”，是大数据时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11158">
                <a:tc gridSpan="3">
                  <a:txBody>
                    <a:bodyPr/>
                    <a:lstStyle/>
                    <a:p>
                      <a:pPr marL="6191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代亟待解决的难题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。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812">
                      <a:solidFill>
                        <a:srgbClr val="7E7E7E"/>
                      </a:solidFill>
                      <a:prstDash val="solid"/>
                    </a:lnL>
                    <a:lnR w="19812">
                      <a:solidFill>
                        <a:srgbClr val="7E7E7E"/>
                      </a:solidFill>
                      <a:prstDash val="solid"/>
                    </a:lnR>
                    <a:lnB w="19812">
                      <a:solidFill>
                        <a:srgbClr val="7E7E7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3055" y="1933955"/>
            <a:ext cx="231775" cy="108585"/>
          </a:xfrm>
          <a:custGeom>
            <a:avLst/>
            <a:gdLst/>
            <a:ahLst/>
            <a:cxnLst/>
            <a:rect l="l" t="t" r="r" b="b"/>
            <a:pathLst>
              <a:path w="231775" h="108585">
                <a:moveTo>
                  <a:pt x="177545" y="0"/>
                </a:moveTo>
                <a:lnTo>
                  <a:pt x="177545" y="27051"/>
                </a:lnTo>
                <a:lnTo>
                  <a:pt x="0" y="27051"/>
                </a:lnTo>
                <a:lnTo>
                  <a:pt x="0" y="81153"/>
                </a:lnTo>
                <a:lnTo>
                  <a:pt x="177545" y="81153"/>
                </a:lnTo>
                <a:lnTo>
                  <a:pt x="177545" y="108204"/>
                </a:lnTo>
                <a:lnTo>
                  <a:pt x="231648" y="54102"/>
                </a:lnTo>
                <a:lnTo>
                  <a:pt x="177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7230" y="1518666"/>
            <a:ext cx="7734300" cy="4806950"/>
          </a:xfrm>
          <a:custGeom>
            <a:avLst/>
            <a:gdLst/>
            <a:ahLst/>
            <a:cxnLst/>
            <a:rect l="l" t="t" r="r" b="b"/>
            <a:pathLst>
              <a:path w="7734300" h="4806950">
                <a:moveTo>
                  <a:pt x="0" y="4806696"/>
                </a:moveTo>
                <a:lnTo>
                  <a:pt x="7734300" y="4806696"/>
                </a:lnTo>
                <a:lnTo>
                  <a:pt x="7734300" y="0"/>
                </a:lnTo>
                <a:lnTo>
                  <a:pt x="0" y="0"/>
                </a:lnTo>
                <a:lnTo>
                  <a:pt x="0" y="4806696"/>
                </a:lnTo>
                <a:close/>
              </a:path>
            </a:pathLst>
          </a:custGeom>
          <a:ln w="19812">
            <a:solidFill>
              <a:srgbClr val="7E7E7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423" y="1321257"/>
            <a:ext cx="1175003" cy="384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6572" y="1289265"/>
            <a:ext cx="1092708" cy="502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1331" y="1347216"/>
            <a:ext cx="1073150" cy="281940"/>
          </a:xfrm>
          <a:custGeom>
            <a:avLst/>
            <a:gdLst/>
            <a:ahLst/>
            <a:cxnLst/>
            <a:rect l="l" t="t" r="r" b="b"/>
            <a:pathLst>
              <a:path w="1073150" h="281939">
                <a:moveTo>
                  <a:pt x="0" y="281939"/>
                </a:moveTo>
                <a:lnTo>
                  <a:pt x="1072895" y="281939"/>
                </a:lnTo>
                <a:lnTo>
                  <a:pt x="1072895" y="0"/>
                </a:lnTo>
                <a:lnTo>
                  <a:pt x="0" y="0"/>
                </a:lnTo>
                <a:lnTo>
                  <a:pt x="0" y="281939"/>
                </a:lnTo>
                <a:close/>
              </a:path>
            </a:pathLst>
          </a:custGeom>
          <a:solidFill>
            <a:srgbClr val="1F69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5512" y="1390833"/>
            <a:ext cx="7668895" cy="44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思维转变</a:t>
            </a:r>
            <a:endParaRPr sz="15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75590">
              <a:lnSpc>
                <a:spcPct val="100000"/>
              </a:lnSpc>
              <a:tabLst>
                <a:tab pos="1900555" algn="l"/>
              </a:tabLst>
            </a:pPr>
            <a:r>
              <a:rPr sz="1800" b="1" spc="-5" dirty="0">
                <a:latin typeface="微软雅黑"/>
                <a:cs typeface="微软雅黑"/>
              </a:rPr>
              <a:t>1. </a:t>
            </a:r>
            <a:r>
              <a:rPr sz="1800" b="1" dirty="0">
                <a:latin typeface="微软雅黑"/>
                <a:cs typeface="微软雅黑"/>
              </a:rPr>
              <a:t>随机样本	全体数据</a:t>
            </a:r>
            <a:endParaRPr sz="1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随机样本：由于实际样本量较大，</a:t>
            </a:r>
            <a:r>
              <a:rPr sz="1600" b="1" spc="0" dirty="0">
                <a:latin typeface="微软雅黑"/>
                <a:cs typeface="微软雅黑"/>
              </a:rPr>
              <a:t>往</a:t>
            </a:r>
            <a:r>
              <a:rPr sz="1600" b="1" spc="-5" dirty="0">
                <a:latin typeface="微软雅黑"/>
                <a:cs typeface="微软雅黑"/>
              </a:rPr>
              <a:t>往会</a:t>
            </a:r>
            <a:r>
              <a:rPr sz="1600" b="1" spc="0" dirty="0">
                <a:latin typeface="微软雅黑"/>
                <a:cs typeface="微软雅黑"/>
              </a:rPr>
              <a:t>随</a:t>
            </a:r>
            <a:r>
              <a:rPr sz="1600" b="1" spc="-5" dirty="0">
                <a:latin typeface="微软雅黑"/>
                <a:cs typeface="微软雅黑"/>
              </a:rPr>
              <a:t>机抽</a:t>
            </a:r>
            <a:r>
              <a:rPr sz="1600" b="1" spc="0" dirty="0">
                <a:latin typeface="微软雅黑"/>
                <a:cs typeface="微软雅黑"/>
              </a:rPr>
              <a:t>取</a:t>
            </a:r>
            <a:r>
              <a:rPr sz="1600" b="1" spc="-5" dirty="0">
                <a:latin typeface="微软雅黑"/>
                <a:cs typeface="微软雅黑"/>
              </a:rPr>
              <a:t>一些</a:t>
            </a:r>
            <a:r>
              <a:rPr sz="1600" b="1" spc="0" dirty="0">
                <a:latin typeface="微软雅黑"/>
                <a:cs typeface="微软雅黑"/>
              </a:rPr>
              <a:t>样</a:t>
            </a:r>
            <a:r>
              <a:rPr sz="1600" b="1" dirty="0">
                <a:latin typeface="微软雅黑"/>
                <a:cs typeface="微软雅黑"/>
              </a:rPr>
              <a:t>本</a:t>
            </a:r>
            <a:r>
              <a:rPr sz="1400" b="1" dirty="0">
                <a:latin typeface="微软雅黑"/>
                <a:cs typeface="微软雅黑"/>
              </a:rPr>
              <a:t>。</a:t>
            </a:r>
            <a:endParaRPr sz="1400" dirty="0">
              <a:latin typeface="微软雅黑"/>
              <a:cs typeface="微软雅黑"/>
            </a:endParaRPr>
          </a:p>
          <a:p>
            <a:pPr marL="12700" marR="176530" indent="287655">
              <a:lnSpc>
                <a:spcPct val="100000"/>
              </a:lnSpc>
              <a:spcBef>
                <a:spcPts val="605"/>
              </a:spcBef>
            </a:pPr>
            <a:r>
              <a:rPr sz="1400" dirty="0">
                <a:latin typeface="微软雅黑"/>
                <a:cs typeface="微软雅黑"/>
              </a:rPr>
              <a:t>现实生活中，交通问题</a:t>
            </a:r>
            <a:r>
              <a:rPr sz="1400" spc="-15" dirty="0">
                <a:latin typeface="微软雅黑"/>
                <a:cs typeface="微软雅黑"/>
              </a:rPr>
              <a:t>复</a:t>
            </a:r>
            <a:r>
              <a:rPr sz="1400" dirty="0">
                <a:latin typeface="微软雅黑"/>
                <a:cs typeface="微软雅黑"/>
              </a:rPr>
              <a:t>杂，</a:t>
            </a:r>
            <a:r>
              <a:rPr sz="1400" spc="-15" dirty="0">
                <a:latin typeface="微软雅黑"/>
                <a:cs typeface="微软雅黑"/>
              </a:rPr>
              <a:t>完</a:t>
            </a:r>
            <a:r>
              <a:rPr sz="1400" dirty="0">
                <a:latin typeface="微软雅黑"/>
                <a:cs typeface="微软雅黑"/>
              </a:rPr>
              <a:t>全抽</a:t>
            </a:r>
            <a:r>
              <a:rPr sz="1400" spc="-15" dirty="0">
                <a:latin typeface="微软雅黑"/>
                <a:cs typeface="微软雅黑"/>
              </a:rPr>
              <a:t>取</a:t>
            </a:r>
            <a:r>
              <a:rPr sz="1400" dirty="0">
                <a:latin typeface="微软雅黑"/>
                <a:cs typeface="微软雅黑"/>
              </a:rPr>
              <a:t>能够</a:t>
            </a:r>
            <a:r>
              <a:rPr sz="1400" spc="-15" dirty="0">
                <a:latin typeface="微软雅黑"/>
                <a:cs typeface="微软雅黑"/>
              </a:rPr>
              <a:t>反</a:t>
            </a:r>
            <a:r>
              <a:rPr sz="1400" dirty="0">
                <a:latin typeface="微软雅黑"/>
                <a:cs typeface="微软雅黑"/>
              </a:rPr>
              <a:t>映现</a:t>
            </a:r>
            <a:r>
              <a:rPr sz="1400" spc="-15" dirty="0">
                <a:latin typeface="微软雅黑"/>
                <a:cs typeface="微软雅黑"/>
              </a:rPr>
              <a:t>实</a:t>
            </a:r>
            <a:r>
              <a:rPr sz="1400" dirty="0">
                <a:latin typeface="微软雅黑"/>
                <a:cs typeface="微软雅黑"/>
              </a:rPr>
              <a:t>的数</a:t>
            </a:r>
            <a:r>
              <a:rPr sz="1400" spc="-15" dirty="0">
                <a:latin typeface="微软雅黑"/>
                <a:cs typeface="微软雅黑"/>
              </a:rPr>
              <a:t>据</a:t>
            </a:r>
            <a:r>
              <a:rPr sz="1400" dirty="0">
                <a:latin typeface="微软雅黑"/>
                <a:cs typeface="微软雅黑"/>
              </a:rPr>
              <a:t>不太</a:t>
            </a:r>
            <a:r>
              <a:rPr sz="1400" spc="-15" dirty="0">
                <a:latin typeface="微软雅黑"/>
                <a:cs typeface="微软雅黑"/>
              </a:rPr>
              <a:t>实</a:t>
            </a:r>
            <a:r>
              <a:rPr sz="1400" dirty="0">
                <a:latin typeface="微软雅黑"/>
                <a:cs typeface="微软雅黑"/>
              </a:rPr>
              <a:t>际，</a:t>
            </a:r>
            <a:r>
              <a:rPr sz="1400" spc="-15" dirty="0">
                <a:latin typeface="微软雅黑"/>
                <a:cs typeface="微软雅黑"/>
              </a:rPr>
              <a:t>在</a:t>
            </a:r>
            <a:r>
              <a:rPr sz="1400" dirty="0">
                <a:latin typeface="微软雅黑"/>
                <a:cs typeface="微软雅黑"/>
              </a:rPr>
              <a:t>保证</a:t>
            </a:r>
            <a:r>
              <a:rPr sz="1400" spc="-15" dirty="0">
                <a:latin typeface="微软雅黑"/>
                <a:cs typeface="微软雅黑"/>
              </a:rPr>
              <a:t>抽</a:t>
            </a:r>
            <a:r>
              <a:rPr sz="1400" dirty="0">
                <a:latin typeface="微软雅黑"/>
                <a:cs typeface="微软雅黑"/>
              </a:rPr>
              <a:t>取样</a:t>
            </a:r>
            <a:r>
              <a:rPr sz="1400" spc="-15" dirty="0">
                <a:latin typeface="微软雅黑"/>
                <a:cs typeface="微软雅黑"/>
              </a:rPr>
              <a:t>本</a:t>
            </a:r>
            <a:r>
              <a:rPr sz="1400" dirty="0">
                <a:latin typeface="微软雅黑"/>
                <a:cs typeface="微软雅黑"/>
              </a:rPr>
              <a:t>能够 反映现实情况，且样本</a:t>
            </a:r>
            <a:r>
              <a:rPr sz="1400" spc="-15" dirty="0">
                <a:latin typeface="微软雅黑"/>
                <a:cs typeface="微软雅黑"/>
              </a:rPr>
              <a:t>方</a:t>
            </a:r>
            <a:r>
              <a:rPr sz="1400" dirty="0">
                <a:latin typeface="微软雅黑"/>
                <a:cs typeface="微软雅黑"/>
              </a:rPr>
              <a:t>差控</a:t>
            </a:r>
            <a:r>
              <a:rPr sz="1400" spc="-15" dirty="0">
                <a:latin typeface="微软雅黑"/>
                <a:cs typeface="微软雅黑"/>
              </a:rPr>
              <a:t>制</a:t>
            </a:r>
            <a:r>
              <a:rPr sz="1400" dirty="0">
                <a:latin typeface="微软雅黑"/>
                <a:cs typeface="微软雅黑"/>
              </a:rPr>
              <a:t>在一</a:t>
            </a:r>
            <a:r>
              <a:rPr sz="1400" spc="-15" dirty="0">
                <a:latin typeface="微软雅黑"/>
                <a:cs typeface="微软雅黑"/>
              </a:rPr>
              <a:t>定</a:t>
            </a:r>
            <a:r>
              <a:rPr sz="1400" dirty="0">
                <a:latin typeface="微软雅黑"/>
                <a:cs typeface="微软雅黑"/>
              </a:rPr>
              <a:t>范围</a:t>
            </a:r>
            <a:r>
              <a:rPr sz="1400" spc="-15" dirty="0">
                <a:latin typeface="微软雅黑"/>
                <a:cs typeface="微软雅黑"/>
              </a:rPr>
              <a:t>的</a:t>
            </a:r>
            <a:r>
              <a:rPr sz="1400" dirty="0">
                <a:latin typeface="微软雅黑"/>
                <a:cs typeface="微软雅黑"/>
              </a:rPr>
              <a:t>条件</a:t>
            </a:r>
            <a:r>
              <a:rPr sz="1400" spc="-15" dirty="0">
                <a:latin typeface="微软雅黑"/>
                <a:cs typeface="微软雅黑"/>
              </a:rPr>
              <a:t>下</a:t>
            </a:r>
            <a:r>
              <a:rPr sz="1400" dirty="0">
                <a:latin typeface="微软雅黑"/>
                <a:cs typeface="微软雅黑"/>
              </a:rPr>
              <a:t>，通</a:t>
            </a:r>
            <a:r>
              <a:rPr sz="1400" spc="-15" dirty="0">
                <a:latin typeface="微软雅黑"/>
                <a:cs typeface="微软雅黑"/>
              </a:rPr>
              <a:t>过</a:t>
            </a:r>
            <a:r>
              <a:rPr sz="1400" dirty="0">
                <a:latin typeface="微软雅黑"/>
                <a:cs typeface="微软雅黑"/>
              </a:rPr>
              <a:t>随机</a:t>
            </a:r>
            <a:r>
              <a:rPr sz="1400" spc="-15" dirty="0">
                <a:latin typeface="微软雅黑"/>
                <a:cs typeface="微软雅黑"/>
              </a:rPr>
              <a:t>抽</a:t>
            </a:r>
            <a:r>
              <a:rPr sz="1400" dirty="0">
                <a:latin typeface="微软雅黑"/>
                <a:cs typeface="微软雅黑"/>
              </a:rPr>
              <a:t>样被</a:t>
            </a:r>
            <a:r>
              <a:rPr sz="1400" spc="-15" dirty="0">
                <a:latin typeface="微软雅黑"/>
                <a:cs typeface="微软雅黑"/>
              </a:rPr>
              <a:t>调</a:t>
            </a:r>
            <a:r>
              <a:rPr sz="1400" dirty="0">
                <a:latin typeface="微软雅黑"/>
                <a:cs typeface="微软雅黑"/>
              </a:rPr>
              <a:t>查单</a:t>
            </a:r>
            <a:r>
              <a:rPr sz="1400" spc="-15" dirty="0">
                <a:latin typeface="微软雅黑"/>
                <a:cs typeface="微软雅黑"/>
              </a:rPr>
              <a:t>位</a:t>
            </a:r>
            <a:r>
              <a:rPr sz="1400" dirty="0">
                <a:latin typeface="微软雅黑"/>
                <a:cs typeface="微软雅黑"/>
              </a:rPr>
              <a:t>的样</a:t>
            </a:r>
            <a:r>
              <a:rPr sz="1400" spc="-15" dirty="0">
                <a:latin typeface="微软雅黑"/>
                <a:cs typeface="微软雅黑"/>
              </a:rPr>
              <a:t>本</a:t>
            </a:r>
            <a:r>
              <a:rPr sz="1400" dirty="0">
                <a:latin typeface="微软雅黑"/>
                <a:cs typeface="微软雅黑"/>
              </a:rPr>
              <a:t>，每</a:t>
            </a:r>
            <a:r>
              <a:rPr sz="1400" spc="-15" dirty="0">
                <a:latin typeface="微软雅黑"/>
                <a:cs typeface="微软雅黑"/>
              </a:rPr>
              <a:t>个</a:t>
            </a:r>
            <a:r>
              <a:rPr sz="1400" dirty="0">
                <a:latin typeface="微软雅黑"/>
                <a:cs typeface="微软雅黑"/>
              </a:rPr>
              <a:t>单 位都有同等被抽到的机</a:t>
            </a:r>
            <a:r>
              <a:rPr sz="1400" spc="-15" dirty="0">
                <a:latin typeface="微软雅黑"/>
                <a:cs typeface="微软雅黑"/>
              </a:rPr>
              <a:t>会</a:t>
            </a:r>
            <a:r>
              <a:rPr sz="1400" dirty="0">
                <a:latin typeface="微软雅黑"/>
                <a:cs typeface="微软雅黑"/>
              </a:rPr>
              <a:t>，被</a:t>
            </a:r>
            <a:r>
              <a:rPr sz="1400" spc="-15" dirty="0">
                <a:latin typeface="微软雅黑"/>
                <a:cs typeface="微软雅黑"/>
              </a:rPr>
              <a:t>抽</a:t>
            </a:r>
            <a:r>
              <a:rPr sz="1400" dirty="0">
                <a:latin typeface="微软雅黑"/>
                <a:cs typeface="微软雅黑"/>
              </a:rPr>
              <a:t>取的</a:t>
            </a:r>
            <a:r>
              <a:rPr sz="1400" spc="-15" dirty="0">
                <a:latin typeface="微软雅黑"/>
                <a:cs typeface="微软雅黑"/>
              </a:rPr>
              <a:t>单</a:t>
            </a:r>
            <a:r>
              <a:rPr sz="1400" dirty="0">
                <a:latin typeface="微软雅黑"/>
                <a:cs typeface="微软雅黑"/>
              </a:rPr>
              <a:t>位完</a:t>
            </a:r>
            <a:r>
              <a:rPr sz="1400" spc="-15" dirty="0">
                <a:latin typeface="微软雅黑"/>
                <a:cs typeface="微软雅黑"/>
              </a:rPr>
              <a:t>全</a:t>
            </a:r>
            <a:r>
              <a:rPr sz="1400" dirty="0">
                <a:latin typeface="微软雅黑"/>
                <a:cs typeface="微软雅黑"/>
              </a:rPr>
              <a:t>是偶</a:t>
            </a:r>
            <a:r>
              <a:rPr sz="1400" spc="-15" dirty="0">
                <a:latin typeface="微软雅黑"/>
                <a:cs typeface="微软雅黑"/>
              </a:rPr>
              <a:t>然</a:t>
            </a:r>
            <a:r>
              <a:rPr sz="1400" dirty="0">
                <a:latin typeface="微软雅黑"/>
                <a:cs typeface="微软雅黑"/>
              </a:rPr>
              <a:t>性的。</a:t>
            </a:r>
          </a:p>
          <a:p>
            <a:pPr marL="12700" marR="243840" indent="287655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latin typeface="微软雅黑"/>
                <a:cs typeface="微软雅黑"/>
              </a:rPr>
              <a:t>交通调查中一般获取随</a:t>
            </a:r>
            <a:r>
              <a:rPr sz="1400" spc="-15" dirty="0">
                <a:latin typeface="微软雅黑"/>
                <a:cs typeface="微软雅黑"/>
              </a:rPr>
              <a:t>机</a:t>
            </a:r>
            <a:r>
              <a:rPr sz="1400" dirty="0">
                <a:latin typeface="微软雅黑"/>
                <a:cs typeface="微软雅黑"/>
              </a:rPr>
              <a:t>样本</a:t>
            </a:r>
            <a:r>
              <a:rPr sz="1400" spc="-15" dirty="0">
                <a:latin typeface="微软雅黑"/>
                <a:cs typeface="微软雅黑"/>
              </a:rPr>
              <a:t>的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r>
              <a:rPr sz="1400" dirty="0">
                <a:latin typeface="微软雅黑"/>
                <a:cs typeface="微软雅黑"/>
              </a:rPr>
              <a:t>如车</a:t>
            </a:r>
            <a:r>
              <a:rPr sz="1400" spc="-15" dirty="0">
                <a:latin typeface="微软雅黑"/>
                <a:cs typeface="微软雅黑"/>
              </a:rPr>
              <a:t>辆</a:t>
            </a:r>
            <a:r>
              <a:rPr sz="1400" dirty="0">
                <a:latin typeface="微软雅黑"/>
                <a:cs typeface="微软雅黑"/>
              </a:rPr>
              <a:t>事故</a:t>
            </a:r>
            <a:r>
              <a:rPr sz="1400" spc="-15" dirty="0">
                <a:latin typeface="微软雅黑"/>
                <a:cs typeface="微软雅黑"/>
              </a:rPr>
              <a:t>数</a:t>
            </a:r>
            <a:r>
              <a:rPr sz="1400" dirty="0">
                <a:latin typeface="微软雅黑"/>
                <a:cs typeface="微软雅黑"/>
              </a:rPr>
              <a:t>据、</a:t>
            </a:r>
            <a:r>
              <a:rPr sz="1400" spc="-15" dirty="0">
                <a:latin typeface="微软雅黑"/>
                <a:cs typeface="微软雅黑"/>
              </a:rPr>
              <a:t>问</a:t>
            </a:r>
            <a:r>
              <a:rPr sz="1400" dirty="0">
                <a:latin typeface="微软雅黑"/>
                <a:cs typeface="微软雅黑"/>
              </a:rPr>
              <a:t>卷调</a:t>
            </a:r>
            <a:r>
              <a:rPr sz="1400" spc="-15" dirty="0">
                <a:latin typeface="微软雅黑"/>
                <a:cs typeface="微软雅黑"/>
              </a:rPr>
              <a:t>查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、</a:t>
            </a:r>
            <a:r>
              <a:rPr sz="1400" dirty="0">
                <a:latin typeface="微软雅黑"/>
                <a:cs typeface="微软雅黑"/>
              </a:rPr>
              <a:t>人工</a:t>
            </a:r>
            <a:r>
              <a:rPr sz="1400" spc="-15" dirty="0">
                <a:latin typeface="微软雅黑"/>
                <a:cs typeface="微软雅黑"/>
              </a:rPr>
              <a:t>调</a:t>
            </a:r>
            <a:r>
              <a:rPr sz="1400" dirty="0">
                <a:latin typeface="微软雅黑"/>
                <a:cs typeface="微软雅黑"/>
              </a:rPr>
              <a:t>查日</a:t>
            </a:r>
            <a:r>
              <a:rPr sz="1400" spc="-15" dirty="0">
                <a:latin typeface="微软雅黑"/>
                <a:cs typeface="微软雅黑"/>
              </a:rPr>
              <a:t>交</a:t>
            </a:r>
            <a:r>
              <a:rPr sz="1400" dirty="0">
                <a:latin typeface="微软雅黑"/>
                <a:cs typeface="微软雅黑"/>
              </a:rPr>
              <a:t>通量 数据等。（要保证数据</a:t>
            </a:r>
            <a:r>
              <a:rPr sz="1400" spc="-15" dirty="0">
                <a:latin typeface="微软雅黑"/>
                <a:cs typeface="微软雅黑"/>
              </a:rPr>
              <a:t>获</a:t>
            </a:r>
            <a:r>
              <a:rPr sz="1400" dirty="0">
                <a:latin typeface="微软雅黑"/>
                <a:cs typeface="微软雅黑"/>
              </a:rPr>
              <a:t>取的</a:t>
            </a:r>
            <a:r>
              <a:rPr sz="1400" spc="-15" dirty="0">
                <a:latin typeface="微软雅黑"/>
                <a:cs typeface="微软雅黑"/>
              </a:rPr>
              <a:t>无</a:t>
            </a:r>
            <a:r>
              <a:rPr sz="1400" dirty="0">
                <a:latin typeface="微软雅黑"/>
                <a:cs typeface="微软雅黑"/>
              </a:rPr>
              <a:t>偏性）</a:t>
            </a: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600" b="1" spc="-5" dirty="0">
                <a:latin typeface="微软雅黑"/>
                <a:cs typeface="微软雅黑"/>
              </a:rPr>
              <a:t>全体数据：要分析与某事物相关的</a:t>
            </a:r>
            <a:r>
              <a:rPr sz="1600" b="1" spc="0" dirty="0">
                <a:latin typeface="微软雅黑"/>
                <a:cs typeface="微软雅黑"/>
              </a:rPr>
              <a:t>所</a:t>
            </a:r>
            <a:r>
              <a:rPr sz="1600" b="1" spc="-5" dirty="0">
                <a:latin typeface="微软雅黑"/>
                <a:cs typeface="微软雅黑"/>
              </a:rPr>
              <a:t>有数</a:t>
            </a:r>
            <a:r>
              <a:rPr sz="1600" b="1" spc="0" dirty="0">
                <a:latin typeface="微软雅黑"/>
                <a:cs typeface="微软雅黑"/>
              </a:rPr>
              <a:t>据</a:t>
            </a:r>
            <a:r>
              <a:rPr sz="1600" b="1" spc="-5" dirty="0">
                <a:latin typeface="微软雅黑"/>
                <a:cs typeface="微软雅黑"/>
              </a:rPr>
              <a:t>，而</a:t>
            </a:r>
            <a:r>
              <a:rPr sz="1600" b="1" spc="0" dirty="0">
                <a:latin typeface="微软雅黑"/>
                <a:cs typeface="微软雅黑"/>
              </a:rPr>
              <a:t>不</a:t>
            </a:r>
            <a:r>
              <a:rPr sz="1600" b="1" spc="-5" dirty="0">
                <a:latin typeface="微软雅黑"/>
                <a:cs typeface="微软雅黑"/>
              </a:rPr>
              <a:t>是依</a:t>
            </a:r>
            <a:r>
              <a:rPr sz="1600" b="1" spc="0" dirty="0">
                <a:latin typeface="微软雅黑"/>
                <a:cs typeface="微软雅黑"/>
              </a:rPr>
              <a:t>靠</a:t>
            </a:r>
            <a:r>
              <a:rPr sz="1600" b="1" spc="-5" dirty="0">
                <a:latin typeface="微软雅黑"/>
                <a:cs typeface="微软雅黑"/>
              </a:rPr>
              <a:t>分析</a:t>
            </a:r>
            <a:r>
              <a:rPr sz="1600" b="1" spc="0" dirty="0">
                <a:latin typeface="微软雅黑"/>
                <a:cs typeface="微软雅黑"/>
              </a:rPr>
              <a:t>少</a:t>
            </a:r>
            <a:r>
              <a:rPr sz="1600" b="1" spc="-5" dirty="0">
                <a:latin typeface="微软雅黑"/>
                <a:cs typeface="微软雅黑"/>
              </a:rPr>
              <a:t>量的</a:t>
            </a:r>
            <a:r>
              <a:rPr sz="1600" b="1" spc="0" dirty="0">
                <a:latin typeface="微软雅黑"/>
                <a:cs typeface="微软雅黑"/>
              </a:rPr>
              <a:t>数</a:t>
            </a:r>
            <a:r>
              <a:rPr sz="1600" b="1" spc="-5" dirty="0">
                <a:latin typeface="微软雅黑"/>
                <a:cs typeface="微软雅黑"/>
              </a:rPr>
              <a:t>据样</a:t>
            </a:r>
            <a:r>
              <a:rPr sz="1600" b="1" spc="0" dirty="0">
                <a:latin typeface="微软雅黑"/>
                <a:cs typeface="微软雅黑"/>
              </a:rPr>
              <a:t>本</a:t>
            </a:r>
            <a:r>
              <a:rPr sz="1400" b="1" dirty="0">
                <a:latin typeface="微软雅黑"/>
                <a:cs typeface="微软雅黑"/>
              </a:rPr>
              <a:t>。</a:t>
            </a:r>
            <a:endParaRPr sz="1400" dirty="0">
              <a:latin typeface="微软雅黑"/>
              <a:cs typeface="微软雅黑"/>
            </a:endParaRPr>
          </a:p>
          <a:p>
            <a:pPr marL="12700" marR="5080" indent="287655">
              <a:lnSpc>
                <a:spcPct val="120000"/>
              </a:lnSpc>
              <a:spcBef>
                <a:spcPts val="630"/>
              </a:spcBef>
            </a:pPr>
            <a:r>
              <a:rPr sz="1400" dirty="0">
                <a:latin typeface="微软雅黑"/>
                <a:cs typeface="微软雅黑"/>
              </a:rPr>
              <a:t>随机采样是在不可收集</a:t>
            </a:r>
            <a:r>
              <a:rPr sz="1400" spc="-15" dirty="0">
                <a:latin typeface="微软雅黑"/>
                <a:cs typeface="微软雅黑"/>
              </a:rPr>
              <a:t>和</a:t>
            </a:r>
            <a:r>
              <a:rPr sz="1400" dirty="0">
                <a:latin typeface="微软雅黑"/>
                <a:cs typeface="微软雅黑"/>
              </a:rPr>
              <a:t>分析</a:t>
            </a:r>
            <a:r>
              <a:rPr sz="1400" spc="-15" dirty="0">
                <a:latin typeface="微软雅黑"/>
                <a:cs typeface="微软雅黑"/>
              </a:rPr>
              <a:t>全</a:t>
            </a:r>
            <a:r>
              <a:rPr sz="1400" dirty="0">
                <a:latin typeface="微软雅黑"/>
                <a:cs typeface="微软雅黑"/>
              </a:rPr>
              <a:t>部数</a:t>
            </a:r>
            <a:r>
              <a:rPr sz="1400" spc="-15" dirty="0">
                <a:latin typeface="微软雅黑"/>
                <a:cs typeface="微软雅黑"/>
              </a:rPr>
              <a:t>据</a:t>
            </a:r>
            <a:r>
              <a:rPr sz="1400" dirty="0">
                <a:latin typeface="微软雅黑"/>
                <a:cs typeface="微软雅黑"/>
              </a:rPr>
              <a:t>的情</a:t>
            </a:r>
            <a:r>
              <a:rPr sz="1400" spc="-15" dirty="0">
                <a:latin typeface="微软雅黑"/>
                <a:cs typeface="微软雅黑"/>
              </a:rPr>
              <a:t>况</a:t>
            </a:r>
            <a:r>
              <a:rPr sz="1400" dirty="0">
                <a:latin typeface="微软雅黑"/>
                <a:cs typeface="微软雅黑"/>
              </a:rPr>
              <a:t>下的</a:t>
            </a:r>
            <a:r>
              <a:rPr sz="1400" spc="-15" dirty="0">
                <a:latin typeface="微软雅黑"/>
                <a:cs typeface="微软雅黑"/>
              </a:rPr>
              <a:t>选</a:t>
            </a:r>
            <a:r>
              <a:rPr sz="1400" dirty="0">
                <a:latin typeface="微软雅黑"/>
                <a:cs typeface="微软雅黑"/>
              </a:rPr>
              <a:t>择，</a:t>
            </a:r>
            <a:r>
              <a:rPr sz="1400" spc="-15" dirty="0">
                <a:latin typeface="微软雅黑"/>
                <a:cs typeface="微软雅黑"/>
              </a:rPr>
              <a:t>它</a:t>
            </a:r>
            <a:r>
              <a:rPr sz="1400" dirty="0">
                <a:latin typeface="微软雅黑"/>
                <a:cs typeface="微软雅黑"/>
              </a:rPr>
              <a:t>本身</a:t>
            </a:r>
            <a:r>
              <a:rPr sz="1400" spc="-15" dirty="0">
                <a:latin typeface="微软雅黑"/>
                <a:cs typeface="微软雅黑"/>
              </a:rPr>
              <a:t>存</a:t>
            </a:r>
            <a:r>
              <a:rPr sz="1400" dirty="0">
                <a:latin typeface="微软雅黑"/>
                <a:cs typeface="微软雅黑"/>
              </a:rPr>
              <a:t>在许</a:t>
            </a:r>
            <a:r>
              <a:rPr sz="1400" spc="-15" dirty="0">
                <a:latin typeface="微软雅黑"/>
                <a:cs typeface="微软雅黑"/>
              </a:rPr>
              <a:t>多</a:t>
            </a:r>
            <a:r>
              <a:rPr sz="1400" dirty="0">
                <a:latin typeface="微软雅黑"/>
                <a:cs typeface="微软雅黑"/>
              </a:rPr>
              <a:t>固有</a:t>
            </a:r>
            <a:r>
              <a:rPr sz="1400" spc="-15" dirty="0">
                <a:latin typeface="微软雅黑"/>
                <a:cs typeface="微软雅黑"/>
              </a:rPr>
              <a:t>缺</a:t>
            </a:r>
            <a:r>
              <a:rPr sz="1400" dirty="0">
                <a:latin typeface="微软雅黑"/>
                <a:cs typeface="微软雅黑"/>
              </a:rPr>
              <a:t>陷。</a:t>
            </a:r>
            <a:r>
              <a:rPr sz="1400" spc="-15" dirty="0">
                <a:latin typeface="微软雅黑"/>
                <a:cs typeface="微软雅黑"/>
              </a:rPr>
              <a:t>当</a:t>
            </a:r>
            <a:r>
              <a:rPr sz="1400" dirty="0">
                <a:latin typeface="微软雅黑"/>
                <a:cs typeface="微软雅黑"/>
              </a:rPr>
              <a:t>我们 可以获</a:t>
            </a:r>
            <a:r>
              <a:rPr sz="1400" spc="-15" dirty="0">
                <a:latin typeface="微软雅黑"/>
                <a:cs typeface="微软雅黑"/>
              </a:rPr>
              <a:t>得</a:t>
            </a:r>
            <a:r>
              <a:rPr sz="1400" dirty="0">
                <a:latin typeface="微软雅黑"/>
                <a:cs typeface="微软雅黑"/>
              </a:rPr>
              <a:t>海量</a:t>
            </a:r>
            <a:r>
              <a:rPr sz="1400" spc="-15" dirty="0">
                <a:latin typeface="微软雅黑"/>
                <a:cs typeface="微软雅黑"/>
              </a:rPr>
              <a:t>数据</a:t>
            </a:r>
            <a:r>
              <a:rPr sz="1400" dirty="0">
                <a:latin typeface="微软雅黑"/>
                <a:cs typeface="微软雅黑"/>
              </a:rPr>
              <a:t>的时候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r>
              <a:rPr sz="1400" dirty="0">
                <a:latin typeface="微软雅黑"/>
                <a:cs typeface="微软雅黑"/>
              </a:rPr>
              <a:t>应该</a:t>
            </a:r>
            <a:r>
              <a:rPr sz="1400" spc="-15" dirty="0">
                <a:latin typeface="微软雅黑"/>
                <a:cs typeface="微软雅黑"/>
              </a:rPr>
              <a:t>分析</a:t>
            </a:r>
            <a:r>
              <a:rPr sz="1400" dirty="0">
                <a:latin typeface="微软雅黑"/>
                <a:cs typeface="微软雅黑"/>
              </a:rPr>
              <a:t>与某事</a:t>
            </a:r>
            <a:r>
              <a:rPr sz="1400" spc="-15" dirty="0">
                <a:latin typeface="微软雅黑"/>
                <a:cs typeface="微软雅黑"/>
              </a:rPr>
              <a:t>物</a:t>
            </a:r>
            <a:r>
              <a:rPr sz="1400" dirty="0">
                <a:latin typeface="微软雅黑"/>
                <a:cs typeface="微软雅黑"/>
              </a:rPr>
              <a:t>相关</a:t>
            </a:r>
            <a:r>
              <a:rPr sz="1400" spc="-15" dirty="0">
                <a:latin typeface="微软雅黑"/>
                <a:cs typeface="微软雅黑"/>
              </a:rPr>
              <a:t>的所</a:t>
            </a:r>
            <a:r>
              <a:rPr sz="1400" dirty="0">
                <a:latin typeface="微软雅黑"/>
                <a:cs typeface="微软雅黑"/>
              </a:rPr>
              <a:t>有数据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r>
              <a:rPr sz="1400" dirty="0">
                <a:latin typeface="微软雅黑"/>
                <a:cs typeface="微软雅黑"/>
              </a:rPr>
              <a:t>而不</a:t>
            </a:r>
            <a:r>
              <a:rPr sz="1400" spc="-15" dirty="0">
                <a:latin typeface="微软雅黑"/>
                <a:cs typeface="微软雅黑"/>
              </a:rPr>
              <a:t>是依</a:t>
            </a:r>
            <a:r>
              <a:rPr sz="1400" dirty="0">
                <a:latin typeface="微软雅黑"/>
                <a:cs typeface="微软雅黑"/>
              </a:rPr>
              <a:t>靠分析</a:t>
            </a:r>
            <a:r>
              <a:rPr sz="1400" spc="-15" dirty="0">
                <a:latin typeface="微软雅黑"/>
                <a:cs typeface="微软雅黑"/>
              </a:rPr>
              <a:t>少</a:t>
            </a:r>
            <a:r>
              <a:rPr sz="1400" dirty="0">
                <a:latin typeface="微软雅黑"/>
                <a:cs typeface="微软雅黑"/>
              </a:rPr>
              <a:t>量的</a:t>
            </a:r>
            <a:r>
              <a:rPr sz="1400" spc="-15" dirty="0">
                <a:latin typeface="微软雅黑"/>
                <a:cs typeface="微软雅黑"/>
              </a:rPr>
              <a:t>数据</a:t>
            </a:r>
            <a:r>
              <a:rPr sz="1400" dirty="0">
                <a:latin typeface="微软雅黑"/>
                <a:cs typeface="微软雅黑"/>
              </a:rPr>
              <a:t>样本。</a:t>
            </a:r>
          </a:p>
          <a:p>
            <a:pPr marL="12700" marR="153670" indent="287655">
              <a:lnSpc>
                <a:spcPct val="120000"/>
              </a:lnSpc>
              <a:spcBef>
                <a:spcPts val="600"/>
              </a:spcBef>
            </a:pPr>
            <a:r>
              <a:rPr sz="1400" dirty="0">
                <a:latin typeface="微软雅黑"/>
                <a:cs typeface="微软雅黑"/>
              </a:rPr>
              <a:t>获取全体交通样本数据</a:t>
            </a:r>
            <a:r>
              <a:rPr sz="1400" spc="-15" dirty="0">
                <a:latin typeface="微软雅黑"/>
                <a:cs typeface="微软雅黑"/>
              </a:rPr>
              <a:t>的</a:t>
            </a:r>
            <a:r>
              <a:rPr sz="1400" dirty="0">
                <a:latin typeface="微软雅黑"/>
                <a:cs typeface="微软雅黑"/>
              </a:rPr>
              <a:t>新兴</a:t>
            </a:r>
            <a:r>
              <a:rPr sz="1400" spc="-15" dirty="0">
                <a:latin typeface="微软雅黑"/>
                <a:cs typeface="微软雅黑"/>
              </a:rPr>
              <a:t>技</a:t>
            </a:r>
            <a:r>
              <a:rPr sz="1400" dirty="0">
                <a:latin typeface="微软雅黑"/>
                <a:cs typeface="微软雅黑"/>
              </a:rPr>
              <a:t>术，</a:t>
            </a:r>
            <a:r>
              <a:rPr sz="1400" spc="-15" dirty="0">
                <a:latin typeface="微软雅黑"/>
                <a:cs typeface="微软雅黑"/>
              </a:rPr>
              <a:t>如</a:t>
            </a:r>
            <a:r>
              <a:rPr sz="1400" dirty="0">
                <a:latin typeface="微软雅黑"/>
                <a:cs typeface="微软雅黑"/>
              </a:rPr>
              <a:t>射频</a:t>
            </a:r>
            <a:r>
              <a:rPr sz="1400" spc="-15" dirty="0">
                <a:latin typeface="微软雅黑"/>
                <a:cs typeface="微软雅黑"/>
              </a:rPr>
              <a:t>识</a:t>
            </a:r>
            <a:r>
              <a:rPr sz="1400" dirty="0">
                <a:latin typeface="微软雅黑"/>
                <a:cs typeface="微软雅黑"/>
              </a:rPr>
              <a:t>别数</a:t>
            </a:r>
            <a:r>
              <a:rPr sz="1400" spc="-15" dirty="0">
                <a:latin typeface="微软雅黑"/>
                <a:cs typeface="微软雅黑"/>
              </a:rPr>
              <a:t>据</a:t>
            </a:r>
            <a:r>
              <a:rPr sz="1400" spc="5" dirty="0">
                <a:latin typeface="微软雅黑"/>
                <a:cs typeface="微软雅黑"/>
              </a:rPr>
              <a:t>（</a:t>
            </a:r>
            <a:r>
              <a:rPr sz="1400" spc="-5" dirty="0">
                <a:latin typeface="微软雅黑"/>
                <a:cs typeface="微软雅黑"/>
              </a:rPr>
              <a:t>RF</a:t>
            </a:r>
            <a:r>
              <a:rPr sz="1400" spc="-10" dirty="0">
                <a:latin typeface="微软雅黑"/>
                <a:cs typeface="微软雅黑"/>
              </a:rPr>
              <a:t>I</a:t>
            </a:r>
            <a:r>
              <a:rPr sz="1400" spc="-5" dirty="0">
                <a:latin typeface="微软雅黑"/>
                <a:cs typeface="微软雅黑"/>
              </a:rPr>
              <a:t>D</a:t>
            </a:r>
            <a:r>
              <a:rPr sz="1400" dirty="0">
                <a:latin typeface="微软雅黑"/>
                <a:cs typeface="微软雅黑"/>
              </a:rPr>
              <a:t>）</a:t>
            </a:r>
            <a:r>
              <a:rPr sz="1400" spc="-35" dirty="0">
                <a:latin typeface="微软雅黑"/>
                <a:cs typeface="微软雅黑"/>
              </a:rPr>
              <a:t> </a:t>
            </a:r>
            <a:r>
              <a:rPr sz="1400" dirty="0">
                <a:latin typeface="微软雅黑"/>
                <a:cs typeface="微软雅黑"/>
              </a:rPr>
              <a:t>、手机话单数据、公</a:t>
            </a:r>
            <a:r>
              <a:rPr sz="1400" spc="-10" dirty="0">
                <a:latin typeface="微软雅黑"/>
                <a:cs typeface="微软雅黑"/>
              </a:rPr>
              <a:t>交</a:t>
            </a:r>
            <a:r>
              <a:rPr sz="1400" spc="-5" dirty="0">
                <a:latin typeface="微软雅黑"/>
                <a:cs typeface="微软雅黑"/>
              </a:rPr>
              <a:t>IC</a:t>
            </a:r>
            <a:r>
              <a:rPr sz="1400" dirty="0">
                <a:latin typeface="微软雅黑"/>
                <a:cs typeface="微软雅黑"/>
              </a:rPr>
              <a:t>卡数 据等。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17420" y="1933955"/>
            <a:ext cx="231775" cy="108585"/>
          </a:xfrm>
          <a:custGeom>
            <a:avLst/>
            <a:gdLst/>
            <a:ahLst/>
            <a:cxnLst/>
            <a:rect l="l" t="t" r="r" b="b"/>
            <a:pathLst>
              <a:path w="231775" h="108585">
                <a:moveTo>
                  <a:pt x="177546" y="0"/>
                </a:moveTo>
                <a:lnTo>
                  <a:pt x="177546" y="27051"/>
                </a:lnTo>
                <a:lnTo>
                  <a:pt x="0" y="27051"/>
                </a:lnTo>
                <a:lnTo>
                  <a:pt x="0" y="81153"/>
                </a:lnTo>
                <a:lnTo>
                  <a:pt x="177546" y="81153"/>
                </a:lnTo>
                <a:lnTo>
                  <a:pt x="177546" y="108204"/>
                </a:lnTo>
                <a:lnTo>
                  <a:pt x="231648" y="54102"/>
                </a:lnTo>
                <a:lnTo>
                  <a:pt x="177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7230" y="1518666"/>
            <a:ext cx="7734300" cy="4806950"/>
          </a:xfrm>
          <a:custGeom>
            <a:avLst/>
            <a:gdLst/>
            <a:ahLst/>
            <a:cxnLst/>
            <a:rect l="l" t="t" r="r" b="b"/>
            <a:pathLst>
              <a:path w="7734300" h="4806950">
                <a:moveTo>
                  <a:pt x="0" y="4806696"/>
                </a:moveTo>
                <a:lnTo>
                  <a:pt x="7734300" y="4806696"/>
                </a:lnTo>
                <a:lnTo>
                  <a:pt x="7734300" y="0"/>
                </a:lnTo>
                <a:lnTo>
                  <a:pt x="0" y="0"/>
                </a:lnTo>
                <a:lnTo>
                  <a:pt x="0" y="4806696"/>
                </a:lnTo>
                <a:close/>
              </a:path>
            </a:pathLst>
          </a:custGeom>
          <a:ln w="19812">
            <a:solidFill>
              <a:srgbClr val="7E7E7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423" y="1321257"/>
            <a:ext cx="1175003" cy="384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6572" y="1289265"/>
            <a:ext cx="1092708" cy="502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1331" y="1347216"/>
            <a:ext cx="1073150" cy="281940"/>
          </a:xfrm>
          <a:custGeom>
            <a:avLst/>
            <a:gdLst/>
            <a:ahLst/>
            <a:cxnLst/>
            <a:rect l="l" t="t" r="r" b="b"/>
            <a:pathLst>
              <a:path w="1073150" h="281939">
                <a:moveTo>
                  <a:pt x="0" y="281939"/>
                </a:moveTo>
                <a:lnTo>
                  <a:pt x="1072895" y="281939"/>
                </a:lnTo>
                <a:lnTo>
                  <a:pt x="1072895" y="0"/>
                </a:lnTo>
                <a:lnTo>
                  <a:pt x="0" y="0"/>
                </a:lnTo>
                <a:lnTo>
                  <a:pt x="0" y="281939"/>
                </a:lnTo>
                <a:close/>
              </a:path>
            </a:pathLst>
          </a:custGeom>
          <a:solidFill>
            <a:srgbClr val="1F69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45435" y="5135879"/>
            <a:ext cx="231775" cy="109855"/>
          </a:xfrm>
          <a:custGeom>
            <a:avLst/>
            <a:gdLst/>
            <a:ahLst/>
            <a:cxnLst/>
            <a:rect l="l" t="t" r="r" b="b"/>
            <a:pathLst>
              <a:path w="231775" h="109854">
                <a:moveTo>
                  <a:pt x="176783" y="0"/>
                </a:moveTo>
                <a:lnTo>
                  <a:pt x="176783" y="27432"/>
                </a:lnTo>
                <a:lnTo>
                  <a:pt x="0" y="27432"/>
                </a:lnTo>
                <a:lnTo>
                  <a:pt x="0" y="82296"/>
                </a:lnTo>
                <a:lnTo>
                  <a:pt x="176783" y="82296"/>
                </a:lnTo>
                <a:lnTo>
                  <a:pt x="176783" y="109728"/>
                </a:lnTo>
                <a:lnTo>
                  <a:pt x="231647" y="54864"/>
                </a:lnTo>
                <a:lnTo>
                  <a:pt x="1767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5512" y="1390833"/>
            <a:ext cx="7600315" cy="4681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ct val="10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思维转变</a:t>
            </a:r>
            <a:endParaRPr sz="15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700">
              <a:latin typeface="Times New Roman"/>
              <a:cs typeface="Times New Roman"/>
            </a:endParaRPr>
          </a:p>
          <a:p>
            <a:pPr marL="275590">
              <a:lnSpc>
                <a:spcPct val="100000"/>
              </a:lnSpc>
              <a:tabLst>
                <a:tab pos="1878964" algn="l"/>
              </a:tabLst>
            </a:pPr>
            <a:r>
              <a:rPr sz="1800" b="1" spc="-5" dirty="0">
                <a:latin typeface="微软雅黑"/>
                <a:cs typeface="微软雅黑"/>
              </a:rPr>
              <a:t>2. </a:t>
            </a:r>
            <a:r>
              <a:rPr sz="1800" b="1" dirty="0">
                <a:latin typeface="微软雅黑"/>
                <a:cs typeface="微软雅黑"/>
              </a:rPr>
              <a:t>精确性	混杂性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205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600" b="1" spc="-10" dirty="0">
                <a:latin typeface="微软雅黑"/>
                <a:cs typeface="微软雅黑"/>
              </a:rPr>
              <a:t>精确性：通过获得精确数据，更好</a:t>
            </a:r>
            <a:r>
              <a:rPr sz="1600" b="1" dirty="0">
                <a:latin typeface="微软雅黑"/>
                <a:cs typeface="微软雅黑"/>
              </a:rPr>
              <a:t>地</a:t>
            </a:r>
            <a:r>
              <a:rPr sz="1600" b="1" spc="-10" dirty="0">
                <a:latin typeface="微软雅黑"/>
                <a:cs typeface="微软雅黑"/>
              </a:rPr>
              <a:t>分析</a:t>
            </a:r>
            <a:r>
              <a:rPr sz="1600" b="1" dirty="0">
                <a:latin typeface="微软雅黑"/>
                <a:cs typeface="微软雅黑"/>
              </a:rPr>
              <a:t>实</a:t>
            </a:r>
            <a:r>
              <a:rPr sz="1600" b="1" spc="-10" dirty="0">
                <a:latin typeface="微软雅黑"/>
                <a:cs typeface="微软雅黑"/>
              </a:rPr>
              <a:t>际交</a:t>
            </a:r>
            <a:r>
              <a:rPr sz="1600" b="1" dirty="0">
                <a:latin typeface="微软雅黑"/>
                <a:cs typeface="微软雅黑"/>
              </a:rPr>
              <a:t>通</a:t>
            </a:r>
            <a:r>
              <a:rPr sz="1600" b="1" spc="-10" dirty="0">
                <a:latin typeface="微软雅黑"/>
                <a:cs typeface="微软雅黑"/>
              </a:rPr>
              <a:t>问题。</a:t>
            </a:r>
            <a:endParaRPr sz="1600">
              <a:latin typeface="微软雅黑"/>
              <a:cs typeface="微软雅黑"/>
            </a:endParaRPr>
          </a:p>
          <a:p>
            <a:pPr marL="12700" marR="5080" indent="287655">
              <a:lnSpc>
                <a:spcPct val="120000"/>
              </a:lnSpc>
              <a:spcBef>
                <a:spcPts val="35"/>
              </a:spcBef>
            </a:pPr>
            <a:r>
              <a:rPr sz="1400" dirty="0">
                <a:latin typeface="微软雅黑"/>
                <a:cs typeface="微软雅黑"/>
              </a:rPr>
              <a:t>依据交</a:t>
            </a:r>
            <a:r>
              <a:rPr sz="1400" spc="-15" dirty="0">
                <a:latin typeface="微软雅黑"/>
                <a:cs typeface="微软雅黑"/>
              </a:rPr>
              <a:t>通</a:t>
            </a:r>
            <a:r>
              <a:rPr sz="1400" dirty="0">
                <a:latin typeface="微软雅黑"/>
                <a:cs typeface="微软雅黑"/>
              </a:rPr>
              <a:t>实际</a:t>
            </a:r>
            <a:r>
              <a:rPr sz="1400" spc="-15" dirty="0">
                <a:latin typeface="微软雅黑"/>
                <a:cs typeface="微软雅黑"/>
              </a:rPr>
              <a:t>问题</a:t>
            </a:r>
            <a:r>
              <a:rPr sz="1400" dirty="0">
                <a:latin typeface="微软雅黑"/>
                <a:cs typeface="微软雅黑"/>
              </a:rPr>
              <a:t>需要，</a:t>
            </a:r>
            <a:r>
              <a:rPr sz="1400" spc="-15" dirty="0">
                <a:latin typeface="微软雅黑"/>
                <a:cs typeface="微软雅黑"/>
              </a:rPr>
              <a:t>分</a:t>
            </a:r>
            <a:r>
              <a:rPr sz="1400" dirty="0">
                <a:latin typeface="微软雅黑"/>
                <a:cs typeface="微软雅黑"/>
              </a:rPr>
              <a:t>析交</a:t>
            </a:r>
            <a:r>
              <a:rPr sz="1400" spc="-15" dirty="0">
                <a:latin typeface="微软雅黑"/>
                <a:cs typeface="微软雅黑"/>
              </a:rPr>
              <a:t>通数</a:t>
            </a:r>
            <a:r>
              <a:rPr sz="1400" dirty="0">
                <a:latin typeface="微软雅黑"/>
                <a:cs typeface="微软雅黑"/>
              </a:rPr>
              <a:t>据，要</a:t>
            </a:r>
            <a:r>
              <a:rPr sz="1400" spc="-15" dirty="0">
                <a:latin typeface="微软雅黑"/>
                <a:cs typeface="微软雅黑"/>
              </a:rPr>
              <a:t>求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具有</a:t>
            </a:r>
            <a:r>
              <a:rPr sz="1400" dirty="0">
                <a:latin typeface="微软雅黑"/>
                <a:cs typeface="微软雅黑"/>
              </a:rPr>
              <a:t>一定精</a:t>
            </a:r>
            <a:r>
              <a:rPr sz="1400" spc="-15" dirty="0">
                <a:latin typeface="微软雅黑"/>
                <a:cs typeface="微软雅黑"/>
              </a:rPr>
              <a:t>度</a:t>
            </a:r>
            <a:r>
              <a:rPr sz="1400" dirty="0">
                <a:latin typeface="微软雅黑"/>
                <a:cs typeface="微软雅黑"/>
              </a:rPr>
              <a:t>，进</a:t>
            </a:r>
            <a:r>
              <a:rPr sz="1400" spc="-15" dirty="0">
                <a:latin typeface="微软雅黑"/>
                <a:cs typeface="微软雅黑"/>
              </a:rPr>
              <a:t>而能</a:t>
            </a:r>
            <a:r>
              <a:rPr sz="1400" dirty="0">
                <a:latin typeface="微软雅黑"/>
                <a:cs typeface="微软雅黑"/>
              </a:rPr>
              <a:t>精确表</a:t>
            </a:r>
            <a:r>
              <a:rPr sz="1400" spc="-15" dirty="0">
                <a:latin typeface="微软雅黑"/>
                <a:cs typeface="微软雅黑"/>
              </a:rPr>
              <a:t>达</a:t>
            </a:r>
            <a:r>
              <a:rPr sz="1400" dirty="0">
                <a:latin typeface="微软雅黑"/>
                <a:cs typeface="微软雅黑"/>
              </a:rPr>
              <a:t>交通</a:t>
            </a:r>
            <a:r>
              <a:rPr sz="1400" spc="-15" dirty="0">
                <a:latin typeface="微软雅黑"/>
                <a:cs typeface="微软雅黑"/>
              </a:rPr>
              <a:t>现象</a:t>
            </a:r>
            <a:r>
              <a:rPr sz="1400" dirty="0">
                <a:latin typeface="微软雅黑"/>
                <a:cs typeface="微软雅黑"/>
              </a:rPr>
              <a:t>， 从而做出相应的改变措</a:t>
            </a:r>
            <a:r>
              <a:rPr sz="1400" spc="-15" dirty="0">
                <a:latin typeface="微软雅黑"/>
                <a:cs typeface="微软雅黑"/>
              </a:rPr>
              <a:t>施</a:t>
            </a:r>
            <a:r>
              <a:rPr sz="1400" dirty="0"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  <a:p>
            <a:pPr marL="30035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微软雅黑"/>
                <a:cs typeface="微软雅黑"/>
              </a:rPr>
              <a:t>交通问题研究中，精确</a:t>
            </a:r>
            <a:r>
              <a:rPr sz="1400" spc="-15" dirty="0">
                <a:latin typeface="微软雅黑"/>
                <a:cs typeface="微软雅黑"/>
              </a:rPr>
              <a:t>性</a:t>
            </a:r>
            <a:r>
              <a:rPr sz="1400" dirty="0">
                <a:latin typeface="微软雅黑"/>
                <a:cs typeface="微软雅黑"/>
              </a:rPr>
              <a:t>比较</a:t>
            </a:r>
            <a:r>
              <a:rPr sz="1400" spc="-15" dirty="0">
                <a:latin typeface="微软雅黑"/>
                <a:cs typeface="微软雅黑"/>
              </a:rPr>
              <a:t>高</a:t>
            </a:r>
            <a:r>
              <a:rPr sz="1400" dirty="0">
                <a:latin typeface="微软雅黑"/>
                <a:cs typeface="微软雅黑"/>
              </a:rPr>
              <a:t>的研</a:t>
            </a:r>
            <a:r>
              <a:rPr sz="1400" spc="-15" dirty="0">
                <a:latin typeface="微软雅黑"/>
                <a:cs typeface="微软雅黑"/>
              </a:rPr>
              <a:t>究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r>
              <a:rPr sz="1400" dirty="0">
                <a:latin typeface="微软雅黑"/>
                <a:cs typeface="微软雅黑"/>
              </a:rPr>
              <a:t>如视</a:t>
            </a:r>
            <a:r>
              <a:rPr sz="1400" spc="-15" dirty="0">
                <a:latin typeface="微软雅黑"/>
                <a:cs typeface="微软雅黑"/>
              </a:rPr>
              <a:t>频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5" dirty="0">
                <a:latin typeface="微软雅黑"/>
                <a:cs typeface="微软雅黑"/>
              </a:rPr>
              <a:t>，</a:t>
            </a:r>
            <a:r>
              <a:rPr sz="1400" dirty="0">
                <a:latin typeface="微软雅黑"/>
                <a:cs typeface="微软雅黑"/>
              </a:rPr>
              <a:t>GP</a:t>
            </a:r>
            <a:r>
              <a:rPr sz="1400" spc="-5" dirty="0">
                <a:latin typeface="微软雅黑"/>
                <a:cs typeface="微软雅黑"/>
              </a:rPr>
              <a:t>S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r>
              <a:rPr sz="1400" dirty="0">
                <a:latin typeface="微软雅黑"/>
                <a:cs typeface="微软雅黑"/>
              </a:rPr>
              <a:t>地感</a:t>
            </a:r>
            <a:r>
              <a:rPr sz="1400" spc="-15" dirty="0">
                <a:latin typeface="微软雅黑"/>
                <a:cs typeface="微软雅黑"/>
              </a:rPr>
              <a:t>线</a:t>
            </a:r>
            <a:r>
              <a:rPr sz="1400" dirty="0">
                <a:latin typeface="微软雅黑"/>
                <a:cs typeface="微软雅黑"/>
              </a:rPr>
              <a:t>圈数</a:t>
            </a:r>
            <a:r>
              <a:rPr sz="1400" spc="-15" dirty="0">
                <a:latin typeface="微软雅黑"/>
                <a:cs typeface="微软雅黑"/>
              </a:rPr>
              <a:t>据</a:t>
            </a:r>
            <a:r>
              <a:rPr sz="1400" dirty="0">
                <a:latin typeface="微软雅黑"/>
                <a:cs typeface="微软雅黑"/>
              </a:rPr>
              <a:t>等。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混杂性：接受数据的纷繁复杂，而</a:t>
            </a:r>
            <a:r>
              <a:rPr sz="1600" b="1" spc="0" dirty="0">
                <a:latin typeface="微软雅黑"/>
                <a:cs typeface="微软雅黑"/>
              </a:rPr>
              <a:t>不</a:t>
            </a:r>
            <a:r>
              <a:rPr sz="1600" b="1" spc="-5" dirty="0">
                <a:latin typeface="微软雅黑"/>
                <a:cs typeface="微软雅黑"/>
              </a:rPr>
              <a:t>再追</a:t>
            </a:r>
            <a:r>
              <a:rPr sz="1600" b="1" spc="0" dirty="0">
                <a:latin typeface="微软雅黑"/>
                <a:cs typeface="微软雅黑"/>
              </a:rPr>
              <a:t>求</a:t>
            </a:r>
            <a:r>
              <a:rPr sz="1600" b="1" spc="-5" dirty="0">
                <a:latin typeface="微软雅黑"/>
                <a:cs typeface="微软雅黑"/>
              </a:rPr>
              <a:t>精确</a:t>
            </a:r>
            <a:r>
              <a:rPr sz="1600" b="1" spc="0" dirty="0">
                <a:latin typeface="微软雅黑"/>
                <a:cs typeface="微软雅黑"/>
              </a:rPr>
              <a:t>性</a:t>
            </a:r>
            <a:r>
              <a:rPr sz="1600" b="1" spc="-5" dirty="0">
                <a:latin typeface="微软雅黑"/>
                <a:cs typeface="微软雅黑"/>
              </a:rPr>
              <a:t>。</a:t>
            </a:r>
            <a:endParaRPr sz="1600">
              <a:latin typeface="微软雅黑"/>
              <a:cs typeface="微软雅黑"/>
            </a:endParaRPr>
          </a:p>
          <a:p>
            <a:pPr marL="300355">
              <a:lnSpc>
                <a:spcPct val="100000"/>
              </a:lnSpc>
              <a:spcBef>
                <a:spcPts val="365"/>
              </a:spcBef>
            </a:pPr>
            <a:r>
              <a:rPr sz="1400" dirty="0">
                <a:latin typeface="微软雅黑"/>
                <a:cs typeface="微软雅黑"/>
              </a:rPr>
              <a:t>放松了容错标准之后，</a:t>
            </a:r>
            <a:r>
              <a:rPr sz="1400" spc="-10" dirty="0">
                <a:latin typeface="微软雅黑"/>
                <a:cs typeface="微软雅黑"/>
              </a:rPr>
              <a:t>人</a:t>
            </a:r>
            <a:r>
              <a:rPr sz="1400" dirty="0">
                <a:latin typeface="微软雅黑"/>
                <a:cs typeface="微软雅黑"/>
              </a:rPr>
              <a:t>们掌</a:t>
            </a:r>
            <a:r>
              <a:rPr sz="1400" spc="-10" dirty="0">
                <a:latin typeface="微软雅黑"/>
                <a:cs typeface="微软雅黑"/>
              </a:rPr>
              <a:t>握</a:t>
            </a:r>
            <a:r>
              <a:rPr sz="1400" dirty="0">
                <a:latin typeface="微软雅黑"/>
                <a:cs typeface="微软雅黑"/>
              </a:rPr>
              <a:t>的数</a:t>
            </a:r>
            <a:r>
              <a:rPr sz="1400" spc="-10" dirty="0">
                <a:latin typeface="微软雅黑"/>
                <a:cs typeface="微软雅黑"/>
              </a:rPr>
              <a:t>据</a:t>
            </a:r>
            <a:r>
              <a:rPr sz="1400" dirty="0">
                <a:latin typeface="微软雅黑"/>
                <a:cs typeface="微软雅黑"/>
              </a:rPr>
              <a:t>多了</a:t>
            </a:r>
            <a:r>
              <a:rPr sz="1400" spc="-10" dirty="0">
                <a:latin typeface="微软雅黑"/>
                <a:cs typeface="微软雅黑"/>
              </a:rPr>
              <a:t>起</a:t>
            </a:r>
            <a:r>
              <a:rPr sz="1400" dirty="0">
                <a:latin typeface="微软雅黑"/>
                <a:cs typeface="微软雅黑"/>
              </a:rPr>
              <a:t>来，</a:t>
            </a:r>
            <a:r>
              <a:rPr sz="1400" spc="-10" dirty="0">
                <a:latin typeface="微软雅黑"/>
                <a:cs typeface="微软雅黑"/>
              </a:rPr>
              <a:t>可</a:t>
            </a:r>
            <a:r>
              <a:rPr sz="1400" dirty="0">
                <a:latin typeface="微软雅黑"/>
                <a:cs typeface="微软雅黑"/>
              </a:rPr>
              <a:t>以利</a:t>
            </a:r>
            <a:r>
              <a:rPr sz="1400" spc="-10" dirty="0">
                <a:latin typeface="微软雅黑"/>
                <a:cs typeface="微软雅黑"/>
              </a:rPr>
              <a:t>用</a:t>
            </a:r>
            <a:r>
              <a:rPr sz="1400" dirty="0">
                <a:latin typeface="微软雅黑"/>
                <a:cs typeface="微软雅黑"/>
              </a:rPr>
              <a:t>这些</a:t>
            </a:r>
            <a:r>
              <a:rPr sz="1400" spc="-10" dirty="0">
                <a:latin typeface="微软雅黑"/>
                <a:cs typeface="微软雅黑"/>
              </a:rPr>
              <a:t>数</a:t>
            </a:r>
            <a:r>
              <a:rPr sz="1400" dirty="0">
                <a:latin typeface="微软雅黑"/>
                <a:cs typeface="微软雅黑"/>
              </a:rPr>
              <a:t>据做</a:t>
            </a:r>
            <a:r>
              <a:rPr sz="1400" spc="-10" dirty="0">
                <a:latin typeface="微软雅黑"/>
                <a:cs typeface="微软雅黑"/>
              </a:rPr>
              <a:t>更</a:t>
            </a:r>
            <a:r>
              <a:rPr sz="1400" dirty="0">
                <a:latin typeface="微软雅黑"/>
                <a:cs typeface="微软雅黑"/>
              </a:rPr>
              <a:t>多的</a:t>
            </a:r>
            <a:r>
              <a:rPr sz="1400" spc="-10" dirty="0">
                <a:latin typeface="微软雅黑"/>
                <a:cs typeface="微软雅黑"/>
              </a:rPr>
              <a:t>事</a:t>
            </a:r>
            <a:r>
              <a:rPr sz="1400" dirty="0">
                <a:latin typeface="微软雅黑"/>
                <a:cs typeface="微软雅黑"/>
              </a:rPr>
              <a:t>情，</a:t>
            </a:r>
            <a:r>
              <a:rPr sz="1400" spc="-10" dirty="0">
                <a:latin typeface="微软雅黑"/>
                <a:cs typeface="微软雅黑"/>
              </a:rPr>
              <a:t>创</a:t>
            </a:r>
            <a:r>
              <a:rPr sz="1400" dirty="0">
                <a:latin typeface="微软雅黑"/>
                <a:cs typeface="微软雅黑"/>
              </a:rPr>
              <a:t>造更</a:t>
            </a:r>
            <a:endParaRPr sz="1400">
              <a:latin typeface="微软雅黑"/>
              <a:cs typeface="微软雅黑"/>
            </a:endParaRPr>
          </a:p>
          <a:p>
            <a:pPr marL="300355" marR="103505" indent="-288290">
              <a:lnSpc>
                <a:spcPct val="120000"/>
              </a:lnSpc>
            </a:pPr>
            <a:r>
              <a:rPr sz="1400" dirty="0">
                <a:latin typeface="微软雅黑"/>
                <a:cs typeface="微软雅黑"/>
              </a:rPr>
              <a:t>好的结果。大数据的简</a:t>
            </a:r>
            <a:r>
              <a:rPr sz="1400" spc="-15" dirty="0">
                <a:latin typeface="微软雅黑"/>
                <a:cs typeface="微软雅黑"/>
              </a:rPr>
              <a:t>单</a:t>
            </a:r>
            <a:r>
              <a:rPr sz="1400" dirty="0">
                <a:latin typeface="微软雅黑"/>
                <a:cs typeface="微软雅黑"/>
              </a:rPr>
              <a:t>算法</a:t>
            </a:r>
            <a:r>
              <a:rPr sz="1400" spc="-15" dirty="0">
                <a:latin typeface="微软雅黑"/>
                <a:cs typeface="微软雅黑"/>
              </a:rPr>
              <a:t>比</a:t>
            </a:r>
            <a:r>
              <a:rPr sz="1400" dirty="0">
                <a:latin typeface="微软雅黑"/>
                <a:cs typeface="微软雅黑"/>
              </a:rPr>
              <a:t>小数</a:t>
            </a:r>
            <a:r>
              <a:rPr sz="1400" spc="-15" dirty="0">
                <a:latin typeface="微软雅黑"/>
                <a:cs typeface="微软雅黑"/>
              </a:rPr>
              <a:t>据</a:t>
            </a:r>
            <a:r>
              <a:rPr sz="1400" dirty="0">
                <a:latin typeface="微软雅黑"/>
                <a:cs typeface="微软雅黑"/>
              </a:rPr>
              <a:t>的复</a:t>
            </a:r>
            <a:r>
              <a:rPr sz="1400" spc="-15" dirty="0">
                <a:latin typeface="微软雅黑"/>
                <a:cs typeface="微软雅黑"/>
              </a:rPr>
              <a:t>杂</a:t>
            </a:r>
            <a:r>
              <a:rPr sz="1400" dirty="0">
                <a:latin typeface="微软雅黑"/>
                <a:cs typeface="微软雅黑"/>
              </a:rPr>
              <a:t>算法</a:t>
            </a:r>
            <a:r>
              <a:rPr sz="1400" spc="-15" dirty="0">
                <a:latin typeface="微软雅黑"/>
                <a:cs typeface="微软雅黑"/>
              </a:rPr>
              <a:t>更</a:t>
            </a:r>
            <a:r>
              <a:rPr sz="1400" dirty="0">
                <a:latin typeface="微软雅黑"/>
                <a:cs typeface="微软雅黑"/>
              </a:rPr>
              <a:t>有效。 不再追</a:t>
            </a:r>
            <a:r>
              <a:rPr sz="1400" spc="-15" dirty="0">
                <a:latin typeface="微软雅黑"/>
                <a:cs typeface="微软雅黑"/>
              </a:rPr>
              <a:t>求</a:t>
            </a:r>
            <a:r>
              <a:rPr sz="1400" dirty="0">
                <a:latin typeface="微软雅黑"/>
                <a:cs typeface="微软雅黑"/>
              </a:rPr>
              <a:t>交通</a:t>
            </a:r>
            <a:r>
              <a:rPr sz="1400" spc="-15" dirty="0">
                <a:latin typeface="微软雅黑"/>
                <a:cs typeface="微软雅黑"/>
              </a:rPr>
              <a:t>数据</a:t>
            </a:r>
            <a:r>
              <a:rPr sz="1400" dirty="0">
                <a:latin typeface="微软雅黑"/>
                <a:cs typeface="微软雅黑"/>
              </a:rPr>
              <a:t>的精确</a:t>
            </a:r>
            <a:r>
              <a:rPr sz="1400" spc="-15" dirty="0">
                <a:latin typeface="微软雅黑"/>
                <a:cs typeface="微软雅黑"/>
              </a:rPr>
              <a:t>性</a:t>
            </a:r>
            <a:r>
              <a:rPr sz="1400" dirty="0">
                <a:latin typeface="微软雅黑"/>
                <a:cs typeface="微软雅黑"/>
              </a:rPr>
              <a:t>后，</a:t>
            </a:r>
            <a:r>
              <a:rPr sz="1400" spc="-15" dirty="0">
                <a:latin typeface="微软雅黑"/>
                <a:cs typeface="微软雅黑"/>
              </a:rPr>
              <a:t>新产</a:t>
            </a:r>
            <a:r>
              <a:rPr sz="1400" dirty="0">
                <a:latin typeface="微软雅黑"/>
                <a:cs typeface="微软雅黑"/>
              </a:rPr>
              <a:t>生的交</a:t>
            </a:r>
            <a:r>
              <a:rPr sz="1400" spc="-15" dirty="0">
                <a:latin typeface="微软雅黑"/>
                <a:cs typeface="微软雅黑"/>
              </a:rPr>
              <a:t>通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，如</a:t>
            </a:r>
            <a:r>
              <a:rPr sz="1400" dirty="0">
                <a:latin typeface="微软雅黑"/>
                <a:cs typeface="微软雅黑"/>
              </a:rPr>
              <a:t>，蓝牙</a:t>
            </a:r>
            <a:r>
              <a:rPr sz="1400" spc="-15" dirty="0">
                <a:latin typeface="微软雅黑"/>
                <a:cs typeface="微软雅黑"/>
              </a:rPr>
              <a:t>数</a:t>
            </a:r>
            <a:r>
              <a:rPr sz="1400" dirty="0">
                <a:latin typeface="微软雅黑"/>
                <a:cs typeface="微软雅黑"/>
              </a:rPr>
              <a:t>据，</a:t>
            </a:r>
            <a:r>
              <a:rPr sz="1400" spc="-15" dirty="0">
                <a:latin typeface="微软雅黑"/>
                <a:cs typeface="微软雅黑"/>
              </a:rPr>
              <a:t>微</a:t>
            </a:r>
            <a:r>
              <a:rPr sz="1400" spc="10" dirty="0">
                <a:latin typeface="微软雅黑"/>
                <a:cs typeface="微软雅黑"/>
              </a:rPr>
              <a:t>信</a:t>
            </a:r>
            <a:r>
              <a:rPr sz="1400" spc="-15" dirty="0">
                <a:latin typeface="微软雅黑"/>
                <a:cs typeface="微软雅黑"/>
              </a:rPr>
              <a:t>/</a:t>
            </a:r>
            <a:r>
              <a:rPr sz="1400" dirty="0">
                <a:latin typeface="微软雅黑"/>
                <a:cs typeface="微软雅黑"/>
              </a:rPr>
              <a:t>微博位</a:t>
            </a:r>
            <a:r>
              <a:rPr sz="1400" spc="-15" dirty="0">
                <a:latin typeface="微软雅黑"/>
                <a:cs typeface="微软雅黑"/>
              </a:rPr>
              <a:t>置</a:t>
            </a:r>
            <a:r>
              <a:rPr sz="1400" dirty="0">
                <a:latin typeface="微软雅黑"/>
                <a:cs typeface="微软雅黑"/>
              </a:rPr>
              <a:t>数据</a:t>
            </a:r>
            <a:r>
              <a:rPr sz="1400" spc="-15" dirty="0">
                <a:latin typeface="微软雅黑"/>
                <a:cs typeface="微软雅黑"/>
              </a:rPr>
              <a:t>等</a:t>
            </a:r>
            <a:r>
              <a:rPr sz="1400" dirty="0"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2000">
              <a:latin typeface="Times New Roman"/>
              <a:cs typeface="Times New Roman"/>
            </a:endParaRPr>
          </a:p>
          <a:p>
            <a:pPr marL="293370">
              <a:lnSpc>
                <a:spcPct val="100000"/>
              </a:lnSpc>
              <a:tabLst>
                <a:tab pos="1896110" algn="l"/>
              </a:tabLst>
            </a:pPr>
            <a:r>
              <a:rPr sz="1800" b="1" spc="-5" dirty="0">
                <a:latin typeface="微软雅黑"/>
                <a:cs typeface="微软雅黑"/>
              </a:rPr>
              <a:t>3. </a:t>
            </a:r>
            <a:r>
              <a:rPr sz="1800" b="1" dirty="0">
                <a:latin typeface="微软雅黑"/>
                <a:cs typeface="微软雅黑"/>
              </a:rPr>
              <a:t>因果关系	相关关系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185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1600" b="1" spc="-5" dirty="0">
                <a:latin typeface="微软雅黑"/>
                <a:cs typeface="微软雅黑"/>
              </a:rPr>
              <a:t>不只探求难以捉摸的因果关系，更</a:t>
            </a:r>
            <a:r>
              <a:rPr sz="1600" b="1" spc="0" dirty="0">
                <a:latin typeface="微软雅黑"/>
                <a:cs typeface="微软雅黑"/>
              </a:rPr>
              <a:t>加</a:t>
            </a:r>
            <a:r>
              <a:rPr sz="1600" b="1" spc="-5" dirty="0">
                <a:latin typeface="微软雅黑"/>
                <a:cs typeface="微软雅黑"/>
              </a:rPr>
              <a:t>关注</a:t>
            </a:r>
            <a:r>
              <a:rPr sz="1600" b="1" spc="0" dirty="0">
                <a:latin typeface="微软雅黑"/>
                <a:cs typeface="微软雅黑"/>
              </a:rPr>
              <a:t>事</a:t>
            </a:r>
            <a:r>
              <a:rPr sz="1600" b="1" spc="-5" dirty="0">
                <a:latin typeface="微软雅黑"/>
                <a:cs typeface="微软雅黑"/>
              </a:rPr>
              <a:t>物的</a:t>
            </a:r>
            <a:r>
              <a:rPr sz="1600" b="1" spc="0" dirty="0">
                <a:latin typeface="微软雅黑"/>
                <a:cs typeface="微软雅黑"/>
              </a:rPr>
              <a:t>相</a:t>
            </a:r>
            <a:r>
              <a:rPr sz="1600" b="1" spc="-5" dirty="0">
                <a:latin typeface="微软雅黑"/>
                <a:cs typeface="微软雅黑"/>
              </a:rPr>
              <a:t>关关</a:t>
            </a:r>
            <a:r>
              <a:rPr sz="1600" b="1" spc="0" dirty="0">
                <a:latin typeface="微软雅黑"/>
                <a:cs typeface="微软雅黑"/>
              </a:rPr>
              <a:t>系</a:t>
            </a:r>
            <a:r>
              <a:rPr sz="1600" b="1" spc="-5" dirty="0">
                <a:latin typeface="微软雅黑"/>
                <a:cs typeface="微软雅黑"/>
              </a:rPr>
              <a:t>。</a:t>
            </a:r>
            <a:endParaRPr sz="16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微软雅黑"/>
                <a:cs typeface="微软雅黑"/>
              </a:rPr>
              <a:t>知道是什么就够了，没</a:t>
            </a:r>
            <a:r>
              <a:rPr sz="1400" spc="-15" dirty="0">
                <a:latin typeface="微软雅黑"/>
                <a:cs typeface="微软雅黑"/>
              </a:rPr>
              <a:t>必</a:t>
            </a:r>
            <a:r>
              <a:rPr sz="1400" dirty="0">
                <a:latin typeface="微软雅黑"/>
                <a:cs typeface="微软雅黑"/>
              </a:rPr>
              <a:t>要知</a:t>
            </a:r>
            <a:r>
              <a:rPr sz="1400" spc="-15" dirty="0">
                <a:latin typeface="微软雅黑"/>
                <a:cs typeface="微软雅黑"/>
              </a:rPr>
              <a:t>道</a:t>
            </a:r>
            <a:r>
              <a:rPr sz="1400" dirty="0">
                <a:latin typeface="微软雅黑"/>
                <a:cs typeface="微软雅黑"/>
              </a:rPr>
              <a:t>为什</a:t>
            </a:r>
            <a:r>
              <a:rPr sz="1400" spc="-15" dirty="0">
                <a:latin typeface="微软雅黑"/>
                <a:cs typeface="微软雅黑"/>
              </a:rPr>
              <a:t>么</a:t>
            </a:r>
            <a:r>
              <a:rPr sz="1400" dirty="0">
                <a:latin typeface="微软雅黑"/>
                <a:cs typeface="微软雅黑"/>
              </a:rPr>
              <a:t>，让</a:t>
            </a:r>
            <a:r>
              <a:rPr sz="1400" spc="-15" dirty="0">
                <a:latin typeface="微软雅黑"/>
                <a:cs typeface="微软雅黑"/>
              </a:rPr>
              <a:t>数</a:t>
            </a:r>
            <a:r>
              <a:rPr sz="1400" dirty="0">
                <a:latin typeface="微软雅黑"/>
                <a:cs typeface="微软雅黑"/>
              </a:rPr>
              <a:t>据自</a:t>
            </a:r>
            <a:r>
              <a:rPr sz="1400" spc="-15" dirty="0">
                <a:latin typeface="微软雅黑"/>
                <a:cs typeface="微软雅黑"/>
              </a:rPr>
              <a:t>己</a:t>
            </a:r>
            <a:r>
              <a:rPr sz="1400" dirty="0">
                <a:latin typeface="微软雅黑"/>
                <a:cs typeface="微软雅黑"/>
              </a:rPr>
              <a:t>“发</a:t>
            </a:r>
            <a:r>
              <a:rPr sz="1400" spc="-15" dirty="0">
                <a:latin typeface="微软雅黑"/>
                <a:cs typeface="微软雅黑"/>
              </a:rPr>
              <a:t>声</a:t>
            </a:r>
            <a:r>
              <a:rPr sz="1400" dirty="0">
                <a:latin typeface="微软雅黑"/>
                <a:cs typeface="微软雅黑"/>
              </a:rPr>
              <a:t>”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96128" y="2255520"/>
            <a:ext cx="2253996" cy="1665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0258" y="1962150"/>
            <a:ext cx="8229600" cy="3999229"/>
          </a:xfrm>
          <a:custGeom>
            <a:avLst/>
            <a:gdLst/>
            <a:ahLst/>
            <a:cxnLst/>
            <a:rect l="l" t="t" r="r" b="b"/>
            <a:pathLst>
              <a:path w="8229600" h="3999229">
                <a:moveTo>
                  <a:pt x="0" y="3998976"/>
                </a:moveTo>
                <a:lnTo>
                  <a:pt x="8229600" y="3998976"/>
                </a:lnTo>
                <a:lnTo>
                  <a:pt x="8229600" y="0"/>
                </a:lnTo>
                <a:lnTo>
                  <a:pt x="0" y="0"/>
                </a:lnTo>
                <a:lnTo>
                  <a:pt x="0" y="3998976"/>
                </a:lnTo>
                <a:close/>
              </a:path>
            </a:pathLst>
          </a:custGeom>
          <a:ln w="19812">
            <a:solidFill>
              <a:srgbClr val="7E7E7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4568" y="1737360"/>
            <a:ext cx="1606295" cy="544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3419" y="1682483"/>
            <a:ext cx="1687068" cy="74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0476" y="1763267"/>
            <a:ext cx="1504315" cy="441959"/>
          </a:xfrm>
          <a:custGeom>
            <a:avLst/>
            <a:gdLst/>
            <a:ahLst/>
            <a:cxnLst/>
            <a:rect l="l" t="t" r="r" b="b"/>
            <a:pathLst>
              <a:path w="1504314" h="441960">
                <a:moveTo>
                  <a:pt x="0" y="441960"/>
                </a:moveTo>
                <a:lnTo>
                  <a:pt x="1504188" y="441960"/>
                </a:lnTo>
                <a:lnTo>
                  <a:pt x="1504188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1F69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0422" y="1837171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思维转变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7532" y="2333244"/>
            <a:ext cx="2342388" cy="32720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16808" y="2255520"/>
            <a:ext cx="1918715" cy="15499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348228" y="3852671"/>
            <a:ext cx="2016252" cy="16093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19698" y="3951549"/>
            <a:ext cx="1948180" cy="71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微软雅黑"/>
                <a:cs typeface="微软雅黑"/>
              </a:rPr>
              <a:t>6</a:t>
            </a:r>
            <a:r>
              <a:rPr sz="1600" spc="-5" dirty="0">
                <a:latin typeface="微软雅黑"/>
                <a:cs typeface="微软雅黑"/>
              </a:rPr>
              <a:t>3</a:t>
            </a:r>
            <a:r>
              <a:rPr sz="1600" spc="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致终将逝去的隐私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微软雅黑"/>
                <a:cs typeface="微软雅黑"/>
              </a:rPr>
              <a:t>7</a:t>
            </a:r>
            <a:r>
              <a:rPr sz="1600" spc="-5" dirty="0">
                <a:latin typeface="微软雅黑"/>
                <a:cs typeface="微软雅黑"/>
              </a:rPr>
              <a:t>6</a:t>
            </a:r>
            <a:r>
              <a:rPr sz="1600" spc="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大国不能不识数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微软雅黑"/>
                <a:cs typeface="微软雅黑"/>
              </a:rPr>
              <a:t>10</a:t>
            </a:r>
            <a:r>
              <a:rPr sz="1600" spc="-5" dirty="0">
                <a:latin typeface="微软雅黑"/>
                <a:cs typeface="微软雅黑"/>
              </a:rPr>
              <a:t>7</a:t>
            </a:r>
            <a:r>
              <a:rPr sz="1600" spc="5" dirty="0">
                <a:latin typeface="微软雅黑"/>
                <a:cs typeface="微软雅黑"/>
              </a:rPr>
              <a:t> </a:t>
            </a:r>
            <a:r>
              <a:rPr sz="1600" spc="-5" dirty="0">
                <a:latin typeface="微软雅黑"/>
                <a:cs typeface="微软雅黑"/>
              </a:rPr>
              <a:t>数字的坏话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0258" y="1962150"/>
            <a:ext cx="8229600" cy="3999229"/>
          </a:xfrm>
          <a:custGeom>
            <a:avLst/>
            <a:gdLst/>
            <a:ahLst/>
            <a:cxnLst/>
            <a:rect l="l" t="t" r="r" b="b"/>
            <a:pathLst>
              <a:path w="8229600" h="3999229">
                <a:moveTo>
                  <a:pt x="0" y="3998976"/>
                </a:moveTo>
                <a:lnTo>
                  <a:pt x="8229600" y="3998976"/>
                </a:lnTo>
                <a:lnTo>
                  <a:pt x="8229600" y="0"/>
                </a:lnTo>
                <a:lnTo>
                  <a:pt x="0" y="0"/>
                </a:lnTo>
                <a:lnTo>
                  <a:pt x="0" y="3998976"/>
                </a:lnTo>
                <a:close/>
              </a:path>
            </a:pathLst>
          </a:custGeom>
          <a:ln w="19812">
            <a:solidFill>
              <a:srgbClr val="7E7E7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4568" y="1737360"/>
            <a:ext cx="1606295" cy="544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3419" y="1682483"/>
            <a:ext cx="1687068" cy="74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0476" y="1763267"/>
            <a:ext cx="1504315" cy="441959"/>
          </a:xfrm>
          <a:custGeom>
            <a:avLst/>
            <a:gdLst/>
            <a:ahLst/>
            <a:cxnLst/>
            <a:rect l="l" t="t" r="r" b="b"/>
            <a:pathLst>
              <a:path w="1504314" h="441960">
                <a:moveTo>
                  <a:pt x="0" y="441960"/>
                </a:moveTo>
                <a:lnTo>
                  <a:pt x="1504188" y="441960"/>
                </a:lnTo>
                <a:lnTo>
                  <a:pt x="1504188" y="0"/>
                </a:lnTo>
                <a:lnTo>
                  <a:pt x="0" y="0"/>
                </a:lnTo>
                <a:lnTo>
                  <a:pt x="0" y="441960"/>
                </a:lnTo>
                <a:close/>
              </a:path>
            </a:pathLst>
          </a:custGeom>
          <a:solidFill>
            <a:srgbClr val="1F69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90422" y="1837171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思维转变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18260" y="2089442"/>
            <a:ext cx="2942843" cy="3922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13332" y="2284476"/>
            <a:ext cx="2372867" cy="3352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61203" y="2089442"/>
            <a:ext cx="2944368" cy="3922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56276" y="2284476"/>
            <a:ext cx="2374392" cy="3352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888615" cy="118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交通领域大数据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55207"/>
            <a:ext cx="8261350" cy="408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9525" indent="457200" algn="just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随着大数据时代的到来，交通行业迎来重大变化，智能交通产业发展也迎来新 的机遇。交通拥堵、交通污染日益严重，交通事故频繁发生，这些都是各大城市亟 待解决的问题，只能交通成为改善城市交通的关键所在</a:t>
            </a:r>
            <a:r>
              <a:rPr sz="1800" spc="5" dirty="0">
                <a:latin typeface="微软雅黑"/>
                <a:cs typeface="微软雅黑"/>
              </a:rPr>
              <a:t>。</a:t>
            </a:r>
            <a:r>
              <a:rPr sz="1800" b="1" dirty="0">
                <a:latin typeface="微软雅黑"/>
                <a:cs typeface="微软雅黑"/>
              </a:rPr>
              <a:t>及时、准确获取交通数据 并构建交通数据处理模型是建设智能交通的前</a:t>
            </a:r>
            <a:r>
              <a:rPr sz="1800" b="1" spc="5" dirty="0">
                <a:latin typeface="微软雅黑"/>
                <a:cs typeface="微软雅黑"/>
              </a:rPr>
              <a:t>提</a:t>
            </a:r>
            <a:r>
              <a:rPr sz="1800" dirty="0">
                <a:latin typeface="微软雅黑"/>
                <a:cs typeface="微软雅黑"/>
              </a:rPr>
              <a:t>，而这一难题可以通过大数据技术 得到解决。</a:t>
            </a:r>
            <a:endParaRPr sz="1800">
              <a:latin typeface="微软雅黑"/>
              <a:cs typeface="微软雅黑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latin typeface="微软雅黑"/>
                <a:cs typeface="微软雅黑"/>
              </a:rPr>
              <a:t>大数据在智能交通应用的优势体现在：</a:t>
            </a:r>
            <a:r>
              <a:rPr sz="1800" b="1" dirty="0">
                <a:latin typeface="微软雅黑"/>
                <a:cs typeface="微软雅黑"/>
              </a:rPr>
              <a:t>大数据技术的海量数据存储和高效需求 分析能力</a:t>
            </a:r>
            <a:r>
              <a:rPr sz="1800" dirty="0">
                <a:latin typeface="微软雅黑"/>
                <a:cs typeface="微软雅黑"/>
              </a:rPr>
              <a:t>，能够实现交通管理系统跨区域、跨部门的集成和组合，更有效地配置交 通资源。</a:t>
            </a:r>
            <a:r>
              <a:rPr sz="1800" b="1" dirty="0">
                <a:latin typeface="微软雅黑"/>
                <a:cs typeface="微软雅黑"/>
              </a:rPr>
              <a:t>大数据的实时性</a:t>
            </a:r>
            <a:r>
              <a:rPr sz="1800" dirty="0">
                <a:latin typeface="微软雅黑"/>
                <a:cs typeface="微软雅黑"/>
              </a:rPr>
              <a:t>，使处于静态闲置的数据被处理和需要利用时，即可被智 </a:t>
            </a:r>
            <a:r>
              <a:rPr sz="1800" spc="-5" dirty="0">
                <a:latin typeface="微软雅黑"/>
                <a:cs typeface="微软雅黑"/>
              </a:rPr>
              <a:t>能化利用，是交通运行更加合理，从而提升交通交通运行效率和服务水平。</a:t>
            </a:r>
            <a:endParaRPr sz="1800">
              <a:latin typeface="微软雅黑"/>
              <a:cs typeface="微软雅黑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1035"/>
              </a:spcBef>
            </a:pPr>
            <a:r>
              <a:rPr sz="1800" dirty="0">
                <a:latin typeface="微软雅黑"/>
                <a:cs typeface="微软雅黑"/>
              </a:rPr>
              <a:t>其次</a:t>
            </a:r>
            <a:r>
              <a:rPr sz="1800" spc="-5" dirty="0">
                <a:latin typeface="微软雅黑"/>
                <a:cs typeface="微软雅黑"/>
              </a:rPr>
              <a:t>，</a:t>
            </a:r>
            <a:r>
              <a:rPr sz="1800" b="1" dirty="0">
                <a:latin typeface="微软雅黑"/>
                <a:cs typeface="微软雅黑"/>
              </a:rPr>
              <a:t>大数据技术具有较高的预测能力</a:t>
            </a:r>
            <a:r>
              <a:rPr sz="1800" dirty="0">
                <a:latin typeface="微软雅黑"/>
                <a:cs typeface="微软雅黑"/>
              </a:rPr>
              <a:t>，可降低误报和漏报的概率，随时针对 交通的动态性给予实时监控。基于对大数据的预测性分析，通过梳理影响安全运行 的各种原因，发现道路运行安全管理的内在规律，将为交通管理决策、规划、运营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、服务以及主动安全防范带来更加有效的支持，以提高交通安全的水平，在一定程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微软雅黑"/>
                <a:cs typeface="微软雅黑"/>
              </a:rPr>
              <a:t>度上避免交通事故</a:t>
            </a:r>
            <a:r>
              <a:rPr sz="1600" spc="-5" dirty="0">
                <a:latin typeface="微软雅黑"/>
                <a:cs typeface="微软雅黑"/>
              </a:rPr>
              <a:t>。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888615" cy="1200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基本概念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交通领域大数据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444233"/>
            <a:ext cx="7799070" cy="2985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57200" algn="just">
              <a:lnSpc>
                <a:spcPct val="100000"/>
              </a:lnSpc>
            </a:pPr>
            <a:r>
              <a:rPr sz="1800" dirty="0">
                <a:latin typeface="微软雅黑"/>
                <a:cs typeface="微软雅黑"/>
              </a:rPr>
              <a:t>此外，大数据技术在减轻道路阻塞、降低汽车运输对环境的影响等方面有 重要的作用。通过建立区域交通排放监测及预测模型，共享交通运行与环境数 据，建立交通运行与环境数据共享试验系统</a:t>
            </a:r>
            <a:r>
              <a:rPr sz="1800" spc="5" dirty="0">
                <a:latin typeface="微软雅黑"/>
                <a:cs typeface="微软雅黑"/>
              </a:rPr>
              <a:t>，</a:t>
            </a:r>
            <a:r>
              <a:rPr sz="1800" b="1" dirty="0">
                <a:latin typeface="微软雅黑"/>
                <a:cs typeface="微软雅黑"/>
              </a:rPr>
              <a:t>大数据技术可有效分析交通对环 境的影响。</a:t>
            </a:r>
            <a:endParaRPr sz="1800">
              <a:latin typeface="微软雅黑"/>
              <a:cs typeface="微软雅黑"/>
            </a:endParaRPr>
          </a:p>
          <a:p>
            <a:pPr marL="12700" marR="5715" indent="457200" algn="just">
              <a:lnSpc>
                <a:spcPct val="100000"/>
              </a:lnSpc>
              <a:spcBef>
                <a:spcPts val="1035"/>
              </a:spcBef>
            </a:pPr>
            <a:r>
              <a:rPr sz="1800" dirty="0">
                <a:latin typeface="微软雅黑"/>
                <a:cs typeface="微软雅黑"/>
              </a:rPr>
              <a:t>同时，分析历史数据，大数据技术能提供降低交通延误和减少排放的交通 信号智能化控制的决策依据，建立低排放交通信号控制原型系统与车辆排放环 境影响仿真系统。</a:t>
            </a:r>
            <a:endParaRPr sz="1800">
              <a:latin typeface="微软雅黑"/>
              <a:cs typeface="微软雅黑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latin typeface="微软雅黑"/>
                <a:cs typeface="微软雅黑"/>
              </a:rPr>
              <a:t>面对海量的交通信息，交通大数据的开发应用需求日益突出</a:t>
            </a:r>
            <a:r>
              <a:rPr sz="1800" spc="5" dirty="0">
                <a:latin typeface="微软雅黑"/>
                <a:cs typeface="微软雅黑"/>
              </a:rPr>
              <a:t>，</a:t>
            </a:r>
            <a:r>
              <a:rPr sz="1800" b="1" dirty="0">
                <a:latin typeface="微软雅黑"/>
                <a:cs typeface="微软雅黑"/>
              </a:rPr>
              <a:t>交通大数据 时代的来临是智能交通发展的必然趋</a:t>
            </a:r>
            <a:r>
              <a:rPr sz="1800" b="1" spc="5" dirty="0">
                <a:latin typeface="微软雅黑"/>
                <a:cs typeface="微软雅黑"/>
              </a:rPr>
              <a:t>势</a:t>
            </a:r>
            <a:r>
              <a:rPr sz="1800" dirty="0">
                <a:latin typeface="微软雅黑"/>
                <a:cs typeface="微软雅黑"/>
              </a:rPr>
              <a:t>，这将为智能交通提供更多的发展机遇 </a:t>
            </a:r>
            <a:r>
              <a:rPr sz="1800" spc="-5" dirty="0">
                <a:latin typeface="微软雅黑"/>
                <a:cs typeface="微软雅黑"/>
              </a:rPr>
              <a:t>和空间。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6931660" cy="345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交通大数据概述</a:t>
            </a:r>
            <a:endParaRPr sz="4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掌握交通大数据的定义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与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特征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了解大数据在交通领域的发展历程和应用场景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介绍代表性的交通大数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据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类型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掌握对交通数据进行分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析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建模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典型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流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程</a:t>
            </a:r>
            <a:endParaRPr sz="20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19200" y="1567433"/>
            <a:ext cx="86995" cy="4942840"/>
          </a:xfrm>
          <a:custGeom>
            <a:avLst/>
            <a:gdLst/>
            <a:ahLst/>
            <a:cxnLst/>
            <a:rect l="l" t="t" r="r" b="b"/>
            <a:pathLst>
              <a:path w="86994" h="4942840">
                <a:moveTo>
                  <a:pt x="28956" y="4855476"/>
                </a:moveTo>
                <a:lnTo>
                  <a:pt x="0" y="4855476"/>
                </a:lnTo>
                <a:lnTo>
                  <a:pt x="43434" y="4942344"/>
                </a:lnTo>
                <a:lnTo>
                  <a:pt x="79622" y="4869967"/>
                </a:lnTo>
                <a:lnTo>
                  <a:pt x="28956" y="4869967"/>
                </a:lnTo>
                <a:lnTo>
                  <a:pt x="28956" y="4855476"/>
                </a:lnTo>
                <a:close/>
              </a:path>
              <a:path w="86994" h="4942840">
                <a:moveTo>
                  <a:pt x="57912" y="0"/>
                </a:moveTo>
                <a:lnTo>
                  <a:pt x="28956" y="0"/>
                </a:lnTo>
                <a:lnTo>
                  <a:pt x="28956" y="4869967"/>
                </a:lnTo>
                <a:lnTo>
                  <a:pt x="57912" y="4869967"/>
                </a:lnTo>
                <a:lnTo>
                  <a:pt x="57912" y="0"/>
                </a:lnTo>
                <a:close/>
              </a:path>
              <a:path w="86994" h="4942840">
                <a:moveTo>
                  <a:pt x="86868" y="4855476"/>
                </a:moveTo>
                <a:lnTo>
                  <a:pt x="57912" y="4855476"/>
                </a:lnTo>
                <a:lnTo>
                  <a:pt x="57912" y="4869967"/>
                </a:lnTo>
                <a:lnTo>
                  <a:pt x="79622" y="4869967"/>
                </a:lnTo>
                <a:lnTo>
                  <a:pt x="86868" y="4855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5672" y="1752549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1603" y="177916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5672" y="2074113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1603" y="2100726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5672" y="2785821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1603" y="2812434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85672" y="3492957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11603" y="351957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85672" y="4175709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11603" y="4202322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85672" y="4875225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11603" y="4901838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85672" y="5237937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1335" y="721918"/>
            <a:ext cx="467550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发展历程——大数据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11603" y="526455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71"/>
                </a:lnTo>
                <a:lnTo>
                  <a:pt x="0" y="50387"/>
                </a:lnTo>
                <a:lnTo>
                  <a:pt x="2166" y="63178"/>
                </a:lnTo>
                <a:lnTo>
                  <a:pt x="27997" y="91635"/>
                </a:lnTo>
                <a:lnTo>
                  <a:pt x="59120" y="97639"/>
                </a:lnTo>
                <a:lnTo>
                  <a:pt x="72484" y="93300"/>
                </a:lnTo>
                <a:lnTo>
                  <a:pt x="83893" y="85611"/>
                </a:lnTo>
                <a:lnTo>
                  <a:pt x="92762" y="75124"/>
                </a:lnTo>
                <a:lnTo>
                  <a:pt x="98510" y="62389"/>
                </a:lnTo>
                <a:lnTo>
                  <a:pt x="100552" y="47960"/>
                </a:lnTo>
                <a:lnTo>
                  <a:pt x="98521" y="35028"/>
                </a:lnTo>
                <a:lnTo>
                  <a:pt x="72950" y="617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88719" y="5896355"/>
            <a:ext cx="181279" cy="18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14651" y="5922917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2079" y="0"/>
                </a:moveTo>
                <a:lnTo>
                  <a:pt x="7919" y="22150"/>
                </a:lnTo>
                <a:lnTo>
                  <a:pt x="0" y="50390"/>
                </a:lnTo>
                <a:lnTo>
                  <a:pt x="2166" y="63198"/>
                </a:lnTo>
                <a:lnTo>
                  <a:pt x="27997" y="91648"/>
                </a:lnTo>
                <a:lnTo>
                  <a:pt x="59121" y="97642"/>
                </a:lnTo>
                <a:lnTo>
                  <a:pt x="72485" y="93310"/>
                </a:lnTo>
                <a:lnTo>
                  <a:pt x="83893" y="85630"/>
                </a:lnTo>
                <a:lnTo>
                  <a:pt x="92762" y="75147"/>
                </a:lnTo>
                <a:lnTo>
                  <a:pt x="98510" y="62409"/>
                </a:lnTo>
                <a:lnTo>
                  <a:pt x="100552" y="47961"/>
                </a:lnTo>
                <a:lnTo>
                  <a:pt x="98521" y="35012"/>
                </a:lnTo>
                <a:lnTo>
                  <a:pt x="72951" y="6162"/>
                </a:lnTo>
                <a:lnTo>
                  <a:pt x="42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66013" y="1722172"/>
          <a:ext cx="8452069" cy="4611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5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943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2009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美国开放政府数据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2010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“数字德国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2015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”战略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 gridSpan="2">
                  <a:txBody>
                    <a:bodyPr/>
                    <a:lstStyle/>
                    <a:p>
                      <a:pPr marL="10071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肯尼斯库克尔发表大数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据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专题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报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告《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据，</a:t>
                      </a:r>
                      <a:r>
                        <a:rPr sz="1400" spc="-4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无所不在的数据》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72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2011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工信部把信息处理技术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作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为四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项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关键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技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术创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新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工程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之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一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7">
                <a:tc gridSpan="2">
                  <a:txBody>
                    <a:bodyPr/>
                    <a:lstStyle/>
                    <a:p>
                      <a:pPr marL="10071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麦肯锡发布报告《大数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据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：创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新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、竞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争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和生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产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力</a:t>
                      </a:r>
                      <a:r>
                        <a:rPr sz="1400" spc="-4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的下一个新领域》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5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2012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美国政府在白宫网站发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布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《大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据研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究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和发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展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倡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》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，标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志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着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大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据已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经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成为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重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要的</a:t>
                      </a:r>
                      <a:r>
                        <a:rPr sz="1400" spc="-1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时</a:t>
                      </a:r>
                      <a:r>
                        <a:rPr sz="140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代特征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152">
                <a:tc gridSpan="2">
                  <a:txBody>
                    <a:bodyPr/>
                    <a:lstStyle/>
                    <a:p>
                      <a:pPr marL="10585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联合国在纽约发布大数据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政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务白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皮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书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536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2013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欧盟实施开放数据战略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152">
                <a:tc gridSpan="2">
                  <a:txBody>
                    <a:bodyPr/>
                    <a:lstStyle/>
                    <a:p>
                      <a:pPr marL="10071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互联网巨头纷纷发布机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器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学习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产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品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，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IB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1400" spc="-5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spc="-65" dirty="0">
                          <a:latin typeface="微软雅黑"/>
                          <a:cs typeface="微软雅黑"/>
                        </a:rPr>
                        <a:t>W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系统、微软小冰、苹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果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iri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52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2014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微软雅黑"/>
                          <a:cs typeface="微软雅黑"/>
                        </a:rPr>
                        <a:t>国务院通过《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企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业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信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息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公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示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暂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行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条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例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草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案</a:t>
                      </a:r>
                      <a:r>
                        <a:rPr sz="1400" spc="-20" dirty="0"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》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430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2015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五中全会的“十三五”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划中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将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大数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据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作为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国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家级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战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略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54">
                <a:tc gridSpan="2">
                  <a:txBody>
                    <a:bodyPr/>
                    <a:lstStyle/>
                    <a:p>
                      <a:pPr marL="10585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C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o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mput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in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spc="-55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1400" spc="-10" dirty="0">
                          <a:latin typeface="微软雅黑"/>
                          <a:cs typeface="微软雅黑"/>
                        </a:rPr>
                        <a:t>s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ea</a:t>
                      </a:r>
                      <a:r>
                        <a:rPr sz="1400" spc="-2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c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发布《2015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大数据市场评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论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》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3224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2020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 marR="14097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国务院发布《关于构建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更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加完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善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素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市场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化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配置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体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制机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制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的意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见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》，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将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数据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要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素同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土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地、劳 动力、资本、技术等要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素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一体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部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署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4400"/>
            <a:ext cx="8229600" cy="50357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1335" y="721918"/>
            <a:ext cx="205549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999488"/>
            <a:ext cx="1610995" cy="3211195"/>
          </a:xfrm>
          <a:custGeom>
            <a:avLst/>
            <a:gdLst/>
            <a:ahLst/>
            <a:cxnLst/>
            <a:rect l="l" t="t" r="r" b="b"/>
            <a:pathLst>
              <a:path w="1610995" h="3211195">
                <a:moveTo>
                  <a:pt x="0" y="3211068"/>
                </a:moveTo>
                <a:lnTo>
                  <a:pt x="1610868" y="3211068"/>
                </a:lnTo>
                <a:lnTo>
                  <a:pt x="1610868" y="0"/>
                </a:lnTo>
                <a:lnTo>
                  <a:pt x="0" y="0"/>
                </a:lnTo>
                <a:lnTo>
                  <a:pt x="0" y="3211068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088" y="1647444"/>
            <a:ext cx="535305" cy="495300"/>
          </a:xfrm>
          <a:custGeom>
            <a:avLst/>
            <a:gdLst/>
            <a:ahLst/>
            <a:cxnLst/>
            <a:rect l="l" t="t" r="r" b="b"/>
            <a:pathLst>
              <a:path w="535305" h="495300">
                <a:moveTo>
                  <a:pt x="0" y="495300"/>
                </a:moveTo>
                <a:lnTo>
                  <a:pt x="534924" y="495300"/>
                </a:lnTo>
                <a:lnTo>
                  <a:pt x="5349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C2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3088" y="1647444"/>
            <a:ext cx="535305" cy="495300"/>
          </a:xfrm>
          <a:custGeom>
            <a:avLst/>
            <a:gdLst/>
            <a:ahLst/>
            <a:cxnLst/>
            <a:rect l="l" t="t" r="r" b="b"/>
            <a:pathLst>
              <a:path w="535305" h="495300">
                <a:moveTo>
                  <a:pt x="0" y="495300"/>
                </a:moveTo>
                <a:lnTo>
                  <a:pt x="534924" y="495300"/>
                </a:lnTo>
                <a:lnTo>
                  <a:pt x="5349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6122" y="2269088"/>
            <a:ext cx="1386562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非通勤人流交 换模型</a:t>
            </a:r>
            <a:endParaRPr sz="14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枢纽人流集散 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断面人流模型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5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公建服务范围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人口迁徙模型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车速模型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人群分类模型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……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33116" y="1999488"/>
            <a:ext cx="1402080" cy="3211195"/>
          </a:xfrm>
          <a:custGeom>
            <a:avLst/>
            <a:gdLst/>
            <a:ahLst/>
            <a:cxnLst/>
            <a:rect l="l" t="t" r="r" b="b"/>
            <a:pathLst>
              <a:path w="1402079" h="3211195">
                <a:moveTo>
                  <a:pt x="0" y="3211068"/>
                </a:moveTo>
                <a:lnTo>
                  <a:pt x="1402080" y="3211068"/>
                </a:lnTo>
                <a:lnTo>
                  <a:pt x="1402080" y="0"/>
                </a:lnTo>
                <a:lnTo>
                  <a:pt x="0" y="0"/>
                </a:lnTo>
                <a:lnTo>
                  <a:pt x="0" y="3211068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91739" y="1647444"/>
            <a:ext cx="536575" cy="495300"/>
          </a:xfrm>
          <a:custGeom>
            <a:avLst/>
            <a:gdLst/>
            <a:ahLst/>
            <a:cxnLst/>
            <a:rect l="l" t="t" r="r" b="b"/>
            <a:pathLst>
              <a:path w="536575" h="495300">
                <a:moveTo>
                  <a:pt x="0" y="495300"/>
                </a:moveTo>
                <a:lnTo>
                  <a:pt x="536448" y="495300"/>
                </a:lnTo>
                <a:lnTo>
                  <a:pt x="536448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C2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91739" y="1647444"/>
            <a:ext cx="536575" cy="495300"/>
          </a:xfrm>
          <a:custGeom>
            <a:avLst/>
            <a:gdLst/>
            <a:ahLst/>
            <a:cxnLst/>
            <a:rect l="l" t="t" r="r" b="b"/>
            <a:pathLst>
              <a:path w="536575" h="495300">
                <a:moveTo>
                  <a:pt x="0" y="495300"/>
                </a:moveTo>
                <a:lnTo>
                  <a:pt x="536448" y="495300"/>
                </a:lnTo>
                <a:lnTo>
                  <a:pt x="536448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11601" y="2269088"/>
            <a:ext cx="1240155" cy="2293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车速分析模型</a:t>
            </a:r>
            <a:endParaRPr sz="14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车辆轨迹追踪 模型</a:t>
            </a:r>
            <a:endParaRPr sz="14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拥堵点排队识 别模型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5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出租车客流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OD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车公里模型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……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39284" y="1999488"/>
            <a:ext cx="1595755" cy="3211195"/>
          </a:xfrm>
          <a:custGeom>
            <a:avLst/>
            <a:gdLst/>
            <a:ahLst/>
            <a:cxnLst/>
            <a:rect l="l" t="t" r="r" b="b"/>
            <a:pathLst>
              <a:path w="1595754" h="3211195">
                <a:moveTo>
                  <a:pt x="0" y="3211068"/>
                </a:moveTo>
                <a:lnTo>
                  <a:pt x="1595628" y="3211068"/>
                </a:lnTo>
                <a:lnTo>
                  <a:pt x="1595628" y="0"/>
                </a:lnTo>
                <a:lnTo>
                  <a:pt x="0" y="0"/>
                </a:lnTo>
                <a:lnTo>
                  <a:pt x="0" y="3211068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99432" y="1647444"/>
            <a:ext cx="535305" cy="495300"/>
          </a:xfrm>
          <a:custGeom>
            <a:avLst/>
            <a:gdLst/>
            <a:ahLst/>
            <a:cxnLst/>
            <a:rect l="l" t="t" r="r" b="b"/>
            <a:pathLst>
              <a:path w="535304" h="495300">
                <a:moveTo>
                  <a:pt x="0" y="495300"/>
                </a:moveTo>
                <a:lnTo>
                  <a:pt x="534924" y="495300"/>
                </a:lnTo>
                <a:lnTo>
                  <a:pt x="5349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C2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9432" y="1647444"/>
            <a:ext cx="535305" cy="495300"/>
          </a:xfrm>
          <a:custGeom>
            <a:avLst/>
            <a:gdLst/>
            <a:ahLst/>
            <a:cxnLst/>
            <a:rect l="l" t="t" r="r" b="b"/>
            <a:pathLst>
              <a:path w="535304" h="495300">
                <a:moveTo>
                  <a:pt x="0" y="495300"/>
                </a:moveTo>
                <a:lnTo>
                  <a:pt x="534924" y="495300"/>
                </a:lnTo>
                <a:lnTo>
                  <a:pt x="5349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53076" y="2269088"/>
            <a:ext cx="1240155" cy="186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行程车速模型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旅行时间模型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车辆</a:t>
            </a: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OD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模型</a:t>
            </a:r>
            <a:endParaRPr sz="14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车流向追踪模 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5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流量预测模型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……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05471" y="1999488"/>
            <a:ext cx="1437640" cy="3211195"/>
          </a:xfrm>
          <a:custGeom>
            <a:avLst/>
            <a:gdLst/>
            <a:ahLst/>
            <a:cxnLst/>
            <a:rect l="l" t="t" r="r" b="b"/>
            <a:pathLst>
              <a:path w="1437640" h="3211195">
                <a:moveTo>
                  <a:pt x="0" y="3211068"/>
                </a:moveTo>
                <a:lnTo>
                  <a:pt x="1437131" y="3211068"/>
                </a:lnTo>
                <a:lnTo>
                  <a:pt x="1437131" y="0"/>
                </a:lnTo>
                <a:lnTo>
                  <a:pt x="0" y="0"/>
                </a:lnTo>
                <a:lnTo>
                  <a:pt x="0" y="3211068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65619" y="1647444"/>
            <a:ext cx="535305" cy="495300"/>
          </a:xfrm>
          <a:custGeom>
            <a:avLst/>
            <a:gdLst/>
            <a:ahLst/>
            <a:cxnLst/>
            <a:rect l="l" t="t" r="r" b="b"/>
            <a:pathLst>
              <a:path w="535304" h="495300">
                <a:moveTo>
                  <a:pt x="0" y="495300"/>
                </a:moveTo>
                <a:lnTo>
                  <a:pt x="534924" y="495300"/>
                </a:lnTo>
                <a:lnTo>
                  <a:pt x="5349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C2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65619" y="1647444"/>
            <a:ext cx="535305" cy="495300"/>
          </a:xfrm>
          <a:custGeom>
            <a:avLst/>
            <a:gdLst/>
            <a:ahLst/>
            <a:cxnLst/>
            <a:rect l="l" t="t" r="r" b="b"/>
            <a:pathLst>
              <a:path w="535304" h="495300">
                <a:moveTo>
                  <a:pt x="0" y="495300"/>
                </a:moveTo>
                <a:lnTo>
                  <a:pt x="534924" y="495300"/>
                </a:lnTo>
                <a:lnTo>
                  <a:pt x="5349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19264" y="2269088"/>
            <a:ext cx="1163955" cy="272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公交客流</a:t>
            </a: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OD 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反推</a:t>
            </a:r>
            <a:endParaRPr sz="1400" dirty="0">
              <a:latin typeface="微软雅黑"/>
              <a:cs typeface="微软雅黑"/>
            </a:endParaRP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轨道乘车轨 迹模型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客流吸引范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围模型</a:t>
            </a:r>
            <a:endParaRPr sz="1400" dirty="0">
              <a:latin typeface="微软雅黑"/>
              <a:cs typeface="微软雅黑"/>
            </a:endParaRP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轨道沿线职 住平衡模型</a:t>
            </a:r>
            <a:endParaRPr sz="1400" dirty="0">
              <a:latin typeface="微软雅黑"/>
              <a:cs typeface="微软雅黑"/>
            </a:endParaRP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客流集散方 式模型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spc="-5" dirty="0">
                <a:solidFill>
                  <a:srgbClr val="FFFFFF"/>
                </a:solidFill>
                <a:latin typeface="微软雅黑"/>
                <a:cs typeface="微软雅黑"/>
              </a:rPr>
              <a:t>……</a:t>
            </a:r>
            <a:endParaRPr sz="14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26948" y="2378964"/>
            <a:ext cx="4704588" cy="350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70098" y="4421885"/>
            <a:ext cx="1391030" cy="1405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70098" y="4421885"/>
            <a:ext cx="1405255" cy="1405255"/>
          </a:xfrm>
          <a:custGeom>
            <a:avLst/>
            <a:gdLst/>
            <a:ahLst/>
            <a:cxnLst/>
            <a:rect l="l" t="t" r="r" b="b"/>
            <a:pathLst>
              <a:path w="1405254" h="1405254">
                <a:moveTo>
                  <a:pt x="0" y="702563"/>
                </a:moveTo>
                <a:lnTo>
                  <a:pt x="2329" y="644946"/>
                </a:lnTo>
                <a:lnTo>
                  <a:pt x="9196" y="588611"/>
                </a:lnTo>
                <a:lnTo>
                  <a:pt x="20420" y="533739"/>
                </a:lnTo>
                <a:lnTo>
                  <a:pt x="35820" y="480511"/>
                </a:lnTo>
                <a:lnTo>
                  <a:pt x="55215" y="429107"/>
                </a:lnTo>
                <a:lnTo>
                  <a:pt x="78424" y="379708"/>
                </a:lnTo>
                <a:lnTo>
                  <a:pt x="105267" y="332496"/>
                </a:lnTo>
                <a:lnTo>
                  <a:pt x="135562" y="287651"/>
                </a:lnTo>
                <a:lnTo>
                  <a:pt x="169129" y="245355"/>
                </a:lnTo>
                <a:lnTo>
                  <a:pt x="205787" y="205787"/>
                </a:lnTo>
                <a:lnTo>
                  <a:pt x="245355" y="169129"/>
                </a:lnTo>
                <a:lnTo>
                  <a:pt x="287651" y="135562"/>
                </a:lnTo>
                <a:lnTo>
                  <a:pt x="332496" y="105267"/>
                </a:lnTo>
                <a:lnTo>
                  <a:pt x="379708" y="78424"/>
                </a:lnTo>
                <a:lnTo>
                  <a:pt x="429107" y="55215"/>
                </a:lnTo>
                <a:lnTo>
                  <a:pt x="480511" y="35820"/>
                </a:lnTo>
                <a:lnTo>
                  <a:pt x="533739" y="20420"/>
                </a:lnTo>
                <a:lnTo>
                  <a:pt x="588611" y="9196"/>
                </a:lnTo>
                <a:lnTo>
                  <a:pt x="644946" y="2329"/>
                </a:lnTo>
                <a:lnTo>
                  <a:pt x="702563" y="0"/>
                </a:lnTo>
                <a:lnTo>
                  <a:pt x="760181" y="2329"/>
                </a:lnTo>
                <a:lnTo>
                  <a:pt x="816516" y="9196"/>
                </a:lnTo>
                <a:lnTo>
                  <a:pt x="871388" y="20420"/>
                </a:lnTo>
                <a:lnTo>
                  <a:pt x="924616" y="35820"/>
                </a:lnTo>
                <a:lnTo>
                  <a:pt x="976020" y="55215"/>
                </a:lnTo>
                <a:lnTo>
                  <a:pt x="1025419" y="78424"/>
                </a:lnTo>
                <a:lnTo>
                  <a:pt x="1072631" y="105267"/>
                </a:lnTo>
                <a:lnTo>
                  <a:pt x="1117476" y="135562"/>
                </a:lnTo>
                <a:lnTo>
                  <a:pt x="1159772" y="169129"/>
                </a:lnTo>
                <a:lnTo>
                  <a:pt x="1199340" y="205787"/>
                </a:lnTo>
                <a:lnTo>
                  <a:pt x="1235998" y="245355"/>
                </a:lnTo>
                <a:lnTo>
                  <a:pt x="1269565" y="287651"/>
                </a:lnTo>
                <a:lnTo>
                  <a:pt x="1299860" y="332496"/>
                </a:lnTo>
                <a:lnTo>
                  <a:pt x="1326703" y="379708"/>
                </a:lnTo>
                <a:lnTo>
                  <a:pt x="1349912" y="429107"/>
                </a:lnTo>
                <a:lnTo>
                  <a:pt x="1369307" y="480511"/>
                </a:lnTo>
                <a:lnTo>
                  <a:pt x="1384707" y="533739"/>
                </a:lnTo>
                <a:lnTo>
                  <a:pt x="1395931" y="588611"/>
                </a:lnTo>
                <a:lnTo>
                  <a:pt x="1402798" y="644946"/>
                </a:lnTo>
                <a:lnTo>
                  <a:pt x="1405127" y="702563"/>
                </a:lnTo>
                <a:lnTo>
                  <a:pt x="1402798" y="760181"/>
                </a:lnTo>
                <a:lnTo>
                  <a:pt x="1395931" y="816516"/>
                </a:lnTo>
                <a:lnTo>
                  <a:pt x="1384707" y="871388"/>
                </a:lnTo>
                <a:lnTo>
                  <a:pt x="1369307" y="924616"/>
                </a:lnTo>
                <a:lnTo>
                  <a:pt x="1349912" y="976020"/>
                </a:lnTo>
                <a:lnTo>
                  <a:pt x="1326703" y="1025419"/>
                </a:lnTo>
                <a:lnTo>
                  <a:pt x="1299860" y="1072631"/>
                </a:lnTo>
                <a:lnTo>
                  <a:pt x="1269565" y="1117476"/>
                </a:lnTo>
                <a:lnTo>
                  <a:pt x="1235998" y="1159772"/>
                </a:lnTo>
                <a:lnTo>
                  <a:pt x="1199340" y="1199340"/>
                </a:lnTo>
                <a:lnTo>
                  <a:pt x="1159772" y="1235998"/>
                </a:lnTo>
                <a:lnTo>
                  <a:pt x="1117476" y="1269565"/>
                </a:lnTo>
                <a:lnTo>
                  <a:pt x="1072631" y="1299860"/>
                </a:lnTo>
                <a:lnTo>
                  <a:pt x="1025419" y="1326703"/>
                </a:lnTo>
                <a:lnTo>
                  <a:pt x="976020" y="1349912"/>
                </a:lnTo>
                <a:lnTo>
                  <a:pt x="924616" y="1369307"/>
                </a:lnTo>
                <a:lnTo>
                  <a:pt x="871388" y="1384707"/>
                </a:lnTo>
                <a:lnTo>
                  <a:pt x="816516" y="1395931"/>
                </a:lnTo>
                <a:lnTo>
                  <a:pt x="760181" y="1402798"/>
                </a:lnTo>
                <a:lnTo>
                  <a:pt x="702563" y="1405127"/>
                </a:lnTo>
                <a:lnTo>
                  <a:pt x="644946" y="1402798"/>
                </a:lnTo>
                <a:lnTo>
                  <a:pt x="588611" y="1395931"/>
                </a:lnTo>
                <a:lnTo>
                  <a:pt x="533739" y="1384707"/>
                </a:lnTo>
                <a:lnTo>
                  <a:pt x="480511" y="1369307"/>
                </a:lnTo>
                <a:lnTo>
                  <a:pt x="429107" y="1349912"/>
                </a:lnTo>
                <a:lnTo>
                  <a:pt x="379708" y="1326703"/>
                </a:lnTo>
                <a:lnTo>
                  <a:pt x="332496" y="1299860"/>
                </a:lnTo>
                <a:lnTo>
                  <a:pt x="287651" y="1269565"/>
                </a:lnTo>
                <a:lnTo>
                  <a:pt x="245355" y="1235998"/>
                </a:lnTo>
                <a:lnTo>
                  <a:pt x="205787" y="1199340"/>
                </a:lnTo>
                <a:lnTo>
                  <a:pt x="169129" y="1159772"/>
                </a:lnTo>
                <a:lnTo>
                  <a:pt x="135562" y="1117476"/>
                </a:lnTo>
                <a:lnTo>
                  <a:pt x="105267" y="1072631"/>
                </a:lnTo>
                <a:lnTo>
                  <a:pt x="78424" y="1025419"/>
                </a:lnTo>
                <a:lnTo>
                  <a:pt x="55215" y="976020"/>
                </a:lnTo>
                <a:lnTo>
                  <a:pt x="35820" y="924616"/>
                </a:lnTo>
                <a:lnTo>
                  <a:pt x="20420" y="871388"/>
                </a:lnTo>
                <a:lnTo>
                  <a:pt x="9196" y="816516"/>
                </a:lnTo>
                <a:lnTo>
                  <a:pt x="2329" y="760181"/>
                </a:lnTo>
                <a:lnTo>
                  <a:pt x="0" y="70256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322" y="2599182"/>
            <a:ext cx="1805990" cy="1822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322" y="2599182"/>
            <a:ext cx="1824355" cy="1823085"/>
          </a:xfrm>
          <a:custGeom>
            <a:avLst/>
            <a:gdLst/>
            <a:ahLst/>
            <a:cxnLst/>
            <a:rect l="l" t="t" r="r" b="b"/>
            <a:pathLst>
              <a:path w="1824355" h="1823085">
                <a:moveTo>
                  <a:pt x="0" y="911351"/>
                </a:moveTo>
                <a:lnTo>
                  <a:pt x="3023" y="836610"/>
                </a:lnTo>
                <a:lnTo>
                  <a:pt x="11938" y="763532"/>
                </a:lnTo>
                <a:lnTo>
                  <a:pt x="26508" y="692351"/>
                </a:lnTo>
                <a:lnTo>
                  <a:pt x="46500" y="623303"/>
                </a:lnTo>
                <a:lnTo>
                  <a:pt x="71678" y="556623"/>
                </a:lnTo>
                <a:lnTo>
                  <a:pt x="101808" y="492544"/>
                </a:lnTo>
                <a:lnTo>
                  <a:pt x="136655" y="431301"/>
                </a:lnTo>
                <a:lnTo>
                  <a:pt x="175985" y="373130"/>
                </a:lnTo>
                <a:lnTo>
                  <a:pt x="219562" y="318264"/>
                </a:lnTo>
                <a:lnTo>
                  <a:pt x="267152" y="266938"/>
                </a:lnTo>
                <a:lnTo>
                  <a:pt x="318520" y="219386"/>
                </a:lnTo>
                <a:lnTo>
                  <a:pt x="373431" y="175845"/>
                </a:lnTo>
                <a:lnTo>
                  <a:pt x="431651" y="136547"/>
                </a:lnTo>
                <a:lnTo>
                  <a:pt x="492945" y="101728"/>
                </a:lnTo>
                <a:lnTo>
                  <a:pt x="557078" y="71622"/>
                </a:lnTo>
                <a:lnTo>
                  <a:pt x="623815" y="46463"/>
                </a:lnTo>
                <a:lnTo>
                  <a:pt x="692922" y="26487"/>
                </a:lnTo>
                <a:lnTo>
                  <a:pt x="764164" y="11928"/>
                </a:lnTo>
                <a:lnTo>
                  <a:pt x="837306" y="3021"/>
                </a:lnTo>
                <a:lnTo>
                  <a:pt x="912114" y="0"/>
                </a:lnTo>
                <a:lnTo>
                  <a:pt x="986929" y="3021"/>
                </a:lnTo>
                <a:lnTo>
                  <a:pt x="1060078" y="11928"/>
                </a:lnTo>
                <a:lnTo>
                  <a:pt x="1131325" y="26487"/>
                </a:lnTo>
                <a:lnTo>
                  <a:pt x="1200436" y="46463"/>
                </a:lnTo>
                <a:lnTo>
                  <a:pt x="1267176" y="71622"/>
                </a:lnTo>
                <a:lnTo>
                  <a:pt x="1331310" y="101728"/>
                </a:lnTo>
                <a:lnTo>
                  <a:pt x="1392604" y="136547"/>
                </a:lnTo>
                <a:lnTo>
                  <a:pt x="1450823" y="175845"/>
                </a:lnTo>
                <a:lnTo>
                  <a:pt x="1505733" y="219386"/>
                </a:lnTo>
                <a:lnTo>
                  <a:pt x="1557099" y="266938"/>
                </a:lnTo>
                <a:lnTo>
                  <a:pt x="1604686" y="318264"/>
                </a:lnTo>
                <a:lnTo>
                  <a:pt x="1648260" y="373130"/>
                </a:lnTo>
                <a:lnTo>
                  <a:pt x="1687587" y="431301"/>
                </a:lnTo>
                <a:lnTo>
                  <a:pt x="1722431" y="492544"/>
                </a:lnTo>
                <a:lnTo>
                  <a:pt x="1752558" y="556623"/>
                </a:lnTo>
                <a:lnTo>
                  <a:pt x="1777733" y="623303"/>
                </a:lnTo>
                <a:lnTo>
                  <a:pt x="1797723" y="692351"/>
                </a:lnTo>
                <a:lnTo>
                  <a:pt x="1812291" y="763532"/>
                </a:lnTo>
                <a:lnTo>
                  <a:pt x="1821204" y="836610"/>
                </a:lnTo>
                <a:lnTo>
                  <a:pt x="1824227" y="911351"/>
                </a:lnTo>
                <a:lnTo>
                  <a:pt x="1821204" y="986093"/>
                </a:lnTo>
                <a:lnTo>
                  <a:pt x="1812291" y="1059171"/>
                </a:lnTo>
                <a:lnTo>
                  <a:pt x="1797723" y="1130352"/>
                </a:lnTo>
                <a:lnTo>
                  <a:pt x="1777733" y="1199400"/>
                </a:lnTo>
                <a:lnTo>
                  <a:pt x="1752558" y="1266080"/>
                </a:lnTo>
                <a:lnTo>
                  <a:pt x="1722431" y="1330159"/>
                </a:lnTo>
                <a:lnTo>
                  <a:pt x="1687587" y="1391402"/>
                </a:lnTo>
                <a:lnTo>
                  <a:pt x="1648260" y="1449573"/>
                </a:lnTo>
                <a:lnTo>
                  <a:pt x="1604686" y="1504439"/>
                </a:lnTo>
                <a:lnTo>
                  <a:pt x="1557099" y="1555765"/>
                </a:lnTo>
                <a:lnTo>
                  <a:pt x="1505733" y="1603317"/>
                </a:lnTo>
                <a:lnTo>
                  <a:pt x="1450823" y="1646858"/>
                </a:lnTo>
                <a:lnTo>
                  <a:pt x="1392604" y="1686156"/>
                </a:lnTo>
                <a:lnTo>
                  <a:pt x="1331310" y="1720975"/>
                </a:lnTo>
                <a:lnTo>
                  <a:pt x="1267176" y="1751081"/>
                </a:lnTo>
                <a:lnTo>
                  <a:pt x="1200436" y="1776240"/>
                </a:lnTo>
                <a:lnTo>
                  <a:pt x="1131325" y="1796216"/>
                </a:lnTo>
                <a:lnTo>
                  <a:pt x="1060078" y="1810775"/>
                </a:lnTo>
                <a:lnTo>
                  <a:pt x="986929" y="1819682"/>
                </a:lnTo>
                <a:lnTo>
                  <a:pt x="912114" y="1822703"/>
                </a:lnTo>
                <a:lnTo>
                  <a:pt x="837306" y="1819682"/>
                </a:lnTo>
                <a:lnTo>
                  <a:pt x="764164" y="1810775"/>
                </a:lnTo>
                <a:lnTo>
                  <a:pt x="692922" y="1796216"/>
                </a:lnTo>
                <a:lnTo>
                  <a:pt x="623815" y="1776240"/>
                </a:lnTo>
                <a:lnTo>
                  <a:pt x="557078" y="1751081"/>
                </a:lnTo>
                <a:lnTo>
                  <a:pt x="492945" y="1720975"/>
                </a:lnTo>
                <a:lnTo>
                  <a:pt x="431651" y="1686156"/>
                </a:lnTo>
                <a:lnTo>
                  <a:pt x="373431" y="1646858"/>
                </a:lnTo>
                <a:lnTo>
                  <a:pt x="318520" y="1603317"/>
                </a:lnTo>
                <a:lnTo>
                  <a:pt x="267152" y="1555765"/>
                </a:lnTo>
                <a:lnTo>
                  <a:pt x="219562" y="1504439"/>
                </a:lnTo>
                <a:lnTo>
                  <a:pt x="175985" y="1449573"/>
                </a:lnTo>
                <a:lnTo>
                  <a:pt x="136655" y="1391402"/>
                </a:lnTo>
                <a:lnTo>
                  <a:pt x="101808" y="1330159"/>
                </a:lnTo>
                <a:lnTo>
                  <a:pt x="71678" y="1266080"/>
                </a:lnTo>
                <a:lnTo>
                  <a:pt x="46500" y="1199400"/>
                </a:lnTo>
                <a:lnTo>
                  <a:pt x="26508" y="1130352"/>
                </a:lnTo>
                <a:lnTo>
                  <a:pt x="11938" y="1059171"/>
                </a:lnTo>
                <a:lnTo>
                  <a:pt x="3023" y="986093"/>
                </a:lnTo>
                <a:lnTo>
                  <a:pt x="0" y="911351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1335" y="721918"/>
            <a:ext cx="5337175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停车场剩余车位监测（深圳）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4829" y="2552114"/>
            <a:ext cx="2905760" cy="3169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2B426C"/>
                </a:solidFill>
                <a:latin typeface="微软雅黑"/>
                <a:cs typeface="微软雅黑"/>
              </a:rPr>
              <a:t>信息：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  <a:tabLst>
                <a:tab pos="299085" algn="l"/>
              </a:tabLst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	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路外/路内停车场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位置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299085" algn="l"/>
              </a:tabLst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	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实时剩余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车位数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299085" algn="l"/>
              </a:tabLst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	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饱和度与停车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价格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"/>
              </a:spcBef>
            </a:pPr>
            <a:endParaRPr sz="235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</a:pPr>
            <a:r>
              <a:rPr sz="2000" b="1" dirty="0">
                <a:solidFill>
                  <a:srgbClr val="2B426C"/>
                </a:solidFill>
                <a:latin typeface="微软雅黑"/>
                <a:cs typeface="微软雅黑"/>
              </a:rPr>
              <a:t>功能：</a:t>
            </a:r>
            <a:endParaRPr sz="2000">
              <a:latin typeface="微软雅黑"/>
              <a:cs typeface="微软雅黑"/>
            </a:endParaRPr>
          </a:p>
          <a:p>
            <a:pPr marL="69215" marR="5080">
              <a:lnSpc>
                <a:spcPct val="150100"/>
              </a:lnSpc>
              <a:spcBef>
                <a:spcPts val="695"/>
              </a:spcBef>
            </a:pP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配合移动</a:t>
            </a:r>
            <a:r>
              <a:rPr sz="1600" dirty="0">
                <a:solidFill>
                  <a:srgbClr val="2B426C"/>
                </a:solidFill>
                <a:latin typeface="微软雅黑"/>
                <a:cs typeface="微软雅黑"/>
              </a:rPr>
              <a:t>A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P</a:t>
            </a:r>
            <a:r>
              <a:rPr sz="1600" spc="-15" dirty="0">
                <a:solidFill>
                  <a:srgbClr val="2B426C"/>
                </a:solidFill>
                <a:latin typeface="微软雅黑"/>
                <a:cs typeface="微软雅黑"/>
              </a:rPr>
              <a:t>P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进行</a:t>
            </a:r>
            <a:r>
              <a:rPr sz="1600" b="1" spc="-5" dirty="0">
                <a:solidFill>
                  <a:srgbClr val="2B426C"/>
                </a:solidFill>
                <a:latin typeface="微软雅黑"/>
                <a:cs typeface="微软雅黑"/>
              </a:rPr>
              <a:t>电子化收费。 引导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用户前往空闲车位处。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21335" y="721918"/>
            <a:ext cx="4982210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道路运行指数动态（深圳）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2985" y="2973493"/>
            <a:ext cx="2947035" cy="1856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7020" algn="just">
              <a:lnSpc>
                <a:spcPct val="150100"/>
              </a:lnSpc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 </a:t>
            </a:r>
            <a:r>
              <a:rPr sz="1600" spc="185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 err="1">
                <a:solidFill>
                  <a:srgbClr val="2B426C"/>
                </a:solidFill>
                <a:latin typeface="微软雅黑"/>
                <a:cs typeface="微软雅黑"/>
              </a:rPr>
              <a:t>道路交通运行指数是对路网交通总体运行状况进行定量评估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 的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综合性指标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299085" algn="l"/>
              </a:tabLst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	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简单、直观，实时发布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299085" algn="l"/>
              </a:tabLst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	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覆盖范围广、准确性高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4087" y="2406395"/>
            <a:ext cx="4431792" cy="20665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4087" y="4472940"/>
            <a:ext cx="746760" cy="259079"/>
          </a:xfrm>
          <a:custGeom>
            <a:avLst/>
            <a:gdLst/>
            <a:ahLst/>
            <a:cxnLst/>
            <a:rect l="l" t="t" r="r" b="b"/>
            <a:pathLst>
              <a:path w="746760" h="259079">
                <a:moveTo>
                  <a:pt x="0" y="259080"/>
                </a:moveTo>
                <a:lnTo>
                  <a:pt x="746760" y="259080"/>
                </a:lnTo>
                <a:lnTo>
                  <a:pt x="746760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0092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7971" y="4535361"/>
            <a:ext cx="278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微软雅黑"/>
                <a:cs typeface="微软雅黑"/>
              </a:rPr>
              <a:t>畅通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50847" y="4472940"/>
            <a:ext cx="746760" cy="259079"/>
          </a:xfrm>
          <a:custGeom>
            <a:avLst/>
            <a:gdLst/>
            <a:ahLst/>
            <a:cxnLst/>
            <a:rect l="l" t="t" r="r" b="b"/>
            <a:pathLst>
              <a:path w="746760" h="259079">
                <a:moveTo>
                  <a:pt x="0" y="259080"/>
                </a:moveTo>
                <a:lnTo>
                  <a:pt x="746760" y="259080"/>
                </a:lnTo>
                <a:lnTo>
                  <a:pt x="746760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03FF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7908" y="4535361"/>
            <a:ext cx="5314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微软雅黑"/>
                <a:cs typeface="微软雅黑"/>
              </a:rPr>
              <a:t>基本畅通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97607" y="4472940"/>
            <a:ext cx="745490" cy="259079"/>
          </a:xfrm>
          <a:custGeom>
            <a:avLst/>
            <a:gdLst/>
            <a:ahLst/>
            <a:cxnLst/>
            <a:rect l="l" t="t" r="r" b="b"/>
            <a:pathLst>
              <a:path w="745489" h="259079">
                <a:moveTo>
                  <a:pt x="0" y="259080"/>
                </a:moveTo>
                <a:lnTo>
                  <a:pt x="745236" y="259080"/>
                </a:lnTo>
                <a:lnTo>
                  <a:pt x="745236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E3E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30907" y="4535361"/>
            <a:ext cx="278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微软雅黑"/>
                <a:cs typeface="微软雅黑"/>
              </a:rPr>
              <a:t>缓行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42844" y="4472940"/>
            <a:ext cx="746760" cy="259079"/>
          </a:xfrm>
          <a:custGeom>
            <a:avLst/>
            <a:gdLst/>
            <a:ahLst/>
            <a:cxnLst/>
            <a:rect l="l" t="t" r="r" b="b"/>
            <a:pathLst>
              <a:path w="746760" h="259079">
                <a:moveTo>
                  <a:pt x="0" y="259080"/>
                </a:moveTo>
                <a:lnTo>
                  <a:pt x="746759" y="259080"/>
                </a:lnTo>
                <a:lnTo>
                  <a:pt x="746759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E46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14801" y="4535361"/>
            <a:ext cx="4051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微软雅黑"/>
                <a:cs typeface="微软雅黑"/>
              </a:rPr>
              <a:t>较拥堵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89603" y="4472940"/>
            <a:ext cx="746760" cy="259079"/>
          </a:xfrm>
          <a:custGeom>
            <a:avLst/>
            <a:gdLst/>
            <a:ahLst/>
            <a:cxnLst/>
            <a:rect l="l" t="t" r="r" b="b"/>
            <a:pathLst>
              <a:path w="746760" h="259079">
                <a:moveTo>
                  <a:pt x="0" y="259080"/>
                </a:moveTo>
                <a:lnTo>
                  <a:pt x="746760" y="259080"/>
                </a:lnTo>
                <a:lnTo>
                  <a:pt x="746760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C7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23791" y="4535361"/>
            <a:ext cx="278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微软雅黑"/>
                <a:cs typeface="微软雅黑"/>
              </a:rPr>
              <a:t>拥堵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36364" y="4472940"/>
            <a:ext cx="699770" cy="259079"/>
          </a:xfrm>
          <a:custGeom>
            <a:avLst/>
            <a:gdLst/>
            <a:ahLst/>
            <a:cxnLst/>
            <a:rect l="l" t="t" r="r" b="b"/>
            <a:pathLst>
              <a:path w="699770" h="259079">
                <a:moveTo>
                  <a:pt x="0" y="259080"/>
                </a:moveTo>
                <a:lnTo>
                  <a:pt x="699515" y="259080"/>
                </a:lnTo>
                <a:lnTo>
                  <a:pt x="699515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20946" y="4535361"/>
            <a:ext cx="5314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微软雅黑"/>
                <a:cs typeface="微软雅黑"/>
              </a:rPr>
              <a:t>暂无数据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4087" y="5004815"/>
            <a:ext cx="4431792" cy="1028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26377" y="5545592"/>
            <a:ext cx="18529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1F487C"/>
                </a:solidFill>
                <a:latin typeface="微软雅黑"/>
                <a:cs typeface="微软雅黑"/>
              </a:rPr>
              <a:t>运行指数说明见下页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905500" y="2170176"/>
            <a:ext cx="2872740" cy="2020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3295" y="4536947"/>
            <a:ext cx="1757172" cy="17023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1335" y="721918"/>
            <a:ext cx="5484165" cy="3747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 dirty="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道路运行指数动态（深圳）</a:t>
            </a:r>
            <a:endParaRPr sz="2800" dirty="0">
              <a:latin typeface="微软雅黑"/>
              <a:cs typeface="微软雅黑"/>
            </a:endParaRPr>
          </a:p>
          <a:p>
            <a:pPr marL="433070" marR="189865" indent="457200" algn="just">
              <a:lnSpc>
                <a:spcPct val="125000"/>
              </a:lnSpc>
              <a:spcBef>
                <a:spcPts val="610"/>
              </a:spcBef>
            </a:pPr>
            <a:r>
              <a:rPr sz="1600" spc="-5" dirty="0">
                <a:latin typeface="微软雅黑"/>
                <a:cs typeface="微软雅黑"/>
              </a:rPr>
              <a:t>定义：道路交通运行指数是根据所</a:t>
            </a:r>
            <a:r>
              <a:rPr sz="1600" spc="0" dirty="0">
                <a:latin typeface="微软雅黑"/>
                <a:cs typeface="微软雅黑"/>
              </a:rPr>
              <a:t>在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城市</a:t>
            </a:r>
            <a:r>
              <a:rPr sz="1600" spc="0" dirty="0">
                <a:solidFill>
                  <a:srgbClr val="FF0000"/>
                </a:solidFill>
                <a:latin typeface="微软雅黑"/>
                <a:cs typeface="微软雅黑"/>
              </a:rPr>
              <a:t>实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际特 </a:t>
            </a:r>
            <a:r>
              <a:rPr sz="1600" spc="-10" dirty="0">
                <a:solidFill>
                  <a:srgbClr val="FF0000"/>
                </a:solidFill>
                <a:latin typeface="微软雅黑"/>
                <a:cs typeface="微软雅黑"/>
              </a:rPr>
              <a:t>点</a:t>
            </a:r>
            <a:r>
              <a:rPr sz="1600" spc="-10" dirty="0">
                <a:latin typeface="微软雅黑"/>
                <a:cs typeface="微软雅黑"/>
              </a:rPr>
              <a:t>对路网交通总体运行状况进行定</a:t>
            </a:r>
            <a:r>
              <a:rPr sz="1600" dirty="0">
                <a:latin typeface="微软雅黑"/>
                <a:cs typeface="微软雅黑"/>
              </a:rPr>
              <a:t>量</a:t>
            </a:r>
            <a:r>
              <a:rPr sz="1600" spc="-10" dirty="0">
                <a:latin typeface="微软雅黑"/>
                <a:cs typeface="微软雅黑"/>
              </a:rPr>
              <a:t>评估</a:t>
            </a:r>
            <a:r>
              <a:rPr sz="1600" dirty="0">
                <a:latin typeface="微软雅黑"/>
                <a:cs typeface="微软雅黑"/>
              </a:rPr>
              <a:t>的</a:t>
            </a:r>
            <a:r>
              <a:rPr sz="1600" spc="-10" dirty="0">
                <a:latin typeface="微软雅黑"/>
                <a:cs typeface="微软雅黑"/>
              </a:rPr>
              <a:t>综合</a:t>
            </a:r>
            <a:r>
              <a:rPr sz="1600" dirty="0">
                <a:latin typeface="微软雅黑"/>
                <a:cs typeface="微软雅黑"/>
              </a:rPr>
              <a:t>性</a:t>
            </a:r>
            <a:r>
              <a:rPr sz="1600" spc="-5" dirty="0">
                <a:latin typeface="微软雅黑"/>
                <a:cs typeface="微软雅黑"/>
              </a:rPr>
              <a:t>指 标。如采用出行时间、道路饱和度</a:t>
            </a:r>
            <a:r>
              <a:rPr sz="1600" spc="0" dirty="0">
                <a:latin typeface="微软雅黑"/>
                <a:cs typeface="微软雅黑"/>
              </a:rPr>
              <a:t>、</a:t>
            </a:r>
            <a:r>
              <a:rPr sz="1600" spc="-5" dirty="0">
                <a:latin typeface="微软雅黑"/>
                <a:cs typeface="微软雅黑"/>
              </a:rPr>
              <a:t>综合</a:t>
            </a:r>
            <a:r>
              <a:rPr sz="1600" spc="0" dirty="0">
                <a:latin typeface="微软雅黑"/>
                <a:cs typeface="微软雅黑"/>
              </a:rPr>
              <a:t>加</a:t>
            </a:r>
            <a:r>
              <a:rPr sz="1600" spc="-5" dirty="0">
                <a:latin typeface="微软雅黑"/>
                <a:cs typeface="微软雅黑"/>
              </a:rPr>
              <a:t>权或</a:t>
            </a:r>
            <a:r>
              <a:rPr sz="1600" spc="0" dirty="0">
                <a:latin typeface="微软雅黑"/>
                <a:cs typeface="微软雅黑"/>
              </a:rPr>
              <a:t>拥</a:t>
            </a:r>
            <a:r>
              <a:rPr sz="1600" spc="-5" dirty="0">
                <a:latin typeface="微软雅黑"/>
                <a:cs typeface="微软雅黑"/>
              </a:rPr>
              <a:t>堵 路段里程比例等。</a:t>
            </a:r>
            <a:endParaRPr sz="1600" dirty="0">
              <a:latin typeface="微软雅黑"/>
              <a:cs typeface="微软雅黑"/>
            </a:endParaRPr>
          </a:p>
          <a:p>
            <a:pPr marL="179070">
              <a:lnSpc>
                <a:spcPct val="100000"/>
              </a:lnSpc>
              <a:spcBef>
                <a:spcPts val="1250"/>
              </a:spcBef>
              <a:tabLst>
                <a:tab pos="465455" algn="l"/>
              </a:tabLst>
            </a:pPr>
            <a:r>
              <a:rPr sz="1600" spc="1125" dirty="0">
                <a:solidFill>
                  <a:srgbClr val="1F3863"/>
                </a:solidFill>
                <a:latin typeface="Segoe UI Symbol"/>
                <a:cs typeface="Segoe UI Symbol"/>
              </a:rPr>
              <a:t>⚫</a:t>
            </a:r>
            <a:r>
              <a:rPr sz="1600" spc="-5" dirty="0" err="1">
                <a:solidFill>
                  <a:srgbClr val="1F3863"/>
                </a:solidFill>
                <a:latin typeface="微软雅黑"/>
                <a:cs typeface="微软雅黑"/>
              </a:rPr>
              <a:t>出租车</a:t>
            </a:r>
            <a:r>
              <a:rPr sz="1600" spc="-5" dirty="0" err="1">
                <a:solidFill>
                  <a:srgbClr val="FF0000"/>
                </a:solidFill>
                <a:latin typeface="微软雅黑"/>
                <a:cs typeface="微软雅黑"/>
              </a:rPr>
              <a:t>实时GP</a:t>
            </a:r>
            <a:r>
              <a:rPr sz="1600" spc="-10" dirty="0" err="1">
                <a:solidFill>
                  <a:srgbClr val="FF0000"/>
                </a:solidFill>
                <a:latin typeface="微软雅黑"/>
                <a:cs typeface="微软雅黑"/>
              </a:rPr>
              <a:t>S</a:t>
            </a:r>
            <a:r>
              <a:rPr sz="1600" spc="-5" dirty="0" err="1">
                <a:solidFill>
                  <a:srgbClr val="FF0000"/>
                </a:solidFill>
                <a:latin typeface="微软雅黑"/>
                <a:cs typeface="微软雅黑"/>
              </a:rPr>
              <a:t>数据</a:t>
            </a:r>
            <a:endParaRPr sz="1600" dirty="0">
              <a:latin typeface="微软雅黑"/>
              <a:cs typeface="微软雅黑"/>
            </a:endParaRPr>
          </a:p>
          <a:p>
            <a:pPr marL="179070">
              <a:lnSpc>
                <a:spcPct val="100000"/>
              </a:lnSpc>
              <a:spcBef>
                <a:spcPts val="480"/>
              </a:spcBef>
              <a:tabLst>
                <a:tab pos="465455" algn="l"/>
              </a:tabLst>
            </a:pPr>
            <a:r>
              <a:rPr sz="1600" spc="1130" dirty="0">
                <a:solidFill>
                  <a:srgbClr val="1F3863"/>
                </a:solidFill>
                <a:latin typeface="Segoe UI Symbol"/>
                <a:cs typeface="Segoe UI Symbol"/>
              </a:rPr>
              <a:t>⚫</a:t>
            </a:r>
            <a:r>
              <a:rPr sz="1600" spc="-10" dirty="0" err="1">
                <a:solidFill>
                  <a:srgbClr val="1F3863"/>
                </a:solidFill>
                <a:latin typeface="微软雅黑"/>
                <a:cs typeface="微软雅黑"/>
              </a:rPr>
              <a:t>计算各</a:t>
            </a:r>
            <a:r>
              <a:rPr sz="1600" spc="-10" dirty="0" err="1">
                <a:solidFill>
                  <a:srgbClr val="FF0000"/>
                </a:solidFill>
                <a:latin typeface="微软雅黑"/>
                <a:cs typeface="微软雅黑"/>
              </a:rPr>
              <a:t>道路、片区</a:t>
            </a:r>
            <a:r>
              <a:rPr sz="1600" spc="-5" dirty="0" err="1">
                <a:solidFill>
                  <a:srgbClr val="1F3863"/>
                </a:solidFill>
                <a:latin typeface="微软雅黑"/>
                <a:cs typeface="微软雅黑"/>
              </a:rPr>
              <a:t>以及全市路网的</a:t>
            </a:r>
            <a:r>
              <a:rPr sz="1600" spc="0" dirty="0" err="1">
                <a:solidFill>
                  <a:srgbClr val="1F3863"/>
                </a:solidFill>
                <a:latin typeface="微软雅黑"/>
                <a:cs typeface="微软雅黑"/>
              </a:rPr>
              <a:t>参</a:t>
            </a:r>
            <a:r>
              <a:rPr sz="1600" spc="-5" dirty="0" err="1">
                <a:solidFill>
                  <a:srgbClr val="1F3863"/>
                </a:solidFill>
                <a:latin typeface="微软雅黑"/>
                <a:cs typeface="微软雅黑"/>
              </a:rPr>
              <a:t>数</a:t>
            </a:r>
            <a:endParaRPr sz="1600" dirty="0">
              <a:latin typeface="微软雅黑"/>
              <a:cs typeface="微软雅黑"/>
            </a:endParaRPr>
          </a:p>
          <a:p>
            <a:pPr marL="179070">
              <a:lnSpc>
                <a:spcPct val="100000"/>
              </a:lnSpc>
              <a:spcBef>
                <a:spcPts val="480"/>
              </a:spcBef>
              <a:tabLst>
                <a:tab pos="465455" algn="l"/>
              </a:tabLst>
            </a:pPr>
            <a:r>
              <a:rPr sz="1600" spc="1125" dirty="0">
                <a:solidFill>
                  <a:srgbClr val="1F3863"/>
                </a:solidFill>
                <a:latin typeface="Segoe UI Symbol"/>
                <a:cs typeface="Segoe UI Symbol"/>
              </a:rPr>
              <a:t>⚫</a:t>
            </a:r>
            <a:r>
              <a:rPr sz="1600" spc="-5" dirty="0" err="1">
                <a:solidFill>
                  <a:srgbClr val="1F3863"/>
                </a:solidFill>
                <a:latin typeface="微软雅黑"/>
                <a:cs typeface="微软雅黑"/>
              </a:rPr>
              <a:t>推算路段、关口、片区及</a:t>
            </a:r>
            <a:r>
              <a:rPr sz="1600" spc="-5" dirty="0" err="1">
                <a:solidFill>
                  <a:srgbClr val="FF0000"/>
                </a:solidFill>
                <a:latin typeface="微软雅黑"/>
                <a:cs typeface="微软雅黑"/>
              </a:rPr>
              <a:t>全市不同</a:t>
            </a:r>
            <a:r>
              <a:rPr sz="1600" spc="0" dirty="0" err="1">
                <a:solidFill>
                  <a:srgbClr val="FF0000"/>
                </a:solidFill>
                <a:latin typeface="微软雅黑"/>
                <a:cs typeface="微软雅黑"/>
              </a:rPr>
              <a:t>空</a:t>
            </a:r>
            <a:r>
              <a:rPr sz="1600" spc="-5" dirty="0" err="1">
                <a:solidFill>
                  <a:srgbClr val="FF0000"/>
                </a:solidFill>
                <a:latin typeface="微软雅黑"/>
                <a:cs typeface="微软雅黑"/>
              </a:rPr>
              <a:t>间范</a:t>
            </a:r>
            <a:r>
              <a:rPr sz="1600" spc="5" dirty="0" err="1">
                <a:solidFill>
                  <a:srgbClr val="FF0000"/>
                </a:solidFill>
                <a:latin typeface="微软雅黑"/>
                <a:cs typeface="微软雅黑"/>
              </a:rPr>
              <a:t>围</a:t>
            </a:r>
            <a:r>
              <a:rPr sz="1600" spc="-5" dirty="0" err="1">
                <a:solidFill>
                  <a:srgbClr val="1F3863"/>
                </a:solidFill>
                <a:latin typeface="微软雅黑"/>
                <a:cs typeface="微软雅黑"/>
              </a:rPr>
              <a:t>的交</a:t>
            </a:r>
            <a:r>
              <a:rPr sz="1600" spc="0" dirty="0" err="1">
                <a:solidFill>
                  <a:srgbClr val="1F3863"/>
                </a:solidFill>
                <a:latin typeface="微软雅黑"/>
                <a:cs typeface="微软雅黑"/>
              </a:rPr>
              <a:t>通</a:t>
            </a:r>
            <a:r>
              <a:rPr sz="1600" spc="-5" dirty="0" err="1">
                <a:solidFill>
                  <a:srgbClr val="1F3863"/>
                </a:solidFill>
                <a:latin typeface="微软雅黑"/>
                <a:cs typeface="微软雅黑"/>
              </a:rPr>
              <a:t>指数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57855" y="4536947"/>
            <a:ext cx="6053328" cy="17205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572000" y="1560830"/>
            <a:ext cx="3944111" cy="2669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67428" y="1545336"/>
            <a:ext cx="3953510" cy="2689860"/>
          </a:xfrm>
          <a:custGeom>
            <a:avLst/>
            <a:gdLst/>
            <a:ahLst/>
            <a:cxnLst/>
            <a:rect l="l" t="t" r="r" b="b"/>
            <a:pathLst>
              <a:path w="3953509" h="2689860">
                <a:moveTo>
                  <a:pt x="0" y="2689860"/>
                </a:moveTo>
                <a:lnTo>
                  <a:pt x="3953255" y="2689860"/>
                </a:lnTo>
                <a:lnTo>
                  <a:pt x="3953255" y="0"/>
                </a:lnTo>
                <a:lnTo>
                  <a:pt x="0" y="0"/>
                </a:lnTo>
                <a:lnTo>
                  <a:pt x="0" y="26898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8596" y="2318004"/>
            <a:ext cx="3284220" cy="19126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4024" y="2313432"/>
            <a:ext cx="3293745" cy="1922145"/>
          </a:xfrm>
          <a:custGeom>
            <a:avLst/>
            <a:gdLst/>
            <a:ahLst/>
            <a:cxnLst/>
            <a:rect l="l" t="t" r="r" b="b"/>
            <a:pathLst>
              <a:path w="3293745" h="1922145">
                <a:moveTo>
                  <a:pt x="0" y="1921764"/>
                </a:moveTo>
                <a:lnTo>
                  <a:pt x="3293364" y="1921764"/>
                </a:lnTo>
                <a:lnTo>
                  <a:pt x="3293364" y="0"/>
                </a:lnTo>
                <a:lnTo>
                  <a:pt x="0" y="0"/>
                </a:lnTo>
                <a:lnTo>
                  <a:pt x="0" y="19217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3283" y="4323588"/>
            <a:ext cx="5862828" cy="2170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8711" y="4319015"/>
            <a:ext cx="5872480" cy="2179320"/>
          </a:xfrm>
          <a:custGeom>
            <a:avLst/>
            <a:gdLst/>
            <a:ahLst/>
            <a:cxnLst/>
            <a:rect l="l" t="t" r="r" b="b"/>
            <a:pathLst>
              <a:path w="5872480" h="2179320">
                <a:moveTo>
                  <a:pt x="0" y="2179319"/>
                </a:moveTo>
                <a:lnTo>
                  <a:pt x="5871972" y="2179319"/>
                </a:lnTo>
                <a:lnTo>
                  <a:pt x="5871972" y="0"/>
                </a:lnTo>
                <a:lnTo>
                  <a:pt x="0" y="0"/>
                </a:lnTo>
                <a:lnTo>
                  <a:pt x="0" y="21793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1335" y="721918"/>
            <a:ext cx="2851785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交通排放检测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38200"/>
            <a:ext cx="8229600" cy="50349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21335" y="721918"/>
            <a:ext cx="3917315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高速公路日均车流量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1990" y="3346873"/>
            <a:ext cx="3153410" cy="13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基于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收费站数据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推算高速公路车流量时空规律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反映各区域经济活跃程度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反映区域间联系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9412" y="2488692"/>
            <a:ext cx="4873752" cy="2997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0" y="2484120"/>
            <a:ext cx="4883150" cy="3007360"/>
          </a:xfrm>
          <a:custGeom>
            <a:avLst/>
            <a:gdLst/>
            <a:ahLst/>
            <a:cxnLst/>
            <a:rect l="l" t="t" r="r" b="b"/>
            <a:pathLst>
              <a:path w="4883150" h="3007360">
                <a:moveTo>
                  <a:pt x="0" y="3006852"/>
                </a:moveTo>
                <a:lnTo>
                  <a:pt x="4882896" y="3006852"/>
                </a:lnTo>
                <a:lnTo>
                  <a:pt x="4882896" y="0"/>
                </a:lnTo>
                <a:lnTo>
                  <a:pt x="0" y="0"/>
                </a:lnTo>
                <a:lnTo>
                  <a:pt x="0" y="30068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21335" y="721918"/>
            <a:ext cx="3917315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出租车运营情况监测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1990" y="3145204"/>
            <a:ext cx="3270376" cy="163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130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10" dirty="0">
                <a:solidFill>
                  <a:srgbClr val="2B426C"/>
                </a:solidFill>
                <a:latin typeface="微软雅黑"/>
                <a:cs typeface="微软雅黑"/>
              </a:rPr>
              <a:t>基于</a:t>
            </a:r>
            <a:r>
              <a:rPr sz="1600" spc="-10" dirty="0">
                <a:solidFill>
                  <a:srgbClr val="FF0000"/>
                </a:solidFill>
                <a:latin typeface="微软雅黑"/>
                <a:cs typeface="微软雅黑"/>
              </a:rPr>
              <a:t>出租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车G</a:t>
            </a:r>
            <a:r>
              <a:rPr sz="1600" spc="-15" dirty="0">
                <a:solidFill>
                  <a:srgbClr val="FF0000"/>
                </a:solidFill>
                <a:latin typeface="微软雅黑"/>
                <a:cs typeface="微软雅黑"/>
              </a:rPr>
              <a:t>P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S</a:t>
            </a:r>
            <a:r>
              <a:rPr sz="1600" spc="-10" dirty="0">
                <a:solidFill>
                  <a:srgbClr val="FF0000"/>
                </a:solidFill>
                <a:latin typeface="微软雅黑"/>
                <a:cs typeface="微软雅黑"/>
              </a:rPr>
              <a:t>数据</a:t>
            </a:r>
            <a:r>
              <a:rPr sz="1600" spc="-10" dirty="0">
                <a:solidFill>
                  <a:srgbClr val="2B426C"/>
                </a:solidFill>
                <a:latin typeface="微软雅黑"/>
                <a:cs typeface="微软雅黑"/>
              </a:rPr>
              <a:t>，实时监测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出租车空驶和载客情况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协助用户合理安排打车位置</a:t>
            </a:r>
            <a:endParaRPr sz="1600" dirty="0">
              <a:latin typeface="微软雅黑"/>
              <a:cs typeface="微软雅黑"/>
            </a:endParaRPr>
          </a:p>
          <a:p>
            <a:pPr marL="12700" marR="194310">
              <a:lnSpc>
                <a:spcPct val="125000"/>
              </a:lnSpc>
              <a:spcBef>
                <a:spcPts val="60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支持交管部门、出租车公司改 善出租车供给分布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9412" y="2450592"/>
            <a:ext cx="4876800" cy="2950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9412" y="2446020"/>
            <a:ext cx="4878705" cy="2959735"/>
          </a:xfrm>
          <a:custGeom>
            <a:avLst/>
            <a:gdLst/>
            <a:ahLst/>
            <a:cxnLst/>
            <a:rect l="l" t="t" r="r" b="b"/>
            <a:pathLst>
              <a:path w="4878705" h="2959735">
                <a:moveTo>
                  <a:pt x="0" y="2959607"/>
                </a:moveTo>
                <a:lnTo>
                  <a:pt x="4878324" y="2959607"/>
                </a:lnTo>
                <a:lnTo>
                  <a:pt x="4878324" y="0"/>
                </a:lnTo>
                <a:lnTo>
                  <a:pt x="0" y="0"/>
                </a:lnTo>
                <a:lnTo>
                  <a:pt x="0" y="295960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752847" y="3021372"/>
            <a:ext cx="2705354" cy="1605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基于</a:t>
            </a:r>
            <a:r>
              <a:rPr sz="1600" spc="-5" dirty="0">
                <a:solidFill>
                  <a:srgbClr val="FF0000"/>
                </a:solidFill>
                <a:latin typeface="微软雅黑"/>
                <a:cs typeface="微软雅黑"/>
              </a:rPr>
              <a:t>交通事故数据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>
                <a:solidFill>
                  <a:srgbClr val="2B426C"/>
                </a:solidFill>
                <a:latin typeface="微软雅黑"/>
                <a:cs typeface="微软雅黑"/>
              </a:rPr>
              <a:t>分析区内交通事故发生量</a:t>
            </a:r>
            <a:endParaRPr sz="1600" dirty="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  <a:spcBef>
                <a:spcPts val="600"/>
              </a:spcBef>
            </a:pPr>
            <a:r>
              <a:rPr sz="1600" spc="1125" dirty="0">
                <a:solidFill>
                  <a:srgbClr val="2B426C"/>
                </a:solidFill>
                <a:latin typeface="Segoe UI Symbol"/>
                <a:cs typeface="Segoe UI Symbol"/>
              </a:rPr>
              <a:t>⚫</a:t>
            </a:r>
            <a:r>
              <a:rPr sz="1600" spc="70" dirty="0">
                <a:solidFill>
                  <a:srgbClr val="2B426C"/>
                </a:solidFill>
                <a:latin typeface="Segoe UI Symbol"/>
                <a:cs typeface="Segoe UI Symbol"/>
              </a:rPr>
              <a:t> </a:t>
            </a:r>
            <a:r>
              <a:rPr sz="1600" spc="-5" dirty="0" err="1">
                <a:solidFill>
                  <a:srgbClr val="2B426C"/>
                </a:solidFill>
                <a:latin typeface="微软雅黑"/>
                <a:cs typeface="微软雅黑"/>
              </a:rPr>
              <a:t>掌握交通事故的空间分布，引导交管部门进行专项整治与改善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8744" y="2340864"/>
            <a:ext cx="4878324" cy="3006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4172" y="2336292"/>
            <a:ext cx="4887595" cy="3016250"/>
          </a:xfrm>
          <a:custGeom>
            <a:avLst/>
            <a:gdLst/>
            <a:ahLst/>
            <a:cxnLst/>
            <a:rect l="l" t="t" r="r" b="b"/>
            <a:pathLst>
              <a:path w="4887595" h="3016250">
                <a:moveTo>
                  <a:pt x="0" y="3015995"/>
                </a:moveTo>
                <a:lnTo>
                  <a:pt x="4887468" y="3015995"/>
                </a:lnTo>
                <a:lnTo>
                  <a:pt x="4887468" y="0"/>
                </a:lnTo>
                <a:lnTo>
                  <a:pt x="0" y="0"/>
                </a:lnTo>
                <a:lnTo>
                  <a:pt x="0" y="30159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89988" y="2368295"/>
            <a:ext cx="451484" cy="410209"/>
          </a:xfrm>
          <a:custGeom>
            <a:avLst/>
            <a:gdLst/>
            <a:ahLst/>
            <a:cxnLst/>
            <a:rect l="l" t="t" r="r" b="b"/>
            <a:pathLst>
              <a:path w="451485" h="410210">
                <a:moveTo>
                  <a:pt x="0" y="409955"/>
                </a:moveTo>
                <a:lnTo>
                  <a:pt x="451104" y="409955"/>
                </a:lnTo>
                <a:lnTo>
                  <a:pt x="45110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000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1335" y="721918"/>
            <a:ext cx="3561715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交通事故空间分布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21335" y="721918"/>
            <a:ext cx="2141855" cy="131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应用场景</a:t>
            </a:r>
            <a:endParaRPr sz="4000">
              <a:latin typeface="微软雅黑"/>
              <a:cs typeface="微软雅黑"/>
            </a:endParaRPr>
          </a:p>
          <a:p>
            <a:pPr marL="331470">
              <a:lnSpc>
                <a:spcPct val="100000"/>
              </a:lnSpc>
              <a:spcBef>
                <a:spcPts val="27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20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微软雅黑"/>
                <a:cs typeface="微软雅黑"/>
              </a:rPr>
              <a:t>城市变迁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4045" y="4571544"/>
            <a:ext cx="7391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943A39"/>
                </a:solidFill>
                <a:latin typeface="微软雅黑"/>
                <a:cs typeface="微软雅黑"/>
              </a:rPr>
              <a:t>人口变化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4416" y="4768596"/>
            <a:ext cx="2165604" cy="1520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8510" y="4518712"/>
            <a:ext cx="10953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943A39"/>
                </a:solidFill>
                <a:latin typeface="微软雅黑"/>
                <a:cs typeface="微软雅黑"/>
              </a:rPr>
              <a:t>就业岗位变化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79135" y="4765547"/>
            <a:ext cx="2196084" cy="1542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01234" y="2462836"/>
            <a:ext cx="180848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943A39"/>
                </a:solidFill>
                <a:latin typeface="微软雅黑"/>
                <a:cs typeface="微软雅黑"/>
              </a:rPr>
              <a:t>轨道交通覆盖人口岗位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19700" y="2709672"/>
            <a:ext cx="2214372" cy="15209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81377" y="2429063"/>
            <a:ext cx="109537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943A39"/>
                </a:solidFill>
                <a:latin typeface="微软雅黑"/>
                <a:cs typeface="微软雅黑"/>
              </a:rPr>
              <a:t>用地开发变迁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96795" y="2659379"/>
            <a:ext cx="2164842" cy="15582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9482" y="4319778"/>
            <a:ext cx="6765925" cy="0"/>
          </a:xfrm>
          <a:custGeom>
            <a:avLst/>
            <a:gdLst/>
            <a:ahLst/>
            <a:cxnLst/>
            <a:rect l="l" t="t" r="r" b="b"/>
            <a:pathLst>
              <a:path w="6765925">
                <a:moveTo>
                  <a:pt x="0" y="0"/>
                </a:moveTo>
                <a:lnTo>
                  <a:pt x="6765417" y="0"/>
                </a:lnTo>
              </a:path>
            </a:pathLst>
          </a:custGeom>
          <a:ln w="19812">
            <a:solidFill>
              <a:srgbClr val="7E7E7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761" y="2347722"/>
            <a:ext cx="0" cy="3943350"/>
          </a:xfrm>
          <a:custGeom>
            <a:avLst/>
            <a:gdLst/>
            <a:ahLst/>
            <a:cxnLst/>
            <a:rect l="l" t="t" r="r" b="b"/>
            <a:pathLst>
              <a:path h="3943350">
                <a:moveTo>
                  <a:pt x="0" y="0"/>
                </a:moveTo>
                <a:lnTo>
                  <a:pt x="0" y="3942981"/>
                </a:lnTo>
              </a:path>
            </a:pathLst>
          </a:custGeom>
          <a:ln w="19812">
            <a:solidFill>
              <a:srgbClr val="7E7E7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5941060" cy="345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交通大数据概述</a:t>
            </a:r>
            <a:endParaRPr sz="4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掌握交通大数据的定义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与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特征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了解大数据在交通领域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发展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历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程和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应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用场景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介绍代表性的交通大数据类型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掌握对交通数据进行分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析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建模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典型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流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程</a:t>
            </a:r>
            <a:endParaRPr sz="20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62000"/>
            <a:ext cx="7848600" cy="52232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38200"/>
            <a:ext cx="8001000" cy="537159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8180" y="1816607"/>
            <a:ext cx="8270748" cy="3846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1335" y="721918"/>
            <a:ext cx="503745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地图&amp;实时交通流数据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0734" y="5677119"/>
            <a:ext cx="3001265" cy="556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085" algn="l"/>
              </a:tabLst>
            </a:pPr>
            <a:r>
              <a:rPr sz="1600" spc="1125" dirty="0">
                <a:latin typeface="Segoe UI Symbol"/>
                <a:cs typeface="Segoe UI Symbol"/>
              </a:rPr>
              <a:t>⚫</a:t>
            </a:r>
            <a:r>
              <a:rPr sz="1600" b="1" spc="-5" dirty="0" err="1">
                <a:latin typeface="微软雅黑"/>
                <a:cs typeface="微软雅黑"/>
              </a:rPr>
              <a:t>各城市道路、</a:t>
            </a:r>
            <a:r>
              <a:rPr sz="1600" b="1" spc="-10" dirty="0" err="1">
                <a:latin typeface="微软雅黑"/>
                <a:cs typeface="微软雅黑"/>
              </a:rPr>
              <a:t>PO</a:t>
            </a:r>
            <a:r>
              <a:rPr sz="1600" b="1" spc="-5" dirty="0" err="1">
                <a:latin typeface="微软雅黑"/>
                <a:cs typeface="微软雅黑"/>
              </a:rPr>
              <a:t>I等图层数据</a:t>
            </a:r>
            <a:endParaRPr sz="16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99085" algn="l"/>
              </a:tabLst>
            </a:pPr>
            <a:r>
              <a:rPr sz="1600" spc="1125" dirty="0">
                <a:latin typeface="Segoe UI Symbol"/>
                <a:cs typeface="Segoe UI Symbol"/>
              </a:rPr>
              <a:t>⚫</a:t>
            </a:r>
            <a:r>
              <a:rPr sz="1600" b="1" spc="-5" dirty="0" err="1">
                <a:latin typeface="微软雅黑"/>
                <a:cs typeface="微软雅黑"/>
              </a:rPr>
              <a:t>道路断面实时流量数据</a:t>
            </a:r>
            <a:endParaRPr sz="16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335" y="2282951"/>
            <a:ext cx="9101328" cy="350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46064" y="1377696"/>
            <a:ext cx="2722245" cy="905510"/>
          </a:xfrm>
          <a:custGeom>
            <a:avLst/>
            <a:gdLst/>
            <a:ahLst/>
            <a:cxnLst/>
            <a:rect l="l" t="t" r="r" b="b"/>
            <a:pathLst>
              <a:path w="2722245" h="905510">
                <a:moveTo>
                  <a:pt x="0" y="905255"/>
                </a:moveTo>
                <a:lnTo>
                  <a:pt x="2721864" y="905255"/>
                </a:lnTo>
                <a:lnTo>
                  <a:pt x="2721864" y="0"/>
                </a:lnTo>
                <a:lnTo>
                  <a:pt x="0" y="0"/>
                </a:lnTo>
                <a:lnTo>
                  <a:pt x="0" y="905255"/>
                </a:lnTo>
                <a:close/>
              </a:path>
            </a:pathLst>
          </a:custGeom>
          <a:solidFill>
            <a:srgbClr val="4F8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78423" y="1175003"/>
            <a:ext cx="352425" cy="344805"/>
          </a:xfrm>
          <a:custGeom>
            <a:avLst/>
            <a:gdLst/>
            <a:ahLst/>
            <a:cxnLst/>
            <a:rect l="l" t="t" r="r" b="b"/>
            <a:pathLst>
              <a:path w="352425" h="344805">
                <a:moveTo>
                  <a:pt x="0" y="344424"/>
                </a:moveTo>
                <a:lnTo>
                  <a:pt x="352044" y="344424"/>
                </a:lnTo>
                <a:lnTo>
                  <a:pt x="352044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2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78423" y="1175003"/>
            <a:ext cx="352425" cy="344805"/>
          </a:xfrm>
          <a:custGeom>
            <a:avLst/>
            <a:gdLst/>
            <a:ahLst/>
            <a:cxnLst/>
            <a:rect l="l" t="t" r="r" b="b"/>
            <a:pathLst>
              <a:path w="352425" h="344805">
                <a:moveTo>
                  <a:pt x="0" y="344424"/>
                </a:moveTo>
                <a:lnTo>
                  <a:pt x="352044" y="344424"/>
                </a:lnTo>
                <a:lnTo>
                  <a:pt x="352044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761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45252" y="1507236"/>
            <a:ext cx="401320" cy="1169035"/>
          </a:xfrm>
          <a:custGeom>
            <a:avLst/>
            <a:gdLst/>
            <a:ahLst/>
            <a:cxnLst/>
            <a:rect l="l" t="t" r="r" b="b"/>
            <a:pathLst>
              <a:path w="401320" h="1169035">
                <a:moveTo>
                  <a:pt x="0" y="1168908"/>
                </a:moveTo>
                <a:lnTo>
                  <a:pt x="400812" y="1168908"/>
                </a:lnTo>
                <a:lnTo>
                  <a:pt x="400812" y="0"/>
                </a:lnTo>
                <a:lnTo>
                  <a:pt x="0" y="0"/>
                </a:lnTo>
                <a:lnTo>
                  <a:pt x="0" y="1168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1335" y="721918"/>
            <a:ext cx="307086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交通事故数据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1916" y="1594845"/>
            <a:ext cx="2180083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分析交通事故特征</a:t>
            </a:r>
            <a:endParaRPr sz="1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1080" dirty="0">
                <a:solidFill>
                  <a:srgbClr val="FFFFFF"/>
                </a:solidFill>
                <a:latin typeface="Segoe UI Symbol"/>
                <a:cs typeface="Segoe UI Symbol"/>
              </a:rPr>
              <a:t>⚫</a:t>
            </a:r>
            <a:r>
              <a:rPr sz="1400" dirty="0">
                <a:solidFill>
                  <a:srgbClr val="FFFFFF"/>
                </a:solidFill>
                <a:latin typeface="微软雅黑"/>
                <a:cs typeface="微软雅黑"/>
              </a:rPr>
              <a:t>辅助交通管控措施制定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3254" y="1548129"/>
            <a:ext cx="203835" cy="10953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微软雅黑"/>
                <a:cs typeface="微软雅黑"/>
              </a:rPr>
              <a:t>交通事故数据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793800"/>
            <a:ext cx="6129781" cy="343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交通大数据概述</a:t>
            </a:r>
            <a:endParaRPr sz="4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350" spc="35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350" spc="19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800" spc="-5" dirty="0">
                <a:solidFill>
                  <a:srgbClr val="006FC0"/>
                </a:solidFill>
                <a:latin typeface="微软雅黑"/>
                <a:cs typeface="微软雅黑"/>
              </a:rPr>
              <a:t>学习目标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掌握交通大数据的定义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与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特征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了解大数据在交通领域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发展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历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程和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应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用场景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700" spc="1205" dirty="0">
                <a:solidFill>
                  <a:srgbClr val="4F81BC"/>
                </a:solidFill>
                <a:latin typeface="Segoe UI Symbol"/>
                <a:cs typeface="Segoe UI Symbol"/>
              </a:rPr>
              <a:t>⚫ </a:t>
            </a:r>
            <a:r>
              <a:rPr sz="1700" spc="-18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介绍代表性的交通大数</a:t>
            </a:r>
            <a:r>
              <a:rPr sz="2000" spc="-10" dirty="0">
                <a:solidFill>
                  <a:srgbClr val="7E7E7E"/>
                </a:solidFill>
                <a:latin typeface="微软雅黑"/>
                <a:cs typeface="微软雅黑"/>
              </a:rPr>
              <a:t>据</a:t>
            </a:r>
            <a:r>
              <a:rPr sz="2000" dirty="0">
                <a:solidFill>
                  <a:srgbClr val="7E7E7E"/>
                </a:solidFill>
                <a:latin typeface="微软雅黑"/>
                <a:cs typeface="微软雅黑"/>
              </a:rPr>
              <a:t>类型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43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2050" spc="14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掌握对交通数据进行分析建模的典型流程</a:t>
            </a:r>
            <a:endParaRPr sz="24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3580129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大数据技术流程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1709927"/>
            <a:ext cx="7473696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93800"/>
            <a:ext cx="2564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大数据技术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86483" y="1700783"/>
            <a:ext cx="6167627" cy="4402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2520" y="1905000"/>
            <a:ext cx="1748789" cy="533400"/>
          </a:xfrm>
          <a:custGeom>
            <a:avLst/>
            <a:gdLst/>
            <a:ahLst/>
            <a:cxnLst/>
            <a:rect l="l" t="t" r="r" b="b"/>
            <a:pathLst>
              <a:path w="1748789" h="533400">
                <a:moveTo>
                  <a:pt x="0" y="533400"/>
                </a:moveTo>
                <a:lnTo>
                  <a:pt x="1748789" y="533400"/>
                </a:lnTo>
                <a:lnTo>
                  <a:pt x="174878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520" y="2438400"/>
            <a:ext cx="1748789" cy="487680"/>
          </a:xfrm>
          <a:custGeom>
            <a:avLst/>
            <a:gdLst/>
            <a:ahLst/>
            <a:cxnLst/>
            <a:rect l="l" t="t" r="r" b="b"/>
            <a:pathLst>
              <a:path w="1748789" h="487680">
                <a:moveTo>
                  <a:pt x="0" y="487679"/>
                </a:moveTo>
                <a:lnTo>
                  <a:pt x="1748789" y="487679"/>
                </a:lnTo>
                <a:lnTo>
                  <a:pt x="1748789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2520" y="2926079"/>
            <a:ext cx="1748789" cy="800100"/>
          </a:xfrm>
          <a:custGeom>
            <a:avLst/>
            <a:gdLst/>
            <a:ahLst/>
            <a:cxnLst/>
            <a:rect l="l" t="t" r="r" b="b"/>
            <a:pathLst>
              <a:path w="1748789" h="800100">
                <a:moveTo>
                  <a:pt x="0" y="800100"/>
                </a:moveTo>
                <a:lnTo>
                  <a:pt x="1748789" y="800100"/>
                </a:lnTo>
                <a:lnTo>
                  <a:pt x="1748789" y="0"/>
                </a:lnTo>
                <a:lnTo>
                  <a:pt x="0" y="0"/>
                </a:lnTo>
                <a:lnTo>
                  <a:pt x="0" y="800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12520" y="3726179"/>
            <a:ext cx="1748789" cy="601980"/>
          </a:xfrm>
          <a:custGeom>
            <a:avLst/>
            <a:gdLst/>
            <a:ahLst/>
            <a:cxnLst/>
            <a:rect l="l" t="t" r="r" b="b"/>
            <a:pathLst>
              <a:path w="1748789" h="601979">
                <a:moveTo>
                  <a:pt x="0" y="601980"/>
                </a:moveTo>
                <a:lnTo>
                  <a:pt x="1748789" y="601980"/>
                </a:lnTo>
                <a:lnTo>
                  <a:pt x="1748789" y="0"/>
                </a:lnTo>
                <a:lnTo>
                  <a:pt x="0" y="0"/>
                </a:lnTo>
                <a:lnTo>
                  <a:pt x="0" y="6019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2520" y="4328159"/>
            <a:ext cx="1748789" cy="609600"/>
          </a:xfrm>
          <a:custGeom>
            <a:avLst/>
            <a:gdLst/>
            <a:ahLst/>
            <a:cxnLst/>
            <a:rect l="l" t="t" r="r" b="b"/>
            <a:pathLst>
              <a:path w="1748789" h="609600">
                <a:moveTo>
                  <a:pt x="0" y="609600"/>
                </a:moveTo>
                <a:lnTo>
                  <a:pt x="1748789" y="609600"/>
                </a:lnTo>
                <a:lnTo>
                  <a:pt x="174878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2520" y="4937759"/>
            <a:ext cx="1748789" cy="594360"/>
          </a:xfrm>
          <a:custGeom>
            <a:avLst/>
            <a:gdLst/>
            <a:ahLst/>
            <a:cxnLst/>
            <a:rect l="l" t="t" r="r" b="b"/>
            <a:pathLst>
              <a:path w="1748789" h="594360">
                <a:moveTo>
                  <a:pt x="0" y="594359"/>
                </a:moveTo>
                <a:lnTo>
                  <a:pt x="1748789" y="594359"/>
                </a:lnTo>
                <a:lnTo>
                  <a:pt x="1748789" y="0"/>
                </a:lnTo>
                <a:lnTo>
                  <a:pt x="0" y="0"/>
                </a:lnTo>
                <a:lnTo>
                  <a:pt x="0" y="5943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2520" y="5532081"/>
            <a:ext cx="1748789" cy="673735"/>
          </a:xfrm>
          <a:custGeom>
            <a:avLst/>
            <a:gdLst/>
            <a:ahLst/>
            <a:cxnLst/>
            <a:rect l="l" t="t" r="r" b="b"/>
            <a:pathLst>
              <a:path w="1748789" h="673735">
                <a:moveTo>
                  <a:pt x="0" y="673417"/>
                </a:moveTo>
                <a:lnTo>
                  <a:pt x="1748789" y="673417"/>
                </a:lnTo>
                <a:lnTo>
                  <a:pt x="1748789" y="0"/>
                </a:lnTo>
                <a:lnTo>
                  <a:pt x="0" y="0"/>
                </a:lnTo>
                <a:lnTo>
                  <a:pt x="0" y="673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04316" y="2044507"/>
          <a:ext cx="1712137" cy="39768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2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4906"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数据交换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469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脚本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528">
                <a:tc>
                  <a:txBody>
                    <a:bodyPr/>
                    <a:lstStyle/>
                    <a:p>
                      <a:pPr marL="5511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分布式引擎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78"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资源管理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948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分布式文件系统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872">
                <a:tc>
                  <a:txBody>
                    <a:bodyPr/>
                    <a:lstStyle/>
                    <a:p>
                      <a:pPr marL="7537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微软雅黑"/>
                          <a:cs typeface="微软雅黑"/>
                        </a:rPr>
                        <a:t>存储格式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633"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微软雅黑"/>
                          <a:cs typeface="微软雅黑"/>
                        </a:rPr>
                        <a:t>部署</a:t>
                      </a:r>
                      <a:endParaRPr sz="16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313688" y="4788408"/>
            <a:ext cx="1336548" cy="874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21308" y="1975104"/>
            <a:ext cx="1339596" cy="999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688" y="4565903"/>
            <a:ext cx="1336675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超声波检测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4355" y="1755648"/>
            <a:ext cx="1336675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63855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/>
                <a:cs typeface="微软雅黑"/>
              </a:rPr>
              <a:t>人工调查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1216" y="1978151"/>
            <a:ext cx="1298447" cy="996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74264" y="1755648"/>
            <a:ext cx="1295400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42265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/>
                <a:cs typeface="微软雅黑"/>
              </a:rPr>
              <a:t>感应线圈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24355" y="3389376"/>
            <a:ext cx="1336547" cy="990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24355" y="3166872"/>
            <a:ext cx="1336675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28765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红外线检测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69692" y="3389376"/>
            <a:ext cx="1299971" cy="9997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74264" y="3166872"/>
            <a:ext cx="1295400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4226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微波检测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68167" y="4791341"/>
            <a:ext cx="1341120" cy="8718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68167" y="4565903"/>
            <a:ext cx="1341120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6512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地磁检测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04459" y="1965960"/>
            <a:ext cx="1275588" cy="10088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04459" y="1755648"/>
            <a:ext cx="1283335" cy="21082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3655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视频检测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75704" y="1972741"/>
            <a:ext cx="1153668" cy="10021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75704" y="1752600"/>
            <a:ext cx="1153795" cy="210820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蜂窝网络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75704" y="4780788"/>
            <a:ext cx="1153668" cy="8823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75704" y="4562855"/>
            <a:ext cx="1153795" cy="230504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4861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浮动车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99888" y="3380232"/>
            <a:ext cx="1277747" cy="99974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99888" y="3166872"/>
            <a:ext cx="1280160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航拍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97268" y="3489959"/>
            <a:ext cx="510539" cy="8382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775704" y="3166872"/>
            <a:ext cx="1153795" cy="222885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手机终端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09285" y="4799076"/>
            <a:ext cx="1296669" cy="86410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210555" y="4570476"/>
            <a:ext cx="1295400" cy="224154"/>
          </a:xfrm>
          <a:prstGeom prst="rect">
            <a:avLst/>
          </a:prstGeom>
          <a:solidFill>
            <a:srgbClr val="A6A6A6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微软雅黑"/>
                <a:cs typeface="微软雅黑"/>
              </a:rPr>
              <a:t>RF</a:t>
            </a:r>
            <a:r>
              <a:rPr sz="1200" spc="-1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02129" y="5797357"/>
            <a:ext cx="164909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传统</a:t>
            </a:r>
            <a:r>
              <a:rPr sz="1600" b="1" spc="-5" dirty="0">
                <a:latin typeface="微软雅黑"/>
                <a:cs typeface="微软雅黑"/>
              </a:rPr>
              <a:t>信息采集技术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3005" y="5797357"/>
            <a:ext cx="164718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微软雅黑"/>
                <a:cs typeface="微软雅黑"/>
              </a:rPr>
              <a:t>现代</a:t>
            </a:r>
            <a:r>
              <a:rPr sz="1600" b="1" spc="-5" dirty="0">
                <a:latin typeface="微软雅黑"/>
                <a:cs typeface="微软雅黑"/>
              </a:rPr>
              <a:t>信息采集技术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96384" y="1458611"/>
            <a:ext cx="86995" cy="4502150"/>
          </a:xfrm>
          <a:custGeom>
            <a:avLst/>
            <a:gdLst/>
            <a:ahLst/>
            <a:cxnLst/>
            <a:rect l="l" t="t" r="r" b="b"/>
            <a:pathLst>
              <a:path w="86995" h="4502150">
                <a:moveTo>
                  <a:pt x="31465" y="0"/>
                </a:moveTo>
                <a:lnTo>
                  <a:pt x="18881" y="5924"/>
                </a:lnTo>
                <a:lnTo>
                  <a:pt x="8917" y="15386"/>
                </a:lnTo>
                <a:lnTo>
                  <a:pt x="2360" y="27596"/>
                </a:lnTo>
                <a:lnTo>
                  <a:pt x="0" y="41766"/>
                </a:lnTo>
                <a:lnTo>
                  <a:pt x="20" y="43121"/>
                </a:lnTo>
                <a:lnTo>
                  <a:pt x="19161" y="77072"/>
                </a:lnTo>
                <a:lnTo>
                  <a:pt x="47786" y="84983"/>
                </a:lnTo>
                <a:lnTo>
                  <a:pt x="60271" y="81696"/>
                </a:lnTo>
                <a:lnTo>
                  <a:pt x="70968" y="74669"/>
                </a:lnTo>
                <a:lnTo>
                  <a:pt x="74089" y="70722"/>
                </a:lnTo>
                <a:lnTo>
                  <a:pt x="28955" y="70722"/>
                </a:lnTo>
                <a:lnTo>
                  <a:pt x="28955" y="41766"/>
                </a:lnTo>
                <a:lnTo>
                  <a:pt x="85386" y="41766"/>
                </a:lnTo>
                <a:lnTo>
                  <a:pt x="86152" y="33956"/>
                </a:lnTo>
                <a:lnTo>
                  <a:pt x="82072" y="22506"/>
                </a:lnTo>
                <a:lnTo>
                  <a:pt x="74466" y="12828"/>
                </a:lnTo>
                <a:lnTo>
                  <a:pt x="63431" y="5480"/>
                </a:lnTo>
                <a:lnTo>
                  <a:pt x="49065" y="1018"/>
                </a:lnTo>
                <a:lnTo>
                  <a:pt x="31465" y="0"/>
                </a:lnTo>
                <a:close/>
              </a:path>
              <a:path w="86995" h="4502150">
                <a:moveTo>
                  <a:pt x="57912" y="41766"/>
                </a:moveTo>
                <a:lnTo>
                  <a:pt x="28955" y="41766"/>
                </a:lnTo>
                <a:lnTo>
                  <a:pt x="28955" y="70722"/>
                </a:lnTo>
                <a:lnTo>
                  <a:pt x="57912" y="70722"/>
                </a:lnTo>
                <a:lnTo>
                  <a:pt x="57912" y="41766"/>
                </a:lnTo>
                <a:close/>
              </a:path>
              <a:path w="86995" h="4502150">
                <a:moveTo>
                  <a:pt x="85386" y="41766"/>
                </a:moveTo>
                <a:lnTo>
                  <a:pt x="57912" y="41766"/>
                </a:lnTo>
                <a:lnTo>
                  <a:pt x="57912" y="70722"/>
                </a:lnTo>
                <a:lnTo>
                  <a:pt x="74089" y="70722"/>
                </a:lnTo>
                <a:lnTo>
                  <a:pt x="79260" y="64184"/>
                </a:lnTo>
                <a:lnTo>
                  <a:pt x="84527" y="50519"/>
                </a:lnTo>
                <a:lnTo>
                  <a:pt x="85386" y="41766"/>
                </a:lnTo>
                <a:close/>
              </a:path>
              <a:path w="86995" h="4502150">
                <a:moveTo>
                  <a:pt x="57912" y="99678"/>
                </a:moveTo>
                <a:lnTo>
                  <a:pt x="28955" y="99678"/>
                </a:lnTo>
                <a:lnTo>
                  <a:pt x="28955" y="128634"/>
                </a:lnTo>
                <a:lnTo>
                  <a:pt x="57912" y="128634"/>
                </a:lnTo>
                <a:lnTo>
                  <a:pt x="57912" y="99678"/>
                </a:lnTo>
                <a:close/>
              </a:path>
              <a:path w="86995" h="4502150">
                <a:moveTo>
                  <a:pt x="57912" y="157590"/>
                </a:moveTo>
                <a:lnTo>
                  <a:pt x="28955" y="157590"/>
                </a:lnTo>
                <a:lnTo>
                  <a:pt x="28955" y="186546"/>
                </a:lnTo>
                <a:lnTo>
                  <a:pt x="57912" y="186546"/>
                </a:lnTo>
                <a:lnTo>
                  <a:pt x="57912" y="157590"/>
                </a:lnTo>
                <a:close/>
              </a:path>
              <a:path w="86995" h="4502150">
                <a:moveTo>
                  <a:pt x="57912" y="215502"/>
                </a:moveTo>
                <a:lnTo>
                  <a:pt x="28955" y="215502"/>
                </a:lnTo>
                <a:lnTo>
                  <a:pt x="28955" y="244458"/>
                </a:lnTo>
                <a:lnTo>
                  <a:pt x="57912" y="244458"/>
                </a:lnTo>
                <a:lnTo>
                  <a:pt x="57912" y="215502"/>
                </a:lnTo>
                <a:close/>
              </a:path>
              <a:path w="86995" h="4502150">
                <a:moveTo>
                  <a:pt x="57912" y="273414"/>
                </a:moveTo>
                <a:lnTo>
                  <a:pt x="28955" y="273414"/>
                </a:lnTo>
                <a:lnTo>
                  <a:pt x="28955" y="302370"/>
                </a:lnTo>
                <a:lnTo>
                  <a:pt x="57912" y="302370"/>
                </a:lnTo>
                <a:lnTo>
                  <a:pt x="57912" y="273414"/>
                </a:lnTo>
                <a:close/>
              </a:path>
              <a:path w="86995" h="4502150">
                <a:moveTo>
                  <a:pt x="57912" y="331326"/>
                </a:moveTo>
                <a:lnTo>
                  <a:pt x="28955" y="331326"/>
                </a:lnTo>
                <a:lnTo>
                  <a:pt x="28955" y="360282"/>
                </a:lnTo>
                <a:lnTo>
                  <a:pt x="57912" y="360282"/>
                </a:lnTo>
                <a:lnTo>
                  <a:pt x="57912" y="331326"/>
                </a:lnTo>
                <a:close/>
              </a:path>
              <a:path w="86995" h="4502150">
                <a:moveTo>
                  <a:pt x="57912" y="389238"/>
                </a:moveTo>
                <a:lnTo>
                  <a:pt x="28955" y="389238"/>
                </a:lnTo>
                <a:lnTo>
                  <a:pt x="28955" y="418194"/>
                </a:lnTo>
                <a:lnTo>
                  <a:pt x="57912" y="418194"/>
                </a:lnTo>
                <a:lnTo>
                  <a:pt x="57912" y="389238"/>
                </a:lnTo>
                <a:close/>
              </a:path>
              <a:path w="86995" h="4502150">
                <a:moveTo>
                  <a:pt x="57912" y="447150"/>
                </a:moveTo>
                <a:lnTo>
                  <a:pt x="28955" y="447150"/>
                </a:lnTo>
                <a:lnTo>
                  <a:pt x="28955" y="476106"/>
                </a:lnTo>
                <a:lnTo>
                  <a:pt x="57912" y="476106"/>
                </a:lnTo>
                <a:lnTo>
                  <a:pt x="57912" y="447150"/>
                </a:lnTo>
                <a:close/>
              </a:path>
              <a:path w="86995" h="4502150">
                <a:moveTo>
                  <a:pt x="57912" y="505062"/>
                </a:moveTo>
                <a:lnTo>
                  <a:pt x="28955" y="505062"/>
                </a:lnTo>
                <a:lnTo>
                  <a:pt x="28955" y="534018"/>
                </a:lnTo>
                <a:lnTo>
                  <a:pt x="57912" y="534018"/>
                </a:lnTo>
                <a:lnTo>
                  <a:pt x="57912" y="505062"/>
                </a:lnTo>
                <a:close/>
              </a:path>
              <a:path w="86995" h="4502150">
                <a:moveTo>
                  <a:pt x="57912" y="562974"/>
                </a:moveTo>
                <a:lnTo>
                  <a:pt x="28955" y="562974"/>
                </a:lnTo>
                <a:lnTo>
                  <a:pt x="28955" y="591930"/>
                </a:lnTo>
                <a:lnTo>
                  <a:pt x="57912" y="591930"/>
                </a:lnTo>
                <a:lnTo>
                  <a:pt x="57912" y="562974"/>
                </a:lnTo>
                <a:close/>
              </a:path>
              <a:path w="86995" h="4502150">
                <a:moveTo>
                  <a:pt x="57912" y="620886"/>
                </a:moveTo>
                <a:lnTo>
                  <a:pt x="28955" y="620886"/>
                </a:lnTo>
                <a:lnTo>
                  <a:pt x="28955" y="649842"/>
                </a:lnTo>
                <a:lnTo>
                  <a:pt x="57912" y="649842"/>
                </a:lnTo>
                <a:lnTo>
                  <a:pt x="57912" y="620886"/>
                </a:lnTo>
                <a:close/>
              </a:path>
              <a:path w="86995" h="4502150">
                <a:moveTo>
                  <a:pt x="57912" y="678798"/>
                </a:moveTo>
                <a:lnTo>
                  <a:pt x="28955" y="678798"/>
                </a:lnTo>
                <a:lnTo>
                  <a:pt x="28955" y="707754"/>
                </a:lnTo>
                <a:lnTo>
                  <a:pt x="57912" y="707754"/>
                </a:lnTo>
                <a:lnTo>
                  <a:pt x="57912" y="678798"/>
                </a:lnTo>
                <a:close/>
              </a:path>
              <a:path w="86995" h="4502150">
                <a:moveTo>
                  <a:pt x="57912" y="736710"/>
                </a:moveTo>
                <a:lnTo>
                  <a:pt x="28955" y="736710"/>
                </a:lnTo>
                <a:lnTo>
                  <a:pt x="28955" y="765666"/>
                </a:lnTo>
                <a:lnTo>
                  <a:pt x="57912" y="765666"/>
                </a:lnTo>
                <a:lnTo>
                  <a:pt x="57912" y="736710"/>
                </a:lnTo>
                <a:close/>
              </a:path>
              <a:path w="86995" h="4502150">
                <a:moveTo>
                  <a:pt x="57912" y="794622"/>
                </a:moveTo>
                <a:lnTo>
                  <a:pt x="28955" y="794622"/>
                </a:lnTo>
                <a:lnTo>
                  <a:pt x="28955" y="823578"/>
                </a:lnTo>
                <a:lnTo>
                  <a:pt x="57912" y="823578"/>
                </a:lnTo>
                <a:lnTo>
                  <a:pt x="57912" y="794622"/>
                </a:lnTo>
                <a:close/>
              </a:path>
              <a:path w="86995" h="4502150">
                <a:moveTo>
                  <a:pt x="57912" y="852534"/>
                </a:moveTo>
                <a:lnTo>
                  <a:pt x="28955" y="852534"/>
                </a:lnTo>
                <a:lnTo>
                  <a:pt x="28955" y="881490"/>
                </a:lnTo>
                <a:lnTo>
                  <a:pt x="57912" y="881490"/>
                </a:lnTo>
                <a:lnTo>
                  <a:pt x="57912" y="852534"/>
                </a:lnTo>
                <a:close/>
              </a:path>
              <a:path w="86995" h="4502150">
                <a:moveTo>
                  <a:pt x="57912" y="910446"/>
                </a:moveTo>
                <a:lnTo>
                  <a:pt x="28955" y="910446"/>
                </a:lnTo>
                <a:lnTo>
                  <a:pt x="28955" y="939402"/>
                </a:lnTo>
                <a:lnTo>
                  <a:pt x="57912" y="939402"/>
                </a:lnTo>
                <a:lnTo>
                  <a:pt x="57912" y="910446"/>
                </a:lnTo>
                <a:close/>
              </a:path>
              <a:path w="86995" h="4502150">
                <a:moveTo>
                  <a:pt x="57912" y="968358"/>
                </a:moveTo>
                <a:lnTo>
                  <a:pt x="28955" y="968358"/>
                </a:lnTo>
                <a:lnTo>
                  <a:pt x="28955" y="997314"/>
                </a:lnTo>
                <a:lnTo>
                  <a:pt x="57912" y="997314"/>
                </a:lnTo>
                <a:lnTo>
                  <a:pt x="57912" y="968358"/>
                </a:lnTo>
                <a:close/>
              </a:path>
              <a:path w="86995" h="4502150">
                <a:moveTo>
                  <a:pt x="57912" y="1026270"/>
                </a:moveTo>
                <a:lnTo>
                  <a:pt x="28955" y="1026270"/>
                </a:lnTo>
                <a:lnTo>
                  <a:pt x="28955" y="1055226"/>
                </a:lnTo>
                <a:lnTo>
                  <a:pt x="57912" y="1055226"/>
                </a:lnTo>
                <a:lnTo>
                  <a:pt x="57912" y="1026270"/>
                </a:lnTo>
                <a:close/>
              </a:path>
              <a:path w="86995" h="4502150">
                <a:moveTo>
                  <a:pt x="57912" y="1084182"/>
                </a:moveTo>
                <a:lnTo>
                  <a:pt x="28955" y="1084182"/>
                </a:lnTo>
                <a:lnTo>
                  <a:pt x="28955" y="1113138"/>
                </a:lnTo>
                <a:lnTo>
                  <a:pt x="57912" y="1113138"/>
                </a:lnTo>
                <a:lnTo>
                  <a:pt x="57912" y="1084182"/>
                </a:lnTo>
                <a:close/>
              </a:path>
              <a:path w="86995" h="4502150">
                <a:moveTo>
                  <a:pt x="57912" y="1142094"/>
                </a:moveTo>
                <a:lnTo>
                  <a:pt x="28955" y="1142094"/>
                </a:lnTo>
                <a:lnTo>
                  <a:pt x="28955" y="1171050"/>
                </a:lnTo>
                <a:lnTo>
                  <a:pt x="57912" y="1171050"/>
                </a:lnTo>
                <a:lnTo>
                  <a:pt x="57912" y="1142094"/>
                </a:lnTo>
                <a:close/>
              </a:path>
              <a:path w="86995" h="4502150">
                <a:moveTo>
                  <a:pt x="57912" y="1200006"/>
                </a:moveTo>
                <a:lnTo>
                  <a:pt x="28955" y="1200006"/>
                </a:lnTo>
                <a:lnTo>
                  <a:pt x="28955" y="1228962"/>
                </a:lnTo>
                <a:lnTo>
                  <a:pt x="57912" y="1228962"/>
                </a:lnTo>
                <a:lnTo>
                  <a:pt x="57912" y="1200006"/>
                </a:lnTo>
                <a:close/>
              </a:path>
              <a:path w="86995" h="4502150">
                <a:moveTo>
                  <a:pt x="57912" y="1257918"/>
                </a:moveTo>
                <a:lnTo>
                  <a:pt x="28955" y="1257918"/>
                </a:lnTo>
                <a:lnTo>
                  <a:pt x="28955" y="1286874"/>
                </a:lnTo>
                <a:lnTo>
                  <a:pt x="57912" y="1286874"/>
                </a:lnTo>
                <a:lnTo>
                  <a:pt x="57912" y="1257918"/>
                </a:lnTo>
                <a:close/>
              </a:path>
              <a:path w="86995" h="4502150">
                <a:moveTo>
                  <a:pt x="57912" y="1315830"/>
                </a:moveTo>
                <a:lnTo>
                  <a:pt x="28955" y="1315830"/>
                </a:lnTo>
                <a:lnTo>
                  <a:pt x="28955" y="1344786"/>
                </a:lnTo>
                <a:lnTo>
                  <a:pt x="57912" y="1344786"/>
                </a:lnTo>
                <a:lnTo>
                  <a:pt x="57912" y="1315830"/>
                </a:lnTo>
                <a:close/>
              </a:path>
              <a:path w="86995" h="4502150">
                <a:moveTo>
                  <a:pt x="57912" y="1373742"/>
                </a:moveTo>
                <a:lnTo>
                  <a:pt x="28955" y="1373742"/>
                </a:lnTo>
                <a:lnTo>
                  <a:pt x="28955" y="1402698"/>
                </a:lnTo>
                <a:lnTo>
                  <a:pt x="57912" y="1402698"/>
                </a:lnTo>
                <a:lnTo>
                  <a:pt x="57912" y="1373742"/>
                </a:lnTo>
                <a:close/>
              </a:path>
              <a:path w="86995" h="4502150">
                <a:moveTo>
                  <a:pt x="57912" y="1431654"/>
                </a:moveTo>
                <a:lnTo>
                  <a:pt x="28955" y="1431654"/>
                </a:lnTo>
                <a:lnTo>
                  <a:pt x="28955" y="1460610"/>
                </a:lnTo>
                <a:lnTo>
                  <a:pt x="57912" y="1460610"/>
                </a:lnTo>
                <a:lnTo>
                  <a:pt x="57912" y="1431654"/>
                </a:lnTo>
                <a:close/>
              </a:path>
              <a:path w="86995" h="4502150">
                <a:moveTo>
                  <a:pt x="57912" y="1489566"/>
                </a:moveTo>
                <a:lnTo>
                  <a:pt x="28955" y="1489566"/>
                </a:lnTo>
                <a:lnTo>
                  <a:pt x="28955" y="1518522"/>
                </a:lnTo>
                <a:lnTo>
                  <a:pt x="57912" y="1518522"/>
                </a:lnTo>
                <a:lnTo>
                  <a:pt x="57912" y="1489566"/>
                </a:lnTo>
                <a:close/>
              </a:path>
              <a:path w="86995" h="4502150">
                <a:moveTo>
                  <a:pt x="57912" y="1547478"/>
                </a:moveTo>
                <a:lnTo>
                  <a:pt x="28955" y="1547478"/>
                </a:lnTo>
                <a:lnTo>
                  <a:pt x="28955" y="1576434"/>
                </a:lnTo>
                <a:lnTo>
                  <a:pt x="57912" y="1576434"/>
                </a:lnTo>
                <a:lnTo>
                  <a:pt x="57912" y="1547478"/>
                </a:lnTo>
                <a:close/>
              </a:path>
              <a:path w="86995" h="4502150">
                <a:moveTo>
                  <a:pt x="57912" y="1605390"/>
                </a:moveTo>
                <a:lnTo>
                  <a:pt x="28955" y="1605390"/>
                </a:lnTo>
                <a:lnTo>
                  <a:pt x="28955" y="1634346"/>
                </a:lnTo>
                <a:lnTo>
                  <a:pt x="57912" y="1634346"/>
                </a:lnTo>
                <a:lnTo>
                  <a:pt x="57912" y="1605390"/>
                </a:lnTo>
                <a:close/>
              </a:path>
              <a:path w="86995" h="4502150">
                <a:moveTo>
                  <a:pt x="57912" y="1663302"/>
                </a:moveTo>
                <a:lnTo>
                  <a:pt x="28955" y="1663302"/>
                </a:lnTo>
                <a:lnTo>
                  <a:pt x="28955" y="1692258"/>
                </a:lnTo>
                <a:lnTo>
                  <a:pt x="57912" y="1692258"/>
                </a:lnTo>
                <a:lnTo>
                  <a:pt x="57912" y="1663302"/>
                </a:lnTo>
                <a:close/>
              </a:path>
              <a:path w="86995" h="4502150">
                <a:moveTo>
                  <a:pt x="57912" y="1721214"/>
                </a:moveTo>
                <a:lnTo>
                  <a:pt x="28955" y="1721214"/>
                </a:lnTo>
                <a:lnTo>
                  <a:pt x="28955" y="1750170"/>
                </a:lnTo>
                <a:lnTo>
                  <a:pt x="57912" y="1750170"/>
                </a:lnTo>
                <a:lnTo>
                  <a:pt x="57912" y="1721214"/>
                </a:lnTo>
                <a:close/>
              </a:path>
              <a:path w="86995" h="4502150">
                <a:moveTo>
                  <a:pt x="57912" y="1779126"/>
                </a:moveTo>
                <a:lnTo>
                  <a:pt x="28955" y="1779126"/>
                </a:lnTo>
                <a:lnTo>
                  <a:pt x="28955" y="1808082"/>
                </a:lnTo>
                <a:lnTo>
                  <a:pt x="57912" y="1808082"/>
                </a:lnTo>
                <a:lnTo>
                  <a:pt x="57912" y="1779126"/>
                </a:lnTo>
                <a:close/>
              </a:path>
              <a:path w="86995" h="4502150">
                <a:moveTo>
                  <a:pt x="57912" y="1837038"/>
                </a:moveTo>
                <a:lnTo>
                  <a:pt x="28955" y="1837038"/>
                </a:lnTo>
                <a:lnTo>
                  <a:pt x="28955" y="1865994"/>
                </a:lnTo>
                <a:lnTo>
                  <a:pt x="57912" y="1865994"/>
                </a:lnTo>
                <a:lnTo>
                  <a:pt x="57912" y="1837038"/>
                </a:lnTo>
                <a:close/>
              </a:path>
              <a:path w="86995" h="4502150">
                <a:moveTo>
                  <a:pt x="57912" y="1894950"/>
                </a:moveTo>
                <a:lnTo>
                  <a:pt x="28955" y="1894950"/>
                </a:lnTo>
                <a:lnTo>
                  <a:pt x="28955" y="1923906"/>
                </a:lnTo>
                <a:lnTo>
                  <a:pt x="57912" y="1923906"/>
                </a:lnTo>
                <a:lnTo>
                  <a:pt x="57912" y="1894950"/>
                </a:lnTo>
                <a:close/>
              </a:path>
              <a:path w="86995" h="4502150">
                <a:moveTo>
                  <a:pt x="57912" y="1952862"/>
                </a:moveTo>
                <a:lnTo>
                  <a:pt x="28955" y="1952862"/>
                </a:lnTo>
                <a:lnTo>
                  <a:pt x="28955" y="1981818"/>
                </a:lnTo>
                <a:lnTo>
                  <a:pt x="57912" y="1981818"/>
                </a:lnTo>
                <a:lnTo>
                  <a:pt x="57912" y="1952862"/>
                </a:lnTo>
                <a:close/>
              </a:path>
              <a:path w="86995" h="4502150">
                <a:moveTo>
                  <a:pt x="57912" y="2010774"/>
                </a:moveTo>
                <a:lnTo>
                  <a:pt x="28955" y="2010774"/>
                </a:lnTo>
                <a:lnTo>
                  <a:pt x="28955" y="2039730"/>
                </a:lnTo>
                <a:lnTo>
                  <a:pt x="57912" y="2039730"/>
                </a:lnTo>
                <a:lnTo>
                  <a:pt x="57912" y="2010774"/>
                </a:lnTo>
                <a:close/>
              </a:path>
              <a:path w="86995" h="4502150">
                <a:moveTo>
                  <a:pt x="57912" y="2068686"/>
                </a:moveTo>
                <a:lnTo>
                  <a:pt x="28955" y="2068686"/>
                </a:lnTo>
                <a:lnTo>
                  <a:pt x="28955" y="2097642"/>
                </a:lnTo>
                <a:lnTo>
                  <a:pt x="57912" y="2097642"/>
                </a:lnTo>
                <a:lnTo>
                  <a:pt x="57912" y="2068686"/>
                </a:lnTo>
                <a:close/>
              </a:path>
              <a:path w="86995" h="4502150">
                <a:moveTo>
                  <a:pt x="57912" y="2126598"/>
                </a:moveTo>
                <a:lnTo>
                  <a:pt x="28955" y="2126598"/>
                </a:lnTo>
                <a:lnTo>
                  <a:pt x="28955" y="2155554"/>
                </a:lnTo>
                <a:lnTo>
                  <a:pt x="57912" y="2155554"/>
                </a:lnTo>
                <a:lnTo>
                  <a:pt x="57912" y="2126598"/>
                </a:lnTo>
                <a:close/>
              </a:path>
              <a:path w="86995" h="4502150">
                <a:moveTo>
                  <a:pt x="57912" y="2184510"/>
                </a:moveTo>
                <a:lnTo>
                  <a:pt x="28955" y="2184510"/>
                </a:lnTo>
                <a:lnTo>
                  <a:pt x="28955" y="2213466"/>
                </a:lnTo>
                <a:lnTo>
                  <a:pt x="57912" y="2213466"/>
                </a:lnTo>
                <a:lnTo>
                  <a:pt x="57912" y="2184510"/>
                </a:lnTo>
                <a:close/>
              </a:path>
              <a:path w="86995" h="4502150">
                <a:moveTo>
                  <a:pt x="57912" y="2242422"/>
                </a:moveTo>
                <a:lnTo>
                  <a:pt x="28955" y="2242422"/>
                </a:lnTo>
                <a:lnTo>
                  <a:pt x="28955" y="2271378"/>
                </a:lnTo>
                <a:lnTo>
                  <a:pt x="57912" y="2271378"/>
                </a:lnTo>
                <a:lnTo>
                  <a:pt x="57912" y="2242422"/>
                </a:lnTo>
                <a:close/>
              </a:path>
              <a:path w="86995" h="4502150">
                <a:moveTo>
                  <a:pt x="57912" y="2300334"/>
                </a:moveTo>
                <a:lnTo>
                  <a:pt x="28955" y="2300334"/>
                </a:lnTo>
                <a:lnTo>
                  <a:pt x="28955" y="2329290"/>
                </a:lnTo>
                <a:lnTo>
                  <a:pt x="57912" y="2329290"/>
                </a:lnTo>
                <a:lnTo>
                  <a:pt x="57912" y="2300334"/>
                </a:lnTo>
                <a:close/>
              </a:path>
              <a:path w="86995" h="4502150">
                <a:moveTo>
                  <a:pt x="57912" y="2358246"/>
                </a:moveTo>
                <a:lnTo>
                  <a:pt x="28955" y="2358246"/>
                </a:lnTo>
                <a:lnTo>
                  <a:pt x="28955" y="2387202"/>
                </a:lnTo>
                <a:lnTo>
                  <a:pt x="57912" y="2387202"/>
                </a:lnTo>
                <a:lnTo>
                  <a:pt x="57912" y="2358246"/>
                </a:lnTo>
                <a:close/>
              </a:path>
              <a:path w="86995" h="4502150">
                <a:moveTo>
                  <a:pt x="57912" y="2416158"/>
                </a:moveTo>
                <a:lnTo>
                  <a:pt x="28955" y="2416158"/>
                </a:lnTo>
                <a:lnTo>
                  <a:pt x="28955" y="2445114"/>
                </a:lnTo>
                <a:lnTo>
                  <a:pt x="57912" y="2445114"/>
                </a:lnTo>
                <a:lnTo>
                  <a:pt x="57912" y="2416158"/>
                </a:lnTo>
                <a:close/>
              </a:path>
              <a:path w="86995" h="4502150">
                <a:moveTo>
                  <a:pt x="57912" y="2474070"/>
                </a:moveTo>
                <a:lnTo>
                  <a:pt x="28955" y="2474070"/>
                </a:lnTo>
                <a:lnTo>
                  <a:pt x="28955" y="2503026"/>
                </a:lnTo>
                <a:lnTo>
                  <a:pt x="57912" y="2503026"/>
                </a:lnTo>
                <a:lnTo>
                  <a:pt x="57912" y="2474070"/>
                </a:lnTo>
                <a:close/>
              </a:path>
              <a:path w="86995" h="4502150">
                <a:moveTo>
                  <a:pt x="57912" y="2531982"/>
                </a:moveTo>
                <a:lnTo>
                  <a:pt x="28955" y="2531982"/>
                </a:lnTo>
                <a:lnTo>
                  <a:pt x="28955" y="2560938"/>
                </a:lnTo>
                <a:lnTo>
                  <a:pt x="57912" y="2560938"/>
                </a:lnTo>
                <a:lnTo>
                  <a:pt x="57912" y="2531982"/>
                </a:lnTo>
                <a:close/>
              </a:path>
              <a:path w="86995" h="4502150">
                <a:moveTo>
                  <a:pt x="57912" y="2589894"/>
                </a:moveTo>
                <a:lnTo>
                  <a:pt x="28955" y="2589894"/>
                </a:lnTo>
                <a:lnTo>
                  <a:pt x="28955" y="2618850"/>
                </a:lnTo>
                <a:lnTo>
                  <a:pt x="57912" y="2618850"/>
                </a:lnTo>
                <a:lnTo>
                  <a:pt x="57912" y="2589894"/>
                </a:lnTo>
                <a:close/>
              </a:path>
              <a:path w="86995" h="4502150">
                <a:moveTo>
                  <a:pt x="57912" y="2647806"/>
                </a:moveTo>
                <a:lnTo>
                  <a:pt x="28955" y="2647806"/>
                </a:lnTo>
                <a:lnTo>
                  <a:pt x="28955" y="2676762"/>
                </a:lnTo>
                <a:lnTo>
                  <a:pt x="57912" y="2676762"/>
                </a:lnTo>
                <a:lnTo>
                  <a:pt x="57912" y="2647806"/>
                </a:lnTo>
                <a:close/>
              </a:path>
              <a:path w="86995" h="4502150">
                <a:moveTo>
                  <a:pt x="57912" y="2705718"/>
                </a:moveTo>
                <a:lnTo>
                  <a:pt x="28955" y="2705718"/>
                </a:lnTo>
                <a:lnTo>
                  <a:pt x="28955" y="2734674"/>
                </a:lnTo>
                <a:lnTo>
                  <a:pt x="57912" y="2734674"/>
                </a:lnTo>
                <a:lnTo>
                  <a:pt x="57912" y="2705718"/>
                </a:lnTo>
                <a:close/>
              </a:path>
              <a:path w="86995" h="4502150">
                <a:moveTo>
                  <a:pt x="57912" y="2763630"/>
                </a:moveTo>
                <a:lnTo>
                  <a:pt x="28955" y="2763630"/>
                </a:lnTo>
                <a:lnTo>
                  <a:pt x="28955" y="2792586"/>
                </a:lnTo>
                <a:lnTo>
                  <a:pt x="57912" y="2792586"/>
                </a:lnTo>
                <a:lnTo>
                  <a:pt x="57912" y="2763630"/>
                </a:lnTo>
                <a:close/>
              </a:path>
              <a:path w="86995" h="4502150">
                <a:moveTo>
                  <a:pt x="57912" y="2821542"/>
                </a:moveTo>
                <a:lnTo>
                  <a:pt x="28955" y="2821542"/>
                </a:lnTo>
                <a:lnTo>
                  <a:pt x="28955" y="2850498"/>
                </a:lnTo>
                <a:lnTo>
                  <a:pt x="57912" y="2850498"/>
                </a:lnTo>
                <a:lnTo>
                  <a:pt x="57912" y="2821542"/>
                </a:lnTo>
                <a:close/>
              </a:path>
              <a:path w="86995" h="4502150">
                <a:moveTo>
                  <a:pt x="57912" y="2879454"/>
                </a:moveTo>
                <a:lnTo>
                  <a:pt x="28955" y="2879454"/>
                </a:lnTo>
                <a:lnTo>
                  <a:pt x="28955" y="2908410"/>
                </a:lnTo>
                <a:lnTo>
                  <a:pt x="57912" y="2908410"/>
                </a:lnTo>
                <a:lnTo>
                  <a:pt x="57912" y="2879454"/>
                </a:lnTo>
                <a:close/>
              </a:path>
              <a:path w="86995" h="4502150">
                <a:moveTo>
                  <a:pt x="57912" y="2937366"/>
                </a:moveTo>
                <a:lnTo>
                  <a:pt x="28955" y="2937366"/>
                </a:lnTo>
                <a:lnTo>
                  <a:pt x="28955" y="2966322"/>
                </a:lnTo>
                <a:lnTo>
                  <a:pt x="57912" y="2966322"/>
                </a:lnTo>
                <a:lnTo>
                  <a:pt x="57912" y="2937366"/>
                </a:lnTo>
                <a:close/>
              </a:path>
              <a:path w="86995" h="4502150">
                <a:moveTo>
                  <a:pt x="57912" y="2995278"/>
                </a:moveTo>
                <a:lnTo>
                  <a:pt x="28955" y="2995278"/>
                </a:lnTo>
                <a:lnTo>
                  <a:pt x="28955" y="3024234"/>
                </a:lnTo>
                <a:lnTo>
                  <a:pt x="57912" y="3024234"/>
                </a:lnTo>
                <a:lnTo>
                  <a:pt x="57912" y="2995278"/>
                </a:lnTo>
                <a:close/>
              </a:path>
              <a:path w="86995" h="4502150">
                <a:moveTo>
                  <a:pt x="57912" y="3053190"/>
                </a:moveTo>
                <a:lnTo>
                  <a:pt x="28955" y="3053190"/>
                </a:lnTo>
                <a:lnTo>
                  <a:pt x="28955" y="3082146"/>
                </a:lnTo>
                <a:lnTo>
                  <a:pt x="57912" y="3082146"/>
                </a:lnTo>
                <a:lnTo>
                  <a:pt x="57912" y="3053190"/>
                </a:lnTo>
                <a:close/>
              </a:path>
              <a:path w="86995" h="4502150">
                <a:moveTo>
                  <a:pt x="57912" y="3111102"/>
                </a:moveTo>
                <a:lnTo>
                  <a:pt x="28955" y="3111102"/>
                </a:lnTo>
                <a:lnTo>
                  <a:pt x="28955" y="3140058"/>
                </a:lnTo>
                <a:lnTo>
                  <a:pt x="57912" y="3140058"/>
                </a:lnTo>
                <a:lnTo>
                  <a:pt x="57912" y="3111102"/>
                </a:lnTo>
                <a:close/>
              </a:path>
              <a:path w="86995" h="4502150">
                <a:moveTo>
                  <a:pt x="57912" y="3169014"/>
                </a:moveTo>
                <a:lnTo>
                  <a:pt x="28955" y="3169014"/>
                </a:lnTo>
                <a:lnTo>
                  <a:pt x="28955" y="3197970"/>
                </a:lnTo>
                <a:lnTo>
                  <a:pt x="57912" y="3197970"/>
                </a:lnTo>
                <a:lnTo>
                  <a:pt x="57912" y="3169014"/>
                </a:lnTo>
                <a:close/>
              </a:path>
              <a:path w="86995" h="4502150">
                <a:moveTo>
                  <a:pt x="57912" y="3226926"/>
                </a:moveTo>
                <a:lnTo>
                  <a:pt x="28955" y="3226926"/>
                </a:lnTo>
                <a:lnTo>
                  <a:pt x="28955" y="3255882"/>
                </a:lnTo>
                <a:lnTo>
                  <a:pt x="57912" y="3255882"/>
                </a:lnTo>
                <a:lnTo>
                  <a:pt x="57912" y="3226926"/>
                </a:lnTo>
                <a:close/>
              </a:path>
              <a:path w="86995" h="4502150">
                <a:moveTo>
                  <a:pt x="57912" y="3284838"/>
                </a:moveTo>
                <a:lnTo>
                  <a:pt x="28955" y="3284838"/>
                </a:lnTo>
                <a:lnTo>
                  <a:pt x="28955" y="3313794"/>
                </a:lnTo>
                <a:lnTo>
                  <a:pt x="57912" y="3313794"/>
                </a:lnTo>
                <a:lnTo>
                  <a:pt x="57912" y="3284838"/>
                </a:lnTo>
                <a:close/>
              </a:path>
              <a:path w="86995" h="4502150">
                <a:moveTo>
                  <a:pt x="57912" y="3342750"/>
                </a:moveTo>
                <a:lnTo>
                  <a:pt x="28955" y="3342750"/>
                </a:lnTo>
                <a:lnTo>
                  <a:pt x="28955" y="3371706"/>
                </a:lnTo>
                <a:lnTo>
                  <a:pt x="57912" y="3371706"/>
                </a:lnTo>
                <a:lnTo>
                  <a:pt x="57912" y="3342750"/>
                </a:lnTo>
                <a:close/>
              </a:path>
              <a:path w="86995" h="4502150">
                <a:moveTo>
                  <a:pt x="57912" y="3400662"/>
                </a:moveTo>
                <a:lnTo>
                  <a:pt x="28955" y="3400662"/>
                </a:lnTo>
                <a:lnTo>
                  <a:pt x="28955" y="3429618"/>
                </a:lnTo>
                <a:lnTo>
                  <a:pt x="57912" y="3429618"/>
                </a:lnTo>
                <a:lnTo>
                  <a:pt x="57912" y="3400662"/>
                </a:lnTo>
                <a:close/>
              </a:path>
              <a:path w="86995" h="4502150">
                <a:moveTo>
                  <a:pt x="57912" y="3458574"/>
                </a:moveTo>
                <a:lnTo>
                  <a:pt x="28955" y="3458574"/>
                </a:lnTo>
                <a:lnTo>
                  <a:pt x="28955" y="3487530"/>
                </a:lnTo>
                <a:lnTo>
                  <a:pt x="57912" y="3487530"/>
                </a:lnTo>
                <a:lnTo>
                  <a:pt x="57912" y="3458574"/>
                </a:lnTo>
                <a:close/>
              </a:path>
              <a:path w="86995" h="4502150">
                <a:moveTo>
                  <a:pt x="57912" y="3516486"/>
                </a:moveTo>
                <a:lnTo>
                  <a:pt x="28955" y="3516486"/>
                </a:lnTo>
                <a:lnTo>
                  <a:pt x="28955" y="3545442"/>
                </a:lnTo>
                <a:lnTo>
                  <a:pt x="57912" y="3545442"/>
                </a:lnTo>
                <a:lnTo>
                  <a:pt x="57912" y="3516486"/>
                </a:lnTo>
                <a:close/>
              </a:path>
              <a:path w="86995" h="4502150">
                <a:moveTo>
                  <a:pt x="57912" y="3574398"/>
                </a:moveTo>
                <a:lnTo>
                  <a:pt x="28955" y="3574398"/>
                </a:lnTo>
                <a:lnTo>
                  <a:pt x="28955" y="3603354"/>
                </a:lnTo>
                <a:lnTo>
                  <a:pt x="57912" y="3603354"/>
                </a:lnTo>
                <a:lnTo>
                  <a:pt x="57912" y="3574398"/>
                </a:lnTo>
                <a:close/>
              </a:path>
              <a:path w="86995" h="4502150">
                <a:moveTo>
                  <a:pt x="57912" y="3632310"/>
                </a:moveTo>
                <a:lnTo>
                  <a:pt x="28955" y="3632310"/>
                </a:lnTo>
                <a:lnTo>
                  <a:pt x="28955" y="3661266"/>
                </a:lnTo>
                <a:lnTo>
                  <a:pt x="57912" y="3661266"/>
                </a:lnTo>
                <a:lnTo>
                  <a:pt x="57912" y="3632310"/>
                </a:lnTo>
                <a:close/>
              </a:path>
              <a:path w="86995" h="4502150">
                <a:moveTo>
                  <a:pt x="57912" y="3690222"/>
                </a:moveTo>
                <a:lnTo>
                  <a:pt x="28955" y="3690222"/>
                </a:lnTo>
                <a:lnTo>
                  <a:pt x="28955" y="3719178"/>
                </a:lnTo>
                <a:lnTo>
                  <a:pt x="57912" y="3719178"/>
                </a:lnTo>
                <a:lnTo>
                  <a:pt x="57912" y="3690222"/>
                </a:lnTo>
                <a:close/>
              </a:path>
              <a:path w="86995" h="4502150">
                <a:moveTo>
                  <a:pt x="57912" y="3748134"/>
                </a:moveTo>
                <a:lnTo>
                  <a:pt x="28955" y="3748134"/>
                </a:lnTo>
                <a:lnTo>
                  <a:pt x="28955" y="3777090"/>
                </a:lnTo>
                <a:lnTo>
                  <a:pt x="57912" y="3777090"/>
                </a:lnTo>
                <a:lnTo>
                  <a:pt x="57912" y="3748134"/>
                </a:lnTo>
                <a:close/>
              </a:path>
              <a:path w="86995" h="4502150">
                <a:moveTo>
                  <a:pt x="57912" y="3806046"/>
                </a:moveTo>
                <a:lnTo>
                  <a:pt x="28955" y="3806046"/>
                </a:lnTo>
                <a:lnTo>
                  <a:pt x="28955" y="3835002"/>
                </a:lnTo>
                <a:lnTo>
                  <a:pt x="57912" y="3835002"/>
                </a:lnTo>
                <a:lnTo>
                  <a:pt x="57912" y="3806046"/>
                </a:lnTo>
                <a:close/>
              </a:path>
              <a:path w="86995" h="4502150">
                <a:moveTo>
                  <a:pt x="57912" y="3863958"/>
                </a:moveTo>
                <a:lnTo>
                  <a:pt x="28955" y="3863958"/>
                </a:lnTo>
                <a:lnTo>
                  <a:pt x="28955" y="3892914"/>
                </a:lnTo>
                <a:lnTo>
                  <a:pt x="57912" y="3892914"/>
                </a:lnTo>
                <a:lnTo>
                  <a:pt x="57912" y="3863958"/>
                </a:lnTo>
                <a:close/>
              </a:path>
              <a:path w="86995" h="4502150">
                <a:moveTo>
                  <a:pt x="57912" y="3921870"/>
                </a:moveTo>
                <a:lnTo>
                  <a:pt x="28955" y="3921870"/>
                </a:lnTo>
                <a:lnTo>
                  <a:pt x="28955" y="3950826"/>
                </a:lnTo>
                <a:lnTo>
                  <a:pt x="57912" y="3950826"/>
                </a:lnTo>
                <a:lnTo>
                  <a:pt x="57912" y="3921870"/>
                </a:lnTo>
                <a:close/>
              </a:path>
              <a:path w="86995" h="4502150">
                <a:moveTo>
                  <a:pt x="57912" y="3979782"/>
                </a:moveTo>
                <a:lnTo>
                  <a:pt x="28955" y="3979782"/>
                </a:lnTo>
                <a:lnTo>
                  <a:pt x="28955" y="4008738"/>
                </a:lnTo>
                <a:lnTo>
                  <a:pt x="57912" y="4008738"/>
                </a:lnTo>
                <a:lnTo>
                  <a:pt x="57912" y="3979782"/>
                </a:lnTo>
                <a:close/>
              </a:path>
              <a:path w="86995" h="4502150">
                <a:moveTo>
                  <a:pt x="57912" y="4037694"/>
                </a:moveTo>
                <a:lnTo>
                  <a:pt x="28955" y="4037694"/>
                </a:lnTo>
                <a:lnTo>
                  <a:pt x="28955" y="4066650"/>
                </a:lnTo>
                <a:lnTo>
                  <a:pt x="57912" y="4066650"/>
                </a:lnTo>
                <a:lnTo>
                  <a:pt x="57912" y="4037694"/>
                </a:lnTo>
                <a:close/>
              </a:path>
              <a:path w="86995" h="4502150">
                <a:moveTo>
                  <a:pt x="57912" y="4095606"/>
                </a:moveTo>
                <a:lnTo>
                  <a:pt x="28955" y="4095606"/>
                </a:lnTo>
                <a:lnTo>
                  <a:pt x="28955" y="4124562"/>
                </a:lnTo>
                <a:lnTo>
                  <a:pt x="57912" y="4124562"/>
                </a:lnTo>
                <a:lnTo>
                  <a:pt x="57912" y="4095606"/>
                </a:lnTo>
                <a:close/>
              </a:path>
              <a:path w="86995" h="4502150">
                <a:moveTo>
                  <a:pt x="57912" y="4153518"/>
                </a:moveTo>
                <a:lnTo>
                  <a:pt x="28955" y="4153518"/>
                </a:lnTo>
                <a:lnTo>
                  <a:pt x="28955" y="4182474"/>
                </a:lnTo>
                <a:lnTo>
                  <a:pt x="57912" y="4182474"/>
                </a:lnTo>
                <a:lnTo>
                  <a:pt x="57912" y="4153518"/>
                </a:lnTo>
                <a:close/>
              </a:path>
              <a:path w="86995" h="4502150">
                <a:moveTo>
                  <a:pt x="57912" y="4211430"/>
                </a:moveTo>
                <a:lnTo>
                  <a:pt x="28955" y="4211430"/>
                </a:lnTo>
                <a:lnTo>
                  <a:pt x="28955" y="4240386"/>
                </a:lnTo>
                <a:lnTo>
                  <a:pt x="57912" y="4240386"/>
                </a:lnTo>
                <a:lnTo>
                  <a:pt x="57912" y="4211430"/>
                </a:lnTo>
                <a:close/>
              </a:path>
              <a:path w="86995" h="4502150">
                <a:moveTo>
                  <a:pt x="57912" y="4269342"/>
                </a:moveTo>
                <a:lnTo>
                  <a:pt x="28955" y="4269342"/>
                </a:lnTo>
                <a:lnTo>
                  <a:pt x="28955" y="4298298"/>
                </a:lnTo>
                <a:lnTo>
                  <a:pt x="57912" y="4298298"/>
                </a:lnTo>
                <a:lnTo>
                  <a:pt x="57912" y="4269342"/>
                </a:lnTo>
                <a:close/>
              </a:path>
              <a:path w="86995" h="4502150">
                <a:moveTo>
                  <a:pt x="57912" y="4327254"/>
                </a:moveTo>
                <a:lnTo>
                  <a:pt x="28955" y="4327254"/>
                </a:lnTo>
                <a:lnTo>
                  <a:pt x="28955" y="4356210"/>
                </a:lnTo>
                <a:lnTo>
                  <a:pt x="57912" y="4356210"/>
                </a:lnTo>
                <a:lnTo>
                  <a:pt x="57912" y="4327254"/>
                </a:lnTo>
                <a:close/>
              </a:path>
              <a:path w="86995" h="4502150">
                <a:moveTo>
                  <a:pt x="57912" y="4385166"/>
                </a:moveTo>
                <a:lnTo>
                  <a:pt x="28955" y="4385166"/>
                </a:lnTo>
                <a:lnTo>
                  <a:pt x="28955" y="4414122"/>
                </a:lnTo>
                <a:lnTo>
                  <a:pt x="57912" y="4414122"/>
                </a:lnTo>
                <a:lnTo>
                  <a:pt x="57912" y="4385166"/>
                </a:lnTo>
                <a:close/>
              </a:path>
              <a:path w="86995" h="4502150">
                <a:moveTo>
                  <a:pt x="39083" y="4417133"/>
                </a:moveTo>
                <a:lnTo>
                  <a:pt x="2340" y="4451600"/>
                </a:lnTo>
                <a:lnTo>
                  <a:pt x="716" y="4468158"/>
                </a:lnTo>
                <a:lnTo>
                  <a:pt x="4795" y="4479605"/>
                </a:lnTo>
                <a:lnTo>
                  <a:pt x="12402" y="4489284"/>
                </a:lnTo>
                <a:lnTo>
                  <a:pt x="23436" y="4496634"/>
                </a:lnTo>
                <a:lnTo>
                  <a:pt x="37802" y="4501097"/>
                </a:lnTo>
                <a:lnTo>
                  <a:pt x="55402" y="4502116"/>
                </a:lnTo>
                <a:lnTo>
                  <a:pt x="67986" y="4496189"/>
                </a:lnTo>
                <a:lnTo>
                  <a:pt x="77950" y="4486726"/>
                </a:lnTo>
                <a:lnTo>
                  <a:pt x="84507" y="4474516"/>
                </a:lnTo>
                <a:lnTo>
                  <a:pt x="86867" y="4460350"/>
                </a:lnTo>
                <a:lnTo>
                  <a:pt x="28955" y="4460350"/>
                </a:lnTo>
                <a:lnTo>
                  <a:pt x="28955" y="4443078"/>
                </a:lnTo>
                <a:lnTo>
                  <a:pt x="82818" y="4443078"/>
                </a:lnTo>
                <a:lnTo>
                  <a:pt x="77737" y="4434107"/>
                </a:lnTo>
                <a:lnTo>
                  <a:pt x="67707" y="4425049"/>
                </a:lnTo>
                <a:lnTo>
                  <a:pt x="54664" y="4419162"/>
                </a:lnTo>
                <a:lnTo>
                  <a:pt x="39083" y="4417133"/>
                </a:lnTo>
                <a:close/>
              </a:path>
              <a:path w="86995" h="4502150">
                <a:moveTo>
                  <a:pt x="57912" y="4443078"/>
                </a:moveTo>
                <a:lnTo>
                  <a:pt x="28955" y="4443078"/>
                </a:lnTo>
                <a:lnTo>
                  <a:pt x="28955" y="4460350"/>
                </a:lnTo>
                <a:lnTo>
                  <a:pt x="57912" y="4460350"/>
                </a:lnTo>
                <a:lnTo>
                  <a:pt x="57912" y="4443078"/>
                </a:lnTo>
                <a:close/>
              </a:path>
              <a:path w="86995" h="4502150">
                <a:moveTo>
                  <a:pt x="82818" y="4443078"/>
                </a:moveTo>
                <a:lnTo>
                  <a:pt x="57912" y="4443078"/>
                </a:lnTo>
                <a:lnTo>
                  <a:pt x="57912" y="4460350"/>
                </a:lnTo>
                <a:lnTo>
                  <a:pt x="86867" y="4460350"/>
                </a:lnTo>
                <a:lnTo>
                  <a:pt x="86847" y="4458998"/>
                </a:lnTo>
                <a:lnTo>
                  <a:pt x="84275" y="4445652"/>
                </a:lnTo>
                <a:lnTo>
                  <a:pt x="82818" y="4443078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5940" y="793800"/>
            <a:ext cx="3072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数据采集技术</a:t>
            </a:r>
            <a:endParaRPr sz="4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7807" y="2174876"/>
            <a:ext cx="8370570" cy="3303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800" b="1" dirty="0">
                <a:latin typeface="微软雅黑"/>
                <a:cs typeface="微软雅黑"/>
              </a:rPr>
              <a:t>1.	</a:t>
            </a:r>
            <a:r>
              <a:rPr sz="1800" b="1" spc="-5" dirty="0">
                <a:latin typeface="微软雅黑"/>
                <a:cs typeface="微软雅黑"/>
              </a:rPr>
              <a:t>检测精度和技术成熟</a:t>
            </a:r>
            <a:r>
              <a:rPr sz="1800" b="1" dirty="0">
                <a:latin typeface="微软雅黑"/>
                <a:cs typeface="微软雅黑"/>
              </a:rPr>
              <a:t>度</a:t>
            </a:r>
            <a:r>
              <a:rPr sz="1800" spc="-5" dirty="0">
                <a:latin typeface="微软雅黑"/>
                <a:cs typeface="微软雅黑"/>
              </a:rPr>
              <a:t>：环形线圈、</a:t>
            </a:r>
            <a:r>
              <a:rPr sz="1800" b="1" spc="-5" dirty="0">
                <a:solidFill>
                  <a:srgbClr val="FF0000"/>
                </a:solidFill>
                <a:latin typeface="微软雅黑"/>
                <a:cs typeface="微软雅黑"/>
              </a:rPr>
              <a:t>微波、超声波</a:t>
            </a:r>
            <a:r>
              <a:rPr sz="1800" spc="-5" dirty="0">
                <a:latin typeface="微软雅黑"/>
                <a:cs typeface="微软雅黑"/>
              </a:rPr>
              <a:t>检测器最优，红外及视频检测</a:t>
            </a:r>
            <a:endParaRPr sz="1800">
              <a:latin typeface="微软雅黑"/>
              <a:cs typeface="微软雅黑"/>
            </a:endParaRPr>
          </a:p>
          <a:p>
            <a:pPr marL="355600">
              <a:lnSpc>
                <a:spcPct val="100000"/>
              </a:lnSpc>
              <a:spcBef>
                <a:spcPts val="540"/>
              </a:spcBef>
            </a:pPr>
            <a:r>
              <a:rPr sz="1800" dirty="0">
                <a:latin typeface="微软雅黑"/>
                <a:cs typeface="微软雅黑"/>
              </a:rPr>
              <a:t>器为次优</a:t>
            </a:r>
            <a:endParaRPr sz="1800">
              <a:latin typeface="微软雅黑"/>
              <a:cs typeface="微软雅黑"/>
            </a:endParaRPr>
          </a:p>
          <a:p>
            <a:pPr marL="355600" marR="5080" indent="-342900">
              <a:lnSpc>
                <a:spcPct val="1250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1800" b="1" dirty="0">
                <a:latin typeface="微软雅黑"/>
                <a:cs typeface="微软雅黑"/>
              </a:rPr>
              <a:t>2</a:t>
            </a:r>
            <a:r>
              <a:rPr sz="1800" b="1" spc="-5" dirty="0">
                <a:latin typeface="微软雅黑"/>
                <a:cs typeface="微软雅黑"/>
              </a:rPr>
              <a:t>.</a:t>
            </a:r>
            <a:r>
              <a:rPr sz="1800" b="1" dirty="0">
                <a:latin typeface="微软雅黑"/>
                <a:cs typeface="微软雅黑"/>
              </a:rPr>
              <a:t>	交通参数检测的完备性</a:t>
            </a:r>
            <a:r>
              <a:rPr sz="1800" dirty="0">
                <a:latin typeface="微软雅黑"/>
                <a:cs typeface="微软雅黑"/>
              </a:rPr>
              <a:t>：</a:t>
            </a:r>
            <a:r>
              <a:rPr sz="1800" b="1" dirty="0">
                <a:solidFill>
                  <a:srgbClr val="FF0000"/>
                </a:solidFill>
                <a:latin typeface="微软雅黑"/>
                <a:cs typeface="微软雅黑"/>
              </a:rPr>
              <a:t>微波</a:t>
            </a:r>
            <a:r>
              <a:rPr sz="1800" dirty="0">
                <a:latin typeface="微软雅黑"/>
                <a:cs typeface="微软雅黑"/>
              </a:rPr>
              <a:t>，视频和红外检测器为最优，环形线圈</a:t>
            </a:r>
            <a:r>
              <a:rPr sz="1800" spc="5" dirty="0">
                <a:latin typeface="微软雅黑"/>
                <a:cs typeface="微软雅黑"/>
              </a:rPr>
              <a:t>和</a:t>
            </a:r>
            <a:r>
              <a:rPr sz="1800" b="1" dirty="0">
                <a:solidFill>
                  <a:srgbClr val="FF0000"/>
                </a:solidFill>
                <a:latin typeface="微软雅黑"/>
                <a:cs typeface="微软雅黑"/>
              </a:rPr>
              <a:t>超声波</a:t>
            </a:r>
            <a:r>
              <a:rPr sz="1800" dirty="0">
                <a:latin typeface="微软雅黑"/>
                <a:cs typeface="微软雅黑"/>
              </a:rPr>
              <a:t>检 测器为次优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354965" algn="l"/>
              </a:tabLst>
            </a:pPr>
            <a:r>
              <a:rPr sz="1800" b="1" dirty="0">
                <a:latin typeface="微软雅黑"/>
                <a:cs typeface="微软雅黑"/>
              </a:rPr>
              <a:t>3.	</a:t>
            </a:r>
            <a:r>
              <a:rPr sz="1800" b="1" spc="-5" dirty="0">
                <a:latin typeface="微软雅黑"/>
                <a:cs typeface="微软雅黑"/>
              </a:rPr>
              <a:t>安装维护便捷程度及使用寿</a:t>
            </a:r>
            <a:r>
              <a:rPr sz="1800" b="1" dirty="0">
                <a:latin typeface="微软雅黑"/>
                <a:cs typeface="微软雅黑"/>
              </a:rPr>
              <a:t>命</a:t>
            </a:r>
            <a:r>
              <a:rPr sz="1800" spc="-5" dirty="0">
                <a:latin typeface="微软雅黑"/>
                <a:cs typeface="微软雅黑"/>
              </a:rPr>
              <a:t>：</a:t>
            </a:r>
            <a:r>
              <a:rPr sz="1800" b="1" dirty="0">
                <a:solidFill>
                  <a:srgbClr val="FF0000"/>
                </a:solidFill>
                <a:latin typeface="微软雅黑"/>
                <a:cs typeface="微软雅黑"/>
              </a:rPr>
              <a:t>微波，超声</a:t>
            </a:r>
            <a:r>
              <a:rPr sz="1800" b="1" spc="-15" dirty="0">
                <a:solidFill>
                  <a:srgbClr val="FF0000"/>
                </a:solidFill>
                <a:latin typeface="微软雅黑"/>
                <a:cs typeface="微软雅黑"/>
              </a:rPr>
              <a:t>波</a:t>
            </a:r>
            <a:r>
              <a:rPr sz="1800" spc="-5" dirty="0">
                <a:latin typeface="微软雅黑"/>
                <a:cs typeface="微软雅黑"/>
              </a:rPr>
              <a:t>和红外检测器为最优，视频检测器</a:t>
            </a:r>
            <a:endParaRPr sz="1800">
              <a:latin typeface="微软雅黑"/>
              <a:cs typeface="微软雅黑"/>
            </a:endParaRPr>
          </a:p>
          <a:p>
            <a:pPr marL="355600">
              <a:lnSpc>
                <a:spcPct val="100000"/>
              </a:lnSpc>
              <a:spcBef>
                <a:spcPts val="540"/>
              </a:spcBef>
            </a:pPr>
            <a:r>
              <a:rPr sz="1800" dirty="0">
                <a:latin typeface="微软雅黑"/>
                <a:cs typeface="微软雅黑"/>
              </a:rPr>
              <a:t>为次优，环形线圈检测器为最差</a:t>
            </a:r>
            <a:endParaRPr sz="1800">
              <a:latin typeface="微软雅黑"/>
              <a:cs typeface="微软雅黑"/>
            </a:endParaRPr>
          </a:p>
          <a:p>
            <a:pPr marL="355600" marR="6350" indent="-342900">
              <a:lnSpc>
                <a:spcPct val="1250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1800" b="1" dirty="0">
                <a:latin typeface="微软雅黑"/>
                <a:cs typeface="微软雅黑"/>
              </a:rPr>
              <a:t>4</a:t>
            </a:r>
            <a:r>
              <a:rPr sz="1800" b="1" spc="-5" dirty="0">
                <a:latin typeface="微软雅黑"/>
                <a:cs typeface="微软雅黑"/>
              </a:rPr>
              <a:t>.</a:t>
            </a:r>
            <a:r>
              <a:rPr sz="1800" b="1" dirty="0">
                <a:latin typeface="微软雅黑"/>
                <a:cs typeface="微软雅黑"/>
              </a:rPr>
              <a:t>	设备购买与维护成本</a:t>
            </a:r>
            <a:r>
              <a:rPr sz="1800" dirty="0">
                <a:latin typeface="微软雅黑"/>
                <a:cs typeface="微软雅黑"/>
              </a:rPr>
              <a:t>：</a:t>
            </a:r>
            <a:r>
              <a:rPr sz="1800" b="1" dirty="0">
                <a:solidFill>
                  <a:srgbClr val="FF0000"/>
                </a:solidFill>
                <a:latin typeface="微软雅黑"/>
                <a:cs typeface="微软雅黑"/>
              </a:rPr>
              <a:t>微波，超声波</a:t>
            </a:r>
            <a:r>
              <a:rPr sz="1800" dirty="0">
                <a:latin typeface="微软雅黑"/>
                <a:cs typeface="微软雅黑"/>
              </a:rPr>
              <a:t>和红外检测器应作为最优，视频检测器为次 优，环形线圈检测器为最差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354965" algn="l"/>
              </a:tabLst>
            </a:pPr>
            <a:r>
              <a:rPr sz="1800" b="1" dirty="0">
                <a:latin typeface="微软雅黑"/>
                <a:cs typeface="微软雅黑"/>
              </a:rPr>
              <a:t>5.	</a:t>
            </a:r>
            <a:r>
              <a:rPr sz="1800" b="1" spc="-5" dirty="0">
                <a:latin typeface="微软雅黑"/>
                <a:cs typeface="微软雅黑"/>
              </a:rPr>
              <a:t>环境适应性</a:t>
            </a:r>
            <a:r>
              <a:rPr sz="1800" spc="-5" dirty="0">
                <a:latin typeface="微软雅黑"/>
                <a:cs typeface="微软雅黑"/>
              </a:rPr>
              <a:t>：</a:t>
            </a:r>
            <a:r>
              <a:rPr sz="1800" b="1" spc="-5" dirty="0">
                <a:solidFill>
                  <a:srgbClr val="FF0000"/>
                </a:solidFill>
                <a:latin typeface="微软雅黑"/>
                <a:cs typeface="微软雅黑"/>
              </a:rPr>
              <a:t>微波</a:t>
            </a:r>
            <a:r>
              <a:rPr sz="1800" spc="-5" dirty="0">
                <a:latin typeface="微软雅黑"/>
                <a:cs typeface="微软雅黑"/>
              </a:rPr>
              <a:t>检测器＞视频检测器＞红外、</a:t>
            </a:r>
            <a:r>
              <a:rPr sz="1800" b="1" spc="-5" dirty="0">
                <a:solidFill>
                  <a:srgbClr val="FF0000"/>
                </a:solidFill>
                <a:latin typeface="微软雅黑"/>
                <a:cs typeface="微软雅黑"/>
              </a:rPr>
              <a:t>超声</a:t>
            </a:r>
            <a:r>
              <a:rPr sz="1800" b="1" dirty="0">
                <a:solidFill>
                  <a:srgbClr val="FF0000"/>
                </a:solidFill>
                <a:latin typeface="微软雅黑"/>
                <a:cs typeface="微软雅黑"/>
              </a:rPr>
              <a:t>波</a:t>
            </a:r>
            <a:r>
              <a:rPr sz="1800" spc="-5" dirty="0">
                <a:latin typeface="微软雅黑"/>
                <a:cs typeface="微软雅黑"/>
              </a:rPr>
              <a:t>检测器＞环形线圈检测器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793800"/>
            <a:ext cx="3072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数据采集技术</a:t>
            </a:r>
            <a:endParaRPr sz="4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793800"/>
            <a:ext cx="7891780" cy="329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数据预处理</a:t>
            </a:r>
            <a:endParaRPr sz="4000" dirty="0">
              <a:latin typeface="微软雅黑"/>
              <a:cs typeface="微软雅黑"/>
            </a:endParaRPr>
          </a:p>
          <a:p>
            <a:pPr marL="184150">
              <a:lnSpc>
                <a:spcPct val="100000"/>
              </a:lnSpc>
              <a:spcBef>
                <a:spcPts val="3325"/>
              </a:spcBef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800" b="1" dirty="0" err="1">
                <a:latin typeface="微软雅黑"/>
                <a:cs typeface="微软雅黑"/>
              </a:rPr>
              <a:t>数据清洗：</a:t>
            </a:r>
            <a:r>
              <a:rPr sz="1800" dirty="0" err="1">
                <a:latin typeface="微软雅黑"/>
                <a:cs typeface="微软雅黑"/>
              </a:rPr>
              <a:t>去噪声和无关数据</a:t>
            </a:r>
            <a:endParaRPr sz="1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</a:pPr>
            <a:r>
              <a:rPr sz="1500" spc="1120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800" b="1" spc="-5" dirty="0" err="1">
                <a:latin typeface="微软雅黑"/>
                <a:cs typeface="微软雅黑"/>
              </a:rPr>
              <a:t>数据集成</a:t>
            </a:r>
            <a:r>
              <a:rPr sz="1800" b="1" dirty="0" err="1">
                <a:latin typeface="微软雅黑"/>
                <a:cs typeface="微软雅黑"/>
              </a:rPr>
              <a:t>：</a:t>
            </a:r>
            <a:r>
              <a:rPr sz="1800" spc="-5" dirty="0" err="1">
                <a:latin typeface="微软雅黑"/>
                <a:cs typeface="微软雅黑"/>
              </a:rPr>
              <a:t>将多个数据源中的数据结合起来存放在一个一致的数据存储中</a:t>
            </a:r>
            <a:endParaRPr sz="1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800" b="1" dirty="0" err="1">
                <a:latin typeface="微软雅黑"/>
                <a:cs typeface="微软雅黑"/>
              </a:rPr>
              <a:t>数据变换：</a:t>
            </a:r>
            <a:r>
              <a:rPr sz="1800" dirty="0" err="1">
                <a:latin typeface="微软雅黑"/>
                <a:cs typeface="微软雅黑"/>
              </a:rPr>
              <a:t>把原始数据转换成为适合数据挖掘的形式</a:t>
            </a:r>
            <a:endParaRPr sz="1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367030" marR="5080" indent="-182880">
              <a:lnSpc>
                <a:spcPct val="100000"/>
              </a:lnSpc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800" b="1" dirty="0" err="1">
                <a:latin typeface="微软雅黑"/>
                <a:cs typeface="微软雅黑"/>
              </a:rPr>
              <a:t>数据规约：</a:t>
            </a:r>
            <a:r>
              <a:rPr sz="1800" dirty="0" err="1">
                <a:latin typeface="微软雅黑"/>
                <a:cs typeface="微软雅黑"/>
              </a:rPr>
              <a:t>数据立方体聚集、维度归约、数据压缩、数值归约、离散化和</a:t>
            </a:r>
            <a:r>
              <a:rPr sz="1800" dirty="0">
                <a:latin typeface="微软雅黑"/>
                <a:cs typeface="微软雅黑"/>
              </a:rPr>
              <a:t> 概念分层等方法</a:t>
            </a:r>
          </a:p>
        </p:txBody>
      </p:sp>
      <p:sp>
        <p:nvSpPr>
          <p:cNvPr id="5" name="object 5"/>
          <p:cNvSpPr/>
          <p:nvPr/>
        </p:nvSpPr>
        <p:spPr>
          <a:xfrm>
            <a:off x="6493764" y="3976115"/>
            <a:ext cx="2043683" cy="19888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0964" y="3976115"/>
            <a:ext cx="3331464" cy="2348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3068" y="2435351"/>
            <a:ext cx="4794504" cy="3148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2033" y="1984884"/>
            <a:ext cx="13970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主要问题成因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24627" y="1984884"/>
            <a:ext cx="27686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微软雅黑"/>
                <a:cs typeface="微软雅黑"/>
              </a:rPr>
              <a:t>数据质量控制的一般性流程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7571" y="2435351"/>
            <a:ext cx="3253739" cy="3582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76843" y="2435351"/>
            <a:ext cx="704088" cy="3582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793800"/>
            <a:ext cx="2564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数据预处理</a:t>
            </a:r>
            <a:endParaRPr sz="4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93800"/>
            <a:ext cx="2564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数据预处理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556" y="2321319"/>
            <a:ext cx="207073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-220" dirty="0">
                <a:latin typeface="Segoe UI Symbol"/>
                <a:cs typeface="Segoe UI Symbol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数据质量衡量指标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556" y="3190968"/>
            <a:ext cx="2659380" cy="34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7" baseline="-32986" dirty="0">
                <a:latin typeface="微软雅黑"/>
                <a:cs typeface="微软雅黑"/>
              </a:rPr>
              <a:t>缺失数据比例=</a:t>
            </a:r>
            <a:r>
              <a:rPr sz="1600" u="heavy" spc="-400" dirty="0">
                <a:latin typeface="Times New Roman"/>
                <a:cs typeface="Times New Roman"/>
              </a:rPr>
              <a:t> </a:t>
            </a:r>
            <a:r>
              <a:rPr sz="1600" u="heavy" spc="-5" dirty="0">
                <a:latin typeface="微软雅黑"/>
                <a:cs typeface="微软雅黑"/>
              </a:rPr>
              <a:t>缺失数据总</a:t>
            </a:r>
            <a:r>
              <a:rPr sz="1600" u="heavy" spc="-395" dirty="0">
                <a:latin typeface="Times New Roman"/>
                <a:cs typeface="Times New Roman"/>
              </a:rPr>
              <a:t> </a:t>
            </a:r>
            <a:r>
              <a:rPr sz="1600" u="heavy" spc="-5" dirty="0">
                <a:latin typeface="微软雅黑"/>
                <a:cs typeface="微软雅黑"/>
              </a:rPr>
              <a:t>量</a:t>
            </a:r>
            <a:r>
              <a:rPr sz="1600" u="heavy" spc="-25" dirty="0"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7607" y="3443031"/>
            <a:ext cx="836294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微软雅黑"/>
                <a:cs typeface="微软雅黑"/>
              </a:rPr>
              <a:t>数据总量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556" y="3911820"/>
            <a:ext cx="2253615" cy="347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baseline="-32986" dirty="0">
                <a:latin typeface="微软雅黑"/>
                <a:cs typeface="微软雅黑"/>
              </a:rPr>
              <a:t>数据有效率</a:t>
            </a:r>
            <a:r>
              <a:rPr sz="2400" spc="-7" baseline="-32986" dirty="0">
                <a:latin typeface="微软雅黑"/>
                <a:cs typeface="微软雅黑"/>
              </a:rPr>
              <a:t>=</a:t>
            </a:r>
            <a:r>
              <a:rPr sz="1600" u="heavy" spc="-400" dirty="0">
                <a:latin typeface="Times New Roman"/>
                <a:cs typeface="Times New Roman"/>
              </a:rPr>
              <a:t> </a:t>
            </a:r>
            <a:r>
              <a:rPr sz="1600" u="heavy" spc="-5" dirty="0">
                <a:latin typeface="微软雅黑"/>
                <a:cs typeface="微软雅黑"/>
              </a:rPr>
              <a:t>有效数据量</a:t>
            </a:r>
            <a:r>
              <a:rPr sz="1600" u="heavy" spc="-10" dirty="0">
                <a:latin typeface="Times New Roman"/>
                <a:cs typeface="Times New Roman"/>
              </a:rPr>
              <a:t> 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4330" y="4163639"/>
            <a:ext cx="836294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微软雅黑"/>
                <a:cs typeface="微软雅黑"/>
              </a:rPr>
              <a:t>数据总量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1375" y="2321319"/>
            <a:ext cx="2069464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-220" dirty="0">
                <a:latin typeface="Segoe UI Symbol"/>
                <a:cs typeface="Segoe UI Symbol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错</a:t>
            </a:r>
            <a:r>
              <a:rPr sz="1800" b="1" spc="-5" dirty="0">
                <a:latin typeface="微软雅黑"/>
                <a:cs typeface="微软雅黑"/>
              </a:rPr>
              <a:t>误</a:t>
            </a:r>
            <a:r>
              <a:rPr sz="1800" b="1" dirty="0">
                <a:latin typeface="微软雅黑"/>
                <a:cs typeface="微软雅黑"/>
              </a:rPr>
              <a:t>数据判别方法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572000" y="2944114"/>
          <a:ext cx="4124970" cy="2255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205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类别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微软雅黑"/>
                          <a:cs typeface="微软雅黑"/>
                        </a:rPr>
                        <a:t>参数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微软雅黑"/>
                          <a:cs typeface="微软雅黑"/>
                        </a:rPr>
                        <a:t>方法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25400">
                      <a:solidFill>
                        <a:srgbClr val="000000"/>
                      </a:solidFill>
                      <a:prstDash val="solid"/>
                    </a:lnT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05">
                <a:tc>
                  <a:txBody>
                    <a:bodyPr/>
                    <a:lstStyle/>
                    <a:p>
                      <a:pPr marL="94615">
                        <a:lnSpc>
                          <a:spcPts val="165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阈值法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254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速度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254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应在0~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1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50Km/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之内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T w="254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246">
                <a:tc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流量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应与通行能力相匹配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918">
                <a:tc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微软雅黑"/>
                          <a:cs typeface="微软雅黑"/>
                        </a:rPr>
                        <a:t>距离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-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行程时间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86360" marR="135255" algn="just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根据路段距离设定行程 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时间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400" spc="-5" dirty="0">
                          <a:latin typeface="微软雅黑"/>
                          <a:cs typeface="微软雅黑"/>
                        </a:rPr>
                        <a:t>，实际时间在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0.5t 到10</a:t>
                      </a:r>
                      <a:r>
                        <a:rPr sz="1400" spc="5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之间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19">
                <a:tc row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微软雅黑"/>
                          <a:cs typeface="微软雅黑"/>
                        </a:rPr>
                        <a:t>交通流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机理法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0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不同时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段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速度</a:t>
                      </a:r>
                      <a:r>
                        <a:rPr sz="1400" spc="-15" dirty="0">
                          <a:latin typeface="微软雅黑"/>
                          <a:cs typeface="微软雅黑"/>
                        </a:rPr>
                        <a:t>阈值</a:t>
                      </a:r>
                      <a:r>
                        <a:rPr sz="1400" dirty="0">
                          <a:latin typeface="微软雅黑"/>
                          <a:cs typeface="微软雅黑"/>
                        </a:rPr>
                        <a:t>不同；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  <a:p>
                      <a:pPr marL="86360" marR="1657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不同时段不同速度区间 的数据权重不同。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15">
                <a:tc>
                  <a:txBody>
                    <a:bodyPr/>
                    <a:lstStyle/>
                    <a:p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微软雅黑"/>
                          <a:cs typeface="微软雅黑"/>
                        </a:rPr>
                        <a:t>速度-时间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54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261452" y="1948027"/>
            <a:ext cx="878756" cy="250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96298" y="1967988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0" y="181466"/>
                </a:moveTo>
                <a:lnTo>
                  <a:pt x="802901" y="181466"/>
                </a:lnTo>
                <a:lnTo>
                  <a:pt x="802901" y="0"/>
                </a:lnTo>
                <a:lnTo>
                  <a:pt x="0" y="0"/>
                </a:lnTo>
                <a:lnTo>
                  <a:pt x="0" y="181466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98401" y="1930944"/>
            <a:ext cx="604858" cy="2904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85712" y="2149455"/>
            <a:ext cx="1212215" cy="219075"/>
          </a:xfrm>
          <a:custGeom>
            <a:avLst/>
            <a:gdLst/>
            <a:ahLst/>
            <a:cxnLst/>
            <a:rect l="l" t="t" r="r" b="b"/>
            <a:pathLst>
              <a:path w="1212214" h="219075">
                <a:moveTo>
                  <a:pt x="1212074" y="0"/>
                </a:moveTo>
                <a:lnTo>
                  <a:pt x="1212074" y="96727"/>
                </a:lnTo>
                <a:lnTo>
                  <a:pt x="0" y="96727"/>
                </a:lnTo>
                <a:lnTo>
                  <a:pt x="0" y="218890"/>
                </a:lnTo>
              </a:path>
            </a:pathLst>
          </a:custGeom>
          <a:ln w="7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58931" y="236166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4562" y="2386491"/>
            <a:ext cx="776044" cy="2562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01812" y="2410658"/>
            <a:ext cx="698500" cy="180340"/>
          </a:xfrm>
          <a:custGeom>
            <a:avLst/>
            <a:gdLst/>
            <a:ahLst/>
            <a:cxnLst/>
            <a:rect l="l" t="t" r="r" b="b"/>
            <a:pathLst>
              <a:path w="698500" h="180339">
                <a:moveTo>
                  <a:pt x="0" y="179842"/>
                </a:moveTo>
                <a:lnTo>
                  <a:pt x="698188" y="179842"/>
                </a:lnTo>
                <a:lnTo>
                  <a:pt x="698188" y="0"/>
                </a:lnTo>
                <a:lnTo>
                  <a:pt x="0" y="0"/>
                </a:lnTo>
                <a:lnTo>
                  <a:pt x="0" y="179842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55862" y="2375102"/>
            <a:ext cx="599151" cy="2847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03092" y="2392185"/>
            <a:ext cx="770338" cy="2505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36568" y="2415122"/>
            <a:ext cx="698500" cy="175895"/>
          </a:xfrm>
          <a:custGeom>
            <a:avLst/>
            <a:gdLst/>
            <a:ahLst/>
            <a:cxnLst/>
            <a:rect l="l" t="t" r="r" b="b"/>
            <a:pathLst>
              <a:path w="698500" h="175894">
                <a:moveTo>
                  <a:pt x="0" y="175377"/>
                </a:moveTo>
                <a:lnTo>
                  <a:pt x="698188" y="175377"/>
                </a:lnTo>
                <a:lnTo>
                  <a:pt x="698188" y="0"/>
                </a:lnTo>
                <a:lnTo>
                  <a:pt x="0" y="0"/>
                </a:lnTo>
                <a:lnTo>
                  <a:pt x="0" y="175377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37329" y="2375102"/>
            <a:ext cx="707569" cy="2904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07102" y="2386491"/>
            <a:ext cx="770338" cy="2505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38828" y="2410643"/>
            <a:ext cx="698500" cy="175895"/>
          </a:xfrm>
          <a:custGeom>
            <a:avLst/>
            <a:gdLst/>
            <a:ahLst/>
            <a:cxnLst/>
            <a:rect l="l" t="t" r="r" b="b"/>
            <a:pathLst>
              <a:path w="698500" h="175894">
                <a:moveTo>
                  <a:pt x="0" y="175377"/>
                </a:moveTo>
                <a:lnTo>
                  <a:pt x="698188" y="175377"/>
                </a:lnTo>
                <a:lnTo>
                  <a:pt x="698188" y="0"/>
                </a:lnTo>
                <a:lnTo>
                  <a:pt x="0" y="0"/>
                </a:lnTo>
                <a:lnTo>
                  <a:pt x="0" y="175377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5633" y="2369408"/>
            <a:ext cx="707569" cy="2904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50903" y="2149455"/>
            <a:ext cx="2247265" cy="214629"/>
          </a:xfrm>
          <a:custGeom>
            <a:avLst/>
            <a:gdLst/>
            <a:ahLst/>
            <a:cxnLst/>
            <a:rect l="l" t="t" r="r" b="b"/>
            <a:pathLst>
              <a:path w="2247265" h="214630">
                <a:moveTo>
                  <a:pt x="2246883" y="0"/>
                </a:moveTo>
                <a:lnTo>
                  <a:pt x="2246883" y="96727"/>
                </a:lnTo>
                <a:lnTo>
                  <a:pt x="0" y="96727"/>
                </a:lnTo>
                <a:lnTo>
                  <a:pt x="0" y="214410"/>
                </a:lnTo>
              </a:path>
            </a:pathLst>
          </a:custGeom>
          <a:ln w="7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24122" y="235718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87896" y="2149455"/>
            <a:ext cx="10160" cy="214629"/>
          </a:xfrm>
          <a:custGeom>
            <a:avLst/>
            <a:gdLst/>
            <a:ahLst/>
            <a:cxnLst/>
            <a:rect l="l" t="t" r="r" b="b"/>
            <a:pathLst>
              <a:path w="10160" h="214630">
                <a:moveTo>
                  <a:pt x="9890" y="0"/>
                </a:moveTo>
                <a:lnTo>
                  <a:pt x="9890" y="130590"/>
                </a:lnTo>
                <a:lnTo>
                  <a:pt x="0" y="130590"/>
                </a:lnTo>
                <a:lnTo>
                  <a:pt x="0" y="214410"/>
                </a:lnTo>
              </a:path>
            </a:pathLst>
          </a:custGeom>
          <a:ln w="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61115" y="235718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30492" y="5951150"/>
            <a:ext cx="1512145" cy="3473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63284" y="5971452"/>
            <a:ext cx="1438275" cy="274955"/>
          </a:xfrm>
          <a:custGeom>
            <a:avLst/>
            <a:gdLst/>
            <a:ahLst/>
            <a:cxnLst/>
            <a:rect l="l" t="t" r="r" b="b"/>
            <a:pathLst>
              <a:path w="1438275" h="274954">
                <a:moveTo>
                  <a:pt x="0" y="274527"/>
                </a:moveTo>
                <a:lnTo>
                  <a:pt x="1437812" y="274527"/>
                </a:lnTo>
                <a:lnTo>
                  <a:pt x="1437812" y="0"/>
                </a:lnTo>
                <a:lnTo>
                  <a:pt x="0" y="0"/>
                </a:lnTo>
                <a:lnTo>
                  <a:pt x="0" y="274527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27215" y="5979622"/>
            <a:ext cx="918699" cy="2904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74445" y="2386491"/>
            <a:ext cx="873049" cy="2505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02976" y="2369408"/>
            <a:ext cx="815987" cy="2904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09981" y="2386491"/>
            <a:ext cx="992956" cy="2505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49924" y="2369408"/>
            <a:ext cx="918699" cy="29041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97787" y="2149455"/>
            <a:ext cx="909955" cy="214629"/>
          </a:xfrm>
          <a:custGeom>
            <a:avLst/>
            <a:gdLst/>
            <a:ahLst/>
            <a:cxnLst/>
            <a:rect l="l" t="t" r="r" b="b"/>
            <a:pathLst>
              <a:path w="909954" h="214630">
                <a:moveTo>
                  <a:pt x="0" y="0"/>
                </a:moveTo>
                <a:lnTo>
                  <a:pt x="0" y="96727"/>
                </a:lnTo>
                <a:lnTo>
                  <a:pt x="909797" y="96727"/>
                </a:lnTo>
                <a:lnTo>
                  <a:pt x="909797" y="214410"/>
                </a:lnTo>
              </a:path>
            </a:pathLst>
          </a:custGeom>
          <a:ln w="7593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80803" y="235718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97787" y="2149455"/>
            <a:ext cx="2110740" cy="214629"/>
          </a:xfrm>
          <a:custGeom>
            <a:avLst/>
            <a:gdLst/>
            <a:ahLst/>
            <a:cxnLst/>
            <a:rect l="l" t="t" r="r" b="b"/>
            <a:pathLst>
              <a:path w="2110740" h="214630">
                <a:moveTo>
                  <a:pt x="0" y="0"/>
                </a:moveTo>
                <a:lnTo>
                  <a:pt x="0" y="96727"/>
                </a:lnTo>
                <a:lnTo>
                  <a:pt x="2110155" y="96727"/>
                </a:lnTo>
                <a:lnTo>
                  <a:pt x="2110155" y="214410"/>
                </a:lnTo>
              </a:path>
            </a:pathLst>
          </a:custGeom>
          <a:ln w="759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81162" y="2357184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96422" y="2853426"/>
            <a:ext cx="1506515" cy="23916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832409" y="2873698"/>
            <a:ext cx="1438275" cy="165735"/>
          </a:xfrm>
          <a:custGeom>
            <a:avLst/>
            <a:gdLst/>
            <a:ahLst/>
            <a:cxnLst/>
            <a:rect l="l" t="t" r="r" b="b"/>
            <a:pathLst>
              <a:path w="1438275" h="165735">
                <a:moveTo>
                  <a:pt x="0" y="165667"/>
                </a:moveTo>
                <a:lnTo>
                  <a:pt x="1437812" y="165667"/>
                </a:lnTo>
                <a:lnTo>
                  <a:pt x="1437812" y="0"/>
                </a:lnTo>
                <a:lnTo>
                  <a:pt x="0" y="0"/>
                </a:lnTo>
                <a:lnTo>
                  <a:pt x="0" y="165667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44501" y="2830649"/>
            <a:ext cx="815987" cy="29041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96422" y="2853426"/>
            <a:ext cx="1506515" cy="124705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32409" y="2873698"/>
            <a:ext cx="1438275" cy="1174115"/>
          </a:xfrm>
          <a:custGeom>
            <a:avLst/>
            <a:gdLst/>
            <a:ahLst/>
            <a:cxnLst/>
            <a:rect l="l" t="t" r="r" b="b"/>
            <a:pathLst>
              <a:path w="1438275" h="1174114">
                <a:moveTo>
                  <a:pt x="0" y="1173715"/>
                </a:moveTo>
                <a:lnTo>
                  <a:pt x="1437812" y="1173715"/>
                </a:lnTo>
                <a:lnTo>
                  <a:pt x="1437812" y="0"/>
                </a:lnTo>
                <a:lnTo>
                  <a:pt x="0" y="0"/>
                </a:lnTo>
                <a:lnTo>
                  <a:pt x="0" y="1173715"/>
                </a:lnTo>
                <a:close/>
              </a:path>
            </a:pathLst>
          </a:custGeom>
          <a:ln w="57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82015" y="3098282"/>
            <a:ext cx="599151" cy="23916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82015" y="3075505"/>
            <a:ext cx="599151" cy="29041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82015" y="3525358"/>
            <a:ext cx="599151" cy="23916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17241" y="3549577"/>
            <a:ext cx="526415" cy="165735"/>
          </a:xfrm>
          <a:custGeom>
            <a:avLst/>
            <a:gdLst/>
            <a:ahLst/>
            <a:cxnLst/>
            <a:rect l="l" t="t" r="r" b="b"/>
            <a:pathLst>
              <a:path w="526414" h="165735">
                <a:moveTo>
                  <a:pt x="0" y="165667"/>
                </a:moveTo>
                <a:lnTo>
                  <a:pt x="526272" y="165667"/>
                </a:lnTo>
                <a:lnTo>
                  <a:pt x="526272" y="0"/>
                </a:lnTo>
                <a:lnTo>
                  <a:pt x="0" y="0"/>
                </a:lnTo>
                <a:lnTo>
                  <a:pt x="0" y="165667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82015" y="3508275"/>
            <a:ext cx="599151" cy="28471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23822" y="3291890"/>
            <a:ext cx="582033" cy="23916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59125" y="3311326"/>
            <a:ext cx="509270" cy="165735"/>
          </a:xfrm>
          <a:custGeom>
            <a:avLst/>
            <a:gdLst/>
            <a:ahLst/>
            <a:cxnLst/>
            <a:rect l="l" t="t" r="r" b="b"/>
            <a:pathLst>
              <a:path w="509270" h="165735">
                <a:moveTo>
                  <a:pt x="0" y="165667"/>
                </a:moveTo>
                <a:lnTo>
                  <a:pt x="508932" y="165667"/>
                </a:lnTo>
                <a:lnTo>
                  <a:pt x="508932" y="0"/>
                </a:lnTo>
                <a:lnTo>
                  <a:pt x="0" y="0"/>
                </a:lnTo>
                <a:lnTo>
                  <a:pt x="0" y="165667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8116" y="3269112"/>
            <a:ext cx="599151" cy="28471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23822" y="3531052"/>
            <a:ext cx="582033" cy="23916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59125" y="3550564"/>
            <a:ext cx="509270" cy="165735"/>
          </a:xfrm>
          <a:custGeom>
            <a:avLst/>
            <a:gdLst/>
            <a:ahLst/>
            <a:cxnLst/>
            <a:rect l="l" t="t" r="r" b="b"/>
            <a:pathLst>
              <a:path w="509270" h="165735">
                <a:moveTo>
                  <a:pt x="0" y="165667"/>
                </a:moveTo>
                <a:lnTo>
                  <a:pt x="508932" y="165667"/>
                </a:lnTo>
                <a:lnTo>
                  <a:pt x="508932" y="0"/>
                </a:lnTo>
                <a:lnTo>
                  <a:pt x="0" y="0"/>
                </a:lnTo>
                <a:lnTo>
                  <a:pt x="0" y="165667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618116" y="3508275"/>
            <a:ext cx="599151" cy="28471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23822" y="3792991"/>
            <a:ext cx="582033" cy="23916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659125" y="3815313"/>
            <a:ext cx="509270" cy="165735"/>
          </a:xfrm>
          <a:custGeom>
            <a:avLst/>
            <a:gdLst/>
            <a:ahLst/>
            <a:cxnLst/>
            <a:rect l="l" t="t" r="r" b="b"/>
            <a:pathLst>
              <a:path w="509270" h="165735">
                <a:moveTo>
                  <a:pt x="0" y="165667"/>
                </a:moveTo>
                <a:lnTo>
                  <a:pt x="508932" y="165667"/>
                </a:lnTo>
                <a:lnTo>
                  <a:pt x="508932" y="0"/>
                </a:lnTo>
                <a:lnTo>
                  <a:pt x="0" y="0"/>
                </a:lnTo>
                <a:lnTo>
                  <a:pt x="0" y="165667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618116" y="3770214"/>
            <a:ext cx="599151" cy="29041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406986" y="3343139"/>
            <a:ext cx="291016" cy="6092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443506" y="3372177"/>
            <a:ext cx="215900" cy="526415"/>
          </a:xfrm>
          <a:custGeom>
            <a:avLst/>
            <a:gdLst/>
            <a:ahLst/>
            <a:cxnLst/>
            <a:rect l="l" t="t" r="r" b="b"/>
            <a:pathLst>
              <a:path w="215900" h="526414">
                <a:moveTo>
                  <a:pt x="215618" y="525969"/>
                </a:moveTo>
                <a:lnTo>
                  <a:pt x="173215" y="501387"/>
                </a:lnTo>
                <a:lnTo>
                  <a:pt x="140804" y="475501"/>
                </a:lnTo>
                <a:lnTo>
                  <a:pt x="113639" y="439450"/>
                </a:lnTo>
                <a:lnTo>
                  <a:pt x="107809" y="260157"/>
                </a:lnTo>
                <a:lnTo>
                  <a:pt x="0" y="260157"/>
                </a:lnTo>
                <a:lnTo>
                  <a:pt x="107809" y="260157"/>
                </a:lnTo>
                <a:lnTo>
                  <a:pt x="107809" y="96616"/>
                </a:lnTo>
                <a:lnTo>
                  <a:pt x="110829" y="87356"/>
                </a:lnTo>
                <a:lnTo>
                  <a:pt x="134738" y="51058"/>
                </a:lnTo>
                <a:lnTo>
                  <a:pt x="164787" y="24910"/>
                </a:lnTo>
                <a:lnTo>
                  <a:pt x="190426" y="8148"/>
                </a:lnTo>
                <a:lnTo>
                  <a:pt x="204895" y="0"/>
                </a:lnTo>
              </a:path>
            </a:pathLst>
          </a:custGeom>
          <a:ln w="57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84675" y="3257724"/>
            <a:ext cx="935818" cy="67762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50438" y="3263418"/>
            <a:ext cx="952936" cy="67193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34618" y="3240641"/>
            <a:ext cx="1101298" cy="95095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69159" y="3263038"/>
            <a:ext cx="1025525" cy="876300"/>
          </a:xfrm>
          <a:custGeom>
            <a:avLst/>
            <a:gdLst/>
            <a:ahLst/>
            <a:cxnLst/>
            <a:rect l="l" t="t" r="r" b="b"/>
            <a:pathLst>
              <a:path w="1025525" h="876300">
                <a:moveTo>
                  <a:pt x="0" y="875864"/>
                </a:moveTo>
                <a:lnTo>
                  <a:pt x="1024987" y="875864"/>
                </a:lnTo>
                <a:lnTo>
                  <a:pt x="1024987" y="0"/>
                </a:lnTo>
                <a:lnTo>
                  <a:pt x="0" y="0"/>
                </a:lnTo>
                <a:lnTo>
                  <a:pt x="0" y="875864"/>
                </a:lnTo>
                <a:close/>
              </a:path>
            </a:pathLst>
          </a:custGeom>
          <a:ln w="57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000380" y="3257724"/>
            <a:ext cx="1101298" cy="92248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84675" y="2853426"/>
            <a:ext cx="935818" cy="41568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021583" y="2872863"/>
            <a:ext cx="859155" cy="345440"/>
          </a:xfrm>
          <a:custGeom>
            <a:avLst/>
            <a:gdLst/>
            <a:ahLst/>
            <a:cxnLst/>
            <a:rect l="l" t="t" r="r" b="b"/>
            <a:pathLst>
              <a:path w="859155" h="345439">
                <a:moveTo>
                  <a:pt x="0" y="345304"/>
                </a:moveTo>
                <a:lnTo>
                  <a:pt x="858670" y="345304"/>
                </a:lnTo>
                <a:lnTo>
                  <a:pt x="858670" y="0"/>
                </a:lnTo>
                <a:lnTo>
                  <a:pt x="0" y="0"/>
                </a:lnTo>
                <a:lnTo>
                  <a:pt x="0" y="345304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50438" y="2853426"/>
            <a:ext cx="741807" cy="41568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034618" y="2853426"/>
            <a:ext cx="1101298" cy="41568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069159" y="2872863"/>
            <a:ext cx="1025525" cy="345440"/>
          </a:xfrm>
          <a:custGeom>
            <a:avLst/>
            <a:gdLst/>
            <a:ahLst/>
            <a:cxnLst/>
            <a:rect l="l" t="t" r="r" b="b"/>
            <a:pathLst>
              <a:path w="1025525" h="345439">
                <a:moveTo>
                  <a:pt x="0" y="345304"/>
                </a:moveTo>
                <a:lnTo>
                  <a:pt x="1024987" y="345304"/>
                </a:lnTo>
                <a:lnTo>
                  <a:pt x="1024987" y="0"/>
                </a:lnTo>
                <a:lnTo>
                  <a:pt x="0" y="0"/>
                </a:lnTo>
                <a:lnTo>
                  <a:pt x="0" y="345304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000380" y="2853426"/>
            <a:ext cx="1055648" cy="41568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221509" y="2870509"/>
            <a:ext cx="935818" cy="41568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35940" y="793800"/>
            <a:ext cx="256476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数据预处理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474718" y="1991555"/>
            <a:ext cx="45402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dirty="0">
                <a:latin typeface="微软雅黑"/>
                <a:cs typeface="微软雅黑"/>
              </a:rPr>
              <a:t>交</a:t>
            </a:r>
            <a:r>
              <a:rPr sz="850" spc="-45" dirty="0">
                <a:latin typeface="微软雅黑"/>
                <a:cs typeface="微软雅黑"/>
              </a:rPr>
              <a:t>通</a:t>
            </a:r>
            <a:r>
              <a:rPr sz="850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225711" y="2433663"/>
            <a:ext cx="45402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流</a:t>
            </a:r>
            <a:r>
              <a:rPr sz="850" spc="-45" dirty="0">
                <a:latin typeface="微软雅黑"/>
                <a:cs typeface="微软雅黑"/>
              </a:rPr>
              <a:t>量</a:t>
            </a:r>
            <a:r>
              <a:rPr sz="850" spc="5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208168" y="2435941"/>
            <a:ext cx="56324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收</a:t>
            </a:r>
            <a:r>
              <a:rPr sz="850" spc="-45" dirty="0">
                <a:latin typeface="微软雅黑"/>
                <a:cs typeface="微软雅黑"/>
              </a:rPr>
              <a:t>费</a:t>
            </a:r>
            <a:r>
              <a:rPr sz="850" spc="5" dirty="0">
                <a:latin typeface="微软雅黑"/>
                <a:cs typeface="微软雅黑"/>
              </a:rPr>
              <a:t>站数据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411569" y="2431689"/>
            <a:ext cx="5626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dirty="0">
                <a:latin typeface="微软雅黑"/>
                <a:cs typeface="微软雅黑"/>
              </a:rPr>
              <a:t>气</a:t>
            </a:r>
            <a:r>
              <a:rPr sz="850" spc="-45" dirty="0">
                <a:latin typeface="微软雅黑"/>
                <a:cs typeface="微软雅黑"/>
              </a:rPr>
              <a:t>象</a:t>
            </a:r>
            <a:r>
              <a:rPr sz="850" dirty="0">
                <a:latin typeface="微软雅黑"/>
                <a:cs typeface="微软雅黑"/>
              </a:rPr>
              <a:t>站数据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68007" y="6045927"/>
            <a:ext cx="1104900" cy="47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3535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45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预</a:t>
            </a:r>
            <a:r>
              <a:rPr sz="850" dirty="0">
                <a:latin typeface="微软雅黑"/>
                <a:cs typeface="微软雅黑"/>
              </a:rPr>
              <a:t>处</a:t>
            </a:r>
            <a:r>
              <a:rPr sz="850" spc="-45" dirty="0">
                <a:latin typeface="微软雅黑"/>
                <a:cs typeface="微软雅黑"/>
              </a:rPr>
              <a:t>理</a:t>
            </a:r>
            <a:r>
              <a:rPr sz="850" spc="5" dirty="0">
                <a:latin typeface="微软雅黑"/>
                <a:cs typeface="微软雅黑"/>
              </a:rPr>
              <a:t>方法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15"/>
              </a:lnSpc>
              <a:spcBef>
                <a:spcPts val="685"/>
              </a:spcBef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缺</a:t>
            </a:r>
            <a:r>
              <a:rPr sz="850" spc="-45" dirty="0">
                <a:latin typeface="微软雅黑"/>
                <a:cs typeface="微软雅黑"/>
              </a:rPr>
              <a:t>失</a:t>
            </a:r>
            <a:r>
              <a:rPr sz="850" spc="5" dirty="0">
                <a:latin typeface="微软雅黑"/>
                <a:cs typeface="微软雅黑"/>
              </a:rPr>
              <a:t>数据</a:t>
            </a:r>
            <a:r>
              <a:rPr sz="850" spc="-45" dirty="0">
                <a:latin typeface="微软雅黑"/>
                <a:cs typeface="微软雅黑"/>
              </a:rPr>
              <a:t>弥</a:t>
            </a:r>
            <a:r>
              <a:rPr sz="850" spc="5" dirty="0">
                <a:latin typeface="微软雅黑"/>
                <a:cs typeface="微软雅黑"/>
              </a:rPr>
              <a:t>补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1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错</a:t>
            </a:r>
            <a:r>
              <a:rPr sz="850" spc="-45" dirty="0">
                <a:latin typeface="微软雅黑"/>
                <a:cs typeface="微软雅黑"/>
              </a:rPr>
              <a:t>误</a:t>
            </a:r>
            <a:r>
              <a:rPr sz="850" spc="5" dirty="0">
                <a:latin typeface="微软雅黑"/>
                <a:cs typeface="微软雅黑"/>
              </a:rPr>
              <a:t>数据</a:t>
            </a:r>
            <a:r>
              <a:rPr sz="850" spc="-45" dirty="0">
                <a:latin typeface="微软雅黑"/>
                <a:cs typeface="微软雅黑"/>
              </a:rPr>
              <a:t>修</a:t>
            </a:r>
            <a:r>
              <a:rPr sz="850" spc="5" dirty="0">
                <a:latin typeface="微软雅黑"/>
                <a:cs typeface="微软雅黑"/>
              </a:rPr>
              <a:t>复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206172" y="2410643"/>
            <a:ext cx="803275" cy="175895"/>
          </a:xfrm>
          <a:prstGeom prst="rect">
            <a:avLst/>
          </a:prstGeom>
          <a:ln w="5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ct val="100000"/>
              </a:lnSpc>
            </a:pPr>
            <a:r>
              <a:rPr sz="850" dirty="0">
                <a:latin typeface="微软雅黑"/>
                <a:cs typeface="微软雅黑"/>
              </a:rPr>
              <a:t>交</a:t>
            </a:r>
            <a:r>
              <a:rPr sz="850" spc="-45" dirty="0">
                <a:latin typeface="微软雅黑"/>
                <a:cs typeface="微软雅黑"/>
              </a:rPr>
              <a:t>通</a:t>
            </a:r>
            <a:r>
              <a:rPr sz="850" dirty="0">
                <a:latin typeface="微软雅黑"/>
                <a:cs typeface="微软雅黑"/>
              </a:rPr>
              <a:t>事故</a:t>
            </a:r>
            <a:r>
              <a:rPr sz="850" spc="-45" dirty="0">
                <a:latin typeface="微软雅黑"/>
                <a:cs typeface="微软雅黑"/>
              </a:rPr>
              <a:t>数</a:t>
            </a:r>
            <a:r>
              <a:rPr sz="850" dirty="0">
                <a:latin typeface="微软雅黑"/>
                <a:cs typeface="微软雅黑"/>
              </a:rPr>
              <a:t>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345663" y="2410643"/>
            <a:ext cx="924560" cy="175895"/>
          </a:xfrm>
          <a:prstGeom prst="rect">
            <a:avLst/>
          </a:prstGeom>
          <a:ln w="5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850" dirty="0">
                <a:latin typeface="微软雅黑"/>
                <a:cs typeface="微软雅黑"/>
              </a:rPr>
              <a:t>路</a:t>
            </a:r>
            <a:r>
              <a:rPr sz="850" spc="-30" dirty="0">
                <a:latin typeface="微软雅黑"/>
                <a:cs typeface="微软雅黑"/>
              </a:rPr>
              <a:t>网</a:t>
            </a:r>
            <a:r>
              <a:rPr sz="850" spc="-15" dirty="0">
                <a:latin typeface="微软雅黑"/>
                <a:cs typeface="微软雅黑"/>
              </a:rPr>
              <a:t>、</a:t>
            </a:r>
            <a:r>
              <a:rPr sz="850" dirty="0">
                <a:latin typeface="微软雅黑"/>
                <a:cs typeface="微软雅黑"/>
              </a:rPr>
              <a:t>设</a:t>
            </a:r>
            <a:r>
              <a:rPr sz="850" spc="-45" dirty="0">
                <a:latin typeface="微软雅黑"/>
                <a:cs typeface="微软雅黑"/>
              </a:rPr>
              <a:t>施</a:t>
            </a:r>
            <a:r>
              <a:rPr sz="850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223633" y="2890120"/>
            <a:ext cx="66484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45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质</a:t>
            </a:r>
            <a:r>
              <a:rPr sz="850" dirty="0">
                <a:latin typeface="微软雅黑"/>
                <a:cs typeface="微软雅黑"/>
              </a:rPr>
              <a:t>量</a:t>
            </a:r>
            <a:r>
              <a:rPr sz="850" spc="-45" dirty="0">
                <a:latin typeface="微软雅黑"/>
                <a:cs typeface="微软雅黑"/>
              </a:rPr>
              <a:t>分</a:t>
            </a:r>
            <a:r>
              <a:rPr sz="850" spc="5" dirty="0">
                <a:latin typeface="微软雅黑"/>
                <a:cs typeface="微软雅黑"/>
              </a:rPr>
              <a:t>类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917241" y="3120149"/>
            <a:ext cx="526415" cy="165735"/>
          </a:xfrm>
          <a:prstGeom prst="rect">
            <a:avLst/>
          </a:prstGeom>
          <a:ln w="570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435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正</a:t>
            </a:r>
            <a:r>
              <a:rPr sz="850" spc="-45" dirty="0">
                <a:latin typeface="微软雅黑"/>
                <a:cs typeface="微软雅黑"/>
              </a:rPr>
              <a:t>常</a:t>
            </a:r>
            <a:r>
              <a:rPr sz="850" spc="5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958941" y="3566835"/>
            <a:ext cx="45402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异</a:t>
            </a:r>
            <a:r>
              <a:rPr sz="850" spc="-45" dirty="0">
                <a:latin typeface="微软雅黑"/>
                <a:cs typeface="微软雅黑"/>
              </a:rPr>
              <a:t>常</a:t>
            </a:r>
            <a:r>
              <a:rPr sz="850" spc="5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92911" y="3328584"/>
            <a:ext cx="45339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dirty="0">
                <a:latin typeface="微软雅黑"/>
                <a:cs typeface="微软雅黑"/>
              </a:rPr>
              <a:t>丢</a:t>
            </a:r>
            <a:r>
              <a:rPr sz="850" spc="-50" dirty="0">
                <a:latin typeface="微软雅黑"/>
                <a:cs typeface="微软雅黑"/>
              </a:rPr>
              <a:t>失</a:t>
            </a:r>
            <a:r>
              <a:rPr sz="850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692911" y="3568126"/>
            <a:ext cx="45339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dirty="0">
                <a:latin typeface="微软雅黑"/>
                <a:cs typeface="微软雅黑"/>
              </a:rPr>
              <a:t>错</a:t>
            </a:r>
            <a:r>
              <a:rPr sz="850" spc="-50" dirty="0">
                <a:latin typeface="微软雅黑"/>
                <a:cs typeface="微软雅黑"/>
              </a:rPr>
              <a:t>误</a:t>
            </a:r>
            <a:r>
              <a:rPr sz="850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92911" y="3832950"/>
            <a:ext cx="454025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噪</a:t>
            </a:r>
            <a:r>
              <a:rPr sz="850" spc="-45" dirty="0">
                <a:latin typeface="微软雅黑"/>
                <a:cs typeface="微软雅黑"/>
              </a:rPr>
              <a:t>声</a:t>
            </a:r>
            <a:r>
              <a:rPr sz="850" spc="5" dirty="0">
                <a:latin typeface="微软雅黑"/>
                <a:cs typeface="微软雅黑"/>
              </a:rPr>
              <a:t>数据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021583" y="3279211"/>
            <a:ext cx="859155" cy="602615"/>
          </a:xfrm>
          <a:prstGeom prst="rect">
            <a:avLst/>
          </a:prstGeom>
          <a:ln w="570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5"/>
              </a:lnSpc>
            </a:pPr>
            <a:r>
              <a:rPr sz="850" spc="5" dirty="0">
                <a:latin typeface="微软雅黑"/>
                <a:cs typeface="微软雅黑"/>
              </a:rPr>
              <a:t>错</a:t>
            </a:r>
            <a:r>
              <a:rPr sz="850" spc="-45" dirty="0">
                <a:latin typeface="微软雅黑"/>
                <a:cs typeface="微软雅黑"/>
              </a:rPr>
              <a:t>误</a:t>
            </a: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10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：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0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车</a:t>
            </a:r>
            <a:r>
              <a:rPr sz="850" spc="-45" dirty="0">
                <a:latin typeface="微软雅黑"/>
                <a:cs typeface="微软雅黑"/>
              </a:rPr>
              <a:t>道</a:t>
            </a:r>
            <a:r>
              <a:rPr sz="850" spc="5" dirty="0">
                <a:latin typeface="微软雅黑"/>
                <a:cs typeface="微软雅黑"/>
              </a:rPr>
              <a:t>数错误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0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车</a:t>
            </a:r>
            <a:r>
              <a:rPr sz="850" spc="-45" dirty="0">
                <a:latin typeface="微软雅黑"/>
                <a:cs typeface="微软雅黑"/>
              </a:rPr>
              <a:t>道</a:t>
            </a:r>
            <a:r>
              <a:rPr sz="850" spc="5" dirty="0">
                <a:latin typeface="微软雅黑"/>
                <a:cs typeface="微软雅黑"/>
              </a:rPr>
              <a:t>编号</a:t>
            </a:r>
            <a:r>
              <a:rPr sz="850" spc="-45" dirty="0">
                <a:latin typeface="微软雅黑"/>
                <a:cs typeface="微软雅黑"/>
              </a:rPr>
              <a:t>错</a:t>
            </a:r>
            <a:r>
              <a:rPr sz="850" spc="5" dirty="0">
                <a:latin typeface="微软雅黑"/>
                <a:cs typeface="微软雅黑"/>
              </a:rPr>
              <a:t>误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1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45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重复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073121" y="3316056"/>
            <a:ext cx="955040" cy="77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5"/>
              </a:lnSpc>
            </a:pPr>
            <a:r>
              <a:rPr sz="850" spc="5" dirty="0">
                <a:latin typeface="微软雅黑"/>
                <a:cs typeface="微软雅黑"/>
              </a:rPr>
              <a:t>错</a:t>
            </a:r>
            <a:r>
              <a:rPr sz="850" spc="-45" dirty="0">
                <a:latin typeface="微软雅黑"/>
                <a:cs typeface="微软雅黑"/>
              </a:rPr>
              <a:t>误</a:t>
            </a: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10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：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0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时</a:t>
            </a:r>
            <a:r>
              <a:rPr sz="850" spc="-45" dirty="0">
                <a:latin typeface="微软雅黑"/>
                <a:cs typeface="微软雅黑"/>
              </a:rPr>
              <a:t>间</a:t>
            </a:r>
            <a:r>
              <a:rPr sz="850" spc="5" dirty="0">
                <a:latin typeface="微软雅黑"/>
                <a:cs typeface="微软雅黑"/>
              </a:rPr>
              <a:t>错误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0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收</a:t>
            </a:r>
            <a:r>
              <a:rPr sz="850" spc="-45" dirty="0">
                <a:latin typeface="微软雅黑"/>
                <a:cs typeface="微软雅黑"/>
              </a:rPr>
              <a:t>费</a:t>
            </a:r>
            <a:r>
              <a:rPr sz="850" spc="5" dirty="0">
                <a:latin typeface="微软雅黑"/>
                <a:cs typeface="微软雅黑"/>
              </a:rPr>
              <a:t>站编</a:t>
            </a:r>
            <a:r>
              <a:rPr sz="850" spc="-45" dirty="0">
                <a:latin typeface="微软雅黑"/>
                <a:cs typeface="微软雅黑"/>
              </a:rPr>
              <a:t>号</a:t>
            </a:r>
            <a:r>
              <a:rPr sz="850" spc="5" dirty="0">
                <a:latin typeface="微软雅黑"/>
                <a:cs typeface="微软雅黑"/>
              </a:rPr>
              <a:t>错误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0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微软雅黑"/>
                <a:cs typeface="微软雅黑"/>
              </a:rPr>
              <a:t>车</a:t>
            </a:r>
            <a:r>
              <a:rPr sz="850" spc="-45" dirty="0">
                <a:latin typeface="微软雅黑"/>
                <a:cs typeface="微软雅黑"/>
              </a:rPr>
              <a:t>道</a:t>
            </a:r>
            <a:r>
              <a:rPr sz="850" dirty="0">
                <a:latin typeface="微软雅黑"/>
                <a:cs typeface="微软雅黑"/>
              </a:rPr>
              <a:t>编号</a:t>
            </a:r>
            <a:r>
              <a:rPr sz="850" spc="-45" dirty="0">
                <a:latin typeface="微软雅黑"/>
                <a:cs typeface="微软雅黑"/>
              </a:rPr>
              <a:t>错</a:t>
            </a:r>
            <a:r>
              <a:rPr sz="850" dirty="0">
                <a:latin typeface="微软雅黑"/>
                <a:cs typeface="微软雅黑"/>
              </a:rPr>
              <a:t>误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0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微软雅黑"/>
                <a:cs typeface="微软雅黑"/>
              </a:rPr>
              <a:t>行</a:t>
            </a:r>
            <a:r>
              <a:rPr sz="850" spc="-45" dirty="0">
                <a:latin typeface="微软雅黑"/>
                <a:cs typeface="微软雅黑"/>
              </a:rPr>
              <a:t>程</a:t>
            </a:r>
            <a:r>
              <a:rPr sz="850" dirty="0">
                <a:latin typeface="微软雅黑"/>
                <a:cs typeface="微软雅黑"/>
              </a:rPr>
              <a:t>时</a:t>
            </a:r>
            <a:r>
              <a:rPr sz="850" spc="-15" dirty="0">
                <a:latin typeface="微软雅黑"/>
                <a:cs typeface="微软雅黑"/>
              </a:rPr>
              <a:t>间</a:t>
            </a:r>
            <a:r>
              <a:rPr sz="850" spc="-10" dirty="0">
                <a:latin typeface="微软雅黑"/>
                <a:cs typeface="微软雅黑"/>
              </a:rPr>
              <a:t>/</a:t>
            </a:r>
            <a:r>
              <a:rPr sz="850" dirty="0">
                <a:latin typeface="微软雅黑"/>
                <a:cs typeface="微软雅黑"/>
              </a:rPr>
              <a:t>行</a:t>
            </a:r>
            <a:r>
              <a:rPr sz="850" spc="-45" dirty="0">
                <a:latin typeface="微软雅黑"/>
                <a:cs typeface="微软雅黑"/>
              </a:rPr>
              <a:t>驶</a:t>
            </a:r>
            <a:r>
              <a:rPr sz="850" dirty="0">
                <a:latin typeface="微软雅黑"/>
                <a:cs typeface="微软雅黑"/>
              </a:rPr>
              <a:t>里</a:t>
            </a:r>
            <a:endParaRPr sz="850">
              <a:latin typeface="微软雅黑"/>
              <a:cs typeface="微软雅黑"/>
            </a:endParaRPr>
          </a:p>
          <a:p>
            <a:pPr marL="149225">
              <a:lnSpc>
                <a:spcPts val="1010"/>
              </a:lnSpc>
            </a:pPr>
            <a:r>
              <a:rPr sz="850" spc="-15" dirty="0">
                <a:latin typeface="微软雅黑"/>
                <a:cs typeface="微软雅黑"/>
              </a:rPr>
              <a:t>程</a:t>
            </a:r>
            <a:r>
              <a:rPr sz="850" spc="-10" dirty="0">
                <a:latin typeface="微软雅黑"/>
                <a:cs typeface="微软雅黑"/>
              </a:rPr>
              <a:t>/</a:t>
            </a:r>
            <a:r>
              <a:rPr sz="850" spc="5" dirty="0">
                <a:latin typeface="微软雅黑"/>
                <a:cs typeface="微软雅黑"/>
              </a:rPr>
              <a:t>行</a:t>
            </a:r>
            <a:r>
              <a:rPr sz="850" spc="-45" dirty="0">
                <a:latin typeface="微软雅黑"/>
                <a:cs typeface="微软雅黑"/>
              </a:rPr>
              <a:t>程</a:t>
            </a:r>
            <a:r>
              <a:rPr sz="850" spc="5" dirty="0">
                <a:latin typeface="微软雅黑"/>
                <a:cs typeface="微软雅黑"/>
              </a:rPr>
              <a:t>车速</a:t>
            </a:r>
            <a:r>
              <a:rPr sz="850" spc="-45" dirty="0">
                <a:latin typeface="微软雅黑"/>
                <a:cs typeface="微软雅黑"/>
              </a:rPr>
              <a:t>错</a:t>
            </a:r>
            <a:r>
              <a:rPr sz="850" spc="5" dirty="0">
                <a:latin typeface="微软雅黑"/>
                <a:cs typeface="微软雅黑"/>
              </a:rPr>
              <a:t>误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950415" y="2805670"/>
            <a:ext cx="970915" cy="1174115"/>
          </a:xfrm>
          <a:prstGeom prst="rect">
            <a:avLst/>
          </a:prstGeom>
          <a:ln w="57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1015"/>
              </a:lnSpc>
            </a:pPr>
            <a:r>
              <a:rPr sz="850" spc="5" dirty="0">
                <a:latin typeface="微软雅黑"/>
                <a:cs typeface="微软雅黑"/>
              </a:rPr>
              <a:t>缺</a:t>
            </a:r>
            <a:r>
              <a:rPr sz="850" spc="-45" dirty="0">
                <a:latin typeface="微软雅黑"/>
                <a:cs typeface="微软雅黑"/>
              </a:rPr>
              <a:t>失</a:t>
            </a: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10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：</a:t>
            </a:r>
            <a:endParaRPr sz="850">
              <a:latin typeface="微软雅黑"/>
              <a:cs typeface="微软雅黑"/>
            </a:endParaRPr>
          </a:p>
          <a:p>
            <a:pPr marL="83820">
              <a:lnSpc>
                <a:spcPts val="101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记</a:t>
            </a:r>
            <a:r>
              <a:rPr sz="850" spc="-45" dirty="0">
                <a:latin typeface="微软雅黑"/>
                <a:cs typeface="微软雅黑"/>
              </a:rPr>
              <a:t>录</a:t>
            </a:r>
            <a:r>
              <a:rPr sz="850" spc="5" dirty="0">
                <a:latin typeface="微软雅黑"/>
                <a:cs typeface="微软雅黑"/>
              </a:rPr>
              <a:t>缺失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073121" y="2915403"/>
            <a:ext cx="911225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5"/>
              </a:lnSpc>
            </a:pPr>
            <a:r>
              <a:rPr sz="850" spc="5" dirty="0">
                <a:latin typeface="微软雅黑"/>
                <a:cs typeface="微软雅黑"/>
              </a:rPr>
              <a:t>缺</a:t>
            </a:r>
            <a:r>
              <a:rPr sz="850" spc="-45" dirty="0">
                <a:latin typeface="微软雅黑"/>
                <a:cs typeface="微软雅黑"/>
              </a:rPr>
              <a:t>失</a:t>
            </a: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10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：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1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车</a:t>
            </a:r>
            <a:r>
              <a:rPr sz="850" spc="-25" dirty="0">
                <a:latin typeface="微软雅黑"/>
                <a:cs typeface="微软雅黑"/>
              </a:rPr>
              <a:t>型</a:t>
            </a:r>
            <a:r>
              <a:rPr sz="850" spc="-15" dirty="0">
                <a:latin typeface="微软雅黑"/>
                <a:cs typeface="微软雅黑"/>
              </a:rPr>
              <a:t>、</a:t>
            </a:r>
            <a:r>
              <a:rPr sz="850" spc="5" dirty="0">
                <a:latin typeface="微软雅黑"/>
                <a:cs typeface="微软雅黑"/>
              </a:rPr>
              <a:t>卡</a:t>
            </a:r>
            <a:r>
              <a:rPr sz="850" spc="-45" dirty="0">
                <a:latin typeface="微软雅黑"/>
                <a:cs typeface="微软雅黑"/>
              </a:rPr>
              <a:t>号</a:t>
            </a:r>
            <a:r>
              <a:rPr sz="850" spc="5" dirty="0">
                <a:latin typeface="微软雅黑"/>
                <a:cs typeface="微软雅黑"/>
              </a:rPr>
              <a:t>缺失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258561" y="2890857"/>
            <a:ext cx="859155" cy="345440"/>
          </a:xfrm>
          <a:custGeom>
            <a:avLst/>
            <a:gdLst/>
            <a:ahLst/>
            <a:cxnLst/>
            <a:rect l="l" t="t" r="r" b="b"/>
            <a:pathLst>
              <a:path w="859154" h="345439">
                <a:moveTo>
                  <a:pt x="0" y="345304"/>
                </a:moveTo>
                <a:lnTo>
                  <a:pt x="858670" y="345304"/>
                </a:lnTo>
                <a:lnTo>
                  <a:pt x="858670" y="0"/>
                </a:lnTo>
                <a:lnTo>
                  <a:pt x="0" y="0"/>
                </a:lnTo>
                <a:lnTo>
                  <a:pt x="0" y="345304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187271" y="2870509"/>
            <a:ext cx="741807" cy="42138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202640" y="2805738"/>
            <a:ext cx="970915" cy="516890"/>
          </a:xfrm>
          <a:prstGeom prst="rect">
            <a:avLst/>
          </a:prstGeom>
          <a:ln w="570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0485">
              <a:lnSpc>
                <a:spcPts val="1015"/>
              </a:lnSpc>
            </a:pPr>
            <a:r>
              <a:rPr sz="850" spc="5" dirty="0">
                <a:latin typeface="微软雅黑"/>
                <a:cs typeface="微软雅黑"/>
              </a:rPr>
              <a:t>缺</a:t>
            </a:r>
            <a:r>
              <a:rPr sz="850" spc="-45" dirty="0">
                <a:latin typeface="微软雅黑"/>
                <a:cs typeface="微软雅黑"/>
              </a:rPr>
              <a:t>失</a:t>
            </a: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15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：</a:t>
            </a:r>
            <a:endParaRPr sz="850">
              <a:latin typeface="微软雅黑"/>
              <a:cs typeface="微软雅黑"/>
            </a:endParaRPr>
          </a:p>
          <a:p>
            <a:pPr marL="70485">
              <a:lnSpc>
                <a:spcPts val="101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记</a:t>
            </a:r>
            <a:r>
              <a:rPr sz="850" spc="-45" dirty="0">
                <a:latin typeface="微软雅黑"/>
                <a:cs typeface="微软雅黑"/>
              </a:rPr>
              <a:t>录</a:t>
            </a:r>
            <a:r>
              <a:rPr sz="850" spc="5" dirty="0">
                <a:latin typeface="微软雅黑"/>
                <a:cs typeface="微软雅黑"/>
              </a:rPr>
              <a:t>缺失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916201" y="2785094"/>
            <a:ext cx="1044236" cy="124705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954731" y="2785094"/>
            <a:ext cx="1232541" cy="146913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990261" y="2805746"/>
            <a:ext cx="1158875" cy="1398905"/>
          </a:xfrm>
          <a:custGeom>
            <a:avLst/>
            <a:gdLst/>
            <a:ahLst/>
            <a:cxnLst/>
            <a:rect l="l" t="t" r="r" b="b"/>
            <a:pathLst>
              <a:path w="1158875" h="1398904">
                <a:moveTo>
                  <a:pt x="0" y="1398907"/>
                </a:moveTo>
                <a:lnTo>
                  <a:pt x="1158512" y="1398907"/>
                </a:lnTo>
                <a:lnTo>
                  <a:pt x="1158512" y="0"/>
                </a:lnTo>
                <a:lnTo>
                  <a:pt x="0" y="0"/>
                </a:lnTo>
                <a:lnTo>
                  <a:pt x="0" y="1398907"/>
                </a:lnTo>
                <a:close/>
              </a:path>
            </a:pathLst>
          </a:custGeom>
          <a:ln w="57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170153" y="2785094"/>
            <a:ext cx="1044236" cy="58651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450903" y="2590500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476"/>
                </a:lnTo>
              </a:path>
            </a:pathLst>
          </a:custGeom>
          <a:ln w="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424122" y="275229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485712" y="2590500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476"/>
                </a:lnTo>
              </a:path>
            </a:pathLst>
          </a:custGeom>
          <a:ln w="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458931" y="275229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687896" y="2586020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5">
                <a:moveTo>
                  <a:pt x="0" y="0"/>
                </a:moveTo>
                <a:lnTo>
                  <a:pt x="0" y="172955"/>
                </a:lnTo>
              </a:path>
            </a:pathLst>
          </a:custGeom>
          <a:ln w="7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661115" y="2752295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0"/>
                </a:lnTo>
                <a:lnTo>
                  <a:pt x="26781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930492" y="6224478"/>
            <a:ext cx="1512145" cy="35874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963284" y="6245980"/>
            <a:ext cx="1438275" cy="285750"/>
          </a:xfrm>
          <a:custGeom>
            <a:avLst/>
            <a:gdLst/>
            <a:ahLst/>
            <a:cxnLst/>
            <a:rect l="l" t="t" r="r" b="b"/>
            <a:pathLst>
              <a:path w="1438275" h="285750">
                <a:moveTo>
                  <a:pt x="0" y="285658"/>
                </a:moveTo>
                <a:lnTo>
                  <a:pt x="1437812" y="285658"/>
                </a:lnTo>
                <a:lnTo>
                  <a:pt x="1437812" y="0"/>
                </a:lnTo>
                <a:lnTo>
                  <a:pt x="0" y="0"/>
                </a:lnTo>
                <a:lnTo>
                  <a:pt x="0" y="285658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896255" y="6196003"/>
            <a:ext cx="947230" cy="42138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847726" y="2676902"/>
            <a:ext cx="3435137" cy="160010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884231" y="2698085"/>
            <a:ext cx="3358515" cy="1528445"/>
          </a:xfrm>
          <a:custGeom>
            <a:avLst/>
            <a:gdLst/>
            <a:ahLst/>
            <a:cxnLst/>
            <a:rect l="l" t="t" r="r" b="b"/>
            <a:pathLst>
              <a:path w="3358515" h="1528445">
                <a:moveTo>
                  <a:pt x="0" y="1528054"/>
                </a:moveTo>
                <a:lnTo>
                  <a:pt x="3358369" y="1528054"/>
                </a:lnTo>
                <a:lnTo>
                  <a:pt x="3358369" y="0"/>
                </a:lnTo>
                <a:lnTo>
                  <a:pt x="0" y="0"/>
                </a:lnTo>
                <a:lnTo>
                  <a:pt x="0" y="1528054"/>
                </a:lnTo>
                <a:close/>
              </a:path>
            </a:pathLst>
          </a:custGeom>
          <a:ln w="570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89482" y="3461315"/>
            <a:ext cx="542925" cy="0"/>
          </a:xfrm>
          <a:custGeom>
            <a:avLst/>
            <a:gdLst/>
            <a:ahLst/>
            <a:cxnLst/>
            <a:rect l="l" t="t" r="r" b="b"/>
            <a:pathLst>
              <a:path w="542925">
                <a:moveTo>
                  <a:pt x="0" y="0"/>
                </a:moveTo>
                <a:lnTo>
                  <a:pt x="54292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242616" y="3435387"/>
            <a:ext cx="53975" cy="53975"/>
          </a:xfrm>
          <a:custGeom>
            <a:avLst/>
            <a:gdLst/>
            <a:ahLst/>
            <a:cxnLst/>
            <a:rect l="l" t="t" r="r" b="b"/>
            <a:pathLst>
              <a:path w="53975" h="53975">
                <a:moveTo>
                  <a:pt x="53562" y="0"/>
                </a:moveTo>
                <a:lnTo>
                  <a:pt x="0" y="26725"/>
                </a:lnTo>
                <a:lnTo>
                  <a:pt x="53562" y="53450"/>
                </a:lnTo>
                <a:lnTo>
                  <a:pt x="53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83788" y="4226140"/>
            <a:ext cx="0" cy="166370"/>
          </a:xfrm>
          <a:custGeom>
            <a:avLst/>
            <a:gdLst/>
            <a:ahLst/>
            <a:cxnLst/>
            <a:rect l="l" t="t" r="r" b="b"/>
            <a:pathLst>
              <a:path h="166370">
                <a:moveTo>
                  <a:pt x="0" y="0"/>
                </a:moveTo>
                <a:lnTo>
                  <a:pt x="0" y="165894"/>
                </a:lnTo>
              </a:path>
            </a:pathLst>
          </a:custGeom>
          <a:ln w="57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658909" y="4385809"/>
            <a:ext cx="50165" cy="74930"/>
          </a:xfrm>
          <a:custGeom>
            <a:avLst/>
            <a:gdLst/>
            <a:ahLst/>
            <a:cxnLst/>
            <a:rect l="l" t="t" r="r" b="b"/>
            <a:pathLst>
              <a:path w="50164" h="74929">
                <a:moveTo>
                  <a:pt x="49758" y="0"/>
                </a:moveTo>
                <a:lnTo>
                  <a:pt x="0" y="0"/>
                </a:lnTo>
                <a:lnTo>
                  <a:pt x="24879" y="74481"/>
                </a:lnTo>
                <a:lnTo>
                  <a:pt x="49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682190" y="5793448"/>
            <a:ext cx="1905" cy="114935"/>
          </a:xfrm>
          <a:custGeom>
            <a:avLst/>
            <a:gdLst/>
            <a:ahLst/>
            <a:cxnLst/>
            <a:rect l="l" t="t" r="r" b="b"/>
            <a:pathLst>
              <a:path w="1904" h="114935">
                <a:moveTo>
                  <a:pt x="1597" y="0"/>
                </a:moveTo>
                <a:lnTo>
                  <a:pt x="1597" y="80707"/>
                </a:lnTo>
                <a:lnTo>
                  <a:pt x="0" y="80707"/>
                </a:lnTo>
                <a:lnTo>
                  <a:pt x="0" y="114342"/>
                </a:lnTo>
              </a:path>
            </a:pathLst>
          </a:custGeom>
          <a:ln w="57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57311" y="5901640"/>
            <a:ext cx="50165" cy="74930"/>
          </a:xfrm>
          <a:custGeom>
            <a:avLst/>
            <a:gdLst/>
            <a:ahLst/>
            <a:cxnLst/>
            <a:rect l="l" t="t" r="r" b="b"/>
            <a:pathLst>
              <a:path w="50164" h="74929">
                <a:moveTo>
                  <a:pt x="49758" y="0"/>
                </a:moveTo>
                <a:lnTo>
                  <a:pt x="0" y="0"/>
                </a:lnTo>
                <a:lnTo>
                  <a:pt x="24879" y="74443"/>
                </a:lnTo>
                <a:lnTo>
                  <a:pt x="49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234335" y="4709778"/>
            <a:ext cx="2904459" cy="113317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270094" y="4732708"/>
            <a:ext cx="2827655" cy="1061085"/>
          </a:xfrm>
          <a:custGeom>
            <a:avLst/>
            <a:gdLst/>
            <a:ahLst/>
            <a:cxnLst/>
            <a:rect l="l" t="t" r="r" b="b"/>
            <a:pathLst>
              <a:path w="2827654" h="1061085">
                <a:moveTo>
                  <a:pt x="0" y="1060740"/>
                </a:moveTo>
                <a:lnTo>
                  <a:pt x="2827387" y="1060740"/>
                </a:lnTo>
                <a:lnTo>
                  <a:pt x="2827387" y="0"/>
                </a:lnTo>
                <a:lnTo>
                  <a:pt x="0" y="0"/>
                </a:lnTo>
                <a:lnTo>
                  <a:pt x="0" y="1060740"/>
                </a:lnTo>
                <a:close/>
              </a:path>
            </a:pathLst>
          </a:custGeom>
          <a:ln w="57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200098" y="4800888"/>
            <a:ext cx="2944403" cy="95095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234335" y="4436450"/>
            <a:ext cx="2904459" cy="35304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270094" y="4460306"/>
            <a:ext cx="2827655" cy="274955"/>
          </a:xfrm>
          <a:custGeom>
            <a:avLst/>
            <a:gdLst/>
            <a:ahLst/>
            <a:cxnLst/>
            <a:rect l="l" t="t" r="r" b="b"/>
            <a:pathLst>
              <a:path w="2827654" h="274954">
                <a:moveTo>
                  <a:pt x="0" y="274527"/>
                </a:moveTo>
                <a:lnTo>
                  <a:pt x="2827387" y="274527"/>
                </a:lnTo>
                <a:lnTo>
                  <a:pt x="2827387" y="0"/>
                </a:lnTo>
                <a:lnTo>
                  <a:pt x="0" y="0"/>
                </a:lnTo>
                <a:lnTo>
                  <a:pt x="0" y="274527"/>
                </a:lnTo>
                <a:close/>
              </a:path>
            </a:pathLst>
          </a:custGeom>
          <a:ln w="5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170153" y="4470617"/>
            <a:ext cx="1027117" cy="29041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3309739" y="4533125"/>
            <a:ext cx="2762885" cy="1127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spc="5" dirty="0">
                <a:latin typeface="微软雅黑"/>
                <a:cs typeface="微软雅黑"/>
              </a:rPr>
              <a:t>数</a:t>
            </a:r>
            <a:r>
              <a:rPr sz="850" spc="-45" dirty="0">
                <a:latin typeface="微软雅黑"/>
                <a:cs typeface="微软雅黑"/>
              </a:rPr>
              <a:t>据</a:t>
            </a:r>
            <a:r>
              <a:rPr sz="850" spc="5" dirty="0">
                <a:latin typeface="微软雅黑"/>
                <a:cs typeface="微软雅黑"/>
              </a:rPr>
              <a:t>质</a:t>
            </a:r>
            <a:r>
              <a:rPr sz="850" dirty="0">
                <a:latin typeface="微软雅黑"/>
                <a:cs typeface="微软雅黑"/>
              </a:rPr>
              <a:t>量</a:t>
            </a:r>
            <a:r>
              <a:rPr sz="850" spc="-45" dirty="0">
                <a:latin typeface="微软雅黑"/>
                <a:cs typeface="微软雅黑"/>
              </a:rPr>
              <a:t>检</a:t>
            </a:r>
            <a:r>
              <a:rPr sz="850" spc="5" dirty="0">
                <a:latin typeface="微软雅黑"/>
                <a:cs typeface="微软雅黑"/>
              </a:rPr>
              <a:t>测</a:t>
            </a:r>
            <a:r>
              <a:rPr sz="850" dirty="0">
                <a:latin typeface="微软雅黑"/>
                <a:cs typeface="微软雅黑"/>
              </a:rPr>
              <a:t>方</a:t>
            </a:r>
            <a:r>
              <a:rPr sz="850" spc="5" dirty="0">
                <a:latin typeface="微软雅黑"/>
                <a:cs typeface="微软雅黑"/>
              </a:rPr>
              <a:t>法</a:t>
            </a:r>
            <a:endParaRPr sz="8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1015"/>
              </a:lnSpc>
              <a:spcBef>
                <a:spcPts val="665"/>
              </a:spcBef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spc="5" dirty="0">
                <a:latin typeface="微软雅黑"/>
                <a:cs typeface="微软雅黑"/>
              </a:rPr>
              <a:t>阈</a:t>
            </a:r>
            <a:r>
              <a:rPr sz="850" spc="-45" dirty="0">
                <a:latin typeface="微软雅黑"/>
                <a:cs typeface="微软雅黑"/>
              </a:rPr>
              <a:t>值</a:t>
            </a:r>
            <a:r>
              <a:rPr sz="850" spc="5" dirty="0">
                <a:latin typeface="微软雅黑"/>
                <a:cs typeface="微软雅黑"/>
              </a:rPr>
              <a:t>法</a:t>
            </a:r>
            <a:endParaRPr sz="850">
              <a:latin typeface="微软雅黑"/>
              <a:cs typeface="微软雅黑"/>
            </a:endParaRPr>
          </a:p>
          <a:p>
            <a:pPr marL="339090">
              <a:lnSpc>
                <a:spcPts val="1005"/>
              </a:lnSpc>
            </a:pPr>
            <a:r>
              <a:rPr sz="850" spc="5" dirty="0">
                <a:latin typeface="微软雅黑"/>
                <a:cs typeface="微软雅黑"/>
              </a:rPr>
              <a:t>参</a:t>
            </a:r>
            <a:r>
              <a:rPr sz="850" spc="-30" dirty="0">
                <a:latin typeface="微软雅黑"/>
                <a:cs typeface="微软雅黑"/>
              </a:rPr>
              <a:t>数</a:t>
            </a:r>
            <a:r>
              <a:rPr sz="850" spc="-15" dirty="0">
                <a:latin typeface="微软雅黑"/>
                <a:cs typeface="微软雅黑"/>
              </a:rPr>
              <a:t>：</a:t>
            </a:r>
            <a:r>
              <a:rPr sz="850" spc="5" dirty="0">
                <a:latin typeface="微软雅黑"/>
                <a:cs typeface="微软雅黑"/>
              </a:rPr>
              <a:t>速</a:t>
            </a:r>
            <a:r>
              <a:rPr sz="850" spc="-30" dirty="0">
                <a:latin typeface="微软雅黑"/>
                <a:cs typeface="微软雅黑"/>
              </a:rPr>
              <a:t>度</a:t>
            </a:r>
            <a:r>
              <a:rPr sz="850" spc="-10" dirty="0">
                <a:latin typeface="微软雅黑"/>
                <a:cs typeface="微软雅黑"/>
              </a:rPr>
              <a:t>、</a:t>
            </a:r>
            <a:r>
              <a:rPr sz="850" spc="5" dirty="0">
                <a:latin typeface="微软雅黑"/>
                <a:cs typeface="微软雅黑"/>
              </a:rPr>
              <a:t>行</a:t>
            </a:r>
            <a:r>
              <a:rPr sz="850" spc="-45" dirty="0">
                <a:latin typeface="微软雅黑"/>
                <a:cs typeface="微软雅黑"/>
              </a:rPr>
              <a:t>程</a:t>
            </a:r>
            <a:r>
              <a:rPr sz="850" spc="5" dirty="0">
                <a:latin typeface="微软雅黑"/>
                <a:cs typeface="微软雅黑"/>
              </a:rPr>
              <a:t>时</a:t>
            </a:r>
            <a:r>
              <a:rPr sz="850" spc="-10" dirty="0">
                <a:latin typeface="微软雅黑"/>
                <a:cs typeface="微软雅黑"/>
              </a:rPr>
              <a:t>间</a:t>
            </a:r>
            <a:r>
              <a:rPr sz="850" spc="-15" dirty="0">
                <a:latin typeface="微软雅黑"/>
                <a:cs typeface="微软雅黑"/>
              </a:rPr>
              <a:t>、</a:t>
            </a:r>
            <a:r>
              <a:rPr sz="850" dirty="0">
                <a:latin typeface="微软雅黑"/>
                <a:cs typeface="微软雅黑"/>
              </a:rPr>
              <a:t>流</a:t>
            </a:r>
            <a:r>
              <a:rPr sz="850" spc="-25" dirty="0">
                <a:latin typeface="微软雅黑"/>
                <a:cs typeface="微软雅黑"/>
              </a:rPr>
              <a:t>量</a:t>
            </a:r>
            <a:r>
              <a:rPr sz="850" spc="-15" dirty="0">
                <a:latin typeface="微软雅黑"/>
                <a:cs typeface="微软雅黑"/>
              </a:rPr>
              <a:t>、</a:t>
            </a:r>
            <a:r>
              <a:rPr sz="850" spc="5" dirty="0">
                <a:latin typeface="微软雅黑"/>
                <a:cs typeface="微软雅黑"/>
              </a:rPr>
              <a:t>里</a:t>
            </a:r>
            <a:r>
              <a:rPr sz="850" spc="-30" dirty="0">
                <a:latin typeface="微软雅黑"/>
                <a:cs typeface="微软雅黑"/>
              </a:rPr>
              <a:t>程</a:t>
            </a:r>
            <a:r>
              <a:rPr sz="850" spc="-15" dirty="0">
                <a:latin typeface="微软雅黑"/>
                <a:cs typeface="微软雅黑"/>
              </a:rPr>
              <a:t>；</a:t>
            </a:r>
            <a:r>
              <a:rPr sz="850" dirty="0">
                <a:latin typeface="微软雅黑"/>
                <a:cs typeface="微软雅黑"/>
              </a:rPr>
              <a:t>温</a:t>
            </a:r>
            <a:r>
              <a:rPr sz="850" spc="-25" dirty="0">
                <a:latin typeface="微软雅黑"/>
                <a:cs typeface="微软雅黑"/>
              </a:rPr>
              <a:t>度</a:t>
            </a:r>
            <a:r>
              <a:rPr sz="850" spc="-15" dirty="0">
                <a:latin typeface="微软雅黑"/>
                <a:cs typeface="微软雅黑"/>
              </a:rPr>
              <a:t>、</a:t>
            </a:r>
            <a:r>
              <a:rPr sz="850" dirty="0">
                <a:latin typeface="微软雅黑"/>
                <a:cs typeface="微软雅黑"/>
              </a:rPr>
              <a:t>降雨</a:t>
            </a:r>
            <a:endParaRPr sz="850">
              <a:latin typeface="微软雅黑"/>
              <a:cs typeface="微软雅黑"/>
            </a:endParaRPr>
          </a:p>
          <a:p>
            <a:pPr marR="2176780" algn="ctr">
              <a:lnSpc>
                <a:spcPts val="1005"/>
              </a:lnSpc>
            </a:pPr>
            <a:r>
              <a:rPr sz="850" spc="-15" dirty="0">
                <a:latin typeface="微软雅黑"/>
                <a:cs typeface="微软雅黑"/>
              </a:rPr>
              <a:t>量</a:t>
            </a:r>
            <a:r>
              <a:rPr sz="850" spc="420" dirty="0">
                <a:latin typeface="微软雅黑"/>
                <a:cs typeface="微软雅黑"/>
              </a:rPr>
              <a:t>  </a:t>
            </a:r>
            <a:endParaRPr sz="850">
              <a:latin typeface="微软雅黑"/>
              <a:cs typeface="微软雅黑"/>
            </a:endParaRPr>
          </a:p>
          <a:p>
            <a:pPr marL="339090">
              <a:lnSpc>
                <a:spcPts val="1005"/>
              </a:lnSpc>
            </a:pPr>
            <a:r>
              <a:rPr sz="850" dirty="0">
                <a:latin typeface="微软雅黑"/>
                <a:cs typeface="微软雅黑"/>
              </a:rPr>
              <a:t>编</a:t>
            </a:r>
            <a:r>
              <a:rPr sz="850" spc="-45" dirty="0">
                <a:latin typeface="微软雅黑"/>
                <a:cs typeface="微软雅黑"/>
              </a:rPr>
              <a:t>号</a:t>
            </a:r>
            <a:r>
              <a:rPr sz="850" dirty="0">
                <a:latin typeface="微软雅黑"/>
                <a:cs typeface="微软雅黑"/>
              </a:rPr>
              <a:t>命名</a:t>
            </a:r>
            <a:r>
              <a:rPr sz="850" spc="-45" dirty="0">
                <a:latin typeface="微软雅黑"/>
                <a:cs typeface="微软雅黑"/>
              </a:rPr>
              <a:t>规</a:t>
            </a:r>
            <a:r>
              <a:rPr sz="850" spc="-5" dirty="0">
                <a:latin typeface="微软雅黑"/>
                <a:cs typeface="微软雅黑"/>
              </a:rPr>
              <a:t>则</a:t>
            </a:r>
            <a:r>
              <a:rPr sz="850" spc="-15" dirty="0">
                <a:latin typeface="微软雅黑"/>
                <a:cs typeface="微软雅黑"/>
              </a:rPr>
              <a:t>：</a:t>
            </a:r>
            <a:r>
              <a:rPr sz="850" dirty="0">
                <a:latin typeface="微软雅黑"/>
                <a:cs typeface="微软雅黑"/>
              </a:rPr>
              <a:t>车</a:t>
            </a:r>
            <a:r>
              <a:rPr sz="850" spc="-45" dirty="0">
                <a:latin typeface="微软雅黑"/>
                <a:cs typeface="微软雅黑"/>
              </a:rPr>
              <a:t>道</a:t>
            </a:r>
            <a:r>
              <a:rPr sz="850" dirty="0">
                <a:latin typeface="微软雅黑"/>
                <a:cs typeface="微软雅黑"/>
              </a:rPr>
              <a:t>编号</a:t>
            </a:r>
            <a:r>
              <a:rPr sz="850" spc="-45" dirty="0">
                <a:latin typeface="微软雅黑"/>
                <a:cs typeface="微软雅黑"/>
              </a:rPr>
              <a:t>超</a:t>
            </a:r>
            <a:r>
              <a:rPr sz="850" spc="-5" dirty="0">
                <a:latin typeface="微软雅黑"/>
                <a:cs typeface="微软雅黑"/>
              </a:rPr>
              <a:t>限</a:t>
            </a:r>
            <a:r>
              <a:rPr sz="850" spc="-20" dirty="0">
                <a:latin typeface="微软雅黑"/>
                <a:cs typeface="微软雅黑"/>
              </a:rPr>
              <a:t>、</a:t>
            </a:r>
            <a:r>
              <a:rPr sz="850" dirty="0">
                <a:latin typeface="微软雅黑"/>
                <a:cs typeface="微软雅黑"/>
              </a:rPr>
              <a:t>收</a:t>
            </a:r>
            <a:r>
              <a:rPr sz="850" spc="-45" dirty="0">
                <a:latin typeface="微软雅黑"/>
                <a:cs typeface="微软雅黑"/>
              </a:rPr>
              <a:t>费</a:t>
            </a:r>
            <a:r>
              <a:rPr sz="850" dirty="0">
                <a:latin typeface="微软雅黑"/>
                <a:cs typeface="微软雅黑"/>
              </a:rPr>
              <a:t>站编</a:t>
            </a:r>
            <a:r>
              <a:rPr sz="850" spc="-45" dirty="0">
                <a:latin typeface="微软雅黑"/>
                <a:cs typeface="微软雅黑"/>
              </a:rPr>
              <a:t>号</a:t>
            </a:r>
            <a:r>
              <a:rPr sz="850" dirty="0">
                <a:latin typeface="微软雅黑"/>
                <a:cs typeface="微软雅黑"/>
              </a:rPr>
              <a:t>错</a:t>
            </a:r>
            <a:r>
              <a:rPr sz="850" spc="-20" dirty="0">
                <a:latin typeface="微软雅黑"/>
                <a:cs typeface="微软雅黑"/>
              </a:rPr>
              <a:t>误</a:t>
            </a:r>
            <a:r>
              <a:rPr sz="850" spc="420" dirty="0">
                <a:latin typeface="微软雅黑"/>
                <a:cs typeface="微软雅黑"/>
              </a:rPr>
              <a:t>  </a:t>
            </a:r>
            <a:endParaRPr sz="850">
              <a:latin typeface="微软雅黑"/>
              <a:cs typeface="微软雅黑"/>
            </a:endParaRPr>
          </a:p>
          <a:p>
            <a:pPr marL="12700">
              <a:lnSpc>
                <a:spcPts val="1015"/>
              </a:lnSpc>
            </a:pPr>
            <a:r>
              <a:rPr sz="850" dirty="0">
                <a:latin typeface="Symbol"/>
                <a:cs typeface="Symbol"/>
              </a:rPr>
              <a:t></a:t>
            </a:r>
            <a:r>
              <a:rPr sz="850" dirty="0">
                <a:latin typeface="Times New Roman"/>
                <a:cs typeface="Times New Roman"/>
              </a:rPr>
              <a:t>  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微软雅黑"/>
                <a:cs typeface="微软雅黑"/>
              </a:rPr>
              <a:t>交</a:t>
            </a:r>
            <a:r>
              <a:rPr sz="850" spc="-45" dirty="0">
                <a:latin typeface="微软雅黑"/>
                <a:cs typeface="微软雅黑"/>
              </a:rPr>
              <a:t>通</a:t>
            </a:r>
            <a:r>
              <a:rPr sz="850" dirty="0">
                <a:latin typeface="微软雅黑"/>
                <a:cs typeface="微软雅黑"/>
              </a:rPr>
              <a:t>流机</a:t>
            </a:r>
            <a:r>
              <a:rPr sz="850" spc="-45" dirty="0">
                <a:latin typeface="微软雅黑"/>
                <a:cs typeface="微软雅黑"/>
              </a:rPr>
              <a:t>理</a:t>
            </a:r>
            <a:r>
              <a:rPr sz="850" dirty="0">
                <a:latin typeface="微软雅黑"/>
                <a:cs typeface="微软雅黑"/>
              </a:rPr>
              <a:t>法</a:t>
            </a:r>
            <a:endParaRPr sz="850">
              <a:latin typeface="微软雅黑"/>
              <a:cs typeface="微软雅黑"/>
            </a:endParaRPr>
          </a:p>
          <a:p>
            <a:pPr marL="418465">
              <a:lnSpc>
                <a:spcPct val="100000"/>
              </a:lnSpc>
              <a:spcBef>
                <a:spcPts val="175"/>
              </a:spcBef>
            </a:pPr>
            <a:r>
              <a:rPr sz="850" dirty="0">
                <a:latin typeface="微软雅黑"/>
                <a:cs typeface="微软雅黑"/>
              </a:rPr>
              <a:t>距</a:t>
            </a:r>
            <a:r>
              <a:rPr sz="850" spc="-30" dirty="0">
                <a:latin typeface="微软雅黑"/>
                <a:cs typeface="微软雅黑"/>
              </a:rPr>
              <a:t>离</a:t>
            </a:r>
            <a:r>
              <a:rPr sz="850" spc="-10" dirty="0">
                <a:latin typeface="微软雅黑"/>
                <a:cs typeface="微软雅黑"/>
              </a:rPr>
              <a:t>-</a:t>
            </a:r>
            <a:r>
              <a:rPr sz="850" dirty="0">
                <a:latin typeface="微软雅黑"/>
                <a:cs typeface="微软雅黑"/>
              </a:rPr>
              <a:t>行</a:t>
            </a:r>
            <a:r>
              <a:rPr sz="850" spc="-45" dirty="0">
                <a:latin typeface="微软雅黑"/>
                <a:cs typeface="微软雅黑"/>
              </a:rPr>
              <a:t>程</a:t>
            </a:r>
            <a:r>
              <a:rPr sz="850" dirty="0">
                <a:latin typeface="微软雅黑"/>
                <a:cs typeface="微软雅黑"/>
              </a:rPr>
              <a:t>时</a:t>
            </a:r>
            <a:r>
              <a:rPr sz="850" spc="-15" dirty="0">
                <a:latin typeface="微软雅黑"/>
                <a:cs typeface="微软雅黑"/>
              </a:rPr>
              <a:t>间、</a:t>
            </a:r>
            <a:r>
              <a:rPr sz="850" dirty="0">
                <a:latin typeface="微软雅黑"/>
                <a:cs typeface="微软雅黑"/>
              </a:rPr>
              <a:t>速</a:t>
            </a:r>
            <a:r>
              <a:rPr sz="850" spc="-30" dirty="0">
                <a:latin typeface="微软雅黑"/>
                <a:cs typeface="微软雅黑"/>
              </a:rPr>
              <a:t>度</a:t>
            </a:r>
            <a:r>
              <a:rPr sz="850" spc="-10" dirty="0">
                <a:latin typeface="微软雅黑"/>
                <a:cs typeface="微软雅黑"/>
              </a:rPr>
              <a:t>-</a:t>
            </a:r>
            <a:r>
              <a:rPr sz="850" dirty="0">
                <a:latin typeface="微软雅黑"/>
                <a:cs typeface="微软雅黑"/>
              </a:rPr>
              <a:t>时</a:t>
            </a:r>
            <a:r>
              <a:rPr sz="850" spc="-30" dirty="0">
                <a:latin typeface="微软雅黑"/>
                <a:cs typeface="微软雅黑"/>
              </a:rPr>
              <a:t>间</a:t>
            </a:r>
            <a:r>
              <a:rPr sz="850" spc="420" dirty="0">
                <a:latin typeface="微软雅黑"/>
                <a:cs typeface="微软雅黑"/>
              </a:rPr>
              <a:t>  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3185541" y="1408802"/>
            <a:ext cx="27686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微软雅黑"/>
                <a:cs typeface="微软雅黑"/>
              </a:rPr>
              <a:t>交通数据质量控制基本思路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793800"/>
            <a:ext cx="2056764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数据存储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1859907"/>
            <a:ext cx="7569834" cy="1489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</a:pPr>
            <a:r>
              <a:rPr sz="1800" b="1" dirty="0">
                <a:latin typeface="微软雅黑"/>
                <a:cs typeface="微软雅黑"/>
              </a:rPr>
              <a:t>最常见的挑战是存储规模大，存储管理复杂，需要兼顾结构化、非结构 </a:t>
            </a:r>
            <a:r>
              <a:rPr sz="1800" b="1" spc="-5" dirty="0">
                <a:latin typeface="微软雅黑"/>
                <a:cs typeface="微软雅黑"/>
              </a:rPr>
              <a:t>化和半结构化的数</a:t>
            </a:r>
            <a:r>
              <a:rPr sz="1800" b="1" dirty="0">
                <a:latin typeface="微软雅黑"/>
                <a:cs typeface="微软雅黑"/>
              </a:rPr>
              <a:t>据</a:t>
            </a:r>
            <a:r>
              <a:rPr sz="1800" spc="-5" dirty="0">
                <a:latin typeface="微软雅黑"/>
                <a:cs typeface="微软雅黑"/>
              </a:rPr>
              <a:t>。分布式文件系统和分布式数据库相关技术的发展正在 </a:t>
            </a:r>
            <a:r>
              <a:rPr sz="1800" dirty="0">
                <a:latin typeface="微软雅黑"/>
                <a:cs typeface="微软雅黑"/>
              </a:rPr>
              <a:t>有效的解决这些方面的问题。在大数据存储和管理方向，尤其值得我们关注 的是大数据索引和查询技术、实时及流式大数据存储与处理的发展。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55564" y="2417064"/>
            <a:ext cx="3034284" cy="2016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55564" y="4760976"/>
            <a:ext cx="3031236" cy="1652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7677" y="793800"/>
            <a:ext cx="7709534" cy="3502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810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数据存储</a:t>
            </a:r>
            <a:endParaRPr sz="4000">
              <a:latin typeface="微软雅黑"/>
              <a:cs typeface="微软雅黑"/>
            </a:endParaRPr>
          </a:p>
          <a:p>
            <a:pPr marL="39370">
              <a:lnSpc>
                <a:spcPct val="100000"/>
              </a:lnSpc>
              <a:spcBef>
                <a:spcPts val="2965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面向城市交通的大数据分布式存储与计算平台</a:t>
            </a:r>
            <a:endParaRPr sz="2400">
              <a:latin typeface="微软雅黑"/>
              <a:cs typeface="微软雅黑"/>
            </a:endParaRPr>
          </a:p>
          <a:p>
            <a:pPr marR="5080" algn="r">
              <a:lnSpc>
                <a:spcPct val="100000"/>
              </a:lnSpc>
              <a:spcBef>
                <a:spcPts val="350"/>
              </a:spcBef>
            </a:pPr>
            <a:r>
              <a:rPr sz="1600" b="1" spc="-5" dirty="0">
                <a:solidFill>
                  <a:srgbClr val="0000FF"/>
                </a:solidFill>
                <a:latin typeface="微软雅黑"/>
                <a:cs typeface="微软雅黑"/>
              </a:rPr>
              <a:t>SEU</a:t>
            </a:r>
            <a:r>
              <a:rPr sz="1600" b="1" spc="-75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1600" b="1" spc="-5" dirty="0">
                <a:solidFill>
                  <a:srgbClr val="0000FF"/>
                </a:solidFill>
                <a:latin typeface="微软雅黑"/>
                <a:cs typeface="微软雅黑"/>
              </a:rPr>
              <a:t>CB大数据平台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800" spc="1270" dirty="0">
                <a:latin typeface="Segoe UI Symbol"/>
                <a:cs typeface="Segoe UI Symbol"/>
              </a:rPr>
              <a:t>⚫ 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数据</a:t>
            </a:r>
            <a:r>
              <a:rPr sz="1800" b="1" dirty="0">
                <a:latin typeface="微软雅黑"/>
                <a:cs typeface="微软雅黑"/>
              </a:rPr>
              <a:t>存储</a:t>
            </a:r>
            <a:r>
              <a:rPr sz="1800" dirty="0">
                <a:latin typeface="微软雅黑"/>
                <a:cs typeface="微软雅黑"/>
              </a:rPr>
              <a:t>服务</a:t>
            </a:r>
            <a:endParaRPr sz="1800">
              <a:latin typeface="微软雅黑"/>
              <a:cs typeface="微软雅黑"/>
            </a:endParaRPr>
          </a:p>
          <a:p>
            <a:pPr marL="372110">
              <a:lnSpc>
                <a:spcPct val="100000"/>
              </a:lnSpc>
              <a:spcBef>
                <a:spcPts val="600"/>
              </a:spcBef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65" dirty="0">
                <a:latin typeface="微软雅黑"/>
                <a:cs typeface="微软雅黑"/>
              </a:rPr>
              <a:t>提供高容量、高可靠、高性能的并行文件存取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1270" dirty="0">
                <a:latin typeface="Segoe UI Symbol"/>
                <a:cs typeface="Segoe UI Symbol"/>
              </a:rPr>
              <a:t>⚫ 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数据</a:t>
            </a:r>
            <a:r>
              <a:rPr sz="1800" b="1" dirty="0">
                <a:latin typeface="微软雅黑"/>
                <a:cs typeface="微软雅黑"/>
              </a:rPr>
              <a:t>查询</a:t>
            </a:r>
            <a:r>
              <a:rPr sz="1800" dirty="0">
                <a:latin typeface="微软雅黑"/>
                <a:cs typeface="微软雅黑"/>
              </a:rPr>
              <a:t>服务</a:t>
            </a:r>
            <a:endParaRPr sz="1800">
              <a:latin typeface="微软雅黑"/>
              <a:cs typeface="微软雅黑"/>
            </a:endParaRPr>
          </a:p>
          <a:p>
            <a:pPr marL="372110">
              <a:lnSpc>
                <a:spcPct val="100000"/>
              </a:lnSpc>
              <a:spcBef>
                <a:spcPts val="600"/>
              </a:spcBef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65" dirty="0">
                <a:latin typeface="微软雅黑"/>
                <a:cs typeface="微软雅黑"/>
              </a:rPr>
              <a:t>海量文件的快速查询及检索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1270" dirty="0">
                <a:latin typeface="Segoe UI Symbol"/>
                <a:cs typeface="Segoe UI Symbol"/>
              </a:rPr>
              <a:t>⚫ 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数据</a:t>
            </a:r>
            <a:r>
              <a:rPr sz="1800" b="1" dirty="0">
                <a:latin typeface="微软雅黑"/>
                <a:cs typeface="微软雅黑"/>
              </a:rPr>
              <a:t>处理</a:t>
            </a:r>
            <a:r>
              <a:rPr sz="1800" dirty="0">
                <a:latin typeface="微软雅黑"/>
                <a:cs typeface="微软雅黑"/>
              </a:rPr>
              <a:t>服务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0946" y="4484304"/>
            <a:ext cx="28422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微软雅黑"/>
                <a:cs typeface="微软雅黑"/>
              </a:rPr>
              <a:t>SEU</a:t>
            </a:r>
            <a:r>
              <a:rPr sz="1600" b="1" spc="-65" dirty="0">
                <a:solidFill>
                  <a:srgbClr val="0000FF"/>
                </a:solidFill>
                <a:latin typeface="微软雅黑"/>
                <a:cs typeface="微软雅黑"/>
              </a:rPr>
              <a:t>T</a:t>
            </a:r>
            <a:r>
              <a:rPr sz="1600" b="1" dirty="0">
                <a:solidFill>
                  <a:srgbClr val="0000FF"/>
                </a:solidFill>
                <a:latin typeface="微软雅黑"/>
                <a:cs typeface="微软雅黑"/>
              </a:rPr>
              <a:t>C</a:t>
            </a:r>
            <a:r>
              <a:rPr sz="1600" b="1" spc="-15" dirty="0">
                <a:solidFill>
                  <a:srgbClr val="0000FF"/>
                </a:solidFill>
                <a:latin typeface="微软雅黑"/>
                <a:cs typeface="微软雅黑"/>
              </a:rPr>
              <a:t>B</a:t>
            </a:r>
            <a:r>
              <a:rPr sz="1600" b="1" spc="-5" dirty="0">
                <a:solidFill>
                  <a:srgbClr val="0000FF"/>
                </a:solidFill>
                <a:latin typeface="微软雅黑"/>
                <a:cs typeface="微软雅黑"/>
              </a:rPr>
              <a:t>大数据平台登陆界面图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677" y="4390021"/>
            <a:ext cx="4808220" cy="181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2110">
              <a:lnSpc>
                <a:spcPct val="100000"/>
              </a:lnSpc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65" dirty="0">
                <a:latin typeface="微软雅黑"/>
                <a:cs typeface="微软雅黑"/>
              </a:rPr>
              <a:t>基于</a:t>
            </a:r>
            <a:r>
              <a:rPr sz="1800" spc="-10" dirty="0">
                <a:latin typeface="微软雅黑"/>
                <a:cs typeface="微软雅黑"/>
              </a:rPr>
              <a:t>Hadoo</a:t>
            </a:r>
            <a:r>
              <a:rPr sz="1800" dirty="0">
                <a:latin typeface="微软雅黑"/>
                <a:cs typeface="微软雅黑"/>
              </a:rPr>
              <a:t>p及</a:t>
            </a:r>
            <a:r>
              <a:rPr sz="1800" spc="-10" dirty="0">
                <a:latin typeface="微软雅黑"/>
                <a:cs typeface="微软雅黑"/>
              </a:rPr>
              <a:t>S</a:t>
            </a:r>
            <a:r>
              <a:rPr sz="1800" spc="-25" dirty="0">
                <a:latin typeface="微软雅黑"/>
                <a:cs typeface="微软雅黑"/>
              </a:rPr>
              <a:t>p</a:t>
            </a:r>
            <a:r>
              <a:rPr sz="1800" dirty="0">
                <a:latin typeface="微软雅黑"/>
                <a:cs typeface="微软雅黑"/>
              </a:rPr>
              <a:t>ark的快速并行数据处理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1270" dirty="0">
                <a:latin typeface="Segoe UI Symbol"/>
                <a:cs typeface="Segoe UI Symbol"/>
              </a:rPr>
              <a:t>⚫ 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数据</a:t>
            </a:r>
            <a:r>
              <a:rPr sz="1800" b="1" dirty="0">
                <a:latin typeface="微软雅黑"/>
                <a:cs typeface="微软雅黑"/>
              </a:rPr>
              <a:t>分析</a:t>
            </a:r>
            <a:r>
              <a:rPr sz="1800" dirty="0">
                <a:latin typeface="微软雅黑"/>
                <a:cs typeface="微软雅黑"/>
              </a:rPr>
              <a:t>服务</a:t>
            </a:r>
            <a:endParaRPr sz="1800">
              <a:latin typeface="微软雅黑"/>
              <a:cs typeface="微软雅黑"/>
            </a:endParaRPr>
          </a:p>
          <a:p>
            <a:pPr marL="372110">
              <a:lnSpc>
                <a:spcPct val="100000"/>
              </a:lnSpc>
              <a:spcBef>
                <a:spcPts val="600"/>
              </a:spcBef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65" dirty="0">
                <a:latin typeface="微软雅黑"/>
                <a:cs typeface="微软雅黑"/>
              </a:rPr>
              <a:t>数据挖掘算法库及计算框架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spc="1270" dirty="0">
                <a:latin typeface="Segoe UI Symbol"/>
                <a:cs typeface="Segoe UI Symbol"/>
              </a:rPr>
              <a:t>⚫ </a:t>
            </a:r>
            <a:r>
              <a:rPr sz="1800" spc="-75" dirty="0">
                <a:latin typeface="Segoe UI Symbol"/>
                <a:cs typeface="Segoe UI Symbol"/>
              </a:rPr>
              <a:t> </a:t>
            </a:r>
            <a:r>
              <a:rPr sz="1800" dirty="0">
                <a:latin typeface="微软雅黑"/>
                <a:cs typeface="微软雅黑"/>
              </a:rPr>
              <a:t>数据</a:t>
            </a:r>
            <a:r>
              <a:rPr sz="1800" b="1" dirty="0">
                <a:latin typeface="微软雅黑"/>
                <a:cs typeface="微软雅黑"/>
              </a:rPr>
              <a:t>传输</a:t>
            </a:r>
            <a:r>
              <a:rPr sz="1800" dirty="0">
                <a:latin typeface="微软雅黑"/>
                <a:cs typeface="微软雅黑"/>
              </a:rPr>
              <a:t>服务</a:t>
            </a:r>
            <a:endParaRPr sz="1800">
              <a:latin typeface="微软雅黑"/>
              <a:cs typeface="微软雅黑"/>
            </a:endParaRPr>
          </a:p>
          <a:p>
            <a:pPr marL="372110">
              <a:lnSpc>
                <a:spcPct val="100000"/>
              </a:lnSpc>
              <a:spcBef>
                <a:spcPts val="600"/>
              </a:spcBef>
            </a:pPr>
            <a:r>
              <a:rPr sz="1800" spc="65" dirty="0">
                <a:latin typeface="Segoe UI Symbol"/>
                <a:cs typeface="Segoe UI Symbol"/>
              </a:rPr>
              <a:t>✓</a:t>
            </a:r>
            <a:r>
              <a:rPr sz="1800" spc="65" dirty="0">
                <a:latin typeface="微软雅黑"/>
                <a:cs typeface="微软雅黑"/>
              </a:rPr>
              <a:t>海量数据的高速、长距离传输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4804" y="793800"/>
            <a:ext cx="6441440" cy="1276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ct val="100000"/>
              </a:lnSpc>
            </a:pPr>
            <a:r>
              <a:rPr sz="4000" spc="-5" dirty="0">
                <a:solidFill>
                  <a:srgbClr val="1F487C"/>
                </a:solidFill>
                <a:latin typeface="微软雅黑"/>
                <a:cs typeface="微软雅黑"/>
              </a:rPr>
              <a:t>数据存储</a:t>
            </a:r>
            <a:endParaRPr sz="4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965"/>
              </a:spcBef>
            </a:pPr>
            <a:r>
              <a:rPr sz="2050" dirty="0">
                <a:solidFill>
                  <a:srgbClr val="4F81BC"/>
                </a:solidFill>
                <a:latin typeface="Segoe UI Symbol"/>
                <a:cs typeface="Segoe UI Symbol"/>
              </a:rPr>
              <a:t>❑</a:t>
            </a:r>
            <a:r>
              <a:rPr sz="2050" spc="140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面向城市交通的大数据分布式存储与计算平台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61332" y="2253995"/>
            <a:ext cx="4195571" cy="3608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1368" y="2549643"/>
            <a:ext cx="3970654" cy="3025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7020">
              <a:lnSpc>
                <a:spcPct val="110000"/>
              </a:lnSpc>
              <a:tabLst>
                <a:tab pos="299085" algn="l"/>
              </a:tabLst>
            </a:pPr>
            <a:r>
              <a:rPr sz="1250" spc="900" dirty="0">
                <a:solidFill>
                  <a:srgbClr val="003366"/>
                </a:solidFill>
                <a:latin typeface="Segoe UI Symbol"/>
                <a:cs typeface="Segoe UI Symbol"/>
              </a:rPr>
              <a:t>⚫	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2015年在东南大学交通学院</a:t>
            </a:r>
            <a:r>
              <a:rPr sz="1800" b="1" dirty="0">
                <a:solidFill>
                  <a:srgbClr val="1F487C"/>
                </a:solidFill>
                <a:latin typeface="微软雅黑"/>
                <a:cs typeface="微软雅黑"/>
              </a:rPr>
              <a:t>建成了 交通分布式计算与大数据处理平台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， 26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个had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o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-</a:t>
            </a:r>
            <a:r>
              <a:rPr sz="1800" spc="-15" dirty="0">
                <a:solidFill>
                  <a:srgbClr val="1F487C"/>
                </a:solidFill>
                <a:latin typeface="微软雅黑"/>
                <a:cs typeface="微软雅黑"/>
              </a:rPr>
              <a:t>s</a:t>
            </a:r>
            <a:r>
              <a:rPr sz="1800" spc="-30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ark计算节点，536 个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CP</a:t>
            </a:r>
            <a:r>
              <a:rPr sz="1800" spc="-10" dirty="0">
                <a:solidFill>
                  <a:srgbClr val="1F487C"/>
                </a:solidFill>
                <a:latin typeface="微软雅黑"/>
                <a:cs typeface="微软雅黑"/>
              </a:rPr>
              <a:t>U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核，3392</a:t>
            </a:r>
            <a:r>
              <a:rPr sz="1800" spc="5" dirty="0">
                <a:solidFill>
                  <a:srgbClr val="1F487C"/>
                </a:solidFill>
                <a:latin typeface="微软雅黑"/>
                <a:cs typeface="微软雅黑"/>
              </a:rPr>
              <a:t>G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内存</a:t>
            </a:r>
            <a:r>
              <a:rPr sz="1800" dirty="0">
                <a:solidFill>
                  <a:srgbClr val="003366"/>
                </a:solidFill>
                <a:latin typeface="微软雅黑"/>
                <a:cs typeface="微软雅黑"/>
              </a:rPr>
              <a:t>，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为交通大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数据的分析和利用提供了良好的实 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验条件和硬件支撑。</a:t>
            </a:r>
            <a:endParaRPr sz="1800">
              <a:latin typeface="微软雅黑"/>
              <a:cs typeface="微软雅黑"/>
            </a:endParaRPr>
          </a:p>
          <a:p>
            <a:pPr marL="299085" marR="68580" indent="-287020">
              <a:lnSpc>
                <a:spcPct val="110000"/>
              </a:lnSpc>
              <a:spcBef>
                <a:spcPts val="430"/>
              </a:spcBef>
              <a:tabLst>
                <a:tab pos="299085" algn="l"/>
              </a:tabLst>
            </a:pPr>
            <a:r>
              <a:rPr sz="1250" spc="900" dirty="0">
                <a:solidFill>
                  <a:srgbClr val="003366"/>
                </a:solidFill>
                <a:latin typeface="Segoe UI Symbol"/>
                <a:cs typeface="Segoe UI Symbol"/>
              </a:rPr>
              <a:t>⚫	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2019年在平台</a:t>
            </a:r>
            <a:r>
              <a:rPr sz="1800" b="1" dirty="0">
                <a:solidFill>
                  <a:srgbClr val="1F487C"/>
                </a:solidFill>
                <a:latin typeface="微软雅黑"/>
                <a:cs typeface="微软雅黑"/>
              </a:rPr>
              <a:t>建设</a:t>
            </a:r>
            <a:r>
              <a:rPr sz="1800" b="1" spc="-5" dirty="0">
                <a:solidFill>
                  <a:srgbClr val="1F487C"/>
                </a:solidFill>
                <a:latin typeface="微软雅黑"/>
                <a:cs typeface="微软雅黑"/>
              </a:rPr>
              <a:t>G</a:t>
            </a:r>
            <a:r>
              <a:rPr sz="1800" b="1" spc="5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b="1" spc="-5" dirty="0">
                <a:solidFill>
                  <a:srgbClr val="1F487C"/>
                </a:solidFill>
                <a:latin typeface="微软雅黑"/>
                <a:cs typeface="微软雅黑"/>
              </a:rPr>
              <a:t>U</a:t>
            </a:r>
            <a:r>
              <a:rPr sz="1800" b="1" dirty="0">
                <a:solidFill>
                  <a:srgbClr val="1F487C"/>
                </a:solidFill>
                <a:latin typeface="微软雅黑"/>
                <a:cs typeface="微软雅黑"/>
              </a:rPr>
              <a:t>集群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，17个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G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P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U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计算节点，68块2080T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I</a:t>
            </a:r>
            <a:r>
              <a:rPr sz="1800" dirty="0">
                <a:solidFill>
                  <a:srgbClr val="1F487C"/>
                </a:solidFill>
                <a:latin typeface="微软雅黑"/>
                <a:cs typeface="微软雅黑"/>
              </a:rPr>
              <a:t>显卡， 为挖掘交通大数据的深层语义搭建 </a:t>
            </a:r>
            <a:r>
              <a:rPr sz="1800" spc="-5" dirty="0">
                <a:solidFill>
                  <a:srgbClr val="1F487C"/>
                </a:solidFill>
                <a:latin typeface="微软雅黑"/>
                <a:cs typeface="微软雅黑"/>
              </a:rPr>
              <a:t>了机器学习和深度学习框架。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99160" y="2296667"/>
            <a:ext cx="7754620" cy="3746500"/>
          </a:xfrm>
          <a:custGeom>
            <a:avLst/>
            <a:gdLst/>
            <a:ahLst/>
            <a:cxnLst/>
            <a:rect l="l" t="t" r="r" b="b"/>
            <a:pathLst>
              <a:path w="7754620" h="3746500">
                <a:moveTo>
                  <a:pt x="7432167" y="0"/>
                </a:moveTo>
                <a:lnTo>
                  <a:pt x="321932" y="0"/>
                </a:lnTo>
                <a:lnTo>
                  <a:pt x="295528" y="1067"/>
                </a:lnTo>
                <a:lnTo>
                  <a:pt x="244567" y="9356"/>
                </a:lnTo>
                <a:lnTo>
                  <a:pt x="196621" y="25300"/>
                </a:lnTo>
                <a:lnTo>
                  <a:pt x="152351" y="48236"/>
                </a:lnTo>
                <a:lnTo>
                  <a:pt x="112421" y="77499"/>
                </a:lnTo>
                <a:lnTo>
                  <a:pt x="77494" y="112428"/>
                </a:lnTo>
                <a:lnTo>
                  <a:pt x="48232" y="152360"/>
                </a:lnTo>
                <a:lnTo>
                  <a:pt x="25298" y="196631"/>
                </a:lnTo>
                <a:lnTo>
                  <a:pt x="9356" y="244579"/>
                </a:lnTo>
                <a:lnTo>
                  <a:pt x="1067" y="295541"/>
                </a:lnTo>
                <a:lnTo>
                  <a:pt x="0" y="321945"/>
                </a:lnTo>
                <a:lnTo>
                  <a:pt x="0" y="3424059"/>
                </a:lnTo>
                <a:lnTo>
                  <a:pt x="4213" y="3476279"/>
                </a:lnTo>
                <a:lnTo>
                  <a:pt x="16412" y="3525815"/>
                </a:lnTo>
                <a:lnTo>
                  <a:pt x="35933" y="3572006"/>
                </a:lnTo>
                <a:lnTo>
                  <a:pt x="62113" y="3614189"/>
                </a:lnTo>
                <a:lnTo>
                  <a:pt x="94291" y="3651700"/>
                </a:lnTo>
                <a:lnTo>
                  <a:pt x="131802" y="3683878"/>
                </a:lnTo>
                <a:lnTo>
                  <a:pt x="173985" y="3710058"/>
                </a:lnTo>
                <a:lnTo>
                  <a:pt x="220176" y="3729579"/>
                </a:lnTo>
                <a:lnTo>
                  <a:pt x="269712" y="3741778"/>
                </a:lnTo>
                <a:lnTo>
                  <a:pt x="321932" y="3745992"/>
                </a:lnTo>
                <a:lnTo>
                  <a:pt x="7432167" y="3745992"/>
                </a:lnTo>
                <a:lnTo>
                  <a:pt x="7484386" y="3741778"/>
                </a:lnTo>
                <a:lnTo>
                  <a:pt x="7533924" y="3729579"/>
                </a:lnTo>
                <a:lnTo>
                  <a:pt x="7580116" y="3710058"/>
                </a:lnTo>
                <a:lnTo>
                  <a:pt x="7622301" y="3683878"/>
                </a:lnTo>
                <a:lnTo>
                  <a:pt x="7659814" y="3651700"/>
                </a:lnTo>
                <a:lnTo>
                  <a:pt x="7691993" y="3614189"/>
                </a:lnTo>
                <a:lnTo>
                  <a:pt x="7718176" y="3572006"/>
                </a:lnTo>
                <a:lnTo>
                  <a:pt x="7737698" y="3525815"/>
                </a:lnTo>
                <a:lnTo>
                  <a:pt x="7749898" y="3476279"/>
                </a:lnTo>
                <a:lnTo>
                  <a:pt x="7754112" y="3424059"/>
                </a:lnTo>
                <a:lnTo>
                  <a:pt x="7754112" y="321945"/>
                </a:lnTo>
                <a:lnTo>
                  <a:pt x="7749898" y="269725"/>
                </a:lnTo>
                <a:lnTo>
                  <a:pt x="7737698" y="220187"/>
                </a:lnTo>
                <a:lnTo>
                  <a:pt x="7718176" y="173995"/>
                </a:lnTo>
                <a:lnTo>
                  <a:pt x="7691993" y="131810"/>
                </a:lnTo>
                <a:lnTo>
                  <a:pt x="7659814" y="94297"/>
                </a:lnTo>
                <a:lnTo>
                  <a:pt x="7622301" y="62118"/>
                </a:lnTo>
                <a:lnTo>
                  <a:pt x="7580116" y="35935"/>
                </a:lnTo>
                <a:lnTo>
                  <a:pt x="7533924" y="16413"/>
                </a:lnTo>
                <a:lnTo>
                  <a:pt x="7484386" y="4213"/>
                </a:lnTo>
                <a:lnTo>
                  <a:pt x="7432167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160" y="2296667"/>
            <a:ext cx="7754111" cy="3745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815831"/>
            <a:ext cx="68884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交通分布式计算与大数据处理平台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644" y="1884161"/>
            <a:ext cx="21609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SzPct val="68750"/>
              <a:buFont typeface="Segoe UI Symbol"/>
              <a:buChar char="□"/>
              <a:tabLst>
                <a:tab pos="355600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H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a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doop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平台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3644" y="1884161"/>
            <a:ext cx="216090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SzPct val="68750"/>
              <a:buFont typeface="Segoe UI Symbol"/>
              <a:buChar char="□"/>
              <a:tabLst>
                <a:tab pos="355600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H</a:t>
            </a:r>
            <a:r>
              <a:rPr sz="2400" spc="5" dirty="0">
                <a:solidFill>
                  <a:srgbClr val="006FC0"/>
                </a:solidFill>
                <a:latin typeface="微软雅黑"/>
                <a:cs typeface="微软雅黑"/>
              </a:rPr>
              <a:t>a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doop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平台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0540" y="2316479"/>
            <a:ext cx="8425180" cy="3270885"/>
          </a:xfrm>
          <a:custGeom>
            <a:avLst/>
            <a:gdLst/>
            <a:ahLst/>
            <a:cxnLst/>
            <a:rect l="l" t="t" r="r" b="b"/>
            <a:pathLst>
              <a:path w="8425180" h="3270885">
                <a:moveTo>
                  <a:pt x="8143620" y="0"/>
                </a:moveTo>
                <a:lnTo>
                  <a:pt x="281076" y="0"/>
                </a:lnTo>
                <a:lnTo>
                  <a:pt x="258024" y="931"/>
                </a:lnTo>
                <a:lnTo>
                  <a:pt x="213531" y="8169"/>
                </a:lnTo>
                <a:lnTo>
                  <a:pt x="171669" y="22090"/>
                </a:lnTo>
                <a:lnTo>
                  <a:pt x="133018" y="42114"/>
                </a:lnTo>
                <a:lnTo>
                  <a:pt x="98155" y="67662"/>
                </a:lnTo>
                <a:lnTo>
                  <a:pt x="67660" y="98156"/>
                </a:lnTo>
                <a:lnTo>
                  <a:pt x="42112" y="133016"/>
                </a:lnTo>
                <a:lnTo>
                  <a:pt x="22088" y="171664"/>
                </a:lnTo>
                <a:lnTo>
                  <a:pt x="8168" y="213519"/>
                </a:lnTo>
                <a:lnTo>
                  <a:pt x="931" y="258003"/>
                </a:lnTo>
                <a:lnTo>
                  <a:pt x="0" y="281050"/>
                </a:lnTo>
                <a:lnTo>
                  <a:pt x="0" y="2989453"/>
                </a:lnTo>
                <a:lnTo>
                  <a:pt x="3678" y="3035034"/>
                </a:lnTo>
                <a:lnTo>
                  <a:pt x="14329" y="3078276"/>
                </a:lnTo>
                <a:lnTo>
                  <a:pt x="31373" y="3118600"/>
                </a:lnTo>
                <a:lnTo>
                  <a:pt x="54232" y="3155426"/>
                </a:lnTo>
                <a:lnTo>
                  <a:pt x="82326" y="3188176"/>
                </a:lnTo>
                <a:lnTo>
                  <a:pt x="115077" y="3216269"/>
                </a:lnTo>
                <a:lnTo>
                  <a:pt x="151906" y="3239128"/>
                </a:lnTo>
                <a:lnTo>
                  <a:pt x="192235" y="3256173"/>
                </a:lnTo>
                <a:lnTo>
                  <a:pt x="235484" y="3266824"/>
                </a:lnTo>
                <a:lnTo>
                  <a:pt x="281076" y="3270504"/>
                </a:lnTo>
                <a:lnTo>
                  <a:pt x="8143620" y="3270504"/>
                </a:lnTo>
                <a:lnTo>
                  <a:pt x="8189202" y="3266824"/>
                </a:lnTo>
                <a:lnTo>
                  <a:pt x="8232444" y="3256173"/>
                </a:lnTo>
                <a:lnTo>
                  <a:pt x="8272768" y="3239128"/>
                </a:lnTo>
                <a:lnTo>
                  <a:pt x="8309594" y="3216269"/>
                </a:lnTo>
                <a:lnTo>
                  <a:pt x="8342344" y="3188176"/>
                </a:lnTo>
                <a:lnTo>
                  <a:pt x="8370437" y="3155426"/>
                </a:lnTo>
                <a:lnTo>
                  <a:pt x="8393296" y="3118600"/>
                </a:lnTo>
                <a:lnTo>
                  <a:pt x="8410341" y="3078276"/>
                </a:lnTo>
                <a:lnTo>
                  <a:pt x="8420992" y="3035034"/>
                </a:lnTo>
                <a:lnTo>
                  <a:pt x="8424671" y="2989453"/>
                </a:lnTo>
                <a:lnTo>
                  <a:pt x="8424671" y="281050"/>
                </a:lnTo>
                <a:lnTo>
                  <a:pt x="8420992" y="235469"/>
                </a:lnTo>
                <a:lnTo>
                  <a:pt x="8410341" y="192227"/>
                </a:lnTo>
                <a:lnTo>
                  <a:pt x="8393296" y="151903"/>
                </a:lnTo>
                <a:lnTo>
                  <a:pt x="8370437" y="115077"/>
                </a:lnTo>
                <a:lnTo>
                  <a:pt x="8342344" y="82327"/>
                </a:lnTo>
                <a:lnTo>
                  <a:pt x="8309594" y="54234"/>
                </a:lnTo>
                <a:lnTo>
                  <a:pt x="8272768" y="31375"/>
                </a:lnTo>
                <a:lnTo>
                  <a:pt x="8232444" y="14330"/>
                </a:lnTo>
                <a:lnTo>
                  <a:pt x="8189202" y="3679"/>
                </a:lnTo>
                <a:lnTo>
                  <a:pt x="814362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0540" y="2316479"/>
            <a:ext cx="8424671" cy="3270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815831"/>
            <a:ext cx="68884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交通分布式计算与大数据处理平台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3644" y="1884161"/>
            <a:ext cx="17951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SzPct val="68750"/>
              <a:buFont typeface="Segoe UI Symbol"/>
              <a:buChar char="□"/>
              <a:tabLst>
                <a:tab pos="355600" algn="l"/>
              </a:tabLst>
            </a:pP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S</a:t>
            </a:r>
            <a:r>
              <a:rPr sz="2400" spc="-45" dirty="0">
                <a:solidFill>
                  <a:srgbClr val="006FC0"/>
                </a:solidFill>
                <a:latin typeface="微软雅黑"/>
                <a:cs typeface="微软雅黑"/>
              </a:rPr>
              <a:t>p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ark平台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4276" y="2308860"/>
            <a:ext cx="7920355" cy="4043679"/>
          </a:xfrm>
          <a:custGeom>
            <a:avLst/>
            <a:gdLst/>
            <a:ahLst/>
            <a:cxnLst/>
            <a:rect l="l" t="t" r="r" b="b"/>
            <a:pathLst>
              <a:path w="7920355" h="4043679">
                <a:moveTo>
                  <a:pt x="7572756" y="0"/>
                </a:moveTo>
                <a:lnTo>
                  <a:pt x="347471" y="0"/>
                </a:lnTo>
                <a:lnTo>
                  <a:pt x="318973" y="1151"/>
                </a:lnTo>
                <a:lnTo>
                  <a:pt x="263968" y="10098"/>
                </a:lnTo>
                <a:lnTo>
                  <a:pt x="212217" y="27306"/>
                </a:lnTo>
                <a:lnTo>
                  <a:pt x="164435" y="52060"/>
                </a:lnTo>
                <a:lnTo>
                  <a:pt x="121338" y="83644"/>
                </a:lnTo>
                <a:lnTo>
                  <a:pt x="83640" y="121343"/>
                </a:lnTo>
                <a:lnTo>
                  <a:pt x="52057" y="164441"/>
                </a:lnTo>
                <a:lnTo>
                  <a:pt x="27305" y="212222"/>
                </a:lnTo>
                <a:lnTo>
                  <a:pt x="10098" y="263972"/>
                </a:lnTo>
                <a:lnTo>
                  <a:pt x="1151" y="318974"/>
                </a:lnTo>
                <a:lnTo>
                  <a:pt x="0" y="347472"/>
                </a:lnTo>
                <a:lnTo>
                  <a:pt x="0" y="3695700"/>
                </a:lnTo>
                <a:lnTo>
                  <a:pt x="4547" y="3752063"/>
                </a:lnTo>
                <a:lnTo>
                  <a:pt x="17713" y="3805530"/>
                </a:lnTo>
                <a:lnTo>
                  <a:pt x="38783" y="3855386"/>
                </a:lnTo>
                <a:lnTo>
                  <a:pt x="67040" y="3900915"/>
                </a:lnTo>
                <a:lnTo>
                  <a:pt x="101769" y="3941402"/>
                </a:lnTo>
                <a:lnTo>
                  <a:pt x="142256" y="3976131"/>
                </a:lnTo>
                <a:lnTo>
                  <a:pt x="187785" y="4004388"/>
                </a:lnTo>
                <a:lnTo>
                  <a:pt x="237641" y="4025458"/>
                </a:lnTo>
                <a:lnTo>
                  <a:pt x="291108" y="4038624"/>
                </a:lnTo>
                <a:lnTo>
                  <a:pt x="347471" y="4043172"/>
                </a:lnTo>
                <a:lnTo>
                  <a:pt x="7572756" y="4043172"/>
                </a:lnTo>
                <a:lnTo>
                  <a:pt x="7629116" y="4038624"/>
                </a:lnTo>
                <a:lnTo>
                  <a:pt x="7682581" y="4025458"/>
                </a:lnTo>
                <a:lnTo>
                  <a:pt x="7732436" y="4004388"/>
                </a:lnTo>
                <a:lnTo>
                  <a:pt x="7777965" y="3976131"/>
                </a:lnTo>
                <a:lnTo>
                  <a:pt x="7818453" y="3941402"/>
                </a:lnTo>
                <a:lnTo>
                  <a:pt x="7853184" y="3900915"/>
                </a:lnTo>
                <a:lnTo>
                  <a:pt x="7881442" y="3855386"/>
                </a:lnTo>
                <a:lnTo>
                  <a:pt x="7902513" y="3805530"/>
                </a:lnTo>
                <a:lnTo>
                  <a:pt x="7915680" y="3752063"/>
                </a:lnTo>
                <a:lnTo>
                  <a:pt x="7920228" y="3695700"/>
                </a:lnTo>
                <a:lnTo>
                  <a:pt x="7920228" y="347472"/>
                </a:lnTo>
                <a:lnTo>
                  <a:pt x="7915680" y="291111"/>
                </a:lnTo>
                <a:lnTo>
                  <a:pt x="7902513" y="237646"/>
                </a:lnTo>
                <a:lnTo>
                  <a:pt x="7881442" y="187791"/>
                </a:lnTo>
                <a:lnTo>
                  <a:pt x="7853184" y="142262"/>
                </a:lnTo>
                <a:lnTo>
                  <a:pt x="7818453" y="101774"/>
                </a:lnTo>
                <a:lnTo>
                  <a:pt x="7777965" y="67043"/>
                </a:lnTo>
                <a:lnTo>
                  <a:pt x="7732436" y="38785"/>
                </a:lnTo>
                <a:lnTo>
                  <a:pt x="7682581" y="17714"/>
                </a:lnTo>
                <a:lnTo>
                  <a:pt x="7629116" y="4547"/>
                </a:lnTo>
                <a:lnTo>
                  <a:pt x="7572756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4276" y="2308860"/>
            <a:ext cx="7920228" cy="4043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815831"/>
            <a:ext cx="68884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交通分布式计算与大数据处理平台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39495" y="2348483"/>
            <a:ext cx="6007735" cy="3641090"/>
          </a:xfrm>
          <a:custGeom>
            <a:avLst/>
            <a:gdLst/>
            <a:ahLst/>
            <a:cxnLst/>
            <a:rect l="l" t="t" r="r" b="b"/>
            <a:pathLst>
              <a:path w="6007734" h="3641090">
                <a:moveTo>
                  <a:pt x="5694680" y="0"/>
                </a:moveTo>
                <a:lnTo>
                  <a:pt x="312889" y="0"/>
                </a:lnTo>
                <a:lnTo>
                  <a:pt x="287229" y="1037"/>
                </a:lnTo>
                <a:lnTo>
                  <a:pt x="237701" y="9093"/>
                </a:lnTo>
                <a:lnTo>
                  <a:pt x="191102" y="24588"/>
                </a:lnTo>
                <a:lnTo>
                  <a:pt x="148076" y="46878"/>
                </a:lnTo>
                <a:lnTo>
                  <a:pt x="109267" y="75320"/>
                </a:lnTo>
                <a:lnTo>
                  <a:pt x="75320" y="109268"/>
                </a:lnTo>
                <a:lnTo>
                  <a:pt x="46880" y="148081"/>
                </a:lnTo>
                <a:lnTo>
                  <a:pt x="24589" y="191113"/>
                </a:lnTo>
                <a:lnTo>
                  <a:pt x="9093" y="237720"/>
                </a:lnTo>
                <a:lnTo>
                  <a:pt x="1037" y="287260"/>
                </a:lnTo>
                <a:lnTo>
                  <a:pt x="0" y="312927"/>
                </a:lnTo>
                <a:lnTo>
                  <a:pt x="0" y="3327933"/>
                </a:lnTo>
                <a:lnTo>
                  <a:pt x="4095" y="3378687"/>
                </a:lnTo>
                <a:lnTo>
                  <a:pt x="15952" y="3426833"/>
                </a:lnTo>
                <a:lnTo>
                  <a:pt x="34925" y="3471729"/>
                </a:lnTo>
                <a:lnTo>
                  <a:pt x="60371" y="3512728"/>
                </a:lnTo>
                <a:lnTo>
                  <a:pt x="91646" y="3549188"/>
                </a:lnTo>
                <a:lnTo>
                  <a:pt x="128104" y="3580463"/>
                </a:lnTo>
                <a:lnTo>
                  <a:pt x="169102" y="3605909"/>
                </a:lnTo>
                <a:lnTo>
                  <a:pt x="213995" y="3624883"/>
                </a:lnTo>
                <a:lnTo>
                  <a:pt x="262139" y="3636740"/>
                </a:lnTo>
                <a:lnTo>
                  <a:pt x="312889" y="3640835"/>
                </a:lnTo>
                <a:lnTo>
                  <a:pt x="5694680" y="3640835"/>
                </a:lnTo>
                <a:lnTo>
                  <a:pt x="5745443" y="3636740"/>
                </a:lnTo>
                <a:lnTo>
                  <a:pt x="5793597" y="3624883"/>
                </a:lnTo>
                <a:lnTo>
                  <a:pt x="5838497" y="3605909"/>
                </a:lnTo>
                <a:lnTo>
                  <a:pt x="5879500" y="3580463"/>
                </a:lnTo>
                <a:lnTo>
                  <a:pt x="5915961" y="3549188"/>
                </a:lnTo>
                <a:lnTo>
                  <a:pt x="5947237" y="3512728"/>
                </a:lnTo>
                <a:lnTo>
                  <a:pt x="5972683" y="3471729"/>
                </a:lnTo>
                <a:lnTo>
                  <a:pt x="5991656" y="3426833"/>
                </a:lnTo>
                <a:lnTo>
                  <a:pt x="6003512" y="3378687"/>
                </a:lnTo>
                <a:lnTo>
                  <a:pt x="6007608" y="3327933"/>
                </a:lnTo>
                <a:lnTo>
                  <a:pt x="6007608" y="312927"/>
                </a:lnTo>
                <a:lnTo>
                  <a:pt x="6003512" y="262164"/>
                </a:lnTo>
                <a:lnTo>
                  <a:pt x="5991656" y="214010"/>
                </a:lnTo>
                <a:lnTo>
                  <a:pt x="5972683" y="169110"/>
                </a:lnTo>
                <a:lnTo>
                  <a:pt x="5947237" y="128107"/>
                </a:lnTo>
                <a:lnTo>
                  <a:pt x="5915961" y="91646"/>
                </a:lnTo>
                <a:lnTo>
                  <a:pt x="5879500" y="60370"/>
                </a:lnTo>
                <a:lnTo>
                  <a:pt x="5838497" y="34924"/>
                </a:lnTo>
                <a:lnTo>
                  <a:pt x="5793597" y="15951"/>
                </a:lnTo>
                <a:lnTo>
                  <a:pt x="5745443" y="4095"/>
                </a:lnTo>
                <a:lnTo>
                  <a:pt x="569468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9495" y="2348483"/>
            <a:ext cx="6007608" cy="3640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56204" y="2374392"/>
            <a:ext cx="5988050" cy="3641090"/>
          </a:xfrm>
          <a:custGeom>
            <a:avLst/>
            <a:gdLst/>
            <a:ahLst/>
            <a:cxnLst/>
            <a:rect l="l" t="t" r="r" b="b"/>
            <a:pathLst>
              <a:path w="5988050" h="3641090">
                <a:moveTo>
                  <a:pt x="5674868" y="0"/>
                </a:moveTo>
                <a:lnTo>
                  <a:pt x="312928" y="0"/>
                </a:lnTo>
                <a:lnTo>
                  <a:pt x="287260" y="1037"/>
                </a:lnTo>
                <a:lnTo>
                  <a:pt x="237720" y="9093"/>
                </a:lnTo>
                <a:lnTo>
                  <a:pt x="191113" y="24588"/>
                </a:lnTo>
                <a:lnTo>
                  <a:pt x="148081" y="46878"/>
                </a:lnTo>
                <a:lnTo>
                  <a:pt x="109268" y="75320"/>
                </a:lnTo>
                <a:lnTo>
                  <a:pt x="75320" y="109268"/>
                </a:lnTo>
                <a:lnTo>
                  <a:pt x="46878" y="148081"/>
                </a:lnTo>
                <a:lnTo>
                  <a:pt x="24588" y="191113"/>
                </a:lnTo>
                <a:lnTo>
                  <a:pt x="9093" y="237720"/>
                </a:lnTo>
                <a:lnTo>
                  <a:pt x="1037" y="287260"/>
                </a:lnTo>
                <a:lnTo>
                  <a:pt x="0" y="312928"/>
                </a:lnTo>
                <a:lnTo>
                  <a:pt x="0" y="3327946"/>
                </a:lnTo>
                <a:lnTo>
                  <a:pt x="4095" y="3378699"/>
                </a:lnTo>
                <a:lnTo>
                  <a:pt x="15951" y="3426845"/>
                </a:lnTo>
                <a:lnTo>
                  <a:pt x="34924" y="3471739"/>
                </a:lnTo>
                <a:lnTo>
                  <a:pt x="60370" y="3512736"/>
                </a:lnTo>
                <a:lnTo>
                  <a:pt x="91646" y="3549194"/>
                </a:lnTo>
                <a:lnTo>
                  <a:pt x="128107" y="3580467"/>
                </a:lnTo>
                <a:lnTo>
                  <a:pt x="169110" y="3605912"/>
                </a:lnTo>
                <a:lnTo>
                  <a:pt x="214010" y="3624885"/>
                </a:lnTo>
                <a:lnTo>
                  <a:pt x="262164" y="3636740"/>
                </a:lnTo>
                <a:lnTo>
                  <a:pt x="312928" y="3640836"/>
                </a:lnTo>
                <a:lnTo>
                  <a:pt x="5674868" y="3640836"/>
                </a:lnTo>
                <a:lnTo>
                  <a:pt x="5725631" y="3636740"/>
                </a:lnTo>
                <a:lnTo>
                  <a:pt x="5773785" y="3624885"/>
                </a:lnTo>
                <a:lnTo>
                  <a:pt x="5818685" y="3605912"/>
                </a:lnTo>
                <a:lnTo>
                  <a:pt x="5859688" y="3580467"/>
                </a:lnTo>
                <a:lnTo>
                  <a:pt x="5896149" y="3549194"/>
                </a:lnTo>
                <a:lnTo>
                  <a:pt x="5927425" y="3512736"/>
                </a:lnTo>
                <a:lnTo>
                  <a:pt x="5952871" y="3471739"/>
                </a:lnTo>
                <a:lnTo>
                  <a:pt x="5971844" y="3426845"/>
                </a:lnTo>
                <a:lnTo>
                  <a:pt x="5983700" y="3378699"/>
                </a:lnTo>
                <a:lnTo>
                  <a:pt x="5987796" y="3327946"/>
                </a:lnTo>
                <a:lnTo>
                  <a:pt x="5987796" y="312928"/>
                </a:lnTo>
                <a:lnTo>
                  <a:pt x="5983700" y="262164"/>
                </a:lnTo>
                <a:lnTo>
                  <a:pt x="5971844" y="214010"/>
                </a:lnTo>
                <a:lnTo>
                  <a:pt x="5952871" y="169110"/>
                </a:lnTo>
                <a:lnTo>
                  <a:pt x="5927425" y="128107"/>
                </a:lnTo>
                <a:lnTo>
                  <a:pt x="5896149" y="91646"/>
                </a:lnTo>
                <a:lnTo>
                  <a:pt x="5859688" y="60370"/>
                </a:lnTo>
                <a:lnTo>
                  <a:pt x="5818685" y="34924"/>
                </a:lnTo>
                <a:lnTo>
                  <a:pt x="5773785" y="15951"/>
                </a:lnTo>
                <a:lnTo>
                  <a:pt x="5725631" y="4095"/>
                </a:lnTo>
                <a:lnTo>
                  <a:pt x="5674868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56204" y="2374392"/>
            <a:ext cx="5987796" cy="3640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940" y="815831"/>
            <a:ext cx="688848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交通分布式计算与大数据处理平台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644" y="1884161"/>
            <a:ext cx="328015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50" spc="85" dirty="0">
                <a:solidFill>
                  <a:srgbClr val="006FC0"/>
                </a:solidFill>
                <a:latin typeface="Segoe UI Symbol"/>
                <a:cs typeface="Segoe UI Symbol"/>
              </a:rPr>
              <a:t>	</a:t>
            </a:r>
            <a:r>
              <a:rPr sz="2400" spc="85" dirty="0">
                <a:solidFill>
                  <a:srgbClr val="006FC0"/>
                </a:solidFill>
                <a:latin typeface="微软雅黑"/>
                <a:cs typeface="微软雅黑"/>
              </a:rPr>
              <a:t>远程登入操作平台</a:t>
            </a:r>
            <a:endParaRPr sz="24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5940" y="815831"/>
            <a:ext cx="23133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大数据计算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644" y="1884161"/>
            <a:ext cx="7960995" cy="219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400" spc="85" dirty="0" err="1">
                <a:solidFill>
                  <a:srgbClr val="006FC0"/>
                </a:solidFill>
                <a:latin typeface="微软雅黑"/>
                <a:cs typeface="微软雅黑"/>
              </a:rPr>
              <a:t>大数据计算</a:t>
            </a:r>
            <a:endParaRPr sz="2400" dirty="0">
              <a:latin typeface="微软雅黑"/>
              <a:cs typeface="微软雅黑"/>
            </a:endParaRPr>
          </a:p>
          <a:p>
            <a:pPr marL="177165" marR="5080" indent="457200">
              <a:lnSpc>
                <a:spcPct val="150000"/>
              </a:lnSpc>
              <a:spcBef>
                <a:spcPts val="1700"/>
              </a:spcBef>
            </a:pPr>
            <a:r>
              <a:rPr sz="1800" dirty="0">
                <a:latin typeface="微软雅黑"/>
                <a:cs typeface="微软雅黑"/>
              </a:rPr>
              <a:t>由于大数据处理多样性的需求，目前出现了多种典型的计算模式，包括 大数据查询分析计算（如</a:t>
            </a:r>
            <a:r>
              <a:rPr sz="1800" spc="-5" dirty="0">
                <a:latin typeface="微软雅黑"/>
                <a:cs typeface="微软雅黑"/>
              </a:rPr>
              <a:t>Hi</a:t>
            </a:r>
            <a:r>
              <a:rPr sz="1800" spc="-20" dirty="0">
                <a:latin typeface="微软雅黑"/>
                <a:cs typeface="微软雅黑"/>
              </a:rPr>
              <a:t>v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dirty="0">
                <a:latin typeface="微软雅黑"/>
                <a:cs typeface="微软雅黑"/>
              </a:rPr>
              <a:t>）、批处理计算（如</a:t>
            </a:r>
            <a:r>
              <a:rPr sz="1800" spc="-10" dirty="0">
                <a:latin typeface="微软雅黑"/>
                <a:cs typeface="微软雅黑"/>
              </a:rPr>
              <a:t>Hadoo</a:t>
            </a:r>
            <a:r>
              <a:rPr sz="1800" spc="-5" dirty="0">
                <a:latin typeface="微软雅黑"/>
                <a:cs typeface="微软雅黑"/>
              </a:rPr>
              <a:t>p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M</a:t>
            </a:r>
            <a:r>
              <a:rPr sz="1800" spc="-5" dirty="0">
                <a:latin typeface="微软雅黑"/>
                <a:cs typeface="微软雅黑"/>
              </a:rPr>
              <a:t>ap</a:t>
            </a:r>
            <a:r>
              <a:rPr sz="1800" spc="-65" dirty="0">
                <a:latin typeface="微软雅黑"/>
                <a:cs typeface="微软雅黑"/>
              </a:rPr>
              <a:t>R</a:t>
            </a:r>
            <a:r>
              <a:rPr sz="1800" spc="-5" dirty="0">
                <a:latin typeface="微软雅黑"/>
                <a:cs typeface="微软雅黑"/>
              </a:rPr>
              <a:t>e</a:t>
            </a:r>
            <a:r>
              <a:rPr sz="1800" spc="5" dirty="0">
                <a:latin typeface="微软雅黑"/>
                <a:cs typeface="微软雅黑"/>
              </a:rPr>
              <a:t>d</a:t>
            </a:r>
            <a:r>
              <a:rPr sz="1800" spc="-5" dirty="0">
                <a:latin typeface="微软雅黑"/>
                <a:cs typeface="微软雅黑"/>
              </a:rPr>
              <a:t>u</a:t>
            </a:r>
            <a:r>
              <a:rPr sz="1800" spc="-10" dirty="0">
                <a:latin typeface="微软雅黑"/>
                <a:cs typeface="微软雅黑"/>
              </a:rPr>
              <a:t>c</a:t>
            </a:r>
            <a:r>
              <a:rPr sz="1800" spc="15" dirty="0">
                <a:latin typeface="微软雅黑"/>
                <a:cs typeface="微软雅黑"/>
              </a:rPr>
              <a:t>e</a:t>
            </a:r>
            <a:r>
              <a:rPr sz="1800" dirty="0">
                <a:latin typeface="微软雅黑"/>
                <a:cs typeface="微软雅黑"/>
              </a:rPr>
              <a:t>）、 流式计算（</a:t>
            </a:r>
            <a:r>
              <a:rPr sz="1800" spc="-5" dirty="0">
                <a:latin typeface="微软雅黑"/>
                <a:cs typeface="微软雅黑"/>
              </a:rPr>
              <a:t>如</a:t>
            </a:r>
            <a:r>
              <a:rPr sz="1800" spc="-55" dirty="0">
                <a:latin typeface="微软雅黑"/>
                <a:cs typeface="微软雅黑"/>
              </a:rPr>
              <a:t>S</a:t>
            </a:r>
            <a:r>
              <a:rPr sz="1800" spc="-15" dirty="0">
                <a:latin typeface="微软雅黑"/>
                <a:cs typeface="微软雅黑"/>
              </a:rPr>
              <a:t>t</a:t>
            </a:r>
            <a:r>
              <a:rPr sz="1800" spc="-5" dirty="0">
                <a:latin typeface="微软雅黑"/>
                <a:cs typeface="微软雅黑"/>
              </a:rPr>
              <a:t>o</a:t>
            </a:r>
            <a:r>
              <a:rPr sz="1800" spc="-15" dirty="0">
                <a:latin typeface="微软雅黑"/>
                <a:cs typeface="微软雅黑"/>
              </a:rPr>
              <a:t>r</a:t>
            </a:r>
            <a:r>
              <a:rPr sz="1800" spc="5" dirty="0">
                <a:latin typeface="微软雅黑"/>
                <a:cs typeface="微软雅黑"/>
              </a:rPr>
              <a:t>m</a:t>
            </a:r>
            <a:r>
              <a:rPr sz="1800" dirty="0">
                <a:latin typeface="微软雅黑"/>
                <a:cs typeface="微软雅黑"/>
              </a:rPr>
              <a:t>）、迭代计算（如</a:t>
            </a:r>
            <a:r>
              <a:rPr sz="1800" spc="-5" dirty="0">
                <a:latin typeface="微软雅黑"/>
                <a:cs typeface="微软雅黑"/>
              </a:rPr>
              <a:t>HaLoop</a:t>
            </a:r>
            <a:r>
              <a:rPr sz="1800" dirty="0">
                <a:latin typeface="微软雅黑"/>
                <a:cs typeface="微软雅黑"/>
              </a:rPr>
              <a:t>）、图计算（如</a:t>
            </a:r>
            <a:r>
              <a:rPr sz="1800" spc="-5" dirty="0">
                <a:latin typeface="微软雅黑"/>
                <a:cs typeface="微软雅黑"/>
              </a:rPr>
              <a:t>P</a:t>
            </a:r>
            <a:r>
              <a:rPr sz="1800" spc="-30" dirty="0">
                <a:latin typeface="微软雅黑"/>
                <a:cs typeface="微软雅黑"/>
              </a:rPr>
              <a:t>r</a:t>
            </a:r>
            <a:r>
              <a:rPr sz="1800" spc="-5" dirty="0">
                <a:latin typeface="微软雅黑"/>
                <a:cs typeface="微软雅黑"/>
              </a:rPr>
              <a:t>ege</a:t>
            </a:r>
            <a:r>
              <a:rPr sz="1800" dirty="0">
                <a:latin typeface="微软雅黑"/>
                <a:cs typeface="微软雅黑"/>
              </a:rPr>
              <a:t>l）和 </a:t>
            </a:r>
            <a:r>
              <a:rPr sz="1800" spc="-5" dirty="0">
                <a:latin typeface="微软雅黑"/>
                <a:cs typeface="微软雅黑"/>
              </a:rPr>
              <a:t>内存计算（如Ha</a:t>
            </a:r>
            <a:r>
              <a:rPr sz="1800" spc="-10" dirty="0">
                <a:latin typeface="微软雅黑"/>
                <a:cs typeface="微软雅黑"/>
              </a:rPr>
              <a:t>n</a:t>
            </a:r>
            <a:r>
              <a:rPr sz="1800" dirty="0">
                <a:latin typeface="微软雅黑"/>
                <a:cs typeface="微软雅黑"/>
              </a:rPr>
              <a:t>a）。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25067" y="3233927"/>
            <a:ext cx="6848856" cy="2929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6971" y="3235451"/>
            <a:ext cx="1562100" cy="1125220"/>
          </a:xfrm>
          <a:custGeom>
            <a:avLst/>
            <a:gdLst/>
            <a:ahLst/>
            <a:cxnLst/>
            <a:rect l="l" t="t" r="r" b="b"/>
            <a:pathLst>
              <a:path w="1562100" h="1125220">
                <a:moveTo>
                  <a:pt x="92052" y="527289"/>
                </a:moveTo>
                <a:lnTo>
                  <a:pt x="91275" y="528644"/>
                </a:lnTo>
                <a:lnTo>
                  <a:pt x="83657" y="543204"/>
                </a:lnTo>
                <a:lnTo>
                  <a:pt x="78263" y="553395"/>
                </a:lnTo>
                <a:lnTo>
                  <a:pt x="67481" y="560426"/>
                </a:lnTo>
                <a:lnTo>
                  <a:pt x="65402" y="561840"/>
                </a:lnTo>
                <a:lnTo>
                  <a:pt x="64564" y="562644"/>
                </a:lnTo>
                <a:lnTo>
                  <a:pt x="63715" y="564789"/>
                </a:lnTo>
                <a:lnTo>
                  <a:pt x="62255" y="567315"/>
                </a:lnTo>
                <a:lnTo>
                  <a:pt x="36235" y="596968"/>
                </a:lnTo>
                <a:lnTo>
                  <a:pt x="0" y="632587"/>
                </a:lnTo>
                <a:lnTo>
                  <a:pt x="140588" y="751586"/>
                </a:lnTo>
                <a:lnTo>
                  <a:pt x="599948" y="751586"/>
                </a:lnTo>
                <a:lnTo>
                  <a:pt x="621538" y="838073"/>
                </a:lnTo>
                <a:lnTo>
                  <a:pt x="399923" y="859790"/>
                </a:lnTo>
                <a:lnTo>
                  <a:pt x="162178" y="1124712"/>
                </a:lnTo>
                <a:lnTo>
                  <a:pt x="535051" y="1086866"/>
                </a:lnTo>
                <a:lnTo>
                  <a:pt x="654050" y="1005713"/>
                </a:lnTo>
                <a:lnTo>
                  <a:pt x="1145920" y="610997"/>
                </a:lnTo>
                <a:lnTo>
                  <a:pt x="1159014" y="532436"/>
                </a:lnTo>
                <a:lnTo>
                  <a:pt x="93229" y="532436"/>
                </a:lnTo>
                <a:lnTo>
                  <a:pt x="92067" y="532264"/>
                </a:lnTo>
                <a:lnTo>
                  <a:pt x="91676" y="531367"/>
                </a:lnTo>
                <a:lnTo>
                  <a:pt x="91669" y="529856"/>
                </a:lnTo>
                <a:lnTo>
                  <a:pt x="91938" y="528368"/>
                </a:lnTo>
                <a:lnTo>
                  <a:pt x="92052" y="527289"/>
                </a:lnTo>
                <a:close/>
              </a:path>
              <a:path w="1562100" h="1125220">
                <a:moveTo>
                  <a:pt x="246832" y="389570"/>
                </a:moveTo>
                <a:lnTo>
                  <a:pt x="246424" y="389830"/>
                </a:lnTo>
                <a:lnTo>
                  <a:pt x="244946" y="391165"/>
                </a:lnTo>
                <a:lnTo>
                  <a:pt x="223114" y="411857"/>
                </a:lnTo>
                <a:lnTo>
                  <a:pt x="208906" y="415731"/>
                </a:lnTo>
                <a:lnTo>
                  <a:pt x="194563" y="421767"/>
                </a:lnTo>
                <a:lnTo>
                  <a:pt x="189102" y="425196"/>
                </a:lnTo>
                <a:lnTo>
                  <a:pt x="187325" y="432562"/>
                </a:lnTo>
                <a:lnTo>
                  <a:pt x="183464" y="438200"/>
                </a:lnTo>
                <a:lnTo>
                  <a:pt x="149949" y="460998"/>
                </a:lnTo>
                <a:lnTo>
                  <a:pt x="135683" y="483121"/>
                </a:lnTo>
                <a:lnTo>
                  <a:pt x="128976" y="492665"/>
                </a:lnTo>
                <a:lnTo>
                  <a:pt x="103637" y="523853"/>
                </a:lnTo>
                <a:lnTo>
                  <a:pt x="93229" y="532436"/>
                </a:lnTo>
                <a:lnTo>
                  <a:pt x="1159014" y="532436"/>
                </a:lnTo>
                <a:lnTo>
                  <a:pt x="1181308" y="398673"/>
                </a:lnTo>
                <a:lnTo>
                  <a:pt x="242903" y="398673"/>
                </a:lnTo>
                <a:lnTo>
                  <a:pt x="241656" y="398591"/>
                </a:lnTo>
                <a:lnTo>
                  <a:pt x="246431" y="390157"/>
                </a:lnTo>
                <a:lnTo>
                  <a:pt x="246832" y="389570"/>
                </a:lnTo>
                <a:close/>
              </a:path>
              <a:path w="1562100" h="1125220">
                <a:moveTo>
                  <a:pt x="329944" y="327072"/>
                </a:moveTo>
                <a:lnTo>
                  <a:pt x="319064" y="335183"/>
                </a:lnTo>
                <a:lnTo>
                  <a:pt x="316362" y="338562"/>
                </a:lnTo>
                <a:lnTo>
                  <a:pt x="287019" y="366649"/>
                </a:lnTo>
                <a:lnTo>
                  <a:pt x="280669" y="368935"/>
                </a:lnTo>
                <a:lnTo>
                  <a:pt x="274213" y="374423"/>
                </a:lnTo>
                <a:lnTo>
                  <a:pt x="242903" y="398673"/>
                </a:lnTo>
                <a:lnTo>
                  <a:pt x="1181308" y="398673"/>
                </a:lnTo>
                <a:lnTo>
                  <a:pt x="1183766" y="383921"/>
                </a:lnTo>
                <a:lnTo>
                  <a:pt x="1053973" y="362331"/>
                </a:lnTo>
                <a:lnTo>
                  <a:pt x="1036238" y="340613"/>
                </a:lnTo>
                <a:lnTo>
                  <a:pt x="648588" y="340613"/>
                </a:lnTo>
                <a:lnTo>
                  <a:pt x="329944" y="327072"/>
                </a:lnTo>
                <a:close/>
              </a:path>
              <a:path w="1562100" h="1125220">
                <a:moveTo>
                  <a:pt x="1562100" y="0"/>
                </a:moveTo>
                <a:lnTo>
                  <a:pt x="675639" y="10795"/>
                </a:lnTo>
                <a:lnTo>
                  <a:pt x="491870" y="183896"/>
                </a:lnTo>
                <a:lnTo>
                  <a:pt x="518922" y="216281"/>
                </a:lnTo>
                <a:lnTo>
                  <a:pt x="648588" y="243332"/>
                </a:lnTo>
                <a:lnTo>
                  <a:pt x="648588" y="340613"/>
                </a:lnTo>
                <a:lnTo>
                  <a:pt x="1036238" y="340613"/>
                </a:lnTo>
                <a:lnTo>
                  <a:pt x="1005331" y="302768"/>
                </a:lnTo>
                <a:lnTo>
                  <a:pt x="1059433" y="248793"/>
                </a:lnTo>
                <a:lnTo>
                  <a:pt x="1302639" y="156845"/>
                </a:lnTo>
                <a:lnTo>
                  <a:pt x="1421511" y="135127"/>
                </a:lnTo>
                <a:lnTo>
                  <a:pt x="156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26764" y="4101084"/>
            <a:ext cx="660400" cy="259079"/>
          </a:xfrm>
          <a:custGeom>
            <a:avLst/>
            <a:gdLst/>
            <a:ahLst/>
            <a:cxnLst/>
            <a:rect l="l" t="t" r="r" b="b"/>
            <a:pathLst>
              <a:path w="660400" h="259079">
                <a:moveTo>
                  <a:pt x="140588" y="21590"/>
                </a:moveTo>
                <a:lnTo>
                  <a:pt x="5461" y="21590"/>
                </a:lnTo>
                <a:lnTo>
                  <a:pt x="0" y="124079"/>
                </a:lnTo>
                <a:lnTo>
                  <a:pt x="32512" y="140335"/>
                </a:lnTo>
                <a:lnTo>
                  <a:pt x="54101" y="253619"/>
                </a:lnTo>
                <a:lnTo>
                  <a:pt x="659891" y="259080"/>
                </a:lnTo>
                <a:lnTo>
                  <a:pt x="398147" y="26924"/>
                </a:lnTo>
                <a:lnTo>
                  <a:pt x="205486" y="26924"/>
                </a:lnTo>
                <a:lnTo>
                  <a:pt x="140588" y="21590"/>
                </a:lnTo>
                <a:close/>
              </a:path>
              <a:path w="660400" h="259079">
                <a:moveTo>
                  <a:pt x="367791" y="0"/>
                </a:moveTo>
                <a:lnTo>
                  <a:pt x="248793" y="16129"/>
                </a:lnTo>
                <a:lnTo>
                  <a:pt x="205486" y="26924"/>
                </a:lnTo>
                <a:lnTo>
                  <a:pt x="398147" y="26924"/>
                </a:lnTo>
                <a:lnTo>
                  <a:pt x="3677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36903" y="5922264"/>
            <a:ext cx="1384300" cy="241300"/>
          </a:xfrm>
          <a:custGeom>
            <a:avLst/>
            <a:gdLst/>
            <a:ahLst/>
            <a:cxnLst/>
            <a:rect l="l" t="t" r="r" b="b"/>
            <a:pathLst>
              <a:path w="1384300" h="241300">
                <a:moveTo>
                  <a:pt x="0" y="240792"/>
                </a:moveTo>
                <a:lnTo>
                  <a:pt x="1383792" y="240792"/>
                </a:lnTo>
                <a:lnTo>
                  <a:pt x="1383792" y="0"/>
                </a:lnTo>
                <a:lnTo>
                  <a:pt x="0" y="0"/>
                </a:lnTo>
                <a:lnTo>
                  <a:pt x="0" y="2407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6655" y="5922264"/>
            <a:ext cx="2758440" cy="241300"/>
          </a:xfrm>
          <a:custGeom>
            <a:avLst/>
            <a:gdLst/>
            <a:ahLst/>
            <a:cxnLst/>
            <a:rect l="l" t="t" r="r" b="b"/>
            <a:pathLst>
              <a:path w="2758440" h="241300">
                <a:moveTo>
                  <a:pt x="0" y="240792"/>
                </a:moveTo>
                <a:lnTo>
                  <a:pt x="2758440" y="240792"/>
                </a:lnTo>
                <a:lnTo>
                  <a:pt x="2758440" y="0"/>
                </a:lnTo>
                <a:lnTo>
                  <a:pt x="0" y="0"/>
                </a:lnTo>
                <a:lnTo>
                  <a:pt x="0" y="2407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88464" y="3410711"/>
            <a:ext cx="741045" cy="161925"/>
          </a:xfrm>
          <a:custGeom>
            <a:avLst/>
            <a:gdLst/>
            <a:ahLst/>
            <a:cxnLst/>
            <a:rect l="l" t="t" r="r" b="b"/>
            <a:pathLst>
              <a:path w="741044" h="161925">
                <a:moveTo>
                  <a:pt x="0" y="161544"/>
                </a:moveTo>
                <a:lnTo>
                  <a:pt x="740663" y="161544"/>
                </a:lnTo>
                <a:lnTo>
                  <a:pt x="740663" y="0"/>
                </a:lnTo>
                <a:lnTo>
                  <a:pt x="0" y="0"/>
                </a:lnTo>
                <a:lnTo>
                  <a:pt x="0" y="1615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88464" y="3742944"/>
            <a:ext cx="741045" cy="160020"/>
          </a:xfrm>
          <a:custGeom>
            <a:avLst/>
            <a:gdLst/>
            <a:ahLst/>
            <a:cxnLst/>
            <a:rect l="l" t="t" r="r" b="b"/>
            <a:pathLst>
              <a:path w="741044" h="160020">
                <a:moveTo>
                  <a:pt x="0" y="160019"/>
                </a:moveTo>
                <a:lnTo>
                  <a:pt x="740663" y="160019"/>
                </a:lnTo>
                <a:lnTo>
                  <a:pt x="740663" y="0"/>
                </a:lnTo>
                <a:lnTo>
                  <a:pt x="0" y="0"/>
                </a:lnTo>
                <a:lnTo>
                  <a:pt x="0" y="1600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88464" y="4069079"/>
            <a:ext cx="741045" cy="161925"/>
          </a:xfrm>
          <a:custGeom>
            <a:avLst/>
            <a:gdLst/>
            <a:ahLst/>
            <a:cxnLst/>
            <a:rect l="l" t="t" r="r" b="b"/>
            <a:pathLst>
              <a:path w="741044" h="161925">
                <a:moveTo>
                  <a:pt x="0" y="161544"/>
                </a:moveTo>
                <a:lnTo>
                  <a:pt x="740663" y="161544"/>
                </a:lnTo>
                <a:lnTo>
                  <a:pt x="740663" y="0"/>
                </a:lnTo>
                <a:lnTo>
                  <a:pt x="0" y="0"/>
                </a:lnTo>
                <a:lnTo>
                  <a:pt x="0" y="1615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14800" y="3425952"/>
            <a:ext cx="742315" cy="161925"/>
          </a:xfrm>
          <a:custGeom>
            <a:avLst/>
            <a:gdLst/>
            <a:ahLst/>
            <a:cxnLst/>
            <a:rect l="l" t="t" r="r" b="b"/>
            <a:pathLst>
              <a:path w="742314" h="161925">
                <a:moveTo>
                  <a:pt x="0" y="161544"/>
                </a:moveTo>
                <a:lnTo>
                  <a:pt x="742188" y="161544"/>
                </a:lnTo>
                <a:lnTo>
                  <a:pt x="742188" y="0"/>
                </a:lnTo>
                <a:lnTo>
                  <a:pt x="0" y="0"/>
                </a:lnTo>
                <a:lnTo>
                  <a:pt x="0" y="1615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14800" y="3982211"/>
            <a:ext cx="742315" cy="160020"/>
          </a:xfrm>
          <a:custGeom>
            <a:avLst/>
            <a:gdLst/>
            <a:ahLst/>
            <a:cxnLst/>
            <a:rect l="l" t="t" r="r" b="b"/>
            <a:pathLst>
              <a:path w="742314" h="160020">
                <a:moveTo>
                  <a:pt x="0" y="160019"/>
                </a:moveTo>
                <a:lnTo>
                  <a:pt x="742188" y="160019"/>
                </a:lnTo>
                <a:lnTo>
                  <a:pt x="742188" y="0"/>
                </a:lnTo>
                <a:lnTo>
                  <a:pt x="0" y="0"/>
                </a:lnTo>
                <a:lnTo>
                  <a:pt x="0" y="1600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70803" y="3384803"/>
            <a:ext cx="741045" cy="160020"/>
          </a:xfrm>
          <a:custGeom>
            <a:avLst/>
            <a:gdLst/>
            <a:ahLst/>
            <a:cxnLst/>
            <a:rect l="l" t="t" r="r" b="b"/>
            <a:pathLst>
              <a:path w="741045" h="160020">
                <a:moveTo>
                  <a:pt x="0" y="160020"/>
                </a:moveTo>
                <a:lnTo>
                  <a:pt x="740663" y="160020"/>
                </a:lnTo>
                <a:lnTo>
                  <a:pt x="740663" y="0"/>
                </a:lnTo>
                <a:lnTo>
                  <a:pt x="0" y="0"/>
                </a:lnTo>
                <a:lnTo>
                  <a:pt x="0" y="1600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70803" y="3939540"/>
            <a:ext cx="741045" cy="161925"/>
          </a:xfrm>
          <a:custGeom>
            <a:avLst/>
            <a:gdLst/>
            <a:ahLst/>
            <a:cxnLst/>
            <a:rect l="l" t="t" r="r" b="b"/>
            <a:pathLst>
              <a:path w="741045" h="161925">
                <a:moveTo>
                  <a:pt x="0" y="161544"/>
                </a:moveTo>
                <a:lnTo>
                  <a:pt x="740663" y="161544"/>
                </a:lnTo>
                <a:lnTo>
                  <a:pt x="740663" y="0"/>
                </a:lnTo>
                <a:lnTo>
                  <a:pt x="0" y="0"/>
                </a:lnTo>
                <a:lnTo>
                  <a:pt x="0" y="1615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71359" y="3422903"/>
            <a:ext cx="742315" cy="161925"/>
          </a:xfrm>
          <a:custGeom>
            <a:avLst/>
            <a:gdLst/>
            <a:ahLst/>
            <a:cxnLst/>
            <a:rect l="l" t="t" r="r" b="b"/>
            <a:pathLst>
              <a:path w="742315" h="161925">
                <a:moveTo>
                  <a:pt x="0" y="161544"/>
                </a:moveTo>
                <a:lnTo>
                  <a:pt x="742188" y="161544"/>
                </a:lnTo>
                <a:lnTo>
                  <a:pt x="742188" y="0"/>
                </a:lnTo>
                <a:lnTo>
                  <a:pt x="0" y="0"/>
                </a:lnTo>
                <a:lnTo>
                  <a:pt x="0" y="1615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71359" y="3979164"/>
            <a:ext cx="742315" cy="160020"/>
          </a:xfrm>
          <a:custGeom>
            <a:avLst/>
            <a:gdLst/>
            <a:ahLst/>
            <a:cxnLst/>
            <a:rect l="l" t="t" r="r" b="b"/>
            <a:pathLst>
              <a:path w="742315" h="160020">
                <a:moveTo>
                  <a:pt x="0" y="160019"/>
                </a:moveTo>
                <a:lnTo>
                  <a:pt x="742188" y="160019"/>
                </a:lnTo>
                <a:lnTo>
                  <a:pt x="742188" y="0"/>
                </a:lnTo>
                <a:lnTo>
                  <a:pt x="0" y="0"/>
                </a:lnTo>
                <a:lnTo>
                  <a:pt x="0" y="1600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815831"/>
            <a:ext cx="23133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大数据计算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3644" y="1884161"/>
            <a:ext cx="7850505" cy="125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50" spc="85" dirty="0">
                <a:solidFill>
                  <a:srgbClr val="006FC0"/>
                </a:solidFill>
                <a:latin typeface="Segoe UI Symbol"/>
                <a:cs typeface="Segoe UI Symbol"/>
              </a:rPr>
              <a:t>	</a:t>
            </a:r>
            <a:r>
              <a:rPr sz="2400" spc="85" dirty="0">
                <a:solidFill>
                  <a:srgbClr val="006FC0"/>
                </a:solidFill>
                <a:latin typeface="微软雅黑"/>
                <a:cs typeface="微软雅黑"/>
              </a:rPr>
              <a:t>并行计算技术</a:t>
            </a:r>
            <a:endParaRPr sz="2400">
              <a:latin typeface="微软雅黑"/>
              <a:cs typeface="微软雅黑"/>
            </a:endParaRPr>
          </a:p>
          <a:p>
            <a:pPr marL="293370" marR="5080" indent="457200">
              <a:lnSpc>
                <a:spcPct val="150000"/>
              </a:lnSpc>
              <a:spcBef>
                <a:spcPts val="770"/>
              </a:spcBef>
            </a:pPr>
            <a:r>
              <a:rPr sz="1800" dirty="0">
                <a:latin typeface="微软雅黑"/>
                <a:cs typeface="微软雅黑"/>
              </a:rPr>
              <a:t>发挥多计算机或多核处理器优势，将传统计算过程分解成若干个独立计 算部分，通过多线程并行协同完成，加快计算过程，节省运行时间。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9905" y="5965742"/>
            <a:ext cx="10966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0" dirty="0">
                <a:latin typeface="宋体"/>
                <a:cs typeface="宋体"/>
              </a:rPr>
              <a:t>传统单</a:t>
            </a:r>
            <a:r>
              <a:rPr sz="1200" b="1" spc="-5" dirty="0">
                <a:latin typeface="宋体"/>
                <a:cs typeface="宋体"/>
              </a:rPr>
              <a:t>线程算法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93996" y="5965742"/>
            <a:ext cx="10966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0" dirty="0">
                <a:latin typeface="宋体"/>
                <a:cs typeface="宋体"/>
              </a:rPr>
              <a:t>多线程</a:t>
            </a:r>
            <a:r>
              <a:rPr sz="1200" b="1" spc="-5" dirty="0">
                <a:latin typeface="宋体"/>
                <a:cs typeface="宋体"/>
              </a:rPr>
              <a:t>并行算法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79395" y="3413982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浮动车a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79395" y="3745579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浮动车b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79395" y="4072604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浮动车c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06621" y="3429222"/>
            <a:ext cx="5594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浮动车a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06621" y="3985101"/>
            <a:ext cx="5594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浮动车b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1990" y="3387185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浮动车c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61990" y="3942810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浮动车d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63816" y="3426174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浮动车e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63816" y="3981799"/>
            <a:ext cx="558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宋体"/>
                <a:cs typeface="宋体"/>
              </a:rPr>
              <a:t>浮动车f</a:t>
            </a:r>
            <a:endParaRPr sz="1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815831"/>
            <a:ext cx="36855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大数据分析与挖掘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644" y="1884161"/>
            <a:ext cx="7734934" cy="2061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50" spc="85" dirty="0">
                <a:solidFill>
                  <a:srgbClr val="006FC0"/>
                </a:solidFill>
                <a:latin typeface="Segoe UI Symbol"/>
                <a:cs typeface="Segoe UI Symbol"/>
              </a:rPr>
              <a:t>	</a:t>
            </a:r>
            <a:r>
              <a:rPr sz="2400" spc="85" dirty="0">
                <a:solidFill>
                  <a:srgbClr val="006FC0"/>
                </a:solidFill>
                <a:latin typeface="微软雅黑"/>
                <a:cs typeface="微软雅黑"/>
              </a:rPr>
              <a:t>大数据分析与挖掘</a:t>
            </a:r>
            <a:endParaRPr sz="2400" dirty="0">
              <a:latin typeface="微软雅黑"/>
              <a:cs typeface="微软雅黑"/>
            </a:endParaRPr>
          </a:p>
          <a:p>
            <a:pPr marL="177165" marR="5080" indent="457200" algn="just">
              <a:lnSpc>
                <a:spcPct val="150000"/>
              </a:lnSpc>
              <a:spcBef>
                <a:spcPts val="665"/>
              </a:spcBef>
            </a:pPr>
            <a:r>
              <a:rPr sz="1800" b="1" dirty="0">
                <a:latin typeface="微软雅黑"/>
                <a:cs typeface="微软雅黑"/>
              </a:rPr>
              <a:t>数据挖掘：在大量的数据中提取或挖掘信息，通过分析来揭示数据之间 有意义的联系、趋势和模式。</a:t>
            </a:r>
            <a:r>
              <a:rPr sz="1800" dirty="0">
                <a:latin typeface="微软雅黑"/>
                <a:cs typeface="微软雅黑"/>
              </a:rPr>
              <a:t>在数据量迅速膨胀的同时，还要进行深度的数 </a:t>
            </a:r>
            <a:r>
              <a:rPr sz="1800" spc="-5" dirty="0">
                <a:latin typeface="微软雅黑"/>
                <a:cs typeface="微软雅黑"/>
              </a:rPr>
              <a:t>据深度分析和挖掘。越来越多的大数据数据分析工具和产品应运而生，如用 </a:t>
            </a:r>
            <a:r>
              <a:rPr sz="1800" dirty="0">
                <a:latin typeface="微软雅黑"/>
                <a:cs typeface="微软雅黑"/>
              </a:rPr>
              <a:t>于大数据挖掘</a:t>
            </a:r>
            <a:r>
              <a:rPr sz="1800" spc="-5" dirty="0">
                <a:latin typeface="微软雅黑"/>
                <a:cs typeface="微软雅黑"/>
              </a:rPr>
              <a:t>的R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Hadoo</a:t>
            </a:r>
            <a:r>
              <a:rPr sz="1800" dirty="0">
                <a:latin typeface="微软雅黑"/>
                <a:cs typeface="微软雅黑"/>
              </a:rPr>
              <a:t>p版、基于</a:t>
            </a:r>
            <a:r>
              <a:rPr sz="1800" spc="-5" dirty="0">
                <a:latin typeface="微软雅黑"/>
                <a:cs typeface="微软雅黑"/>
              </a:rPr>
              <a:t>Map</a:t>
            </a:r>
            <a:r>
              <a:rPr sz="1800" spc="-65" dirty="0">
                <a:latin typeface="微软雅黑"/>
                <a:cs typeface="微软雅黑"/>
              </a:rPr>
              <a:t>R</a:t>
            </a:r>
            <a:r>
              <a:rPr sz="1800" spc="-5" dirty="0">
                <a:latin typeface="微软雅黑"/>
                <a:cs typeface="微软雅黑"/>
              </a:rPr>
              <a:t>edu</a:t>
            </a:r>
            <a:r>
              <a:rPr sz="1800" spc="-10" dirty="0">
                <a:latin typeface="微软雅黑"/>
                <a:cs typeface="微软雅黑"/>
              </a:rPr>
              <a:t>c</a:t>
            </a:r>
            <a:r>
              <a:rPr sz="1800" dirty="0">
                <a:latin typeface="微软雅黑"/>
                <a:cs typeface="微软雅黑"/>
              </a:rPr>
              <a:t>e开发的数据挖掘算法等。</a:t>
            </a:r>
          </a:p>
        </p:txBody>
      </p:sp>
      <p:sp>
        <p:nvSpPr>
          <p:cNvPr id="5" name="object 5"/>
          <p:cNvSpPr/>
          <p:nvPr/>
        </p:nvSpPr>
        <p:spPr>
          <a:xfrm>
            <a:off x="4760976" y="5230367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4" h="702945">
                <a:moveTo>
                  <a:pt x="642747" y="0"/>
                </a:moveTo>
                <a:lnTo>
                  <a:pt x="175640" y="0"/>
                </a:lnTo>
                <a:lnTo>
                  <a:pt x="0" y="351281"/>
                </a:lnTo>
                <a:lnTo>
                  <a:pt x="175640" y="702563"/>
                </a:lnTo>
                <a:lnTo>
                  <a:pt x="642747" y="702563"/>
                </a:lnTo>
                <a:lnTo>
                  <a:pt x="818388" y="351281"/>
                </a:lnTo>
                <a:lnTo>
                  <a:pt x="64274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60976" y="5230367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4" h="702945">
                <a:moveTo>
                  <a:pt x="0" y="351281"/>
                </a:moveTo>
                <a:lnTo>
                  <a:pt x="175640" y="0"/>
                </a:lnTo>
                <a:lnTo>
                  <a:pt x="642747" y="0"/>
                </a:lnTo>
                <a:lnTo>
                  <a:pt x="818388" y="351281"/>
                </a:lnTo>
                <a:lnTo>
                  <a:pt x="642747" y="702563"/>
                </a:lnTo>
                <a:lnTo>
                  <a:pt x="175640" y="702563"/>
                </a:lnTo>
                <a:lnTo>
                  <a:pt x="0" y="351281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29378" y="5378698"/>
            <a:ext cx="48260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 marR="5080" indent="-76200">
              <a:lnSpc>
                <a:spcPct val="1425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数据库 技术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80788" y="5544311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75437" y="0"/>
                </a:moveTo>
                <a:lnTo>
                  <a:pt x="20574" y="0"/>
                </a:lnTo>
                <a:lnTo>
                  <a:pt x="0" y="41147"/>
                </a:lnTo>
                <a:lnTo>
                  <a:pt x="20574" y="82296"/>
                </a:lnTo>
                <a:lnTo>
                  <a:pt x="75437" y="82296"/>
                </a:lnTo>
                <a:lnTo>
                  <a:pt x="96012" y="41147"/>
                </a:lnTo>
                <a:lnTo>
                  <a:pt x="754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0788" y="5544311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0" y="41147"/>
                </a:moveTo>
                <a:lnTo>
                  <a:pt x="20574" y="0"/>
                </a:lnTo>
                <a:lnTo>
                  <a:pt x="75437" y="0"/>
                </a:lnTo>
                <a:lnTo>
                  <a:pt x="96012" y="41147"/>
                </a:lnTo>
                <a:lnTo>
                  <a:pt x="75437" y="82296"/>
                </a:lnTo>
                <a:lnTo>
                  <a:pt x="20574" y="82296"/>
                </a:lnTo>
                <a:lnTo>
                  <a:pt x="0" y="41147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55364" y="4841747"/>
            <a:ext cx="819912" cy="702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55364" y="4841747"/>
            <a:ext cx="820419" cy="702945"/>
          </a:xfrm>
          <a:custGeom>
            <a:avLst/>
            <a:gdLst/>
            <a:ahLst/>
            <a:cxnLst/>
            <a:rect l="l" t="t" r="r" b="b"/>
            <a:pathLst>
              <a:path w="820420" h="702945">
                <a:moveTo>
                  <a:pt x="0" y="351281"/>
                </a:moveTo>
                <a:lnTo>
                  <a:pt x="175640" y="0"/>
                </a:lnTo>
                <a:lnTo>
                  <a:pt x="644271" y="0"/>
                </a:lnTo>
                <a:lnTo>
                  <a:pt x="819912" y="351281"/>
                </a:lnTo>
                <a:lnTo>
                  <a:pt x="644271" y="702563"/>
                </a:lnTo>
                <a:lnTo>
                  <a:pt x="175640" y="702563"/>
                </a:lnTo>
                <a:lnTo>
                  <a:pt x="0" y="351281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17720" y="5451347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4" h="82550">
                <a:moveTo>
                  <a:pt x="73913" y="0"/>
                </a:moveTo>
                <a:lnTo>
                  <a:pt x="20574" y="0"/>
                </a:lnTo>
                <a:lnTo>
                  <a:pt x="0" y="41147"/>
                </a:lnTo>
                <a:lnTo>
                  <a:pt x="20574" y="82295"/>
                </a:lnTo>
                <a:lnTo>
                  <a:pt x="73913" y="82295"/>
                </a:lnTo>
                <a:lnTo>
                  <a:pt x="94487" y="41147"/>
                </a:lnTo>
                <a:lnTo>
                  <a:pt x="739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17720" y="5451347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4" h="82550">
                <a:moveTo>
                  <a:pt x="0" y="41147"/>
                </a:moveTo>
                <a:lnTo>
                  <a:pt x="20574" y="0"/>
                </a:lnTo>
                <a:lnTo>
                  <a:pt x="73913" y="0"/>
                </a:lnTo>
                <a:lnTo>
                  <a:pt x="94487" y="41147"/>
                </a:lnTo>
                <a:lnTo>
                  <a:pt x="73913" y="82295"/>
                </a:lnTo>
                <a:lnTo>
                  <a:pt x="20574" y="82295"/>
                </a:lnTo>
                <a:lnTo>
                  <a:pt x="0" y="41147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66588" y="4838700"/>
            <a:ext cx="818515" cy="704215"/>
          </a:xfrm>
          <a:custGeom>
            <a:avLst/>
            <a:gdLst/>
            <a:ahLst/>
            <a:cxnLst/>
            <a:rect l="l" t="t" r="r" b="b"/>
            <a:pathLst>
              <a:path w="818514" h="704214">
                <a:moveTo>
                  <a:pt x="642365" y="0"/>
                </a:moveTo>
                <a:lnTo>
                  <a:pt x="176022" y="0"/>
                </a:lnTo>
                <a:lnTo>
                  <a:pt x="0" y="352044"/>
                </a:lnTo>
                <a:lnTo>
                  <a:pt x="176022" y="704088"/>
                </a:lnTo>
                <a:lnTo>
                  <a:pt x="642365" y="704088"/>
                </a:lnTo>
                <a:lnTo>
                  <a:pt x="818388" y="352044"/>
                </a:lnTo>
                <a:lnTo>
                  <a:pt x="64236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66588" y="4838700"/>
            <a:ext cx="818515" cy="704215"/>
          </a:xfrm>
          <a:custGeom>
            <a:avLst/>
            <a:gdLst/>
            <a:ahLst/>
            <a:cxnLst/>
            <a:rect l="l" t="t" r="r" b="b"/>
            <a:pathLst>
              <a:path w="818514" h="704214">
                <a:moveTo>
                  <a:pt x="0" y="352044"/>
                </a:moveTo>
                <a:lnTo>
                  <a:pt x="176022" y="0"/>
                </a:lnTo>
                <a:lnTo>
                  <a:pt x="642365" y="0"/>
                </a:lnTo>
                <a:lnTo>
                  <a:pt x="818388" y="352044"/>
                </a:lnTo>
                <a:lnTo>
                  <a:pt x="642365" y="704088"/>
                </a:lnTo>
                <a:lnTo>
                  <a:pt x="176022" y="704088"/>
                </a:lnTo>
                <a:lnTo>
                  <a:pt x="0" y="352044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10554" y="4987538"/>
            <a:ext cx="33020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机器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5" dirty="0">
                <a:solidFill>
                  <a:srgbClr val="FFFFFF"/>
                </a:solidFill>
                <a:latin typeface="微软雅黑"/>
                <a:cs typeface="微软雅黑"/>
              </a:rPr>
              <a:t>学习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28944" y="5446776"/>
            <a:ext cx="96520" cy="83820"/>
          </a:xfrm>
          <a:custGeom>
            <a:avLst/>
            <a:gdLst/>
            <a:ahLst/>
            <a:cxnLst/>
            <a:rect l="l" t="t" r="r" b="b"/>
            <a:pathLst>
              <a:path w="96520" h="83820">
                <a:moveTo>
                  <a:pt x="75056" y="0"/>
                </a:moveTo>
                <a:lnTo>
                  <a:pt x="20954" y="0"/>
                </a:lnTo>
                <a:lnTo>
                  <a:pt x="0" y="41910"/>
                </a:lnTo>
                <a:lnTo>
                  <a:pt x="20954" y="83820"/>
                </a:lnTo>
                <a:lnTo>
                  <a:pt x="75056" y="83820"/>
                </a:lnTo>
                <a:lnTo>
                  <a:pt x="96011" y="41910"/>
                </a:lnTo>
                <a:lnTo>
                  <a:pt x="750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28944" y="5446776"/>
            <a:ext cx="96520" cy="83820"/>
          </a:xfrm>
          <a:custGeom>
            <a:avLst/>
            <a:gdLst/>
            <a:ahLst/>
            <a:cxnLst/>
            <a:rect l="l" t="t" r="r" b="b"/>
            <a:pathLst>
              <a:path w="96520" h="83820">
                <a:moveTo>
                  <a:pt x="0" y="41910"/>
                </a:moveTo>
                <a:lnTo>
                  <a:pt x="20954" y="0"/>
                </a:lnTo>
                <a:lnTo>
                  <a:pt x="75056" y="0"/>
                </a:lnTo>
                <a:lnTo>
                  <a:pt x="96011" y="41910"/>
                </a:lnTo>
                <a:lnTo>
                  <a:pt x="75056" y="83820"/>
                </a:lnTo>
                <a:lnTo>
                  <a:pt x="20954" y="83820"/>
                </a:lnTo>
                <a:lnTo>
                  <a:pt x="0" y="41910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70676" y="5228844"/>
            <a:ext cx="818388" cy="7025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70676" y="5228844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5" h="702945">
                <a:moveTo>
                  <a:pt x="0" y="351281"/>
                </a:moveTo>
                <a:lnTo>
                  <a:pt x="175640" y="0"/>
                </a:lnTo>
                <a:lnTo>
                  <a:pt x="642747" y="0"/>
                </a:lnTo>
                <a:lnTo>
                  <a:pt x="818388" y="351281"/>
                </a:lnTo>
                <a:lnTo>
                  <a:pt x="642747" y="702563"/>
                </a:lnTo>
                <a:lnTo>
                  <a:pt x="175640" y="702563"/>
                </a:lnTo>
                <a:lnTo>
                  <a:pt x="0" y="351281"/>
                </a:lnTo>
                <a:close/>
              </a:path>
            </a:pathLst>
          </a:custGeom>
          <a:ln w="12191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90488" y="5541264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75437" y="0"/>
                </a:moveTo>
                <a:lnTo>
                  <a:pt x="20574" y="0"/>
                </a:lnTo>
                <a:lnTo>
                  <a:pt x="0" y="41148"/>
                </a:lnTo>
                <a:lnTo>
                  <a:pt x="20574" y="82296"/>
                </a:lnTo>
                <a:lnTo>
                  <a:pt x="75437" y="82296"/>
                </a:lnTo>
                <a:lnTo>
                  <a:pt x="96012" y="41148"/>
                </a:lnTo>
                <a:lnTo>
                  <a:pt x="754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90488" y="5541264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0" y="41148"/>
                </a:moveTo>
                <a:lnTo>
                  <a:pt x="20574" y="0"/>
                </a:lnTo>
                <a:lnTo>
                  <a:pt x="75437" y="0"/>
                </a:lnTo>
                <a:lnTo>
                  <a:pt x="96012" y="41148"/>
                </a:lnTo>
                <a:lnTo>
                  <a:pt x="75437" y="82296"/>
                </a:lnTo>
                <a:lnTo>
                  <a:pt x="20574" y="82296"/>
                </a:lnTo>
                <a:lnTo>
                  <a:pt x="0" y="41148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60976" y="4453128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4" h="702945">
                <a:moveTo>
                  <a:pt x="642747" y="0"/>
                </a:moveTo>
                <a:lnTo>
                  <a:pt x="175640" y="0"/>
                </a:lnTo>
                <a:lnTo>
                  <a:pt x="0" y="351282"/>
                </a:lnTo>
                <a:lnTo>
                  <a:pt x="175640" y="702564"/>
                </a:lnTo>
                <a:lnTo>
                  <a:pt x="642747" y="702564"/>
                </a:lnTo>
                <a:lnTo>
                  <a:pt x="818388" y="351282"/>
                </a:lnTo>
                <a:lnTo>
                  <a:pt x="64274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60976" y="4453128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4" h="702945">
                <a:moveTo>
                  <a:pt x="0" y="351282"/>
                </a:moveTo>
                <a:lnTo>
                  <a:pt x="175640" y="0"/>
                </a:lnTo>
                <a:lnTo>
                  <a:pt x="642747" y="0"/>
                </a:lnTo>
                <a:lnTo>
                  <a:pt x="818388" y="351282"/>
                </a:lnTo>
                <a:lnTo>
                  <a:pt x="642747" y="702564"/>
                </a:lnTo>
                <a:lnTo>
                  <a:pt x="175640" y="702564"/>
                </a:lnTo>
                <a:lnTo>
                  <a:pt x="0" y="351282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29378" y="4731887"/>
            <a:ext cx="482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统计学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21808" y="4465320"/>
            <a:ext cx="96520" cy="83820"/>
          </a:xfrm>
          <a:custGeom>
            <a:avLst/>
            <a:gdLst/>
            <a:ahLst/>
            <a:cxnLst/>
            <a:rect l="l" t="t" r="r" b="b"/>
            <a:pathLst>
              <a:path w="96520" h="83820">
                <a:moveTo>
                  <a:pt x="75056" y="0"/>
                </a:moveTo>
                <a:lnTo>
                  <a:pt x="20954" y="0"/>
                </a:lnTo>
                <a:lnTo>
                  <a:pt x="0" y="41909"/>
                </a:lnTo>
                <a:lnTo>
                  <a:pt x="20954" y="83819"/>
                </a:lnTo>
                <a:lnTo>
                  <a:pt x="75056" y="83819"/>
                </a:lnTo>
                <a:lnTo>
                  <a:pt x="96012" y="41909"/>
                </a:lnTo>
                <a:lnTo>
                  <a:pt x="750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21808" y="4465320"/>
            <a:ext cx="96520" cy="83820"/>
          </a:xfrm>
          <a:custGeom>
            <a:avLst/>
            <a:gdLst/>
            <a:ahLst/>
            <a:cxnLst/>
            <a:rect l="l" t="t" r="r" b="b"/>
            <a:pathLst>
              <a:path w="96520" h="83820">
                <a:moveTo>
                  <a:pt x="0" y="41909"/>
                </a:moveTo>
                <a:lnTo>
                  <a:pt x="20954" y="0"/>
                </a:lnTo>
                <a:lnTo>
                  <a:pt x="75056" y="0"/>
                </a:lnTo>
                <a:lnTo>
                  <a:pt x="96012" y="41909"/>
                </a:lnTo>
                <a:lnTo>
                  <a:pt x="75056" y="83819"/>
                </a:lnTo>
                <a:lnTo>
                  <a:pt x="20954" y="83819"/>
                </a:lnTo>
                <a:lnTo>
                  <a:pt x="0" y="41909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66588" y="4061459"/>
            <a:ext cx="818388" cy="704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66588" y="4061459"/>
            <a:ext cx="818515" cy="704215"/>
          </a:xfrm>
          <a:custGeom>
            <a:avLst/>
            <a:gdLst/>
            <a:ahLst/>
            <a:cxnLst/>
            <a:rect l="l" t="t" r="r" b="b"/>
            <a:pathLst>
              <a:path w="818514" h="704214">
                <a:moveTo>
                  <a:pt x="0" y="352044"/>
                </a:moveTo>
                <a:lnTo>
                  <a:pt x="176022" y="0"/>
                </a:lnTo>
                <a:lnTo>
                  <a:pt x="642365" y="0"/>
                </a:lnTo>
                <a:lnTo>
                  <a:pt x="818388" y="352044"/>
                </a:lnTo>
                <a:lnTo>
                  <a:pt x="642365" y="704088"/>
                </a:lnTo>
                <a:lnTo>
                  <a:pt x="176022" y="704088"/>
                </a:lnTo>
                <a:lnTo>
                  <a:pt x="0" y="352044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89447" y="4373879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4" h="82550">
                <a:moveTo>
                  <a:pt x="73913" y="0"/>
                </a:moveTo>
                <a:lnTo>
                  <a:pt x="20574" y="0"/>
                </a:lnTo>
                <a:lnTo>
                  <a:pt x="0" y="41148"/>
                </a:lnTo>
                <a:lnTo>
                  <a:pt x="20574" y="82296"/>
                </a:lnTo>
                <a:lnTo>
                  <a:pt x="73913" y="82296"/>
                </a:lnTo>
                <a:lnTo>
                  <a:pt x="94487" y="41148"/>
                </a:lnTo>
                <a:lnTo>
                  <a:pt x="739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89447" y="4373879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4" h="82550">
                <a:moveTo>
                  <a:pt x="0" y="41148"/>
                </a:moveTo>
                <a:lnTo>
                  <a:pt x="20574" y="0"/>
                </a:lnTo>
                <a:lnTo>
                  <a:pt x="73913" y="0"/>
                </a:lnTo>
                <a:lnTo>
                  <a:pt x="94487" y="41148"/>
                </a:lnTo>
                <a:lnTo>
                  <a:pt x="73913" y="82296"/>
                </a:lnTo>
                <a:lnTo>
                  <a:pt x="20574" y="82296"/>
                </a:lnTo>
                <a:lnTo>
                  <a:pt x="0" y="41148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70676" y="4451603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5" h="702945">
                <a:moveTo>
                  <a:pt x="642747" y="0"/>
                </a:moveTo>
                <a:lnTo>
                  <a:pt x="175640" y="0"/>
                </a:lnTo>
                <a:lnTo>
                  <a:pt x="0" y="351282"/>
                </a:lnTo>
                <a:lnTo>
                  <a:pt x="175640" y="702564"/>
                </a:lnTo>
                <a:lnTo>
                  <a:pt x="642747" y="702564"/>
                </a:lnTo>
                <a:lnTo>
                  <a:pt x="818388" y="351282"/>
                </a:lnTo>
                <a:lnTo>
                  <a:pt x="64274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70676" y="4451603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5" h="702945">
                <a:moveTo>
                  <a:pt x="0" y="351282"/>
                </a:moveTo>
                <a:lnTo>
                  <a:pt x="175640" y="0"/>
                </a:lnTo>
                <a:lnTo>
                  <a:pt x="642747" y="0"/>
                </a:lnTo>
                <a:lnTo>
                  <a:pt x="818388" y="351282"/>
                </a:lnTo>
                <a:lnTo>
                  <a:pt x="642747" y="702564"/>
                </a:lnTo>
                <a:lnTo>
                  <a:pt x="175640" y="702564"/>
                </a:lnTo>
                <a:lnTo>
                  <a:pt x="0" y="351282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414896" y="4599055"/>
            <a:ext cx="33083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人工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智能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79335" y="4762500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75438" y="0"/>
                </a:moveTo>
                <a:lnTo>
                  <a:pt x="20574" y="0"/>
                </a:lnTo>
                <a:lnTo>
                  <a:pt x="0" y="41148"/>
                </a:lnTo>
                <a:lnTo>
                  <a:pt x="20574" y="82295"/>
                </a:lnTo>
                <a:lnTo>
                  <a:pt x="75438" y="82295"/>
                </a:lnTo>
                <a:lnTo>
                  <a:pt x="96012" y="41148"/>
                </a:lnTo>
                <a:lnTo>
                  <a:pt x="754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79335" y="4762500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0" y="41148"/>
                </a:moveTo>
                <a:lnTo>
                  <a:pt x="20574" y="0"/>
                </a:lnTo>
                <a:lnTo>
                  <a:pt x="75438" y="0"/>
                </a:lnTo>
                <a:lnTo>
                  <a:pt x="96012" y="41148"/>
                </a:lnTo>
                <a:lnTo>
                  <a:pt x="75438" y="82295"/>
                </a:lnTo>
                <a:lnTo>
                  <a:pt x="20574" y="82295"/>
                </a:lnTo>
                <a:lnTo>
                  <a:pt x="0" y="41148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74764" y="4846320"/>
            <a:ext cx="819911" cy="7040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74764" y="4846320"/>
            <a:ext cx="820419" cy="704215"/>
          </a:xfrm>
          <a:custGeom>
            <a:avLst/>
            <a:gdLst/>
            <a:ahLst/>
            <a:cxnLst/>
            <a:rect l="l" t="t" r="r" b="b"/>
            <a:pathLst>
              <a:path w="820420" h="704214">
                <a:moveTo>
                  <a:pt x="0" y="352043"/>
                </a:moveTo>
                <a:lnTo>
                  <a:pt x="176021" y="0"/>
                </a:lnTo>
                <a:lnTo>
                  <a:pt x="643889" y="0"/>
                </a:lnTo>
                <a:lnTo>
                  <a:pt x="819911" y="352043"/>
                </a:lnTo>
                <a:lnTo>
                  <a:pt x="643889" y="704087"/>
                </a:lnTo>
                <a:lnTo>
                  <a:pt x="176021" y="704087"/>
                </a:lnTo>
                <a:lnTo>
                  <a:pt x="0" y="352043"/>
                </a:lnTo>
                <a:close/>
              </a:path>
            </a:pathLst>
          </a:custGeom>
          <a:ln w="12191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34783" y="4858511"/>
            <a:ext cx="96520" cy="83820"/>
          </a:xfrm>
          <a:custGeom>
            <a:avLst/>
            <a:gdLst/>
            <a:ahLst/>
            <a:cxnLst/>
            <a:rect l="l" t="t" r="r" b="b"/>
            <a:pathLst>
              <a:path w="96520" h="83820">
                <a:moveTo>
                  <a:pt x="75057" y="0"/>
                </a:moveTo>
                <a:lnTo>
                  <a:pt x="20955" y="0"/>
                </a:lnTo>
                <a:lnTo>
                  <a:pt x="0" y="41910"/>
                </a:lnTo>
                <a:lnTo>
                  <a:pt x="20955" y="83819"/>
                </a:lnTo>
                <a:lnTo>
                  <a:pt x="75057" y="83819"/>
                </a:lnTo>
                <a:lnTo>
                  <a:pt x="96012" y="41910"/>
                </a:lnTo>
                <a:lnTo>
                  <a:pt x="750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34783" y="4858511"/>
            <a:ext cx="96520" cy="83820"/>
          </a:xfrm>
          <a:custGeom>
            <a:avLst/>
            <a:gdLst/>
            <a:ahLst/>
            <a:cxnLst/>
            <a:rect l="l" t="t" r="r" b="b"/>
            <a:pathLst>
              <a:path w="96520" h="83820">
                <a:moveTo>
                  <a:pt x="0" y="41910"/>
                </a:moveTo>
                <a:lnTo>
                  <a:pt x="20955" y="0"/>
                </a:lnTo>
                <a:lnTo>
                  <a:pt x="75057" y="0"/>
                </a:lnTo>
                <a:lnTo>
                  <a:pt x="96012" y="41910"/>
                </a:lnTo>
                <a:lnTo>
                  <a:pt x="75057" y="83819"/>
                </a:lnTo>
                <a:lnTo>
                  <a:pt x="20955" y="83819"/>
                </a:lnTo>
                <a:lnTo>
                  <a:pt x="0" y="41910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74764" y="4069079"/>
            <a:ext cx="820419" cy="704215"/>
          </a:xfrm>
          <a:custGeom>
            <a:avLst/>
            <a:gdLst/>
            <a:ahLst/>
            <a:cxnLst/>
            <a:rect l="l" t="t" r="r" b="b"/>
            <a:pathLst>
              <a:path w="820420" h="704214">
                <a:moveTo>
                  <a:pt x="643889" y="0"/>
                </a:moveTo>
                <a:lnTo>
                  <a:pt x="176021" y="0"/>
                </a:lnTo>
                <a:lnTo>
                  <a:pt x="0" y="352044"/>
                </a:lnTo>
                <a:lnTo>
                  <a:pt x="176021" y="704088"/>
                </a:lnTo>
                <a:lnTo>
                  <a:pt x="643889" y="704088"/>
                </a:lnTo>
                <a:lnTo>
                  <a:pt x="819911" y="352044"/>
                </a:lnTo>
                <a:lnTo>
                  <a:pt x="643889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874764" y="4069079"/>
            <a:ext cx="820419" cy="704215"/>
          </a:xfrm>
          <a:custGeom>
            <a:avLst/>
            <a:gdLst/>
            <a:ahLst/>
            <a:cxnLst/>
            <a:rect l="l" t="t" r="r" b="b"/>
            <a:pathLst>
              <a:path w="820420" h="704214">
                <a:moveTo>
                  <a:pt x="0" y="352044"/>
                </a:moveTo>
                <a:lnTo>
                  <a:pt x="176021" y="0"/>
                </a:lnTo>
                <a:lnTo>
                  <a:pt x="643889" y="0"/>
                </a:lnTo>
                <a:lnTo>
                  <a:pt x="819911" y="352044"/>
                </a:lnTo>
                <a:lnTo>
                  <a:pt x="643889" y="704088"/>
                </a:lnTo>
                <a:lnTo>
                  <a:pt x="176021" y="704088"/>
                </a:lnTo>
                <a:lnTo>
                  <a:pt x="0" y="352044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120255" y="4217410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模式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20255" y="4478014"/>
            <a:ext cx="3302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识别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583423" y="4384547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75437" y="0"/>
                </a:moveTo>
                <a:lnTo>
                  <a:pt x="20574" y="0"/>
                </a:lnTo>
                <a:lnTo>
                  <a:pt x="0" y="41147"/>
                </a:lnTo>
                <a:lnTo>
                  <a:pt x="20574" y="82295"/>
                </a:lnTo>
                <a:lnTo>
                  <a:pt x="75437" y="82295"/>
                </a:lnTo>
                <a:lnTo>
                  <a:pt x="96011" y="41147"/>
                </a:lnTo>
                <a:lnTo>
                  <a:pt x="754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583423" y="4384547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0" y="41147"/>
                </a:moveTo>
                <a:lnTo>
                  <a:pt x="20574" y="0"/>
                </a:lnTo>
                <a:lnTo>
                  <a:pt x="75437" y="0"/>
                </a:lnTo>
                <a:lnTo>
                  <a:pt x="96011" y="41147"/>
                </a:lnTo>
                <a:lnTo>
                  <a:pt x="75437" y="82295"/>
                </a:lnTo>
                <a:lnTo>
                  <a:pt x="20574" y="82295"/>
                </a:lnTo>
                <a:lnTo>
                  <a:pt x="0" y="41147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80376" y="4460747"/>
            <a:ext cx="818388" cy="7040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80376" y="4460747"/>
            <a:ext cx="818515" cy="704215"/>
          </a:xfrm>
          <a:custGeom>
            <a:avLst/>
            <a:gdLst/>
            <a:ahLst/>
            <a:cxnLst/>
            <a:rect l="l" t="t" r="r" b="b"/>
            <a:pathLst>
              <a:path w="818515" h="704214">
                <a:moveTo>
                  <a:pt x="0" y="352044"/>
                </a:moveTo>
                <a:lnTo>
                  <a:pt x="176022" y="0"/>
                </a:lnTo>
                <a:lnTo>
                  <a:pt x="642366" y="0"/>
                </a:lnTo>
                <a:lnTo>
                  <a:pt x="818388" y="352044"/>
                </a:lnTo>
                <a:lnTo>
                  <a:pt x="642366" y="704088"/>
                </a:lnTo>
                <a:lnTo>
                  <a:pt x="176022" y="704088"/>
                </a:lnTo>
                <a:lnTo>
                  <a:pt x="0" y="352044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43443" y="4477511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75437" y="0"/>
                </a:moveTo>
                <a:lnTo>
                  <a:pt x="20574" y="0"/>
                </a:lnTo>
                <a:lnTo>
                  <a:pt x="0" y="41148"/>
                </a:lnTo>
                <a:lnTo>
                  <a:pt x="20574" y="82295"/>
                </a:lnTo>
                <a:lnTo>
                  <a:pt x="75437" y="82295"/>
                </a:lnTo>
                <a:lnTo>
                  <a:pt x="96011" y="41148"/>
                </a:lnTo>
                <a:lnTo>
                  <a:pt x="754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743443" y="4477511"/>
            <a:ext cx="96520" cy="82550"/>
          </a:xfrm>
          <a:custGeom>
            <a:avLst/>
            <a:gdLst/>
            <a:ahLst/>
            <a:cxnLst/>
            <a:rect l="l" t="t" r="r" b="b"/>
            <a:pathLst>
              <a:path w="96520" h="82550">
                <a:moveTo>
                  <a:pt x="0" y="41148"/>
                </a:moveTo>
                <a:lnTo>
                  <a:pt x="20574" y="0"/>
                </a:lnTo>
                <a:lnTo>
                  <a:pt x="75437" y="0"/>
                </a:lnTo>
                <a:lnTo>
                  <a:pt x="96011" y="41148"/>
                </a:lnTo>
                <a:lnTo>
                  <a:pt x="75437" y="82295"/>
                </a:lnTo>
                <a:lnTo>
                  <a:pt x="20574" y="82295"/>
                </a:lnTo>
                <a:lnTo>
                  <a:pt x="0" y="41148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580376" y="5237988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5" h="702945">
                <a:moveTo>
                  <a:pt x="642747" y="0"/>
                </a:moveTo>
                <a:lnTo>
                  <a:pt x="175641" y="0"/>
                </a:lnTo>
                <a:lnTo>
                  <a:pt x="0" y="351281"/>
                </a:lnTo>
                <a:lnTo>
                  <a:pt x="175641" y="702564"/>
                </a:lnTo>
                <a:lnTo>
                  <a:pt x="642747" y="702564"/>
                </a:lnTo>
                <a:lnTo>
                  <a:pt x="818388" y="351281"/>
                </a:lnTo>
                <a:lnTo>
                  <a:pt x="64274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580376" y="5237988"/>
            <a:ext cx="818515" cy="702945"/>
          </a:xfrm>
          <a:custGeom>
            <a:avLst/>
            <a:gdLst/>
            <a:ahLst/>
            <a:cxnLst/>
            <a:rect l="l" t="t" r="r" b="b"/>
            <a:pathLst>
              <a:path w="818515" h="702945">
                <a:moveTo>
                  <a:pt x="0" y="351281"/>
                </a:moveTo>
                <a:lnTo>
                  <a:pt x="175641" y="0"/>
                </a:lnTo>
                <a:lnTo>
                  <a:pt x="642747" y="0"/>
                </a:lnTo>
                <a:lnTo>
                  <a:pt x="818388" y="351281"/>
                </a:lnTo>
                <a:lnTo>
                  <a:pt x="642747" y="702564"/>
                </a:lnTo>
                <a:lnTo>
                  <a:pt x="175641" y="702564"/>
                </a:lnTo>
                <a:lnTo>
                  <a:pt x="0" y="351281"/>
                </a:lnTo>
                <a:close/>
              </a:path>
            </a:pathLst>
          </a:custGeom>
          <a:ln w="12191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749031" y="5386318"/>
            <a:ext cx="48260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6200">
              <a:lnSpc>
                <a:spcPct val="142500"/>
              </a:lnSpc>
            </a:pPr>
            <a:r>
              <a:rPr sz="1200" dirty="0">
                <a:solidFill>
                  <a:srgbClr val="FFFFFF"/>
                </a:solidFill>
                <a:latin typeface="微软雅黑"/>
                <a:cs typeface="微软雅黑"/>
              </a:rPr>
              <a:t>数据 可视化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743443" y="5853684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5" h="82550">
                <a:moveTo>
                  <a:pt x="73913" y="0"/>
                </a:moveTo>
                <a:lnTo>
                  <a:pt x="20574" y="0"/>
                </a:lnTo>
                <a:lnTo>
                  <a:pt x="0" y="41147"/>
                </a:lnTo>
                <a:lnTo>
                  <a:pt x="20574" y="82295"/>
                </a:lnTo>
                <a:lnTo>
                  <a:pt x="73913" y="82295"/>
                </a:lnTo>
                <a:lnTo>
                  <a:pt x="94487" y="41147"/>
                </a:lnTo>
                <a:lnTo>
                  <a:pt x="739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743443" y="5853684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5" h="82550">
                <a:moveTo>
                  <a:pt x="0" y="41147"/>
                </a:moveTo>
                <a:lnTo>
                  <a:pt x="20574" y="0"/>
                </a:lnTo>
                <a:lnTo>
                  <a:pt x="73913" y="0"/>
                </a:lnTo>
                <a:lnTo>
                  <a:pt x="94487" y="41147"/>
                </a:lnTo>
                <a:lnTo>
                  <a:pt x="73913" y="82295"/>
                </a:lnTo>
                <a:lnTo>
                  <a:pt x="20574" y="82295"/>
                </a:lnTo>
                <a:lnTo>
                  <a:pt x="0" y="41147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74764" y="5623559"/>
            <a:ext cx="819911" cy="7025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874764" y="5623559"/>
            <a:ext cx="820419" cy="702945"/>
          </a:xfrm>
          <a:custGeom>
            <a:avLst/>
            <a:gdLst/>
            <a:ahLst/>
            <a:cxnLst/>
            <a:rect l="l" t="t" r="r" b="b"/>
            <a:pathLst>
              <a:path w="820420" h="702945">
                <a:moveTo>
                  <a:pt x="0" y="351281"/>
                </a:moveTo>
                <a:lnTo>
                  <a:pt x="175640" y="0"/>
                </a:lnTo>
                <a:lnTo>
                  <a:pt x="644270" y="0"/>
                </a:lnTo>
                <a:lnTo>
                  <a:pt x="819911" y="351281"/>
                </a:lnTo>
                <a:lnTo>
                  <a:pt x="644270" y="702563"/>
                </a:lnTo>
                <a:lnTo>
                  <a:pt x="175640" y="702563"/>
                </a:lnTo>
                <a:lnTo>
                  <a:pt x="0" y="351281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591043" y="5931408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5" h="82550">
                <a:moveTo>
                  <a:pt x="73913" y="0"/>
                </a:moveTo>
                <a:lnTo>
                  <a:pt x="20574" y="0"/>
                </a:lnTo>
                <a:lnTo>
                  <a:pt x="0" y="41147"/>
                </a:lnTo>
                <a:lnTo>
                  <a:pt x="20574" y="82295"/>
                </a:lnTo>
                <a:lnTo>
                  <a:pt x="73913" y="82295"/>
                </a:lnTo>
                <a:lnTo>
                  <a:pt x="94487" y="41147"/>
                </a:lnTo>
                <a:lnTo>
                  <a:pt x="739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591043" y="5931408"/>
            <a:ext cx="94615" cy="82550"/>
          </a:xfrm>
          <a:custGeom>
            <a:avLst/>
            <a:gdLst/>
            <a:ahLst/>
            <a:cxnLst/>
            <a:rect l="l" t="t" r="r" b="b"/>
            <a:pathLst>
              <a:path w="94615" h="82550">
                <a:moveTo>
                  <a:pt x="0" y="41147"/>
                </a:moveTo>
                <a:lnTo>
                  <a:pt x="20574" y="0"/>
                </a:lnTo>
                <a:lnTo>
                  <a:pt x="73913" y="0"/>
                </a:lnTo>
                <a:lnTo>
                  <a:pt x="94487" y="41147"/>
                </a:lnTo>
                <a:lnTo>
                  <a:pt x="73913" y="82295"/>
                </a:lnTo>
                <a:lnTo>
                  <a:pt x="20574" y="82295"/>
                </a:lnTo>
                <a:lnTo>
                  <a:pt x="0" y="41147"/>
                </a:lnTo>
                <a:close/>
              </a:path>
            </a:pathLst>
          </a:custGeom>
          <a:ln w="12192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745479" y="4262628"/>
            <a:ext cx="3140964" cy="179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40908" y="4258055"/>
            <a:ext cx="3150235" cy="1800225"/>
          </a:xfrm>
          <a:custGeom>
            <a:avLst/>
            <a:gdLst/>
            <a:ahLst/>
            <a:cxnLst/>
            <a:rect l="l" t="t" r="r" b="b"/>
            <a:pathLst>
              <a:path w="3150234" h="1800225">
                <a:moveTo>
                  <a:pt x="0" y="1799844"/>
                </a:moveTo>
                <a:lnTo>
                  <a:pt x="3150108" y="1799844"/>
                </a:lnTo>
                <a:lnTo>
                  <a:pt x="3150108" y="0"/>
                </a:lnTo>
                <a:lnTo>
                  <a:pt x="0" y="0"/>
                </a:lnTo>
                <a:lnTo>
                  <a:pt x="0" y="1799844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45479" y="1623060"/>
            <a:ext cx="3140964" cy="2461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40908" y="1618488"/>
            <a:ext cx="3150235" cy="2470785"/>
          </a:xfrm>
          <a:custGeom>
            <a:avLst/>
            <a:gdLst/>
            <a:ahLst/>
            <a:cxnLst/>
            <a:rect l="l" t="t" r="r" b="b"/>
            <a:pathLst>
              <a:path w="3150234" h="2470785">
                <a:moveTo>
                  <a:pt x="0" y="2470404"/>
                </a:moveTo>
                <a:lnTo>
                  <a:pt x="3150108" y="2470404"/>
                </a:lnTo>
                <a:lnTo>
                  <a:pt x="3150108" y="0"/>
                </a:lnTo>
                <a:lnTo>
                  <a:pt x="0" y="0"/>
                </a:lnTo>
                <a:lnTo>
                  <a:pt x="0" y="247040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86343" y="3628644"/>
            <a:ext cx="800100" cy="455930"/>
          </a:xfrm>
          <a:custGeom>
            <a:avLst/>
            <a:gdLst/>
            <a:ahLst/>
            <a:cxnLst/>
            <a:rect l="l" t="t" r="r" b="b"/>
            <a:pathLst>
              <a:path w="800100" h="455929">
                <a:moveTo>
                  <a:pt x="0" y="455675"/>
                </a:moveTo>
                <a:lnTo>
                  <a:pt x="800100" y="455675"/>
                </a:lnTo>
                <a:lnTo>
                  <a:pt x="800100" y="0"/>
                </a:lnTo>
                <a:lnTo>
                  <a:pt x="0" y="0"/>
                </a:lnTo>
                <a:lnTo>
                  <a:pt x="0" y="4556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815831"/>
            <a:ext cx="36855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大数据分析与挖掘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644" y="1884161"/>
            <a:ext cx="5055235" cy="4609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50" spc="85" dirty="0">
                <a:solidFill>
                  <a:srgbClr val="006FC0"/>
                </a:solidFill>
                <a:latin typeface="Segoe UI Symbol"/>
                <a:cs typeface="Segoe UI Symbol"/>
              </a:rPr>
              <a:t>	</a:t>
            </a:r>
            <a:r>
              <a:rPr sz="2400" spc="85" dirty="0">
                <a:solidFill>
                  <a:srgbClr val="006FC0"/>
                </a:solidFill>
                <a:latin typeface="微软雅黑"/>
                <a:cs typeface="微软雅黑"/>
              </a:rPr>
              <a:t>数据挖掘四类任务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500" spc="14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预测建模</a:t>
            </a:r>
            <a:endParaRPr sz="1800" dirty="0">
              <a:latin typeface="微软雅黑"/>
              <a:cs typeface="微软雅黑"/>
            </a:endParaRPr>
          </a:p>
          <a:p>
            <a:pPr marL="12700" marR="6350" indent="457200" algn="just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微软雅黑"/>
                <a:cs typeface="微软雅黑"/>
              </a:rPr>
              <a:t>分类与回归。分类主要用于预测离散的目标变 量，输出的是离散值；回归用于预测连续的目标变 量，输出有序值或连续值。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500" spc="14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关联分析</a:t>
            </a:r>
            <a:endParaRPr sz="1800" dirty="0">
              <a:latin typeface="微软雅黑"/>
              <a:cs typeface="微软雅黑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微软雅黑"/>
                <a:cs typeface="微软雅黑"/>
              </a:rPr>
              <a:t>用来发现描述数据中强关联特征的模式</a:t>
            </a:r>
            <a:r>
              <a:rPr sz="1800" spc="5" dirty="0">
                <a:latin typeface="微软雅黑"/>
                <a:cs typeface="微软雅黑"/>
              </a:rPr>
              <a:t>。</a:t>
            </a:r>
            <a:r>
              <a:rPr sz="1800" dirty="0">
                <a:latin typeface="微软雅黑"/>
                <a:cs typeface="微软雅黑"/>
              </a:rPr>
              <a:t>所发 现的模式通常用蕴涵规则或特征子</a:t>
            </a:r>
            <a:r>
              <a:rPr sz="1800" spc="-5" dirty="0">
                <a:latin typeface="微软雅黑"/>
                <a:cs typeface="微软雅黑"/>
              </a:rPr>
              <a:t>集</a:t>
            </a:r>
            <a:r>
              <a:rPr sz="1800" dirty="0">
                <a:latin typeface="微软雅黑"/>
                <a:cs typeface="微软雅黑"/>
              </a:rPr>
              <a:t>的形式表示。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500" spc="14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聚类分析</a:t>
            </a:r>
            <a:endParaRPr sz="1800" dirty="0">
              <a:latin typeface="微软雅黑"/>
              <a:cs typeface="微软雅黑"/>
            </a:endParaRPr>
          </a:p>
          <a:p>
            <a:pPr marL="12700" marR="6350" indent="457200" algn="just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微软雅黑"/>
                <a:cs typeface="微软雅黑"/>
              </a:rPr>
              <a:t>旨在发现紧密相关的观测值群组，使得与属于 不同簇的观测值相比，属于同一簇的观测值之间尽 可能相似。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1115" dirty="0">
                <a:solidFill>
                  <a:srgbClr val="4F81BC"/>
                </a:solidFill>
                <a:latin typeface="Segoe UI Symbol"/>
                <a:cs typeface="Segoe UI Symbol"/>
              </a:rPr>
              <a:t>⚫</a:t>
            </a:r>
            <a:r>
              <a:rPr sz="1500" spc="145" dirty="0">
                <a:solidFill>
                  <a:srgbClr val="4F81BC"/>
                </a:solidFill>
                <a:latin typeface="Segoe UI Symbol"/>
                <a:cs typeface="Segoe UI Symbol"/>
              </a:rPr>
              <a:t> </a:t>
            </a:r>
            <a:r>
              <a:rPr sz="1800" b="1" dirty="0">
                <a:latin typeface="微软雅黑"/>
                <a:cs typeface="微软雅黑"/>
              </a:rPr>
              <a:t>异常检测</a:t>
            </a:r>
            <a:endParaRPr sz="1800" dirty="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885"/>
              </a:spcBef>
            </a:pPr>
            <a:r>
              <a:rPr sz="1800" spc="-5" dirty="0">
                <a:latin typeface="微软雅黑"/>
                <a:cs typeface="微软雅黑"/>
              </a:rPr>
              <a:t>识别其特征显著不同于其他数据的观测值。</a:t>
            </a:r>
            <a:endParaRPr sz="18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11580" y="3745991"/>
            <a:ext cx="6838188" cy="2473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21023" y="3756659"/>
            <a:ext cx="1399540" cy="1187450"/>
          </a:xfrm>
          <a:custGeom>
            <a:avLst/>
            <a:gdLst/>
            <a:ahLst/>
            <a:cxnLst/>
            <a:rect l="l" t="t" r="r" b="b"/>
            <a:pathLst>
              <a:path w="1399539" h="1187450">
                <a:moveTo>
                  <a:pt x="1399031" y="0"/>
                </a:moveTo>
                <a:lnTo>
                  <a:pt x="13588" y="0"/>
                </a:lnTo>
                <a:lnTo>
                  <a:pt x="0" y="1021841"/>
                </a:lnTo>
                <a:lnTo>
                  <a:pt x="40766" y="1187195"/>
                </a:lnTo>
                <a:lnTo>
                  <a:pt x="298830" y="1142110"/>
                </a:lnTo>
                <a:lnTo>
                  <a:pt x="298830" y="991869"/>
                </a:lnTo>
                <a:lnTo>
                  <a:pt x="475361" y="961770"/>
                </a:lnTo>
                <a:lnTo>
                  <a:pt x="896492" y="736345"/>
                </a:lnTo>
                <a:lnTo>
                  <a:pt x="13990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815831"/>
            <a:ext cx="368554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大数据分析与挖掘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644" y="1884161"/>
            <a:ext cx="8300084" cy="1858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tabLst>
                <a:tab pos="354965" algn="l"/>
              </a:tabLst>
            </a:pPr>
            <a:r>
              <a:rPr sz="1650" spc="85" dirty="0">
                <a:solidFill>
                  <a:srgbClr val="006FC0"/>
                </a:solidFill>
                <a:latin typeface="Segoe UI Symbol"/>
                <a:cs typeface="Segoe UI Symbol"/>
              </a:rPr>
              <a:t>	</a:t>
            </a:r>
            <a:r>
              <a:rPr sz="2400" spc="85" dirty="0">
                <a:solidFill>
                  <a:srgbClr val="006FC0"/>
                </a:solidFill>
                <a:latin typeface="微软雅黑"/>
                <a:cs typeface="微软雅黑"/>
              </a:rPr>
              <a:t>空间索引技术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50000"/>
              </a:lnSpc>
            </a:pPr>
            <a:r>
              <a:rPr sz="1800" dirty="0">
                <a:latin typeface="微软雅黑"/>
                <a:cs typeface="微软雅黑"/>
              </a:rPr>
              <a:t>采用分割原理，将道路网所在的空间划分为若干区域，形成可唯一标识的多边 形。从而达到快速查询</a:t>
            </a:r>
            <a:r>
              <a:rPr sz="1800" spc="-5" dirty="0">
                <a:latin typeface="微软雅黑"/>
                <a:cs typeface="微软雅黑"/>
              </a:rPr>
              <a:t>G</a:t>
            </a:r>
            <a:r>
              <a:rPr sz="1800" dirty="0">
                <a:latin typeface="微软雅黑"/>
                <a:cs typeface="微软雅黑"/>
              </a:rPr>
              <a:t>P</a:t>
            </a:r>
            <a:r>
              <a:rPr sz="1800" spc="5" dirty="0">
                <a:latin typeface="微软雅黑"/>
                <a:cs typeface="微软雅黑"/>
              </a:rPr>
              <a:t>S</a:t>
            </a:r>
            <a:r>
              <a:rPr sz="1800" dirty="0">
                <a:latin typeface="微软雅黑"/>
                <a:cs typeface="微软雅黑"/>
              </a:rPr>
              <a:t>在精度误差范围内的所</a:t>
            </a:r>
            <a:r>
              <a:rPr sz="1800" spc="-20" dirty="0">
                <a:latin typeface="微软雅黑"/>
                <a:cs typeface="微软雅黑"/>
              </a:rPr>
              <a:t>有</a:t>
            </a:r>
            <a:r>
              <a:rPr sz="1800" spc="-5" dirty="0">
                <a:latin typeface="微软雅黑"/>
                <a:cs typeface="微软雅黑"/>
              </a:rPr>
              <a:t>LINK</a:t>
            </a:r>
            <a:r>
              <a:rPr sz="1800" dirty="0">
                <a:latin typeface="微软雅黑"/>
                <a:cs typeface="微软雅黑"/>
              </a:rPr>
              <a:t>，提高有效路径的搜索速 度和效率。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37031" y="6368796"/>
            <a:ext cx="7771130" cy="228600"/>
          </a:xfrm>
          <a:custGeom>
            <a:avLst/>
            <a:gdLst/>
            <a:ahLst/>
            <a:cxnLst/>
            <a:rect l="l" t="t" r="r" b="b"/>
            <a:pathLst>
              <a:path w="7771130" h="228600">
                <a:moveTo>
                  <a:pt x="228600" y="0"/>
                </a:moveTo>
                <a:lnTo>
                  <a:pt x="0" y="114299"/>
                </a:lnTo>
                <a:lnTo>
                  <a:pt x="228600" y="228599"/>
                </a:lnTo>
                <a:lnTo>
                  <a:pt x="228600" y="152399"/>
                </a:lnTo>
                <a:lnTo>
                  <a:pt x="190500" y="152399"/>
                </a:lnTo>
                <a:lnTo>
                  <a:pt x="190500" y="76199"/>
                </a:lnTo>
                <a:lnTo>
                  <a:pt x="228600" y="76199"/>
                </a:lnTo>
                <a:lnTo>
                  <a:pt x="228600" y="0"/>
                </a:lnTo>
                <a:close/>
              </a:path>
              <a:path w="7771130" h="228600">
                <a:moveTo>
                  <a:pt x="228600" y="76199"/>
                </a:moveTo>
                <a:lnTo>
                  <a:pt x="190500" y="76199"/>
                </a:lnTo>
                <a:lnTo>
                  <a:pt x="190500" y="152399"/>
                </a:lnTo>
                <a:lnTo>
                  <a:pt x="228600" y="152399"/>
                </a:lnTo>
                <a:lnTo>
                  <a:pt x="228600" y="76199"/>
                </a:lnTo>
                <a:close/>
              </a:path>
              <a:path w="7771130" h="228600">
                <a:moveTo>
                  <a:pt x="266700" y="76199"/>
                </a:moveTo>
                <a:lnTo>
                  <a:pt x="228600" y="76199"/>
                </a:lnTo>
                <a:lnTo>
                  <a:pt x="228600" y="152399"/>
                </a:lnTo>
                <a:lnTo>
                  <a:pt x="266700" y="152399"/>
                </a:lnTo>
                <a:lnTo>
                  <a:pt x="266700" y="76199"/>
                </a:lnTo>
                <a:close/>
              </a:path>
              <a:path w="7771130" h="228600">
                <a:moveTo>
                  <a:pt x="419100" y="76199"/>
                </a:moveTo>
                <a:lnTo>
                  <a:pt x="342900" y="76199"/>
                </a:lnTo>
                <a:lnTo>
                  <a:pt x="342900" y="152399"/>
                </a:lnTo>
                <a:lnTo>
                  <a:pt x="419100" y="152399"/>
                </a:lnTo>
                <a:lnTo>
                  <a:pt x="419100" y="76199"/>
                </a:lnTo>
                <a:close/>
              </a:path>
              <a:path w="7771130" h="228600">
                <a:moveTo>
                  <a:pt x="571500" y="76199"/>
                </a:moveTo>
                <a:lnTo>
                  <a:pt x="495300" y="76199"/>
                </a:lnTo>
                <a:lnTo>
                  <a:pt x="495300" y="152399"/>
                </a:lnTo>
                <a:lnTo>
                  <a:pt x="571500" y="152399"/>
                </a:lnTo>
                <a:lnTo>
                  <a:pt x="571500" y="76199"/>
                </a:lnTo>
                <a:close/>
              </a:path>
              <a:path w="7771130" h="228600">
                <a:moveTo>
                  <a:pt x="723900" y="76199"/>
                </a:moveTo>
                <a:lnTo>
                  <a:pt x="647700" y="76199"/>
                </a:lnTo>
                <a:lnTo>
                  <a:pt x="647700" y="152399"/>
                </a:lnTo>
                <a:lnTo>
                  <a:pt x="723900" y="152399"/>
                </a:lnTo>
                <a:lnTo>
                  <a:pt x="723900" y="76199"/>
                </a:lnTo>
                <a:close/>
              </a:path>
              <a:path w="7771130" h="228600">
                <a:moveTo>
                  <a:pt x="876300" y="76199"/>
                </a:moveTo>
                <a:lnTo>
                  <a:pt x="800100" y="76199"/>
                </a:lnTo>
                <a:lnTo>
                  <a:pt x="800100" y="152399"/>
                </a:lnTo>
                <a:lnTo>
                  <a:pt x="876300" y="152399"/>
                </a:lnTo>
                <a:lnTo>
                  <a:pt x="876300" y="76199"/>
                </a:lnTo>
                <a:close/>
              </a:path>
              <a:path w="7771130" h="228600">
                <a:moveTo>
                  <a:pt x="1028700" y="76199"/>
                </a:moveTo>
                <a:lnTo>
                  <a:pt x="952500" y="76199"/>
                </a:lnTo>
                <a:lnTo>
                  <a:pt x="952500" y="152399"/>
                </a:lnTo>
                <a:lnTo>
                  <a:pt x="1028700" y="152399"/>
                </a:lnTo>
                <a:lnTo>
                  <a:pt x="1028700" y="76199"/>
                </a:lnTo>
                <a:close/>
              </a:path>
              <a:path w="7771130" h="228600">
                <a:moveTo>
                  <a:pt x="1181100" y="76199"/>
                </a:moveTo>
                <a:lnTo>
                  <a:pt x="1104900" y="76199"/>
                </a:lnTo>
                <a:lnTo>
                  <a:pt x="1104900" y="152399"/>
                </a:lnTo>
                <a:lnTo>
                  <a:pt x="1181100" y="152399"/>
                </a:lnTo>
                <a:lnTo>
                  <a:pt x="1181100" y="76199"/>
                </a:lnTo>
                <a:close/>
              </a:path>
              <a:path w="7771130" h="228600">
                <a:moveTo>
                  <a:pt x="1333500" y="76199"/>
                </a:moveTo>
                <a:lnTo>
                  <a:pt x="1257300" y="76199"/>
                </a:lnTo>
                <a:lnTo>
                  <a:pt x="1257300" y="152399"/>
                </a:lnTo>
                <a:lnTo>
                  <a:pt x="1333500" y="152399"/>
                </a:lnTo>
                <a:lnTo>
                  <a:pt x="1333500" y="76199"/>
                </a:lnTo>
                <a:close/>
              </a:path>
              <a:path w="7771130" h="228600">
                <a:moveTo>
                  <a:pt x="1485900" y="76199"/>
                </a:moveTo>
                <a:lnTo>
                  <a:pt x="1409700" y="76199"/>
                </a:lnTo>
                <a:lnTo>
                  <a:pt x="1409700" y="152399"/>
                </a:lnTo>
                <a:lnTo>
                  <a:pt x="1485900" y="152399"/>
                </a:lnTo>
                <a:lnTo>
                  <a:pt x="1485900" y="76199"/>
                </a:lnTo>
                <a:close/>
              </a:path>
              <a:path w="7771130" h="228600">
                <a:moveTo>
                  <a:pt x="1638300" y="76199"/>
                </a:moveTo>
                <a:lnTo>
                  <a:pt x="1562100" y="76199"/>
                </a:lnTo>
                <a:lnTo>
                  <a:pt x="1562100" y="152399"/>
                </a:lnTo>
                <a:lnTo>
                  <a:pt x="1638300" y="152399"/>
                </a:lnTo>
                <a:lnTo>
                  <a:pt x="1638300" y="76199"/>
                </a:lnTo>
                <a:close/>
              </a:path>
              <a:path w="7771130" h="228600">
                <a:moveTo>
                  <a:pt x="1790700" y="76199"/>
                </a:moveTo>
                <a:lnTo>
                  <a:pt x="1714500" y="76199"/>
                </a:lnTo>
                <a:lnTo>
                  <a:pt x="1714500" y="152399"/>
                </a:lnTo>
                <a:lnTo>
                  <a:pt x="1790700" y="152399"/>
                </a:lnTo>
                <a:lnTo>
                  <a:pt x="1790700" y="76199"/>
                </a:lnTo>
                <a:close/>
              </a:path>
              <a:path w="7771130" h="228600">
                <a:moveTo>
                  <a:pt x="1943100" y="76199"/>
                </a:moveTo>
                <a:lnTo>
                  <a:pt x="1866900" y="76199"/>
                </a:lnTo>
                <a:lnTo>
                  <a:pt x="1866900" y="152399"/>
                </a:lnTo>
                <a:lnTo>
                  <a:pt x="1943100" y="152399"/>
                </a:lnTo>
                <a:lnTo>
                  <a:pt x="1943100" y="76199"/>
                </a:lnTo>
                <a:close/>
              </a:path>
              <a:path w="7771130" h="228600">
                <a:moveTo>
                  <a:pt x="2095500" y="76199"/>
                </a:moveTo>
                <a:lnTo>
                  <a:pt x="2019300" y="76199"/>
                </a:lnTo>
                <a:lnTo>
                  <a:pt x="2019300" y="152399"/>
                </a:lnTo>
                <a:lnTo>
                  <a:pt x="2095500" y="152399"/>
                </a:lnTo>
                <a:lnTo>
                  <a:pt x="2095500" y="76199"/>
                </a:lnTo>
                <a:close/>
              </a:path>
              <a:path w="7771130" h="228600">
                <a:moveTo>
                  <a:pt x="2247900" y="76199"/>
                </a:moveTo>
                <a:lnTo>
                  <a:pt x="2171700" y="76199"/>
                </a:lnTo>
                <a:lnTo>
                  <a:pt x="2171700" y="152399"/>
                </a:lnTo>
                <a:lnTo>
                  <a:pt x="2247900" y="152399"/>
                </a:lnTo>
                <a:lnTo>
                  <a:pt x="2247900" y="76199"/>
                </a:lnTo>
                <a:close/>
              </a:path>
              <a:path w="7771130" h="228600">
                <a:moveTo>
                  <a:pt x="2400300" y="76199"/>
                </a:moveTo>
                <a:lnTo>
                  <a:pt x="2324100" y="76199"/>
                </a:lnTo>
                <a:lnTo>
                  <a:pt x="2324100" y="152399"/>
                </a:lnTo>
                <a:lnTo>
                  <a:pt x="2400300" y="152399"/>
                </a:lnTo>
                <a:lnTo>
                  <a:pt x="2400300" y="76199"/>
                </a:lnTo>
                <a:close/>
              </a:path>
              <a:path w="7771130" h="228600">
                <a:moveTo>
                  <a:pt x="2552700" y="76199"/>
                </a:moveTo>
                <a:lnTo>
                  <a:pt x="2476500" y="76199"/>
                </a:lnTo>
                <a:lnTo>
                  <a:pt x="2476500" y="152399"/>
                </a:lnTo>
                <a:lnTo>
                  <a:pt x="2552700" y="152399"/>
                </a:lnTo>
                <a:lnTo>
                  <a:pt x="2552700" y="76199"/>
                </a:lnTo>
                <a:close/>
              </a:path>
              <a:path w="7771130" h="228600">
                <a:moveTo>
                  <a:pt x="2705100" y="76199"/>
                </a:moveTo>
                <a:lnTo>
                  <a:pt x="2628900" y="76199"/>
                </a:lnTo>
                <a:lnTo>
                  <a:pt x="2628900" y="152399"/>
                </a:lnTo>
                <a:lnTo>
                  <a:pt x="2705100" y="152399"/>
                </a:lnTo>
                <a:lnTo>
                  <a:pt x="2705100" y="76199"/>
                </a:lnTo>
                <a:close/>
              </a:path>
              <a:path w="7771130" h="228600">
                <a:moveTo>
                  <a:pt x="2857500" y="76199"/>
                </a:moveTo>
                <a:lnTo>
                  <a:pt x="2781300" y="76199"/>
                </a:lnTo>
                <a:lnTo>
                  <a:pt x="2781300" y="152399"/>
                </a:lnTo>
                <a:lnTo>
                  <a:pt x="2857500" y="152399"/>
                </a:lnTo>
                <a:lnTo>
                  <a:pt x="2857500" y="76199"/>
                </a:lnTo>
                <a:close/>
              </a:path>
              <a:path w="7771130" h="228600">
                <a:moveTo>
                  <a:pt x="3009900" y="76199"/>
                </a:moveTo>
                <a:lnTo>
                  <a:pt x="2933700" y="76199"/>
                </a:lnTo>
                <a:lnTo>
                  <a:pt x="2933700" y="152399"/>
                </a:lnTo>
                <a:lnTo>
                  <a:pt x="3009900" y="152399"/>
                </a:lnTo>
                <a:lnTo>
                  <a:pt x="3009900" y="76199"/>
                </a:lnTo>
                <a:close/>
              </a:path>
              <a:path w="7771130" h="228600">
                <a:moveTo>
                  <a:pt x="3162300" y="76199"/>
                </a:moveTo>
                <a:lnTo>
                  <a:pt x="3086100" y="76199"/>
                </a:lnTo>
                <a:lnTo>
                  <a:pt x="3086100" y="152399"/>
                </a:lnTo>
                <a:lnTo>
                  <a:pt x="3162300" y="152399"/>
                </a:lnTo>
                <a:lnTo>
                  <a:pt x="3162300" y="76199"/>
                </a:lnTo>
                <a:close/>
              </a:path>
              <a:path w="7771130" h="228600">
                <a:moveTo>
                  <a:pt x="3314700" y="76199"/>
                </a:moveTo>
                <a:lnTo>
                  <a:pt x="3238500" y="76199"/>
                </a:lnTo>
                <a:lnTo>
                  <a:pt x="3238500" y="152399"/>
                </a:lnTo>
                <a:lnTo>
                  <a:pt x="3314700" y="152399"/>
                </a:lnTo>
                <a:lnTo>
                  <a:pt x="3314700" y="76199"/>
                </a:lnTo>
                <a:close/>
              </a:path>
              <a:path w="7771130" h="228600">
                <a:moveTo>
                  <a:pt x="3467100" y="76199"/>
                </a:moveTo>
                <a:lnTo>
                  <a:pt x="3390900" y="76199"/>
                </a:lnTo>
                <a:lnTo>
                  <a:pt x="3390900" y="152399"/>
                </a:lnTo>
                <a:lnTo>
                  <a:pt x="3467100" y="152399"/>
                </a:lnTo>
                <a:lnTo>
                  <a:pt x="3467100" y="76199"/>
                </a:lnTo>
                <a:close/>
              </a:path>
              <a:path w="7771130" h="228600">
                <a:moveTo>
                  <a:pt x="3619500" y="76199"/>
                </a:moveTo>
                <a:lnTo>
                  <a:pt x="3543300" y="76199"/>
                </a:lnTo>
                <a:lnTo>
                  <a:pt x="3543300" y="152399"/>
                </a:lnTo>
                <a:lnTo>
                  <a:pt x="3619500" y="152399"/>
                </a:lnTo>
                <a:lnTo>
                  <a:pt x="3619500" y="76199"/>
                </a:lnTo>
                <a:close/>
              </a:path>
              <a:path w="7771130" h="228600">
                <a:moveTo>
                  <a:pt x="3771900" y="76199"/>
                </a:moveTo>
                <a:lnTo>
                  <a:pt x="3695700" y="76199"/>
                </a:lnTo>
                <a:lnTo>
                  <a:pt x="3695700" y="152399"/>
                </a:lnTo>
                <a:lnTo>
                  <a:pt x="3771900" y="152399"/>
                </a:lnTo>
                <a:lnTo>
                  <a:pt x="3771900" y="76199"/>
                </a:lnTo>
                <a:close/>
              </a:path>
              <a:path w="7771130" h="228600">
                <a:moveTo>
                  <a:pt x="3924300" y="76199"/>
                </a:moveTo>
                <a:lnTo>
                  <a:pt x="3848100" y="76199"/>
                </a:lnTo>
                <a:lnTo>
                  <a:pt x="3848100" y="152399"/>
                </a:lnTo>
                <a:lnTo>
                  <a:pt x="3924300" y="152399"/>
                </a:lnTo>
                <a:lnTo>
                  <a:pt x="3924300" y="76199"/>
                </a:lnTo>
                <a:close/>
              </a:path>
              <a:path w="7771130" h="228600">
                <a:moveTo>
                  <a:pt x="4076700" y="76199"/>
                </a:moveTo>
                <a:lnTo>
                  <a:pt x="4000500" y="76199"/>
                </a:lnTo>
                <a:lnTo>
                  <a:pt x="4000500" y="152399"/>
                </a:lnTo>
                <a:lnTo>
                  <a:pt x="4076700" y="152399"/>
                </a:lnTo>
                <a:lnTo>
                  <a:pt x="4076700" y="76199"/>
                </a:lnTo>
                <a:close/>
              </a:path>
              <a:path w="7771130" h="228600">
                <a:moveTo>
                  <a:pt x="4229100" y="76199"/>
                </a:moveTo>
                <a:lnTo>
                  <a:pt x="4152900" y="76199"/>
                </a:lnTo>
                <a:lnTo>
                  <a:pt x="4152900" y="152399"/>
                </a:lnTo>
                <a:lnTo>
                  <a:pt x="4229100" y="152399"/>
                </a:lnTo>
                <a:lnTo>
                  <a:pt x="4229100" y="76199"/>
                </a:lnTo>
                <a:close/>
              </a:path>
              <a:path w="7771130" h="228600">
                <a:moveTo>
                  <a:pt x="4381500" y="76199"/>
                </a:moveTo>
                <a:lnTo>
                  <a:pt x="4305300" y="76199"/>
                </a:lnTo>
                <a:lnTo>
                  <a:pt x="4305300" y="152399"/>
                </a:lnTo>
                <a:lnTo>
                  <a:pt x="4381500" y="152399"/>
                </a:lnTo>
                <a:lnTo>
                  <a:pt x="4381500" y="76199"/>
                </a:lnTo>
                <a:close/>
              </a:path>
              <a:path w="7771130" h="228600">
                <a:moveTo>
                  <a:pt x="4533900" y="76199"/>
                </a:moveTo>
                <a:lnTo>
                  <a:pt x="4457700" y="76199"/>
                </a:lnTo>
                <a:lnTo>
                  <a:pt x="4457700" y="152399"/>
                </a:lnTo>
                <a:lnTo>
                  <a:pt x="4533900" y="152399"/>
                </a:lnTo>
                <a:lnTo>
                  <a:pt x="4533900" y="76199"/>
                </a:lnTo>
                <a:close/>
              </a:path>
              <a:path w="7771130" h="228600">
                <a:moveTo>
                  <a:pt x="4686300" y="76199"/>
                </a:moveTo>
                <a:lnTo>
                  <a:pt x="4610100" y="76199"/>
                </a:lnTo>
                <a:lnTo>
                  <a:pt x="4610100" y="152399"/>
                </a:lnTo>
                <a:lnTo>
                  <a:pt x="4686300" y="152399"/>
                </a:lnTo>
                <a:lnTo>
                  <a:pt x="4686300" y="76199"/>
                </a:lnTo>
                <a:close/>
              </a:path>
              <a:path w="7771130" h="228600">
                <a:moveTo>
                  <a:pt x="4838700" y="76199"/>
                </a:moveTo>
                <a:lnTo>
                  <a:pt x="4762500" y="76199"/>
                </a:lnTo>
                <a:lnTo>
                  <a:pt x="4762500" y="152399"/>
                </a:lnTo>
                <a:lnTo>
                  <a:pt x="4838700" y="152399"/>
                </a:lnTo>
                <a:lnTo>
                  <a:pt x="4838700" y="76199"/>
                </a:lnTo>
                <a:close/>
              </a:path>
              <a:path w="7771130" h="228600">
                <a:moveTo>
                  <a:pt x="4991100" y="76199"/>
                </a:moveTo>
                <a:lnTo>
                  <a:pt x="4914900" y="76199"/>
                </a:lnTo>
                <a:lnTo>
                  <a:pt x="4914900" y="152399"/>
                </a:lnTo>
                <a:lnTo>
                  <a:pt x="4991100" y="152399"/>
                </a:lnTo>
                <a:lnTo>
                  <a:pt x="4991100" y="76199"/>
                </a:lnTo>
                <a:close/>
              </a:path>
              <a:path w="7771130" h="228600">
                <a:moveTo>
                  <a:pt x="5143500" y="76199"/>
                </a:moveTo>
                <a:lnTo>
                  <a:pt x="5067300" y="76199"/>
                </a:lnTo>
                <a:lnTo>
                  <a:pt x="5067300" y="152399"/>
                </a:lnTo>
                <a:lnTo>
                  <a:pt x="5143500" y="152399"/>
                </a:lnTo>
                <a:lnTo>
                  <a:pt x="5143500" y="76199"/>
                </a:lnTo>
                <a:close/>
              </a:path>
              <a:path w="7771130" h="228600">
                <a:moveTo>
                  <a:pt x="5295900" y="76199"/>
                </a:moveTo>
                <a:lnTo>
                  <a:pt x="5219700" y="76199"/>
                </a:lnTo>
                <a:lnTo>
                  <a:pt x="5219700" y="152399"/>
                </a:lnTo>
                <a:lnTo>
                  <a:pt x="5295900" y="152399"/>
                </a:lnTo>
                <a:lnTo>
                  <a:pt x="5295900" y="76199"/>
                </a:lnTo>
                <a:close/>
              </a:path>
              <a:path w="7771130" h="228600">
                <a:moveTo>
                  <a:pt x="5448300" y="76199"/>
                </a:moveTo>
                <a:lnTo>
                  <a:pt x="5372100" y="76199"/>
                </a:lnTo>
                <a:lnTo>
                  <a:pt x="5372100" y="152399"/>
                </a:lnTo>
                <a:lnTo>
                  <a:pt x="5448300" y="152399"/>
                </a:lnTo>
                <a:lnTo>
                  <a:pt x="5448300" y="76199"/>
                </a:lnTo>
                <a:close/>
              </a:path>
              <a:path w="7771130" h="228600">
                <a:moveTo>
                  <a:pt x="5600700" y="76199"/>
                </a:moveTo>
                <a:lnTo>
                  <a:pt x="5524500" y="76199"/>
                </a:lnTo>
                <a:lnTo>
                  <a:pt x="5524500" y="152399"/>
                </a:lnTo>
                <a:lnTo>
                  <a:pt x="5600700" y="152399"/>
                </a:lnTo>
                <a:lnTo>
                  <a:pt x="5600700" y="76199"/>
                </a:lnTo>
                <a:close/>
              </a:path>
              <a:path w="7771130" h="228600">
                <a:moveTo>
                  <a:pt x="5753100" y="76199"/>
                </a:moveTo>
                <a:lnTo>
                  <a:pt x="5676900" y="76199"/>
                </a:lnTo>
                <a:lnTo>
                  <a:pt x="5676900" y="152399"/>
                </a:lnTo>
                <a:lnTo>
                  <a:pt x="5753100" y="152399"/>
                </a:lnTo>
                <a:lnTo>
                  <a:pt x="5753100" y="76199"/>
                </a:lnTo>
                <a:close/>
              </a:path>
              <a:path w="7771130" h="228600">
                <a:moveTo>
                  <a:pt x="5905500" y="76199"/>
                </a:moveTo>
                <a:lnTo>
                  <a:pt x="5829300" y="76199"/>
                </a:lnTo>
                <a:lnTo>
                  <a:pt x="5829300" y="152399"/>
                </a:lnTo>
                <a:lnTo>
                  <a:pt x="5905500" y="152399"/>
                </a:lnTo>
                <a:lnTo>
                  <a:pt x="5905500" y="76199"/>
                </a:lnTo>
                <a:close/>
              </a:path>
              <a:path w="7771130" h="228600">
                <a:moveTo>
                  <a:pt x="6057900" y="76199"/>
                </a:moveTo>
                <a:lnTo>
                  <a:pt x="5981700" y="76199"/>
                </a:lnTo>
                <a:lnTo>
                  <a:pt x="5981700" y="152399"/>
                </a:lnTo>
                <a:lnTo>
                  <a:pt x="6057900" y="152399"/>
                </a:lnTo>
                <a:lnTo>
                  <a:pt x="6057900" y="76199"/>
                </a:lnTo>
                <a:close/>
              </a:path>
              <a:path w="7771130" h="228600">
                <a:moveTo>
                  <a:pt x="6210300" y="76199"/>
                </a:moveTo>
                <a:lnTo>
                  <a:pt x="6134100" y="76199"/>
                </a:lnTo>
                <a:lnTo>
                  <a:pt x="6134100" y="152399"/>
                </a:lnTo>
                <a:lnTo>
                  <a:pt x="6210300" y="152399"/>
                </a:lnTo>
                <a:lnTo>
                  <a:pt x="6210300" y="76199"/>
                </a:lnTo>
                <a:close/>
              </a:path>
              <a:path w="7771130" h="228600">
                <a:moveTo>
                  <a:pt x="6362700" y="76199"/>
                </a:moveTo>
                <a:lnTo>
                  <a:pt x="6286500" y="76199"/>
                </a:lnTo>
                <a:lnTo>
                  <a:pt x="6286500" y="152399"/>
                </a:lnTo>
                <a:lnTo>
                  <a:pt x="6362700" y="152399"/>
                </a:lnTo>
                <a:lnTo>
                  <a:pt x="6362700" y="76199"/>
                </a:lnTo>
                <a:close/>
              </a:path>
              <a:path w="7771130" h="228600">
                <a:moveTo>
                  <a:pt x="6515100" y="76199"/>
                </a:moveTo>
                <a:lnTo>
                  <a:pt x="6438900" y="76199"/>
                </a:lnTo>
                <a:lnTo>
                  <a:pt x="6438900" y="152399"/>
                </a:lnTo>
                <a:lnTo>
                  <a:pt x="6515100" y="152399"/>
                </a:lnTo>
                <a:lnTo>
                  <a:pt x="6515100" y="76199"/>
                </a:lnTo>
                <a:close/>
              </a:path>
              <a:path w="7771130" h="228600">
                <a:moveTo>
                  <a:pt x="6667500" y="76199"/>
                </a:moveTo>
                <a:lnTo>
                  <a:pt x="6591300" y="76199"/>
                </a:lnTo>
                <a:lnTo>
                  <a:pt x="6591300" y="152399"/>
                </a:lnTo>
                <a:lnTo>
                  <a:pt x="6667500" y="152399"/>
                </a:lnTo>
                <a:lnTo>
                  <a:pt x="6667500" y="76199"/>
                </a:lnTo>
                <a:close/>
              </a:path>
              <a:path w="7771130" h="228600">
                <a:moveTo>
                  <a:pt x="6819900" y="76199"/>
                </a:moveTo>
                <a:lnTo>
                  <a:pt x="6743700" y="76199"/>
                </a:lnTo>
                <a:lnTo>
                  <a:pt x="6743700" y="152399"/>
                </a:lnTo>
                <a:lnTo>
                  <a:pt x="6819900" y="152399"/>
                </a:lnTo>
                <a:lnTo>
                  <a:pt x="6819900" y="76199"/>
                </a:lnTo>
                <a:close/>
              </a:path>
              <a:path w="7771130" h="228600">
                <a:moveTo>
                  <a:pt x="6972300" y="76199"/>
                </a:moveTo>
                <a:lnTo>
                  <a:pt x="6896100" y="76199"/>
                </a:lnTo>
                <a:lnTo>
                  <a:pt x="6896100" y="152399"/>
                </a:lnTo>
                <a:lnTo>
                  <a:pt x="6972300" y="152399"/>
                </a:lnTo>
                <a:lnTo>
                  <a:pt x="6972300" y="76199"/>
                </a:lnTo>
                <a:close/>
              </a:path>
              <a:path w="7771130" h="228600">
                <a:moveTo>
                  <a:pt x="7124700" y="76199"/>
                </a:moveTo>
                <a:lnTo>
                  <a:pt x="7048500" y="76199"/>
                </a:lnTo>
                <a:lnTo>
                  <a:pt x="7048500" y="152399"/>
                </a:lnTo>
                <a:lnTo>
                  <a:pt x="7124700" y="152399"/>
                </a:lnTo>
                <a:lnTo>
                  <a:pt x="7124700" y="76199"/>
                </a:lnTo>
                <a:close/>
              </a:path>
              <a:path w="7771130" h="228600">
                <a:moveTo>
                  <a:pt x="7277100" y="76199"/>
                </a:moveTo>
                <a:lnTo>
                  <a:pt x="7200900" y="76199"/>
                </a:lnTo>
                <a:lnTo>
                  <a:pt x="7200900" y="152399"/>
                </a:lnTo>
                <a:lnTo>
                  <a:pt x="7277100" y="152399"/>
                </a:lnTo>
                <a:lnTo>
                  <a:pt x="7277100" y="76199"/>
                </a:lnTo>
                <a:close/>
              </a:path>
              <a:path w="7771130" h="228600">
                <a:moveTo>
                  <a:pt x="7429500" y="76199"/>
                </a:moveTo>
                <a:lnTo>
                  <a:pt x="7353300" y="76199"/>
                </a:lnTo>
                <a:lnTo>
                  <a:pt x="7353300" y="152399"/>
                </a:lnTo>
                <a:lnTo>
                  <a:pt x="7429500" y="152399"/>
                </a:lnTo>
                <a:lnTo>
                  <a:pt x="7429500" y="76199"/>
                </a:lnTo>
                <a:close/>
              </a:path>
              <a:path w="7771130" h="228600">
                <a:moveTo>
                  <a:pt x="7542149" y="0"/>
                </a:moveTo>
                <a:lnTo>
                  <a:pt x="7542149" y="228599"/>
                </a:lnTo>
                <a:lnTo>
                  <a:pt x="7694549" y="152399"/>
                </a:lnTo>
                <a:lnTo>
                  <a:pt x="7580249" y="152399"/>
                </a:lnTo>
                <a:lnTo>
                  <a:pt x="7580249" y="76199"/>
                </a:lnTo>
                <a:lnTo>
                  <a:pt x="7694549" y="76199"/>
                </a:lnTo>
                <a:lnTo>
                  <a:pt x="7542149" y="0"/>
                </a:lnTo>
                <a:close/>
              </a:path>
              <a:path w="7771130" h="228600">
                <a:moveTo>
                  <a:pt x="7542149" y="76199"/>
                </a:moveTo>
                <a:lnTo>
                  <a:pt x="7505700" y="76199"/>
                </a:lnTo>
                <a:lnTo>
                  <a:pt x="7505700" y="152399"/>
                </a:lnTo>
                <a:lnTo>
                  <a:pt x="7542149" y="152399"/>
                </a:lnTo>
                <a:lnTo>
                  <a:pt x="7542149" y="76199"/>
                </a:lnTo>
                <a:close/>
              </a:path>
              <a:path w="7771130" h="228600">
                <a:moveTo>
                  <a:pt x="7694549" y="76199"/>
                </a:moveTo>
                <a:lnTo>
                  <a:pt x="7580249" y="76199"/>
                </a:lnTo>
                <a:lnTo>
                  <a:pt x="7580249" y="152399"/>
                </a:lnTo>
                <a:lnTo>
                  <a:pt x="7694549" y="152399"/>
                </a:lnTo>
                <a:lnTo>
                  <a:pt x="7770749" y="114299"/>
                </a:lnTo>
                <a:lnTo>
                  <a:pt x="7694549" y="761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0070" y="815831"/>
            <a:ext cx="8484235" cy="3637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ct val="100000"/>
              </a:lnSpc>
            </a:pPr>
            <a:r>
              <a:rPr sz="3600" dirty="0">
                <a:solidFill>
                  <a:srgbClr val="1F487C"/>
                </a:solidFill>
                <a:latin typeface="微软雅黑"/>
                <a:cs typeface="微软雅黑"/>
              </a:rPr>
              <a:t>数据可视化</a:t>
            </a:r>
            <a:endParaRPr sz="3600" dirty="0">
              <a:latin typeface="微软雅黑"/>
              <a:cs typeface="微软雅黑"/>
            </a:endParaRPr>
          </a:p>
          <a:p>
            <a:pPr marL="12700" marR="5080" indent="457200" algn="just">
              <a:lnSpc>
                <a:spcPct val="150000"/>
              </a:lnSpc>
              <a:spcBef>
                <a:spcPts val="1550"/>
              </a:spcBef>
            </a:pPr>
            <a:r>
              <a:rPr sz="1800" b="1" dirty="0">
                <a:latin typeface="微软雅黑"/>
                <a:cs typeface="微软雅黑"/>
              </a:rPr>
              <a:t>定义</a:t>
            </a:r>
            <a:r>
              <a:rPr sz="1800" b="1" spc="-5" dirty="0">
                <a:latin typeface="微软雅黑"/>
                <a:cs typeface="微软雅黑"/>
              </a:rPr>
              <a:t>：</a:t>
            </a:r>
            <a:r>
              <a:rPr sz="1800" dirty="0">
                <a:latin typeface="微软雅黑"/>
                <a:cs typeface="微软雅黑"/>
              </a:rPr>
              <a:t>对抽象数据使用计算机支持的、交互的、可视化的表示形式以增强认知能 力。数据可视化技术将大量数据以多种形式表示出来，帮助人们寻找数据中的结构、 特征、模式、趋势、异常现象或相关关系等。</a:t>
            </a:r>
          </a:p>
          <a:p>
            <a:pPr marL="12700" marR="5080" indent="457200">
              <a:lnSpc>
                <a:spcPct val="150000"/>
              </a:lnSpc>
              <a:spcBef>
                <a:spcPts val="600"/>
              </a:spcBef>
            </a:pPr>
            <a:r>
              <a:rPr sz="1800" dirty="0">
                <a:latin typeface="微软雅黑"/>
                <a:cs typeface="微软雅黑"/>
              </a:rPr>
              <a:t>在交通领域，随着交通系统信息化建设的日益推进和完善</a:t>
            </a:r>
            <a:r>
              <a:rPr sz="1800" spc="-4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,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可用的交通多源、多 时相数据量激增。如何高效地实现数据的可视化表达与分析，直观地传达交通信息， 发现数据中存在的关系和规则</a:t>
            </a:r>
            <a:r>
              <a:rPr sz="1800" spc="10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,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为相关交通管理部门提供决策依据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,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提高交通系统的 </a:t>
            </a:r>
            <a:r>
              <a:rPr sz="1800" spc="-5" dirty="0">
                <a:latin typeface="微软雅黑"/>
                <a:cs typeface="微软雅黑"/>
              </a:rPr>
              <a:t>运行效</a:t>
            </a:r>
            <a:r>
              <a:rPr sz="1800" dirty="0">
                <a:latin typeface="微软雅黑"/>
                <a:cs typeface="微软雅黑"/>
              </a:rPr>
              <a:t>率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dirty="0">
                <a:latin typeface="微软雅黑"/>
                <a:cs typeface="微软雅黑"/>
              </a:rPr>
              <a:t>,</a:t>
            </a:r>
            <a:r>
              <a:rPr sz="1800" spc="5" dirty="0">
                <a:latin typeface="微软雅黑"/>
                <a:cs typeface="微软雅黑"/>
              </a:rPr>
              <a:t> </a:t>
            </a:r>
            <a:r>
              <a:rPr sz="1800" spc="-5" dirty="0">
                <a:latin typeface="微软雅黑"/>
                <a:cs typeface="微软雅黑"/>
              </a:rPr>
              <a:t>日渐成为交通领域的一个重要研究方向。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7364" y="6082284"/>
            <a:ext cx="2871470" cy="33845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分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析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功能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17364" y="4727447"/>
            <a:ext cx="2871216" cy="1347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80872" y="6082284"/>
            <a:ext cx="3274060" cy="33845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呈现效果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0872" y="4727447"/>
            <a:ext cx="3273552" cy="13472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38200"/>
            <a:ext cx="7848600" cy="546661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62000"/>
            <a:ext cx="84167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85800"/>
            <a:ext cx="8075573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38200"/>
            <a:ext cx="7931547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1575</Words>
  <Application>Microsoft Office PowerPoint</Application>
  <PresentationFormat>全屏显示(4:3)</PresentationFormat>
  <Paragraphs>437</Paragraphs>
  <Slides>58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7" baseType="lpstr">
      <vt:lpstr>等线</vt:lpstr>
      <vt:lpstr>宋体</vt:lpstr>
      <vt:lpstr>微软雅黑</vt:lpstr>
      <vt:lpstr>Arial</vt:lpstr>
      <vt:lpstr>Calibri</vt:lpstr>
      <vt:lpstr>Segoe UI Symbol</vt:lpstr>
      <vt:lpstr>Symbol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明 余</cp:lastModifiedBy>
  <cp:revision>6</cp:revision>
  <dcterms:created xsi:type="dcterms:W3CDTF">2023-02-26T18:45:00Z</dcterms:created>
  <dcterms:modified xsi:type="dcterms:W3CDTF">2024-02-18T09:13:35Z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2023-02-26T00:00:00Z</vt:filetime>
  </property>
</Properties>
</file>